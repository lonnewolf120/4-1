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5537" r:id="rId2"/>
    <p:sldMasterId id="2147485549" r:id="rId3"/>
    <p:sldMasterId id="2147485577" r:id="rId4"/>
    <p:sldMasterId id="2147485589" r:id="rId5"/>
    <p:sldMasterId id="2147485601" r:id="rId6"/>
  </p:sldMasterIdLst>
  <p:notesMasterIdLst>
    <p:notesMasterId r:id="rId117"/>
  </p:notesMasterIdLst>
  <p:sldIdLst>
    <p:sldId id="287" r:id="rId7"/>
    <p:sldId id="553" r:id="rId8"/>
    <p:sldId id="598" r:id="rId9"/>
    <p:sldId id="600" r:id="rId10"/>
    <p:sldId id="599" r:id="rId11"/>
    <p:sldId id="601" r:id="rId12"/>
    <p:sldId id="602" r:id="rId13"/>
    <p:sldId id="603" r:id="rId14"/>
    <p:sldId id="604" r:id="rId15"/>
    <p:sldId id="605" r:id="rId16"/>
    <p:sldId id="606" r:id="rId17"/>
    <p:sldId id="449" r:id="rId18"/>
    <p:sldId id="594" r:id="rId19"/>
    <p:sldId id="450" r:id="rId20"/>
    <p:sldId id="560" r:id="rId21"/>
    <p:sldId id="609" r:id="rId22"/>
    <p:sldId id="451" r:id="rId23"/>
    <p:sldId id="562" r:id="rId24"/>
    <p:sldId id="595" r:id="rId25"/>
    <p:sldId id="556" r:id="rId26"/>
    <p:sldId id="455" r:id="rId27"/>
    <p:sldId id="456" r:id="rId28"/>
    <p:sldId id="457" r:id="rId29"/>
    <p:sldId id="458" r:id="rId30"/>
    <p:sldId id="459" r:id="rId31"/>
    <p:sldId id="554" r:id="rId32"/>
    <p:sldId id="557" r:id="rId33"/>
    <p:sldId id="611" r:id="rId34"/>
    <p:sldId id="612" r:id="rId35"/>
    <p:sldId id="610" r:id="rId36"/>
    <p:sldId id="555" r:id="rId37"/>
    <p:sldId id="563" r:id="rId38"/>
    <p:sldId id="460" r:id="rId39"/>
    <p:sldId id="461" r:id="rId40"/>
    <p:sldId id="462" r:id="rId41"/>
    <p:sldId id="464" r:id="rId42"/>
    <p:sldId id="465" r:id="rId43"/>
    <p:sldId id="468" r:id="rId44"/>
    <p:sldId id="558" r:id="rId45"/>
    <p:sldId id="608" r:id="rId46"/>
    <p:sldId id="607" r:id="rId47"/>
    <p:sldId id="564" r:id="rId48"/>
    <p:sldId id="565" r:id="rId49"/>
    <p:sldId id="614" r:id="rId50"/>
    <p:sldId id="613" r:id="rId51"/>
    <p:sldId id="566" r:id="rId52"/>
    <p:sldId id="567" r:id="rId53"/>
    <p:sldId id="568" r:id="rId54"/>
    <p:sldId id="469" r:id="rId55"/>
    <p:sldId id="470" r:id="rId56"/>
    <p:sldId id="472" r:id="rId57"/>
    <p:sldId id="473" r:id="rId58"/>
    <p:sldId id="474" r:id="rId59"/>
    <p:sldId id="475" r:id="rId60"/>
    <p:sldId id="569" r:id="rId61"/>
    <p:sldId id="570" r:id="rId62"/>
    <p:sldId id="571" r:id="rId63"/>
    <p:sldId id="572" r:id="rId64"/>
    <p:sldId id="477" r:id="rId65"/>
    <p:sldId id="478" r:id="rId66"/>
    <p:sldId id="479" r:id="rId67"/>
    <p:sldId id="480" r:id="rId68"/>
    <p:sldId id="596" r:id="rId69"/>
    <p:sldId id="482" r:id="rId70"/>
    <p:sldId id="483" r:id="rId71"/>
    <p:sldId id="484" r:id="rId72"/>
    <p:sldId id="485" r:id="rId73"/>
    <p:sldId id="486" r:id="rId74"/>
    <p:sldId id="487" r:id="rId75"/>
    <p:sldId id="488" r:id="rId76"/>
    <p:sldId id="574" r:id="rId77"/>
    <p:sldId id="489" r:id="rId78"/>
    <p:sldId id="490" r:id="rId79"/>
    <p:sldId id="491" r:id="rId80"/>
    <p:sldId id="492" r:id="rId81"/>
    <p:sldId id="493" r:id="rId82"/>
    <p:sldId id="494" r:id="rId83"/>
    <p:sldId id="495" r:id="rId84"/>
    <p:sldId id="434" r:id="rId85"/>
    <p:sldId id="438" r:id="rId86"/>
    <p:sldId id="446" r:id="rId87"/>
    <p:sldId id="447" r:id="rId88"/>
    <p:sldId id="428" r:id="rId89"/>
    <p:sldId id="441" r:id="rId90"/>
    <p:sldId id="372" r:id="rId91"/>
    <p:sldId id="433" r:id="rId92"/>
    <p:sldId id="432" r:id="rId93"/>
    <p:sldId id="374" r:id="rId94"/>
    <p:sldId id="375" r:id="rId95"/>
    <p:sldId id="377" r:id="rId96"/>
    <p:sldId id="597" r:id="rId97"/>
    <p:sldId id="587" r:id="rId98"/>
    <p:sldId id="588" r:id="rId99"/>
    <p:sldId id="589" r:id="rId100"/>
    <p:sldId id="590" r:id="rId101"/>
    <p:sldId id="591" r:id="rId102"/>
    <p:sldId id="592" r:id="rId103"/>
    <p:sldId id="593" r:id="rId104"/>
    <p:sldId id="586" r:id="rId105"/>
    <p:sldId id="575" r:id="rId106"/>
    <p:sldId id="576" r:id="rId107"/>
    <p:sldId id="577" r:id="rId108"/>
    <p:sldId id="578" r:id="rId109"/>
    <p:sldId id="579" r:id="rId110"/>
    <p:sldId id="580" r:id="rId111"/>
    <p:sldId id="581" r:id="rId112"/>
    <p:sldId id="582" r:id="rId113"/>
    <p:sldId id="583" r:id="rId114"/>
    <p:sldId id="584" r:id="rId115"/>
    <p:sldId id="585" r:id="rId1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3634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87268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090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7453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181717" algn="l" defTabSz="872687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618061" algn="l" defTabSz="872687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054403" algn="l" defTabSz="872687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490747" algn="l" defTabSz="872687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CC00"/>
    <a:srgbClr val="66FF33"/>
    <a:srgbClr val="000000"/>
    <a:srgbClr val="FF66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-810" y="-72"/>
      </p:cViewPr>
      <p:guideLst>
        <p:guide orient="horz" pos="216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6" Type="http://schemas.openxmlformats.org/officeDocument/2006/relationships/slide" Target="slides/slide10.xml"/><Relationship Id="rId107" Type="http://schemas.openxmlformats.org/officeDocument/2006/relationships/slide" Target="slides/slide10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13" Type="http://schemas.openxmlformats.org/officeDocument/2006/relationships/slide" Target="slides/slide107.xml"/><Relationship Id="rId11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103" Type="http://schemas.openxmlformats.org/officeDocument/2006/relationships/slide" Target="slides/slide97.xml"/><Relationship Id="rId108" Type="http://schemas.openxmlformats.org/officeDocument/2006/relationships/slide" Target="slides/slide102.xml"/><Relationship Id="rId116" Type="http://schemas.openxmlformats.org/officeDocument/2006/relationships/slide" Target="slides/slide11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11" Type="http://schemas.openxmlformats.org/officeDocument/2006/relationships/slide" Target="slides/slide10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14" Type="http://schemas.openxmlformats.org/officeDocument/2006/relationships/slide" Target="slides/slide108.xml"/><Relationship Id="rId119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slide" Target="slides/slide10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120" Type="http://schemas.openxmlformats.org/officeDocument/2006/relationships/theme" Target="theme/theme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231B084-9EC8-4FCE-A09E-A923D21E70B8}" type="datetimeFigureOut">
              <a:rPr lang="en-IN"/>
              <a:pPr>
                <a:defRPr/>
              </a:pPr>
              <a:t>22-04-2022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EB073DF-14DC-4F11-A3DD-ACB2E0BB4A5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1829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36344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72687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0903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45373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81717" algn="l" defTabSz="87268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18061" algn="l" defTabSz="87268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54403" algn="l" defTabSz="87268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90747" algn="l" defTabSz="87268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656F7E-6C91-4EB4-B36C-2F50DE3E0E78}" type="slidenum">
              <a:rPr lang="zh-TW" altLang="en-AU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AU" altLang="zh-TW" smtClean="0"/>
          </a:p>
        </p:txBody>
      </p:sp>
      <p:sp>
        <p:nvSpPr>
          <p:cNvPr id="172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2036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smtClean="0">
                <a:latin typeface="Arial" pitchFamily="34" charset="0"/>
                <a:ea typeface="ＭＳ Ｐゴシック" pitchFamily="34" charset="-128"/>
              </a:rPr>
              <a:t>Lecture slides by Lawrie Brown for “Network Security Essentials”, 4/e, by William Stallings, Chapter 9 – “</a:t>
            </a:r>
            <a:r>
              <a:rPr lang="en-AU" altLang="zh-TW" smtClean="0">
                <a:latin typeface="Arial" pitchFamily="34" charset="0"/>
                <a:ea typeface="ＭＳ Ｐゴシック" pitchFamily="34" charset="-128"/>
              </a:rPr>
              <a:t>Public Key Cryptography and Message Authentication</a:t>
            </a:r>
            <a:r>
              <a:rPr lang="en-US" smtClean="0">
                <a:latin typeface="Arial" pitchFamily="34" charset="0"/>
                <a:ea typeface="ＭＳ Ｐゴシック" pitchFamily="34" charset="-128"/>
              </a:rPr>
              <a:t>”.</a:t>
            </a:r>
            <a:endParaRPr lang="en-AU" altLang="zh-TW" smtClean="0">
              <a:latin typeface="Arial" pitchFamily="34" charset="0"/>
              <a:ea typeface="ＭＳ Ｐゴシック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US" smtClean="0"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8842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19E530-D4DA-49AF-AEB6-F9A3F4C83974}" type="slidenum">
              <a:rPr lang="en-US"/>
              <a:pPr/>
              <a:t>3</a:t>
            </a:fld>
            <a:endParaRPr lang="en-US"/>
          </a:p>
        </p:txBody>
      </p:sp>
      <p:sp>
        <p:nvSpPr>
          <p:cNvPr id="94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19E530-D4DA-49AF-AEB6-F9A3F4C83974}" type="slidenum">
              <a:rPr lang="en-US"/>
              <a:pPr/>
              <a:t>5</a:t>
            </a:fld>
            <a:endParaRPr lang="en-US"/>
          </a:p>
        </p:txBody>
      </p:sp>
      <p:sp>
        <p:nvSpPr>
          <p:cNvPr id="94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8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12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26025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13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5542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14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68794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17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54845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7647337-7112-418D-A9EB-945FC24DF257}" type="slidenum">
              <a:rPr lang="en-US" sz="1200" b="0" baseline="0">
                <a:solidFill>
                  <a:prstClr val="black"/>
                </a:solidFill>
              </a:rPr>
              <a:pPr/>
              <a:t>18</a:t>
            </a:fld>
            <a:endParaRPr lang="en-US" sz="1200" b="0" baseline="0">
              <a:solidFill>
                <a:prstClr val="black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09118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C0FEA3-3872-4828-8D61-948FFF825599}" type="slidenum">
              <a:rPr lang="en-US"/>
              <a:pPr/>
              <a:t>19</a:t>
            </a:fld>
            <a:endParaRPr lang="en-US"/>
          </a:p>
        </p:txBody>
      </p:sp>
      <p:sp>
        <p:nvSpPr>
          <p:cNvPr id="104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8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80118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21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14987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22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89309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23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813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25910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25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94526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26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60890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27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2503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28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2503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29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2503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30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25036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31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707920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39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125213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40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125213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4CE17-A314-4201-9A7F-CC81C8C10C2C}" type="slidenum">
              <a:rPr lang="en-US"/>
              <a:pPr/>
              <a:t>41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12521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70CBA9D-5784-451A-AB7B-4EAAABFCCBDE}" type="slidenum">
              <a:rPr lang="en-US" sz="1200" b="0" baseline="0">
                <a:solidFill>
                  <a:prstClr val="black"/>
                </a:solidFill>
              </a:rPr>
              <a:pPr/>
              <a:t>43</a:t>
            </a:fld>
            <a:endParaRPr lang="en-US" sz="1200" b="0" baseline="0">
              <a:solidFill>
                <a:prstClr val="black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156401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70CBA9D-5784-451A-AB7B-4EAAABFCCBDE}" type="slidenum">
              <a:rPr lang="en-US" sz="1200" b="0" baseline="0">
                <a:solidFill>
                  <a:prstClr val="black"/>
                </a:solidFill>
              </a:rPr>
              <a:pPr/>
              <a:t>44</a:t>
            </a:fld>
            <a:endParaRPr lang="en-US" sz="1200" b="0" baseline="0">
              <a:solidFill>
                <a:prstClr val="black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156401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70CBA9D-5784-451A-AB7B-4EAAABFCCBDE}" type="slidenum">
              <a:rPr lang="en-US" sz="1200" b="0" baseline="0">
                <a:solidFill>
                  <a:prstClr val="black"/>
                </a:solidFill>
              </a:rPr>
              <a:pPr/>
              <a:t>45</a:t>
            </a:fld>
            <a:endParaRPr lang="en-US" sz="1200" b="0" baseline="0">
              <a:solidFill>
                <a:prstClr val="black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156401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8672AC9-6589-4FEB-BEED-AF9D8BD2AD42}" type="slidenum">
              <a:rPr lang="en-US" sz="1200" b="0" baseline="0"/>
              <a:pPr/>
              <a:t>46</a:t>
            </a:fld>
            <a:endParaRPr lang="en-US" sz="1200" b="0" baseline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074107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56DF4D8-9DE4-49C7-91D7-AA3CC533A239}" type="slidenum">
              <a:rPr lang="en-US" sz="1200" b="0" baseline="0"/>
              <a:pPr/>
              <a:t>47</a:t>
            </a:fld>
            <a:endParaRPr lang="en-US" sz="1200" b="0" baseline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728728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263023B-99E5-47E7-9976-6BB578667B89}" type="slidenum">
              <a:rPr lang="en-US" sz="1200" b="0" baseline="0"/>
              <a:pPr/>
              <a:t>48</a:t>
            </a:fld>
            <a:endParaRPr lang="en-US" sz="1200" b="0" baseline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45704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E9ADAE-F813-453C-8FAA-30630856CA67}" type="slidenum">
              <a:rPr lang="en-US"/>
              <a:pPr/>
              <a:t>54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788462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E9ADAE-F813-453C-8FAA-30630856CA67}" type="slidenum">
              <a:rPr lang="en-US"/>
              <a:pPr/>
              <a:t>55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578920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5B558AE-20ED-4424-BDB9-85CB140A3364}" type="slidenum">
              <a:rPr lang="en-US" sz="1200" b="0" baseline="0"/>
              <a:pPr/>
              <a:t>56</a:t>
            </a:fld>
            <a:endParaRPr lang="en-US" sz="1200" b="0" baseline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078012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9C17795-7C0C-42F2-9FF4-C89F0C7DDE4F}" type="slidenum">
              <a:rPr lang="en-US" sz="1200" b="0" baseline="0"/>
              <a:pPr/>
              <a:t>57</a:t>
            </a:fld>
            <a:endParaRPr lang="en-US" sz="1200" b="0" baseline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27742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9C17795-7C0C-42F2-9FF4-C89F0C7DDE4F}" type="slidenum">
              <a:rPr lang="en-US" sz="1200" b="0" baseline="0"/>
              <a:pPr/>
              <a:t>58</a:t>
            </a:fld>
            <a:endParaRPr lang="en-US" sz="1200" b="0" baseline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900443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E5F1E0-ED86-4ACC-B48C-8228EF45A778}" type="slidenum">
              <a:rPr lang="en-US"/>
              <a:pPr/>
              <a:t>62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183693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883597C-C1D7-435B-9102-D24E29070218}" type="slidenum">
              <a:rPr lang="en-US" sz="1200" b="0" baseline="0"/>
              <a:pPr/>
              <a:t>63</a:t>
            </a:fld>
            <a:endParaRPr lang="en-US" sz="1200" b="0" baseline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72273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64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902144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65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579569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66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14621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67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447692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68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144084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69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150027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70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73477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36621B4-587E-40B1-BF2B-F04C395371EE}" type="slidenum">
              <a:rPr lang="en-US" sz="1200" b="0" baseline="0"/>
              <a:pPr/>
              <a:t>71</a:t>
            </a:fld>
            <a:endParaRPr lang="en-US" sz="1200" b="0" baseline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406105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72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85637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73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5829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74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303156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75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531448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76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396481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77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392438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1FEAE-CB76-4B6D-AA6C-261953E01248}" type="slidenum">
              <a:rPr lang="en-US"/>
              <a:pPr/>
              <a:t>78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316943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B0D138-5236-46EF-A5A5-9DF9823EF156}" type="slidenum">
              <a:rPr lang="en-AU"/>
              <a:pPr>
                <a:defRPr/>
              </a:pPr>
              <a:t>81</a:t>
            </a:fld>
            <a:endParaRPr lang="en-AU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See text for additional discussion. Reduction comes from observation that if in GF(2</a:t>
            </a:r>
            <a:r>
              <a:rPr lang="en-US" baseline="30000" smtClean="0"/>
              <a:t>n</a:t>
            </a:r>
            <a:r>
              <a:rPr lang="en-US" smtClean="0"/>
              <a:t>) then irreducible poly g(x) has highest term x</a:t>
            </a:r>
            <a:r>
              <a:rPr lang="en-US" baseline="30000" smtClean="0"/>
              <a:t>n</a:t>
            </a:r>
            <a:r>
              <a:rPr lang="en-US" smtClean="0"/>
              <a:t> , and if compute x</a:t>
            </a:r>
            <a:r>
              <a:rPr lang="en-US" baseline="30000" smtClean="0"/>
              <a:t>n</a:t>
            </a:r>
            <a:r>
              <a:rPr lang="en-US" smtClean="0"/>
              <a:t> mod g(x) answer is g(x)- x</a:t>
            </a:r>
            <a:r>
              <a:rPr lang="en-US" baseline="30000" smtClean="0"/>
              <a:t>n</a:t>
            </a:r>
            <a:endParaRPr lang="en-AU" baseline="30000" smtClean="0"/>
          </a:p>
        </p:txBody>
      </p:sp>
    </p:spTree>
    <p:extLst>
      <p:ext uri="{BB962C8B-B14F-4D97-AF65-F5344CB8AC3E}">
        <p14:creationId xmlns:p14="http://schemas.microsoft.com/office/powerpoint/2010/main" val="21080516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646A29-67A9-4F2B-92FA-7F1577B075BA}" type="slidenum">
              <a:rPr lang="en-AU"/>
              <a:pPr>
                <a:defRPr/>
              </a:pPr>
              <a:t>82</a:t>
            </a:fld>
            <a:endParaRPr lang="en-AU"/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Show here a few simple examples of addition, multiplication &amp; modulo reduction in GF(2</a:t>
            </a:r>
            <a:r>
              <a:rPr lang="en-US" baseline="30000" smtClean="0"/>
              <a:t>3</a:t>
            </a:r>
            <a:r>
              <a:rPr lang="en-US" smtClean="0"/>
              <a:t>).</a:t>
            </a:r>
          </a:p>
          <a:p>
            <a:r>
              <a:rPr lang="en-US" smtClean="0"/>
              <a:t>Note the long form modulo reduction finds p(x)=q(x).m(x)+r(x) with r(x) being the desired remainder.</a:t>
            </a:r>
            <a:endParaRPr lang="en-AU" baseline="30000" smtClean="0"/>
          </a:p>
        </p:txBody>
      </p:sp>
    </p:spTree>
    <p:extLst>
      <p:ext uri="{BB962C8B-B14F-4D97-AF65-F5344CB8AC3E}">
        <p14:creationId xmlns:p14="http://schemas.microsoft.com/office/powerpoint/2010/main" val="818784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E656F8-269A-49F7-B408-539CDC0EF4CE}" type="slidenum">
              <a:rPr lang="en-AU">
                <a:latin typeface="Times New Roman" pitchFamily="18" charset="0"/>
                <a:ea typeface="ＭＳ Ｐゴシック" pitchFamily="34" charset="-128"/>
              </a:rPr>
              <a:pPr>
                <a:defRPr/>
              </a:pPr>
              <a:t>85</a:t>
            </a:fld>
            <a:endParaRPr lang="en-AU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20992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6B7F3E3-919A-4ABA-B919-AA97640E5B02}" type="slidenum">
              <a:rPr lang="en-US" sz="1200">
                <a:solidFill>
                  <a:srgbClr val="FFFFFF"/>
                </a:solidFill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09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9925" name="Text Box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>
                <a:latin typeface="Arial" pitchFamily="34" charset="0"/>
                <a:ea typeface="ＭＳ Ｐゴシック" pitchFamily="34" charset="-128"/>
              </a:rPr>
              <a:t>Example shows addition &amp; multiplication in GF(2</a:t>
            </a:r>
            <a:r>
              <a:rPr lang="en-US" baseline="30000" smtClean="0">
                <a:latin typeface="Arial" pitchFamily="34" charset="0"/>
                <a:ea typeface="ＭＳ Ｐゴシック" pitchFamily="34" charset="-128"/>
              </a:rPr>
              <a:t>3</a:t>
            </a:r>
            <a:r>
              <a:rPr lang="en-US" smtClean="0">
                <a:latin typeface="Arial" pitchFamily="34" charset="0"/>
                <a:ea typeface="ＭＳ Ｐゴシック" pitchFamily="34" charset="-128"/>
              </a:rPr>
              <a:t>) modulo (x</a:t>
            </a:r>
            <a:r>
              <a:rPr lang="en-US" baseline="30000" smtClean="0">
                <a:latin typeface="Arial" pitchFamily="34" charset="0"/>
                <a:ea typeface="ＭＳ Ｐゴシック" pitchFamily="34" charset="-128"/>
              </a:rPr>
              <a:t>3</a:t>
            </a:r>
            <a:r>
              <a:rPr lang="en-US" smtClean="0">
                <a:latin typeface="Arial" pitchFamily="34" charset="0"/>
                <a:ea typeface="ＭＳ Ｐゴシック" pitchFamily="34" charset="-128"/>
              </a:rPr>
              <a:t>+x+1), from Stallings Table 476.</a:t>
            </a:r>
          </a:p>
        </p:txBody>
      </p:sp>
    </p:spTree>
    <p:extLst>
      <p:ext uri="{BB962C8B-B14F-4D97-AF65-F5344CB8AC3E}">
        <p14:creationId xmlns:p14="http://schemas.microsoft.com/office/powerpoint/2010/main" val="4653128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7E90D08-6DC1-4E6E-9EB4-14A3CED5B93F}" type="slidenum">
              <a:rPr lang="en-AU"/>
              <a:pPr>
                <a:defRPr/>
              </a:pPr>
              <a:t>86</a:t>
            </a:fld>
            <a:endParaRPr lang="en-AU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From Stallings Table 4-3b.</a:t>
            </a:r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8173662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D54EE7-1531-4CE4-A1D4-4E3638E6B48F}" type="slidenum">
              <a:rPr lang="en-AU">
                <a:latin typeface="Times New Roman" pitchFamily="18" charset="0"/>
                <a:ea typeface="ＭＳ Ｐゴシック" pitchFamily="34" charset="-128"/>
              </a:rPr>
              <a:pPr>
                <a:defRPr/>
              </a:pPr>
              <a:t>88</a:t>
            </a:fld>
            <a:endParaRPr lang="en-AU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21299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1323281-0203-4FCF-9B69-1D2463B21E59}" type="slidenum">
              <a:rPr lang="en-US" sz="1200">
                <a:solidFill>
                  <a:srgbClr val="FFFFFF"/>
                </a:solidFill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88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129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2997" name="Text Box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>
                <a:latin typeface="Arial" pitchFamily="34" charset="0"/>
                <a:ea typeface="ＭＳ Ｐゴシック" pitchFamily="34" charset="-128"/>
              </a:rPr>
              <a:t>Show here a few simple examples of addition, multiplication &amp; modulo reduction in GF(2</a:t>
            </a:r>
            <a:r>
              <a:rPr lang="en-US" baseline="30000" smtClean="0">
                <a:latin typeface="Arial" pitchFamily="34" charset="0"/>
                <a:ea typeface="ＭＳ Ｐゴシック" pitchFamily="34" charset="-128"/>
              </a:rPr>
              <a:t>3</a:t>
            </a:r>
            <a:r>
              <a:rPr lang="en-US" smtClean="0">
                <a:latin typeface="Arial" pitchFamily="34" charset="0"/>
                <a:ea typeface="ＭＳ Ｐゴシック" pitchFamily="34" charset="-128"/>
              </a:rPr>
              <a:t>).</a:t>
            </a:r>
          </a:p>
          <a:p>
            <a:pPr eaLnBrk="1" hangingPunct="1"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>
                <a:latin typeface="Arial" pitchFamily="34" charset="0"/>
                <a:ea typeface="ＭＳ Ｐゴシック" pitchFamily="34" charset="-128"/>
              </a:rPr>
              <a:t>Note the long form modulo reduction finds p(x)=q(x).m(x)+r(x) with r(x) being the desired remainder.</a:t>
            </a:r>
          </a:p>
        </p:txBody>
      </p:sp>
    </p:spTree>
    <p:extLst>
      <p:ext uri="{BB962C8B-B14F-4D97-AF65-F5344CB8AC3E}">
        <p14:creationId xmlns:p14="http://schemas.microsoft.com/office/powerpoint/2010/main" val="90187613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819CF5-45F9-43F5-BB19-A6E9543A6BEC}" type="slidenum">
              <a:rPr lang="en-AU">
                <a:latin typeface="Times New Roman" pitchFamily="18" charset="0"/>
                <a:ea typeface="ＭＳ Ｐゴシック" pitchFamily="34" charset="-128"/>
              </a:rPr>
              <a:pPr>
                <a:defRPr/>
              </a:pPr>
              <a:t>89</a:t>
            </a:fld>
            <a:endParaRPr lang="en-AU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21401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395FAF3-1874-48A2-9836-69EA9926E3E7}" type="slidenum">
              <a:rPr lang="en-US" sz="1200">
                <a:solidFill>
                  <a:srgbClr val="FFFFFF"/>
                </a:solidFill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89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140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4021" name="Text Box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>
                <a:latin typeface="Arial" pitchFamily="34" charset="0"/>
                <a:ea typeface="ＭＳ Ｐゴシック" pitchFamily="34" charset="-128"/>
              </a:rPr>
              <a:t>Show here a few simple examples of addition, multiplication &amp; modulo reduction in GF(2</a:t>
            </a:r>
            <a:r>
              <a:rPr lang="en-US" baseline="30000" smtClean="0">
                <a:latin typeface="Arial" pitchFamily="34" charset="0"/>
                <a:ea typeface="ＭＳ Ｐゴシック" pitchFamily="34" charset="-128"/>
              </a:rPr>
              <a:t>3</a:t>
            </a:r>
            <a:r>
              <a:rPr lang="en-US" smtClean="0">
                <a:latin typeface="Arial" pitchFamily="34" charset="0"/>
                <a:ea typeface="ＭＳ Ｐゴシック" pitchFamily="34" charset="-128"/>
              </a:rPr>
              <a:t>).</a:t>
            </a:r>
          </a:p>
          <a:p>
            <a:pPr eaLnBrk="1" hangingPunct="1"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>
                <a:latin typeface="Arial" pitchFamily="34" charset="0"/>
                <a:ea typeface="ＭＳ Ｐゴシック" pitchFamily="34" charset="-128"/>
              </a:rPr>
              <a:t>Note the long form modulo reduction finds p(x)=q(x).m(x)+r(x) with r(x) being the desired remainder.</a:t>
            </a:r>
          </a:p>
        </p:txBody>
      </p:sp>
    </p:spTree>
    <p:extLst>
      <p:ext uri="{BB962C8B-B14F-4D97-AF65-F5344CB8AC3E}">
        <p14:creationId xmlns:p14="http://schemas.microsoft.com/office/powerpoint/2010/main" val="102971182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34CF2F-75F7-4BEB-BC34-BAEC4B2B2681}" type="slidenum">
              <a:rPr lang="en-AU">
                <a:latin typeface="Times New Roman" pitchFamily="18" charset="0"/>
                <a:ea typeface="ＭＳ Ｐゴシック" pitchFamily="34" charset="-128"/>
              </a:rPr>
              <a:pPr>
                <a:defRPr/>
              </a:pPr>
              <a:t>90</a:t>
            </a:fld>
            <a:endParaRPr lang="en-AU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21606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C9227CF-9979-453D-82FC-B494FCB8CBE5}" type="slidenum">
              <a:rPr lang="en-US" sz="1200">
                <a:solidFill>
                  <a:srgbClr val="FFFFFF"/>
                </a:solidFill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90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16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6069" name="Text Box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mtClean="0">
                <a:latin typeface="Arial" pitchFamily="34" charset="0"/>
                <a:ea typeface="ＭＳ Ｐゴシック" pitchFamily="34" charset="-128"/>
              </a:rPr>
              <a:t>Chapter 4 summary.</a:t>
            </a:r>
          </a:p>
        </p:txBody>
      </p:sp>
    </p:spTree>
    <p:extLst>
      <p:ext uri="{BB962C8B-B14F-4D97-AF65-F5344CB8AC3E}">
        <p14:creationId xmlns:p14="http://schemas.microsoft.com/office/powerpoint/2010/main" val="37024600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1B610B-C6E9-4DEF-8135-CBB7C7252C26}" type="slidenum">
              <a:rPr lang="en-US"/>
              <a:pPr/>
              <a:t>93</a:t>
            </a:fld>
            <a:endParaRPr lang="en-US"/>
          </a:p>
        </p:txBody>
      </p:sp>
      <p:sp>
        <p:nvSpPr>
          <p:cNvPr id="117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070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2BE0B0-34EE-4A59-9518-E48D0E9D4657}" type="slidenum">
              <a:rPr lang="en-US"/>
              <a:pPr/>
              <a:t>94</a:t>
            </a:fld>
            <a:endParaRPr lang="en-US"/>
          </a:p>
        </p:txBody>
      </p:sp>
      <p:sp>
        <p:nvSpPr>
          <p:cNvPr id="117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573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CC2D46-D03C-4ACB-A384-5D6D10E0448D}" type="slidenum">
              <a:rPr lang="en-US"/>
              <a:pPr/>
              <a:t>95</a:t>
            </a:fld>
            <a:endParaRPr lang="en-US"/>
          </a:p>
        </p:txBody>
      </p:sp>
      <p:sp>
        <p:nvSpPr>
          <p:cNvPr id="117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729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8F0C7D-3CC1-4E22-A875-A51544FEBA41}" type="slidenum">
              <a:rPr lang="en-US"/>
              <a:pPr/>
              <a:t>96</a:t>
            </a:fld>
            <a:endParaRPr lang="en-US"/>
          </a:p>
        </p:txBody>
      </p:sp>
      <p:sp>
        <p:nvSpPr>
          <p:cNvPr id="1180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163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D14F65-89EF-4845-955F-A8D06C1ECD88}" type="slidenum">
              <a:rPr lang="en-US">
                <a:solidFill>
                  <a:prstClr val="black"/>
                </a:solidFill>
              </a:rPr>
              <a:pPr/>
              <a:t>100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8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8148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E72C94-E6EB-4EF2-BDAF-6CAFA7CFC3D3}" type="slidenum">
              <a:rPr lang="en-US">
                <a:solidFill>
                  <a:prstClr val="black"/>
                </a:solidFill>
              </a:rPr>
              <a:pPr/>
              <a:t>101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8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0621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E05620-B774-40F9-9DBC-F004A48F76FC}" type="slidenum">
              <a:rPr lang="en-US">
                <a:solidFill>
                  <a:prstClr val="black"/>
                </a:solidFill>
              </a:rPr>
              <a:pPr/>
              <a:t>102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9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150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B85B11-65CB-4019-A2E0-3203B1E75513}" type="slidenum">
              <a:rPr lang="en-US">
                <a:solidFill>
                  <a:prstClr val="black"/>
                </a:solidFill>
              </a:rPr>
              <a:pPr/>
              <a:t>103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9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229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FE371-4BBE-4946-95E9-748A8A3C7C11}" type="slidenum">
              <a:rPr lang="en-US">
                <a:solidFill>
                  <a:prstClr val="black"/>
                </a:solidFill>
              </a:rPr>
              <a:pPr/>
              <a:t>104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9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133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338C9B-0CE6-4620-BE11-0EEDDB67FE69}" type="slidenum">
              <a:rPr lang="en-US">
                <a:solidFill>
                  <a:prstClr val="black"/>
                </a:solidFill>
              </a:rPr>
              <a:pPr/>
              <a:t>105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046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AF2788-3DE1-4F07-955C-65ADEF193DC5}" type="slidenum">
              <a:rPr lang="en-US">
                <a:solidFill>
                  <a:prstClr val="black"/>
                </a:solidFill>
              </a:rPr>
              <a:pPr/>
              <a:t>106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4041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FDE3F1-3577-4977-A732-EB5D065528C8}" type="slidenum">
              <a:rPr lang="en-US">
                <a:solidFill>
                  <a:prstClr val="black"/>
                </a:solidFill>
              </a:rPr>
              <a:pPr/>
              <a:t>107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8252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319356-AFE7-4145-AD7D-50D7DF7D4F5B}" type="slidenum">
              <a:rPr lang="en-US">
                <a:solidFill>
                  <a:prstClr val="black"/>
                </a:solidFill>
              </a:rPr>
              <a:pPr/>
              <a:t>108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4546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436B16-5D94-4903-8B35-C6B3F501421E}" type="slidenum">
              <a:rPr lang="en-US">
                <a:solidFill>
                  <a:prstClr val="black"/>
                </a:solidFill>
              </a:rPr>
              <a:pPr/>
              <a:t>109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8886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46AE96-8462-4DA1-9F86-E35DB5D81444}" type="slidenum">
              <a:rPr lang="en-US">
                <a:solidFill>
                  <a:prstClr val="black"/>
                </a:solidFill>
              </a:rPr>
              <a:pPr/>
              <a:t>110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1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83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523143" y="403225"/>
            <a:ext cx="7792915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269" tIns="43634" rIns="87269" bIns="436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65640" y="1447801"/>
            <a:ext cx="7839808" cy="505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269" tIns="43634" rIns="87269" bIns="436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6"/>
          <p:cNvSpPr txBox="1">
            <a:spLocks noChangeArrowheads="1"/>
          </p:cNvSpPr>
          <p:nvPr userDrawn="1"/>
        </p:nvSpPr>
        <p:spPr bwMode="auto">
          <a:xfrm>
            <a:off x="457200" y="6248401"/>
            <a:ext cx="2133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5" name="Text Box 67"/>
          <p:cNvSpPr txBox="1">
            <a:spLocks noChangeArrowheads="1"/>
          </p:cNvSpPr>
          <p:nvPr userDrawn="1"/>
        </p:nvSpPr>
        <p:spPr bwMode="auto">
          <a:xfrm>
            <a:off x="3124201" y="6248401"/>
            <a:ext cx="2895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6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457246" y="130263"/>
            <a:ext cx="8228013" cy="1433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 anchor="ctr" anchorCtr="1"/>
          <a:lstStyle>
            <a:lvl1pPr>
              <a:defRPr b="0"/>
            </a:lvl1pPr>
          </a:lstStyle>
          <a:p>
            <a:pPr lvl="0"/>
            <a:r>
              <a:rPr lang="en-GB" dirty="0" smtClean="0"/>
              <a:t>Click to edit the title text format</a:t>
            </a:r>
          </a:p>
        </p:txBody>
      </p:sp>
      <p:sp>
        <p:nvSpPr>
          <p:cNvPr id="71" name="Rectangle 69"/>
          <p:cNvSpPr>
            <a:spLocks noGrp="1" noChangeArrowheads="1"/>
          </p:cNvSpPr>
          <p:nvPr>
            <p:ph idx="1"/>
          </p:nvPr>
        </p:nvSpPr>
        <p:spPr bwMode="auto">
          <a:xfrm>
            <a:off x="457246" y="1676401"/>
            <a:ext cx="8228013" cy="4452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/>
          <a:lstStyle>
            <a:lvl1pPr>
              <a:defRPr sz="2300" b="0"/>
            </a:lvl1pPr>
            <a:lvl2pPr>
              <a:defRPr sz="2300" b="0">
                <a:solidFill>
                  <a:schemeClr val="tx1"/>
                </a:solidFill>
              </a:defRPr>
            </a:lvl2pPr>
            <a:lvl3pPr>
              <a:defRPr sz="2300" b="0">
                <a:solidFill>
                  <a:schemeClr val="tx1"/>
                </a:solidFill>
              </a:defRPr>
            </a:lvl3pPr>
            <a:lvl4pPr>
              <a:defRPr sz="2300" b="0">
                <a:solidFill>
                  <a:schemeClr val="tx1"/>
                </a:solidFill>
              </a:defRPr>
            </a:lvl4pPr>
            <a:lvl5pPr>
              <a:defRPr sz="23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 smtClean="0"/>
              <a:t>Click to edit the outline text format</a:t>
            </a:r>
          </a:p>
          <a:p>
            <a:pPr lvl="1"/>
            <a:r>
              <a:rPr lang="en-GB" noProof="0" dirty="0" smtClean="0"/>
              <a:t>Second Outline Level</a:t>
            </a:r>
          </a:p>
          <a:p>
            <a:pPr lvl="2"/>
            <a:r>
              <a:rPr lang="en-GB" noProof="0" dirty="0" smtClean="0"/>
              <a:t>Third Outline Level</a:t>
            </a:r>
          </a:p>
          <a:p>
            <a:pPr lvl="3"/>
            <a:r>
              <a:rPr lang="en-GB" noProof="0" dirty="0" smtClean="0"/>
              <a:t>Fourth Outline Level</a:t>
            </a:r>
          </a:p>
          <a:p>
            <a:pPr lvl="4"/>
            <a:r>
              <a:rPr lang="en-GB" noProof="0" dirty="0" smtClean="0"/>
              <a:t>Fifth Outline Level</a:t>
            </a:r>
          </a:p>
          <a:p>
            <a:pPr lvl="4"/>
            <a:r>
              <a:rPr lang="en-GB" noProof="0" dirty="0" smtClean="0"/>
              <a:t>Sixth Outline Level</a:t>
            </a:r>
          </a:p>
          <a:p>
            <a:pPr lvl="4"/>
            <a:r>
              <a:rPr lang="en-GB" noProof="0" dirty="0" smtClean="0"/>
              <a:t>Seventh Outline Level</a:t>
            </a:r>
          </a:p>
        </p:txBody>
      </p:sp>
      <p:sp>
        <p:nvSpPr>
          <p:cNvPr id="6" name="Rectangle 68"/>
          <p:cNvSpPr>
            <a:spLocks noGrp="1" noChangeArrowheads="1"/>
          </p:cNvSpPr>
          <p:nvPr>
            <p:ph type="sldNum" idx="10"/>
          </p:nvPr>
        </p:nvSpPr>
        <p:spPr>
          <a:xfrm>
            <a:off x="7763608" y="295275"/>
            <a:ext cx="628650" cy="768350"/>
          </a:xfrm>
          <a:prstGeom prst="rect">
            <a:avLst/>
          </a:prstGeom>
        </p:spPr>
        <p:txBody>
          <a:bodyPr lIns="87269" tIns="43634" rIns="87269" bIns="43634"/>
          <a:lstStyle>
            <a:lvl1pPr>
              <a:defRPr/>
            </a:lvl1pPr>
          </a:lstStyle>
          <a:p>
            <a:pPr>
              <a:defRPr/>
            </a:pPr>
            <a:fld id="{93906708-8B94-43EF-ACB6-E1A689B84B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6"/>
          <p:cNvSpPr txBox="1">
            <a:spLocks noChangeArrowheads="1"/>
          </p:cNvSpPr>
          <p:nvPr userDrawn="1"/>
        </p:nvSpPr>
        <p:spPr bwMode="auto">
          <a:xfrm>
            <a:off x="457200" y="6248401"/>
            <a:ext cx="2133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5" name="Text Box 67"/>
          <p:cNvSpPr txBox="1">
            <a:spLocks noChangeArrowheads="1"/>
          </p:cNvSpPr>
          <p:nvPr userDrawn="1"/>
        </p:nvSpPr>
        <p:spPr bwMode="auto">
          <a:xfrm>
            <a:off x="3124201" y="6248401"/>
            <a:ext cx="2895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6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457246" y="130263"/>
            <a:ext cx="8228013" cy="1433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 anchor="ctr" anchorCtr="1"/>
          <a:lstStyle>
            <a:lvl1pPr>
              <a:defRPr b="0"/>
            </a:lvl1pPr>
          </a:lstStyle>
          <a:p>
            <a:pPr lvl="0"/>
            <a:r>
              <a:rPr lang="en-GB" dirty="0" smtClean="0"/>
              <a:t>Click to edit the title text format</a:t>
            </a:r>
          </a:p>
        </p:txBody>
      </p:sp>
      <p:sp>
        <p:nvSpPr>
          <p:cNvPr id="71" name="Rectangle 69"/>
          <p:cNvSpPr>
            <a:spLocks noGrp="1" noChangeArrowheads="1"/>
          </p:cNvSpPr>
          <p:nvPr>
            <p:ph idx="1"/>
          </p:nvPr>
        </p:nvSpPr>
        <p:spPr bwMode="auto">
          <a:xfrm>
            <a:off x="457246" y="1676401"/>
            <a:ext cx="8228013" cy="4452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/>
          <a:lstStyle>
            <a:lvl1pPr>
              <a:defRPr sz="2300" b="0"/>
            </a:lvl1pPr>
            <a:lvl2pPr>
              <a:defRPr sz="2300" b="0">
                <a:solidFill>
                  <a:schemeClr val="tx1"/>
                </a:solidFill>
              </a:defRPr>
            </a:lvl2pPr>
            <a:lvl3pPr>
              <a:defRPr sz="2300" b="0">
                <a:solidFill>
                  <a:schemeClr val="tx1"/>
                </a:solidFill>
              </a:defRPr>
            </a:lvl3pPr>
            <a:lvl4pPr>
              <a:defRPr sz="2300" b="0">
                <a:solidFill>
                  <a:schemeClr val="tx1"/>
                </a:solidFill>
              </a:defRPr>
            </a:lvl4pPr>
            <a:lvl5pPr>
              <a:defRPr sz="23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 smtClean="0"/>
              <a:t>Click to edit the outline text format</a:t>
            </a:r>
          </a:p>
          <a:p>
            <a:pPr lvl="1"/>
            <a:r>
              <a:rPr lang="en-GB" noProof="0" dirty="0" smtClean="0"/>
              <a:t>Second Outline Level</a:t>
            </a:r>
          </a:p>
          <a:p>
            <a:pPr lvl="2"/>
            <a:r>
              <a:rPr lang="en-GB" noProof="0" dirty="0" smtClean="0"/>
              <a:t>Third Outline Level</a:t>
            </a:r>
          </a:p>
          <a:p>
            <a:pPr lvl="3"/>
            <a:r>
              <a:rPr lang="en-GB" noProof="0" dirty="0" smtClean="0"/>
              <a:t>Fourth Outline Level</a:t>
            </a:r>
          </a:p>
          <a:p>
            <a:pPr lvl="4"/>
            <a:r>
              <a:rPr lang="en-GB" noProof="0" dirty="0" smtClean="0"/>
              <a:t>Fifth Outline Level</a:t>
            </a:r>
          </a:p>
          <a:p>
            <a:pPr lvl="4"/>
            <a:r>
              <a:rPr lang="en-GB" noProof="0" dirty="0" smtClean="0"/>
              <a:t>Sixth Outline Level</a:t>
            </a:r>
          </a:p>
          <a:p>
            <a:pPr lvl="4"/>
            <a:r>
              <a:rPr lang="en-GB" noProof="0" dirty="0" smtClean="0"/>
              <a:t>Seventh Outline Level</a:t>
            </a:r>
          </a:p>
        </p:txBody>
      </p:sp>
      <p:sp>
        <p:nvSpPr>
          <p:cNvPr id="6" name="Rectangle 68"/>
          <p:cNvSpPr>
            <a:spLocks noGrp="1" noChangeArrowheads="1"/>
          </p:cNvSpPr>
          <p:nvPr>
            <p:ph type="sldNum" idx="10"/>
          </p:nvPr>
        </p:nvSpPr>
        <p:spPr>
          <a:xfrm>
            <a:off x="7763608" y="295275"/>
            <a:ext cx="628650" cy="768350"/>
          </a:xfrm>
          <a:prstGeom prst="rect">
            <a:avLst/>
          </a:prstGeom>
        </p:spPr>
        <p:txBody>
          <a:bodyPr lIns="87269" tIns="43634" rIns="87269" bIns="43634"/>
          <a:lstStyle>
            <a:lvl1pPr>
              <a:defRPr/>
            </a:lvl1pPr>
          </a:lstStyle>
          <a:p>
            <a:pPr>
              <a:defRPr/>
            </a:pPr>
            <a:fld id="{3624460F-6325-4942-B2B4-87C62D0CE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6"/>
          <p:cNvSpPr txBox="1">
            <a:spLocks noChangeArrowheads="1"/>
          </p:cNvSpPr>
          <p:nvPr userDrawn="1"/>
        </p:nvSpPr>
        <p:spPr bwMode="auto">
          <a:xfrm>
            <a:off x="457200" y="6248401"/>
            <a:ext cx="2133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5" name="Text Box 67"/>
          <p:cNvSpPr txBox="1">
            <a:spLocks noChangeArrowheads="1"/>
          </p:cNvSpPr>
          <p:nvPr userDrawn="1"/>
        </p:nvSpPr>
        <p:spPr bwMode="auto">
          <a:xfrm>
            <a:off x="3124201" y="6248401"/>
            <a:ext cx="2895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6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457246" y="130263"/>
            <a:ext cx="8228013" cy="1433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 anchor="ctr" anchorCtr="1"/>
          <a:lstStyle>
            <a:lvl1pPr>
              <a:defRPr b="0"/>
            </a:lvl1pPr>
          </a:lstStyle>
          <a:p>
            <a:pPr lvl="0"/>
            <a:r>
              <a:rPr lang="en-GB" dirty="0" smtClean="0"/>
              <a:t>Click to edit the title text format</a:t>
            </a:r>
          </a:p>
        </p:txBody>
      </p:sp>
      <p:sp>
        <p:nvSpPr>
          <p:cNvPr id="71" name="Rectangle 69"/>
          <p:cNvSpPr>
            <a:spLocks noGrp="1" noChangeArrowheads="1"/>
          </p:cNvSpPr>
          <p:nvPr>
            <p:ph idx="1"/>
          </p:nvPr>
        </p:nvSpPr>
        <p:spPr bwMode="auto">
          <a:xfrm>
            <a:off x="457246" y="1676401"/>
            <a:ext cx="8228013" cy="4452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/>
          <a:lstStyle>
            <a:lvl1pPr>
              <a:defRPr sz="2300" b="0"/>
            </a:lvl1pPr>
            <a:lvl2pPr>
              <a:defRPr sz="2300" b="0">
                <a:solidFill>
                  <a:schemeClr val="tx1"/>
                </a:solidFill>
              </a:defRPr>
            </a:lvl2pPr>
            <a:lvl3pPr>
              <a:defRPr sz="2300" b="0">
                <a:solidFill>
                  <a:schemeClr val="tx1"/>
                </a:solidFill>
              </a:defRPr>
            </a:lvl3pPr>
            <a:lvl4pPr>
              <a:defRPr sz="2300" b="0">
                <a:solidFill>
                  <a:schemeClr val="tx1"/>
                </a:solidFill>
              </a:defRPr>
            </a:lvl4pPr>
            <a:lvl5pPr>
              <a:defRPr sz="23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 smtClean="0"/>
              <a:t>Click to edit the outline text format</a:t>
            </a:r>
          </a:p>
          <a:p>
            <a:pPr lvl="1"/>
            <a:r>
              <a:rPr lang="en-GB" noProof="0" dirty="0" smtClean="0"/>
              <a:t>Second Outline Level</a:t>
            </a:r>
          </a:p>
          <a:p>
            <a:pPr lvl="2"/>
            <a:r>
              <a:rPr lang="en-GB" noProof="0" dirty="0" smtClean="0"/>
              <a:t>Third Outline Level</a:t>
            </a:r>
          </a:p>
          <a:p>
            <a:pPr lvl="3"/>
            <a:r>
              <a:rPr lang="en-GB" noProof="0" dirty="0" smtClean="0"/>
              <a:t>Fourth Outline Level</a:t>
            </a:r>
          </a:p>
          <a:p>
            <a:pPr lvl="4"/>
            <a:r>
              <a:rPr lang="en-GB" noProof="0" dirty="0" smtClean="0"/>
              <a:t>Fifth Outline Level</a:t>
            </a:r>
          </a:p>
          <a:p>
            <a:pPr lvl="4"/>
            <a:r>
              <a:rPr lang="en-GB" noProof="0" dirty="0" smtClean="0"/>
              <a:t>Sixth Outline Level</a:t>
            </a:r>
          </a:p>
          <a:p>
            <a:pPr lvl="4"/>
            <a:r>
              <a:rPr lang="en-GB" noProof="0" dirty="0" smtClean="0"/>
              <a:t>Seventh Outline Level</a:t>
            </a:r>
          </a:p>
        </p:txBody>
      </p:sp>
      <p:sp>
        <p:nvSpPr>
          <p:cNvPr id="6" name="Rectangle 68"/>
          <p:cNvSpPr>
            <a:spLocks noGrp="1" noChangeArrowheads="1"/>
          </p:cNvSpPr>
          <p:nvPr>
            <p:ph type="sldNum" idx="10"/>
          </p:nvPr>
        </p:nvSpPr>
        <p:spPr>
          <a:xfrm>
            <a:off x="7763608" y="295275"/>
            <a:ext cx="628650" cy="768350"/>
          </a:xfrm>
          <a:prstGeom prst="rect">
            <a:avLst/>
          </a:prstGeom>
        </p:spPr>
        <p:txBody>
          <a:bodyPr lIns="87269" tIns="43634" rIns="87269" bIns="43634"/>
          <a:lstStyle>
            <a:lvl1pPr>
              <a:defRPr/>
            </a:lvl1pPr>
          </a:lstStyle>
          <a:p>
            <a:pPr>
              <a:defRPr/>
            </a:pPr>
            <a:fld id="{8C242688-ADF4-4B39-89DD-0B090FE053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6"/>
          <p:cNvSpPr txBox="1">
            <a:spLocks noChangeArrowheads="1"/>
          </p:cNvSpPr>
          <p:nvPr userDrawn="1"/>
        </p:nvSpPr>
        <p:spPr bwMode="auto">
          <a:xfrm>
            <a:off x="457200" y="6248401"/>
            <a:ext cx="2133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5" name="Text Box 67"/>
          <p:cNvSpPr txBox="1">
            <a:spLocks noChangeArrowheads="1"/>
          </p:cNvSpPr>
          <p:nvPr userDrawn="1"/>
        </p:nvSpPr>
        <p:spPr bwMode="auto">
          <a:xfrm>
            <a:off x="3124201" y="6248401"/>
            <a:ext cx="2895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6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457246" y="130263"/>
            <a:ext cx="8228013" cy="1433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 anchor="ctr" anchorCtr="1"/>
          <a:lstStyle>
            <a:lvl1pPr>
              <a:defRPr b="0"/>
            </a:lvl1pPr>
          </a:lstStyle>
          <a:p>
            <a:pPr lvl="0"/>
            <a:r>
              <a:rPr lang="en-GB" dirty="0" smtClean="0"/>
              <a:t>Click to edit the title text format</a:t>
            </a:r>
          </a:p>
        </p:txBody>
      </p:sp>
      <p:sp>
        <p:nvSpPr>
          <p:cNvPr id="71" name="Rectangle 69"/>
          <p:cNvSpPr>
            <a:spLocks noGrp="1" noChangeArrowheads="1"/>
          </p:cNvSpPr>
          <p:nvPr>
            <p:ph idx="1"/>
          </p:nvPr>
        </p:nvSpPr>
        <p:spPr bwMode="auto">
          <a:xfrm>
            <a:off x="457246" y="1676401"/>
            <a:ext cx="8228013" cy="4452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/>
          <a:lstStyle>
            <a:lvl1pPr>
              <a:defRPr sz="2300" b="0"/>
            </a:lvl1pPr>
            <a:lvl2pPr>
              <a:defRPr sz="2300" b="0">
                <a:solidFill>
                  <a:schemeClr val="tx1"/>
                </a:solidFill>
              </a:defRPr>
            </a:lvl2pPr>
            <a:lvl3pPr>
              <a:defRPr sz="2300" b="0">
                <a:solidFill>
                  <a:schemeClr val="tx1"/>
                </a:solidFill>
              </a:defRPr>
            </a:lvl3pPr>
            <a:lvl4pPr>
              <a:defRPr sz="2300" b="0">
                <a:solidFill>
                  <a:schemeClr val="tx1"/>
                </a:solidFill>
              </a:defRPr>
            </a:lvl4pPr>
            <a:lvl5pPr>
              <a:defRPr sz="23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 smtClean="0"/>
              <a:t>Click to edit the outline text format</a:t>
            </a:r>
          </a:p>
          <a:p>
            <a:pPr lvl="1"/>
            <a:r>
              <a:rPr lang="en-GB" noProof="0" dirty="0" smtClean="0"/>
              <a:t>Second Outline Level</a:t>
            </a:r>
          </a:p>
          <a:p>
            <a:pPr lvl="2"/>
            <a:r>
              <a:rPr lang="en-GB" noProof="0" dirty="0" smtClean="0"/>
              <a:t>Third Outline Level</a:t>
            </a:r>
          </a:p>
          <a:p>
            <a:pPr lvl="3"/>
            <a:r>
              <a:rPr lang="en-GB" noProof="0" dirty="0" smtClean="0"/>
              <a:t>Fourth Outline Level</a:t>
            </a:r>
          </a:p>
          <a:p>
            <a:pPr lvl="4"/>
            <a:r>
              <a:rPr lang="en-GB" noProof="0" dirty="0" smtClean="0"/>
              <a:t>Fifth Outline Level</a:t>
            </a:r>
          </a:p>
          <a:p>
            <a:pPr lvl="4"/>
            <a:r>
              <a:rPr lang="en-GB" noProof="0" dirty="0" smtClean="0"/>
              <a:t>Sixth Outline Level</a:t>
            </a:r>
          </a:p>
          <a:p>
            <a:pPr lvl="4"/>
            <a:r>
              <a:rPr lang="en-GB" noProof="0" dirty="0" smtClean="0"/>
              <a:t>Seventh Outline Level</a:t>
            </a:r>
          </a:p>
        </p:txBody>
      </p:sp>
      <p:sp>
        <p:nvSpPr>
          <p:cNvPr id="6" name="Rectangle 68"/>
          <p:cNvSpPr>
            <a:spLocks noGrp="1" noChangeArrowheads="1"/>
          </p:cNvSpPr>
          <p:nvPr>
            <p:ph type="sldNum" idx="10"/>
          </p:nvPr>
        </p:nvSpPr>
        <p:spPr>
          <a:xfrm>
            <a:off x="7763608" y="295275"/>
            <a:ext cx="628650" cy="768350"/>
          </a:xfrm>
          <a:prstGeom prst="rect">
            <a:avLst/>
          </a:prstGeom>
        </p:spPr>
        <p:txBody>
          <a:bodyPr lIns="87269" tIns="43634" rIns="87269" bIns="43634"/>
          <a:lstStyle>
            <a:lvl1pPr>
              <a:defRPr/>
            </a:lvl1pPr>
          </a:lstStyle>
          <a:p>
            <a:pPr>
              <a:defRPr/>
            </a:pPr>
            <a:fld id="{D991F37B-A753-483A-B056-7B4EBB2FF2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6"/>
          <p:cNvSpPr txBox="1">
            <a:spLocks noChangeArrowheads="1"/>
          </p:cNvSpPr>
          <p:nvPr userDrawn="1"/>
        </p:nvSpPr>
        <p:spPr bwMode="auto">
          <a:xfrm>
            <a:off x="457200" y="6248401"/>
            <a:ext cx="2133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5" name="Text Box 67"/>
          <p:cNvSpPr txBox="1">
            <a:spLocks noChangeArrowheads="1"/>
          </p:cNvSpPr>
          <p:nvPr userDrawn="1"/>
        </p:nvSpPr>
        <p:spPr bwMode="auto">
          <a:xfrm>
            <a:off x="3124201" y="6248401"/>
            <a:ext cx="2895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269" tIns="43634" rIns="87269" bIns="43634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ＭＳ Ｐゴシック" pitchFamily="32" charset="-128"/>
            </a:endParaRPr>
          </a:p>
        </p:txBody>
      </p:sp>
      <p:sp>
        <p:nvSpPr>
          <p:cNvPr id="6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457246" y="130263"/>
            <a:ext cx="8228013" cy="1433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 anchor="ctr" anchorCtr="1"/>
          <a:lstStyle>
            <a:lvl1pPr>
              <a:defRPr b="0"/>
            </a:lvl1pPr>
          </a:lstStyle>
          <a:p>
            <a:pPr lvl="0"/>
            <a:r>
              <a:rPr lang="en-GB" dirty="0" smtClean="0"/>
              <a:t>Click to edit the title text format</a:t>
            </a:r>
          </a:p>
        </p:txBody>
      </p:sp>
      <p:sp>
        <p:nvSpPr>
          <p:cNvPr id="71" name="Rectangle 69"/>
          <p:cNvSpPr>
            <a:spLocks noGrp="1" noChangeArrowheads="1"/>
          </p:cNvSpPr>
          <p:nvPr>
            <p:ph idx="1"/>
          </p:nvPr>
        </p:nvSpPr>
        <p:spPr bwMode="auto">
          <a:xfrm>
            <a:off x="457246" y="1676401"/>
            <a:ext cx="8228013" cy="4452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5894" tIns="44665" rIns="85894" bIns="44665"/>
          <a:lstStyle>
            <a:lvl1pPr>
              <a:defRPr sz="2300" b="0"/>
            </a:lvl1pPr>
            <a:lvl2pPr>
              <a:defRPr sz="2300" b="0">
                <a:solidFill>
                  <a:schemeClr val="tx1"/>
                </a:solidFill>
              </a:defRPr>
            </a:lvl2pPr>
            <a:lvl3pPr>
              <a:defRPr sz="2300" b="0">
                <a:solidFill>
                  <a:schemeClr val="tx1"/>
                </a:solidFill>
              </a:defRPr>
            </a:lvl3pPr>
            <a:lvl4pPr>
              <a:defRPr sz="2300" b="0">
                <a:solidFill>
                  <a:schemeClr val="tx1"/>
                </a:solidFill>
              </a:defRPr>
            </a:lvl4pPr>
            <a:lvl5pPr>
              <a:defRPr sz="23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 smtClean="0"/>
              <a:t>Click to edit the outline text format</a:t>
            </a:r>
          </a:p>
          <a:p>
            <a:pPr lvl="1"/>
            <a:r>
              <a:rPr lang="en-GB" noProof="0" dirty="0" smtClean="0"/>
              <a:t>Second Outline Level</a:t>
            </a:r>
          </a:p>
          <a:p>
            <a:pPr lvl="2"/>
            <a:r>
              <a:rPr lang="en-GB" noProof="0" dirty="0" smtClean="0"/>
              <a:t>Third Outline Level</a:t>
            </a:r>
          </a:p>
          <a:p>
            <a:pPr lvl="3"/>
            <a:r>
              <a:rPr lang="en-GB" noProof="0" dirty="0" smtClean="0"/>
              <a:t>Fourth Outline Level</a:t>
            </a:r>
          </a:p>
          <a:p>
            <a:pPr lvl="4"/>
            <a:r>
              <a:rPr lang="en-GB" noProof="0" dirty="0" smtClean="0"/>
              <a:t>Fifth Outline Level</a:t>
            </a:r>
          </a:p>
          <a:p>
            <a:pPr lvl="4"/>
            <a:r>
              <a:rPr lang="en-GB" noProof="0" dirty="0" smtClean="0"/>
              <a:t>Sixth Outline Level</a:t>
            </a:r>
          </a:p>
          <a:p>
            <a:pPr lvl="4"/>
            <a:r>
              <a:rPr lang="en-GB" noProof="0" dirty="0" smtClean="0"/>
              <a:t>Seventh Outline Level</a:t>
            </a:r>
          </a:p>
        </p:txBody>
      </p:sp>
      <p:sp>
        <p:nvSpPr>
          <p:cNvPr id="6" name="Rectangle 68"/>
          <p:cNvSpPr>
            <a:spLocks noGrp="1" noChangeArrowheads="1"/>
          </p:cNvSpPr>
          <p:nvPr>
            <p:ph type="sldNum" idx="10"/>
          </p:nvPr>
        </p:nvSpPr>
        <p:spPr>
          <a:xfrm>
            <a:off x="7763608" y="295275"/>
            <a:ext cx="628650" cy="768350"/>
          </a:xfrm>
          <a:prstGeom prst="rect">
            <a:avLst/>
          </a:prstGeom>
        </p:spPr>
        <p:txBody>
          <a:bodyPr lIns="87269" tIns="43634" rIns="87269" bIns="43634"/>
          <a:lstStyle>
            <a:lvl1pPr>
              <a:defRPr/>
            </a:lvl1pPr>
          </a:lstStyle>
          <a:p>
            <a:pPr>
              <a:defRPr/>
            </a:pPr>
            <a:fld id="{C1FDE4B6-786C-481A-B9F7-D556B798D8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82571557-43CD-4322-A472-930E16FFCA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4431FED6-1A61-445C-BEFC-8A9192F9B2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B8340FBD-DE55-49E0-81A1-CABA3C4A5F5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842ADD90-95F7-40CD-ADF6-B95FE59613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41F64831-F232-4EE6-AAF8-CAB3A3B490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973D1B9F-1A48-43DA-A87D-99147FCBC1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07B15188-FCAB-44B5-98D3-A3DE72F583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361B6018-998A-4357-8D86-20A5EB0EB2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D383A831-B980-42A9-A67C-255B6551FC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4.</a:t>
            </a:r>
            <a:fld id="{2EFD16D0-889D-4AFA-AA62-5C9D9BE958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en-US" sz="2400" b="1" baseline="-20000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en-US" sz="2400" b="1" baseline="-20000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en-US" sz="2400" b="1" baseline="-20000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en-US" sz="2400" b="1" baseline="-20000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en-US" sz="2400" b="1" baseline="-20000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en-US" sz="2400" b="1" baseline="-20000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en-US" sz="2400" b="1" baseline="-20000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56347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DD97F8E5-43D3-44D1-9FF7-CDB7C6C0E59E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4366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3F0771C4-860A-43B4-BA94-4D8D842171C0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7108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97B52906-D849-4A2B-9842-5A68CDED3F0E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6683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972991D9-DD41-4446-B4AC-7B4C5047362B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9776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B4A7BABC-6B80-4049-B371-54903E88C6C6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6986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74D74EC7-FDCA-4C87-97ED-B66C56FF8E1F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5412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15360F65-CBAB-4D9B-AC2F-559D5AE62DD1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2751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C76A2944-7E00-45B1-B16C-32C795F28272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4167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14CD8CFA-8E01-4143-A114-BEFEAD3CB2BB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9437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E5416F1F-9BFD-49DF-9AB6-77D24E24B2FB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8063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en-US" sz="2400" b="1" baseline="-20000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en-US" sz="2400" b="1" baseline="-20000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en-US" sz="2400" b="1" baseline="-20000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en-US" sz="2400" b="1" baseline="-20000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en-US" sz="2400" b="1" baseline="-20000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en-US" sz="2400" b="1" baseline="-20000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en-US" sz="2400" b="1" baseline="-20000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559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DD97F8E5-43D3-44D1-9FF7-CDB7C6C0E59E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4777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3F0771C4-860A-43B4-BA94-4D8D842171C0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9986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97B52906-D849-4A2B-9842-5A68CDED3F0E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216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972991D9-DD41-4446-B4AC-7B4C5047362B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197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B4A7BABC-6B80-4049-B371-54903E88C6C6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1769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74D74EC7-FDCA-4C87-97ED-B66C56FF8E1F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8174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15360F65-CBAB-4D9B-AC2F-559D5AE62DD1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0584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C76A2944-7E00-45B1-B16C-32C795F28272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682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14CD8CFA-8E01-4143-A114-BEFEAD3CB2BB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402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1C1C1C"/>
                </a:solidFill>
              </a:rPr>
              <a:t>4.</a:t>
            </a:r>
            <a:fld id="{E5416F1F-9BFD-49DF-9AB6-77D24E24B2FB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5997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en-US" b="1" i="1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21094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en-US" b="1" i="1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grpSp>
          <p:nvGrpSpPr>
            <p:cNvPr id="21095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en-US" b="1" i="1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21095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en-US" b="1" i="1" smtClean="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sp>
          <p:nvSpPr>
            <p:cNvPr id="21095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b="1" i="1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21095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b="1" i="1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21095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b="1" i="1" smtClean="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</p:grp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210958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smtClean="0">
              <a:solidFill>
                <a:srgbClr val="1C1C1C"/>
              </a:solidFill>
              <a:cs typeface="+mn-cs"/>
            </a:endParaRPr>
          </a:p>
        </p:txBody>
      </p:sp>
      <p:sp>
        <p:nvSpPr>
          <p:cNvPr id="21095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smtClean="0">
                <a:solidFill>
                  <a:srgbClr val="1C1C1C"/>
                </a:solidFill>
                <a:cs typeface="+mn-cs"/>
              </a:rPr>
              <a:t>2.#</a:t>
            </a:r>
          </a:p>
        </p:txBody>
      </p:sp>
      <p:sp>
        <p:nvSpPr>
          <p:cNvPr id="21096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fld id="{AD33A53A-6580-4884-AB33-7179BBEAE781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  <p:sp>
        <p:nvSpPr>
          <p:cNvPr id="210961" name="Text Box 17"/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smtClean="0">
                <a:solidFill>
                  <a:srgbClr val="000000"/>
                </a:solidFill>
                <a:latin typeface="McGrawHill-Italic" pitchFamily="2" charset="0"/>
                <a:cs typeface="+mn-cs"/>
              </a:rPr>
              <a:t>McGraw-Hill</a:t>
            </a:r>
            <a:endParaRPr lang="en-US" altLang="en-US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10962" name="Text Box 18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buFontTx/>
              <a:buChar char="©"/>
            </a:pPr>
            <a:r>
              <a:rPr lang="en-US" altLang="en-US" sz="1400" smtClean="0">
                <a:solidFill>
                  <a:srgbClr val="000000"/>
                </a:solidFill>
                <a:latin typeface="McGrawHill-Italic" pitchFamily="2" charset="0"/>
                <a:cs typeface="+mn-cs"/>
              </a:rPr>
              <a:t>The McGraw-Hill Companies, Inc., 2000</a:t>
            </a:r>
            <a:endParaRPr lang="en-US" altLang="en-US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79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D2E98C53-BC00-420D-805F-BEC3EB60A30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413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D722EF5D-7FA5-4554-B981-6425D351335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2193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DE65D759-14AB-4131-886E-19679B9EB14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7161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EB476CB6-EAFC-474C-A9E5-DC3D92B25B9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328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6376598D-8F10-43C8-A181-0EDE112F2FF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26149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0A586B48-30B5-4E6C-BF6F-00CD1081991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1365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C86A91D6-256C-4F5E-9A6B-69C67DE3B29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516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F5E4E89F-0EDB-4B7C-8890-D005691EC0B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72311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76A724BA-B1B5-400C-A3B8-40CA6BA0E57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8956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2.</a:t>
            </a:r>
            <a:fld id="{3F07DD88-3730-4361-82AA-E8425157A72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15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23143" y="403225"/>
            <a:ext cx="7792915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269" tIns="43634" rIns="87269" bIns="436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65640" y="1447801"/>
            <a:ext cx="7839808" cy="505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269" tIns="43634" rIns="87269" bIns="436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5396" r:id="rId1"/>
    <p:sldLayoutId id="2147485397" r:id="rId2"/>
    <p:sldLayoutId id="2147485489" r:id="rId3"/>
    <p:sldLayoutId id="2147485490" r:id="rId4"/>
    <p:sldLayoutId id="2147485494" r:id="rId5"/>
    <p:sldLayoutId id="2147485495" r:id="rId6"/>
    <p:sldLayoutId id="2147485506" r:id="rId7"/>
    <p:sldLayoutId id="2147485531" r:id="rId8"/>
    <p:sldLayoutId id="2147485533" r:id="rId9"/>
    <p:sldLayoutId id="2147485534" r:id="rId10"/>
    <p:sldLayoutId id="2147485536" r:id="rId11"/>
  </p:sldLayoutIdLst>
  <p:txStyles>
    <p:titleStyle>
      <a:lvl1pPr algn="ctr" defTabSz="436344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02060"/>
          </a:solidFill>
          <a:latin typeface="Bookman Old Style" pitchFamily="18" charset="0"/>
          <a:ea typeface="+mj-ea"/>
          <a:cs typeface="+mj-cs"/>
        </a:defRPr>
      </a:lvl1pPr>
      <a:lvl2pPr algn="l" defTabSz="436344" rtl="0" eaLnBrk="0" fontAlgn="base" hangingPunct="0"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Century Gothic" pitchFamily="34" charset="0"/>
        </a:defRPr>
      </a:lvl2pPr>
      <a:lvl3pPr algn="l" defTabSz="436344" rtl="0" eaLnBrk="0" fontAlgn="base" hangingPunct="0"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Century Gothic" pitchFamily="34" charset="0"/>
        </a:defRPr>
      </a:lvl3pPr>
      <a:lvl4pPr algn="l" defTabSz="436344" rtl="0" eaLnBrk="0" fontAlgn="base" hangingPunct="0"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Century Gothic" pitchFamily="34" charset="0"/>
        </a:defRPr>
      </a:lvl4pPr>
      <a:lvl5pPr algn="l" defTabSz="436344" rtl="0" eaLnBrk="0" fontAlgn="base" hangingPunct="0"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Century Gothic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27257" indent="-327257" algn="l" defTabSz="436344" rtl="0" eaLnBrk="0" fontAlgn="base" hangingPunct="0">
        <a:spcBef>
          <a:spcPts val="954"/>
        </a:spcBef>
        <a:spcAft>
          <a:spcPct val="0"/>
        </a:spcAft>
        <a:buClr>
          <a:srgbClr val="999999"/>
        </a:buClr>
        <a:buSzPct val="80000"/>
        <a:buBlip>
          <a:blip r:embed="rId13"/>
        </a:buBlip>
        <a:defRPr sz="2400" kern="1200">
          <a:solidFill>
            <a:srgbClr val="0000FF"/>
          </a:solidFill>
          <a:latin typeface="Gill Sans MT" pitchFamily="34" charset="0"/>
          <a:ea typeface="Arial Unicode MS" pitchFamily="34" charset="-128"/>
          <a:cs typeface="Arial Unicode MS" pitchFamily="34" charset="-128"/>
        </a:defRPr>
      </a:lvl1pPr>
      <a:lvl2pPr marL="709057" indent="-272715" algn="l" defTabSz="436344" rtl="0" eaLnBrk="0" fontAlgn="base" hangingPunct="0">
        <a:spcBef>
          <a:spcPts val="954"/>
        </a:spcBef>
        <a:spcAft>
          <a:spcPct val="0"/>
        </a:spcAft>
        <a:buClr>
          <a:srgbClr val="0070C0"/>
        </a:buClr>
        <a:buSzPct val="100000"/>
        <a:buFont typeface="Arial" pitchFamily="34" charset="0"/>
        <a:buChar char="•"/>
        <a:defRPr sz="2400" kern="1200">
          <a:solidFill>
            <a:schemeClr val="bg1"/>
          </a:solidFill>
          <a:latin typeface="Gill Sans MT" pitchFamily="34" charset="0"/>
          <a:ea typeface="Arial Unicode MS" pitchFamily="34" charset="-128"/>
          <a:cs typeface="Arial Unicode MS" pitchFamily="34" charset="-128"/>
        </a:defRPr>
      </a:lvl2pPr>
      <a:lvl3pPr marL="1090859" indent="-218171" algn="l" defTabSz="436344" rtl="0" eaLnBrk="0" fontAlgn="base" hangingPunct="0">
        <a:spcBef>
          <a:spcPts val="954"/>
        </a:spcBef>
        <a:spcAft>
          <a:spcPct val="0"/>
        </a:spcAft>
        <a:buClr>
          <a:srgbClr val="999999"/>
        </a:buClr>
        <a:buSzPct val="80000"/>
        <a:buBlip>
          <a:blip r:embed="rId13"/>
        </a:buBlip>
        <a:defRPr sz="2400" kern="1200">
          <a:solidFill>
            <a:schemeClr val="bg1"/>
          </a:solidFill>
          <a:latin typeface="Gill Sans MT" pitchFamily="34" charset="0"/>
          <a:ea typeface="Arial Unicode MS" pitchFamily="34" charset="-128"/>
          <a:cs typeface="Arial Unicode MS" pitchFamily="34" charset="-128"/>
        </a:defRPr>
      </a:lvl3pPr>
      <a:lvl4pPr marL="1527202" indent="-218171" algn="l" defTabSz="436344" rtl="0" eaLnBrk="0" fontAlgn="base" hangingPunct="0">
        <a:spcBef>
          <a:spcPts val="954"/>
        </a:spcBef>
        <a:spcAft>
          <a:spcPct val="0"/>
        </a:spcAft>
        <a:buClr>
          <a:srgbClr val="999999"/>
        </a:buClr>
        <a:buSzPct val="80000"/>
        <a:buBlip>
          <a:blip r:embed="rId13"/>
        </a:buBlip>
        <a:defRPr sz="2400" kern="1200">
          <a:solidFill>
            <a:schemeClr val="bg1"/>
          </a:solidFill>
          <a:latin typeface="Gill Sans MT" pitchFamily="34" charset="0"/>
          <a:ea typeface="Arial Unicode MS" pitchFamily="34" charset="-128"/>
          <a:cs typeface="Arial Unicode MS" pitchFamily="34" charset="-128"/>
        </a:defRPr>
      </a:lvl4pPr>
      <a:lvl5pPr marL="1963545" indent="-218171" algn="l" defTabSz="436344" rtl="0" eaLnBrk="0" fontAlgn="base" hangingPunct="0">
        <a:spcBef>
          <a:spcPts val="954"/>
        </a:spcBef>
        <a:spcAft>
          <a:spcPct val="0"/>
        </a:spcAft>
        <a:buClr>
          <a:srgbClr val="999999"/>
        </a:buClr>
        <a:buSzPct val="80000"/>
        <a:buBlip>
          <a:blip r:embed="rId13"/>
        </a:buBlip>
        <a:defRPr sz="2400" kern="1200">
          <a:solidFill>
            <a:schemeClr val="bg1"/>
          </a:solidFill>
          <a:latin typeface="Gill Sans MT" pitchFamily="34" charset="0"/>
          <a:ea typeface="Arial Unicode MS" pitchFamily="34" charset="-128"/>
          <a:cs typeface="Arial Unicode MS" pitchFamily="34" charset="-128"/>
        </a:defRPr>
      </a:lvl5pPr>
      <a:lvl6pPr marL="2391681" indent="-218171" algn="l" defTabSz="436344" rtl="0" eaLnBrk="1" latinLnBrk="0" hangingPunct="1">
        <a:spcBef>
          <a:spcPts val="954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836232" indent="-218171" algn="l" defTabSz="436344" rtl="0" eaLnBrk="1" latinLnBrk="0" hangingPunct="1">
        <a:spcBef>
          <a:spcPts val="954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272576" indent="-218171" algn="l" defTabSz="436344" rtl="0" eaLnBrk="1" latinLnBrk="0" hangingPunct="1">
        <a:spcBef>
          <a:spcPts val="954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708918" indent="-218171" algn="l" defTabSz="436344" rtl="0" eaLnBrk="1" latinLnBrk="0" hangingPunct="1">
        <a:spcBef>
          <a:spcPts val="954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344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687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9030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5373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717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8061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4403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90747" algn="l" defTabSz="43634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D3276-E0A4-43B3-9B6A-E72F1FD6C677}" type="datetimeFigureOut">
              <a:rPr lang="en-US" smtClean="0"/>
              <a:pPr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E5A5F-9052-404D-BDB8-0769B149D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38" r:id="rId1"/>
    <p:sldLayoutId id="2147485539" r:id="rId2"/>
    <p:sldLayoutId id="2147485540" r:id="rId3"/>
    <p:sldLayoutId id="2147485541" r:id="rId4"/>
    <p:sldLayoutId id="2147485542" r:id="rId5"/>
    <p:sldLayoutId id="2147485543" r:id="rId6"/>
    <p:sldLayoutId id="2147485544" r:id="rId7"/>
    <p:sldLayoutId id="2147485545" r:id="rId8"/>
    <p:sldLayoutId id="2147485546" r:id="rId9"/>
    <p:sldLayoutId id="2147485547" r:id="rId10"/>
    <p:sldLayoutId id="214748554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aseline="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r>
              <a:rPr lang="en-US"/>
              <a:t>4.</a:t>
            </a:r>
            <a:fld id="{FBEB30DE-CC53-4E15-B472-2D3EE826BE5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50" r:id="rId1"/>
    <p:sldLayoutId id="2147485551" r:id="rId2"/>
    <p:sldLayoutId id="2147485552" r:id="rId3"/>
    <p:sldLayoutId id="2147485553" r:id="rId4"/>
    <p:sldLayoutId id="2147485554" r:id="rId5"/>
    <p:sldLayoutId id="2147485555" r:id="rId6"/>
    <p:sldLayoutId id="2147485556" r:id="rId7"/>
    <p:sldLayoutId id="2147485557" r:id="rId8"/>
    <p:sldLayoutId id="2147485558" r:id="rId9"/>
    <p:sldLayoutId id="2147485559" r:id="rId10"/>
    <p:sldLayoutId id="214748556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Arial Unicode MS" pitchFamily="34" charset="-128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Arial Unicode MS" pitchFamily="34" charset="-128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Arial Unicode MS" pitchFamily="34" charset="-128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aseline="0">
                <a:solidFill>
                  <a:schemeClr val="bg2"/>
                </a:solidFill>
                <a:latin typeface="Arial" charset="0"/>
              </a:defRPr>
            </a:lvl1pPr>
          </a:lstStyle>
          <a:p>
            <a:r>
              <a:rPr lang="en-US" b="1" smtClean="0">
                <a:solidFill>
                  <a:srgbClr val="1C1C1C"/>
                </a:solidFill>
                <a:cs typeface="+mn-cs"/>
              </a:rPr>
              <a:t>4.</a:t>
            </a:r>
            <a:fld id="{AF328A04-592A-4B0E-A3F3-E7D9326B741B}" type="slidenum">
              <a:rPr lang="en-US" b="1" smtClean="0">
                <a:solidFill>
                  <a:srgbClr val="1C1C1C"/>
                </a:solidFill>
                <a:cs typeface="+mn-cs"/>
              </a:rPr>
              <a:pPr/>
              <a:t>‹#›</a:t>
            </a:fld>
            <a:endParaRPr lang="en-US" b="1" smtClean="0">
              <a:solidFill>
                <a:srgbClr val="1C1C1C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08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78" r:id="rId1"/>
    <p:sldLayoutId id="2147485579" r:id="rId2"/>
    <p:sldLayoutId id="2147485580" r:id="rId3"/>
    <p:sldLayoutId id="2147485581" r:id="rId4"/>
    <p:sldLayoutId id="2147485582" r:id="rId5"/>
    <p:sldLayoutId id="2147485583" r:id="rId6"/>
    <p:sldLayoutId id="2147485584" r:id="rId7"/>
    <p:sldLayoutId id="2147485585" r:id="rId8"/>
    <p:sldLayoutId id="2147485586" r:id="rId9"/>
    <p:sldLayoutId id="2147485587" r:id="rId10"/>
    <p:sldLayoutId id="2147485588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Arial Unicode MS" pitchFamily="34" charset="-128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Arial Unicode MS" pitchFamily="34" charset="-128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Arial Unicode MS" pitchFamily="34" charset="-128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aseline="0">
                <a:solidFill>
                  <a:schemeClr val="bg2"/>
                </a:solidFill>
                <a:latin typeface="Arial" charset="0"/>
              </a:defRPr>
            </a:lvl1pPr>
          </a:lstStyle>
          <a:p>
            <a:r>
              <a:rPr lang="en-US" b="1" smtClean="0">
                <a:solidFill>
                  <a:srgbClr val="1C1C1C"/>
                </a:solidFill>
                <a:cs typeface="+mn-cs"/>
              </a:rPr>
              <a:t>4.</a:t>
            </a:r>
            <a:fld id="{AF328A04-592A-4B0E-A3F3-E7D9326B741B}" type="slidenum">
              <a:rPr lang="en-US" b="1" smtClean="0">
                <a:solidFill>
                  <a:srgbClr val="1C1C1C"/>
                </a:solidFill>
                <a:cs typeface="+mn-cs"/>
              </a:rPr>
              <a:pPr/>
              <a:t>‹#›</a:t>
            </a:fld>
            <a:endParaRPr lang="en-US" b="1" smtClean="0">
              <a:solidFill>
                <a:srgbClr val="1C1C1C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62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90" r:id="rId1"/>
    <p:sldLayoutId id="2147485591" r:id="rId2"/>
    <p:sldLayoutId id="2147485592" r:id="rId3"/>
    <p:sldLayoutId id="2147485593" r:id="rId4"/>
    <p:sldLayoutId id="2147485594" r:id="rId5"/>
    <p:sldLayoutId id="2147485595" r:id="rId6"/>
    <p:sldLayoutId id="2147485596" r:id="rId7"/>
    <p:sldLayoutId id="2147485597" r:id="rId8"/>
    <p:sldLayoutId id="2147485598" r:id="rId9"/>
    <p:sldLayoutId id="2147485599" r:id="rId10"/>
    <p:sldLayoutId id="214748560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Arial Unicode MS" pitchFamily="34" charset="-128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Arial Unicode MS" pitchFamily="34" charset="-128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Arial Unicode MS" pitchFamily="34" charset="-128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Arial Unicode MS" pitchFamily="34" charset="-128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Arial" charset="0"/>
              </a:defRPr>
            </a:lvl1pPr>
          </a:lstStyle>
          <a:p>
            <a:r>
              <a:rPr lang="en-US" b="1" smtClean="0">
                <a:solidFill>
                  <a:srgbClr val="000000"/>
                </a:solidFill>
                <a:cs typeface="+mn-cs"/>
              </a:rPr>
              <a:t>2.</a:t>
            </a:r>
            <a:fld id="{346D5D77-80AB-426F-A6D9-AFB5A12A84A8}" type="slidenum">
              <a:rPr lang="en-US" b="1" smtClean="0">
                <a:solidFill>
                  <a:srgbClr val="000000"/>
                </a:solidFill>
                <a:cs typeface="+mn-cs"/>
              </a:rPr>
              <a:pPr/>
              <a:t>‹#›</a:t>
            </a:fld>
            <a:endParaRPr lang="en-US" b="1" smtClean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87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2" r:id="rId1"/>
    <p:sldLayoutId id="2147485603" r:id="rId2"/>
    <p:sldLayoutId id="2147485604" r:id="rId3"/>
    <p:sldLayoutId id="2147485605" r:id="rId4"/>
    <p:sldLayoutId id="2147485606" r:id="rId5"/>
    <p:sldLayoutId id="2147485607" r:id="rId6"/>
    <p:sldLayoutId id="2147485608" r:id="rId7"/>
    <p:sldLayoutId id="2147485609" r:id="rId8"/>
    <p:sldLayoutId id="2147485610" r:id="rId9"/>
    <p:sldLayoutId id="2147485611" r:id="rId10"/>
    <p:sldLayoutId id="2147485612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9.xml"/><Relationship Id="rId4" Type="http://schemas.microsoft.com/office/2007/relationships/hdphoto" Target="../media/hdphoto1.wdp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9.xml"/><Relationship Id="rId4" Type="http://schemas.microsoft.com/office/2007/relationships/hdphoto" Target="../media/hdphoto2.wdp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19311" y="2983734"/>
            <a:ext cx="6302326" cy="847287"/>
          </a:xfrm>
        </p:spPr>
        <p:txBody>
          <a:bodyPr/>
          <a:lstStyle/>
          <a:p>
            <a:pPr algn="ctr" eaLnBrk="1" hangingPunct="1"/>
            <a:r>
              <a:rPr lang="en-AU" altLang="zh-TW" sz="4200" dirty="0" smtClean="0">
                <a:ea typeface="ＭＳ Ｐゴシック" pitchFamily="34" charset="-128"/>
              </a:rPr>
              <a:t>Cryptographic Math-2</a:t>
            </a:r>
            <a:br>
              <a:rPr lang="en-AU" altLang="zh-TW" sz="4200" dirty="0" smtClean="0">
                <a:ea typeface="ＭＳ Ｐゴシック" pitchFamily="34" charset="-128"/>
              </a:rPr>
            </a:br>
            <a:endParaRPr lang="en-AU" altLang="zh-TW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268372" y="3084204"/>
            <a:ext cx="49664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baseline="0" dirty="0" smtClean="0">
                <a:solidFill>
                  <a:srgbClr val="002060"/>
                </a:solidFill>
                <a:latin typeface="Bookman Old Style" pitchFamily="18" charset="0"/>
              </a:rPr>
              <a:t>Algebraic Structures</a:t>
            </a:r>
            <a:endParaRPr lang="en-US" sz="3200" b="1" baseline="0" dirty="0">
              <a:solidFill>
                <a:srgbClr val="002060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72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1AED7707-A5B1-472A-89F6-D46B1A6BFFF1}" type="slidenum">
              <a:rPr lang="en-US" smtClean="0">
                <a:latin typeface="Tw Cen MT" panose="020B0602020104020603" pitchFamily="34" charset="0"/>
              </a:rPr>
              <a:pPr/>
              <a:t>3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947203" name="Text Box 3"/>
          <p:cNvSpPr txBox="1">
            <a:spLocks noChangeArrowheads="1"/>
          </p:cNvSpPr>
          <p:nvPr/>
        </p:nvSpPr>
        <p:spPr bwMode="auto">
          <a:xfrm>
            <a:off x="1600200" y="228600"/>
            <a:ext cx="48915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w Cen MT" panose="020B0602020104020603" pitchFamily="34" charset="0"/>
              </a:rPr>
              <a:t>  Fermat's Little Theorem</a:t>
            </a:r>
          </a:p>
        </p:txBody>
      </p:sp>
      <p:sp>
        <p:nvSpPr>
          <p:cNvPr id="947204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800">
              <a:latin typeface="Tw Cen MT" panose="020B0602020104020603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14400" y="1143000"/>
            <a:ext cx="6315075" cy="2314575"/>
            <a:chOff x="533400" y="1371600"/>
            <a:chExt cx="6315075" cy="231457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1371600"/>
              <a:ext cx="6315075" cy="142875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57600" y="3048000"/>
              <a:ext cx="2305050" cy="56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86000" y="3200400"/>
              <a:ext cx="476250" cy="485775"/>
            </a:xfrm>
            <a:prstGeom prst="rect">
              <a:avLst/>
            </a:prstGeom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3657600"/>
            <a:ext cx="2514600" cy="24860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 bwMode="auto">
          <a:xfrm>
            <a:off x="2209800" y="1524000"/>
            <a:ext cx="19812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8447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9257" y="1100177"/>
            <a:ext cx="3645577" cy="511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7" name="Rectangle 2"/>
          <p:cNvSpPr>
            <a:spLocks noChangeArrowheads="1"/>
          </p:cNvSpPr>
          <p:nvPr/>
        </p:nvSpPr>
        <p:spPr bwMode="auto">
          <a:xfrm>
            <a:off x="2876599" y="414339"/>
            <a:ext cx="4627717" cy="519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7269" tIns="43634" rIns="87269" bIns="43634">
            <a:spAutoFit/>
          </a:bodyPr>
          <a:lstStyle/>
          <a:p>
            <a:r>
              <a:rPr lang="en-US" sz="2800" dirty="0" err="1">
                <a:solidFill>
                  <a:srgbClr val="0000CC"/>
                </a:solidFill>
              </a:rPr>
              <a:t>Fermats</a:t>
            </a:r>
            <a:r>
              <a:rPr lang="en-US" sz="2800" dirty="0">
                <a:solidFill>
                  <a:srgbClr val="0000CC"/>
                </a:solidFill>
              </a:rPr>
              <a:t> Theorem </a:t>
            </a:r>
            <a:r>
              <a:rPr lang="en-US" sz="2800" dirty="0" smtClean="0">
                <a:solidFill>
                  <a:srgbClr val="0000CC"/>
                </a:solidFill>
              </a:rPr>
              <a:t>Example</a:t>
            </a:r>
            <a:endParaRPr lang="en-US" sz="28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50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1AED7707-A5B1-472A-89F6-D46B1A6BFFF1}" type="slidenum">
              <a:rPr lang="en-US" smtClean="0">
                <a:latin typeface="Tw Cen MT" panose="020B0602020104020603" pitchFamily="34" charset="0"/>
              </a:rPr>
              <a:pPr/>
              <a:t>5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947203" name="Text Box 3"/>
          <p:cNvSpPr txBox="1">
            <a:spLocks noChangeArrowheads="1"/>
          </p:cNvSpPr>
          <p:nvPr/>
        </p:nvSpPr>
        <p:spPr bwMode="auto">
          <a:xfrm>
            <a:off x="2743200" y="381000"/>
            <a:ext cx="3486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w Cen MT" panose="020B0602020104020603" pitchFamily="34" charset="0"/>
              </a:rPr>
              <a:t>  Euler's Theorem</a:t>
            </a:r>
          </a:p>
        </p:txBody>
      </p:sp>
      <p:sp>
        <p:nvSpPr>
          <p:cNvPr id="947204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800">
              <a:latin typeface="Tw Cen MT" panose="020B06020201040206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5943600" cy="495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057400"/>
            <a:ext cx="5124450" cy="1009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124200"/>
            <a:ext cx="5172075" cy="2476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5943600"/>
            <a:ext cx="459105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8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34325" y="1340067"/>
            <a:ext cx="3530194" cy="4570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1" name="Rectangle 2"/>
          <p:cNvSpPr>
            <a:spLocks noChangeArrowheads="1"/>
          </p:cNvSpPr>
          <p:nvPr/>
        </p:nvSpPr>
        <p:spPr bwMode="auto">
          <a:xfrm>
            <a:off x="3028426" y="275460"/>
            <a:ext cx="4449848" cy="58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7269" tIns="43634" rIns="87269" bIns="43634">
            <a:spAutoFit/>
          </a:bodyPr>
          <a:lstStyle/>
          <a:p>
            <a:r>
              <a:rPr lang="en-US" sz="3200" dirty="0" err="1">
                <a:solidFill>
                  <a:srgbClr val="0000CC"/>
                </a:solidFill>
              </a:rPr>
              <a:t>Eulers</a:t>
            </a:r>
            <a:r>
              <a:rPr lang="en-US" sz="3200" dirty="0">
                <a:solidFill>
                  <a:srgbClr val="0000CC"/>
                </a:solidFill>
              </a:rPr>
              <a:t> </a:t>
            </a:r>
            <a:r>
              <a:rPr lang="en-US" sz="3200" dirty="0" err="1">
                <a:solidFill>
                  <a:srgbClr val="0000CC"/>
                </a:solidFill>
              </a:rPr>
              <a:t>Totient</a:t>
            </a:r>
            <a:r>
              <a:rPr lang="en-US" sz="3200" dirty="0">
                <a:solidFill>
                  <a:srgbClr val="0000CC"/>
                </a:solidFill>
              </a:rPr>
              <a:t> Function</a:t>
            </a:r>
            <a:r>
              <a:rPr lang="en-US" sz="32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753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3186" y="2921168"/>
            <a:ext cx="59811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000CC"/>
                </a:solidFill>
              </a:rPr>
              <a:t>Discrete Logarithm Example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4974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60635" y="1014413"/>
            <a:ext cx="3947747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2151035" y="398957"/>
            <a:ext cx="4794494" cy="519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7269" tIns="43634" rIns="87269" bIns="43634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Discrete Logarithm Example</a:t>
            </a:r>
            <a:r>
              <a:rPr lang="en-US" sz="2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8874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4748" y="1120885"/>
            <a:ext cx="4544157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827" name="Rectangle 2"/>
          <p:cNvSpPr>
            <a:spLocks noChangeArrowheads="1"/>
          </p:cNvSpPr>
          <p:nvPr/>
        </p:nvSpPr>
        <p:spPr bwMode="auto">
          <a:xfrm>
            <a:off x="2316496" y="193786"/>
            <a:ext cx="4299166" cy="58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7269" tIns="43634" rIns="87269" bIns="43634">
            <a:spAutoFit/>
          </a:bodyPr>
          <a:lstStyle/>
          <a:p>
            <a:r>
              <a:rPr lang="en-US" sz="3200" dirty="0">
                <a:solidFill>
                  <a:srgbClr val="0000CC"/>
                </a:solidFill>
              </a:rPr>
              <a:t>Discrete Log </a:t>
            </a:r>
            <a:r>
              <a:rPr lang="en-US" sz="3200" dirty="0" smtClean="0">
                <a:solidFill>
                  <a:srgbClr val="0000CC"/>
                </a:solidFill>
              </a:rPr>
              <a:t>Example</a:t>
            </a:r>
            <a:endParaRPr lang="en-US" sz="3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59473" y="3227888"/>
            <a:ext cx="4724651" cy="58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7269" tIns="43634" rIns="87269" bIns="43634">
            <a:spAutoFit/>
          </a:bodyPr>
          <a:lstStyle/>
          <a:p>
            <a:r>
              <a:rPr lang="en-US" sz="3200" dirty="0">
                <a:solidFill>
                  <a:srgbClr val="0000CC"/>
                </a:solidFill>
              </a:rPr>
              <a:t>Primitive Root </a:t>
            </a:r>
            <a:r>
              <a:rPr lang="en-US" sz="3200" dirty="0" smtClean="0">
                <a:solidFill>
                  <a:srgbClr val="0000CC"/>
                </a:solidFill>
              </a:rPr>
              <a:t>Example</a:t>
            </a:r>
            <a:endParaRPr lang="en-US" sz="3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0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2289" y="854075"/>
            <a:ext cx="4768362" cy="522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803" name="Rectangle 2"/>
          <p:cNvSpPr>
            <a:spLocks noChangeArrowheads="1"/>
          </p:cNvSpPr>
          <p:nvPr/>
        </p:nvSpPr>
        <p:spPr bwMode="auto">
          <a:xfrm>
            <a:off x="5649059" y="2179639"/>
            <a:ext cx="1984131" cy="642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69" tIns="43634" rIns="87269" bIns="43634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Primitive Root Example;</a:t>
            </a:r>
          </a:p>
        </p:txBody>
      </p:sp>
    </p:spTree>
    <p:extLst>
      <p:ext uri="{BB962C8B-B14F-4D97-AF65-F5344CB8AC3E}">
        <p14:creationId xmlns:p14="http://schemas.microsoft.com/office/powerpoint/2010/main" val="134290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1790700" y="368300"/>
            <a:ext cx="49664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baseline="0" dirty="0" smtClean="0">
                <a:solidFill>
                  <a:srgbClr val="002060"/>
                </a:solidFill>
                <a:latin typeface="Bookman Old Style" pitchFamily="18" charset="0"/>
              </a:rPr>
              <a:t>Algebraic Structures</a:t>
            </a:r>
            <a:endParaRPr lang="en-US" sz="3200" b="1" baseline="0" dirty="0">
              <a:solidFill>
                <a:srgbClr val="002060"/>
              </a:solidFill>
              <a:latin typeface="Bookman Old Style" pitchFamily="18" charset="0"/>
            </a:endParaRP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800" baseline="0">
              <a:solidFill>
                <a:srgbClr val="0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04800" y="1219200"/>
            <a:ext cx="8543778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514350" indent="-514350" algn="just">
              <a:spcAft>
                <a:spcPct val="50000"/>
              </a:spcAft>
              <a:buFont typeface="+mj-lt"/>
              <a:buAutoNum type="arabicPeriod"/>
            </a:pP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To 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review the concept of algebraic structures</a:t>
            </a:r>
          </a:p>
          <a:p>
            <a:pPr marL="514350" indent="-514350" algn="just">
              <a:spcAft>
                <a:spcPct val="50000"/>
              </a:spcAft>
              <a:buFont typeface="+mj-lt"/>
              <a:buAutoNum type="arabicPeriod"/>
            </a:pP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To 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define and give some examples of groups</a:t>
            </a:r>
          </a:p>
          <a:p>
            <a:pPr marL="514350" indent="-514350" algn="just">
              <a:spcAft>
                <a:spcPct val="50000"/>
              </a:spcAft>
              <a:buFont typeface="+mj-lt"/>
              <a:buAutoNum type="arabicPeriod"/>
            </a:pP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To 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define and give some examples of rings</a:t>
            </a:r>
          </a:p>
          <a:p>
            <a:pPr marL="514350" indent="-514350" algn="just">
              <a:spcAft>
                <a:spcPct val="50000"/>
              </a:spcAft>
              <a:buFont typeface="+mj-lt"/>
              <a:buAutoNum type="arabicPeriod"/>
            </a:pP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To 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define and give some examples of fields</a:t>
            </a:r>
          </a:p>
          <a:p>
            <a:pPr marL="514350" indent="-514350" algn="just">
              <a:spcAft>
                <a:spcPct val="50000"/>
              </a:spcAft>
              <a:buFont typeface="+mj-lt"/>
              <a:buAutoNum type="arabicPeriod"/>
            </a:pP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To 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emphasize the finite fields of type GF(2</a:t>
            </a:r>
            <a:r>
              <a:rPr lang="en-US" sz="3200" i="1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n</a:t>
            </a: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) 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that make it possible to perform operations </a:t>
            </a: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such as 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addition, </a:t>
            </a: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subtraction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, multiplication, </a:t>
            </a:r>
            <a:r>
              <a:rPr lang="en-US" sz="28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and 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division on </a:t>
            </a:r>
            <a:r>
              <a:rPr lang="en-US" sz="2800" i="1" baseline="0" dirty="0">
                <a:solidFill>
                  <a:schemeClr val="bg1"/>
                </a:solidFill>
                <a:latin typeface="Tw Cen MT" panose="020B0602020104020603" pitchFamily="34" charset="0"/>
              </a:rPr>
              <a:t>n</a:t>
            </a:r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-bit words in modern block </a:t>
            </a:r>
            <a:r>
              <a:rPr lang="en-US" sz="2800" baseline="0" dirty="0" err="1" smtClean="0">
                <a:solidFill>
                  <a:schemeClr val="bg1"/>
                </a:solidFill>
                <a:latin typeface="Tw Cen MT" panose="020B0602020104020603" pitchFamily="34" charset="0"/>
              </a:rPr>
              <a:t>ciphrs</a:t>
            </a:r>
            <a:endParaRPr lang="en-US" sz="2800" baseline="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1790700" y="368300"/>
            <a:ext cx="49664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baseline="0" dirty="0" smtClean="0">
                <a:solidFill>
                  <a:srgbClr val="002060"/>
                </a:solidFill>
                <a:latin typeface="Bookman Old Style" pitchFamily="18" charset="0"/>
              </a:rPr>
              <a:t>Algebraic Structures</a:t>
            </a:r>
            <a:endParaRPr lang="en-US" sz="3200" b="1" baseline="0" dirty="0">
              <a:solidFill>
                <a:srgbClr val="002060"/>
              </a:solidFill>
              <a:latin typeface="Bookman Old Style" pitchFamily="18" charset="0"/>
            </a:endParaRP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800" baseline="0">
              <a:solidFill>
                <a:srgbClr val="000000"/>
              </a:solidFill>
            </a:endParaRPr>
          </a:p>
        </p:txBody>
      </p:sp>
      <p:sp>
        <p:nvSpPr>
          <p:cNvPr id="565253" name="Rectangle 5"/>
          <p:cNvSpPr>
            <a:spLocks noChangeArrowheads="1"/>
          </p:cNvSpPr>
          <p:nvPr/>
        </p:nvSpPr>
        <p:spPr bwMode="auto">
          <a:xfrm>
            <a:off x="487680" y="1347838"/>
            <a:ext cx="8229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baseline="0" dirty="0">
                <a:solidFill>
                  <a:srgbClr val="000000"/>
                </a:solidFill>
                <a:latin typeface="Gill Sans MT" pitchFamily="34" charset="0"/>
              </a:rPr>
              <a:t>Cryptography requires sets of integers and specific operations that are defined for those sets</a:t>
            </a:r>
            <a:r>
              <a:rPr lang="en-US" sz="2400" baseline="0" dirty="0">
                <a:solidFill>
                  <a:srgbClr val="FF0000"/>
                </a:solidFill>
                <a:latin typeface="Gill Sans MT" pitchFamily="34" charset="0"/>
              </a:rPr>
              <a:t>. The combination of the set and the operations that are applied to the elements of the set is called an </a:t>
            </a:r>
            <a:r>
              <a:rPr lang="en-US" sz="2400" baseline="0" dirty="0">
                <a:solidFill>
                  <a:srgbClr val="0000CC"/>
                </a:solidFill>
                <a:latin typeface="Gill Sans MT" pitchFamily="34" charset="0"/>
              </a:rPr>
              <a:t>algebraic structure.</a:t>
            </a:r>
            <a:r>
              <a:rPr lang="en-US" sz="2400" baseline="0" dirty="0">
                <a:solidFill>
                  <a:srgbClr val="FF0000"/>
                </a:solidFill>
                <a:latin typeface="Gill Sans MT" pitchFamily="34" charset="0"/>
              </a:rPr>
              <a:t> </a:t>
            </a:r>
            <a:r>
              <a:rPr lang="en-US" sz="2400" baseline="0" dirty="0" smtClean="0">
                <a:solidFill>
                  <a:schemeClr val="bg1"/>
                </a:solidFill>
                <a:latin typeface="Gill Sans MT" pitchFamily="34" charset="0"/>
              </a:rPr>
              <a:t>We</a:t>
            </a:r>
            <a:r>
              <a:rPr lang="en-US" sz="2400" baseline="0" dirty="0" smtClean="0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400" baseline="0" dirty="0">
                <a:solidFill>
                  <a:srgbClr val="000000"/>
                </a:solidFill>
                <a:latin typeface="Gill Sans MT" pitchFamily="34" charset="0"/>
              </a:rPr>
              <a:t>will define three common algebraic structures: groups, rings, and fields.</a:t>
            </a:r>
          </a:p>
        </p:txBody>
      </p:sp>
      <p:sp>
        <p:nvSpPr>
          <p:cNvPr id="565278" name="Text Box 30"/>
          <p:cNvSpPr txBox="1">
            <a:spLocks noChangeArrowheads="1"/>
          </p:cNvSpPr>
          <p:nvPr/>
        </p:nvSpPr>
        <p:spPr bwMode="auto">
          <a:xfrm>
            <a:off x="683993" y="3772676"/>
            <a:ext cx="1277016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baseline="0" dirty="0">
                <a:solidFill>
                  <a:srgbClr val="000000"/>
                </a:solidFill>
                <a:latin typeface="Gill Sans MT" pitchFamily="34" charset="0"/>
              </a:rPr>
              <a:t>Topics </a:t>
            </a:r>
            <a:r>
              <a:rPr lang="en-US" sz="2800" u="sng" baseline="0" dirty="0" smtClean="0">
                <a:solidFill>
                  <a:srgbClr val="000000"/>
                </a:solidFill>
                <a:latin typeface="Gill Sans MT" pitchFamily="34" charset="0"/>
              </a:rPr>
              <a:t>:</a:t>
            </a:r>
            <a:endParaRPr lang="en-US" sz="2800" u="sng" baseline="0" dirty="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128" name="Rectangle 31"/>
          <p:cNvSpPr>
            <a:spLocks noChangeArrowheads="1"/>
          </p:cNvSpPr>
          <p:nvPr/>
        </p:nvSpPr>
        <p:spPr bwMode="auto">
          <a:xfrm>
            <a:off x="574723" y="4573270"/>
            <a:ext cx="67056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Arial Unicode MS" pitchFamily="34" charset="-128"/>
              <a:buNone/>
            </a:pPr>
            <a:r>
              <a:rPr lang="en-US" sz="2800" baseline="0" dirty="0" smtClean="0">
                <a:solidFill>
                  <a:srgbClr val="000000"/>
                </a:solidFill>
                <a:latin typeface="Gill Sans MT" pitchFamily="34" charset="0"/>
              </a:rPr>
              <a:t>1  </a:t>
            </a:r>
            <a:r>
              <a:rPr lang="en-US" sz="2800" baseline="0" dirty="0">
                <a:solidFill>
                  <a:srgbClr val="000000"/>
                </a:solidFill>
                <a:latin typeface="Gill Sans MT" pitchFamily="34" charset="0"/>
              </a:rPr>
              <a:t>Groups</a:t>
            </a:r>
            <a:r>
              <a:rPr lang="fr-FR" sz="2800" baseline="0" dirty="0">
                <a:solidFill>
                  <a:srgbClr val="000000"/>
                </a:solidFill>
                <a:latin typeface="Gill Sans MT" pitchFamily="34" charset="0"/>
              </a:rPr>
              <a:t/>
            </a:r>
            <a:br>
              <a:rPr lang="fr-FR" sz="2800" baseline="0" dirty="0">
                <a:solidFill>
                  <a:srgbClr val="000000"/>
                </a:solidFill>
                <a:latin typeface="Gill Sans MT" pitchFamily="34" charset="0"/>
              </a:rPr>
            </a:br>
            <a:r>
              <a:rPr lang="fr-FR" sz="2800" baseline="0" dirty="0" smtClean="0">
                <a:solidFill>
                  <a:srgbClr val="000000"/>
                </a:solidFill>
                <a:latin typeface="Gill Sans MT" pitchFamily="34" charset="0"/>
              </a:rPr>
              <a:t>2  </a:t>
            </a:r>
            <a:r>
              <a:rPr lang="fr-FR" sz="2800" baseline="0" dirty="0">
                <a:solidFill>
                  <a:srgbClr val="000000"/>
                </a:solidFill>
                <a:latin typeface="Gill Sans MT" pitchFamily="34" charset="0"/>
              </a:rPr>
              <a:t>Rings</a:t>
            </a:r>
            <a:br>
              <a:rPr lang="fr-FR" sz="2800" baseline="0" dirty="0">
                <a:solidFill>
                  <a:srgbClr val="000000"/>
                </a:solidFill>
                <a:latin typeface="Gill Sans MT" pitchFamily="34" charset="0"/>
              </a:rPr>
            </a:br>
            <a:r>
              <a:rPr lang="fr-FR" sz="2800" baseline="0" dirty="0" smtClean="0">
                <a:solidFill>
                  <a:srgbClr val="000000"/>
                </a:solidFill>
                <a:latin typeface="Gill Sans MT" pitchFamily="34" charset="0"/>
              </a:rPr>
              <a:t>3  </a:t>
            </a:r>
            <a:r>
              <a:rPr lang="fr-FR" sz="2800" baseline="0" dirty="0">
                <a:solidFill>
                  <a:srgbClr val="000000"/>
                </a:solidFill>
                <a:latin typeface="Gill Sans MT" pitchFamily="34" charset="0"/>
              </a:rPr>
              <a:t>Fields</a:t>
            </a:r>
            <a:endParaRPr lang="en-US" sz="2800" baseline="0" dirty="0">
              <a:solidFill>
                <a:srgbClr val="000000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47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1790700" y="368300"/>
            <a:ext cx="49664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baseline="0" dirty="0" smtClean="0">
                <a:solidFill>
                  <a:srgbClr val="002060"/>
                </a:solidFill>
                <a:latin typeface="Bookman Old Style" pitchFamily="18" charset="0"/>
              </a:rPr>
              <a:t>Algebraic Structures</a:t>
            </a:r>
            <a:endParaRPr lang="en-US" sz="3200" b="1" baseline="0" dirty="0">
              <a:solidFill>
                <a:srgbClr val="002060"/>
              </a:solidFill>
              <a:latin typeface="Bookman Old Style" pitchFamily="18" charset="0"/>
            </a:endParaRP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800" baseline="0">
              <a:solidFill>
                <a:srgbClr val="000000"/>
              </a:solidFill>
            </a:endParaRPr>
          </a:p>
        </p:txBody>
      </p:sp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2869394"/>
            <a:ext cx="7651750" cy="211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04800" y="1502033"/>
            <a:ext cx="85153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sz="2400" baseline="0" dirty="0" smtClean="0">
                <a:solidFill>
                  <a:srgbClr val="002060"/>
                </a:solidFill>
                <a:latin typeface="Gill Sans MT" pitchFamily="34" charset="0"/>
              </a:rPr>
              <a:t>The combination of  the set and the operations that are applied to the elements of the set is called </a:t>
            </a:r>
            <a:r>
              <a:rPr lang="en-US" sz="2400" b="1" baseline="0" dirty="0" smtClean="0">
                <a:solidFill>
                  <a:srgbClr val="002060"/>
                </a:solidFill>
                <a:latin typeface="Gill Sans MT" pitchFamily="34" charset="0"/>
              </a:rPr>
              <a:t>algebraic structure</a:t>
            </a:r>
            <a:r>
              <a:rPr lang="en-US" sz="2400" baseline="0" dirty="0" smtClean="0">
                <a:solidFill>
                  <a:srgbClr val="002060"/>
                </a:solidFill>
                <a:latin typeface="Gill Sans MT" pitchFamily="34" charset="0"/>
              </a:rPr>
              <a:t>. </a:t>
            </a:r>
            <a:endParaRPr lang="en-US" sz="2400" baseline="0" dirty="0">
              <a:solidFill>
                <a:srgbClr val="0000FF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406608" y="607451"/>
            <a:ext cx="179087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dirty="0" smtClean="0">
                <a:solidFill>
                  <a:srgbClr val="002060"/>
                </a:solidFill>
                <a:latin typeface="Bookman Old Style" pitchFamily="18" charset="0"/>
              </a:rPr>
              <a:t>Group</a:t>
            </a:r>
            <a:endParaRPr lang="en-US" sz="3200" b="1" baseline="0" dirty="0">
              <a:solidFill>
                <a:srgbClr val="002060"/>
              </a:solidFill>
              <a:latin typeface="Bookman Old Style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1398114"/>
            <a:ext cx="8829675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1683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60" y="1717201"/>
            <a:ext cx="7248525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406608" y="607451"/>
            <a:ext cx="179087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dirty="0" smtClean="0">
                <a:solidFill>
                  <a:srgbClr val="002060"/>
                </a:solidFill>
                <a:latin typeface="Bookman Old Style" pitchFamily="18" charset="0"/>
              </a:rPr>
              <a:t>Group</a:t>
            </a:r>
            <a:endParaRPr lang="en-US" sz="3200" b="1" baseline="0" dirty="0">
              <a:solidFill>
                <a:srgbClr val="002060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656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1052518" y="368300"/>
            <a:ext cx="644279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baseline="0" dirty="0" smtClean="0">
                <a:solidFill>
                  <a:srgbClr val="002060"/>
                </a:solidFill>
                <a:latin typeface="Bookman Old Style" pitchFamily="18" charset="0"/>
              </a:rPr>
              <a:t>Algebraic Structures: </a:t>
            </a:r>
            <a:r>
              <a:rPr lang="en-US" sz="3200" b="1" baseline="0" dirty="0" smtClean="0">
                <a:solidFill>
                  <a:srgbClr val="00CC00"/>
                </a:solidFill>
                <a:latin typeface="Bookman Old Style" pitchFamily="18" charset="0"/>
              </a:rPr>
              <a:t>Group</a:t>
            </a:r>
            <a:endParaRPr lang="en-US" sz="3200" b="1" baseline="0" dirty="0">
              <a:solidFill>
                <a:srgbClr val="00CC00"/>
              </a:solidFill>
              <a:latin typeface="Bookman Old Style" pitchFamily="18" charset="0"/>
            </a:endParaRP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 baseline="0">
              <a:solidFill>
                <a:srgbClr val="002060"/>
              </a:solidFill>
              <a:latin typeface="Gill Sans MT" pitchFamily="34" charset="0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04800" y="1317367"/>
            <a:ext cx="85153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sz="24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A group (G) is a set of elements with a binary operation (•) that satisfies four properties (or axioms). A commutative </a:t>
            </a:r>
            <a:r>
              <a:rPr lang="en-US" sz="24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group (also called </a:t>
            </a:r>
            <a:r>
              <a:rPr lang="en-US" sz="2400" baseline="0" dirty="0" err="1" smtClean="0">
                <a:solidFill>
                  <a:schemeClr val="bg1"/>
                </a:solidFill>
                <a:latin typeface="Tw Cen MT" panose="020B0602020104020603" pitchFamily="34" charset="0"/>
              </a:rPr>
              <a:t>abelian</a:t>
            </a:r>
            <a:r>
              <a:rPr lang="en-US" sz="24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group) </a:t>
            </a:r>
            <a:r>
              <a:rPr lang="en-US" sz="24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satisfies an extra property, </a:t>
            </a:r>
            <a:r>
              <a:rPr lang="en-US" sz="2400" baseline="0" dirty="0" err="1">
                <a:solidFill>
                  <a:schemeClr val="bg1"/>
                </a:solidFill>
                <a:latin typeface="Tw Cen MT" panose="020B0602020104020603" pitchFamily="34" charset="0"/>
              </a:rPr>
              <a:t>commutativity</a:t>
            </a:r>
            <a:r>
              <a:rPr lang="en-US" sz="24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: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590550" y="2735255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lang="en-US" sz="24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❏ Closure:  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if </a:t>
            </a:r>
            <a:r>
              <a:rPr lang="en-US" sz="2400" dirty="0" err="1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a,b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∈ G, then  c=</a:t>
            </a:r>
            <a:r>
              <a:rPr lang="en-US" sz="2400" dirty="0" err="1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a.b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 ∈G</a:t>
            </a:r>
            <a:endParaRPr lang="en-US" sz="2400" baseline="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590550" y="3121482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lang="en-US" sz="24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❏ Associativity</a:t>
            </a:r>
            <a:r>
              <a:rPr lang="en-US" sz="24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if </a:t>
            </a:r>
            <a:r>
              <a:rPr lang="en-US" sz="2400" dirty="0" err="1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a,b,c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 ∈ </a:t>
            </a:r>
            <a:r>
              <a:rPr lang="en-US" sz="2400" dirty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G, then  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(</a:t>
            </a:r>
            <a:r>
              <a:rPr lang="en-US" sz="2400" dirty="0" err="1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a.b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).c=a. (</a:t>
            </a:r>
            <a:r>
              <a:rPr lang="en-US" sz="2400" dirty="0" err="1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b.c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)</a:t>
            </a:r>
            <a:endParaRPr lang="en-US" sz="24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just" eaLnBrk="1" hangingPunct="1"/>
            <a:endParaRPr lang="en-US" sz="2400" baseline="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590550" y="3673932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lang="en-US" sz="24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❏ </a:t>
            </a:r>
            <a:r>
              <a:rPr lang="en-US" sz="2400" baseline="0" dirty="0" err="1">
                <a:solidFill>
                  <a:schemeClr val="bg1"/>
                </a:solidFill>
                <a:latin typeface="Tw Cen MT" panose="020B0602020104020603" pitchFamily="34" charset="0"/>
              </a:rPr>
              <a:t>Commutativity</a:t>
            </a:r>
            <a:r>
              <a:rPr lang="en-US" sz="24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if </a:t>
            </a:r>
            <a:r>
              <a:rPr lang="en-US" sz="2400" dirty="0" err="1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a,b</a:t>
            </a:r>
            <a:r>
              <a:rPr lang="en-US" sz="2400" dirty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∈ G, then  </a:t>
            </a:r>
            <a:r>
              <a:rPr lang="en-US" sz="2400" dirty="0" err="1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a.b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=</a:t>
            </a:r>
            <a:r>
              <a:rPr lang="en-US" sz="2400" dirty="0" err="1" smtClean="0">
                <a:solidFill>
                  <a:schemeClr val="bg1"/>
                </a:solidFill>
                <a:latin typeface="Tw Cen MT" panose="020B0602020104020603" pitchFamily="34" charset="0"/>
                <a:ea typeface="Cambria Math"/>
              </a:rPr>
              <a:t>b.a</a:t>
            </a:r>
            <a:endParaRPr lang="en-US" sz="24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just" eaLnBrk="1" hangingPunct="1"/>
            <a:endParaRPr lang="en-US" sz="2400" baseline="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15"/>
              <p:cNvSpPr>
                <a:spLocks noChangeArrowheads="1"/>
              </p:cNvSpPr>
              <p:nvPr/>
            </p:nvSpPr>
            <p:spPr bwMode="auto">
              <a:xfrm>
                <a:off x="590550" y="4223207"/>
                <a:ext cx="76962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just"/>
                <a:r>
                  <a:rPr lang="en-US" sz="2400" baseline="0" dirty="0" smtClean="0">
                    <a:solidFill>
                      <a:schemeClr val="bg1"/>
                    </a:solidFill>
                    <a:latin typeface="Tw Cen MT" panose="020B0602020104020603" pitchFamily="34" charset="0"/>
                  </a:rPr>
                  <a:t>❏ Existence of identity: </a:t>
                </a:r>
                <a:r>
                  <a:rPr lang="en-US" sz="2400" dirty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bg1"/>
                        </a:solidFill>
                        <a:latin typeface="Tw Cen MT" panose="020B0602020104020603" pitchFamily="34" charset="0"/>
                        <a:ea typeface="Cambria Math"/>
                      </a:rPr>
                      <m:t>∈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bg1"/>
                        </a:solidFill>
                        <a:latin typeface="Tw Cen MT" panose="020B0602020104020603" pitchFamily="34" charset="0"/>
                        <a:ea typeface="Cambria Math"/>
                      </a:rPr>
                      <m:t>G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 , 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∃</m:t>
                    </m:r>
                  </m:oMath>
                </a14:m>
                <a:r>
                  <a:rPr lang="en-US" sz="2400" dirty="0" smtClean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 a’  called the identity element , such that, </a:t>
                </a:r>
                <a:r>
                  <a:rPr lang="en-US" sz="2400" dirty="0" err="1" smtClean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e.a</a:t>
                </a:r>
                <a:r>
                  <a:rPr lang="en-US" sz="2400" dirty="0" smtClean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.=</a:t>
                </a:r>
                <a:r>
                  <a:rPr lang="en-US" sz="2400" dirty="0" err="1" smtClean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a.e</a:t>
                </a:r>
                <a:r>
                  <a:rPr lang="en-US" sz="2400" dirty="0" smtClean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=a</a:t>
                </a:r>
                <a:endParaRPr lang="en-US" sz="2400" baseline="0" dirty="0">
                  <a:solidFill>
                    <a:schemeClr val="bg1"/>
                  </a:solidFill>
                  <a:latin typeface="Tw Cen MT" panose="020B0602020104020603" pitchFamily="34" charset="0"/>
                </a:endParaRPr>
              </a:p>
            </p:txBody>
          </p:sp>
        </mc:Choice>
        <mc:Fallback xmlns="">
          <p:sp>
            <p:nvSpPr>
              <p:cNvPr id="10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550" y="4223207"/>
                <a:ext cx="7696200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1268" t="-6618" r="-1189" b="-1617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6"/>
              <p:cNvSpPr>
                <a:spLocks noChangeArrowheads="1"/>
              </p:cNvSpPr>
              <p:nvPr/>
            </p:nvSpPr>
            <p:spPr bwMode="auto">
              <a:xfrm>
                <a:off x="625765" y="5200471"/>
                <a:ext cx="7696200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just"/>
                <a:r>
                  <a:rPr lang="en-US" sz="2400" baseline="0" dirty="0" smtClean="0">
                    <a:solidFill>
                      <a:schemeClr val="bg1"/>
                    </a:solidFill>
                    <a:latin typeface="Tw Cen MT" panose="020B0602020104020603" pitchFamily="34" charset="0"/>
                  </a:rPr>
                  <a:t>❏ Existence of inverse: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bg1"/>
                        </a:solidFill>
                        <a:latin typeface="Tw Cen MT" panose="020B0602020104020603" pitchFamily="34" charset="0"/>
                        <a:ea typeface="Cambria Math"/>
                      </a:rPr>
                      <m:t>∈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bg1"/>
                        </a:solidFill>
                        <a:latin typeface="Tw Cen MT" panose="020B0602020104020603" pitchFamily="34" charset="0"/>
                        <a:ea typeface="Cambria Math"/>
                      </a:rPr>
                      <m:t>G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 , 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∃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 a’  called the identity element , such that, </a:t>
                </a:r>
                <a:r>
                  <a:rPr lang="en-US" sz="2400" dirty="0" err="1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a.a</a:t>
                </a:r>
                <a:r>
                  <a:rPr lang="en-US" sz="2400" dirty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’=</a:t>
                </a:r>
                <a:r>
                  <a:rPr lang="en-US" sz="2400" dirty="0" err="1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a’.a</a:t>
                </a:r>
                <a:r>
                  <a:rPr lang="en-US" sz="2400" dirty="0">
                    <a:solidFill>
                      <a:schemeClr val="bg1"/>
                    </a:solidFill>
                    <a:latin typeface="Tw Cen MT" panose="020B0602020104020603" pitchFamily="34" charset="0"/>
                    <a:ea typeface="Cambria Math"/>
                  </a:rPr>
                  <a:t>=e</a:t>
                </a:r>
                <a:endParaRPr lang="en-US" sz="2400" dirty="0">
                  <a:solidFill>
                    <a:schemeClr val="bg1"/>
                  </a:solidFill>
                  <a:latin typeface="Tw Cen MT" panose="020B0602020104020603" pitchFamily="34" charset="0"/>
                </a:endParaRPr>
              </a:p>
              <a:p>
                <a:pPr algn="just" eaLnBrk="1" hangingPunct="1"/>
                <a:endParaRPr lang="en-US" sz="2400" baseline="0" dirty="0">
                  <a:solidFill>
                    <a:schemeClr val="bg1"/>
                  </a:solidFill>
                  <a:latin typeface="Tw Cen MT" panose="020B0602020104020603" pitchFamily="34" charset="0"/>
                </a:endParaRPr>
              </a:p>
            </p:txBody>
          </p:sp>
        </mc:Choice>
        <mc:Fallback xmlns="">
          <p:sp>
            <p:nvSpPr>
              <p:cNvPr id="11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765" y="5200471"/>
                <a:ext cx="7696200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1268" t="-4061" r="-11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Text Box 9"/>
          <p:cNvSpPr txBox="1">
            <a:spLocks noChangeArrowheads="1"/>
          </p:cNvSpPr>
          <p:nvPr/>
        </p:nvSpPr>
        <p:spPr bwMode="auto">
          <a:xfrm>
            <a:off x="0" y="140677"/>
            <a:ext cx="2542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sz="3200" baseline="0" dirty="0" smtClean="0">
                <a:solidFill>
                  <a:srgbClr val="FF0000"/>
                </a:solidFill>
                <a:latin typeface="Tw Cen MT" panose="020B0602020104020603" pitchFamily="34" charset="0"/>
                <a:cs typeface="+mn-cs"/>
              </a:rPr>
              <a:t>     </a:t>
            </a:r>
            <a:r>
              <a:rPr lang="en-US" sz="3200" baseline="0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Continued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369277" y="691271"/>
            <a:ext cx="1963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sz="2800" baseline="0" dirty="0" smtClean="0">
                <a:solidFill>
                  <a:srgbClr val="3333CC"/>
                </a:solidFill>
                <a:latin typeface="Tw Cen MT" panose="020B0602020104020603" pitchFamily="34" charset="0"/>
                <a:cs typeface="+mn-cs"/>
              </a:rPr>
              <a:t>Application</a:t>
            </a:r>
            <a:endParaRPr lang="en-US" sz="2800" i="1" baseline="0" dirty="0" smtClean="0">
              <a:solidFill>
                <a:srgbClr val="000000"/>
              </a:solidFill>
              <a:latin typeface="Tw Cen MT" panose="020B0602020104020603" pitchFamily="34" charset="0"/>
              <a:cs typeface="+mn-cs"/>
            </a:endParaRPr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152400" y="1143000"/>
            <a:ext cx="88392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Although a group involves a single operation, the properties imposed on the operation allow the use of a pair of operations as long as they are inverses of each other. </a:t>
            </a:r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152400" y="4077683"/>
            <a:ext cx="8839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The set of residue integers with the addition operator,</a:t>
            </a:r>
          </a:p>
          <a:p>
            <a:pPr algn="just"/>
            <a:r>
              <a:rPr lang="en-US" sz="24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                                 G = &lt; Z</a:t>
            </a:r>
            <a:r>
              <a:rPr lang="en-US" sz="2400" b="1" i="1" baseline="-18000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n</a:t>
            </a:r>
            <a:r>
              <a:rPr lang="en-US" sz="24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 , +&gt;, </a:t>
            </a:r>
          </a:p>
          <a:p>
            <a:pPr algn="just"/>
            <a:r>
              <a:rPr lang="en-US" sz="24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is a commutative group. We can perform addition and subtraction on the elements of this set without moving out of the set. </a:t>
            </a: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188913" y="3581400"/>
            <a:ext cx="142378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baseline="0" dirty="0" smtClean="0">
                <a:solidFill>
                  <a:srgbClr val="FFFFFF"/>
                </a:solidFill>
                <a:cs typeface="+mn-cs"/>
              </a:rPr>
              <a:t>Example </a:t>
            </a:r>
            <a:endParaRPr lang="en-US" sz="2000" i="1" baseline="0" dirty="0" smtClean="0">
              <a:solidFill>
                <a:srgbClr val="FFFFFF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10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393" name="Text Box 9"/>
          <p:cNvSpPr txBox="1">
            <a:spLocks noChangeArrowheads="1"/>
          </p:cNvSpPr>
          <p:nvPr/>
        </p:nvSpPr>
        <p:spPr bwMode="auto">
          <a:xfrm>
            <a:off x="552157" y="225083"/>
            <a:ext cx="180850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baseline="0" dirty="0" smtClean="0">
                <a:latin typeface="Tw Cen MT" panose="020B0602020104020603" pitchFamily="34" charset="0"/>
              </a:rPr>
              <a:t>Continued</a:t>
            </a:r>
            <a:endParaRPr lang="en-US" sz="3200" baseline="0" dirty="0">
              <a:latin typeface="Tw Cen MT" panose="020B0602020104020603" pitchFamily="34" charset="0"/>
            </a:endParaRPr>
          </a:p>
        </p:txBody>
      </p:sp>
      <p:sp>
        <p:nvSpPr>
          <p:cNvPr id="1040394" name="Rectangle 10"/>
          <p:cNvSpPr>
            <a:spLocks noChangeArrowheads="1"/>
          </p:cNvSpPr>
          <p:nvPr/>
        </p:nvSpPr>
        <p:spPr bwMode="auto">
          <a:xfrm>
            <a:off x="152400" y="1459339"/>
            <a:ext cx="883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sz="2400" baseline="0">
                <a:latin typeface="Tw Cen MT" panose="020B0602020104020603" pitchFamily="34" charset="0"/>
              </a:rPr>
              <a:t>The set Z</a:t>
            </a:r>
            <a:r>
              <a:rPr lang="en-US" sz="2400" i="1">
                <a:latin typeface="Tw Cen MT" panose="020B0602020104020603" pitchFamily="34" charset="0"/>
              </a:rPr>
              <a:t>n</a:t>
            </a:r>
            <a:r>
              <a:rPr lang="en-US" sz="2400" baseline="0">
                <a:latin typeface="Tw Cen MT" panose="020B0602020104020603" pitchFamily="34" charset="0"/>
              </a:rPr>
              <a:t>* with the multiplication operator, G = &lt;Z</a:t>
            </a:r>
            <a:r>
              <a:rPr lang="en-US" sz="2400" i="1">
                <a:latin typeface="Tw Cen MT" panose="020B0602020104020603" pitchFamily="34" charset="0"/>
              </a:rPr>
              <a:t>n</a:t>
            </a:r>
            <a:r>
              <a:rPr lang="en-US" sz="2400" baseline="0">
                <a:latin typeface="Tw Cen MT" panose="020B0602020104020603" pitchFamily="34" charset="0"/>
              </a:rPr>
              <a:t>*, ×&gt;, is also an abelian group. </a:t>
            </a:r>
          </a:p>
        </p:txBody>
      </p:sp>
      <p:sp>
        <p:nvSpPr>
          <p:cNvPr id="1040395" name="Text Box 11"/>
          <p:cNvSpPr txBox="1">
            <a:spLocks noChangeArrowheads="1"/>
          </p:cNvSpPr>
          <p:nvPr/>
        </p:nvSpPr>
        <p:spPr bwMode="auto">
          <a:xfrm>
            <a:off x="228600" y="1052513"/>
            <a:ext cx="1239442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Example</a:t>
            </a:r>
            <a:endParaRPr lang="en-US" sz="2400" i="1" baseline="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1040402" name="Rectangle 18"/>
          <p:cNvSpPr>
            <a:spLocks noChangeArrowheads="1"/>
          </p:cNvSpPr>
          <p:nvPr/>
        </p:nvSpPr>
        <p:spPr bwMode="auto">
          <a:xfrm>
            <a:off x="152400" y="2983339"/>
            <a:ext cx="883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sz="2400" baseline="0" dirty="0">
                <a:latin typeface="Tw Cen MT" panose="020B0602020104020603" pitchFamily="34" charset="0"/>
              </a:rPr>
              <a:t>Let us define a set G = &lt; {</a:t>
            </a:r>
            <a:r>
              <a:rPr lang="en-US" sz="2400" i="1" baseline="0" dirty="0">
                <a:latin typeface="Tw Cen MT" panose="020B0602020104020603" pitchFamily="34" charset="0"/>
              </a:rPr>
              <a:t>a</a:t>
            </a:r>
            <a:r>
              <a:rPr lang="en-US" sz="2400" baseline="0" dirty="0">
                <a:latin typeface="Tw Cen MT" panose="020B0602020104020603" pitchFamily="34" charset="0"/>
              </a:rPr>
              <a:t>, </a:t>
            </a:r>
            <a:r>
              <a:rPr lang="en-US" sz="2400" i="1" baseline="0" dirty="0">
                <a:latin typeface="Tw Cen MT" panose="020B0602020104020603" pitchFamily="34" charset="0"/>
              </a:rPr>
              <a:t>b</a:t>
            </a:r>
            <a:r>
              <a:rPr lang="en-US" sz="2400" baseline="0" dirty="0">
                <a:latin typeface="Tw Cen MT" panose="020B0602020104020603" pitchFamily="34" charset="0"/>
              </a:rPr>
              <a:t>, </a:t>
            </a:r>
            <a:r>
              <a:rPr lang="en-US" sz="2400" i="1" baseline="0" dirty="0">
                <a:latin typeface="Tw Cen MT" panose="020B0602020104020603" pitchFamily="34" charset="0"/>
              </a:rPr>
              <a:t>c</a:t>
            </a:r>
            <a:r>
              <a:rPr lang="en-US" sz="2400" baseline="0" dirty="0">
                <a:latin typeface="Tw Cen MT" panose="020B0602020104020603" pitchFamily="34" charset="0"/>
              </a:rPr>
              <a:t>, </a:t>
            </a:r>
            <a:r>
              <a:rPr lang="en-US" sz="2400" i="1" baseline="0" dirty="0">
                <a:latin typeface="Tw Cen MT" panose="020B0602020104020603" pitchFamily="34" charset="0"/>
              </a:rPr>
              <a:t>d</a:t>
            </a:r>
            <a:r>
              <a:rPr lang="en-US" sz="2400" baseline="0" dirty="0">
                <a:latin typeface="Tw Cen MT" panose="020B0602020104020603" pitchFamily="34" charset="0"/>
              </a:rPr>
              <a:t>}, •&gt; and the operation as shown in Table </a:t>
            </a:r>
          </a:p>
        </p:txBody>
      </p:sp>
      <p:sp>
        <p:nvSpPr>
          <p:cNvPr id="1040403" name="Text Box 19"/>
          <p:cNvSpPr txBox="1">
            <a:spLocks noChangeArrowheads="1"/>
          </p:cNvSpPr>
          <p:nvPr/>
        </p:nvSpPr>
        <p:spPr bwMode="auto">
          <a:xfrm>
            <a:off x="228600" y="2438400"/>
            <a:ext cx="1239442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Example</a:t>
            </a:r>
            <a:endParaRPr lang="en-US" sz="2400" i="1" baseline="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pic>
        <p:nvPicPr>
          <p:cNvPr id="1040404" name="Picture 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738" y="3786188"/>
            <a:ext cx="4259262" cy="192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410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3428970" y="518425"/>
            <a:ext cx="168988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600" b="1" baseline="0" dirty="0" smtClean="0">
                <a:solidFill>
                  <a:srgbClr val="0000CC"/>
                </a:solidFill>
                <a:latin typeface="Tw Cen MT" panose="020B0602020104020603" pitchFamily="34" charset="0"/>
              </a:rPr>
              <a:t>Group</a:t>
            </a:r>
            <a:endParaRPr lang="en-US" sz="3600" b="1" baseline="0" dirty="0">
              <a:solidFill>
                <a:srgbClr val="0000CC"/>
              </a:solidFill>
              <a:latin typeface="Tw Cen MT" panose="020B0602020104020603" pitchFamily="34" charset="0"/>
            </a:endParaRP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800" baseline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3771" y="1365072"/>
            <a:ext cx="82636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 smtClean="0">
                <a:solidFill>
                  <a:srgbClr val="063CE8"/>
                </a:solidFill>
                <a:latin typeface="Tw Cen MT" panose="020B0602020104020603" pitchFamily="34" charset="0"/>
              </a:rPr>
              <a:t>Abelian</a:t>
            </a:r>
            <a:r>
              <a:rPr lang="en-US" sz="2800" b="1" dirty="0" smtClean="0">
                <a:solidFill>
                  <a:srgbClr val="063CE8"/>
                </a:solidFill>
                <a:latin typeface="Tw Cen MT" panose="020B0602020104020603" pitchFamily="34" charset="0"/>
              </a:rPr>
              <a:t> </a:t>
            </a:r>
            <a:r>
              <a:rPr lang="en-US" sz="2800" b="1" dirty="0">
                <a:solidFill>
                  <a:srgbClr val="063CE8"/>
                </a:solidFill>
                <a:latin typeface="Tw Cen MT" panose="020B0602020104020603" pitchFamily="34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latin typeface="Tw Cen MT" panose="020B0602020104020603" pitchFamily="34" charset="0"/>
              </a:rPr>
              <a:t>: </a:t>
            </a:r>
            <a:r>
              <a:rPr lang="en-US" sz="28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A </a:t>
            </a:r>
            <a:r>
              <a:rPr lang="en-US" sz="2800" b="1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commutative group </a:t>
            </a:r>
            <a:r>
              <a:rPr lang="en-US" sz="28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also called an </a:t>
            </a:r>
            <a:r>
              <a:rPr lang="en-US" sz="2800" b="1" dirty="0" err="1" smtClean="0">
                <a:solidFill>
                  <a:srgbClr val="000000"/>
                </a:solidFill>
                <a:latin typeface="Tw Cen MT" panose="020B0602020104020603" pitchFamily="34" charset="0"/>
              </a:rPr>
              <a:t>abelian</a:t>
            </a:r>
            <a:r>
              <a:rPr lang="en-US" sz="2800" b="1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group</a:t>
            </a:r>
            <a:r>
              <a:rPr lang="en-US" sz="28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, is a group in which the operator  satisfies the four properties  for groups plus an extra property , </a:t>
            </a:r>
            <a:r>
              <a:rPr lang="en-US" sz="2800" dirty="0" err="1" smtClean="0">
                <a:solidFill>
                  <a:srgbClr val="000000"/>
                </a:solidFill>
                <a:latin typeface="Tw Cen MT" panose="020B0602020104020603" pitchFamily="34" charset="0"/>
              </a:rPr>
              <a:t>commutativity</a:t>
            </a:r>
            <a:r>
              <a:rPr lang="en-US" sz="28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dirty="0" err="1" smtClean="0">
                <a:solidFill>
                  <a:srgbClr val="000000"/>
                </a:solidFill>
                <a:latin typeface="Tw Cen MT" panose="020B0602020104020603" pitchFamily="34" charset="0"/>
              </a:rPr>
              <a:t>a.b</a:t>
            </a:r>
            <a:r>
              <a:rPr lang="en-US" sz="28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w Cen MT" panose="020B0602020104020603" pitchFamily="34" charset="0"/>
              </a:rPr>
              <a:t>= </a:t>
            </a:r>
            <a:r>
              <a:rPr lang="en-US" sz="2800" dirty="0" err="1">
                <a:solidFill>
                  <a:srgbClr val="000000"/>
                </a:solidFill>
                <a:latin typeface="Tw Cen MT" panose="020B0602020104020603" pitchFamily="34" charset="0"/>
              </a:rPr>
              <a:t>b.a</a:t>
            </a:r>
            <a:r>
              <a:rPr lang="en-US" sz="28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Example</a:t>
            </a:r>
            <a:r>
              <a:rPr lang="en-US" sz="2800" dirty="0">
                <a:solidFill>
                  <a:srgbClr val="000000"/>
                </a:solidFill>
                <a:latin typeface="Tw Cen MT" panose="020B0602020104020603" pitchFamily="34" charset="0"/>
              </a:rPr>
              <a:t>: Z8, + modular addition, identity =0 </a:t>
            </a:r>
          </a:p>
        </p:txBody>
      </p:sp>
    </p:spTree>
    <p:extLst>
      <p:ext uri="{BB962C8B-B14F-4D97-AF65-F5344CB8AC3E}">
        <p14:creationId xmlns:p14="http://schemas.microsoft.com/office/powerpoint/2010/main" val="354952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610507" y="163349"/>
            <a:ext cx="3490748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dirty="0" smtClean="0">
                <a:solidFill>
                  <a:srgbClr val="0000CC"/>
                </a:solidFill>
                <a:latin typeface="Tw Cen MT" panose="020B0602020104020603" pitchFamily="34" charset="0"/>
                <a:ea typeface="ＭＳ Ｐゴシック" pitchFamily="34" charset="-128"/>
              </a:rPr>
              <a:t>Group (cont.)</a:t>
            </a:r>
            <a:endParaRPr lang="en-US" sz="3200" b="1" dirty="0">
              <a:solidFill>
                <a:srgbClr val="0000CC"/>
              </a:solidFill>
              <a:latin typeface="Tw Cen MT" panose="020B0602020104020603" pitchFamily="34" charset="0"/>
              <a:ea typeface="ＭＳ Ｐゴシック" pitchFamily="34" charset="-128"/>
            </a:endParaRPr>
          </a:p>
          <a:p>
            <a:pPr algn="ctr">
              <a:defRPr/>
            </a:pPr>
            <a:endParaRPr lang="en-US" sz="3200" b="1" baseline="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62605" y="725999"/>
            <a:ext cx="826113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In a group the elements in the set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do not have to be numbers. The can be, rules, mappings, functions or even </a:t>
            </a:r>
            <a:r>
              <a:rPr lang="en-US" sz="2400" kern="0" dirty="0" smtClean="0">
                <a:solidFill>
                  <a:srgbClr val="FF0000"/>
                </a:solidFill>
                <a:latin typeface="Gill Sans MT" pitchFamily="34" charset="0"/>
              </a:rPr>
              <a:t>a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ctions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. A very interesting group is the permutation group. The set is the set of all permutations, and the operation is composition: applying one permutation after another. </a:t>
            </a:r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3352800"/>
            <a:ext cx="5786438" cy="271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1799897" y="2635469"/>
            <a:ext cx="42354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Figure  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Composition of permutation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512379" y="1085193"/>
            <a:ext cx="1146468" cy="369332"/>
          </a:xfrm>
          <a:prstGeom prst="rect">
            <a:avLst/>
          </a:prstGeom>
          <a:solidFill>
            <a:srgbClr val="3333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Example 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1480262" y="1820917"/>
            <a:ext cx="6342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Table   </a:t>
            </a: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Operation table for permutation group</a:t>
            </a:r>
          </a:p>
        </p:txBody>
      </p:sp>
      <p:pic>
        <p:nvPicPr>
          <p:cNvPr id="23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857" y="2334447"/>
            <a:ext cx="8491537" cy="272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708980" y="360298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dirty="0" smtClean="0">
                <a:solidFill>
                  <a:srgbClr val="0000CC"/>
                </a:solidFill>
                <a:latin typeface="Tw Cen MT" panose="020B0602020104020603" pitchFamily="34" charset="0"/>
                <a:ea typeface="ＭＳ Ｐゴシック" pitchFamily="34" charset="-128"/>
              </a:rPr>
              <a:t>Group (cont.)</a:t>
            </a:r>
            <a:endParaRPr lang="en-US" sz="3200" b="1" baseline="0" dirty="0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65083" y="1432035"/>
            <a:ext cx="1146468" cy="369332"/>
          </a:xfrm>
          <a:prstGeom prst="rect">
            <a:avLst/>
          </a:prstGeom>
          <a:solidFill>
            <a:srgbClr val="3333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Example 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304800" y="1945572"/>
            <a:ext cx="839776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In the previous example, we showed that a set of permutations with the composition operation is a group. This implies that using two permutations one after another cannot strengthen the security of a cipher, because we can always find a permutation that can do the same job because of the closure property.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708980" y="360298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dirty="0" smtClean="0">
                <a:solidFill>
                  <a:srgbClr val="0000CC"/>
                </a:solidFill>
                <a:latin typeface="Tw Cen MT" panose="020B0602020104020603" pitchFamily="34" charset="0"/>
                <a:ea typeface="ＭＳ Ｐゴシック" pitchFamily="34" charset="-128"/>
              </a:rPr>
              <a:t>Group (cont.)</a:t>
            </a:r>
            <a:endParaRPr lang="en-US" sz="3200" b="1" baseline="0" dirty="0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04345" y="2085907"/>
            <a:ext cx="63738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 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ill Sans MT" pitchFamily="34" charset="0"/>
              </a:rPr>
              <a:t>Finite Group: 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has a finite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 number of elements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itchFamily="34" charset="0"/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604345" y="3928995"/>
            <a:ext cx="812434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 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ill Sans MT" pitchFamily="34" charset="0"/>
              </a:rPr>
              <a:t>Subgroups: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If G=&lt;S,.&gt; is a group and 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  H=&lt;T,.&gt; is also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kern="0" dirty="0">
                <a:solidFill>
                  <a:schemeClr val="bg1"/>
                </a:solidFill>
                <a:latin typeface="Gill Sans MT" pitchFamily="34" charset="0"/>
              </a:rPr>
              <a:t> </a:t>
            </a:r>
            <a:r>
              <a:rPr lang="en-US" sz="2400" kern="0" dirty="0" smtClean="0">
                <a:solidFill>
                  <a:schemeClr val="bg1"/>
                </a:solidFill>
                <a:latin typeface="Gill Sans MT" pitchFamily="34" charset="0"/>
              </a:rPr>
              <a:t>    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a group under  </a:t>
            </a:r>
            <a:r>
              <a:rPr lang="en-US" sz="2400" kern="0" dirty="0" smtClean="0">
                <a:solidFill>
                  <a:schemeClr val="bg1"/>
                </a:solidFill>
                <a:latin typeface="Gill Sans MT" pitchFamily="34" charset="0"/>
              </a:rPr>
              <a:t> 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the same  operation and  T is the nonempty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     subset of H,  then H is a subgroup of G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itchFamily="34" charset="0"/>
            </a:endParaRP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604345" y="2924107"/>
            <a:ext cx="77107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 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ill Sans MT" pitchFamily="34" charset="0"/>
              </a:rPr>
              <a:t>Order of a Group:  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|G|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 =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number of elements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itchFamily="34" charset="0"/>
              </a:rPr>
              <a:t> in a group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itchFamily="34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596439" y="472840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dirty="0" smtClean="0">
                <a:solidFill>
                  <a:srgbClr val="0000CC"/>
                </a:solidFill>
                <a:latin typeface="Tw Cen MT" panose="020B0602020104020603" pitchFamily="34" charset="0"/>
                <a:ea typeface="ＭＳ Ｐゴシック" pitchFamily="34" charset="-128"/>
              </a:rPr>
              <a:t>Group (cont.)</a:t>
            </a:r>
            <a:endParaRPr lang="en-US" sz="3200" b="1" baseline="0" dirty="0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326728" y="557487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  </a:t>
            </a:r>
            <a:r>
              <a:rPr lang="en-US" sz="3200" b="1" dirty="0" smtClean="0">
                <a:solidFill>
                  <a:srgbClr val="0000FF"/>
                </a:solidFill>
                <a:latin typeface="Tw Cen MT" panose="020B0602020104020603" pitchFamily="34" charset="0"/>
                <a:ea typeface="ＭＳ Ｐゴシック" pitchFamily="34" charset="-128"/>
              </a:rPr>
              <a:t>Group</a:t>
            </a:r>
            <a:endParaRPr lang="en-US" sz="3200" b="1" baseline="0" dirty="0">
              <a:solidFill>
                <a:srgbClr val="0000FF"/>
              </a:solidFill>
              <a:latin typeface="Tw Cen MT" panose="020B0602020104020603" pitchFamily="34" charset="0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14855" y="1928648"/>
            <a:ext cx="785122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Is the group H = &lt;Z</a:t>
            </a:r>
            <a:r>
              <a:rPr kumimoji="0" lang="en-US" sz="2400" b="0" i="0" u="none" strike="noStrike" kern="0" cap="none" spc="0" normalizeH="0" baseline="-18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10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, +&gt; a subgroup of the group G = &lt;Z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12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, +&gt;?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228600" y="2895600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 pitchFamily="34" charset="0"/>
              </a:rPr>
              <a:t>Solution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57201" y="3292475"/>
            <a:ext cx="797735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The answer is no. Although H is a subset of G, the operations defined for these two groups are different. The operation in H is addition modulo 10; the operation in G is addition modulo 12.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666663" y="320858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</a:rPr>
              <a:t>  </a:t>
            </a:r>
            <a:r>
              <a:rPr lang="en-US" sz="3200" b="1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Cyclic Group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4677" y="975971"/>
            <a:ext cx="833878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63CE8"/>
                </a:solidFill>
                <a:latin typeface="Tw Cen MT" panose="020B0602020104020603" pitchFamily="34" charset="0"/>
              </a:rPr>
              <a:t>Exponentiation</a:t>
            </a:r>
            <a:r>
              <a:rPr lang="en-US" sz="2400" b="1" dirty="0">
                <a:solidFill>
                  <a:srgbClr val="000000"/>
                </a:solidFill>
                <a:latin typeface="Tw Cen MT" panose="020B0602020104020603" pitchFamily="34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Repeated application of operator 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example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: a</a:t>
            </a:r>
            <a:r>
              <a:rPr lang="en-US" sz="2400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Tw Cen MT" panose="020B0602020104020603" pitchFamily="34" charset="0"/>
              </a:rPr>
              <a:t>a.a.a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63CE8"/>
                </a:solidFill>
                <a:latin typeface="Tw Cen MT" panose="020B0602020104020603" pitchFamily="34" charset="0"/>
              </a:rPr>
              <a:t>Cyclic </a:t>
            </a:r>
            <a:r>
              <a:rPr lang="en-US" sz="2400" b="1" dirty="0">
                <a:solidFill>
                  <a:srgbClr val="063CE8"/>
                </a:solidFill>
                <a:latin typeface="Tw Cen MT" panose="020B0602020104020603" pitchFamily="34" charset="0"/>
              </a:rPr>
              <a:t>Group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: 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If a subgroup of a group can be </a:t>
            </a:r>
            <a:r>
              <a:rPr lang="en-US" sz="240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generated using the power of an element,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the subgroup is called the cyclic subgroup. The term power here means repeatedly applying the group operation to the element .</a:t>
            </a:r>
          </a:p>
          <a:p>
            <a:endParaRPr lang="en-US" sz="24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	b 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= </a:t>
            </a:r>
            <a:r>
              <a:rPr lang="en-US" sz="2400" dirty="0" err="1">
                <a:solidFill>
                  <a:srgbClr val="000000"/>
                </a:solidFill>
                <a:latin typeface="Tw Cen MT" panose="020B0602020104020603" pitchFamily="34" charset="0"/>
              </a:rPr>
              <a:t>a</a:t>
            </a:r>
            <a:r>
              <a:rPr lang="en-US" sz="2400" baseline="30000" dirty="0" err="1">
                <a:solidFill>
                  <a:srgbClr val="000000"/>
                </a:solidFill>
                <a:latin typeface="Tw Cen MT" panose="020B0602020104020603" pitchFamily="34" charset="0"/>
              </a:rPr>
              <a:t>k</a:t>
            </a:r>
            <a:r>
              <a:rPr lang="en-US" sz="2400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400" baseline="30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for 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some </a:t>
            </a:r>
            <a:r>
              <a:rPr lang="en-US" sz="2400" i="1" dirty="0">
                <a:solidFill>
                  <a:srgbClr val="000000"/>
                </a:solidFill>
                <a:latin typeface="Tw Cen MT" panose="020B0602020104020603" pitchFamily="34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 and every </a:t>
            </a:r>
            <a:r>
              <a:rPr lang="en-US" sz="2400" i="1" dirty="0">
                <a:solidFill>
                  <a:srgbClr val="000000"/>
                </a:solidFill>
                <a:latin typeface="Tw Cen MT" panose="020B0602020104020603" pitchFamily="34" charset="0"/>
              </a:rPr>
              <a:t>b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 in 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group</a:t>
            </a:r>
            <a:endParaRPr lang="en-US" sz="24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		</a:t>
            </a:r>
            <a:r>
              <a:rPr lang="en-US" sz="2400" i="1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a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is said to be a generator of the group </a:t>
            </a:r>
            <a:endParaRPr lang="en-US" sz="2400" dirty="0" smtClean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Note that, a</a:t>
            </a:r>
            <a:r>
              <a:rPr lang="en-US" sz="2400" baseline="30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0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=e</a:t>
            </a:r>
          </a:p>
          <a:p>
            <a:pPr lvl="1"/>
            <a:endParaRPr lang="en-US" sz="24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Example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: {1, 2, 4, 8} with </a:t>
            </a:r>
            <a:r>
              <a:rPr lang="en-US" sz="2400" b="1" dirty="0">
                <a:solidFill>
                  <a:srgbClr val="000000"/>
                </a:solidFill>
                <a:latin typeface="Tw Cen MT" panose="020B0602020104020603" pitchFamily="34" charset="0"/>
              </a:rPr>
              <a:t>mod 12 </a:t>
            </a:r>
            <a:r>
              <a:rPr lang="en-US" sz="2400" dirty="0">
                <a:solidFill>
                  <a:srgbClr val="FF0000"/>
                </a:solidFill>
                <a:latin typeface="Tw Cen MT" panose="020B0602020104020603" pitchFamily="34" charset="0"/>
              </a:rPr>
              <a:t>multiplication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, the generator is 2.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2</a:t>
            </a:r>
            <a:r>
              <a:rPr lang="en-US" sz="2400" baseline="30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0</a:t>
            </a: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=1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, 2</a:t>
            </a:r>
            <a:r>
              <a:rPr lang="en-US" sz="2400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=2, 2</a:t>
            </a:r>
            <a:r>
              <a:rPr lang="en-US" sz="2400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=4, 2</a:t>
            </a:r>
            <a:r>
              <a:rPr lang="en-US" sz="2400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=8, 2</a:t>
            </a:r>
            <a:r>
              <a:rPr lang="en-US" sz="2400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=4, 2</a:t>
            </a:r>
            <a:r>
              <a:rPr lang="en-US" sz="2400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=8 </a:t>
            </a:r>
          </a:p>
        </p:txBody>
      </p:sp>
    </p:spTree>
    <p:extLst>
      <p:ext uri="{BB962C8B-B14F-4D97-AF65-F5344CB8AC3E}">
        <p14:creationId xmlns:p14="http://schemas.microsoft.com/office/powerpoint/2010/main" val="284969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413445" y="352027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b="1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Ring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67" y="1627192"/>
            <a:ext cx="7771903" cy="2667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744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413445" y="352027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b="1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Ring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0" y="1464951"/>
            <a:ext cx="8101013" cy="435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42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413445" y="352027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b="1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Ring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67" y="1267803"/>
            <a:ext cx="7932406" cy="489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314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413445" y="352027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b="1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Ring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1798" y="790722"/>
            <a:ext cx="8024884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b="1" dirty="0" smtClean="0">
                <a:solidFill>
                  <a:srgbClr val="063CE8"/>
                </a:solidFill>
                <a:latin typeface="Tw Cen MT" panose="020B0602020104020603" pitchFamily="34" charset="0"/>
              </a:rPr>
              <a:t>Ring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: 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R=&lt; {…}, </a:t>
            </a:r>
            <a:r>
              <a:rPr lang="en-US" sz="48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.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,# &gt;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1.  A 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group with two operations: </a:t>
            </a:r>
            <a:r>
              <a:rPr lang="en-US" sz="2000" dirty="0">
                <a:solidFill>
                  <a:srgbClr val="FF0000"/>
                </a:solidFill>
                <a:latin typeface="Tw Cen MT" panose="020B0602020104020603" pitchFamily="34" charset="0"/>
              </a:rPr>
              <a:t>addition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Tw Cen MT" panose="020B0602020104020603" pitchFamily="34" charset="0"/>
              </a:rPr>
              <a:t>multiplication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     2.  The 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group is 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Abelian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with respect to addition: 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a+b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b+a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(1</a:t>
            </a:r>
            <a:r>
              <a:rPr lang="en-US" sz="2000" baseline="30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st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	operation, all )</a:t>
            </a:r>
            <a:endParaRPr lang="en-US" sz="20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     3. Multiplication 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and additions are both associative: 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(2</a:t>
            </a:r>
            <a:r>
              <a:rPr lang="en-US" sz="2000" baseline="30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nd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operation only 	</a:t>
            </a:r>
            <a:r>
              <a:rPr lang="en-US" sz="200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first two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)</a:t>
            </a:r>
            <a:endParaRPr lang="en-US" sz="20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		a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+(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b+c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)=(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a+b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)+c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		a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.(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b.c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)=(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a.b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).c </a:t>
            </a:r>
            <a:endParaRPr lang="en-US" sz="2000" dirty="0" smtClean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endParaRPr lang="en-US" sz="20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      4. Multiplication (2</a:t>
            </a:r>
            <a:r>
              <a:rPr lang="en-US" sz="2000" baseline="30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nd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w Cen MT" panose="020B0602020104020603" pitchFamily="34" charset="0"/>
              </a:rPr>
              <a:t>opearation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)  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distributes over 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addition (</a:t>
            </a:r>
            <a:r>
              <a:rPr lang="en-US" sz="2000" dirty="0" err="1" smtClean="0">
                <a:solidFill>
                  <a:srgbClr val="000000"/>
                </a:solidFill>
                <a:latin typeface="Tw Cen MT" panose="020B0602020104020603" pitchFamily="34" charset="0"/>
              </a:rPr>
              <a:t>ist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		operation) </a:t>
            </a:r>
            <a:endParaRPr lang="en-US" sz="20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		a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.(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b+c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)=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a.b+a.c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		(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a+b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).c = 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a.c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+ 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b.c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 smtClean="0">
                <a:solidFill>
                  <a:srgbClr val="063CE8"/>
                </a:solidFill>
                <a:latin typeface="Tw Cen MT" panose="020B0602020104020603" pitchFamily="34" charset="0"/>
              </a:rPr>
              <a:t>Commutative </a:t>
            </a:r>
            <a:r>
              <a:rPr lang="en-US" sz="2000" b="1" dirty="0">
                <a:solidFill>
                  <a:srgbClr val="063CE8"/>
                </a:solidFill>
                <a:latin typeface="Tw Cen MT" panose="020B0602020104020603" pitchFamily="34" charset="0"/>
              </a:rPr>
              <a:t>Ring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: 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Multiplication 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is commutative, i.e.,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		</a:t>
            </a:r>
            <a:r>
              <a:rPr lang="en-US" sz="2000" dirty="0" err="1" smtClean="0">
                <a:solidFill>
                  <a:srgbClr val="000000"/>
                </a:solidFill>
                <a:latin typeface="Tw Cen MT" panose="020B0602020104020603" pitchFamily="34" charset="0"/>
              </a:rPr>
              <a:t>a.b</a:t>
            </a:r>
            <a:r>
              <a:rPr lang="en-US" sz="20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latin typeface="Tw Cen MT" panose="020B0602020104020603" pitchFamily="34" charset="0"/>
              </a:rPr>
              <a:t>b.a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 smtClean="0">
                <a:solidFill>
                  <a:srgbClr val="063CE8"/>
                </a:solidFill>
                <a:latin typeface="Tw Cen MT" panose="020B0602020104020603" pitchFamily="34" charset="0"/>
              </a:rPr>
              <a:t>Integral </a:t>
            </a:r>
            <a:r>
              <a:rPr lang="en-US" sz="2000" b="1" dirty="0">
                <a:solidFill>
                  <a:srgbClr val="063CE8"/>
                </a:solidFill>
                <a:latin typeface="Tw Cen MT" panose="020B0602020104020603" pitchFamily="34" charset="0"/>
              </a:rPr>
              <a:t>Domain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0"/>
              </a:rPr>
              <a:t>: multiplication operation has an identity and no zero divisors </a:t>
            </a:r>
          </a:p>
        </p:txBody>
      </p:sp>
    </p:spTree>
    <p:extLst>
      <p:ext uri="{BB962C8B-B14F-4D97-AF65-F5344CB8AC3E}">
        <p14:creationId xmlns:p14="http://schemas.microsoft.com/office/powerpoint/2010/main" val="202014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326728" y="557487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w Cen MT" panose="020B0602020104020603" pitchFamily="34" charset="0"/>
              </a:rPr>
              <a:t>  </a:t>
            </a:r>
            <a:r>
              <a:rPr lang="en-US" sz="3200" b="1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Ring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98394" y="1259591"/>
            <a:ext cx="81135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w Cen MT" panose="020B0602020104020603" pitchFamily="34" charset="0"/>
              </a:rPr>
              <a:t>Consider the set S = {a, 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b} </a:t>
            </a:r>
            <a:r>
              <a:rPr lang="en-US" sz="2400" dirty="0">
                <a:solidFill>
                  <a:schemeClr val="bg1"/>
                </a:solidFill>
                <a:latin typeface="Tw Cen MT" panose="020B0602020104020603" pitchFamily="34" charset="0"/>
              </a:rPr>
              <a:t>with addition and multiplication defined by the following tables: </a:t>
            </a:r>
          </a:p>
        </p:txBody>
      </p:sp>
      <p:sp>
        <p:nvSpPr>
          <p:cNvPr id="3" name="Rectangle 2"/>
          <p:cNvSpPr/>
          <p:nvPr/>
        </p:nvSpPr>
        <p:spPr>
          <a:xfrm>
            <a:off x="798394" y="4361429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4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w Cen MT" panose="020B0602020104020603" pitchFamily="34" charset="0"/>
              </a:rPr>
              <a:t>Is S a ring? </a:t>
            </a:r>
            <a:r>
              <a:rPr lang="en-US" sz="240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Justify.</a:t>
            </a:r>
            <a:endParaRPr lang="en-US" sz="240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057" y="2762250"/>
            <a:ext cx="167640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2705100"/>
            <a:ext cx="17526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005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1043035"/>
            <a:ext cx="7504112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304800" y="4643521"/>
            <a:ext cx="8839200" cy="1440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The set Z with two operations, addition and multiplication, is a commutative ring. We show it by R = &lt;Z, +, ×&gt;. Addition satisfies all of the five properties; multiplication satisfies only three properties.</a:t>
            </a:r>
          </a:p>
        </p:txBody>
      </p:sp>
    </p:spTree>
    <p:extLst>
      <p:ext uri="{BB962C8B-B14F-4D97-AF65-F5344CB8AC3E}">
        <p14:creationId xmlns:p14="http://schemas.microsoft.com/office/powerpoint/2010/main" val="3031032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847306" y="437866"/>
            <a:ext cx="27366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 pitchFamily="34" charset="0"/>
              </a:rPr>
              <a:t>Cyclic Subgroups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88731" y="1305629"/>
            <a:ext cx="816653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If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a subgroup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of a group can be generated using the power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of an element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, the subgroup is called the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cyclic subgroup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. Power means repeatedly applying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the group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operation.</a:t>
            </a:r>
          </a:p>
        </p:txBody>
      </p: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5425" y="3213894"/>
            <a:ext cx="5667375" cy="636588"/>
          </a:xfrm>
          <a:prstGeom prst="rect">
            <a:avLst/>
          </a:prstGeom>
          <a:noFill/>
          <a:ln w="57150">
            <a:solidFill>
              <a:srgbClr val="3333CC"/>
            </a:solidFill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452953" y="4236577"/>
            <a:ext cx="513891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Tw Cen MT" panose="020B0602020104020603" pitchFamily="34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Tw Cen MT" panose="020B0602020104020603" pitchFamily="34" charset="0"/>
              </a:rPr>
              <a:t>example: </a:t>
            </a:r>
            <a:r>
              <a:rPr lang="en-US" sz="320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 a</a:t>
            </a:r>
            <a:r>
              <a:rPr lang="en-US" sz="3200" baseline="3000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3</a:t>
            </a:r>
            <a:r>
              <a:rPr lang="en-US" sz="320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Tw Cen MT" panose="020B0602020104020603" pitchFamily="34" charset="0"/>
              </a:rPr>
              <a:t>= </a:t>
            </a:r>
            <a:r>
              <a:rPr lang="en-US" sz="3200" dirty="0" err="1">
                <a:solidFill>
                  <a:schemeClr val="bg1"/>
                </a:solidFill>
                <a:latin typeface="Tw Cen MT" panose="020B0602020104020603" pitchFamily="34" charset="0"/>
              </a:rPr>
              <a:t>a.a.a</a:t>
            </a:r>
            <a:r>
              <a:rPr lang="en-US" sz="3200" dirty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endParaRPr lang="en-US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152283" y="265386"/>
            <a:ext cx="26228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w Cen MT" panose="020B0602020104020603" pitchFamily="34" charset="0"/>
              </a:rPr>
              <a:t>Cyclic Subgroups</a:t>
            </a:r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152400" y="1136561"/>
            <a:ext cx="8839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Four cyclic subgroups can be made from the group G = &lt;Z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6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, +&gt;. They are H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1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= &lt;{0}, +&gt;, H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2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= &lt;{0, 2, 4}, +&gt;, H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3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= &lt;{0, 3}, +&gt;, and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H</a:t>
            </a:r>
            <a:r>
              <a:rPr kumimoji="0" lang="en-US" sz="24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4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 = G. 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528145" y="817179"/>
            <a:ext cx="1146468" cy="369332"/>
          </a:xfrm>
          <a:prstGeom prst="rect">
            <a:avLst/>
          </a:prstGeom>
          <a:solidFill>
            <a:srgbClr val="3333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Example 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438400"/>
            <a:ext cx="1544638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" name="Picture 2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971800"/>
            <a:ext cx="455295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2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5181600"/>
            <a:ext cx="3344863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Picture 2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0" y="2133600"/>
            <a:ext cx="1617663" cy="65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2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34000" y="3048000"/>
            <a:ext cx="3327400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2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410200" y="4400550"/>
            <a:ext cx="15811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152283" y="265386"/>
            <a:ext cx="26228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w Cen MT" panose="020B0602020104020603" pitchFamily="34" charset="0"/>
              </a:rPr>
              <a:t>Cyclic Subgroups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528145" y="817179"/>
            <a:ext cx="1146468" cy="369332"/>
          </a:xfrm>
          <a:prstGeom prst="rect">
            <a:avLst/>
          </a:prstGeom>
          <a:solidFill>
            <a:srgbClr val="3333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Example 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" y="1152693"/>
            <a:ext cx="8839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Three cyclic subgroups can be made from the group </a:t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G = &lt;Z10∗, ×&gt;. G has only four elements: 1, 3, 7, and 9. The cyclic subgroups are H1 = &lt;{1}, ×&gt;, H2 = &lt;{1, 9}, ×&gt;, and H3 = G.</a:t>
            </a:r>
          </a:p>
        </p:txBody>
      </p:sp>
      <p:pic>
        <p:nvPicPr>
          <p:cNvPr id="18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743200"/>
            <a:ext cx="16732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657600"/>
            <a:ext cx="1865313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19600" y="2590800"/>
            <a:ext cx="1763713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5950" y="4343400"/>
            <a:ext cx="174625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152283" y="265386"/>
            <a:ext cx="34018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Bookman Old Style" pitchFamily="18" charset="0"/>
              </a:rPr>
              <a:t>Cyclic Subgroups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60883" y="2476665"/>
            <a:ext cx="84450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Three cyclic subgroups can be made from the group </a:t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G = &lt;Z10∗, ×&gt;. G has only four elements: 1, 3, 7, and 9. The cyclic subgroups are H1 = &lt;{1}, ×&gt;, H2 = &lt;{1, 9}, ×&gt;, and H3 = G.</a:t>
            </a: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360883" y="3738182"/>
            <a:ext cx="8445062" cy="219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a. The group G = &lt;Z6, +&gt; is a cyclic group with two generators, </a:t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= 1 and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= 5. 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b. The group G = &lt;Z10∗, ×&gt; is a cyclic group with two generators,</a:t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= 3 and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= 7.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86255" y="1195551"/>
            <a:ext cx="1314784" cy="461665"/>
          </a:xfrm>
          <a:prstGeom prst="rect">
            <a:avLst/>
          </a:prstGeom>
          <a:solidFill>
            <a:srgbClr val="3333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</a:rPr>
              <a:t>Example 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4496" y="1753646"/>
            <a:ext cx="5385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ill Sans MT" pitchFamily="34" charset="0"/>
              </a:rPr>
              <a:t>A cyclic group can have many generators. </a:t>
            </a:r>
            <a:endParaRPr lang="en-US" sz="2400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304800" y="540956"/>
            <a:ext cx="27190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Gill Sans MT" pitchFamily="34" charset="0"/>
              </a:rPr>
              <a:t>Lagrange’s Theorem</a:t>
            </a: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536028" y="2050957"/>
            <a:ext cx="821383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Assume that G is a group, and H is a subgroup of G. If the order of G and H are |G| and |H|, respectively, then, based on this theorem,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|H| divides |G|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. </a:t>
            </a: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536028" y="3649280"/>
            <a:ext cx="29796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Gill Sans MT" pitchFamily="34" charset="0"/>
              </a:rPr>
              <a:t>Order of an Element</a:t>
            </a: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551793" y="4094321"/>
            <a:ext cx="821383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The order of an element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a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in a group,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ord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(a)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 </a:t>
            </a:r>
            <a:r>
              <a:rPr lang="en-US" sz="2400" kern="0" dirty="0">
                <a:solidFill>
                  <a:sysClr val="windowText" lastClr="000000"/>
                </a:solidFill>
                <a:latin typeface="Gill Sans MT" pitchFamily="34" charset="0"/>
              </a:rPr>
              <a:t>is the smallest integer </a:t>
            </a:r>
            <a:r>
              <a:rPr lang="en-US" sz="2400" kern="0" dirty="0">
                <a:solidFill>
                  <a:srgbClr val="FF0000"/>
                </a:solidFill>
                <a:latin typeface="Gill Sans MT" pitchFamily="34" charset="0"/>
              </a:rPr>
              <a:t>n</a:t>
            </a:r>
            <a:r>
              <a:rPr lang="en-US" sz="2400" kern="0" dirty="0">
                <a:solidFill>
                  <a:sysClr val="windowText" lastClr="000000"/>
                </a:solidFill>
                <a:latin typeface="Gill Sans MT" pitchFamily="34" charset="0"/>
              </a:rPr>
              <a:t> such that </a:t>
            </a:r>
            <a:r>
              <a:rPr lang="en-US" sz="2400" kern="0" dirty="0" smtClean="0">
                <a:solidFill>
                  <a:srgbClr val="FF0000"/>
                </a:solidFill>
                <a:latin typeface="Gill Sans MT" pitchFamily="34" charset="0"/>
              </a:rPr>
              <a:t>a</a:t>
            </a:r>
            <a:r>
              <a:rPr lang="en-US" sz="2400" kern="0" baseline="30000" dirty="0" smtClean="0">
                <a:solidFill>
                  <a:srgbClr val="FF0000"/>
                </a:solidFill>
                <a:latin typeface="Gill Sans MT" pitchFamily="34" charset="0"/>
              </a:rPr>
              <a:t>n</a:t>
            </a:r>
            <a:r>
              <a:rPr lang="en-US" sz="2400" kern="0" dirty="0" smtClean="0">
                <a:solidFill>
                  <a:srgbClr val="FF0000"/>
                </a:solidFill>
                <a:latin typeface="Gill Sans MT" pitchFamily="34" charset="0"/>
              </a:rPr>
              <a:t>=e. 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 dirty="0">
              <a:solidFill>
                <a:srgbClr val="FF0000"/>
              </a:solidFill>
              <a:latin typeface="Gill Sans MT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kern="0" dirty="0" smtClean="0">
                <a:solidFill>
                  <a:schemeClr val="bg1"/>
                </a:solidFill>
                <a:latin typeface="Gill Sans MT" pitchFamily="34" charset="0"/>
              </a:rPr>
              <a:t>In other words, </a:t>
            </a:r>
            <a:r>
              <a:rPr lang="en-US" sz="2400" kern="0" dirty="0">
                <a:solidFill>
                  <a:sysClr val="windowText" lastClr="000000"/>
                </a:solidFill>
                <a:latin typeface="Gill Sans MT" pitchFamily="34" charset="0"/>
              </a:rPr>
              <a:t>The order of an element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 pitchFamily="34" charset="0"/>
              </a:rPr>
              <a:t>is the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</a:rPr>
              <a:t>order of the cyclic group it generates.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6028" y="1213945"/>
            <a:ext cx="8063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ill Sans MT" pitchFamily="34" charset="0"/>
              </a:rPr>
              <a:t>Lagrange’s  theorem relates  the order of a group to the order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Gill Sans MT" pitchFamily="34" charset="0"/>
              </a:rPr>
              <a:t>of its subgroup. </a:t>
            </a:r>
            <a:endParaRPr lang="en-US" sz="2400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066799" y="533400"/>
            <a:ext cx="2149367" cy="584775"/>
          </a:xfrm>
          <a:prstGeom prst="rect">
            <a:avLst/>
          </a:prstGeom>
          <a:solidFill>
            <a:srgbClr val="3333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</a:rPr>
              <a:t>Example</a:t>
            </a:r>
            <a:endParaRPr kumimoji="0" lang="en-US" sz="32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341585" y="1849821"/>
            <a:ext cx="8077200" cy="33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The set Z with two operations, addition and multiplication, is a commutative ring. We show it by R = &lt;Z, +, ×&gt;. Addition satisfies all of the five properties; multiplication satisfies only three properties.</a:t>
            </a:r>
          </a:p>
          <a:p>
            <a:pPr marL="0" marR="0" lvl="0" indent="0" algn="just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 smtClean="0">
                <a:solidFill>
                  <a:sysClr val="windowText" lastClr="000000"/>
                </a:solidFill>
                <a:latin typeface="Tw Cen MT" panose="020B0602020104020603" pitchFamily="34" charset="0"/>
              </a:rPr>
              <a:t>e.g., </a:t>
            </a:r>
            <a:endParaRPr lang="en-US" sz="2400" kern="0" dirty="0">
              <a:solidFill>
                <a:sysClr val="windowText" lastClr="000000"/>
              </a:solidFill>
              <a:latin typeface="Tw Cen MT" panose="020B0602020104020603" pitchFamily="34" charset="0"/>
            </a:endParaRPr>
          </a:p>
          <a:p>
            <a:pPr marL="0" marR="0" lvl="0" indent="0" algn="just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5ˣ(3+2)=(5ˣ3)+(5ˣ2)=25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708866" y="92950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Field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91" y="1648984"/>
            <a:ext cx="8113097" cy="3178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072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708866" y="92950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Field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85" y="1900239"/>
            <a:ext cx="8610103" cy="2968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386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708866" y="92950"/>
            <a:ext cx="34907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aseline="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Field</a:t>
            </a:r>
            <a:endParaRPr lang="en-US" sz="32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1798" y="407969"/>
            <a:ext cx="8024884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b="1" dirty="0" smtClean="0">
                <a:solidFill>
                  <a:srgbClr val="063CE8"/>
                </a:solidFill>
                <a:latin typeface="Gill Sans MT" pitchFamily="34" charset="0"/>
              </a:rPr>
              <a:t>Ring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: 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R=&lt; {…}, </a:t>
            </a:r>
            <a:r>
              <a:rPr lang="en-US" sz="4800" dirty="0" smtClean="0">
                <a:solidFill>
                  <a:srgbClr val="000000"/>
                </a:solidFill>
                <a:latin typeface="Gill Sans MT" pitchFamily="34" charset="0"/>
              </a:rPr>
              <a:t>.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,# &gt; is a commutative ring in which the second operation satisfies all five properties  defined for the first </a:t>
            </a:r>
            <a:r>
              <a:rPr lang="en-US" sz="2000" dirty="0" err="1" smtClean="0">
                <a:solidFill>
                  <a:srgbClr val="000000"/>
                </a:solidFill>
                <a:latin typeface="Gill Sans MT" pitchFamily="34" charset="0"/>
              </a:rPr>
              <a:t>opeation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except that the identity of the first  operation has no inverse.</a:t>
            </a:r>
          </a:p>
          <a:p>
            <a:endParaRPr lang="en-US" sz="2000" dirty="0" smtClean="0">
              <a:solidFill>
                <a:srgbClr val="000000"/>
              </a:solidFill>
              <a:latin typeface="Gill Sans MT" pitchFamily="34" charset="0"/>
            </a:endParaRPr>
          </a:p>
          <a:p>
            <a:pPr lvl="1"/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1.  A 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group with two operations: </a:t>
            </a:r>
            <a:r>
              <a:rPr lang="en-US" sz="2000" dirty="0">
                <a:solidFill>
                  <a:srgbClr val="FF0000"/>
                </a:solidFill>
                <a:latin typeface="Gill Sans MT" pitchFamily="34" charset="0"/>
              </a:rPr>
              <a:t>addition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Gill Sans MT" pitchFamily="34" charset="0"/>
              </a:rPr>
              <a:t>multiplication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     2.  The 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group is 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Abelian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with respect to addition: 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a+b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b+a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(1</a:t>
            </a:r>
            <a:r>
              <a:rPr lang="en-US" sz="2000" baseline="30000" dirty="0" smtClean="0">
                <a:solidFill>
                  <a:srgbClr val="000000"/>
                </a:solidFill>
                <a:latin typeface="Gill Sans MT" pitchFamily="34" charset="0"/>
              </a:rPr>
              <a:t>st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	operation, all )</a:t>
            </a:r>
            <a:endParaRPr lang="en-US" sz="2000" dirty="0">
              <a:solidFill>
                <a:srgbClr val="000000"/>
              </a:solidFill>
              <a:latin typeface="Gill Sans MT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     3. Multiplication 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and additions are both associative: 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(2</a:t>
            </a:r>
            <a:r>
              <a:rPr lang="en-US" sz="2000" baseline="30000" dirty="0" smtClean="0">
                <a:solidFill>
                  <a:srgbClr val="000000"/>
                </a:solidFill>
                <a:latin typeface="Gill Sans MT" pitchFamily="34" charset="0"/>
              </a:rPr>
              <a:t>nd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operation only 	</a:t>
            </a:r>
            <a:r>
              <a:rPr lang="en-US" sz="2000" dirty="0" smtClean="0">
                <a:solidFill>
                  <a:srgbClr val="FF0000"/>
                </a:solidFill>
                <a:latin typeface="Gill Sans MT" pitchFamily="34" charset="0"/>
              </a:rPr>
              <a:t>first two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)</a:t>
            </a:r>
            <a:endParaRPr lang="en-US" sz="2000" dirty="0">
              <a:solidFill>
                <a:srgbClr val="000000"/>
              </a:solidFill>
              <a:latin typeface="Gill Sans MT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		a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+(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b+c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)=(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a+b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)+c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		a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.(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b.c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)=(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a.b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).c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      4. Multiplication (2</a:t>
            </a:r>
            <a:r>
              <a:rPr lang="en-US" sz="2000" baseline="30000" dirty="0" smtClean="0">
                <a:solidFill>
                  <a:srgbClr val="000000"/>
                </a:solidFill>
                <a:latin typeface="Gill Sans MT" pitchFamily="34" charset="0"/>
              </a:rPr>
              <a:t>nd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Gill Sans MT" pitchFamily="34" charset="0"/>
              </a:rPr>
              <a:t>opearation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)  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distributes over 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addition (</a:t>
            </a:r>
            <a:r>
              <a:rPr lang="en-US" sz="2000" dirty="0" err="1" smtClean="0">
                <a:solidFill>
                  <a:srgbClr val="000000"/>
                </a:solidFill>
                <a:latin typeface="Gill Sans MT" pitchFamily="34" charset="0"/>
              </a:rPr>
              <a:t>ist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		operation)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		a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.(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b+c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)=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a.b+a.c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		(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a+b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).c = 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a.c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b.c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 smtClean="0">
                <a:solidFill>
                  <a:srgbClr val="063CE8"/>
                </a:solidFill>
                <a:latin typeface="Gill Sans MT" pitchFamily="34" charset="0"/>
              </a:rPr>
              <a:t>Commutative </a:t>
            </a:r>
            <a:r>
              <a:rPr lang="en-US" sz="2000" b="1" dirty="0">
                <a:solidFill>
                  <a:srgbClr val="063CE8"/>
                </a:solidFill>
                <a:latin typeface="Gill Sans MT" pitchFamily="34" charset="0"/>
              </a:rPr>
              <a:t>Ring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: 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Multiplication 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is commutative, i.e.,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		</a:t>
            </a:r>
            <a:r>
              <a:rPr lang="en-US" sz="2000" dirty="0" err="1" smtClean="0">
                <a:solidFill>
                  <a:srgbClr val="000000"/>
                </a:solidFill>
                <a:latin typeface="Gill Sans MT" pitchFamily="34" charset="0"/>
              </a:rPr>
              <a:t>a.b</a:t>
            </a:r>
            <a:r>
              <a:rPr lang="en-US" sz="2000" dirty="0" smtClean="0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latin typeface="Gill Sans MT" pitchFamily="34" charset="0"/>
              </a:rPr>
              <a:t>b.a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 smtClean="0">
                <a:solidFill>
                  <a:srgbClr val="063CE8"/>
                </a:solidFill>
                <a:latin typeface="Gill Sans MT" pitchFamily="34" charset="0"/>
              </a:rPr>
              <a:t>Integral </a:t>
            </a:r>
            <a:r>
              <a:rPr lang="en-US" sz="2000" b="1" dirty="0">
                <a:solidFill>
                  <a:srgbClr val="063CE8"/>
                </a:solidFill>
                <a:latin typeface="Gill Sans MT" pitchFamily="34" charset="0"/>
              </a:rPr>
              <a:t>Domain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</a:rPr>
              <a:t>: multiplication operation has an identity and no zero divisors </a:t>
            </a:r>
          </a:p>
        </p:txBody>
      </p:sp>
    </p:spTree>
    <p:extLst>
      <p:ext uri="{BB962C8B-B14F-4D97-AF65-F5344CB8AC3E}">
        <p14:creationId xmlns:p14="http://schemas.microsoft.com/office/powerpoint/2010/main" val="363468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4" y="945178"/>
            <a:ext cx="7705725" cy="322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61936" y="4169390"/>
            <a:ext cx="88392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 pitchFamily="34" charset="0"/>
              </a:rPr>
              <a:t>A field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, denoted by F = &lt;{…}, •, &gt; is a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 pitchFamily="34" charset="0"/>
              </a:rPr>
              <a:t>commutative ring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in which the second operation satisfies all five properties defined for the first operation except that the identity of the first operation has no inverse. 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kern="0" dirty="0">
              <a:solidFill>
                <a:sysClr val="windowText" lastClr="000000"/>
              </a:solidFill>
              <a:latin typeface="Tw Cen MT" panose="020B0602020104020603" pitchFamily="34" charset="0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A field is a structure that supports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  two pairs of operations that we have used in </a:t>
            </a:r>
            <a:r>
              <a:rPr kumimoji="0" lang="en-US" sz="2000" b="0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matematics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; addition/ subtraction and multiplication/division. 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 pitchFamily="34" charset="0"/>
              </a:rPr>
              <a:t>There is one exception : division by zero is not allowed.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6655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6" name="Text Box 11"/>
          <p:cNvSpPr txBox="1">
            <a:spLocks noChangeArrowheads="1"/>
          </p:cNvSpPr>
          <p:nvPr/>
        </p:nvSpPr>
        <p:spPr bwMode="auto">
          <a:xfrm>
            <a:off x="2210938" y="465030"/>
            <a:ext cx="4981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baseline="0" dirty="0" smtClean="0">
                <a:solidFill>
                  <a:srgbClr val="3333CC"/>
                </a:solidFill>
                <a:latin typeface="Tw Cen MT" panose="020B0602020104020603" pitchFamily="34" charset="0"/>
                <a:cs typeface="+mn-cs"/>
              </a:rPr>
              <a:t>Prime</a:t>
            </a:r>
            <a:r>
              <a:rPr lang="en-US" baseline="0" dirty="0" smtClean="0">
                <a:solidFill>
                  <a:srgbClr val="3333CC"/>
                </a:solidFill>
                <a:latin typeface="Tw Cen MT" panose="020B0602020104020603" pitchFamily="34" charset="0"/>
                <a:cs typeface="+mn-cs"/>
              </a:rPr>
              <a:t> Fields and Extension field </a:t>
            </a:r>
            <a:endParaRPr lang="en-US" sz="2000" i="1" baseline="0" dirty="0" smtClean="0">
              <a:solidFill>
                <a:srgbClr val="000000"/>
              </a:solidFill>
              <a:latin typeface="Tw Cen MT" panose="020B0602020104020603" pitchFamily="34" charset="0"/>
              <a:cs typeface="+mn-cs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15" y="1525860"/>
            <a:ext cx="8506323" cy="399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324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6" name="Text Box 11"/>
          <p:cNvSpPr txBox="1">
            <a:spLocks noChangeArrowheads="1"/>
          </p:cNvSpPr>
          <p:nvPr/>
        </p:nvSpPr>
        <p:spPr bwMode="auto">
          <a:xfrm>
            <a:off x="2210938" y="465030"/>
            <a:ext cx="49814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sz="4000" baseline="0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What is a Polynomial?</a:t>
            </a:r>
            <a:endParaRPr lang="en-US" sz="4000" baseline="0" dirty="0" smtClean="0">
              <a:solidFill>
                <a:srgbClr val="000000"/>
              </a:solidFill>
              <a:latin typeface="Tw Cen MT" panose="020B0602020104020603" pitchFamily="34" charset="0"/>
              <a:cs typeface="+mn-c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21" y="1519640"/>
            <a:ext cx="7751289" cy="420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290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4" name="Text Box 9"/>
          <p:cNvSpPr txBox="1">
            <a:spLocks noChangeArrowheads="1"/>
          </p:cNvSpPr>
          <p:nvPr/>
        </p:nvSpPr>
        <p:spPr bwMode="auto">
          <a:xfrm>
            <a:off x="341142" y="225082"/>
            <a:ext cx="2824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sz="3200" i="1" baseline="0" dirty="0" smtClean="0">
                <a:solidFill>
                  <a:srgbClr val="FF0000"/>
                </a:solidFill>
                <a:latin typeface="Tw Cen MT" panose="020B0602020104020603" pitchFamily="34" charset="0"/>
                <a:cs typeface="+mn-cs"/>
              </a:rPr>
              <a:t>  </a:t>
            </a:r>
            <a:r>
              <a:rPr lang="en-US" sz="3200" i="1" baseline="0" dirty="0">
                <a:latin typeface="Tw Cen MT" panose="020B0602020104020603" pitchFamily="34" charset="0"/>
                <a:cs typeface="+mn-cs"/>
              </a:rPr>
              <a:t>C</a:t>
            </a:r>
            <a:r>
              <a:rPr lang="en-US" sz="3200" baseline="0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ontinued</a:t>
            </a:r>
          </a:p>
        </p:txBody>
      </p:sp>
      <p:sp>
        <p:nvSpPr>
          <p:cNvPr id="26635" name="Rectangle 10"/>
          <p:cNvSpPr>
            <a:spLocks noChangeArrowheads="1"/>
          </p:cNvSpPr>
          <p:nvPr/>
        </p:nvSpPr>
        <p:spPr bwMode="auto">
          <a:xfrm>
            <a:off x="543951" y="1665850"/>
            <a:ext cx="8487508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Although we have fields of infinite order, only finite fields extensively used in cryptography.</a:t>
            </a:r>
          </a:p>
          <a:p>
            <a:pPr algn="just"/>
            <a:r>
              <a:rPr lang="en-US" sz="28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Galois showed that </a:t>
            </a:r>
            <a:r>
              <a:rPr lang="en-US" sz="2800" b="1" dirty="0" smtClean="0">
                <a:solidFill>
                  <a:srgbClr val="FF0000"/>
                </a:solidFill>
                <a:latin typeface="Tw Cen MT" panose="020B0602020104020603" pitchFamily="34" charset="0"/>
                <a:cs typeface="+mn-cs"/>
              </a:rPr>
              <a:t>for a field to be finite</a:t>
            </a:r>
            <a:r>
              <a:rPr lang="en-US" sz="28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, the number of elements should be </a:t>
            </a:r>
            <a:r>
              <a:rPr lang="en-US" sz="2800" b="1" i="1" dirty="0" err="1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p</a:t>
            </a:r>
            <a:r>
              <a:rPr lang="en-US" sz="2800" b="1" i="1" baseline="30000" dirty="0" err="1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n</a:t>
            </a:r>
            <a:r>
              <a:rPr lang="en-US" sz="28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, where </a:t>
            </a:r>
            <a:r>
              <a:rPr lang="en-US" sz="2800" b="1" i="1" dirty="0" smtClean="0">
                <a:solidFill>
                  <a:srgbClr val="0000CC"/>
                </a:solidFill>
                <a:latin typeface="Tw Cen MT" panose="020B0602020104020603" pitchFamily="34" charset="0"/>
                <a:cs typeface="+mn-cs"/>
              </a:rPr>
              <a:t>p</a:t>
            </a:r>
            <a:r>
              <a:rPr lang="en-US" sz="2800" b="1" dirty="0" smtClean="0">
                <a:solidFill>
                  <a:srgbClr val="0000CC"/>
                </a:solidFill>
                <a:latin typeface="Tw Cen MT" panose="020B0602020104020603" pitchFamily="34" charset="0"/>
                <a:cs typeface="+mn-cs"/>
              </a:rPr>
              <a:t> is a prime </a:t>
            </a:r>
            <a:r>
              <a:rPr lang="en-US" sz="28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and </a:t>
            </a:r>
            <a:r>
              <a:rPr lang="en-US" sz="2800" b="1" i="1" dirty="0" smtClean="0">
                <a:solidFill>
                  <a:srgbClr val="0000CC"/>
                </a:solidFill>
                <a:latin typeface="Tw Cen MT" panose="020B0602020104020603" pitchFamily="34" charset="0"/>
                <a:cs typeface="+mn-cs"/>
              </a:rPr>
              <a:t>n</a:t>
            </a:r>
            <a:r>
              <a:rPr lang="en-US" sz="2800" b="1" dirty="0" smtClean="0">
                <a:solidFill>
                  <a:srgbClr val="0000CC"/>
                </a:solidFill>
                <a:latin typeface="Tw Cen MT" panose="020B0602020104020603" pitchFamily="34" charset="0"/>
                <a:cs typeface="+mn-cs"/>
              </a:rPr>
              <a:t> is a positive integer. </a:t>
            </a:r>
          </a:p>
        </p:txBody>
      </p:sp>
      <p:sp>
        <p:nvSpPr>
          <p:cNvPr id="26636" name="Text Box 11"/>
          <p:cNvSpPr txBox="1">
            <a:spLocks noChangeArrowheads="1"/>
          </p:cNvSpPr>
          <p:nvPr/>
        </p:nvSpPr>
        <p:spPr bwMode="auto">
          <a:xfrm>
            <a:off x="528785" y="1025768"/>
            <a:ext cx="17257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baseline="0" dirty="0" smtClean="0">
                <a:solidFill>
                  <a:srgbClr val="3333CC"/>
                </a:solidFill>
                <a:latin typeface="Tw Cen MT" panose="020B0602020104020603" pitchFamily="34" charset="0"/>
                <a:cs typeface="+mn-cs"/>
              </a:rPr>
              <a:t>Finite Fields </a:t>
            </a:r>
            <a:endParaRPr lang="en-US" sz="2000" i="1" baseline="0" dirty="0" smtClean="0">
              <a:solidFill>
                <a:srgbClr val="000000"/>
              </a:solidFill>
              <a:latin typeface="Tw Cen MT" panose="020B0602020104020603" pitchFamily="34" charset="0"/>
              <a:cs typeface="+mn-cs"/>
            </a:endParaRPr>
          </a:p>
        </p:txBody>
      </p:sp>
      <p:sp>
        <p:nvSpPr>
          <p:cNvPr id="26637" name="Line 12"/>
          <p:cNvSpPr>
            <a:spLocks noChangeShapeType="1"/>
          </p:cNvSpPr>
          <p:nvPr/>
        </p:nvSpPr>
        <p:spPr bwMode="auto">
          <a:xfrm>
            <a:off x="527539" y="4263683"/>
            <a:ext cx="7828994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en-US" sz="2400" b="1" baseline="-20000" smtClean="0">
              <a:solidFill>
                <a:srgbClr val="000000"/>
              </a:solidFill>
              <a:latin typeface="Tw Cen MT" panose="020B0602020104020603" pitchFamily="34" charset="0"/>
              <a:cs typeface="+mn-cs"/>
            </a:endParaRPr>
          </a:p>
        </p:txBody>
      </p:sp>
      <p:sp>
        <p:nvSpPr>
          <p:cNvPr id="26638" name="Line 13"/>
          <p:cNvSpPr>
            <a:spLocks noChangeShapeType="1"/>
          </p:cNvSpPr>
          <p:nvPr/>
        </p:nvSpPr>
        <p:spPr bwMode="auto">
          <a:xfrm>
            <a:off x="529127" y="5482883"/>
            <a:ext cx="7828994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en-US" sz="2400" b="1" baseline="-20000" smtClean="0">
              <a:solidFill>
                <a:srgbClr val="000000"/>
              </a:solidFill>
              <a:latin typeface="Tw Cen MT" panose="020B0602020104020603" pitchFamily="34" charset="0"/>
              <a:cs typeface="+mn-cs"/>
            </a:endParaRPr>
          </a:p>
        </p:txBody>
      </p:sp>
      <p:sp>
        <p:nvSpPr>
          <p:cNvPr id="26639" name="Rectangle 14"/>
          <p:cNvSpPr>
            <a:spLocks noChangeArrowheads="1"/>
          </p:cNvSpPr>
          <p:nvPr/>
        </p:nvSpPr>
        <p:spPr bwMode="auto">
          <a:xfrm>
            <a:off x="565639" y="4355758"/>
            <a:ext cx="7755826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32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A Galois field, GF(</a:t>
            </a:r>
            <a:r>
              <a:rPr lang="en-US" sz="3200" b="1" i="1" dirty="0" err="1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p</a:t>
            </a:r>
            <a:r>
              <a:rPr lang="en-US" sz="3200" b="1" i="1" baseline="30000" dirty="0" err="1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n</a:t>
            </a:r>
            <a:r>
              <a:rPr lang="en-US" sz="32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), is a finite field with </a:t>
            </a:r>
            <a:r>
              <a:rPr lang="en-US" sz="3200" b="1" i="1" dirty="0" err="1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p</a:t>
            </a:r>
            <a:r>
              <a:rPr lang="en-US" sz="3200" b="1" i="1" baseline="30000" dirty="0" err="1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n</a:t>
            </a:r>
            <a:r>
              <a:rPr lang="en-US" sz="3200" b="1" dirty="0" smtClean="0">
                <a:solidFill>
                  <a:srgbClr val="000000"/>
                </a:solidFill>
                <a:latin typeface="Tw Cen MT" panose="020B0602020104020603" pitchFamily="34" charset="0"/>
                <a:cs typeface="+mn-cs"/>
              </a:rPr>
              <a:t> elements.</a:t>
            </a:r>
          </a:p>
        </p:txBody>
      </p:sp>
    </p:spTree>
    <p:extLst>
      <p:ext uri="{BB962C8B-B14F-4D97-AF65-F5344CB8AC3E}">
        <p14:creationId xmlns:p14="http://schemas.microsoft.com/office/powerpoint/2010/main" val="318322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8" name="Text Box 9"/>
          <p:cNvSpPr txBox="1">
            <a:spLocks noChangeArrowheads="1"/>
          </p:cNvSpPr>
          <p:nvPr/>
        </p:nvSpPr>
        <p:spPr bwMode="auto">
          <a:xfrm>
            <a:off x="556146" y="395785"/>
            <a:ext cx="192552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aseline="0" dirty="0" smtClean="0">
                <a:latin typeface="Tw Cen MT" panose="020B0602020104020603" pitchFamily="34" charset="0"/>
              </a:rPr>
              <a:t>Continued</a:t>
            </a:r>
            <a:endParaRPr lang="en-US" sz="3200" baseline="0" dirty="0">
              <a:latin typeface="Tw Cen MT" panose="020B0602020104020603" pitchFamily="34" charset="0"/>
            </a:endParaRPr>
          </a:p>
        </p:txBody>
      </p:sp>
      <p:sp>
        <p:nvSpPr>
          <p:cNvPr id="27659" name="Rectangle 10"/>
          <p:cNvSpPr>
            <a:spLocks noChangeArrowheads="1"/>
          </p:cNvSpPr>
          <p:nvPr/>
        </p:nvSpPr>
        <p:spPr bwMode="auto">
          <a:xfrm>
            <a:off x="366712" y="1860437"/>
            <a:ext cx="854868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sz="2400" baseline="0" dirty="0">
                <a:latin typeface="Tw Cen MT" panose="020B0602020104020603" pitchFamily="34" charset="0"/>
              </a:rPr>
              <a:t>When </a:t>
            </a:r>
            <a:r>
              <a:rPr lang="en-US" sz="2400" i="1" baseline="0" dirty="0">
                <a:latin typeface="Tw Cen MT" panose="020B0602020104020603" pitchFamily="34" charset="0"/>
              </a:rPr>
              <a:t>n</a:t>
            </a:r>
            <a:r>
              <a:rPr lang="en-US" sz="2400" baseline="0" dirty="0">
                <a:latin typeface="Tw Cen MT" panose="020B0602020104020603" pitchFamily="34" charset="0"/>
              </a:rPr>
              <a:t> = 1, we have GF(</a:t>
            </a:r>
            <a:r>
              <a:rPr lang="en-US" sz="2400" i="1" baseline="0" dirty="0">
                <a:latin typeface="Tw Cen MT" panose="020B0602020104020603" pitchFamily="34" charset="0"/>
              </a:rPr>
              <a:t>p</a:t>
            </a:r>
            <a:r>
              <a:rPr lang="en-US" sz="2400" baseline="0" dirty="0">
                <a:latin typeface="Tw Cen MT" panose="020B0602020104020603" pitchFamily="34" charset="0"/>
              </a:rPr>
              <a:t>) field. This field can be the set </a:t>
            </a:r>
            <a:r>
              <a:rPr lang="en-US" sz="2400" baseline="0" dirty="0" err="1">
                <a:latin typeface="Tw Cen MT" panose="020B0602020104020603" pitchFamily="34" charset="0"/>
              </a:rPr>
              <a:t>Z</a:t>
            </a:r>
            <a:r>
              <a:rPr lang="en-US" sz="2400" i="1" baseline="-25000" dirty="0" err="1">
                <a:latin typeface="Tw Cen MT" panose="020B0602020104020603" pitchFamily="34" charset="0"/>
              </a:rPr>
              <a:t>p</a:t>
            </a:r>
            <a:r>
              <a:rPr lang="en-US" sz="2400" baseline="0" dirty="0">
                <a:latin typeface="Tw Cen MT" panose="020B0602020104020603" pitchFamily="34" charset="0"/>
              </a:rPr>
              <a:t>, {0, 1, …, p − 1}, with two arithmetic </a:t>
            </a:r>
            <a:r>
              <a:rPr lang="en-US" sz="2400" baseline="0" dirty="0" smtClean="0">
                <a:latin typeface="Tw Cen MT" panose="020B0602020104020603" pitchFamily="34" charset="0"/>
              </a:rPr>
              <a:t>operations (addition and multiplication).</a:t>
            </a:r>
          </a:p>
          <a:p>
            <a:pPr algn="just" eaLnBrk="1" hangingPunct="1"/>
            <a:endParaRPr lang="en-US" sz="2400" dirty="0">
              <a:latin typeface="Tw Cen MT" panose="020B0602020104020603" pitchFamily="34" charset="0"/>
            </a:endParaRPr>
          </a:p>
          <a:p>
            <a:pPr algn="just" eaLnBrk="1" hangingPunct="1"/>
            <a:r>
              <a:rPr lang="en-US" sz="2400" baseline="0" dirty="0" smtClean="0">
                <a:latin typeface="Tw Cen MT" panose="020B0602020104020603" pitchFamily="34" charset="0"/>
              </a:rPr>
              <a:t>Note that each element in this set has an additive inverse and that nonzero elements have a multiplicative</a:t>
            </a:r>
            <a:r>
              <a:rPr lang="en-US" sz="2400" dirty="0" smtClean="0">
                <a:latin typeface="Tw Cen MT" panose="020B0602020104020603" pitchFamily="34" charset="0"/>
              </a:rPr>
              <a:t> inverse (no multiplicative inverse for 0)</a:t>
            </a:r>
            <a:endParaRPr lang="en-US" sz="2400" baseline="0" dirty="0">
              <a:latin typeface="Tw Cen MT" panose="020B0602020104020603" pitchFamily="34" charset="0"/>
            </a:endParaRPr>
          </a:p>
        </p:txBody>
      </p:sp>
      <p:sp>
        <p:nvSpPr>
          <p:cNvPr id="27660" name="Text Box 11"/>
          <p:cNvSpPr txBox="1">
            <a:spLocks noChangeArrowheads="1"/>
          </p:cNvSpPr>
          <p:nvPr/>
        </p:nvSpPr>
        <p:spPr bwMode="auto">
          <a:xfrm>
            <a:off x="239713" y="1187794"/>
            <a:ext cx="17155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GF(</a:t>
            </a:r>
            <a:r>
              <a:rPr lang="en-US" i="1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p</a:t>
            </a:r>
            <a:r>
              <a:rPr lang="en-US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) Fields</a:t>
            </a:r>
          </a:p>
        </p:txBody>
      </p:sp>
    </p:spTree>
    <p:extLst>
      <p:ext uri="{BB962C8B-B14F-4D97-AF65-F5344CB8AC3E}">
        <p14:creationId xmlns:p14="http://schemas.microsoft.com/office/powerpoint/2010/main" val="415107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3" name="Text Box 10"/>
          <p:cNvSpPr txBox="1">
            <a:spLocks noChangeArrowheads="1"/>
          </p:cNvSpPr>
          <p:nvPr/>
        </p:nvSpPr>
        <p:spPr bwMode="auto">
          <a:xfrm>
            <a:off x="1066800" y="533400"/>
            <a:ext cx="1346844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aseline="0" dirty="0" smtClean="0">
                <a:solidFill>
                  <a:schemeClr val="bg1"/>
                </a:solidFill>
              </a:rPr>
              <a:t>Example</a:t>
            </a:r>
            <a:endParaRPr lang="en-US" sz="2000" i="1" baseline="0" dirty="0">
              <a:solidFill>
                <a:schemeClr val="bg1"/>
              </a:solidFill>
            </a:endParaRPr>
          </a:p>
        </p:txBody>
      </p:sp>
      <p:sp>
        <p:nvSpPr>
          <p:cNvPr id="28684" name="Rectangle 11"/>
          <p:cNvSpPr>
            <a:spLocks noChangeArrowheads="1"/>
          </p:cNvSpPr>
          <p:nvPr/>
        </p:nvSpPr>
        <p:spPr bwMode="auto">
          <a:xfrm>
            <a:off x="304800" y="1228899"/>
            <a:ext cx="8839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3200" baseline="0" dirty="0">
                <a:latin typeface="Tw Cen MT" panose="020B0602020104020603" pitchFamily="34" charset="0"/>
              </a:rPr>
              <a:t>A very common field in this category is GF(2) with the set {0, 1} and two operations, addition and multiplication, as shown in </a:t>
            </a:r>
            <a:r>
              <a:rPr lang="en-US" sz="3200" baseline="0" dirty="0" smtClean="0">
                <a:latin typeface="Tw Cen MT" panose="020B0602020104020603" pitchFamily="34" charset="0"/>
              </a:rPr>
              <a:t>Figure.</a:t>
            </a:r>
            <a:endParaRPr lang="en-US" sz="3200" baseline="0" dirty="0">
              <a:latin typeface="Tw Cen MT" panose="020B0602020104020603" pitchFamily="34" charset="0"/>
            </a:endParaRPr>
          </a:p>
        </p:txBody>
      </p:sp>
      <p:pic>
        <p:nvPicPr>
          <p:cNvPr id="28685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24" y="4377592"/>
            <a:ext cx="8656637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6" name="Text Box 13"/>
          <p:cNvSpPr txBox="1">
            <a:spLocks noChangeArrowheads="1"/>
          </p:cNvSpPr>
          <p:nvPr/>
        </p:nvSpPr>
        <p:spPr bwMode="auto">
          <a:xfrm>
            <a:off x="384712" y="3284806"/>
            <a:ext cx="23246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4000" i="1" baseline="0" dirty="0" smtClean="0">
                <a:latin typeface="Tw Cen MT" panose="020B0602020104020603" pitchFamily="34" charset="0"/>
              </a:rPr>
              <a:t>GF(2</a:t>
            </a:r>
            <a:r>
              <a:rPr lang="en-US" sz="4000" i="1" baseline="0" dirty="0">
                <a:latin typeface="Tw Cen MT" panose="020B0602020104020603" pitchFamily="34" charset="0"/>
              </a:rPr>
              <a:t>) field</a:t>
            </a:r>
          </a:p>
        </p:txBody>
      </p:sp>
    </p:spTree>
    <p:extLst>
      <p:ext uri="{BB962C8B-B14F-4D97-AF65-F5344CB8AC3E}">
        <p14:creationId xmlns:p14="http://schemas.microsoft.com/office/powerpoint/2010/main" val="309069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6" name="Text Box 9"/>
          <p:cNvSpPr txBox="1">
            <a:spLocks noChangeArrowheads="1"/>
          </p:cNvSpPr>
          <p:nvPr/>
        </p:nvSpPr>
        <p:spPr bwMode="auto">
          <a:xfrm>
            <a:off x="116059" y="196948"/>
            <a:ext cx="22525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aseline="0" dirty="0" smtClean="0">
                <a:solidFill>
                  <a:schemeClr val="hlink"/>
                </a:solidFill>
                <a:latin typeface="Tw Cen MT" panose="020B0602020104020603" pitchFamily="34" charset="0"/>
              </a:rPr>
              <a:t>   </a:t>
            </a:r>
            <a:r>
              <a:rPr lang="en-US" sz="3200" baseline="0" dirty="0">
                <a:latin typeface="Tw Cen MT" panose="020B0602020104020603" pitchFamily="34" charset="0"/>
              </a:rPr>
              <a:t>Continued</a:t>
            </a:r>
          </a:p>
        </p:txBody>
      </p:sp>
      <p:sp>
        <p:nvSpPr>
          <p:cNvPr id="29707" name="Text Box 10"/>
          <p:cNvSpPr txBox="1">
            <a:spLocks noChangeArrowheads="1"/>
          </p:cNvSpPr>
          <p:nvPr/>
        </p:nvSpPr>
        <p:spPr bwMode="auto">
          <a:xfrm>
            <a:off x="504092" y="814754"/>
            <a:ext cx="1346844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aseline="0" dirty="0" smtClean="0">
                <a:solidFill>
                  <a:schemeClr val="bg1"/>
                </a:solidFill>
              </a:rPr>
              <a:t>Example</a:t>
            </a:r>
            <a:endParaRPr lang="en-US" sz="2000" i="1" baseline="0" dirty="0">
              <a:solidFill>
                <a:schemeClr val="bg1"/>
              </a:solidFill>
            </a:endParaRPr>
          </a:p>
        </p:txBody>
      </p:sp>
      <p:sp>
        <p:nvSpPr>
          <p:cNvPr id="29708" name="Rectangle 11"/>
          <p:cNvSpPr>
            <a:spLocks noChangeArrowheads="1"/>
          </p:cNvSpPr>
          <p:nvPr/>
        </p:nvSpPr>
        <p:spPr bwMode="auto">
          <a:xfrm>
            <a:off x="295422" y="1479547"/>
            <a:ext cx="853908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We can define GF(5) on the set Z</a:t>
            </a:r>
            <a:r>
              <a:rPr lang="en-US" sz="2400" baseline="-25000" dirty="0">
                <a:latin typeface="Tw Cen MT" panose="020B0602020104020603" pitchFamily="34" charset="0"/>
              </a:rPr>
              <a:t>5</a:t>
            </a:r>
            <a:r>
              <a:rPr lang="en-US" sz="2400" baseline="0" dirty="0">
                <a:latin typeface="Tw Cen MT" panose="020B0602020104020603" pitchFamily="34" charset="0"/>
              </a:rPr>
              <a:t> (5 is a prime) with addition and multiplication operators as shown in </a:t>
            </a:r>
            <a:r>
              <a:rPr lang="en-US" sz="2400" baseline="0" dirty="0" smtClean="0">
                <a:latin typeface="Tw Cen MT" panose="020B0602020104020603" pitchFamily="34" charset="0"/>
              </a:rPr>
              <a:t>Figure.</a:t>
            </a:r>
            <a:endParaRPr lang="en-US" sz="2400" baseline="0" dirty="0">
              <a:latin typeface="Tw Cen MT" panose="020B0602020104020603" pitchFamily="34" charset="0"/>
            </a:endParaRPr>
          </a:p>
        </p:txBody>
      </p:sp>
      <p:pic>
        <p:nvPicPr>
          <p:cNvPr id="29709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" y="3793587"/>
            <a:ext cx="8948738" cy="20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0" name="Text Box 15"/>
          <p:cNvSpPr txBox="1">
            <a:spLocks noChangeArrowheads="1"/>
          </p:cNvSpPr>
          <p:nvPr/>
        </p:nvSpPr>
        <p:spPr bwMode="auto">
          <a:xfrm>
            <a:off x="3111500" y="2895600"/>
            <a:ext cx="2518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Figure </a:t>
            </a:r>
            <a:r>
              <a:rPr lang="en-US" baseline="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  </a:t>
            </a:r>
            <a:r>
              <a:rPr lang="en-US" i="1" baseline="0" dirty="0">
                <a:latin typeface="Tw Cen MT" panose="020B0602020104020603" pitchFamily="34" charset="0"/>
              </a:rPr>
              <a:t>GF(5) field</a:t>
            </a:r>
          </a:p>
        </p:txBody>
      </p:sp>
    </p:spTree>
    <p:extLst>
      <p:ext uri="{BB962C8B-B14F-4D97-AF65-F5344CB8AC3E}">
        <p14:creationId xmlns:p14="http://schemas.microsoft.com/office/powerpoint/2010/main" val="151922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567444" y="339781"/>
            <a:ext cx="1939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Tw Cen MT" panose="020B0602020104020603" pitchFamily="34" charset="0"/>
              </a:rPr>
              <a:t>Field</a:t>
            </a:r>
            <a:endParaRPr lang="en-US" sz="3200" b="1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0847" y="1179479"/>
            <a:ext cx="83729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solidFill>
                  <a:schemeClr val="bg1"/>
                </a:solidFill>
                <a:latin typeface="Tw Cen MT" panose="020B0602020104020603" pitchFamily="34" charset="0"/>
              </a:rPr>
              <a:t>Field</a:t>
            </a:r>
            <a:r>
              <a:rPr lang="en-US" sz="2400" dirty="0">
                <a:solidFill>
                  <a:schemeClr val="bg1"/>
                </a:solidFill>
                <a:latin typeface="Tw Cen MT" panose="020B0602020104020603" pitchFamily="34" charset="0"/>
              </a:rPr>
              <a:t>: An integral domain in which each element has a multiplicative inverse.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736" y="2024942"/>
            <a:ext cx="6115155" cy="3847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287111" y="421666"/>
            <a:ext cx="2503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Tw Cen MT" panose="020B0602020104020603" pitchFamily="34" charset="0"/>
              </a:rPr>
              <a:t>Finite Field</a:t>
            </a:r>
            <a:endParaRPr lang="en-US" sz="3200" b="1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0868" y="1001164"/>
            <a:ext cx="8052180" cy="5572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63CE8"/>
                </a:solidFill>
                <a:latin typeface="Tw Cen MT" panose="020B0602020104020603" pitchFamily="34" charset="0"/>
              </a:rPr>
              <a:t>Finite </a:t>
            </a:r>
            <a:r>
              <a:rPr lang="en-US" sz="2400" b="1" dirty="0">
                <a:solidFill>
                  <a:srgbClr val="063CE8"/>
                </a:solidFill>
                <a:latin typeface="Tw Cen MT" panose="020B0602020104020603" pitchFamily="34" charset="0"/>
              </a:rPr>
              <a:t>Field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: A field with finite number of elements 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Also 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known as </a:t>
            </a:r>
            <a:r>
              <a:rPr lang="en-US" sz="2400" b="1" dirty="0">
                <a:solidFill>
                  <a:srgbClr val="063CE8"/>
                </a:solidFill>
                <a:latin typeface="Tw Cen MT" panose="020B0602020104020603" pitchFamily="34" charset="0"/>
              </a:rPr>
              <a:t>Galois Field </a:t>
            </a:r>
            <a:endParaRPr lang="en-US" sz="2400" dirty="0">
              <a:solidFill>
                <a:srgbClr val="063CE8"/>
              </a:solidFill>
              <a:latin typeface="Tw Cen MT" panose="020B0602020104020603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number of elements is always a power of a prime number. Hence, denoted as GF(</a:t>
            </a:r>
            <a:r>
              <a:rPr lang="en-US" sz="2400" i="1" dirty="0" err="1">
                <a:solidFill>
                  <a:srgbClr val="000000"/>
                </a:solidFill>
                <a:latin typeface="Tw Cen MT" panose="020B0602020104020603" pitchFamily="34" charset="0"/>
              </a:rPr>
              <a:t>p</a:t>
            </a:r>
            <a:r>
              <a:rPr lang="en-US" sz="2400" i="1" baseline="30000" dirty="0" err="1">
                <a:solidFill>
                  <a:srgbClr val="000000"/>
                </a:solidFill>
                <a:latin typeface="Tw Cen MT" panose="020B0602020104020603" pitchFamily="34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) 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GF(</a:t>
            </a:r>
            <a:r>
              <a:rPr lang="en-US" sz="2400" i="1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p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) is the set of integers {</a:t>
            </a:r>
            <a:r>
              <a:rPr lang="en-US" sz="2400" i="1" dirty="0">
                <a:solidFill>
                  <a:srgbClr val="000000"/>
                </a:solidFill>
                <a:latin typeface="Tw Cen MT" panose="020B0602020104020603" pitchFamily="34" charset="0"/>
              </a:rPr>
              <a:t>0,1, … , p-1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} with arithmetic operations modulo prime </a:t>
            </a:r>
            <a:r>
              <a:rPr lang="en-US" sz="2400" i="1" dirty="0">
                <a:solidFill>
                  <a:srgbClr val="000000"/>
                </a:solidFill>
                <a:latin typeface="Tw Cen MT" panose="020B0602020104020603" pitchFamily="34" charset="0"/>
              </a:rPr>
              <a:t>p </a:t>
            </a:r>
            <a:endParaRPr lang="en-US" sz="2400" dirty="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Can 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do addition, subtraction, multiplication, and division without leaving the field GF(</a:t>
            </a:r>
            <a:r>
              <a:rPr lang="en-US" sz="2400" i="1" dirty="0">
                <a:solidFill>
                  <a:srgbClr val="000000"/>
                </a:solidFill>
                <a:latin typeface="Tw Cen MT" panose="020B0602020104020603" pitchFamily="34" charset="0"/>
              </a:rPr>
              <a:t>p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) 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GF(2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) = Mod 2 arithmetic GF(8) = Mod 8 arithmetic 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w Cen MT" panose="020B0602020104020603" pitchFamily="34" charset="0"/>
              </a:rPr>
              <a:t>There </a:t>
            </a:r>
            <a:r>
              <a:rPr lang="en-US" sz="2400" dirty="0">
                <a:solidFill>
                  <a:srgbClr val="000000"/>
                </a:solidFill>
                <a:latin typeface="Tw Cen MT" panose="020B0602020104020603" pitchFamily="34" charset="0"/>
              </a:rPr>
              <a:t>is no GF(6) since 6 is not a power of a prime.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1066800" y="533400"/>
            <a:ext cx="1468672" cy="461665"/>
          </a:xfrm>
          <a:prstGeom prst="rect">
            <a:avLst/>
          </a:prstGeom>
          <a:solidFill>
            <a:srgbClr val="3333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Example 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52400" y="1143000"/>
            <a:ext cx="88392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 very common field in this category is GF(2) with the set {0, 1} and two operations, addition and multiplication, as shown in Figure.</a:t>
            </a:r>
          </a:p>
        </p:txBody>
      </p:sp>
      <p:pic>
        <p:nvPicPr>
          <p:cNvPr id="18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763" y="4025900"/>
            <a:ext cx="8656637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959100" y="3200400"/>
            <a:ext cx="2767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Figure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GF(2) field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1066800" y="533400"/>
            <a:ext cx="1468672" cy="461665"/>
          </a:xfrm>
          <a:prstGeom prst="rect">
            <a:avLst/>
          </a:prstGeom>
          <a:solidFill>
            <a:srgbClr val="3333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Example 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152400" y="1371600"/>
            <a:ext cx="88392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 can define GF(5) on the set Z</a:t>
            </a:r>
            <a:r>
              <a:rPr kumimoji="0" lang="en-US" sz="1800" b="0" i="0" u="none" strike="noStrike" kern="0" cap="none" spc="0" normalizeH="0" baseline="-25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5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(5 is a prime) with addition and multiplication operators as shown in Figure.</a:t>
            </a:r>
          </a:p>
        </p:txBody>
      </p:sp>
      <p:pic>
        <p:nvPicPr>
          <p:cNvPr id="10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962400"/>
            <a:ext cx="8948738" cy="201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3111500" y="2895600"/>
            <a:ext cx="21771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Figure 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GF(5) field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625969" y="1637934"/>
            <a:ext cx="502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w Cen MT" panose="020B0602020104020603" pitchFamily="34" charset="0"/>
              </a:rPr>
              <a:t>Table </a:t>
            </a:r>
            <a:r>
              <a:rPr kumimoji="0" lang="en-US" sz="2800" b="0" i="0" u="none" strike="noStrike" kern="0" cap="none" spc="0" normalizeH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w Cen MT" panose="020B0602020104020603" pitchFamily="34" charset="0"/>
              </a:rPr>
              <a:t>    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 pitchFamily="34" charset="0"/>
              </a:rPr>
              <a:t>Summary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188" y="2524125"/>
            <a:ext cx="8812212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3" name="Text Box 3"/>
          <p:cNvSpPr txBox="1">
            <a:spLocks noChangeArrowheads="1"/>
          </p:cNvSpPr>
          <p:nvPr/>
        </p:nvSpPr>
        <p:spPr bwMode="auto">
          <a:xfrm>
            <a:off x="591207" y="422165"/>
            <a:ext cx="26003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aseline="0" dirty="0" smtClean="0">
                <a:solidFill>
                  <a:srgbClr val="0000FF"/>
                </a:solidFill>
                <a:latin typeface="Gill Sans MT" pitchFamily="34" charset="0"/>
              </a:rPr>
              <a:t>GF(2</a:t>
            </a:r>
            <a:r>
              <a:rPr lang="en-US" sz="3200" baseline="30000" dirty="0" smtClean="0">
                <a:solidFill>
                  <a:srgbClr val="0000FF"/>
                </a:solidFill>
                <a:latin typeface="Gill Sans MT" pitchFamily="34" charset="0"/>
              </a:rPr>
              <a:t>n</a:t>
            </a:r>
            <a:r>
              <a:rPr lang="en-US" sz="3200" baseline="0" dirty="0">
                <a:solidFill>
                  <a:srgbClr val="0000FF"/>
                </a:solidFill>
                <a:latin typeface="Gill Sans MT" pitchFamily="34" charset="0"/>
              </a:rPr>
              <a:t>) FIELDS</a:t>
            </a: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800" baseline="0"/>
          </a:p>
        </p:txBody>
      </p:sp>
      <p:sp>
        <p:nvSpPr>
          <p:cNvPr id="1105925" name="Rectangle 5"/>
          <p:cNvSpPr>
            <a:spLocks noChangeArrowheads="1"/>
          </p:cNvSpPr>
          <p:nvPr/>
        </p:nvSpPr>
        <p:spPr bwMode="auto">
          <a:xfrm>
            <a:off x="304800" y="1061006"/>
            <a:ext cx="82296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baseline="0" dirty="0">
                <a:latin typeface="Gill Sans MT" pitchFamily="34" charset="0"/>
              </a:rPr>
              <a:t>In cryptography, we often need to use four operations (addition, subtraction, multiplication, and division). </a:t>
            </a:r>
            <a:r>
              <a:rPr lang="en-US" sz="2400" baseline="0" dirty="0" smtClean="0">
                <a:latin typeface="Gill Sans MT" pitchFamily="34" charset="0"/>
              </a:rPr>
              <a:t>i.e., we need to use fields. However, </a:t>
            </a:r>
            <a:r>
              <a:rPr lang="en-US" sz="2400" dirty="0" smtClean="0">
                <a:latin typeface="Gill Sans MT" pitchFamily="34" charset="0"/>
              </a:rPr>
              <a:t>in computers positive integers are stored as n-bit words  (0- 2</a:t>
            </a:r>
            <a:r>
              <a:rPr lang="en-US" sz="2400" baseline="30000" dirty="0" smtClean="0">
                <a:latin typeface="Gill Sans MT" pitchFamily="34" charset="0"/>
              </a:rPr>
              <a:t>n-1</a:t>
            </a:r>
            <a:r>
              <a:rPr lang="en-US" sz="2400" dirty="0" smtClean="0">
                <a:latin typeface="Gill Sans MT" pitchFamily="34" charset="0"/>
              </a:rPr>
              <a:t>, modulus is 2</a:t>
            </a:r>
            <a:r>
              <a:rPr lang="en-US" sz="2400" baseline="30000" dirty="0" smtClean="0">
                <a:latin typeface="Gill Sans MT" pitchFamily="34" charset="0"/>
              </a:rPr>
              <a:t>n</a:t>
            </a:r>
            <a:r>
              <a:rPr lang="en-US" sz="2400" dirty="0" smtClean="0">
                <a:latin typeface="Gill Sans MT" pitchFamily="34" charset="0"/>
              </a:rPr>
              <a:t> . </a:t>
            </a:r>
            <a:r>
              <a:rPr lang="en-US" sz="2400" baseline="0" dirty="0" smtClean="0">
                <a:latin typeface="Gill Sans MT" pitchFamily="34" charset="0"/>
              </a:rPr>
              <a:t>We </a:t>
            </a:r>
            <a:r>
              <a:rPr lang="en-US" sz="2400" baseline="0" dirty="0">
                <a:latin typeface="Gill Sans MT" pitchFamily="34" charset="0"/>
              </a:rPr>
              <a:t>can work in GF(2</a:t>
            </a:r>
            <a:r>
              <a:rPr lang="en-US" sz="2400" baseline="30000" dirty="0">
                <a:latin typeface="Gill Sans MT" pitchFamily="34" charset="0"/>
              </a:rPr>
              <a:t>n</a:t>
            </a:r>
            <a:r>
              <a:rPr lang="en-US" sz="2400" baseline="0" dirty="0">
                <a:latin typeface="Gill Sans MT" pitchFamily="34" charset="0"/>
              </a:rPr>
              <a:t>) and uses a set of 2</a:t>
            </a:r>
            <a:r>
              <a:rPr lang="en-US" sz="2400" baseline="30000" dirty="0">
                <a:latin typeface="Gill Sans MT" pitchFamily="34" charset="0"/>
              </a:rPr>
              <a:t>n</a:t>
            </a:r>
            <a:r>
              <a:rPr lang="en-US" sz="2400" baseline="0" dirty="0">
                <a:latin typeface="Gill Sans MT" pitchFamily="34" charset="0"/>
              </a:rPr>
              <a:t> elements. The elements in this set are n-bit words. </a:t>
            </a:r>
          </a:p>
        </p:txBody>
      </p:sp>
      <p:sp>
        <p:nvSpPr>
          <p:cNvPr id="31751" name="Rectangle 10"/>
          <p:cNvSpPr>
            <a:spLocks noChangeArrowheads="1"/>
          </p:cNvSpPr>
          <p:nvPr/>
        </p:nvSpPr>
        <p:spPr bwMode="auto">
          <a:xfrm>
            <a:off x="785649" y="4561709"/>
            <a:ext cx="6705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Arial Unicode MS" pitchFamily="34" charset="-128"/>
              <a:buNone/>
            </a:pPr>
            <a:r>
              <a:rPr lang="en-US" sz="2400" baseline="0" dirty="0" smtClean="0">
                <a:solidFill>
                  <a:schemeClr val="hlink"/>
                </a:solidFill>
                <a:latin typeface="Gill Sans MT" pitchFamily="34" charset="0"/>
              </a:rPr>
              <a:t>1 </a:t>
            </a:r>
            <a:r>
              <a:rPr lang="en-US" sz="2400" baseline="0" dirty="0" smtClean="0">
                <a:solidFill>
                  <a:srgbClr val="0033CC"/>
                </a:solidFill>
                <a:latin typeface="Gill Sans MT" pitchFamily="34" charset="0"/>
              </a:rPr>
              <a:t>  </a:t>
            </a:r>
            <a:r>
              <a:rPr lang="en-US" sz="2400" baseline="0" dirty="0">
                <a:solidFill>
                  <a:srgbClr val="0033CC"/>
                </a:solidFill>
                <a:latin typeface="Gill Sans MT" pitchFamily="34" charset="0"/>
              </a:rPr>
              <a:t>Polynomials</a:t>
            </a:r>
            <a: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  <a:t/>
            </a:r>
            <a:b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</a:br>
            <a:r>
              <a:rPr lang="fr-FR" sz="2400" baseline="0" dirty="0" smtClean="0">
                <a:solidFill>
                  <a:schemeClr val="hlink"/>
                </a:solidFill>
                <a:latin typeface="Gill Sans MT" pitchFamily="34" charset="0"/>
              </a:rPr>
              <a:t>2</a:t>
            </a:r>
            <a:r>
              <a:rPr lang="fr-FR" sz="2400" baseline="0" dirty="0" smtClean="0">
                <a:solidFill>
                  <a:srgbClr val="0033CC"/>
                </a:solidFill>
                <a:latin typeface="Gill Sans MT" pitchFamily="34" charset="0"/>
              </a:rPr>
              <a:t>   </a:t>
            </a:r>
            <a:r>
              <a:rPr lang="fr-FR" sz="2400" baseline="0" dirty="0" err="1">
                <a:solidFill>
                  <a:srgbClr val="0033CC"/>
                </a:solidFill>
                <a:latin typeface="Gill Sans MT" pitchFamily="34" charset="0"/>
              </a:rPr>
              <a:t>Using</a:t>
            </a:r>
            <a: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  <a:t> A </a:t>
            </a:r>
            <a:r>
              <a:rPr lang="fr-FR" sz="2400" baseline="0" dirty="0" err="1">
                <a:solidFill>
                  <a:srgbClr val="0033CC"/>
                </a:solidFill>
                <a:latin typeface="Gill Sans MT" pitchFamily="34" charset="0"/>
              </a:rPr>
              <a:t>Generator</a:t>
            </a:r>
            <a: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  <a:t/>
            </a:r>
            <a:b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</a:br>
            <a:r>
              <a:rPr lang="fr-FR" sz="2400" baseline="0" dirty="0" smtClean="0">
                <a:solidFill>
                  <a:schemeClr val="hlink"/>
                </a:solidFill>
                <a:latin typeface="Gill Sans MT" pitchFamily="34" charset="0"/>
              </a:rPr>
              <a:t>3</a:t>
            </a:r>
            <a:r>
              <a:rPr lang="fr-FR" sz="2400" baseline="0" dirty="0" smtClean="0">
                <a:solidFill>
                  <a:srgbClr val="0033CC"/>
                </a:solidFill>
                <a:latin typeface="Gill Sans MT" pitchFamily="34" charset="0"/>
              </a:rPr>
              <a:t>   </a:t>
            </a:r>
            <a:r>
              <a:rPr lang="fr-FR" sz="2400" baseline="0" dirty="0" err="1">
                <a:solidFill>
                  <a:srgbClr val="0033CC"/>
                </a:solidFill>
                <a:latin typeface="Gill Sans MT" pitchFamily="34" charset="0"/>
              </a:rPr>
              <a:t>Summary</a:t>
            </a:r>
            <a:endParaRPr lang="en-US" sz="2400" baseline="0" dirty="0">
              <a:solidFill>
                <a:srgbClr val="0033CC"/>
              </a:solidFill>
              <a:latin typeface="Gill Sans MT" pitchFamily="34" charset="0"/>
            </a:endParaRPr>
          </a:p>
        </p:txBody>
      </p:sp>
      <p:sp>
        <p:nvSpPr>
          <p:cNvPr id="1105931" name="Text Box 11"/>
          <p:cNvSpPr txBox="1">
            <a:spLocks noChangeArrowheads="1"/>
          </p:cNvSpPr>
          <p:nvPr/>
        </p:nvSpPr>
        <p:spPr bwMode="auto">
          <a:xfrm>
            <a:off x="785649" y="3757448"/>
            <a:ext cx="3038331" cy="461665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u="sng" baseline="0" dirty="0">
                <a:solidFill>
                  <a:schemeClr val="hlink"/>
                </a:solidFill>
                <a:latin typeface="Gill Sans MT" pitchFamily="34" charset="0"/>
              </a:rPr>
              <a:t>Topics </a:t>
            </a:r>
            <a:r>
              <a:rPr lang="en-US" sz="2400" u="sng" baseline="0" dirty="0" smtClean="0">
                <a:solidFill>
                  <a:schemeClr val="hlink"/>
                </a:solidFill>
                <a:latin typeface="Gill Sans MT" pitchFamily="34" charset="0"/>
              </a:rPr>
              <a:t>to be discussed:</a:t>
            </a:r>
            <a:endParaRPr lang="en-US" sz="2400" u="sng" baseline="0" dirty="0">
              <a:solidFill>
                <a:schemeClr val="hlink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3" name="Text Box 3"/>
          <p:cNvSpPr txBox="1">
            <a:spLocks noChangeArrowheads="1"/>
          </p:cNvSpPr>
          <p:nvPr/>
        </p:nvSpPr>
        <p:spPr bwMode="auto">
          <a:xfrm>
            <a:off x="591207" y="422165"/>
            <a:ext cx="26003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aseline="0" dirty="0" smtClean="0">
                <a:solidFill>
                  <a:srgbClr val="0000FF"/>
                </a:solidFill>
                <a:latin typeface="Gill Sans MT" pitchFamily="34" charset="0"/>
              </a:rPr>
              <a:t>GF(2</a:t>
            </a:r>
            <a:r>
              <a:rPr lang="en-US" sz="3200" baseline="30000" dirty="0" smtClean="0">
                <a:solidFill>
                  <a:srgbClr val="0000FF"/>
                </a:solidFill>
                <a:latin typeface="Gill Sans MT" pitchFamily="34" charset="0"/>
              </a:rPr>
              <a:t>n</a:t>
            </a:r>
            <a:r>
              <a:rPr lang="en-US" sz="3200" baseline="0" dirty="0">
                <a:solidFill>
                  <a:srgbClr val="0000FF"/>
                </a:solidFill>
                <a:latin typeface="Gill Sans MT" pitchFamily="34" charset="0"/>
              </a:rPr>
              <a:t>) FIELDS</a:t>
            </a: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800" baseline="0"/>
          </a:p>
        </p:txBody>
      </p:sp>
      <p:sp>
        <p:nvSpPr>
          <p:cNvPr id="1105925" name="Rectangle 5"/>
          <p:cNvSpPr>
            <a:spLocks noChangeArrowheads="1"/>
          </p:cNvSpPr>
          <p:nvPr/>
        </p:nvSpPr>
        <p:spPr bwMode="auto">
          <a:xfrm>
            <a:off x="304800" y="932513"/>
            <a:ext cx="82296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dirty="0" smtClean="0">
                <a:latin typeface="Gill Sans MT" pitchFamily="34" charset="0"/>
              </a:rPr>
              <a:t>If we want fields, we have two choices:</a:t>
            </a:r>
          </a:p>
          <a:p>
            <a:pPr marL="457200" indent="-457200" algn="just" eaLnBrk="1" hangingPunct="1">
              <a:buAutoNum type="arabicPeriod"/>
              <a:defRPr/>
            </a:pPr>
            <a:r>
              <a:rPr lang="en-US" sz="2400" dirty="0" smtClean="0">
                <a:latin typeface="Gill Sans MT" pitchFamily="34" charset="0"/>
              </a:rPr>
              <a:t>Use GF(p) but  where 2</a:t>
            </a:r>
            <a:r>
              <a:rPr lang="en-US" sz="2400" baseline="30000" dirty="0" smtClean="0">
                <a:latin typeface="Gill Sans MT" pitchFamily="34" charset="0"/>
              </a:rPr>
              <a:t>n-1</a:t>
            </a:r>
            <a:r>
              <a:rPr lang="en-US" sz="2400" dirty="0" smtClean="0">
                <a:latin typeface="Gill Sans MT" pitchFamily="34" charset="0"/>
              </a:rPr>
              <a:t>&lt;p  (many numbers unused)</a:t>
            </a:r>
          </a:p>
          <a:p>
            <a:pPr marL="457200" indent="-457200" algn="just" eaLnBrk="1" hangingPunct="1">
              <a:buAutoNum type="arabicPeriod"/>
              <a:defRPr/>
            </a:pPr>
            <a:r>
              <a:rPr lang="en-US" sz="2400" dirty="0" smtClean="0">
                <a:latin typeface="Gill Sans MT" pitchFamily="34" charset="0"/>
              </a:rPr>
              <a:t>We can use GF(2</a:t>
            </a:r>
            <a:r>
              <a:rPr lang="en-US" sz="2400" baseline="30000" dirty="0" smtClean="0">
                <a:latin typeface="Gill Sans MT" pitchFamily="34" charset="0"/>
              </a:rPr>
              <a:t>n-1</a:t>
            </a:r>
            <a:r>
              <a:rPr lang="en-US" sz="2400" dirty="0" smtClean="0">
                <a:latin typeface="Gill Sans MT" pitchFamily="34" charset="0"/>
              </a:rPr>
              <a:t>), however we cannot interpret each element as an integer (because regular four operations cannot be applied,   the modulus 2</a:t>
            </a:r>
            <a:r>
              <a:rPr lang="en-US" sz="2400" baseline="30000" dirty="0" smtClean="0">
                <a:latin typeface="Gill Sans MT" pitchFamily="34" charset="0"/>
              </a:rPr>
              <a:t>n</a:t>
            </a:r>
            <a:r>
              <a:rPr lang="en-US" sz="2400" dirty="0" smtClean="0">
                <a:latin typeface="Gill Sans MT" pitchFamily="34" charset="0"/>
              </a:rPr>
              <a:t> is not a prime), we need to define a set of </a:t>
            </a:r>
            <a:r>
              <a:rPr lang="en-US" sz="2400" dirty="0" smtClean="0">
                <a:solidFill>
                  <a:srgbClr val="FF0000"/>
                </a:solidFill>
                <a:latin typeface="Gill Sans MT" pitchFamily="34" charset="0"/>
              </a:rPr>
              <a:t>n-bit words </a:t>
            </a:r>
            <a:r>
              <a:rPr lang="en-US" sz="2400" dirty="0" smtClean="0">
                <a:latin typeface="Gill Sans MT" pitchFamily="34" charset="0"/>
              </a:rPr>
              <a:t>and </a:t>
            </a:r>
            <a:r>
              <a:rPr lang="en-US" sz="2400" dirty="0" smtClean="0">
                <a:solidFill>
                  <a:srgbClr val="FF0000"/>
                </a:solidFill>
                <a:latin typeface="Gill Sans MT" pitchFamily="34" charset="0"/>
              </a:rPr>
              <a:t>two new operations </a:t>
            </a:r>
            <a:r>
              <a:rPr lang="en-US" sz="2400" dirty="0" smtClean="0">
                <a:latin typeface="Gill Sans MT" pitchFamily="34" charset="0"/>
              </a:rPr>
              <a:t>that satisfies the properties defined for a field.</a:t>
            </a:r>
          </a:p>
          <a:p>
            <a:pPr marL="457200" indent="-457200" algn="just" eaLnBrk="1" hangingPunct="1">
              <a:buAutoNum type="arabicPeriod"/>
              <a:defRPr/>
            </a:pPr>
            <a:endParaRPr lang="en-US" sz="2400" baseline="0" dirty="0">
              <a:latin typeface="Gill Sans MT" pitchFamily="34" charset="0"/>
            </a:endParaRPr>
          </a:p>
        </p:txBody>
      </p:sp>
      <p:sp>
        <p:nvSpPr>
          <p:cNvPr id="31751" name="Rectangle 10"/>
          <p:cNvSpPr>
            <a:spLocks noChangeArrowheads="1"/>
          </p:cNvSpPr>
          <p:nvPr/>
        </p:nvSpPr>
        <p:spPr bwMode="auto">
          <a:xfrm>
            <a:off x="785649" y="4561709"/>
            <a:ext cx="6705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Arial Unicode MS" pitchFamily="34" charset="-128"/>
              <a:buNone/>
            </a:pPr>
            <a:r>
              <a:rPr lang="en-US" sz="2400" baseline="0" dirty="0" smtClean="0">
                <a:solidFill>
                  <a:schemeClr val="hlink"/>
                </a:solidFill>
                <a:latin typeface="Gill Sans MT" pitchFamily="34" charset="0"/>
              </a:rPr>
              <a:t>1 </a:t>
            </a:r>
            <a:r>
              <a:rPr lang="en-US" sz="2400" baseline="0" dirty="0" smtClean="0">
                <a:solidFill>
                  <a:srgbClr val="0033CC"/>
                </a:solidFill>
                <a:latin typeface="Gill Sans MT" pitchFamily="34" charset="0"/>
              </a:rPr>
              <a:t>  </a:t>
            </a:r>
            <a:r>
              <a:rPr lang="en-US" sz="2400" baseline="0" dirty="0">
                <a:solidFill>
                  <a:srgbClr val="0033CC"/>
                </a:solidFill>
                <a:latin typeface="Gill Sans MT" pitchFamily="34" charset="0"/>
              </a:rPr>
              <a:t>Polynomials</a:t>
            </a:r>
            <a: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  <a:t/>
            </a:r>
            <a:b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</a:br>
            <a:r>
              <a:rPr lang="fr-FR" sz="2400" baseline="0" dirty="0" smtClean="0">
                <a:solidFill>
                  <a:schemeClr val="hlink"/>
                </a:solidFill>
                <a:latin typeface="Gill Sans MT" pitchFamily="34" charset="0"/>
              </a:rPr>
              <a:t>2</a:t>
            </a:r>
            <a:r>
              <a:rPr lang="fr-FR" sz="2400" baseline="0" dirty="0" smtClean="0">
                <a:solidFill>
                  <a:srgbClr val="0033CC"/>
                </a:solidFill>
                <a:latin typeface="Gill Sans MT" pitchFamily="34" charset="0"/>
              </a:rPr>
              <a:t>   </a:t>
            </a:r>
            <a:r>
              <a:rPr lang="fr-FR" sz="2400" baseline="0" dirty="0" err="1">
                <a:solidFill>
                  <a:srgbClr val="0033CC"/>
                </a:solidFill>
                <a:latin typeface="Gill Sans MT" pitchFamily="34" charset="0"/>
              </a:rPr>
              <a:t>Using</a:t>
            </a:r>
            <a: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  <a:t> A </a:t>
            </a:r>
            <a:r>
              <a:rPr lang="fr-FR" sz="2400" baseline="0" dirty="0" err="1">
                <a:solidFill>
                  <a:srgbClr val="0033CC"/>
                </a:solidFill>
                <a:latin typeface="Gill Sans MT" pitchFamily="34" charset="0"/>
              </a:rPr>
              <a:t>Generator</a:t>
            </a:r>
            <a: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  <a:t/>
            </a:r>
            <a:br>
              <a:rPr lang="fr-FR" sz="2400" baseline="0" dirty="0">
                <a:solidFill>
                  <a:srgbClr val="0033CC"/>
                </a:solidFill>
                <a:latin typeface="Gill Sans MT" pitchFamily="34" charset="0"/>
              </a:rPr>
            </a:br>
            <a:r>
              <a:rPr lang="fr-FR" sz="2400" baseline="0" dirty="0" smtClean="0">
                <a:solidFill>
                  <a:schemeClr val="hlink"/>
                </a:solidFill>
                <a:latin typeface="Gill Sans MT" pitchFamily="34" charset="0"/>
              </a:rPr>
              <a:t>3</a:t>
            </a:r>
            <a:r>
              <a:rPr lang="fr-FR" sz="2400" baseline="0" dirty="0" smtClean="0">
                <a:solidFill>
                  <a:srgbClr val="0033CC"/>
                </a:solidFill>
                <a:latin typeface="Gill Sans MT" pitchFamily="34" charset="0"/>
              </a:rPr>
              <a:t>   </a:t>
            </a:r>
            <a:r>
              <a:rPr lang="fr-FR" sz="2400" baseline="0" dirty="0" err="1">
                <a:solidFill>
                  <a:srgbClr val="0033CC"/>
                </a:solidFill>
                <a:latin typeface="Gill Sans MT" pitchFamily="34" charset="0"/>
              </a:rPr>
              <a:t>Summary</a:t>
            </a:r>
            <a:endParaRPr lang="en-US" sz="2400" baseline="0" dirty="0">
              <a:solidFill>
                <a:srgbClr val="0033CC"/>
              </a:solidFill>
              <a:latin typeface="Gill Sans MT" pitchFamily="34" charset="0"/>
            </a:endParaRPr>
          </a:p>
        </p:txBody>
      </p:sp>
      <p:sp>
        <p:nvSpPr>
          <p:cNvPr id="1105931" name="Text Box 11"/>
          <p:cNvSpPr txBox="1">
            <a:spLocks noChangeArrowheads="1"/>
          </p:cNvSpPr>
          <p:nvPr/>
        </p:nvSpPr>
        <p:spPr bwMode="auto">
          <a:xfrm>
            <a:off x="785649" y="3757448"/>
            <a:ext cx="3038331" cy="461665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u="sng" baseline="0" dirty="0">
                <a:solidFill>
                  <a:schemeClr val="hlink"/>
                </a:solidFill>
                <a:latin typeface="Gill Sans MT" pitchFamily="34" charset="0"/>
              </a:rPr>
              <a:t>Topics </a:t>
            </a:r>
            <a:r>
              <a:rPr lang="en-US" sz="2400" u="sng" baseline="0" dirty="0" smtClean="0">
                <a:solidFill>
                  <a:schemeClr val="hlink"/>
                </a:solidFill>
                <a:latin typeface="Gill Sans MT" pitchFamily="34" charset="0"/>
              </a:rPr>
              <a:t>to be discussed:</a:t>
            </a:r>
            <a:endParaRPr lang="en-US" sz="2400" u="sng" baseline="0" dirty="0">
              <a:solidFill>
                <a:schemeClr val="hlink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14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128" name="Rectangle 16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2772" name="Text Box 9"/>
          <p:cNvSpPr txBox="1">
            <a:spLocks noChangeArrowheads="1"/>
          </p:cNvSpPr>
          <p:nvPr/>
        </p:nvSpPr>
        <p:spPr bwMode="auto">
          <a:xfrm>
            <a:off x="76200" y="30163"/>
            <a:ext cx="22333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i="1" baseline="0" dirty="0" smtClean="0">
                <a:solidFill>
                  <a:schemeClr val="hlink"/>
                </a:solidFill>
              </a:rPr>
              <a:t>   </a:t>
            </a:r>
            <a:r>
              <a:rPr lang="en-US" sz="3200" baseline="0" dirty="0">
                <a:latin typeface="Tw Cen MT" panose="020B0602020104020603" pitchFamily="34" charset="0"/>
              </a:rPr>
              <a:t>Continued</a:t>
            </a:r>
          </a:p>
        </p:txBody>
      </p:sp>
      <p:sp>
        <p:nvSpPr>
          <p:cNvPr id="32773" name="Text Box 10"/>
          <p:cNvSpPr txBox="1">
            <a:spLocks noChangeArrowheads="1"/>
          </p:cNvSpPr>
          <p:nvPr/>
        </p:nvSpPr>
        <p:spPr bwMode="auto">
          <a:xfrm>
            <a:off x="152400" y="1066800"/>
            <a:ext cx="1178528" cy="40011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Example </a:t>
            </a:r>
            <a:endParaRPr lang="en-US" sz="2000" i="1" baseline="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32774" name="Rectangle 11"/>
          <p:cNvSpPr>
            <a:spLocks noChangeArrowheads="1"/>
          </p:cNvSpPr>
          <p:nvPr/>
        </p:nvSpPr>
        <p:spPr bwMode="auto">
          <a:xfrm>
            <a:off x="152400" y="1358995"/>
            <a:ext cx="8839200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000" baseline="0" dirty="0">
                <a:latin typeface="Tw Cen MT" panose="020B0602020104020603" pitchFamily="34" charset="0"/>
              </a:rPr>
              <a:t>Let us define a GF(2</a:t>
            </a:r>
            <a:r>
              <a:rPr lang="en-US" sz="2000" baseline="30000" dirty="0">
                <a:latin typeface="Tw Cen MT" panose="020B0602020104020603" pitchFamily="34" charset="0"/>
              </a:rPr>
              <a:t>2</a:t>
            </a:r>
            <a:r>
              <a:rPr lang="en-US" sz="2000" baseline="0" dirty="0">
                <a:latin typeface="Tw Cen MT" panose="020B0602020104020603" pitchFamily="34" charset="0"/>
              </a:rPr>
              <a:t>) field in which the set has four 2-bit words: {00, 01, 10, 11}. We can redefine </a:t>
            </a:r>
            <a:r>
              <a:rPr lang="en-US" sz="2000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addition</a:t>
            </a:r>
            <a:r>
              <a:rPr lang="en-US" sz="2000" baseline="0" dirty="0">
                <a:latin typeface="Tw Cen MT" panose="020B0602020104020603" pitchFamily="34" charset="0"/>
              </a:rPr>
              <a:t> and </a:t>
            </a:r>
            <a:r>
              <a:rPr lang="en-US" sz="2000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multiplication</a:t>
            </a:r>
            <a:r>
              <a:rPr lang="en-US" sz="2000" baseline="0" dirty="0">
                <a:latin typeface="Tw Cen MT" panose="020B0602020104020603" pitchFamily="34" charset="0"/>
              </a:rPr>
              <a:t> for this field in such a way that all properties of these operations are satisfied, as shown in </a:t>
            </a:r>
            <a:r>
              <a:rPr lang="en-US" sz="2000" baseline="0" dirty="0" smtClean="0">
                <a:latin typeface="Tw Cen MT" panose="020B0602020104020603" pitchFamily="34" charset="0"/>
              </a:rPr>
              <a:t>Figure. (additive and multiplicative inverse,  </a:t>
            </a:r>
            <a:r>
              <a:rPr lang="en-US" sz="2000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addition and multiplication (except 00) are defined in terms of </a:t>
            </a:r>
            <a:r>
              <a:rPr lang="en-US" sz="2000" b="1" baseline="0" dirty="0" smtClean="0">
                <a:solidFill>
                  <a:srgbClr val="0000FF"/>
                </a:solidFill>
                <a:latin typeface="Tw Cen MT" panose="020B0602020104020603" pitchFamily="34" charset="0"/>
              </a:rPr>
              <a:t>polynomials.</a:t>
            </a:r>
            <a:endParaRPr lang="en-US" sz="2000" b="1" baseline="0" dirty="0">
              <a:solidFill>
                <a:srgbClr val="0000FF"/>
              </a:solidFill>
              <a:latin typeface="Tw Cen MT" panose="020B0602020104020603" pitchFamily="34" charset="0"/>
            </a:endParaRPr>
          </a:p>
        </p:txBody>
      </p:sp>
      <p:pic>
        <p:nvPicPr>
          <p:cNvPr id="32775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965670"/>
            <a:ext cx="3765550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Text Box 15"/>
          <p:cNvSpPr txBox="1">
            <a:spLocks noChangeArrowheads="1"/>
          </p:cNvSpPr>
          <p:nvPr/>
        </p:nvSpPr>
        <p:spPr bwMode="auto">
          <a:xfrm>
            <a:off x="2133600" y="3310880"/>
            <a:ext cx="37650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Figure </a:t>
            </a:r>
            <a:r>
              <a:rPr lang="en-US" sz="2000" baseline="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  </a:t>
            </a:r>
            <a:r>
              <a:rPr lang="en-US" sz="2000" i="1" baseline="0" dirty="0">
                <a:latin typeface="Tw Cen MT" panose="020B0602020104020603" pitchFamily="34" charset="0"/>
              </a:rPr>
              <a:t>An example of GF(2</a:t>
            </a:r>
            <a:r>
              <a:rPr lang="en-US" sz="2000" i="1" baseline="30000" dirty="0">
                <a:latin typeface="Tw Cen MT" panose="020B0602020104020603" pitchFamily="34" charset="0"/>
              </a:rPr>
              <a:t>2</a:t>
            </a:r>
            <a:r>
              <a:rPr lang="en-US" sz="2000" i="1" baseline="0" dirty="0">
                <a:latin typeface="Tw Cen MT" panose="020B0602020104020603" pitchFamily="34" charset="0"/>
              </a:rPr>
              <a:t>) field</a:t>
            </a:r>
          </a:p>
        </p:txBody>
      </p:sp>
    </p:spTree>
    <p:extLst>
      <p:ext uri="{BB962C8B-B14F-4D97-AF65-F5344CB8AC3E}">
        <p14:creationId xmlns:p14="http://schemas.microsoft.com/office/powerpoint/2010/main" val="73298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2" name="Text Box 9"/>
          <p:cNvSpPr txBox="1">
            <a:spLocks noChangeArrowheads="1"/>
          </p:cNvSpPr>
          <p:nvPr/>
        </p:nvSpPr>
        <p:spPr bwMode="auto">
          <a:xfrm>
            <a:off x="284871" y="351692"/>
            <a:ext cx="26340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i="1" baseline="0" dirty="0" smtClean="0">
                <a:solidFill>
                  <a:schemeClr val="hlink"/>
                </a:solidFill>
              </a:rPr>
              <a:t>   </a:t>
            </a:r>
            <a:r>
              <a:rPr lang="en-US" sz="3200" baseline="0" dirty="0">
                <a:solidFill>
                  <a:schemeClr val="hlink"/>
                </a:solidFill>
                <a:latin typeface="Tw Cen MT" panose="020B0602020104020603" pitchFamily="34" charset="0"/>
              </a:rPr>
              <a:t>Polynomials</a:t>
            </a:r>
          </a:p>
        </p:txBody>
      </p:sp>
      <p:sp>
        <p:nvSpPr>
          <p:cNvPr id="33803" name="Rectangle 10"/>
          <p:cNvSpPr>
            <a:spLocks noChangeArrowheads="1"/>
          </p:cNvSpPr>
          <p:nvPr/>
        </p:nvSpPr>
        <p:spPr bwMode="auto">
          <a:xfrm>
            <a:off x="231197" y="1410138"/>
            <a:ext cx="8839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sz="2400" baseline="0" dirty="0" smtClean="0">
                <a:latin typeface="Tw Cen MT" panose="020B0602020104020603" pitchFamily="34" charset="0"/>
              </a:rPr>
              <a:t>Although we </a:t>
            </a:r>
            <a:r>
              <a:rPr lang="en-US" sz="2400" dirty="0" smtClean="0">
                <a:latin typeface="Tw Cen MT" panose="020B0602020104020603" pitchFamily="34" charset="0"/>
              </a:rPr>
              <a:t>can directly define the rules for addition and multiplication operations on n-bit words that satisfy the properties in GF(2</a:t>
            </a:r>
            <a:r>
              <a:rPr lang="en-US" sz="2400" baseline="30000" dirty="0" smtClean="0">
                <a:latin typeface="Tw Cen MT" panose="020B0602020104020603" pitchFamily="34" charset="0"/>
              </a:rPr>
              <a:t>n</a:t>
            </a:r>
            <a:r>
              <a:rPr lang="en-US" sz="2400" dirty="0" smtClean="0">
                <a:latin typeface="Tw Cen MT" panose="020B0602020104020603" pitchFamily="34" charset="0"/>
              </a:rPr>
              <a:t>). It is easier to work with a representation of  n-bit words </a:t>
            </a:r>
            <a:r>
              <a:rPr lang="en-US" sz="2400" baseline="0" dirty="0" smtClean="0">
                <a:latin typeface="Tw Cen MT" panose="020B0602020104020603" pitchFamily="34" charset="0"/>
              </a:rPr>
              <a:t>a polynomial </a:t>
            </a:r>
            <a:r>
              <a:rPr lang="en-US" sz="2400" baseline="0" dirty="0">
                <a:latin typeface="Tw Cen MT" panose="020B0602020104020603" pitchFamily="34" charset="0"/>
              </a:rPr>
              <a:t>of degree </a:t>
            </a:r>
            <a:r>
              <a:rPr lang="en-US" sz="2400" i="1" baseline="0" dirty="0">
                <a:latin typeface="Tw Cen MT" panose="020B0602020104020603" pitchFamily="34" charset="0"/>
              </a:rPr>
              <a:t>n</a:t>
            </a:r>
            <a:r>
              <a:rPr lang="en-US" sz="2400" baseline="0" dirty="0">
                <a:latin typeface="Tw Cen MT" panose="020B0602020104020603" pitchFamily="34" charset="0"/>
              </a:rPr>
              <a:t> − </a:t>
            </a:r>
            <a:r>
              <a:rPr lang="en-US" sz="2400" baseline="0" dirty="0" smtClean="0">
                <a:latin typeface="Tw Cen MT" panose="020B0602020104020603" pitchFamily="34" charset="0"/>
              </a:rPr>
              <a:t>1</a:t>
            </a:r>
            <a:r>
              <a:rPr lang="en-US" sz="2400" dirty="0" smtClean="0">
                <a:latin typeface="Tw Cen MT" panose="020B0602020104020603" pitchFamily="34" charset="0"/>
              </a:rPr>
              <a:t> which </a:t>
            </a:r>
            <a:r>
              <a:rPr lang="en-US" sz="2400" baseline="0" dirty="0" smtClean="0">
                <a:latin typeface="Tw Cen MT" panose="020B0602020104020603" pitchFamily="34" charset="0"/>
              </a:rPr>
              <a:t> </a:t>
            </a:r>
            <a:r>
              <a:rPr lang="en-US" sz="2400" baseline="0" dirty="0">
                <a:latin typeface="Tw Cen MT" panose="020B0602020104020603" pitchFamily="34" charset="0"/>
              </a:rPr>
              <a:t>is an </a:t>
            </a:r>
            <a:r>
              <a:rPr lang="en-US" sz="2400" baseline="0" dirty="0" smtClean="0">
                <a:latin typeface="Tw Cen MT" panose="020B0602020104020603" pitchFamily="34" charset="0"/>
              </a:rPr>
              <a:t>expression of </a:t>
            </a:r>
            <a:r>
              <a:rPr lang="en-US" sz="2400" baseline="0" dirty="0">
                <a:latin typeface="Tw Cen MT" panose="020B0602020104020603" pitchFamily="34" charset="0"/>
              </a:rPr>
              <a:t>the form</a:t>
            </a:r>
          </a:p>
        </p:txBody>
      </p:sp>
      <p:pic>
        <p:nvPicPr>
          <p:cNvPr id="3380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472" y="3552967"/>
            <a:ext cx="62166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5" name="Rectangle 12"/>
          <p:cNvSpPr>
            <a:spLocks noChangeArrowheads="1"/>
          </p:cNvSpPr>
          <p:nvPr/>
        </p:nvSpPr>
        <p:spPr bwMode="auto">
          <a:xfrm>
            <a:off x="356394" y="4712600"/>
            <a:ext cx="871400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sz="2400" baseline="0" dirty="0">
                <a:latin typeface="Tw Cen MT" panose="020B0602020104020603" pitchFamily="34" charset="0"/>
              </a:rPr>
              <a:t>where </a:t>
            </a:r>
            <a:r>
              <a:rPr lang="en-US" sz="2400" i="1" baseline="0" dirty="0">
                <a:solidFill>
                  <a:schemeClr val="hlink"/>
                </a:solidFill>
                <a:latin typeface="Tw Cen MT" panose="020B0602020104020603" pitchFamily="34" charset="0"/>
              </a:rPr>
              <a:t>x</a:t>
            </a:r>
            <a:r>
              <a:rPr lang="en-US" sz="2400" i="1" baseline="30000" dirty="0">
                <a:solidFill>
                  <a:schemeClr val="hlink"/>
                </a:solidFill>
                <a:latin typeface="Tw Cen MT" panose="020B0602020104020603" pitchFamily="34" charset="0"/>
              </a:rPr>
              <a:t>i</a:t>
            </a:r>
            <a:r>
              <a:rPr lang="en-US" sz="2400" baseline="0" dirty="0">
                <a:latin typeface="Tw Cen MT" panose="020B0602020104020603" pitchFamily="34" charset="0"/>
              </a:rPr>
              <a:t> is called the </a:t>
            </a:r>
            <a:r>
              <a:rPr lang="en-US" sz="2400" baseline="0" dirty="0" err="1">
                <a:latin typeface="Tw Cen MT" panose="020B0602020104020603" pitchFamily="34" charset="0"/>
              </a:rPr>
              <a:t>ith</a:t>
            </a:r>
            <a:r>
              <a:rPr lang="en-US" sz="2400" baseline="0" dirty="0">
                <a:latin typeface="Tw Cen MT" panose="020B0602020104020603" pitchFamily="34" charset="0"/>
              </a:rPr>
              <a:t> term and </a:t>
            </a:r>
            <a:r>
              <a:rPr lang="en-US" sz="2400" i="1" baseline="0" dirty="0" err="1">
                <a:solidFill>
                  <a:schemeClr val="hlink"/>
                </a:solidFill>
                <a:latin typeface="Tw Cen MT" panose="020B0602020104020603" pitchFamily="34" charset="0"/>
              </a:rPr>
              <a:t>a</a:t>
            </a:r>
            <a:r>
              <a:rPr lang="en-US" sz="2400" i="1" baseline="-25000" dirty="0" err="1">
                <a:solidFill>
                  <a:schemeClr val="hlink"/>
                </a:solidFill>
                <a:latin typeface="Tw Cen MT" panose="020B0602020104020603" pitchFamily="34" charset="0"/>
              </a:rPr>
              <a:t>i</a:t>
            </a:r>
            <a:r>
              <a:rPr lang="en-US" sz="2400" baseline="0" dirty="0">
                <a:latin typeface="Tw Cen MT" panose="020B0602020104020603" pitchFamily="34" charset="0"/>
              </a:rPr>
              <a:t> is called coefficient of the </a:t>
            </a:r>
            <a:r>
              <a:rPr lang="en-US" sz="2400" i="1" baseline="0" dirty="0" err="1">
                <a:latin typeface="Tw Cen MT" panose="020B0602020104020603" pitchFamily="34" charset="0"/>
              </a:rPr>
              <a:t>i</a:t>
            </a:r>
            <a:r>
              <a:rPr lang="en-US" sz="2400" baseline="0" dirty="0" err="1">
                <a:latin typeface="Tw Cen MT" panose="020B0602020104020603" pitchFamily="34" charset="0"/>
              </a:rPr>
              <a:t>th</a:t>
            </a:r>
            <a:r>
              <a:rPr lang="en-US" sz="2400" baseline="0" dirty="0">
                <a:latin typeface="Tw Cen MT" panose="020B0602020104020603" pitchFamily="34" charset="0"/>
              </a:rPr>
              <a:t> term.</a:t>
            </a:r>
          </a:p>
        </p:txBody>
      </p:sp>
    </p:spTree>
    <p:extLst>
      <p:ext uri="{BB962C8B-B14F-4D97-AF65-F5344CB8AC3E}">
        <p14:creationId xmlns:p14="http://schemas.microsoft.com/office/powerpoint/2010/main" val="93509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2" name="Text Box 9"/>
          <p:cNvSpPr txBox="1">
            <a:spLocks noChangeArrowheads="1"/>
          </p:cNvSpPr>
          <p:nvPr/>
        </p:nvSpPr>
        <p:spPr bwMode="auto">
          <a:xfrm>
            <a:off x="495886" y="295421"/>
            <a:ext cx="26158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aseline="0" dirty="0" smtClean="0">
                <a:solidFill>
                  <a:schemeClr val="hlink"/>
                </a:solidFill>
                <a:latin typeface="Tw Cen MT" panose="020B0602020104020603" pitchFamily="34" charset="0"/>
              </a:rPr>
              <a:t>   </a:t>
            </a:r>
            <a:r>
              <a:rPr lang="en-US" sz="3200" baseline="0" dirty="0">
                <a:solidFill>
                  <a:schemeClr val="hlink"/>
                </a:solidFill>
                <a:latin typeface="Tw Cen MT" panose="020B0602020104020603" pitchFamily="34" charset="0"/>
              </a:rPr>
              <a:t>Polynomials</a:t>
            </a:r>
          </a:p>
        </p:txBody>
      </p:sp>
      <p:sp>
        <p:nvSpPr>
          <p:cNvPr id="33803" name="Rectangle 10"/>
          <p:cNvSpPr>
            <a:spLocks noChangeArrowheads="1"/>
          </p:cNvSpPr>
          <p:nvPr/>
        </p:nvSpPr>
        <p:spPr bwMode="auto">
          <a:xfrm>
            <a:off x="366713" y="1135177"/>
            <a:ext cx="83026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57200" indent="-457200" algn="just" eaLnBrk="1" hangingPunct="1">
              <a:buAutoNum type="arabicPeriod"/>
            </a:pPr>
            <a:r>
              <a:rPr lang="en-US" sz="2400" dirty="0" smtClean="0">
                <a:latin typeface="Tw Cen MT" panose="020B0602020104020603" pitchFamily="34" charset="0"/>
              </a:rPr>
              <a:t>Power of x defines the position of the bit in the n-bit word.</a:t>
            </a:r>
          </a:p>
          <a:p>
            <a:pPr marL="457200" indent="-457200" algn="just" eaLnBrk="1" hangingPunct="1">
              <a:buAutoNum type="arabicPeriod"/>
            </a:pPr>
            <a:r>
              <a:rPr lang="en-US" sz="2400" baseline="0" dirty="0" smtClean="0">
                <a:latin typeface="Tw Cen MT" panose="020B0602020104020603" pitchFamily="34" charset="0"/>
              </a:rPr>
              <a:t>The co-efficient defines the value (but only 0 or 1)</a:t>
            </a:r>
          </a:p>
          <a:p>
            <a:pPr marL="457200" indent="-457200" algn="just" eaLnBrk="1" hangingPunct="1">
              <a:buAutoNum type="arabicPeriod"/>
            </a:pPr>
            <a:endParaRPr lang="en-US" sz="2400" dirty="0">
              <a:latin typeface="Tw Cen MT" panose="020B0602020104020603" pitchFamily="34" charset="0"/>
            </a:endParaRPr>
          </a:p>
          <a:p>
            <a:pPr algn="just" eaLnBrk="1" hangingPunct="1"/>
            <a:r>
              <a:rPr lang="en-US" sz="2400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Operations: </a:t>
            </a:r>
            <a:r>
              <a:rPr lang="en-US" sz="2400" baseline="0" dirty="0" smtClean="0">
                <a:latin typeface="Tw Cen MT" panose="020B0602020104020603" pitchFamily="34" charset="0"/>
              </a:rPr>
              <a:t> operations on co-</a:t>
            </a:r>
            <a:r>
              <a:rPr lang="en-US" sz="2400" baseline="0" dirty="0" err="1" smtClean="0">
                <a:latin typeface="Tw Cen MT" panose="020B0602020104020603" pitchFamily="34" charset="0"/>
              </a:rPr>
              <a:t>efficients</a:t>
            </a:r>
            <a:r>
              <a:rPr lang="en-US" sz="2400" dirty="0" smtClean="0">
                <a:latin typeface="Tw Cen MT" panose="020B0602020104020603" pitchFamily="34" charset="0"/>
              </a:rPr>
              <a:t> and operations on two polynomials. We need two fields, one for co-</a:t>
            </a:r>
            <a:r>
              <a:rPr lang="en-US" sz="2400" dirty="0" err="1" smtClean="0">
                <a:latin typeface="Tw Cen MT" panose="020B0602020104020603" pitchFamily="34" charset="0"/>
              </a:rPr>
              <a:t>efficients</a:t>
            </a:r>
            <a:r>
              <a:rPr lang="en-US" sz="2400" dirty="0" smtClean="0">
                <a:latin typeface="Tw Cen MT" panose="020B0602020104020603" pitchFamily="34" charset="0"/>
              </a:rPr>
              <a:t> (GF(2)) and one for polynomials (GF 2</a:t>
            </a:r>
            <a:r>
              <a:rPr lang="en-US" sz="2400" baseline="30000" dirty="0" smtClean="0">
                <a:latin typeface="Tw Cen MT" panose="020B0602020104020603" pitchFamily="34" charset="0"/>
              </a:rPr>
              <a:t>n</a:t>
            </a:r>
            <a:r>
              <a:rPr lang="en-US" sz="2400" dirty="0" smtClean="0">
                <a:latin typeface="Tw Cen MT" panose="020B0602020104020603" pitchFamily="34" charset="0"/>
              </a:rPr>
              <a:t>).</a:t>
            </a:r>
          </a:p>
          <a:p>
            <a:pPr algn="just" eaLnBrk="1" hangingPunct="1"/>
            <a:endParaRPr lang="en-US" sz="2400" baseline="0" dirty="0">
              <a:latin typeface="Tw Cen MT" panose="020B0602020104020603" pitchFamily="34" charset="0"/>
            </a:endParaRPr>
          </a:p>
          <a:p>
            <a:pPr algn="just" eaLnBrk="1" hangingPunct="1"/>
            <a:r>
              <a:rPr lang="en-US" sz="240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Modulus:</a:t>
            </a:r>
            <a:r>
              <a:rPr lang="en-US" sz="2400" dirty="0" smtClean="0">
                <a:latin typeface="Tw Cen MT" panose="020B0602020104020603" pitchFamily="34" charset="0"/>
              </a:rPr>
              <a:t> Addition of two </a:t>
            </a:r>
            <a:r>
              <a:rPr lang="en-US" sz="2400" dirty="0" err="1" smtClean="0">
                <a:latin typeface="Tw Cen MT" panose="020B0602020104020603" pitchFamily="34" charset="0"/>
              </a:rPr>
              <a:t>polynomilas</a:t>
            </a:r>
            <a:r>
              <a:rPr lang="en-US" sz="2400" dirty="0" smtClean="0">
                <a:latin typeface="Tw Cen MT" panose="020B0602020104020603" pitchFamily="34" charset="0"/>
              </a:rPr>
              <a:t> never creates a polynomial out of the </a:t>
            </a:r>
            <a:r>
              <a:rPr lang="en-US" sz="2400" dirty="0" err="1" smtClean="0">
                <a:latin typeface="Tw Cen MT" panose="020B0602020104020603" pitchFamily="34" charset="0"/>
              </a:rPr>
              <a:t>st.</a:t>
            </a:r>
            <a:r>
              <a:rPr lang="en-US" sz="2400" dirty="0" smtClean="0">
                <a:latin typeface="Tw Cen MT" panose="020B0602020104020603" pitchFamily="34" charset="0"/>
              </a:rPr>
              <a:t> But for multiplication, may. So for this sets of polynomials in </a:t>
            </a:r>
            <a:r>
              <a:rPr lang="en-US" sz="2400" dirty="0">
                <a:latin typeface="Tw Cen MT" panose="020B0602020104020603" pitchFamily="34" charset="0"/>
              </a:rPr>
              <a:t>GF </a:t>
            </a:r>
            <a:r>
              <a:rPr lang="en-US" sz="2400" dirty="0" smtClean="0">
                <a:latin typeface="Tw Cen MT" panose="020B0602020104020603" pitchFamily="34" charset="0"/>
              </a:rPr>
              <a:t>2</a:t>
            </a:r>
            <a:r>
              <a:rPr lang="en-US" sz="2400" baseline="30000" dirty="0" smtClean="0">
                <a:latin typeface="Tw Cen MT" panose="020B0602020104020603" pitchFamily="34" charset="0"/>
              </a:rPr>
              <a:t>n </a:t>
            </a:r>
            <a:r>
              <a:rPr lang="en-US" sz="2400" dirty="0" smtClean="0">
                <a:latin typeface="Tw Cen MT" panose="020B0602020104020603" pitchFamily="34" charset="0"/>
              </a:rPr>
              <a:t>a group of polynomials of degree n  is defined as the modulus. The act as prime polynomial, can not be factored into a polynomial with degree of less than n. also irreducible polynomials. Number of terms are odd.</a:t>
            </a:r>
            <a:endParaRPr lang="en-US" sz="24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32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339565" y="271771"/>
            <a:ext cx="15992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aseline="0" dirty="0" smtClean="0">
                <a:solidFill>
                  <a:schemeClr val="hlink"/>
                </a:solidFill>
                <a:latin typeface="Tw Cen MT" panose="020B0602020104020603" pitchFamily="34" charset="0"/>
              </a:rPr>
              <a:t>Polynomials</a:t>
            </a:r>
            <a:endParaRPr lang="en-US" sz="2400" baseline="0" dirty="0">
              <a:solidFill>
                <a:schemeClr val="hlink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3620" y="1558195"/>
            <a:ext cx="7567096" cy="5018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 smtClean="0">
                <a:latin typeface="Tw Cen MT" panose="020B0602020104020603" pitchFamily="34" charset="0"/>
              </a:rPr>
              <a:t>Ordinary </a:t>
            </a:r>
            <a:r>
              <a:rPr lang="en-US" sz="2400" dirty="0">
                <a:latin typeface="Tw Cen MT" panose="020B0602020104020603" pitchFamily="34" charset="0"/>
              </a:rPr>
              <a:t>polynomial arithmetic</a:t>
            </a:r>
            <a:r>
              <a:rPr lang="en-US" sz="2400" dirty="0" smtClean="0">
                <a:latin typeface="Tw Cen MT" panose="020B0602020104020603" pitchFamily="34" charset="0"/>
              </a:rPr>
              <a:t>:</a:t>
            </a:r>
          </a:p>
          <a:p>
            <a:pPr marL="779244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Tw Cen MT" panose="020B0602020104020603" pitchFamily="34" charset="0"/>
              </a:rPr>
              <a:t>Add</a:t>
            </a:r>
            <a:r>
              <a:rPr lang="en-US" sz="2400" dirty="0">
                <a:latin typeface="Tw Cen MT" panose="020B0602020104020603" pitchFamily="34" charset="0"/>
              </a:rPr>
              <a:t>, subtract, multiply, divide polynomials, </a:t>
            </a:r>
          </a:p>
          <a:p>
            <a:pPr marL="779244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Tw Cen MT" panose="020B0602020104020603" pitchFamily="34" charset="0"/>
              </a:rPr>
              <a:t>Find </a:t>
            </a:r>
            <a:r>
              <a:rPr lang="en-US" sz="2400" dirty="0">
                <a:latin typeface="Tw Cen MT" panose="020B0602020104020603" pitchFamily="34" charset="0"/>
              </a:rPr>
              <a:t>remainders, quotient. </a:t>
            </a:r>
          </a:p>
          <a:p>
            <a:pPr marL="779244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Tw Cen MT" panose="020B0602020104020603" pitchFamily="34" charset="0"/>
              </a:rPr>
              <a:t>Some </a:t>
            </a:r>
            <a:r>
              <a:rPr lang="en-US" sz="2400" dirty="0">
                <a:latin typeface="Tw Cen MT" panose="020B0602020104020603" pitchFamily="34" charset="0"/>
              </a:rPr>
              <a:t>polynomials have no factors and are prime.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endParaRPr lang="en-US" sz="2400" dirty="0">
              <a:latin typeface="Tw Cen MT" panose="020B06020201040206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 smtClean="0">
                <a:latin typeface="Tw Cen MT" panose="020B0602020104020603" pitchFamily="34" charset="0"/>
              </a:rPr>
              <a:t>Polynomial </a:t>
            </a:r>
            <a:r>
              <a:rPr lang="en-US" sz="2400" dirty="0">
                <a:latin typeface="Tw Cen MT" panose="020B0602020104020603" pitchFamily="34" charset="0"/>
              </a:rPr>
              <a:t>arithmetic with </a:t>
            </a:r>
            <a:r>
              <a:rPr lang="en-US" sz="2400" b="1" dirty="0">
                <a:latin typeface="Tw Cen MT" panose="020B0602020104020603" pitchFamily="34" charset="0"/>
              </a:rPr>
              <a:t>mod </a:t>
            </a:r>
            <a:r>
              <a:rPr lang="en-US" sz="2400" b="1" i="1" dirty="0">
                <a:latin typeface="Tw Cen MT" panose="020B0602020104020603" pitchFamily="34" charset="0"/>
              </a:rPr>
              <a:t>p </a:t>
            </a:r>
            <a:r>
              <a:rPr lang="en-US" sz="2400" dirty="0">
                <a:latin typeface="Tw Cen MT" panose="020B0602020104020603" pitchFamily="34" charset="0"/>
              </a:rPr>
              <a:t>coefficients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 smtClean="0">
                <a:latin typeface="Tw Cen MT" panose="020B0602020104020603" pitchFamily="34" charset="0"/>
              </a:rPr>
              <a:t>Polynomial </a:t>
            </a:r>
            <a:r>
              <a:rPr lang="en-US" sz="2400" dirty="0">
                <a:latin typeface="Tw Cen MT" panose="020B0602020104020603" pitchFamily="34" charset="0"/>
              </a:rPr>
              <a:t>arithmetic with </a:t>
            </a:r>
            <a:r>
              <a:rPr lang="en-US" sz="2400" b="1" dirty="0">
                <a:latin typeface="Tw Cen MT" panose="020B0602020104020603" pitchFamily="34" charset="0"/>
              </a:rPr>
              <a:t>mod </a:t>
            </a:r>
            <a:r>
              <a:rPr lang="en-US" sz="2400" b="1" i="1" dirty="0">
                <a:latin typeface="Tw Cen MT" panose="020B0602020104020603" pitchFamily="34" charset="0"/>
              </a:rPr>
              <a:t>p </a:t>
            </a:r>
            <a:r>
              <a:rPr lang="en-US" sz="2400" dirty="0">
                <a:latin typeface="Tw Cen MT" panose="020B0602020104020603" pitchFamily="34" charset="0"/>
              </a:rPr>
              <a:t>coefficients and </a:t>
            </a:r>
            <a:r>
              <a:rPr lang="en-US" sz="2400" b="1" dirty="0">
                <a:latin typeface="Tw Cen MT" panose="020B0602020104020603" pitchFamily="34" charset="0"/>
              </a:rPr>
              <a:t>mod </a:t>
            </a:r>
            <a:r>
              <a:rPr lang="en-US" sz="2400" b="1" i="1" dirty="0">
                <a:latin typeface="Tw Cen MT" panose="020B0602020104020603" pitchFamily="34" charset="0"/>
              </a:rPr>
              <a:t>m(x) </a:t>
            </a:r>
            <a:r>
              <a:rPr lang="en-US" sz="2400" dirty="0">
                <a:latin typeface="Tw Cen MT" panose="020B0602020104020603" pitchFamily="34" charset="0"/>
              </a:rPr>
              <a:t>operations, where m(</a:t>
            </a:r>
            <a:r>
              <a:rPr lang="en-US" sz="2400" i="1" dirty="0">
                <a:latin typeface="Tw Cen MT" panose="020B0602020104020603" pitchFamily="34" charset="0"/>
              </a:rPr>
              <a:t>x</a:t>
            </a:r>
            <a:r>
              <a:rPr lang="en-US" sz="2400" dirty="0">
                <a:latin typeface="Tw Cen MT" panose="020B0602020104020603" pitchFamily="34" charset="0"/>
              </a:rPr>
              <a:t>) is a </a:t>
            </a:r>
            <a:r>
              <a:rPr lang="en-US" sz="2400" i="1" dirty="0" smtClean="0">
                <a:latin typeface="Tw Cen MT" panose="020B0602020104020603" pitchFamily="34" charset="0"/>
              </a:rPr>
              <a:t>n-</a:t>
            </a:r>
            <a:r>
              <a:rPr lang="en-US" sz="2400" dirty="0" err="1" smtClean="0">
                <a:latin typeface="Tw Cen MT" panose="020B0602020104020603" pitchFamily="34" charset="0"/>
              </a:rPr>
              <a:t>th</a:t>
            </a:r>
            <a:r>
              <a:rPr lang="en-US" sz="2400" dirty="0" smtClean="0">
                <a:latin typeface="Tw Cen MT" panose="020B0602020104020603" pitchFamily="34" charset="0"/>
              </a:rPr>
              <a:t> </a:t>
            </a:r>
            <a:r>
              <a:rPr lang="en-US" sz="2400" dirty="0">
                <a:latin typeface="Tw Cen MT" panose="020B0602020104020603" pitchFamily="34" charset="0"/>
              </a:rPr>
              <a:t>degree polynomial = GF(</a:t>
            </a:r>
            <a:r>
              <a:rPr lang="en-US" sz="2400" i="1" dirty="0" err="1">
                <a:latin typeface="Tw Cen MT" panose="020B0602020104020603" pitchFamily="34" charset="0"/>
              </a:rPr>
              <a:t>p</a:t>
            </a:r>
            <a:r>
              <a:rPr lang="en-US" sz="2400" i="1" baseline="30000" dirty="0" err="1">
                <a:latin typeface="Tw Cen MT" panose="020B0602020104020603" pitchFamily="34" charset="0"/>
              </a:rPr>
              <a:t>n</a:t>
            </a:r>
            <a:r>
              <a:rPr lang="en-US" sz="2400" dirty="0">
                <a:latin typeface="Tw Cen MT" panose="020B0602020104020603" pitchFamily="34" charset="0"/>
              </a:rPr>
              <a:t>) 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8070" y="1072420"/>
            <a:ext cx="62166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Polynomials</a:t>
            </a:r>
            <a:endParaRPr lang="en-US" dirty="0"/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152400" y="1371600"/>
            <a:ext cx="8839200" cy="824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000" baseline="0" dirty="0"/>
              <a:t>Figure </a:t>
            </a:r>
            <a:r>
              <a:rPr lang="en-US" sz="2000" baseline="0" dirty="0" smtClean="0"/>
              <a:t> </a:t>
            </a:r>
            <a:r>
              <a:rPr lang="en-US" sz="2000" baseline="0" dirty="0"/>
              <a:t>show how we can represent the 8-bit word (10011001) using a polynomials.</a:t>
            </a:r>
          </a:p>
        </p:txBody>
      </p:sp>
      <p:pic>
        <p:nvPicPr>
          <p:cNvPr id="5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3813" y="3252788"/>
            <a:ext cx="6097587" cy="299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384300" y="2514600"/>
            <a:ext cx="66511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aseline="0" dirty="0">
                <a:solidFill>
                  <a:schemeClr val="folHlink"/>
                </a:solidFill>
              </a:rPr>
              <a:t>Figure </a:t>
            </a:r>
            <a:r>
              <a:rPr lang="en-US" sz="2000" baseline="0" dirty="0" smtClean="0">
                <a:solidFill>
                  <a:schemeClr val="folHlink"/>
                </a:solidFill>
              </a:rPr>
              <a:t>  </a:t>
            </a:r>
            <a:r>
              <a:rPr lang="en-US" sz="2000" i="1" baseline="0" dirty="0"/>
              <a:t>Representation of an 8-bit word by a polynomial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152400" y="1143000"/>
            <a:ext cx="88392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>
                <a:latin typeface="Tw Cen MT" panose="020B0602020104020603" pitchFamily="34" charset="0"/>
              </a:rPr>
              <a:t>To find the 8-bit word related to the polynomial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5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2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0">
                <a:latin typeface="Tw Cen MT" panose="020B0602020104020603" pitchFamily="34" charset="0"/>
              </a:rPr>
              <a:t>, we first supply the omitted terms. Since </a:t>
            </a:r>
            <a:r>
              <a:rPr lang="en-US" sz="2400" i="1" baseline="0">
                <a:latin typeface="Tw Cen MT" panose="020B0602020104020603" pitchFamily="34" charset="0"/>
              </a:rPr>
              <a:t>n</a:t>
            </a:r>
            <a:r>
              <a:rPr lang="en-US" sz="2400" baseline="0">
                <a:latin typeface="Tw Cen MT" panose="020B0602020104020603" pitchFamily="34" charset="0"/>
              </a:rPr>
              <a:t> = 8, it means the polynomial is of degree 7. The expanded polynomial is</a:t>
            </a:r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9675" y="3181350"/>
            <a:ext cx="61055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152400" y="4415112"/>
            <a:ext cx="8839200" cy="517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>
                <a:latin typeface="Tw Cen MT" panose="020B0602020104020603" pitchFamily="34" charset="0"/>
              </a:rPr>
              <a:t>This is related to the 8-bit word </a:t>
            </a:r>
            <a:r>
              <a:rPr lang="en-US" sz="2400" baseline="0">
                <a:solidFill>
                  <a:schemeClr val="hlink"/>
                </a:solidFill>
                <a:latin typeface="Tw Cen MT" panose="020B0602020104020603" pitchFamily="34" charset="0"/>
              </a:rPr>
              <a:t>00100110</a:t>
            </a:r>
            <a:r>
              <a:rPr lang="en-US" sz="2400" baseline="0">
                <a:latin typeface="Tw Cen MT" panose="020B06020201040206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22862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GF(</a:t>
            </a:r>
            <a:r>
              <a:rPr lang="en-US" sz="3200" i="1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2</a:t>
            </a:r>
            <a:r>
              <a:rPr lang="en-US" sz="3200" i="1" baseline="30000" dirty="0">
                <a:solidFill>
                  <a:schemeClr val="folHlink"/>
                </a:solidFill>
                <a:latin typeface="Tw Cen MT" panose="020B0602020104020603" pitchFamily="34" charset="0"/>
              </a:rPr>
              <a:t>n</a:t>
            </a:r>
            <a:r>
              <a:rPr lang="en-US" sz="32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) Fields</a:t>
            </a:r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441435" y="3415862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Tw Cen MT" panose="020B0602020104020603" pitchFamily="34" charset="0"/>
            </a:endParaRPr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443023" y="4635062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Tw Cen MT" panose="020B0602020104020603" pitchFamily="34" charset="0"/>
            </a:endParaRPr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479535" y="3507937"/>
            <a:ext cx="8077200" cy="1066800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aseline="0" dirty="0">
                <a:latin typeface="Tw Cen MT" panose="020B0602020104020603" pitchFamily="34" charset="0"/>
              </a:rPr>
              <a:t>Polynomials representing </a:t>
            </a:r>
            <a:r>
              <a:rPr lang="en-US" sz="3200" i="1" baseline="0" dirty="0">
                <a:latin typeface="Tw Cen MT" panose="020B0602020104020603" pitchFamily="34" charset="0"/>
              </a:rPr>
              <a:t>n</a:t>
            </a:r>
            <a:r>
              <a:rPr lang="en-US" sz="3200" baseline="0" dirty="0">
                <a:latin typeface="Tw Cen MT" panose="020B0602020104020603" pitchFamily="34" charset="0"/>
              </a:rPr>
              <a:t>-bit words use two fields: GF(2) and GF(2</a:t>
            </a:r>
            <a:r>
              <a:rPr lang="en-US" sz="3200" i="1" baseline="30000" dirty="0">
                <a:latin typeface="Tw Cen MT" panose="020B0602020104020603" pitchFamily="34" charset="0"/>
              </a:rPr>
              <a:t>n</a:t>
            </a:r>
            <a:r>
              <a:rPr lang="en-US" sz="3200" baseline="0" dirty="0">
                <a:latin typeface="Tw Cen MT" panose="020B0602020104020603" pitchFamily="34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8" name="Text Box 9"/>
          <p:cNvSpPr txBox="1">
            <a:spLocks noChangeArrowheads="1"/>
          </p:cNvSpPr>
          <p:nvPr/>
        </p:nvSpPr>
        <p:spPr bwMode="auto">
          <a:xfrm>
            <a:off x="467750" y="225083"/>
            <a:ext cx="23615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200" baseline="0" dirty="0" smtClean="0">
                <a:solidFill>
                  <a:schemeClr val="hlink"/>
                </a:solidFill>
                <a:latin typeface="Tw Cen MT" panose="020B0602020104020603" pitchFamily="34" charset="0"/>
              </a:rPr>
              <a:t>    </a:t>
            </a:r>
            <a:r>
              <a:rPr lang="en-US" sz="3200" baseline="0" dirty="0">
                <a:latin typeface="Tw Cen MT" panose="020B0602020104020603" pitchFamily="34" charset="0"/>
              </a:rPr>
              <a:t>Continued</a:t>
            </a:r>
          </a:p>
        </p:txBody>
      </p:sp>
      <p:sp>
        <p:nvSpPr>
          <p:cNvPr id="37899" name="Rectangle 10"/>
          <p:cNvSpPr>
            <a:spLocks noChangeArrowheads="1"/>
          </p:cNvSpPr>
          <p:nvPr/>
        </p:nvSpPr>
        <p:spPr bwMode="auto">
          <a:xfrm>
            <a:off x="304800" y="1576310"/>
            <a:ext cx="862083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sz="2400" baseline="0" dirty="0">
                <a:latin typeface="Tw Cen MT" panose="020B0602020104020603" pitchFamily="34" charset="0"/>
              </a:rPr>
              <a:t>For the sets of polynomials in GF(2</a:t>
            </a:r>
            <a:r>
              <a:rPr lang="en-US" sz="2400" baseline="30000" dirty="0">
                <a:latin typeface="Tw Cen MT" panose="020B0602020104020603" pitchFamily="34" charset="0"/>
              </a:rPr>
              <a:t>n</a:t>
            </a:r>
            <a:r>
              <a:rPr lang="en-US" sz="2400" baseline="0" dirty="0">
                <a:latin typeface="Tw Cen MT" panose="020B0602020104020603" pitchFamily="34" charset="0"/>
              </a:rPr>
              <a:t>), a group of polynomials of degree n is defined as the modulus. Such polynomials are referred to as </a:t>
            </a:r>
            <a:r>
              <a:rPr lang="en-US" sz="2400" baseline="0" dirty="0">
                <a:solidFill>
                  <a:schemeClr val="hlink"/>
                </a:solidFill>
                <a:latin typeface="Tw Cen MT" panose="020B0602020104020603" pitchFamily="34" charset="0"/>
              </a:rPr>
              <a:t>irreducible polynomials.</a:t>
            </a:r>
            <a:r>
              <a:rPr lang="en-US" sz="2400" baseline="0" dirty="0">
                <a:latin typeface="Tw Cen MT" panose="020B0602020104020603" pitchFamily="34" charset="0"/>
              </a:rPr>
              <a:t> </a:t>
            </a:r>
          </a:p>
        </p:txBody>
      </p:sp>
      <p:sp>
        <p:nvSpPr>
          <p:cNvPr id="37900" name="Text Box 11"/>
          <p:cNvSpPr txBox="1">
            <a:spLocks noChangeArrowheads="1"/>
          </p:cNvSpPr>
          <p:nvPr/>
        </p:nvSpPr>
        <p:spPr bwMode="auto">
          <a:xfrm>
            <a:off x="409575" y="990600"/>
            <a:ext cx="1293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Modulus</a:t>
            </a:r>
          </a:p>
        </p:txBody>
      </p:sp>
      <p:pic>
        <p:nvPicPr>
          <p:cNvPr id="37901" name="Picture 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3514213"/>
            <a:ext cx="8464550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2" name="Text Box 19"/>
          <p:cNvSpPr txBox="1">
            <a:spLocks noChangeArrowheads="1"/>
          </p:cNvSpPr>
          <p:nvPr/>
        </p:nvSpPr>
        <p:spPr bwMode="auto">
          <a:xfrm>
            <a:off x="2074506" y="3052548"/>
            <a:ext cx="43778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Table </a:t>
            </a:r>
            <a:r>
              <a:rPr lang="en-US" baseline="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  </a:t>
            </a:r>
            <a:r>
              <a:rPr lang="en-US" sz="2000" baseline="0" dirty="0">
                <a:latin typeface="Tw Cen MT" panose="020B0602020104020603" pitchFamily="34" charset="0"/>
              </a:rPr>
              <a:t>List of irreducible polynomials</a:t>
            </a:r>
          </a:p>
        </p:txBody>
      </p:sp>
    </p:spTree>
    <p:extLst>
      <p:ext uri="{BB962C8B-B14F-4D97-AF65-F5344CB8AC3E}">
        <p14:creationId xmlns:p14="http://schemas.microsoft.com/office/powerpoint/2010/main" val="176529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15600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Addition</a:t>
            </a:r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>
            <a:off x="457200" y="2057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Tw Cen MT" panose="020B0602020104020603" pitchFamily="34" charset="0"/>
            </a:endParaRPr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45878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Tw Cen MT" panose="020B0602020104020603" pitchFamily="34" charset="0"/>
            </a:endParaRPr>
          </a:p>
        </p:txBody>
      </p:sp>
      <p:sp>
        <p:nvSpPr>
          <p:cNvPr id="38926" name="Rectangle 14"/>
          <p:cNvSpPr>
            <a:spLocks noChangeArrowheads="1"/>
          </p:cNvSpPr>
          <p:nvPr/>
        </p:nvSpPr>
        <p:spPr bwMode="auto">
          <a:xfrm>
            <a:off x="495300" y="2149475"/>
            <a:ext cx="8077200" cy="1066800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aseline="0">
                <a:latin typeface="Tw Cen MT" panose="020B0602020104020603" pitchFamily="34" charset="0"/>
              </a:rPr>
              <a:t>Addition and subtraction operations on polynomials are the same operation.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13901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Addition</a:t>
            </a: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52400" y="1020758"/>
            <a:ext cx="8839200" cy="170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800" baseline="0" dirty="0">
                <a:latin typeface="Tw Cen MT" panose="020B0602020104020603" pitchFamily="34" charset="0"/>
              </a:rPr>
              <a:t>Let us do (x</a:t>
            </a:r>
            <a:r>
              <a:rPr lang="en-US" sz="2800" baseline="30000" dirty="0">
                <a:latin typeface="Tw Cen MT" panose="020B0602020104020603" pitchFamily="34" charset="0"/>
              </a:rPr>
              <a:t>5</a:t>
            </a:r>
            <a:r>
              <a:rPr lang="en-US" sz="2800" baseline="0" dirty="0">
                <a:latin typeface="Tw Cen MT" panose="020B0602020104020603" pitchFamily="34" charset="0"/>
              </a:rPr>
              <a:t> + x</a:t>
            </a:r>
            <a:r>
              <a:rPr lang="en-US" sz="2800" baseline="30000" dirty="0">
                <a:latin typeface="Tw Cen MT" panose="020B0602020104020603" pitchFamily="34" charset="0"/>
              </a:rPr>
              <a:t>2</a:t>
            </a:r>
            <a:r>
              <a:rPr lang="en-US" sz="2800" baseline="0" dirty="0">
                <a:latin typeface="Tw Cen MT" panose="020B0602020104020603" pitchFamily="34" charset="0"/>
              </a:rPr>
              <a:t> + x</a:t>
            </a:r>
            <a:r>
              <a:rPr lang="en-US" sz="2800" baseline="0" dirty="0" smtClean="0">
                <a:latin typeface="Tw Cen MT" panose="020B0602020104020603" pitchFamily="34" charset="0"/>
              </a:rPr>
              <a:t>)</a:t>
            </a:r>
            <a:r>
              <a:rPr lang="en-US" sz="2800" dirty="0">
                <a:latin typeface="Symbol" panose="05050102010706020507" pitchFamily="18" charset="2"/>
              </a:rPr>
              <a:t> Å</a:t>
            </a:r>
            <a:r>
              <a:rPr lang="en-US" sz="2800" baseline="0" dirty="0" smtClean="0">
                <a:latin typeface="Tw Cen MT" panose="020B0602020104020603" pitchFamily="34" charset="0"/>
              </a:rPr>
              <a:t>  </a:t>
            </a:r>
            <a:r>
              <a:rPr lang="en-US" sz="2800" baseline="0" dirty="0">
                <a:latin typeface="Tw Cen MT" panose="020B0602020104020603" pitchFamily="34" charset="0"/>
              </a:rPr>
              <a:t>(x</a:t>
            </a:r>
            <a:r>
              <a:rPr lang="en-US" sz="2800" baseline="30000" dirty="0">
                <a:latin typeface="Tw Cen MT" panose="020B0602020104020603" pitchFamily="34" charset="0"/>
              </a:rPr>
              <a:t>3</a:t>
            </a:r>
            <a:r>
              <a:rPr lang="en-US" sz="2800" baseline="0" dirty="0">
                <a:latin typeface="Tw Cen MT" panose="020B0602020104020603" pitchFamily="34" charset="0"/>
              </a:rPr>
              <a:t> + x</a:t>
            </a:r>
            <a:r>
              <a:rPr lang="en-US" sz="2800" baseline="30000" dirty="0">
                <a:latin typeface="Tw Cen MT" panose="020B0602020104020603" pitchFamily="34" charset="0"/>
              </a:rPr>
              <a:t>2</a:t>
            </a:r>
            <a:r>
              <a:rPr lang="en-US" sz="2800" baseline="0" dirty="0">
                <a:latin typeface="Tw Cen MT" panose="020B0602020104020603" pitchFamily="34" charset="0"/>
              </a:rPr>
              <a:t> + 1) in GF(2</a:t>
            </a:r>
            <a:r>
              <a:rPr lang="en-US" sz="2800" baseline="30000" dirty="0">
                <a:latin typeface="Tw Cen MT" panose="020B0602020104020603" pitchFamily="34" charset="0"/>
              </a:rPr>
              <a:t>8</a:t>
            </a:r>
            <a:r>
              <a:rPr lang="en-US" sz="2800" baseline="0" dirty="0">
                <a:latin typeface="Tw Cen MT" panose="020B0602020104020603" pitchFamily="34" charset="0"/>
              </a:rPr>
              <a:t>). We use the symbol </a:t>
            </a:r>
            <a:r>
              <a:rPr lang="en-US" sz="2800" dirty="0">
                <a:latin typeface="Symbol" panose="05050102010706020507" pitchFamily="18" charset="2"/>
              </a:rPr>
              <a:t>Å</a:t>
            </a:r>
            <a:r>
              <a:rPr lang="en-US" sz="2800" baseline="0" dirty="0" smtClean="0">
                <a:latin typeface="Tw Cen MT" panose="020B0602020104020603" pitchFamily="34" charset="0"/>
              </a:rPr>
              <a:t> </a:t>
            </a:r>
            <a:r>
              <a:rPr lang="en-US" sz="2800" baseline="0" dirty="0">
                <a:latin typeface="Tw Cen MT" panose="020B0602020104020603" pitchFamily="34" charset="0"/>
              </a:rPr>
              <a:t>to show that we mean polynomial addition. The following shows the procedure:</a:t>
            </a:r>
          </a:p>
        </p:txBody>
      </p:sp>
      <p:pic>
        <p:nvPicPr>
          <p:cNvPr id="7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3781425"/>
            <a:ext cx="7596188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121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Addition</a:t>
            </a: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368490" y="1037137"/>
            <a:ext cx="8352429" cy="4266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There is also another short cut. Because the addition in GF(2) means the exclusive-or (XOR) operation. So we can exclusive-or the two words, </a:t>
            </a:r>
            <a:r>
              <a:rPr lang="en-US" sz="2400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bits by bits</a:t>
            </a:r>
            <a:r>
              <a:rPr lang="en-US" sz="2400" baseline="0" dirty="0">
                <a:latin typeface="Tw Cen MT" panose="020B0602020104020603" pitchFamily="34" charset="0"/>
              </a:rPr>
              <a:t>, to get the result. In the previous example,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5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2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0" dirty="0">
                <a:latin typeface="Tw Cen MT" panose="020B0602020104020603" pitchFamily="34" charset="0"/>
              </a:rPr>
              <a:t> is 00100110 and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3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2</a:t>
            </a:r>
            <a:r>
              <a:rPr lang="en-US" sz="2400" baseline="0" dirty="0">
                <a:latin typeface="Tw Cen MT" panose="020B0602020104020603" pitchFamily="34" charset="0"/>
              </a:rPr>
              <a:t> + 1 is 00001101. The result is 00101011 or in polynomial notation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5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3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0" dirty="0">
                <a:latin typeface="Tw Cen MT" panose="020B0602020104020603" pitchFamily="34" charset="0"/>
              </a:rPr>
              <a:t> + 1</a:t>
            </a:r>
            <a:r>
              <a:rPr lang="en-US" sz="2400" baseline="0" dirty="0" smtClean="0">
                <a:latin typeface="Tw Cen MT" panose="020B0602020104020603" pitchFamily="34" charset="0"/>
              </a:rPr>
              <a:t>.</a:t>
            </a:r>
          </a:p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endParaRPr lang="en-US" sz="2400" dirty="0">
              <a:latin typeface="Tw Cen MT" panose="020B0602020104020603" pitchFamily="34" charset="0"/>
            </a:endParaRPr>
          </a:p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 smtClean="0">
                <a:latin typeface="Tw Cen MT" panose="020B0602020104020603" pitchFamily="34" charset="0"/>
              </a:rPr>
              <a:t>Additive identity:</a:t>
            </a:r>
            <a:r>
              <a:rPr lang="en-US" sz="2400" dirty="0" smtClean="0">
                <a:latin typeface="Tw Cen MT" panose="020B0602020104020603" pitchFamily="34" charset="0"/>
              </a:rPr>
              <a:t> is a zero polynomial. (adding a polynomial with </a:t>
            </a:r>
            <a:r>
              <a:rPr lang="en-US" sz="2400" dirty="0" err="1" smtClean="0">
                <a:latin typeface="Tw Cen MT" panose="020B0602020104020603" pitchFamily="34" charset="0"/>
              </a:rPr>
              <a:t>itelf</a:t>
            </a:r>
            <a:r>
              <a:rPr lang="en-US" sz="2400" dirty="0" smtClean="0">
                <a:latin typeface="Tw Cen MT" panose="020B0602020104020603" pitchFamily="34" charset="0"/>
              </a:rPr>
              <a:t>)</a:t>
            </a:r>
            <a:endParaRPr lang="en-US" sz="2400" baseline="0" dirty="0"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741528" y="825787"/>
            <a:ext cx="234551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Multiplication</a:t>
            </a:r>
            <a:endParaRPr lang="en-US" sz="32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741528" y="1966997"/>
            <a:ext cx="79384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sz="2400" baseline="0" dirty="0">
                <a:solidFill>
                  <a:schemeClr val="hlink"/>
                </a:solidFill>
                <a:latin typeface="Tw Cen MT" panose="020B0602020104020603" pitchFamily="34" charset="0"/>
              </a:rPr>
              <a:t>1.</a:t>
            </a:r>
            <a:r>
              <a:rPr lang="en-US" sz="2400" baseline="0" dirty="0">
                <a:latin typeface="Tw Cen MT" panose="020B0602020104020603" pitchFamily="34" charset="0"/>
              </a:rPr>
              <a:t> The coefficient multiplication is done in GF(2). 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741528" y="3701102"/>
            <a:ext cx="793844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sz="2400" baseline="0" dirty="0">
                <a:solidFill>
                  <a:schemeClr val="hlink"/>
                </a:solidFill>
                <a:latin typeface="Tw Cen MT" panose="020B0602020104020603" pitchFamily="34" charset="0"/>
              </a:rPr>
              <a:t>3.</a:t>
            </a:r>
            <a:r>
              <a:rPr lang="en-US" sz="2400" baseline="0" dirty="0">
                <a:latin typeface="Tw Cen MT" panose="020B0602020104020603" pitchFamily="34" charset="0"/>
              </a:rPr>
              <a:t> The multiplication may create terms with degree more than </a:t>
            </a:r>
            <a:r>
              <a:rPr lang="en-US" sz="2400" i="1" baseline="0" dirty="0">
                <a:latin typeface="Tw Cen MT" panose="020B0602020104020603" pitchFamily="34" charset="0"/>
              </a:rPr>
              <a:t>n</a:t>
            </a:r>
            <a:r>
              <a:rPr lang="en-US" sz="2400" baseline="0" dirty="0">
                <a:latin typeface="Tw Cen MT" panose="020B0602020104020603" pitchFamily="34" charset="0"/>
              </a:rPr>
              <a:t> − 1, which means the result needs to be reduced using a modulus polynomial.</a:t>
            </a: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741528" y="2652797"/>
            <a:ext cx="79384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sz="2400" baseline="0">
                <a:solidFill>
                  <a:schemeClr val="hlink"/>
                </a:solidFill>
                <a:latin typeface="Tw Cen MT" panose="020B0602020104020603" pitchFamily="34" charset="0"/>
              </a:rPr>
              <a:t>2.</a:t>
            </a:r>
            <a:r>
              <a:rPr lang="en-US" sz="2400" baseline="0">
                <a:latin typeface="Tw Cen MT" panose="020B0602020104020603" pitchFamily="34" charset="0"/>
              </a:rPr>
              <a:t> The multiplying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i="1" baseline="30000">
                <a:latin typeface="Tw Cen MT" panose="020B0602020104020603" pitchFamily="34" charset="0"/>
              </a:rPr>
              <a:t>i</a:t>
            </a:r>
            <a:r>
              <a:rPr lang="en-US" sz="2400" baseline="0">
                <a:latin typeface="Tw Cen MT" panose="020B0602020104020603" pitchFamily="34" charset="0"/>
              </a:rPr>
              <a:t> by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i="1" baseline="30000">
                <a:latin typeface="Tw Cen MT" panose="020B0602020104020603" pitchFamily="34" charset="0"/>
              </a:rPr>
              <a:t>j</a:t>
            </a:r>
            <a:r>
              <a:rPr lang="en-US" sz="2400" baseline="0">
                <a:latin typeface="Tw Cen MT" panose="020B0602020104020603" pitchFamily="34" charset="0"/>
              </a:rPr>
              <a:t> results in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i="1" baseline="30000">
                <a:latin typeface="Tw Cen MT" panose="020B0602020104020603" pitchFamily="34" charset="0"/>
              </a:rPr>
              <a:t>i</a:t>
            </a:r>
            <a:r>
              <a:rPr lang="en-US" sz="2400" baseline="30000">
                <a:latin typeface="Tw Cen MT" panose="020B0602020104020603" pitchFamily="34" charset="0"/>
              </a:rPr>
              <a:t>+</a:t>
            </a:r>
            <a:r>
              <a:rPr lang="en-US" sz="2400" i="1" baseline="30000">
                <a:latin typeface="Tw Cen MT" panose="020B0602020104020603" pitchFamily="34" charset="0"/>
              </a:rPr>
              <a:t>j</a:t>
            </a:r>
            <a:r>
              <a:rPr lang="en-US" sz="2400" baseline="0">
                <a:latin typeface="Tw Cen MT" panose="020B0602020104020603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18069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Multiplication</a:t>
            </a:r>
            <a:endParaRPr lang="en-US" sz="24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52400" y="1231513"/>
            <a:ext cx="8839200" cy="1439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>
                <a:latin typeface="Tw Cen MT" panose="020B0602020104020603" pitchFamily="34" charset="0"/>
              </a:rPr>
              <a:t>Find the result of (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5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2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0">
                <a:latin typeface="Tw Cen MT" panose="020B0602020104020603" pitchFamily="34" charset="0"/>
              </a:rPr>
              <a:t>) ⊗ (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7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4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3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2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0">
                <a:latin typeface="Tw Cen MT" panose="020B0602020104020603" pitchFamily="34" charset="0"/>
              </a:rPr>
              <a:t>) in GF(2</a:t>
            </a:r>
            <a:r>
              <a:rPr lang="en-US" sz="2400" baseline="30000">
                <a:latin typeface="Tw Cen MT" panose="020B0602020104020603" pitchFamily="34" charset="0"/>
              </a:rPr>
              <a:t>8</a:t>
            </a:r>
            <a:r>
              <a:rPr lang="en-US" sz="2400" baseline="0">
                <a:latin typeface="Tw Cen MT" panose="020B0602020104020603" pitchFamily="34" charset="0"/>
              </a:rPr>
              <a:t>) with irreducible polynomial (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8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4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3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0">
                <a:latin typeface="Tw Cen MT" panose="020B0602020104020603" pitchFamily="34" charset="0"/>
              </a:rPr>
              <a:t> + 1). Note that we use the symbol ⊗ to show the multiplication of two polynomials.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304800" y="2819400"/>
            <a:ext cx="11336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hlink"/>
                </a:solidFill>
                <a:latin typeface="Tw Cen MT" panose="020B0602020104020603" pitchFamily="34" charset="0"/>
              </a:rPr>
              <a:t>Solution</a:t>
            </a:r>
          </a:p>
        </p:txBody>
      </p:sp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638" y="3429000"/>
            <a:ext cx="8564562" cy="114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152400" y="4513090"/>
            <a:ext cx="88392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To find the final result</a:t>
            </a:r>
            <a:r>
              <a:rPr lang="en-US" sz="2400" baseline="0" dirty="0">
                <a:latin typeface="Tw Cen MT" panose="020B0602020104020603" pitchFamily="34" charset="0"/>
              </a:rPr>
              <a:t>, divide the polynomial of degree 12 by the polynomial of degree 8 (the modulus) and keep only the remainder. Figure </a:t>
            </a:r>
            <a:r>
              <a:rPr lang="en-US" sz="2400" baseline="0" dirty="0" smtClean="0">
                <a:latin typeface="Tw Cen MT" panose="020B0602020104020603" pitchFamily="34" charset="0"/>
              </a:rPr>
              <a:t> </a:t>
            </a:r>
            <a:r>
              <a:rPr lang="en-US" sz="2400" baseline="0" dirty="0">
                <a:latin typeface="Tw Cen MT" panose="020B0602020104020603" pitchFamily="34" charset="0"/>
              </a:rPr>
              <a:t>shows the process of division</a:t>
            </a:r>
            <a:r>
              <a:rPr lang="en-US" sz="2400" baseline="0" dirty="0" smtClean="0">
                <a:latin typeface="Tw Cen MT" panose="020B0602020104020603" pitchFamily="34" charset="0"/>
              </a:rPr>
              <a:t>.  </a:t>
            </a:r>
            <a:r>
              <a:rPr lang="en-US" sz="2400" b="1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Next Slide -&gt;</a:t>
            </a:r>
            <a:endParaRPr lang="en-US" sz="2400" b="1" baseline="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707879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Polynomial Division (</a:t>
            </a:r>
            <a:r>
              <a:rPr lang="en-US" sz="320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Cont. from prev. slide</a:t>
            </a:r>
            <a:r>
              <a:rPr lang="en-US" sz="32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)</a:t>
            </a:r>
            <a:endParaRPr lang="en-US" sz="32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pic>
        <p:nvPicPr>
          <p:cNvPr id="7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8063" y="1462088"/>
            <a:ext cx="7127875" cy="393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26164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Multiplication (cont.)</a:t>
            </a:r>
            <a:endParaRPr lang="en-US" sz="24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228600" y="1327702"/>
            <a:ext cx="88392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In GF (2</a:t>
            </a:r>
            <a:r>
              <a:rPr lang="en-US" sz="2400" baseline="30000" dirty="0">
                <a:latin typeface="Tw Cen MT" panose="020B0602020104020603" pitchFamily="34" charset="0"/>
              </a:rPr>
              <a:t>4</a:t>
            </a:r>
            <a:r>
              <a:rPr lang="en-US" sz="2400" baseline="0" dirty="0">
                <a:latin typeface="Tw Cen MT" panose="020B0602020104020603" pitchFamily="34" charset="0"/>
              </a:rPr>
              <a:t>), find the inverse of (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2</a:t>
            </a:r>
            <a:r>
              <a:rPr lang="en-US" sz="2400" baseline="0" dirty="0">
                <a:latin typeface="Tw Cen MT" panose="020B0602020104020603" pitchFamily="34" charset="0"/>
              </a:rPr>
              <a:t> + 1) modulo (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4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0" dirty="0">
                <a:latin typeface="Tw Cen MT" panose="020B0602020104020603" pitchFamily="34" charset="0"/>
              </a:rPr>
              <a:t> + 1).</a:t>
            </a: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28600" y="2057400"/>
            <a:ext cx="11336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hlink"/>
                </a:solidFill>
                <a:latin typeface="Tw Cen MT" panose="020B0602020104020603" pitchFamily="34" charset="0"/>
              </a:rPr>
              <a:t>Solution</a:t>
            </a:r>
          </a:p>
        </p:txBody>
      </p:sp>
      <p:pic>
        <p:nvPicPr>
          <p:cNvPr id="6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0535" y="3283566"/>
            <a:ext cx="8455025" cy="189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152400" y="2383027"/>
            <a:ext cx="8839200" cy="517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The answer is (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3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0" dirty="0">
                <a:latin typeface="Tw Cen MT" panose="020B0602020104020603" pitchFamily="34" charset="0"/>
              </a:rPr>
              <a:t> + 1) as </a:t>
            </a:r>
            <a:r>
              <a:rPr lang="en-US" sz="2400" baseline="0" dirty="0" smtClean="0">
                <a:latin typeface="Tw Cen MT" panose="020B0602020104020603" pitchFamily="34" charset="0"/>
              </a:rPr>
              <a:t>shown I the Table (</a:t>
            </a:r>
            <a:r>
              <a:rPr lang="en-US" sz="2400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Using Euclidean </a:t>
            </a:r>
            <a:r>
              <a:rPr lang="en-US" sz="2400" baseline="0" dirty="0" err="1" smtClean="0">
                <a:solidFill>
                  <a:srgbClr val="FF0000"/>
                </a:solidFill>
                <a:latin typeface="Tw Cen MT" panose="020B0602020104020603" pitchFamily="34" charset="0"/>
              </a:rPr>
              <a:t>Algo</a:t>
            </a:r>
            <a:r>
              <a:rPr lang="en-US" sz="2400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.</a:t>
            </a:r>
            <a:r>
              <a:rPr lang="en-US" sz="2400" baseline="0" dirty="0" smtClean="0">
                <a:latin typeface="Tw Cen MT" panose="020B0602020104020603" pitchFamily="34" charset="0"/>
              </a:rPr>
              <a:t>).</a:t>
            </a:r>
            <a:endParaRPr lang="en-US" sz="2400" baseline="0" dirty="0">
              <a:latin typeface="Tw Cen MT" panose="020B06020201040206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8490" y="5718412"/>
            <a:ext cx="8338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w Cen MT" panose="020B0602020104020603" pitchFamily="34" charset="0"/>
              </a:rPr>
              <a:t>Multiplicative identity: 1, e.g. in GF (2</a:t>
            </a:r>
            <a:r>
              <a:rPr lang="en-US" baseline="30000" dirty="0" smtClean="0">
                <a:latin typeface="Tw Cen MT" panose="020B0602020104020603" pitchFamily="34" charset="0"/>
              </a:rPr>
              <a:t>8</a:t>
            </a:r>
            <a:r>
              <a:rPr lang="en-US" dirty="0" smtClean="0">
                <a:latin typeface="Tw Cen MT" panose="020B0602020104020603" pitchFamily="34" charset="0"/>
              </a:rPr>
              <a:t>), it is 00000001</a:t>
            </a:r>
          </a:p>
          <a:p>
            <a:r>
              <a:rPr lang="en-US" dirty="0" smtClean="0">
                <a:latin typeface="Tw Cen MT" panose="020B0602020104020603" pitchFamily="34" charset="0"/>
              </a:rPr>
              <a:t>Multiplicative Inverse: Extended </a:t>
            </a:r>
            <a:r>
              <a:rPr lang="en-US" dirty="0" err="1" smtClean="0">
                <a:latin typeface="Tw Cen MT" panose="020B0602020104020603" pitchFamily="34" charset="0"/>
              </a:rPr>
              <a:t>Eucleadean</a:t>
            </a:r>
            <a:r>
              <a:rPr lang="en-US" dirty="0" smtClean="0">
                <a:latin typeface="Tw Cen MT" panose="020B0602020104020603" pitchFamily="34" charset="0"/>
              </a:rPr>
              <a:t> Algorithm must be applied to the modulus and the </a:t>
            </a:r>
            <a:r>
              <a:rPr lang="en-US" dirty="0" err="1" smtClean="0">
                <a:latin typeface="Tw Cen MT" panose="020B0602020104020603" pitchFamily="34" charset="0"/>
              </a:rPr>
              <a:t>polynimials</a:t>
            </a:r>
            <a:r>
              <a:rPr lang="en-US" dirty="0" smtClean="0">
                <a:latin typeface="Tw Cen MT" panose="020B0602020104020603" pitchFamily="34" charset="0"/>
              </a:rPr>
              <a:t>.</a:t>
            </a:r>
            <a:endParaRPr lang="en-US" dirty="0"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0" name="Text Box 9"/>
          <p:cNvSpPr txBox="1">
            <a:spLocks noChangeArrowheads="1"/>
          </p:cNvSpPr>
          <p:nvPr/>
        </p:nvSpPr>
        <p:spPr bwMode="auto">
          <a:xfrm>
            <a:off x="990600" y="0"/>
            <a:ext cx="15616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800" i="1" baseline="0" dirty="0" smtClean="0">
                <a:latin typeface="Tw Cen MT" panose="020B0602020104020603" pitchFamily="34" charset="0"/>
              </a:rPr>
              <a:t>Continued</a:t>
            </a:r>
            <a:endParaRPr lang="en-US" sz="2800" i="1" baseline="0" dirty="0">
              <a:latin typeface="Tw Cen MT" panose="020B0602020104020603" pitchFamily="34" charset="0"/>
            </a:endParaRPr>
          </a:p>
        </p:txBody>
      </p:sp>
      <p:sp>
        <p:nvSpPr>
          <p:cNvPr id="46091" name="Text Box 10"/>
          <p:cNvSpPr txBox="1">
            <a:spLocks noChangeArrowheads="1"/>
          </p:cNvSpPr>
          <p:nvPr/>
        </p:nvSpPr>
        <p:spPr bwMode="auto">
          <a:xfrm>
            <a:off x="703384" y="589672"/>
            <a:ext cx="1571264" cy="52322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800" baseline="0" dirty="0">
                <a:solidFill>
                  <a:schemeClr val="bg1"/>
                </a:solidFill>
                <a:latin typeface="Tw Cen MT" panose="020B0602020104020603" pitchFamily="34" charset="0"/>
              </a:rPr>
              <a:t>Example </a:t>
            </a:r>
            <a:endParaRPr lang="en-US" sz="2800" i="1" baseline="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46092" name="Rectangle 11"/>
          <p:cNvSpPr>
            <a:spLocks noChangeArrowheads="1"/>
          </p:cNvSpPr>
          <p:nvPr/>
        </p:nvSpPr>
        <p:spPr bwMode="auto">
          <a:xfrm>
            <a:off x="234462" y="1098084"/>
            <a:ext cx="8839200" cy="517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In GF(2</a:t>
            </a:r>
            <a:r>
              <a:rPr lang="en-US" sz="2400" baseline="30000" dirty="0">
                <a:latin typeface="Tw Cen MT" panose="020B0602020104020603" pitchFamily="34" charset="0"/>
              </a:rPr>
              <a:t>8</a:t>
            </a:r>
            <a:r>
              <a:rPr lang="en-US" sz="2400" baseline="0" dirty="0">
                <a:latin typeface="Tw Cen MT" panose="020B0602020104020603" pitchFamily="34" charset="0"/>
              </a:rPr>
              <a:t>), find the inverse of (x</a:t>
            </a:r>
            <a:r>
              <a:rPr lang="en-US" sz="2400" baseline="30000" dirty="0">
                <a:latin typeface="Tw Cen MT" panose="020B0602020104020603" pitchFamily="34" charset="0"/>
              </a:rPr>
              <a:t>5</a:t>
            </a:r>
            <a:r>
              <a:rPr lang="en-US" sz="2400" baseline="0" dirty="0">
                <a:latin typeface="Tw Cen MT" panose="020B0602020104020603" pitchFamily="34" charset="0"/>
              </a:rPr>
              <a:t>) modulo (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8 </a:t>
            </a:r>
            <a:r>
              <a:rPr lang="en-US" sz="2400" baseline="0" dirty="0">
                <a:latin typeface="Tw Cen MT" panose="020B0602020104020603" pitchFamily="34" charset="0"/>
              </a:rPr>
              <a:t>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4 </a:t>
            </a:r>
            <a:r>
              <a:rPr lang="en-US" sz="2400" baseline="0" dirty="0">
                <a:latin typeface="Tw Cen MT" panose="020B0602020104020603" pitchFamily="34" charset="0"/>
              </a:rPr>
              <a:t>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3 </a:t>
            </a:r>
            <a:r>
              <a:rPr lang="en-US" sz="2400" baseline="0" dirty="0">
                <a:latin typeface="Tw Cen MT" panose="020B0602020104020603" pitchFamily="34" charset="0"/>
              </a:rPr>
              <a:t>+ </a:t>
            </a:r>
            <a:r>
              <a:rPr lang="en-US" sz="2400" i="1" baseline="0" dirty="0">
                <a:latin typeface="Tw Cen MT" panose="020B0602020104020603" pitchFamily="34" charset="0"/>
              </a:rPr>
              <a:t>x </a:t>
            </a:r>
            <a:r>
              <a:rPr lang="en-US" sz="2400" baseline="0" dirty="0">
                <a:latin typeface="Tw Cen MT" panose="020B0602020104020603" pitchFamily="34" charset="0"/>
              </a:rPr>
              <a:t>+ 1).</a:t>
            </a:r>
          </a:p>
        </p:txBody>
      </p:sp>
      <p:sp>
        <p:nvSpPr>
          <p:cNvPr id="1148940" name="Text Box 12"/>
          <p:cNvSpPr txBox="1">
            <a:spLocks noChangeArrowheads="1"/>
          </p:cNvSpPr>
          <p:nvPr/>
        </p:nvSpPr>
        <p:spPr bwMode="auto">
          <a:xfrm>
            <a:off x="76200" y="1752600"/>
            <a:ext cx="12250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aseline="0">
                <a:solidFill>
                  <a:schemeClr val="hlink"/>
                </a:solidFill>
                <a:latin typeface="Tw Cen MT" panose="020B0602020104020603" pitchFamily="34" charset="0"/>
              </a:rPr>
              <a:t>Solution</a:t>
            </a:r>
          </a:p>
        </p:txBody>
      </p:sp>
      <p:sp>
        <p:nvSpPr>
          <p:cNvPr id="1148943" name="Text Box 15"/>
          <p:cNvSpPr txBox="1">
            <a:spLocks noChangeArrowheads="1"/>
          </p:cNvSpPr>
          <p:nvPr/>
        </p:nvSpPr>
        <p:spPr bwMode="auto">
          <a:xfrm>
            <a:off x="1558632" y="3319975"/>
            <a:ext cx="5683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baseline="-2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8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Table </a:t>
            </a:r>
            <a:r>
              <a:rPr lang="en-US" sz="2800" baseline="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 </a:t>
            </a:r>
            <a:r>
              <a:rPr lang="en-US" sz="2800" i="1" baseline="0" dirty="0">
                <a:latin typeface="Tw Cen MT" panose="020B0602020104020603" pitchFamily="34" charset="0"/>
              </a:rPr>
              <a:t>Euclidean algorithm for </a:t>
            </a:r>
            <a:r>
              <a:rPr lang="en-US" sz="2800" i="1" baseline="0" dirty="0" smtClean="0">
                <a:latin typeface="Tw Cen MT" panose="020B0602020104020603" pitchFamily="34" charset="0"/>
              </a:rPr>
              <a:t>Example </a:t>
            </a:r>
            <a:endParaRPr lang="en-US" sz="2800" i="1" baseline="0" dirty="0">
              <a:latin typeface="Tw Cen MT" panose="020B0602020104020603" pitchFamily="34" charset="0"/>
            </a:endParaRPr>
          </a:p>
        </p:txBody>
      </p:sp>
      <p:sp>
        <p:nvSpPr>
          <p:cNvPr id="1148945" name="Rectangle 17"/>
          <p:cNvSpPr>
            <a:spLocks noChangeArrowheads="1"/>
          </p:cNvSpPr>
          <p:nvPr/>
        </p:nvSpPr>
        <p:spPr bwMode="auto">
          <a:xfrm>
            <a:off x="0" y="2278036"/>
            <a:ext cx="8839200" cy="517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The answer is (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5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4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3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0" dirty="0">
                <a:latin typeface="Tw Cen MT" panose="020B0602020104020603" pitchFamily="34" charset="0"/>
              </a:rPr>
              <a:t>) as shown in Table </a:t>
            </a:r>
            <a:r>
              <a:rPr lang="en-US" sz="2400" baseline="0" dirty="0" smtClean="0">
                <a:latin typeface="Tw Cen MT" panose="020B0602020104020603" pitchFamily="34" charset="0"/>
              </a:rPr>
              <a:t>(</a:t>
            </a:r>
            <a:r>
              <a:rPr lang="en-US" sz="2400" baseline="0" dirty="0" err="1" smtClean="0">
                <a:solidFill>
                  <a:srgbClr val="FF0000"/>
                </a:solidFill>
                <a:latin typeface="Tw Cen MT" panose="020B0602020104020603" pitchFamily="34" charset="0"/>
              </a:rPr>
              <a:t>Eucld</a:t>
            </a:r>
            <a:r>
              <a:rPr lang="en-US" sz="2400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 </a:t>
            </a:r>
            <a:r>
              <a:rPr lang="en-US" sz="2400" baseline="0" dirty="0" err="1" smtClean="0">
                <a:solidFill>
                  <a:srgbClr val="FF0000"/>
                </a:solidFill>
                <a:latin typeface="Tw Cen MT" panose="020B0602020104020603" pitchFamily="34" charset="0"/>
              </a:rPr>
              <a:t>Algo</a:t>
            </a:r>
            <a:r>
              <a:rPr lang="en-US" sz="2400" baseline="0" dirty="0" smtClean="0">
                <a:latin typeface="Tw Cen MT" panose="020B0602020104020603" pitchFamily="34" charset="0"/>
              </a:rPr>
              <a:t>).</a:t>
            </a:r>
            <a:endParaRPr lang="en-US" sz="2400" baseline="0" dirty="0">
              <a:latin typeface="Tw Cen MT" panose="020B06020201040206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67" y="3905763"/>
            <a:ext cx="853440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5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8940" grpId="0"/>
      <p:bldP spid="1148943" grpId="0"/>
      <p:bldP spid="114894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468307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Multiplication by Computer </a:t>
            </a:r>
            <a:endParaRPr lang="en-US" sz="32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304800" y="2104478"/>
            <a:ext cx="88392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/>
            <a:r>
              <a:rPr lang="en-US" sz="2800" baseline="0" dirty="0">
                <a:latin typeface="Tw Cen MT" panose="020B0602020104020603" pitchFamily="34" charset="0"/>
              </a:rPr>
              <a:t>The computer implementation uses a better algorithm, repeatedly multiplying a reduced polynomial by </a:t>
            </a:r>
            <a:r>
              <a:rPr lang="en-US" sz="2800" i="1" baseline="0" dirty="0">
                <a:latin typeface="Tw Cen MT" panose="020B0602020104020603" pitchFamily="34" charset="0"/>
              </a:rPr>
              <a:t>x</a:t>
            </a:r>
            <a:r>
              <a:rPr lang="en-US" sz="2800" baseline="0" dirty="0">
                <a:latin typeface="Tw Cen MT" panose="020B0602020104020603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147763" y="533400"/>
            <a:ext cx="468307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Multiplication by Computer </a:t>
            </a:r>
            <a:endParaRPr lang="en-US" sz="32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152400" y="1127125"/>
            <a:ext cx="88392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>
                <a:latin typeface="Tw Cen MT" panose="020B0602020104020603" pitchFamily="34" charset="0"/>
              </a:rPr>
              <a:t>Find the result of multiplying P</a:t>
            </a:r>
            <a:r>
              <a:rPr lang="en-US" sz="2400" baseline="-25000">
                <a:latin typeface="Tw Cen MT" panose="020B0602020104020603" pitchFamily="34" charset="0"/>
              </a:rPr>
              <a:t>1</a:t>
            </a:r>
            <a:r>
              <a:rPr lang="en-US" sz="2400" baseline="0">
                <a:latin typeface="Tw Cen MT" panose="020B0602020104020603" pitchFamily="34" charset="0"/>
              </a:rPr>
              <a:t> = (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5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2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0">
                <a:latin typeface="Tw Cen MT" panose="020B0602020104020603" pitchFamily="34" charset="0"/>
              </a:rPr>
              <a:t>) by P</a:t>
            </a:r>
            <a:r>
              <a:rPr lang="en-US" sz="2400" baseline="-25000">
                <a:latin typeface="Tw Cen MT" panose="020B0602020104020603" pitchFamily="34" charset="0"/>
              </a:rPr>
              <a:t>2</a:t>
            </a:r>
            <a:r>
              <a:rPr lang="en-US" sz="2400" baseline="0">
                <a:latin typeface="Tw Cen MT" panose="020B0602020104020603" pitchFamily="34" charset="0"/>
              </a:rPr>
              <a:t> = (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7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4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3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2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0">
                <a:latin typeface="Tw Cen MT" panose="020B0602020104020603" pitchFamily="34" charset="0"/>
              </a:rPr>
              <a:t>) in GF(2</a:t>
            </a:r>
            <a:r>
              <a:rPr lang="en-US" sz="2400" baseline="30000">
                <a:latin typeface="Tw Cen MT" panose="020B0602020104020603" pitchFamily="34" charset="0"/>
              </a:rPr>
              <a:t>8</a:t>
            </a:r>
            <a:r>
              <a:rPr lang="en-US" sz="2400" baseline="0">
                <a:latin typeface="Tw Cen MT" panose="020B0602020104020603" pitchFamily="34" charset="0"/>
              </a:rPr>
              <a:t>) with irreducible polynomial (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8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4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30000">
                <a:latin typeface="Tw Cen MT" panose="020B0602020104020603" pitchFamily="34" charset="0"/>
              </a:rPr>
              <a:t>3</a:t>
            </a:r>
            <a:r>
              <a:rPr lang="en-US" sz="2400" baseline="0">
                <a:latin typeface="Tw Cen MT" panose="020B0602020104020603" pitchFamily="34" charset="0"/>
              </a:rPr>
              <a:t> + </a:t>
            </a:r>
            <a:r>
              <a:rPr lang="en-US" sz="2400" i="1" baseline="0">
                <a:latin typeface="Tw Cen MT" panose="020B0602020104020603" pitchFamily="34" charset="0"/>
              </a:rPr>
              <a:t>x</a:t>
            </a:r>
            <a:r>
              <a:rPr lang="en-US" sz="2400" baseline="0">
                <a:latin typeface="Tw Cen MT" panose="020B0602020104020603" pitchFamily="34" charset="0"/>
              </a:rPr>
              <a:t> + 1) using the algorithm described above.</a:t>
            </a: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28600" y="2667000"/>
            <a:ext cx="11336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hlink"/>
                </a:solidFill>
                <a:latin typeface="Tw Cen MT" panose="020B0602020104020603" pitchFamily="34" charset="0"/>
              </a:rPr>
              <a:t>Solution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3048000"/>
            <a:ext cx="88392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The process is shown in </a:t>
            </a:r>
            <a:r>
              <a:rPr lang="en-US" sz="2400" baseline="0" dirty="0" smtClean="0">
                <a:latin typeface="Tw Cen MT" panose="020B0602020104020603" pitchFamily="34" charset="0"/>
              </a:rPr>
              <a:t>the Table </a:t>
            </a:r>
            <a:r>
              <a:rPr lang="en-US" sz="2400" baseline="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in next slide</a:t>
            </a:r>
            <a:r>
              <a:rPr lang="en-US" sz="2400" baseline="0" dirty="0" smtClean="0">
                <a:latin typeface="Tw Cen MT" panose="020B0602020104020603" pitchFamily="34" charset="0"/>
              </a:rPr>
              <a:t>. </a:t>
            </a:r>
            <a:r>
              <a:rPr lang="en-US" sz="2400" baseline="0" dirty="0">
                <a:latin typeface="Tw Cen MT" panose="020B0602020104020603" pitchFamily="34" charset="0"/>
              </a:rPr>
              <a:t>We first find the partial result of multiplying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0</a:t>
            </a:r>
            <a:r>
              <a:rPr lang="en-US" sz="2400" baseline="0" dirty="0">
                <a:latin typeface="Tw Cen MT" panose="020B0602020104020603" pitchFamily="34" charset="0"/>
              </a:rPr>
              <a:t>,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1</a:t>
            </a:r>
            <a:r>
              <a:rPr lang="en-US" sz="2400" baseline="0" dirty="0">
                <a:latin typeface="Tw Cen MT" panose="020B0602020104020603" pitchFamily="34" charset="0"/>
              </a:rPr>
              <a:t>,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2</a:t>
            </a:r>
            <a:r>
              <a:rPr lang="en-US" sz="2400" baseline="0" dirty="0">
                <a:latin typeface="Tw Cen MT" panose="020B0602020104020603" pitchFamily="34" charset="0"/>
              </a:rPr>
              <a:t>,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3</a:t>
            </a:r>
            <a:r>
              <a:rPr lang="en-US" sz="2400" baseline="0" dirty="0">
                <a:latin typeface="Tw Cen MT" panose="020B0602020104020603" pitchFamily="34" charset="0"/>
              </a:rPr>
              <a:t>,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4</a:t>
            </a:r>
            <a:r>
              <a:rPr lang="en-US" sz="2400" baseline="0" dirty="0">
                <a:latin typeface="Tw Cen MT" panose="020B0602020104020603" pitchFamily="34" charset="0"/>
              </a:rPr>
              <a:t>, and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5</a:t>
            </a:r>
            <a:r>
              <a:rPr lang="en-US" sz="2400" baseline="0" dirty="0">
                <a:latin typeface="Tw Cen MT" panose="020B0602020104020603" pitchFamily="34" charset="0"/>
              </a:rPr>
              <a:t> by P</a:t>
            </a:r>
            <a:r>
              <a:rPr lang="en-US" sz="2400" baseline="-25000" dirty="0">
                <a:latin typeface="Tw Cen MT" panose="020B0602020104020603" pitchFamily="34" charset="0"/>
              </a:rPr>
              <a:t>2</a:t>
            </a:r>
            <a:r>
              <a:rPr lang="en-US" sz="2400" baseline="0" dirty="0">
                <a:latin typeface="Tw Cen MT" panose="020B0602020104020603" pitchFamily="34" charset="0"/>
              </a:rPr>
              <a:t>. Note that although only three terms are needed, the product of </a:t>
            </a:r>
            <a:r>
              <a:rPr lang="en-US" sz="2400" i="1" baseline="0" dirty="0" err="1">
                <a:latin typeface="Tw Cen MT" panose="020B0602020104020603" pitchFamily="34" charset="0"/>
              </a:rPr>
              <a:t>x</a:t>
            </a:r>
            <a:r>
              <a:rPr lang="en-US" sz="2400" i="1" baseline="30000" dirty="0" err="1">
                <a:latin typeface="Tw Cen MT" panose="020B0602020104020603" pitchFamily="34" charset="0"/>
              </a:rPr>
              <a:t>m</a:t>
            </a:r>
            <a:r>
              <a:rPr lang="en-US" sz="2400" baseline="0" dirty="0">
                <a:latin typeface="Tw Cen MT" panose="020B0602020104020603" pitchFamily="34" charset="0"/>
              </a:rPr>
              <a:t> ⊗ P</a:t>
            </a:r>
            <a:r>
              <a:rPr lang="en-US" sz="2400" baseline="-25000" dirty="0">
                <a:latin typeface="Tw Cen MT" panose="020B0602020104020603" pitchFamily="34" charset="0"/>
              </a:rPr>
              <a:t>2</a:t>
            </a:r>
            <a:r>
              <a:rPr lang="en-US" sz="2400" baseline="0" dirty="0">
                <a:latin typeface="Tw Cen MT" panose="020B0602020104020603" pitchFamily="34" charset="0"/>
              </a:rPr>
              <a:t> for </a:t>
            </a:r>
            <a:r>
              <a:rPr lang="en-US" sz="2400" i="1" baseline="0" dirty="0">
                <a:latin typeface="Tw Cen MT" panose="020B0602020104020603" pitchFamily="34" charset="0"/>
              </a:rPr>
              <a:t>m</a:t>
            </a:r>
            <a:r>
              <a:rPr lang="en-US" sz="2400" baseline="0" dirty="0">
                <a:latin typeface="Tw Cen MT" panose="020B0602020104020603" pitchFamily="34" charset="0"/>
              </a:rPr>
              <a:t> from 0 to 5 because each calculation depends on the previous result.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706328" y="501869"/>
            <a:ext cx="468307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Multiplication by Computer </a:t>
            </a:r>
            <a:endParaRPr lang="en-US" sz="32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2270344" y="1629103"/>
            <a:ext cx="43718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Table </a:t>
            </a:r>
            <a:r>
              <a:rPr lang="en-US" sz="2800" baseline="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  </a:t>
            </a:r>
            <a:r>
              <a:rPr lang="en-US" sz="2800" i="1" baseline="0" dirty="0">
                <a:latin typeface="Tw Cen MT" panose="020B0602020104020603" pitchFamily="34" charset="0"/>
              </a:rPr>
              <a:t>An efficient algorithm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88" y="2540170"/>
            <a:ext cx="8648700" cy="3381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706328" y="501869"/>
            <a:ext cx="35596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Multiplication by Computer </a:t>
            </a:r>
            <a:endParaRPr lang="en-US" sz="24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152400" y="932892"/>
            <a:ext cx="88392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Repeat </a:t>
            </a:r>
            <a:r>
              <a:rPr lang="en-US" sz="2400" dirty="0" smtClean="0">
                <a:latin typeface="Tw Cen MT" panose="020B0602020104020603" pitchFamily="34" charset="0"/>
              </a:rPr>
              <a:t>the same</a:t>
            </a:r>
            <a:r>
              <a:rPr lang="en-US" sz="2400" baseline="0" dirty="0" smtClean="0">
                <a:latin typeface="Tw Cen MT" panose="020B0602020104020603" pitchFamily="34" charset="0"/>
              </a:rPr>
              <a:t> </a:t>
            </a:r>
            <a:r>
              <a:rPr lang="en-US" sz="2400" baseline="0" dirty="0">
                <a:latin typeface="Tw Cen MT" panose="020B0602020104020603" pitchFamily="34" charset="0"/>
              </a:rPr>
              <a:t>using bit patterns of size 8.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52400" y="1524000"/>
            <a:ext cx="11336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hlink"/>
                </a:solidFill>
                <a:latin typeface="Tw Cen MT" panose="020B0602020104020603" pitchFamily="34" charset="0"/>
              </a:rPr>
              <a:t>Solution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152400" y="1976606"/>
            <a:ext cx="8839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>
                <a:latin typeface="Tw Cen MT" panose="020B0602020104020603" pitchFamily="34" charset="0"/>
              </a:rPr>
              <a:t>We have P1 = 000100110, P2 = 10011110, modulus = 100011010 (nine bits). We show the exclusive or operation by Å. </a:t>
            </a:r>
          </a:p>
        </p:txBody>
      </p:sp>
      <p:pic>
        <p:nvPicPr>
          <p:cNvPr id="10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613" y="3673475"/>
            <a:ext cx="8510587" cy="295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685800" y="3124200"/>
            <a:ext cx="78800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aseline="0" dirty="0">
                <a:solidFill>
                  <a:schemeClr val="folHlink"/>
                </a:solidFill>
                <a:latin typeface="Tw Cen MT" panose="020B0602020104020603" pitchFamily="34" charset="0"/>
              </a:rPr>
              <a:t>Table </a:t>
            </a:r>
            <a:r>
              <a:rPr lang="en-US" sz="2400" baseline="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  </a:t>
            </a:r>
            <a:r>
              <a:rPr lang="en-US" sz="2400" i="1" baseline="0" dirty="0">
                <a:latin typeface="Tw Cen MT" panose="020B0602020104020603" pitchFamily="34" charset="0"/>
              </a:rPr>
              <a:t>An efficient algorithm for multiplication using n-bit words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706328" y="501869"/>
            <a:ext cx="54683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Multiplication Using bit-patterns </a:t>
            </a:r>
            <a:endParaRPr lang="en-US" sz="3200" baseline="0" dirty="0">
              <a:solidFill>
                <a:schemeClr val="folHlink"/>
              </a:solidFill>
              <a:latin typeface="Tw Cen MT" panose="020B0602020104020603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45910" y="1577418"/>
            <a:ext cx="8118143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latin typeface="Tw Cen MT" panose="020B0602020104020603" pitchFamily="34" charset="0"/>
              </a:rPr>
              <a:t>The GF(2</a:t>
            </a:r>
            <a:r>
              <a:rPr lang="en-US" sz="2400" baseline="30000" dirty="0">
                <a:latin typeface="Tw Cen MT" panose="020B0602020104020603" pitchFamily="34" charset="0"/>
              </a:rPr>
              <a:t>3</a:t>
            </a:r>
            <a:r>
              <a:rPr lang="en-US" sz="2400" baseline="0" dirty="0">
                <a:latin typeface="Tw Cen MT" panose="020B0602020104020603" pitchFamily="34" charset="0"/>
              </a:rPr>
              <a:t>) field has 8 elements. We use the irreducible polynomial </a:t>
            </a:r>
            <a:r>
              <a:rPr lang="en-US" sz="2400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(</a:t>
            </a:r>
            <a:r>
              <a:rPr lang="en-US" sz="2400" i="1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solidFill>
                  <a:srgbClr val="FF0000"/>
                </a:solidFill>
                <a:latin typeface="Tw Cen MT" panose="020B0602020104020603" pitchFamily="34" charset="0"/>
              </a:rPr>
              <a:t>3</a:t>
            </a:r>
            <a:r>
              <a:rPr lang="en-US" sz="2400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solidFill>
                  <a:srgbClr val="FF0000"/>
                </a:solidFill>
                <a:latin typeface="Tw Cen MT" panose="020B0602020104020603" pitchFamily="34" charset="0"/>
              </a:rPr>
              <a:t>2</a:t>
            </a:r>
            <a:r>
              <a:rPr lang="en-US" sz="2400" baseline="0" dirty="0">
                <a:solidFill>
                  <a:srgbClr val="FF0000"/>
                </a:solidFill>
                <a:latin typeface="Tw Cen MT" panose="020B0602020104020603" pitchFamily="34" charset="0"/>
              </a:rPr>
              <a:t> + 1) </a:t>
            </a:r>
            <a:r>
              <a:rPr lang="en-US" sz="2400" baseline="0" dirty="0">
                <a:latin typeface="Tw Cen MT" panose="020B0602020104020603" pitchFamily="34" charset="0"/>
              </a:rPr>
              <a:t>and show the addition and multiplication tables for this field. We show both 3-bit words and the polynomials. Note that there are two irreducible polynomials for degree 3. The other one, (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30000" dirty="0">
                <a:latin typeface="Tw Cen MT" panose="020B0602020104020603" pitchFamily="34" charset="0"/>
              </a:rPr>
              <a:t>3</a:t>
            </a:r>
            <a:r>
              <a:rPr lang="en-US" sz="2400" baseline="0" dirty="0">
                <a:latin typeface="Tw Cen MT" panose="020B0602020104020603" pitchFamily="34" charset="0"/>
              </a:rPr>
              <a:t> + </a:t>
            </a:r>
            <a:r>
              <a:rPr lang="en-US" sz="2400" i="1" baseline="0" dirty="0">
                <a:latin typeface="Tw Cen MT" panose="020B0602020104020603" pitchFamily="34" charset="0"/>
              </a:rPr>
              <a:t>x</a:t>
            </a:r>
            <a:r>
              <a:rPr lang="en-US" sz="2400" baseline="0" dirty="0">
                <a:latin typeface="Tw Cen MT" panose="020B0602020104020603" pitchFamily="34" charset="0"/>
              </a:rPr>
              <a:t> + 1), yields a totally different table for multiplication.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2222193" y="789366"/>
            <a:ext cx="4529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aseline="0" dirty="0" smtClean="0">
                <a:solidFill>
                  <a:schemeClr val="folHlink"/>
                </a:solidFill>
                <a:latin typeface="Tw Cen MT" panose="020B0602020104020603" pitchFamily="34" charset="0"/>
              </a:rPr>
              <a:t> </a:t>
            </a:r>
            <a:r>
              <a:rPr lang="en-US" sz="2800" i="1" baseline="0" dirty="0">
                <a:latin typeface="Tw Cen MT" panose="020B0602020104020603" pitchFamily="34" charset="0"/>
              </a:rPr>
              <a:t>Addition table for </a:t>
            </a:r>
            <a:r>
              <a:rPr lang="en-US" sz="2800" i="1" baseline="0" dirty="0" smtClean="0">
                <a:latin typeface="Tw Cen MT" panose="020B0602020104020603" pitchFamily="34" charset="0"/>
              </a:rPr>
              <a:t>GF(2</a:t>
            </a:r>
            <a:r>
              <a:rPr lang="en-US" sz="2800" i="1" baseline="30000" dirty="0" smtClean="0">
                <a:latin typeface="Tw Cen MT" panose="020B0602020104020603" pitchFamily="34" charset="0"/>
              </a:rPr>
              <a:t>3</a:t>
            </a:r>
            <a:r>
              <a:rPr lang="en-US" sz="2800" i="1" baseline="0" dirty="0" smtClean="0">
                <a:latin typeface="Tw Cen MT" panose="020B0602020104020603" pitchFamily="34" charset="0"/>
              </a:rPr>
              <a:t>)</a:t>
            </a:r>
            <a:r>
              <a:rPr lang="en-US" sz="2800" i="1" baseline="0" dirty="0" smtClean="0">
                <a:solidFill>
                  <a:srgbClr val="0000CC"/>
                </a:solidFill>
                <a:latin typeface="Tw Cen MT" panose="020B0602020104020603" pitchFamily="34" charset="0"/>
              </a:rPr>
              <a:t>mod</a:t>
            </a:r>
            <a:r>
              <a:rPr lang="en-US" sz="2800" i="1" baseline="0" dirty="0" smtClean="0">
                <a:latin typeface="Tw Cen MT" panose="020B0602020104020603" pitchFamily="34" charset="0"/>
              </a:rPr>
              <a:t> </a:t>
            </a:r>
            <a:endParaRPr lang="en-US" sz="2800" i="1" baseline="0" dirty="0">
              <a:latin typeface="Tw Cen MT" panose="020B06020201040206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5240" y="1403545"/>
            <a:ext cx="8477250" cy="4838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68399" y="838759"/>
            <a:ext cx="1465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w Cen MT" panose="020B0602020104020603" pitchFamily="34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w Cen MT" panose="020B0602020104020603" pitchFamily="34" charset="0"/>
              </a:rPr>
              <a:t>x</a:t>
            </a:r>
            <a:r>
              <a:rPr lang="en-US" baseline="30000" dirty="0">
                <a:solidFill>
                  <a:srgbClr val="FF0000"/>
                </a:solidFill>
                <a:latin typeface="Tw Cen MT" panose="020B0602020104020603" pitchFamily="34" charset="0"/>
              </a:rPr>
              <a:t>3</a:t>
            </a:r>
            <a:r>
              <a:rPr lang="en-US" dirty="0">
                <a:solidFill>
                  <a:srgbClr val="FF0000"/>
                </a:solidFill>
                <a:latin typeface="Tw Cen MT" panose="020B0602020104020603" pitchFamily="34" charset="0"/>
              </a:rPr>
              <a:t> + </a:t>
            </a:r>
            <a:r>
              <a:rPr lang="en-US" i="1" dirty="0">
                <a:solidFill>
                  <a:srgbClr val="FF0000"/>
                </a:solidFill>
                <a:latin typeface="Tw Cen MT" panose="020B0602020104020603" pitchFamily="34" charset="0"/>
              </a:rPr>
              <a:t>x</a:t>
            </a:r>
            <a:r>
              <a:rPr lang="en-US" baseline="30000" dirty="0">
                <a:solidFill>
                  <a:srgbClr val="FF0000"/>
                </a:solidFill>
                <a:latin typeface="Tw Cen MT" panose="020B0602020104020603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  <a:latin typeface="Tw Cen MT" panose="020B0602020104020603" pitchFamily="34" charset="0"/>
              </a:rPr>
              <a:t> + 1)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65538" y="365550"/>
            <a:ext cx="5122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baseline="0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Multiplication table for GF(2</a:t>
            </a:r>
            <a:r>
              <a:rPr lang="en-US" sz="2800" i="1" baseline="30000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3</a:t>
            </a:r>
            <a:r>
              <a:rPr lang="en-US" sz="2800" i="1" baseline="0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) mod</a:t>
            </a:r>
            <a:endParaRPr lang="en-US" sz="2800" i="1" baseline="0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4837" y="947737"/>
            <a:ext cx="7934325" cy="49625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51279" y="458932"/>
            <a:ext cx="1465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w Cen MT" panose="020B0602020104020603" pitchFamily="34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w Cen MT" panose="020B0602020104020603" pitchFamily="34" charset="0"/>
              </a:rPr>
              <a:t>x</a:t>
            </a:r>
            <a:r>
              <a:rPr lang="en-US" baseline="30000" dirty="0">
                <a:solidFill>
                  <a:srgbClr val="FF0000"/>
                </a:solidFill>
                <a:latin typeface="Tw Cen MT" panose="020B0602020104020603" pitchFamily="34" charset="0"/>
              </a:rPr>
              <a:t>3</a:t>
            </a:r>
            <a:r>
              <a:rPr lang="en-US" dirty="0">
                <a:solidFill>
                  <a:srgbClr val="FF0000"/>
                </a:solidFill>
                <a:latin typeface="Tw Cen MT" panose="020B0602020104020603" pitchFamily="34" charset="0"/>
              </a:rPr>
              <a:t> + </a:t>
            </a:r>
            <a:r>
              <a:rPr lang="en-US" i="1" dirty="0">
                <a:solidFill>
                  <a:srgbClr val="FF0000"/>
                </a:solidFill>
                <a:latin typeface="Tw Cen MT" panose="020B0602020104020603" pitchFamily="34" charset="0"/>
              </a:rPr>
              <a:t>x</a:t>
            </a:r>
            <a:r>
              <a:rPr lang="en-US" baseline="30000" dirty="0">
                <a:solidFill>
                  <a:srgbClr val="FF0000"/>
                </a:solidFill>
                <a:latin typeface="Tw Cen MT" panose="020B0602020104020603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  <a:latin typeface="Tw Cen MT" panose="020B0602020104020603" pitchFamily="34" charset="0"/>
              </a:rPr>
              <a:t> + 1)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83224" y="258764"/>
            <a:ext cx="8209084" cy="685800"/>
          </a:xfrm>
        </p:spPr>
        <p:txBody>
          <a:bodyPr/>
          <a:lstStyle/>
          <a:p>
            <a:r>
              <a:rPr lang="en-US" smtClean="0"/>
              <a:t>Ordinary Polynomial Arithmetic</a:t>
            </a:r>
            <a:endParaRPr lang="en-AU" smtClean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1" y="1600201"/>
            <a:ext cx="8229600" cy="4525963"/>
          </a:xfrm>
        </p:spPr>
        <p:txBody>
          <a:bodyPr/>
          <a:lstStyle/>
          <a:p>
            <a:pPr lvl="1"/>
            <a:endParaRPr lang="en-AU" smtClean="0"/>
          </a:p>
          <a:p>
            <a:pPr lvl="1"/>
            <a:endParaRPr lang="en-AU" smtClean="0"/>
          </a:p>
        </p:txBody>
      </p:sp>
      <p:pic>
        <p:nvPicPr>
          <p:cNvPr id="136196" name="Picture 4"/>
          <p:cNvPicPr>
            <a:picLocks noChangeAspect="1" noChangeArrowheads="1"/>
          </p:cNvPicPr>
          <p:nvPr/>
        </p:nvPicPr>
        <p:blipFill>
          <a:blip r:embed="rId2">
            <a:lum bright="-12000" contrast="12000"/>
          </a:blip>
          <a:srcRect/>
          <a:stretch>
            <a:fillRect/>
          </a:stretch>
        </p:blipFill>
        <p:spPr bwMode="auto">
          <a:xfrm>
            <a:off x="178777" y="939800"/>
            <a:ext cx="8820151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44313" y="620712"/>
            <a:ext cx="6049107" cy="12239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477"/>
              </a:spcBef>
              <a:spcAft>
                <a:spcPts val="477"/>
              </a:spcAft>
              <a:buNone/>
            </a:pPr>
            <a:r>
              <a:rPr lang="en-US" sz="2300" dirty="0" smtClean="0"/>
              <a:t>1		2	3	4	5	6	7</a:t>
            </a:r>
          </a:p>
          <a:p>
            <a:pPr eaLnBrk="1" hangingPunct="1">
              <a:lnSpc>
                <a:spcPct val="80000"/>
              </a:lnSpc>
              <a:spcBef>
                <a:spcPts val="477"/>
              </a:spcBef>
              <a:spcAft>
                <a:spcPts val="477"/>
              </a:spcAft>
              <a:buNone/>
            </a:pPr>
            <a:r>
              <a:rPr lang="en-US" sz="2300" dirty="0" smtClean="0"/>
              <a:t>4		8	4	12	4	8	4</a:t>
            </a:r>
          </a:p>
          <a:p>
            <a:pPr eaLnBrk="1" hangingPunct="1">
              <a:lnSpc>
                <a:spcPct val="80000"/>
              </a:lnSpc>
              <a:spcBef>
                <a:spcPts val="477"/>
              </a:spcBef>
              <a:spcAft>
                <a:spcPts val="477"/>
              </a:spcAft>
              <a:buNone/>
            </a:pPr>
            <a:r>
              <a:rPr lang="en-US" sz="2300" dirty="0" smtClean="0"/>
              <a:t>7		7	7	7	7	7	7</a:t>
            </a:r>
          </a:p>
        </p:txBody>
      </p:sp>
      <p:sp>
        <p:nvSpPr>
          <p:cNvPr id="141315" name="Rectangle 5"/>
          <p:cNvSpPr>
            <a:spLocks noChangeArrowheads="1"/>
          </p:cNvSpPr>
          <p:nvPr/>
        </p:nvSpPr>
        <p:spPr bwMode="auto">
          <a:xfrm>
            <a:off x="395654" y="620714"/>
            <a:ext cx="2664069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69" tIns="43634" rIns="87269" bIns="43634"/>
          <a:lstStyle/>
          <a:p>
            <a:pPr marL="327257" indent="-327257">
              <a:spcBef>
                <a:spcPts val="477"/>
              </a:spcBef>
              <a:spcAft>
                <a:spcPts val="477"/>
              </a:spcAft>
            </a:pPr>
            <a:r>
              <a:rPr lang="en-US" dirty="0"/>
              <a:t>Integer</a:t>
            </a:r>
          </a:p>
          <a:p>
            <a:pPr marL="327257" indent="-327257">
              <a:spcBef>
                <a:spcPts val="477"/>
              </a:spcBef>
              <a:spcAft>
                <a:spcPts val="477"/>
              </a:spcAft>
            </a:pPr>
            <a:r>
              <a:rPr lang="en-US" dirty="0"/>
              <a:t>Occurrences in Z</a:t>
            </a:r>
            <a:r>
              <a:rPr lang="en-US" baseline="-25000" dirty="0"/>
              <a:t>8 </a:t>
            </a:r>
          </a:p>
          <a:p>
            <a:pPr marL="327257" indent="-327257">
              <a:spcBef>
                <a:spcPts val="477"/>
              </a:spcBef>
              <a:spcAft>
                <a:spcPts val="477"/>
              </a:spcAft>
            </a:pPr>
            <a:r>
              <a:rPr lang="en-US" dirty="0"/>
              <a:t>Occurrences in GF(2</a:t>
            </a:r>
            <a:r>
              <a:rPr lang="en-US" baseline="30000" dirty="0"/>
              <a:t>3</a:t>
            </a:r>
            <a:r>
              <a:rPr lang="en-US" dirty="0"/>
              <a:t>)	</a:t>
            </a:r>
          </a:p>
        </p:txBody>
      </p:sp>
      <p:grpSp>
        <p:nvGrpSpPr>
          <p:cNvPr id="141316" name="Group 10"/>
          <p:cNvGrpSpPr>
            <a:grpSpLocks/>
          </p:cNvGrpSpPr>
          <p:nvPr/>
        </p:nvGrpSpPr>
        <p:grpSpPr bwMode="auto">
          <a:xfrm>
            <a:off x="178777" y="2420938"/>
            <a:ext cx="3960935" cy="3671887"/>
            <a:chOff x="158" y="1525"/>
            <a:chExt cx="2653" cy="2460"/>
          </a:xfrm>
        </p:grpSpPr>
        <p:sp>
          <p:nvSpPr>
            <p:cNvPr id="141319" name="Rectangle 6"/>
            <p:cNvSpPr>
              <a:spLocks noChangeArrowheads="1"/>
            </p:cNvSpPr>
            <p:nvPr/>
          </p:nvSpPr>
          <p:spPr bwMode="auto">
            <a:xfrm>
              <a:off x="2018" y="1842"/>
              <a:ext cx="363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27257" indent="-327257">
                <a:spcBef>
                  <a:spcPts val="477"/>
                </a:spcBef>
                <a:spcAft>
                  <a:spcPts val="477"/>
                </a:spcAft>
              </a:pPr>
              <a:r>
                <a:rPr lang="en-US" b="1" dirty="0"/>
                <a:t>Z</a:t>
              </a:r>
              <a:r>
                <a:rPr lang="en-US" b="1" baseline="-25000" dirty="0"/>
                <a:t>8 </a:t>
              </a:r>
            </a:p>
          </p:txBody>
        </p:sp>
        <p:pic>
          <p:nvPicPr>
            <p:cNvPr id="141320" name="Picture 8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8" y="1525"/>
              <a:ext cx="1554" cy="2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1321" name="Picture 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791" y="2478"/>
              <a:ext cx="1020" cy="1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1317" name="Rectangle 11"/>
          <p:cNvSpPr>
            <a:spLocks noChangeArrowheads="1"/>
          </p:cNvSpPr>
          <p:nvPr/>
        </p:nvSpPr>
        <p:spPr bwMode="auto">
          <a:xfrm>
            <a:off x="7596556" y="3213101"/>
            <a:ext cx="115179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269" tIns="43634" rIns="87269" bIns="43634"/>
          <a:lstStyle/>
          <a:p>
            <a:pPr marL="327257" indent="-327257">
              <a:spcBef>
                <a:spcPts val="477"/>
              </a:spcBef>
              <a:spcAft>
                <a:spcPts val="477"/>
              </a:spcAft>
            </a:pPr>
            <a:r>
              <a:rPr lang="en-US" b="1" dirty="0"/>
              <a:t>GF(2</a:t>
            </a:r>
            <a:r>
              <a:rPr lang="en-US" b="1" baseline="30000" dirty="0"/>
              <a:t>3</a:t>
            </a:r>
            <a:r>
              <a:rPr lang="en-US" b="1" dirty="0"/>
              <a:t>)</a:t>
            </a:r>
          </a:p>
        </p:txBody>
      </p:sp>
      <p:pic>
        <p:nvPicPr>
          <p:cNvPr id="141318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3851" y="188913"/>
            <a:ext cx="7102719" cy="631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1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Computational Considerations</a:t>
            </a:r>
            <a:endParaRPr lang="en-AU" smtClean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1" y="1600201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 smtClean="0"/>
              <a:t>since coefficients are 0 or 1, can represent any such polynomial as a bit string</a:t>
            </a:r>
          </a:p>
          <a:p>
            <a:pPr eaLnBrk="1" hangingPunct="1"/>
            <a:r>
              <a:rPr lang="en-US" dirty="0" smtClean="0">
                <a:solidFill>
                  <a:srgbClr val="990000"/>
                </a:solidFill>
              </a:rPr>
              <a:t>addition becomes XOR</a:t>
            </a:r>
            <a:r>
              <a:rPr lang="en-US" dirty="0" smtClean="0"/>
              <a:t> of these bit strings</a:t>
            </a:r>
          </a:p>
          <a:p>
            <a:pPr eaLnBrk="1" hangingPunct="1"/>
            <a:r>
              <a:rPr lang="en-US" dirty="0" smtClean="0">
                <a:solidFill>
                  <a:srgbClr val="990000"/>
                </a:solidFill>
              </a:rPr>
              <a:t>multiplication is shift &amp; XOR</a:t>
            </a:r>
          </a:p>
          <a:p>
            <a:pPr lvl="1" eaLnBrk="1" hangingPunct="1"/>
            <a:r>
              <a:rPr lang="en-US" dirty="0" smtClean="0"/>
              <a:t>long-hand multiplication</a:t>
            </a:r>
          </a:p>
          <a:p>
            <a:pPr eaLnBrk="1" hangingPunct="1"/>
            <a:r>
              <a:rPr lang="en-US" dirty="0" smtClean="0">
                <a:solidFill>
                  <a:srgbClr val="990000"/>
                </a:solidFill>
              </a:rPr>
              <a:t>modulo reduction done by repeatedly</a:t>
            </a:r>
            <a:r>
              <a:rPr lang="en-US" dirty="0" smtClean="0"/>
              <a:t> substituting highest power with remainder of irreducible poly (also shift &amp; XOR)</a:t>
            </a:r>
          </a:p>
          <a:p>
            <a:pPr eaLnBrk="1" hangingPunct="1"/>
            <a:endParaRPr lang="en-A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924" y="188914"/>
            <a:ext cx="8229600" cy="647700"/>
          </a:xfrm>
        </p:spPr>
        <p:txBody>
          <a:bodyPr/>
          <a:lstStyle/>
          <a:p>
            <a:pPr eaLnBrk="1" hangingPunct="1"/>
            <a:r>
              <a:rPr lang="en-US" sz="3800" dirty="0" smtClean="0"/>
              <a:t>Example</a:t>
            </a:r>
            <a:endParaRPr lang="en-AU" sz="3800" dirty="0" smtClean="0"/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95654" y="908051"/>
            <a:ext cx="8497765" cy="587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>
                <a:latin typeface="Times-Roman" charset="0"/>
              </a:rPr>
              <a:t> </a:t>
            </a:r>
            <a:r>
              <a:rPr lang="en-US" sz="2000" dirty="0" smtClean="0">
                <a:latin typeface="Times-Roman" charset="0"/>
              </a:rPr>
              <a:t>why mod(x</a:t>
            </a:r>
            <a:r>
              <a:rPr lang="en-US" sz="2000" baseline="30000" dirty="0" smtClean="0">
                <a:latin typeface="Times-Roman" charset="0"/>
              </a:rPr>
              <a:t>3</a:t>
            </a:r>
            <a:r>
              <a:rPr lang="en-US" sz="2000" dirty="0" smtClean="0">
                <a:latin typeface="Times-Roman" charset="0"/>
              </a:rPr>
              <a:t>+x+1) for GF(2</a:t>
            </a:r>
            <a:r>
              <a:rPr lang="en-US" sz="2000" baseline="30000" dirty="0" smtClean="0">
                <a:latin typeface="Times-Roman" charset="0"/>
              </a:rPr>
              <a:t>3</a:t>
            </a:r>
            <a:r>
              <a:rPr lang="en-US" sz="2000" dirty="0" smtClean="0">
                <a:latin typeface="Times-Roman" charset="0"/>
              </a:rPr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in </a:t>
            </a:r>
            <a:r>
              <a:rPr lang="en-US" sz="2000" dirty="0" smtClean="0"/>
              <a:t>GF(2</a:t>
            </a:r>
            <a:r>
              <a:rPr lang="en-US" sz="2000" baseline="30000" dirty="0" smtClean="0"/>
              <a:t>3</a:t>
            </a:r>
            <a:r>
              <a:rPr lang="en-US" sz="2000" dirty="0" smtClean="0"/>
              <a:t>)  have </a:t>
            </a:r>
            <a:r>
              <a:rPr lang="en-US" sz="2000" dirty="0" smtClean="0">
                <a:latin typeface="Times-Roman" charset="0"/>
              </a:rPr>
              <a:t>(x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+1) is 101</a:t>
            </a:r>
            <a:r>
              <a:rPr lang="en-US" sz="2000" baseline="-25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 &amp; (x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+x+1) is 111</a:t>
            </a:r>
            <a:r>
              <a:rPr lang="en-US" sz="2000" baseline="-25000" dirty="0" smtClean="0">
                <a:latin typeface="Times-Roman" charset="0"/>
              </a:rPr>
              <a:t>2</a:t>
            </a:r>
            <a:endParaRPr lang="en-US" sz="2000" dirty="0" smtClean="0">
              <a:latin typeface="Times-Roman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so addition 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(x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+1) + (x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+x+1) = x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101 XOR 111 = 010</a:t>
            </a:r>
            <a:r>
              <a:rPr lang="en-US" sz="2000" baseline="-25000" dirty="0" smtClean="0">
                <a:latin typeface="Times-Roman" charset="0"/>
              </a:rPr>
              <a:t>2</a:t>
            </a:r>
            <a:endParaRPr lang="en-US" sz="2000" dirty="0" smtClean="0">
              <a:latin typeface="Times-Roman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and multiplication 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(x+1).(x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+1) = x.(x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+1) + 1.(x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+1)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dirty="0" smtClean="0">
                <a:latin typeface="Times-Roman" charset="0"/>
              </a:rPr>
              <a:t>			= x</a:t>
            </a:r>
            <a:r>
              <a:rPr lang="en-US" sz="2000" baseline="30000" dirty="0" smtClean="0">
                <a:latin typeface="Times-Roman" charset="0"/>
              </a:rPr>
              <a:t>3</a:t>
            </a:r>
            <a:r>
              <a:rPr lang="en-US" sz="2000" dirty="0" smtClean="0">
                <a:latin typeface="Times-Roman" charset="0"/>
              </a:rPr>
              <a:t>+x+x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+1 = x</a:t>
            </a:r>
            <a:r>
              <a:rPr lang="en-US" sz="2000" baseline="30000" dirty="0" smtClean="0">
                <a:latin typeface="Times-Roman" charset="0"/>
              </a:rPr>
              <a:t>3</a:t>
            </a:r>
            <a:r>
              <a:rPr lang="en-US" sz="2000" dirty="0" smtClean="0">
                <a:latin typeface="Times-Roman" charset="0"/>
              </a:rPr>
              <a:t>+x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+x+1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 011.101 = (101)&lt;&lt;1 XOR (101)&lt;&lt;0 =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dirty="0" smtClean="0">
                <a:latin typeface="Times-Roman" charset="0"/>
              </a:rPr>
              <a:t>			1010 XOR 101 = 1111</a:t>
            </a:r>
            <a:r>
              <a:rPr lang="en-US" sz="2000" baseline="-25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polynomial modulo reduction (get q(x) &amp; r(x)) 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 (x</a:t>
            </a:r>
            <a:r>
              <a:rPr lang="en-US" sz="2000" baseline="30000" dirty="0" smtClean="0">
                <a:latin typeface="Times-Roman" charset="0"/>
              </a:rPr>
              <a:t>3</a:t>
            </a:r>
            <a:r>
              <a:rPr lang="en-US" sz="2000" dirty="0" smtClean="0">
                <a:latin typeface="Times-Roman" charset="0"/>
              </a:rPr>
              <a:t>+x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+x+1 ) mod (x</a:t>
            </a:r>
            <a:r>
              <a:rPr lang="en-US" sz="2000" baseline="30000" dirty="0" smtClean="0">
                <a:latin typeface="Times-Roman" charset="0"/>
              </a:rPr>
              <a:t>3</a:t>
            </a:r>
            <a:r>
              <a:rPr lang="en-US" sz="2000" dirty="0" smtClean="0">
                <a:latin typeface="Times-Roman" charset="0"/>
              </a:rPr>
              <a:t>+x+1) = 1.(x</a:t>
            </a:r>
            <a:r>
              <a:rPr lang="en-US" sz="2000" baseline="30000" dirty="0" smtClean="0">
                <a:latin typeface="Times-Roman" charset="0"/>
              </a:rPr>
              <a:t>3</a:t>
            </a:r>
            <a:r>
              <a:rPr lang="en-US" sz="2000" dirty="0" smtClean="0">
                <a:latin typeface="Times-Roman" charset="0"/>
              </a:rPr>
              <a:t>+x+1) + (x</a:t>
            </a:r>
            <a:r>
              <a:rPr lang="en-US" sz="2000" baseline="30000" dirty="0" smtClean="0">
                <a:latin typeface="Times-Roman" charset="0"/>
              </a:rPr>
              <a:t>2</a:t>
            </a:r>
            <a:r>
              <a:rPr lang="en-US" sz="2000" dirty="0" smtClean="0">
                <a:latin typeface="Times-Roman" charset="0"/>
              </a:rPr>
              <a:t>) = x</a:t>
            </a:r>
            <a:r>
              <a:rPr lang="en-US" sz="2000" baseline="30000" dirty="0" smtClean="0">
                <a:latin typeface="Times-Roman" charset="0"/>
              </a:rPr>
              <a:t>2</a:t>
            </a:r>
            <a:endParaRPr lang="en-US" sz="2000" dirty="0" smtClean="0">
              <a:latin typeface="Times-Roman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>
                <a:latin typeface="Times-Roman" charset="0"/>
              </a:rPr>
              <a:t> 1111 mod 1011 = 1111 XOR 1011 = 0100</a:t>
            </a:r>
            <a:r>
              <a:rPr lang="en-US" sz="2000" baseline="-25000" dirty="0" smtClean="0">
                <a:latin typeface="Times-Roman" charset="0"/>
              </a:rPr>
              <a:t>2</a:t>
            </a:r>
            <a:endParaRPr lang="en-AU" sz="2000" baseline="-25000" dirty="0" smtClean="0">
              <a:latin typeface="Times-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Title 1"/>
          <p:cNvSpPr>
            <a:spLocks noGrp="1"/>
          </p:cNvSpPr>
          <p:nvPr>
            <p:ph type="title" idx="4294967295"/>
          </p:nvPr>
        </p:nvSpPr>
        <p:spPr>
          <a:xfrm>
            <a:off x="523143" y="403225"/>
            <a:ext cx="7792915" cy="682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5053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324" y="950913"/>
            <a:ext cx="7706458" cy="548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itle 1"/>
          <p:cNvSpPr>
            <a:spLocks noGrp="1"/>
          </p:cNvSpPr>
          <p:nvPr>
            <p:ph type="title" idx="4294967295"/>
          </p:nvPr>
        </p:nvSpPr>
        <p:spPr>
          <a:xfrm>
            <a:off x="523143" y="403225"/>
            <a:ext cx="7792915" cy="682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515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324" y="950913"/>
            <a:ext cx="7706458" cy="548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 Box 1"/>
          <p:cNvSpPr txBox="1">
            <a:spLocks noChangeArrowheads="1"/>
          </p:cNvSpPr>
          <p:nvPr/>
        </p:nvSpPr>
        <p:spPr bwMode="auto">
          <a:xfrm>
            <a:off x="381001" y="0"/>
            <a:ext cx="8229600" cy="1225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7269" tIns="43634" rIns="87269" bIns="43634" anchor="ctr" anchorCtr="1"/>
          <a:lstStyle/>
          <a:p>
            <a:pPr algn="ctr">
              <a:tabLst>
                <a:tab pos="0" algn="l"/>
                <a:tab pos="872687" algn="l"/>
                <a:tab pos="1745373" algn="l"/>
                <a:tab pos="2618061" algn="l"/>
                <a:tab pos="3490747" algn="l"/>
                <a:tab pos="4363434" algn="l"/>
                <a:tab pos="5236120" algn="l"/>
                <a:tab pos="6108808" algn="l"/>
                <a:tab pos="6981494" algn="l"/>
                <a:tab pos="7854181" algn="l"/>
                <a:tab pos="8726867" algn="l"/>
                <a:tab pos="9599554" algn="l"/>
              </a:tabLst>
            </a:pPr>
            <a:r>
              <a:rPr lang="en-US" sz="4200" dirty="0">
                <a:solidFill>
                  <a:schemeClr val="bg1"/>
                </a:solidFill>
                <a:ea typeface="ＭＳ Ｐゴシック" pitchFamily="34" charset="-128"/>
              </a:rPr>
              <a:t>Example GF(2</a:t>
            </a:r>
            <a:r>
              <a:rPr lang="en-US" sz="4200" baseline="30000" dirty="0">
                <a:solidFill>
                  <a:schemeClr val="bg1"/>
                </a:solidFill>
                <a:ea typeface="ＭＳ Ｐゴシック" pitchFamily="34" charset="-128"/>
              </a:rPr>
              <a:t>3</a:t>
            </a:r>
            <a:r>
              <a:rPr lang="en-US" sz="4200" dirty="0">
                <a:solidFill>
                  <a:schemeClr val="bg1"/>
                </a:solidFill>
                <a:ea typeface="ＭＳ Ｐゴシック" pitchFamily="34" charset="-128"/>
              </a:rPr>
              <a:t>)</a:t>
            </a:r>
          </a:p>
        </p:txBody>
      </p:sp>
      <p:pic>
        <p:nvPicPr>
          <p:cNvPr id="1607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1" y="1143000"/>
            <a:ext cx="8699989" cy="5575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8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684336" y="2420939"/>
            <a:ext cx="8229600" cy="4221163"/>
          </a:xfrm>
        </p:spPr>
      </p:pic>
      <p:sp>
        <p:nvSpPr>
          <p:cNvPr id="1628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71551" y="6165851"/>
            <a:ext cx="1729154" cy="346074"/>
          </a:xfrm>
        </p:spPr>
        <p:txBody>
          <a:bodyPr/>
          <a:lstStyle/>
          <a:p>
            <a:r>
              <a:rPr lang="en-US" sz="2700" dirty="0" smtClean="0"/>
              <a:t>GF(7)</a:t>
            </a:r>
            <a:endParaRPr lang="en-AU" sz="2700" dirty="0" smtClean="0"/>
          </a:p>
        </p:txBody>
      </p:sp>
      <p:grpSp>
        <p:nvGrpSpPr>
          <p:cNvPr id="162820" name="Group 4"/>
          <p:cNvGrpSpPr>
            <a:grpSpLocks/>
          </p:cNvGrpSpPr>
          <p:nvPr/>
        </p:nvGrpSpPr>
        <p:grpSpPr bwMode="auto">
          <a:xfrm>
            <a:off x="1258766" y="260351"/>
            <a:ext cx="6542942" cy="1439863"/>
            <a:chOff x="567" y="1797"/>
            <a:chExt cx="4121" cy="907"/>
          </a:xfrm>
        </p:grpSpPr>
        <p:pic>
          <p:nvPicPr>
            <p:cNvPr id="162822" name="Picture 5"/>
            <p:cNvPicPr>
              <a:picLocks noChangeAspect="1" noChangeArrowheads="1"/>
            </p:cNvPicPr>
            <p:nvPr/>
          </p:nvPicPr>
          <p:blipFill>
            <a:blip r:embed="rId4">
              <a:lum contrast="-6000"/>
            </a:blip>
            <a:srcRect/>
            <a:stretch>
              <a:fillRect/>
            </a:stretch>
          </p:blipFill>
          <p:spPr bwMode="auto">
            <a:xfrm>
              <a:off x="567" y="1797"/>
              <a:ext cx="1043" cy="8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23" name="Picture 6"/>
            <p:cNvPicPr>
              <a:picLocks noChangeAspect="1" noChangeArrowheads="1"/>
            </p:cNvPicPr>
            <p:nvPr/>
          </p:nvPicPr>
          <p:blipFill>
            <a:blip r:embed="rId5">
              <a:lum contrast="-6000"/>
            </a:blip>
            <a:srcRect/>
            <a:stretch>
              <a:fillRect/>
            </a:stretch>
          </p:blipFill>
          <p:spPr bwMode="auto">
            <a:xfrm>
              <a:off x="1927" y="1812"/>
              <a:ext cx="1044" cy="8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24" name="Picture 7"/>
            <p:cNvPicPr>
              <a:picLocks noChangeAspect="1" noChangeArrowheads="1"/>
            </p:cNvPicPr>
            <p:nvPr/>
          </p:nvPicPr>
          <p:blipFill>
            <a:blip r:embed="rId6">
              <a:lum contrast="-6000"/>
            </a:blip>
            <a:srcRect/>
            <a:stretch>
              <a:fillRect/>
            </a:stretch>
          </p:blipFill>
          <p:spPr bwMode="auto">
            <a:xfrm>
              <a:off x="3289" y="1797"/>
              <a:ext cx="1399" cy="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2821" name="Rectangle 8"/>
          <p:cNvSpPr>
            <a:spLocks noChangeArrowheads="1"/>
          </p:cNvSpPr>
          <p:nvPr/>
        </p:nvSpPr>
        <p:spPr bwMode="auto">
          <a:xfrm>
            <a:off x="1332036" y="1844676"/>
            <a:ext cx="3792617" cy="36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7269" tIns="43634" rIns="87269" bIns="43634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The simplest finite field is GF(2).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itle 1"/>
          <p:cNvSpPr>
            <a:spLocks noGrp="1"/>
          </p:cNvSpPr>
          <p:nvPr>
            <p:ph type="title" idx="4294967295"/>
          </p:nvPr>
        </p:nvSpPr>
        <p:spPr>
          <a:xfrm>
            <a:off x="523143" y="403225"/>
            <a:ext cx="7792915" cy="682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638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1" y="3000375"/>
            <a:ext cx="80772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4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0889" y="1643064"/>
            <a:ext cx="747932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4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3417" y="4184652"/>
            <a:ext cx="7501304" cy="169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1"/>
          <p:cNvSpPr txBox="1">
            <a:spLocks noChangeArrowheads="1"/>
          </p:cNvSpPr>
          <p:nvPr/>
        </p:nvSpPr>
        <p:spPr bwMode="auto">
          <a:xfrm>
            <a:off x="457201" y="-28135"/>
            <a:ext cx="8229600" cy="11398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7269" tIns="43634" rIns="87269" bIns="43634" anchor="ctr" anchorCtr="1"/>
          <a:lstStyle/>
          <a:p>
            <a:pPr algn="ctr">
              <a:tabLst>
                <a:tab pos="0" algn="l"/>
                <a:tab pos="872687" algn="l"/>
                <a:tab pos="1745373" algn="l"/>
                <a:tab pos="2618061" algn="l"/>
                <a:tab pos="3490747" algn="l"/>
                <a:tab pos="4363434" algn="l"/>
                <a:tab pos="5236120" algn="l"/>
                <a:tab pos="6108808" algn="l"/>
                <a:tab pos="6981494" algn="l"/>
                <a:tab pos="7854181" algn="l"/>
                <a:tab pos="8726867" algn="l"/>
                <a:tab pos="9599554" algn="l"/>
              </a:tabLst>
            </a:pPr>
            <a:r>
              <a:rPr lang="en-US" sz="42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Computational Example</a:t>
            </a:r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457201" y="1576318"/>
            <a:ext cx="8229600" cy="325499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7269" tIns="43634" rIns="87269" bIns="43634"/>
          <a:lstStyle/>
          <a:p>
            <a:pPr marL="325744" indent="-325744">
              <a:lnSpc>
                <a:spcPct val="90000"/>
              </a:lnSpc>
              <a:spcBef>
                <a:spcPts val="668"/>
              </a:spcBef>
              <a:buClr>
                <a:srgbClr val="5FAFFF"/>
              </a:buClr>
              <a:buSzPct val="80000"/>
              <a:buFont typeface="Wingdings" charset="2"/>
              <a:buChar char="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w Cen MT" panose="020B0602020104020603" pitchFamily="34" charset="0"/>
                <a:ea typeface="ＭＳ Ｐゴシック" pitchFamily="32" charset="-128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in GF(2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)  have 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+1) is 101</a:t>
            </a:r>
            <a:r>
              <a:rPr lang="en-AU" sz="2000" baseline="-25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 &amp; 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+x+1) is 111</a:t>
            </a:r>
            <a:r>
              <a:rPr lang="en-AU" sz="2000" baseline="-25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</a:p>
          <a:p>
            <a:pPr marL="325744" indent="-325744">
              <a:lnSpc>
                <a:spcPct val="90000"/>
              </a:lnSpc>
              <a:spcBef>
                <a:spcPts val="668"/>
              </a:spcBef>
              <a:buClr>
                <a:srgbClr val="5FAFFF"/>
              </a:buClr>
              <a:buSzPct val="80000"/>
              <a:buFont typeface="Wingdings" charset="2"/>
              <a:buChar char="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so addition is</a:t>
            </a:r>
          </a:p>
          <a:p>
            <a:pPr marL="707543" lvl="1" indent="-271200">
              <a:lnSpc>
                <a:spcPct val="90000"/>
              </a:lnSpc>
              <a:spcBef>
                <a:spcPts val="573"/>
              </a:spcBef>
              <a:buClr>
                <a:srgbClr val="D9D9FF"/>
              </a:buClr>
              <a:buSzPct val="50000"/>
              <a:buFont typeface="Wingdings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+1) + 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+x+1) = x </a:t>
            </a:r>
          </a:p>
          <a:p>
            <a:pPr marL="707543" lvl="1" indent="-271200">
              <a:lnSpc>
                <a:spcPct val="90000"/>
              </a:lnSpc>
              <a:spcBef>
                <a:spcPts val="573"/>
              </a:spcBef>
              <a:buClr>
                <a:srgbClr val="D9D9FF"/>
              </a:buClr>
              <a:buSzPct val="50000"/>
              <a:buFont typeface="Wingdings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101 XOR 111 = 010</a:t>
            </a:r>
            <a:r>
              <a:rPr lang="en-AU" sz="2000" baseline="-25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</a:p>
          <a:p>
            <a:pPr marL="325744" indent="-325744">
              <a:lnSpc>
                <a:spcPct val="90000"/>
              </a:lnSpc>
              <a:spcBef>
                <a:spcPts val="668"/>
              </a:spcBef>
              <a:buClr>
                <a:srgbClr val="5FAFFF"/>
              </a:buClr>
              <a:buSzPct val="80000"/>
              <a:buFont typeface="Wingdings" charset="2"/>
              <a:buChar char="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and multiplication is</a:t>
            </a:r>
          </a:p>
          <a:p>
            <a:pPr marL="707543" lvl="1" indent="-271200">
              <a:lnSpc>
                <a:spcPct val="90000"/>
              </a:lnSpc>
              <a:spcBef>
                <a:spcPts val="573"/>
              </a:spcBef>
              <a:buClr>
                <a:srgbClr val="D9D9FF"/>
              </a:buClr>
              <a:buSzPct val="50000"/>
              <a:buFont typeface="Wingdings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(x+1).(x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+1) = x.(x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+1) + 1.(x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+1) </a:t>
            </a:r>
          </a:p>
          <a:p>
            <a:pPr marL="707543" lvl="1" indent="-271200">
              <a:lnSpc>
                <a:spcPct val="90000"/>
              </a:lnSpc>
              <a:spcBef>
                <a:spcPts val="573"/>
              </a:spcBef>
              <a:buSzPct val="50000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			= 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+x+x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+1 = 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+x+1 </a:t>
            </a:r>
          </a:p>
          <a:p>
            <a:pPr marL="707543" lvl="1" indent="-271200">
              <a:lnSpc>
                <a:spcPct val="90000"/>
              </a:lnSpc>
              <a:spcBef>
                <a:spcPts val="573"/>
              </a:spcBef>
              <a:buClr>
                <a:srgbClr val="D9D9FF"/>
              </a:buClr>
              <a:buSzPct val="50000"/>
              <a:buFont typeface="Wingdings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 011.101 = (101)&lt;&lt;1 XOR (101)&lt;&lt;0 = </a:t>
            </a:r>
          </a:p>
          <a:p>
            <a:pPr marL="707543" lvl="1" indent="-271200">
              <a:lnSpc>
                <a:spcPct val="90000"/>
              </a:lnSpc>
              <a:spcBef>
                <a:spcPts val="573"/>
              </a:spcBef>
              <a:buSzPct val="50000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			1010 XOR 101 = 1111</a:t>
            </a:r>
            <a:r>
              <a:rPr lang="en-AU" sz="2000" baseline="-25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2" charset="-128"/>
              </a:rPr>
              <a:t> </a:t>
            </a:r>
          </a:p>
          <a:p>
            <a:pPr marL="325744" indent="-325744">
              <a:lnSpc>
                <a:spcPct val="90000"/>
              </a:lnSpc>
              <a:spcBef>
                <a:spcPts val="668"/>
              </a:spcBef>
              <a:buClr>
                <a:srgbClr val="5FAFFF"/>
              </a:buClr>
              <a:buSzPct val="80000"/>
              <a:buFont typeface="Wingdings" charset="2"/>
              <a:buChar char="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endParaRPr lang="en-US" sz="2000" dirty="0">
              <a:solidFill>
                <a:schemeClr val="bg1"/>
              </a:solidFill>
              <a:latin typeface="Tw Cen MT" panose="020B0602020104020603" pitchFamily="34" charset="0"/>
              <a:ea typeface="ＭＳ Ｐゴシック" pitchFamily="32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1"/>
          <p:cNvSpPr txBox="1">
            <a:spLocks noChangeArrowheads="1"/>
          </p:cNvSpPr>
          <p:nvPr/>
        </p:nvSpPr>
        <p:spPr bwMode="auto">
          <a:xfrm>
            <a:off x="457201" y="0"/>
            <a:ext cx="8229600" cy="11398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7269" tIns="43634" rIns="87269" bIns="43634" anchor="ctr" anchorCtr="1"/>
          <a:lstStyle/>
          <a:p>
            <a:pPr algn="ctr">
              <a:tabLst>
                <a:tab pos="0" algn="l"/>
                <a:tab pos="872687" algn="l"/>
                <a:tab pos="1745373" algn="l"/>
                <a:tab pos="2618061" algn="l"/>
                <a:tab pos="3490747" algn="l"/>
                <a:tab pos="4363434" algn="l"/>
                <a:tab pos="5236120" algn="l"/>
                <a:tab pos="6108808" algn="l"/>
                <a:tab pos="6981494" algn="l"/>
                <a:tab pos="7854181" algn="l"/>
                <a:tab pos="8726867" algn="l"/>
                <a:tab pos="9599554" algn="l"/>
              </a:tabLst>
            </a:pPr>
            <a:r>
              <a:rPr lang="en-US" sz="3800" dirty="0">
                <a:solidFill>
                  <a:schemeClr val="bg1"/>
                </a:solidFill>
                <a:ea typeface="ＭＳ Ｐゴシック" pitchFamily="34" charset="-128"/>
              </a:rPr>
              <a:t>Computational Example (</a:t>
            </a:r>
            <a:r>
              <a:rPr lang="en-US" sz="3800" dirty="0" err="1">
                <a:solidFill>
                  <a:schemeClr val="bg1"/>
                </a:solidFill>
                <a:ea typeface="ＭＳ Ｐゴシック" pitchFamily="34" charset="-128"/>
              </a:rPr>
              <a:t>con't</a:t>
            </a:r>
            <a:r>
              <a:rPr lang="en-US" sz="3800" dirty="0">
                <a:solidFill>
                  <a:schemeClr val="bg1"/>
                </a:solidFill>
                <a:ea typeface="ＭＳ Ｐゴシック" pitchFamily="34" charset="-128"/>
              </a:rPr>
              <a:t>)</a:t>
            </a:r>
          </a:p>
        </p:txBody>
      </p:sp>
      <p:sp>
        <p:nvSpPr>
          <p:cNvPr id="165891" name="Text Box 2"/>
          <p:cNvSpPr txBox="1">
            <a:spLocks noChangeArrowheads="1"/>
          </p:cNvSpPr>
          <p:nvPr/>
        </p:nvSpPr>
        <p:spPr bwMode="auto">
          <a:xfrm>
            <a:off x="457201" y="1371601"/>
            <a:ext cx="8229600" cy="28352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7269" tIns="43634" rIns="87269" bIns="43634"/>
          <a:lstStyle/>
          <a:p>
            <a:pPr marL="325744" indent="-325744">
              <a:lnSpc>
                <a:spcPct val="90000"/>
              </a:lnSpc>
              <a:spcBef>
                <a:spcPts val="668"/>
              </a:spcBef>
              <a:spcAft>
                <a:spcPts val="1145"/>
              </a:spcAft>
              <a:buClr>
                <a:srgbClr val="5FAFFF"/>
              </a:buClr>
              <a:buSzPct val="80000"/>
              <a:buFont typeface="Wingdings" pitchFamily="2" charset="2"/>
              <a:buChar char="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</a:pPr>
            <a:r>
              <a:rPr lang="en-US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in GF(2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)  have 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+1) is 101</a:t>
            </a:r>
            <a:r>
              <a:rPr lang="en-AU" sz="2000" baseline="-25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 &amp; 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+x+1) is 111</a:t>
            </a:r>
            <a:r>
              <a:rPr lang="en-AU" sz="2000" baseline="-25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2</a:t>
            </a:r>
          </a:p>
          <a:p>
            <a:pPr marL="325744" indent="-325744">
              <a:lnSpc>
                <a:spcPct val="90000"/>
              </a:lnSpc>
              <a:spcBef>
                <a:spcPts val="668"/>
              </a:spcBef>
              <a:spcAft>
                <a:spcPts val="1145"/>
              </a:spcAft>
              <a:buClr>
                <a:srgbClr val="5FAFFF"/>
              </a:buClr>
              <a:buSzPct val="80000"/>
              <a:buFont typeface="Wingdings" pitchFamily="2" charset="2"/>
              <a:buChar char="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polynomial modulo reduction (get q(x) &amp; r(x)) is</a:t>
            </a:r>
          </a:p>
          <a:p>
            <a:pPr marL="707543" lvl="1" indent="-271200">
              <a:lnSpc>
                <a:spcPct val="90000"/>
              </a:lnSpc>
              <a:spcBef>
                <a:spcPts val="573"/>
              </a:spcBef>
              <a:spcAft>
                <a:spcPts val="1145"/>
              </a:spcAft>
              <a:buClr>
                <a:srgbClr val="D9D9FF"/>
              </a:buClr>
              <a:buSzPct val="50000"/>
              <a:buFont typeface="Wingdings" pitchFamily="2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 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+x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+x+1 ) mod 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+x+1) = 1.(x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+x+1) + (x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) = x</a:t>
            </a:r>
            <a:r>
              <a:rPr lang="en-US" sz="2000" baseline="30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2</a:t>
            </a:r>
          </a:p>
          <a:p>
            <a:pPr marL="707543" lvl="1" indent="-271200">
              <a:lnSpc>
                <a:spcPct val="90000"/>
              </a:lnSpc>
              <a:spcBef>
                <a:spcPts val="573"/>
              </a:spcBef>
              <a:spcAft>
                <a:spcPts val="1145"/>
              </a:spcAft>
              <a:buClr>
                <a:srgbClr val="D9D9FF"/>
              </a:buClr>
              <a:buSzPct val="50000"/>
              <a:buFont typeface="Wingdings" pitchFamily="2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</a:pP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 1111 mod 1011 = 1111 XOR 1011 = 0100</a:t>
            </a:r>
            <a:r>
              <a:rPr lang="en-AU" sz="2000" baseline="-250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2</a:t>
            </a:r>
          </a:p>
        </p:txBody>
      </p:sp>
      <p:pic>
        <p:nvPicPr>
          <p:cNvPr id="16589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5544" y="3941763"/>
            <a:ext cx="7892561" cy="198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1"/>
          <p:cNvSpPr txBox="1">
            <a:spLocks noChangeArrowheads="1"/>
          </p:cNvSpPr>
          <p:nvPr/>
        </p:nvSpPr>
        <p:spPr bwMode="auto">
          <a:xfrm>
            <a:off x="457201" y="277813"/>
            <a:ext cx="8229600" cy="849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7269" tIns="43634" rIns="87269" bIns="43634" anchor="ctr" anchorCtr="1"/>
          <a:lstStyle/>
          <a:p>
            <a:pPr algn="ctr">
              <a:tabLst>
                <a:tab pos="0" algn="l"/>
                <a:tab pos="872687" algn="l"/>
                <a:tab pos="1745373" algn="l"/>
                <a:tab pos="2618061" algn="l"/>
                <a:tab pos="3490747" algn="l"/>
                <a:tab pos="4363434" algn="l"/>
                <a:tab pos="5236120" algn="l"/>
                <a:tab pos="6108808" algn="l"/>
                <a:tab pos="6981494" algn="l"/>
                <a:tab pos="7854181" algn="l"/>
                <a:tab pos="8726867" algn="l"/>
                <a:tab pos="9599554" algn="l"/>
              </a:tabLst>
            </a:pPr>
            <a:r>
              <a:rPr lang="en-US" sz="4200" dirty="0">
                <a:solidFill>
                  <a:schemeClr val="bg1"/>
                </a:solidFill>
                <a:latin typeface="Tw Cen MT" panose="020B0602020104020603" pitchFamily="34" charset="0"/>
                <a:ea typeface="ＭＳ Ｐゴシック" pitchFamily="34" charset="-128"/>
              </a:rPr>
              <a:t>Summary</a:t>
            </a:r>
          </a:p>
        </p:txBody>
      </p:sp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457201" y="1676400"/>
            <a:ext cx="8229600" cy="427423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7269" tIns="43634" rIns="87269" bIns="43634"/>
          <a:lstStyle/>
          <a:p>
            <a:pPr marL="325744" indent="-325744">
              <a:spcBef>
                <a:spcPts val="764"/>
              </a:spcBef>
              <a:spcAft>
                <a:spcPts val="1145"/>
              </a:spcAft>
              <a:buClr>
                <a:srgbClr val="5FAFFF"/>
              </a:buClr>
              <a:buSzPct val="80000"/>
              <a:buFont typeface="Wingdings" charset="2"/>
              <a:buChar char="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400" dirty="0" smtClean="0">
                <a:solidFill>
                  <a:schemeClr val="bg1"/>
                </a:solidFill>
                <a:latin typeface="Tw Cen MT" pitchFamily="34" charset="0"/>
                <a:ea typeface="ＭＳ Ｐゴシック" pitchFamily="32" charset="-128"/>
              </a:rPr>
              <a:t>Have considered:</a:t>
            </a:r>
          </a:p>
          <a:p>
            <a:pPr marL="707543" lvl="1" indent="-271200">
              <a:spcBef>
                <a:spcPts val="668"/>
              </a:spcBef>
              <a:spcAft>
                <a:spcPts val="1145"/>
              </a:spcAft>
              <a:buClr>
                <a:srgbClr val="D9D9FF"/>
              </a:buClr>
              <a:buSzPct val="50000"/>
              <a:buFont typeface="Wingdings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400" dirty="0" smtClean="0">
                <a:solidFill>
                  <a:schemeClr val="bg1"/>
                </a:solidFill>
                <a:latin typeface="Tw Cen MT" pitchFamily="34" charset="0"/>
                <a:ea typeface="ＭＳ Ｐゴシック" pitchFamily="32" charset="-128"/>
              </a:rPr>
              <a:t>Concept of groups, rings, fields</a:t>
            </a:r>
          </a:p>
          <a:p>
            <a:pPr marL="707543" lvl="1" indent="-271200">
              <a:spcBef>
                <a:spcPts val="668"/>
              </a:spcBef>
              <a:spcAft>
                <a:spcPts val="1145"/>
              </a:spcAft>
              <a:buClr>
                <a:srgbClr val="D9D9FF"/>
              </a:buClr>
              <a:buSzPct val="50000"/>
              <a:buFont typeface="Wingdings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400" dirty="0" smtClean="0">
                <a:solidFill>
                  <a:schemeClr val="bg1"/>
                </a:solidFill>
                <a:latin typeface="Tw Cen MT" pitchFamily="34" charset="0"/>
                <a:ea typeface="ＭＳ Ｐゴシック" pitchFamily="32" charset="-128"/>
              </a:rPr>
              <a:t>Finite fields </a:t>
            </a:r>
            <a:r>
              <a:rPr lang="en-US" sz="2400" dirty="0" err="1" smtClean="0">
                <a:solidFill>
                  <a:schemeClr val="bg1"/>
                </a:solidFill>
                <a:latin typeface="Tw Cen MT" pitchFamily="34" charset="0"/>
                <a:ea typeface="ＭＳ Ｐゴシック" pitchFamily="32" charset="-128"/>
              </a:rPr>
              <a:t>gf</a:t>
            </a:r>
            <a:r>
              <a:rPr lang="en-US" sz="2400" dirty="0" smtClean="0">
                <a:solidFill>
                  <a:schemeClr val="bg1"/>
                </a:solidFill>
                <a:latin typeface="Tw Cen MT" pitchFamily="34" charset="0"/>
                <a:ea typeface="ＭＳ Ｐゴシック" pitchFamily="32" charset="-128"/>
              </a:rPr>
              <a:t>(p)</a:t>
            </a:r>
          </a:p>
          <a:p>
            <a:pPr marL="707543" lvl="1" indent="-271200">
              <a:spcBef>
                <a:spcPts val="668"/>
              </a:spcBef>
              <a:spcAft>
                <a:spcPts val="1145"/>
              </a:spcAft>
              <a:buClr>
                <a:srgbClr val="D9D9FF"/>
              </a:buClr>
              <a:buSzPct val="50000"/>
              <a:buFont typeface="Wingdings" charset="2"/>
              <a:buChar char="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r>
              <a:rPr lang="en-US" sz="2400" dirty="0" smtClean="0">
                <a:solidFill>
                  <a:schemeClr val="bg1"/>
                </a:solidFill>
                <a:latin typeface="Tw Cen MT" pitchFamily="34" charset="0"/>
                <a:ea typeface="ＭＳ Ｐゴシック" pitchFamily="32" charset="-128"/>
              </a:rPr>
              <a:t>Polynomial arithmetic in general and in GF(2</a:t>
            </a:r>
            <a:r>
              <a:rPr lang="en-US" sz="2400" baseline="30000" dirty="0" smtClean="0">
                <a:solidFill>
                  <a:schemeClr val="bg1"/>
                </a:solidFill>
                <a:latin typeface="Tw Cen MT" pitchFamily="34" charset="0"/>
                <a:ea typeface="ＭＳ Ｐゴシック" pitchFamily="32" charset="-128"/>
              </a:rPr>
              <a:t>n</a:t>
            </a:r>
            <a:r>
              <a:rPr lang="en-US" sz="2400" dirty="0" smtClean="0">
                <a:solidFill>
                  <a:schemeClr val="bg1"/>
                </a:solidFill>
                <a:latin typeface="Tw Cen MT" pitchFamily="34" charset="0"/>
                <a:ea typeface="ＭＳ Ｐゴシック" pitchFamily="32" charset="-128"/>
              </a:rPr>
              <a:t>) </a:t>
            </a:r>
          </a:p>
          <a:p>
            <a:pPr marL="707543" lvl="1" indent="-271200">
              <a:spcBef>
                <a:spcPts val="668"/>
              </a:spcBef>
              <a:spcAft>
                <a:spcPts val="1145"/>
              </a:spcAft>
              <a:buClr>
                <a:srgbClr val="D9D9FF"/>
              </a:buClr>
              <a:buSzPct val="50000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w Cen MT" panose="020B0602020104020603" pitchFamily="34" charset="0"/>
              <a:ea typeface="ＭＳ Ｐゴシック" pitchFamily="32" charset="-128"/>
            </a:endParaRPr>
          </a:p>
          <a:p>
            <a:pPr marL="707543" lvl="1" indent="-271200">
              <a:spcBef>
                <a:spcPts val="668"/>
              </a:spcBef>
              <a:spcAft>
                <a:spcPts val="1145"/>
              </a:spcAft>
              <a:buClr>
                <a:srgbClr val="D9D9FF"/>
              </a:buClr>
              <a:buSzPct val="50000"/>
              <a:tabLst>
                <a:tab pos="869657" algn="l"/>
                <a:tab pos="1742343" algn="l"/>
                <a:tab pos="2615030" algn="l"/>
                <a:tab pos="3487716" algn="l"/>
                <a:tab pos="4360404" algn="l"/>
                <a:tab pos="5233090" algn="l"/>
                <a:tab pos="6105777" algn="l"/>
                <a:tab pos="6978463" algn="l"/>
                <a:tab pos="7851151" algn="l"/>
                <a:tab pos="8723837" algn="l"/>
                <a:tab pos="9596524" algn="l"/>
              </a:tabLst>
              <a:defRPr/>
            </a:pP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w Cen MT" panose="020B0602020104020603" pitchFamily="34" charset="0"/>
              <a:ea typeface="ＭＳ Ｐゴシック" pitchFamily="32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2007" y="2813538"/>
            <a:ext cx="2307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rgbClr val="0000CC"/>
                </a:solidFill>
                <a:latin typeface="Tw Cen MT" panose="020B0602020104020603" pitchFamily="34" charset="0"/>
              </a:rPr>
              <a:t>Annex</a:t>
            </a:r>
            <a:endParaRPr lang="en-GB" sz="4400" dirty="0">
              <a:solidFill>
                <a:srgbClr val="0000CC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458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152400" y="1066800"/>
            <a:ext cx="8839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sz="2800" baseline="0" dirty="0"/>
              <a:t>Sometimes it is easier to define the elements of the </a:t>
            </a:r>
            <a:r>
              <a:rPr lang="en-US" sz="2800" baseline="0" dirty="0">
                <a:solidFill>
                  <a:srgbClr val="FF0000"/>
                </a:solidFill>
              </a:rPr>
              <a:t>GF(2</a:t>
            </a:r>
            <a:r>
              <a:rPr lang="en-US" sz="2800" i="1" baseline="30000" dirty="0">
                <a:solidFill>
                  <a:srgbClr val="FF0000"/>
                </a:solidFill>
              </a:rPr>
              <a:t>n</a:t>
            </a:r>
            <a:r>
              <a:rPr lang="en-US" sz="2800" baseline="0" dirty="0">
                <a:solidFill>
                  <a:srgbClr val="FF0000"/>
                </a:solidFill>
              </a:rPr>
              <a:t>) field using a generator. </a:t>
            </a:r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2819400"/>
            <a:ext cx="8262937" cy="971550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097080" y="456358"/>
            <a:ext cx="52213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>
                <a:solidFill>
                  <a:schemeClr val="hlink"/>
                </a:solidFill>
              </a:rPr>
              <a:t>Using a Generator</a:t>
            </a:r>
            <a:endParaRPr lang="en-US" sz="4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83" y="3985467"/>
            <a:ext cx="8665717" cy="2410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236439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4.</a:t>
            </a:r>
            <a:fld id="{3B7D76D5-6BD9-4E19-B769-F7E30ABBFC5A}" type="slidenum">
              <a:rPr lang="en-US"/>
              <a:pPr/>
              <a:t>93</a:t>
            </a:fld>
            <a:endParaRPr lang="en-US"/>
          </a:p>
        </p:txBody>
      </p:sp>
      <p:sp>
        <p:nvSpPr>
          <p:cNvPr id="1173506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3507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3508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3509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3510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3511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3512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3513" name="Text Box 9"/>
          <p:cNvSpPr txBox="1">
            <a:spLocks noChangeArrowheads="1"/>
          </p:cNvSpPr>
          <p:nvPr/>
        </p:nvSpPr>
        <p:spPr bwMode="auto">
          <a:xfrm>
            <a:off x="1143000" y="0"/>
            <a:ext cx="3265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i="1" baseline="0"/>
              <a:t>4.2.1</a:t>
            </a:r>
            <a:r>
              <a:rPr lang="en-US" sz="3200" i="1" baseline="0">
                <a:solidFill>
                  <a:schemeClr val="hlink"/>
                </a:solidFill>
              </a:rPr>
              <a:t>     </a:t>
            </a:r>
            <a:r>
              <a:rPr lang="en-US" sz="3200" i="1" baseline="0"/>
              <a:t>Continued</a:t>
            </a:r>
          </a:p>
        </p:txBody>
      </p:sp>
      <p:sp>
        <p:nvSpPr>
          <p:cNvPr id="1173514" name="Text Box 10"/>
          <p:cNvSpPr txBox="1">
            <a:spLocks noChangeArrowheads="1"/>
          </p:cNvSpPr>
          <p:nvPr/>
        </p:nvSpPr>
        <p:spPr bwMode="auto">
          <a:xfrm>
            <a:off x="1066800" y="533400"/>
            <a:ext cx="1146468" cy="40011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aseline="0" dirty="0">
                <a:solidFill>
                  <a:schemeClr val="bg1"/>
                </a:solidFill>
              </a:rPr>
              <a:t>Example </a:t>
            </a:r>
            <a:endParaRPr lang="en-US" sz="2000" i="1" baseline="0" dirty="0">
              <a:solidFill>
                <a:schemeClr val="bg1"/>
              </a:solidFill>
            </a:endParaRPr>
          </a:p>
        </p:txBody>
      </p:sp>
      <p:sp>
        <p:nvSpPr>
          <p:cNvPr id="1173515" name="Rectangle 11"/>
          <p:cNvSpPr>
            <a:spLocks noChangeArrowheads="1"/>
          </p:cNvSpPr>
          <p:nvPr/>
        </p:nvSpPr>
        <p:spPr bwMode="auto">
          <a:xfrm>
            <a:off x="152400" y="1138405"/>
            <a:ext cx="8839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solidFill>
                  <a:schemeClr val="bg2"/>
                </a:solidFill>
              </a:rPr>
              <a:t>Generate the elements of the field GF(2</a:t>
            </a:r>
            <a:r>
              <a:rPr lang="en-US" sz="2400" baseline="30000" dirty="0">
                <a:solidFill>
                  <a:schemeClr val="bg2"/>
                </a:solidFill>
              </a:rPr>
              <a:t>4</a:t>
            </a:r>
            <a:r>
              <a:rPr lang="en-US" sz="2400" baseline="0" dirty="0">
                <a:solidFill>
                  <a:schemeClr val="bg2"/>
                </a:solidFill>
              </a:rPr>
              <a:t>) using the irreducible polynomial ƒ(</a:t>
            </a:r>
            <a:r>
              <a:rPr lang="en-US" sz="2400" i="1" baseline="0" dirty="0">
                <a:solidFill>
                  <a:schemeClr val="bg2"/>
                </a:solidFill>
              </a:rPr>
              <a:t>x</a:t>
            </a:r>
            <a:r>
              <a:rPr lang="en-US" sz="2400" baseline="0" dirty="0">
                <a:solidFill>
                  <a:schemeClr val="bg2"/>
                </a:solidFill>
              </a:rPr>
              <a:t>) = </a:t>
            </a:r>
            <a:r>
              <a:rPr lang="en-US" sz="2400" i="1" baseline="0" dirty="0">
                <a:solidFill>
                  <a:schemeClr val="bg2"/>
                </a:solidFill>
              </a:rPr>
              <a:t>x</a:t>
            </a:r>
            <a:r>
              <a:rPr lang="en-US" sz="2400" baseline="30000" dirty="0">
                <a:solidFill>
                  <a:schemeClr val="bg2"/>
                </a:solidFill>
              </a:rPr>
              <a:t>4</a:t>
            </a:r>
            <a:r>
              <a:rPr lang="en-US" sz="2400" baseline="0" dirty="0">
                <a:solidFill>
                  <a:schemeClr val="bg2"/>
                </a:solidFill>
              </a:rPr>
              <a:t> + </a:t>
            </a:r>
            <a:r>
              <a:rPr lang="en-US" sz="2400" i="1" baseline="0" dirty="0">
                <a:solidFill>
                  <a:schemeClr val="bg2"/>
                </a:solidFill>
              </a:rPr>
              <a:t>x</a:t>
            </a:r>
            <a:r>
              <a:rPr lang="en-US" sz="2400" baseline="0" dirty="0">
                <a:solidFill>
                  <a:schemeClr val="bg2"/>
                </a:solidFill>
              </a:rPr>
              <a:t> + 1. </a:t>
            </a:r>
          </a:p>
        </p:txBody>
      </p:sp>
      <p:sp>
        <p:nvSpPr>
          <p:cNvPr id="1173516" name="Rectangle 12"/>
          <p:cNvSpPr>
            <a:spLocks noChangeArrowheads="1"/>
          </p:cNvSpPr>
          <p:nvPr/>
        </p:nvSpPr>
        <p:spPr bwMode="auto">
          <a:xfrm>
            <a:off x="152400" y="3199386"/>
            <a:ext cx="8839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sz="2400" baseline="0" dirty="0">
                <a:solidFill>
                  <a:schemeClr val="bg2"/>
                </a:solidFill>
              </a:rPr>
              <a:t>The elements 0, 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30000" dirty="0">
                <a:solidFill>
                  <a:schemeClr val="bg2"/>
                </a:solidFill>
              </a:rPr>
              <a:t>0</a:t>
            </a:r>
            <a:r>
              <a:rPr lang="en-US" sz="2400" baseline="0" dirty="0">
                <a:solidFill>
                  <a:schemeClr val="bg2"/>
                </a:solidFill>
              </a:rPr>
              <a:t>, 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30000" dirty="0">
                <a:solidFill>
                  <a:schemeClr val="bg2"/>
                </a:solidFill>
              </a:rPr>
              <a:t>1</a:t>
            </a:r>
            <a:r>
              <a:rPr lang="en-US" sz="2400" baseline="0" dirty="0">
                <a:solidFill>
                  <a:schemeClr val="bg2"/>
                </a:solidFill>
              </a:rPr>
              <a:t>, 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0" dirty="0">
                <a:solidFill>
                  <a:schemeClr val="bg2"/>
                </a:solidFill>
              </a:rPr>
              <a:t>2, and 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30000" dirty="0">
                <a:solidFill>
                  <a:schemeClr val="bg2"/>
                </a:solidFill>
              </a:rPr>
              <a:t>3</a:t>
            </a:r>
            <a:r>
              <a:rPr lang="en-US" sz="2400" baseline="0" dirty="0">
                <a:solidFill>
                  <a:schemeClr val="bg2"/>
                </a:solidFill>
              </a:rPr>
              <a:t> can be easily generated, because they are the 4-bit representations of 0, 1, </a:t>
            </a:r>
            <a:r>
              <a:rPr lang="en-US" sz="2400" i="1" baseline="0" dirty="0">
                <a:solidFill>
                  <a:schemeClr val="bg2"/>
                </a:solidFill>
              </a:rPr>
              <a:t>x</a:t>
            </a:r>
            <a:r>
              <a:rPr lang="en-US" sz="2400" baseline="30000" dirty="0">
                <a:solidFill>
                  <a:schemeClr val="bg2"/>
                </a:solidFill>
              </a:rPr>
              <a:t>2</a:t>
            </a:r>
            <a:r>
              <a:rPr lang="en-US" sz="2400" baseline="0" dirty="0">
                <a:solidFill>
                  <a:schemeClr val="bg2"/>
                </a:solidFill>
              </a:rPr>
              <a:t>, and </a:t>
            </a:r>
            <a:r>
              <a:rPr lang="en-US" sz="2400" i="1" baseline="0" dirty="0">
                <a:solidFill>
                  <a:schemeClr val="bg2"/>
                </a:solidFill>
              </a:rPr>
              <a:t>x</a:t>
            </a:r>
            <a:r>
              <a:rPr lang="en-US" sz="2400" baseline="30000" dirty="0">
                <a:solidFill>
                  <a:schemeClr val="bg2"/>
                </a:solidFill>
              </a:rPr>
              <a:t>3</a:t>
            </a:r>
            <a:r>
              <a:rPr lang="en-US" sz="2400" baseline="0" dirty="0">
                <a:solidFill>
                  <a:schemeClr val="bg2"/>
                </a:solidFill>
              </a:rPr>
              <a:t>. Elements 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30000" dirty="0">
                <a:solidFill>
                  <a:schemeClr val="bg2"/>
                </a:solidFill>
              </a:rPr>
              <a:t>4</a:t>
            </a:r>
            <a:r>
              <a:rPr lang="en-US" sz="2400" baseline="0" dirty="0">
                <a:solidFill>
                  <a:schemeClr val="bg2"/>
                </a:solidFill>
              </a:rPr>
              <a:t> through 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30000" dirty="0">
                <a:solidFill>
                  <a:schemeClr val="bg2"/>
                </a:solidFill>
              </a:rPr>
              <a:t>14</a:t>
            </a:r>
            <a:r>
              <a:rPr lang="en-US" sz="2400" baseline="0" dirty="0">
                <a:solidFill>
                  <a:schemeClr val="bg2"/>
                </a:solidFill>
              </a:rPr>
              <a:t>, which represent </a:t>
            </a:r>
            <a:r>
              <a:rPr lang="en-US" sz="2400" i="1" baseline="0" dirty="0">
                <a:solidFill>
                  <a:schemeClr val="bg2"/>
                </a:solidFill>
              </a:rPr>
              <a:t>x</a:t>
            </a:r>
            <a:r>
              <a:rPr lang="en-US" sz="2400" baseline="30000" dirty="0">
                <a:solidFill>
                  <a:schemeClr val="bg2"/>
                </a:solidFill>
              </a:rPr>
              <a:t>4</a:t>
            </a:r>
            <a:r>
              <a:rPr lang="en-US" sz="2400" baseline="0" dirty="0">
                <a:solidFill>
                  <a:schemeClr val="bg2"/>
                </a:solidFill>
              </a:rPr>
              <a:t> though </a:t>
            </a:r>
            <a:r>
              <a:rPr lang="en-US" sz="2400" i="1" baseline="0" dirty="0">
                <a:solidFill>
                  <a:schemeClr val="bg2"/>
                </a:solidFill>
              </a:rPr>
              <a:t>x</a:t>
            </a:r>
            <a:r>
              <a:rPr lang="en-US" sz="2400" baseline="30000" dirty="0">
                <a:solidFill>
                  <a:schemeClr val="bg2"/>
                </a:solidFill>
              </a:rPr>
              <a:t>14</a:t>
            </a:r>
            <a:r>
              <a:rPr lang="en-US" sz="2400" baseline="0" dirty="0">
                <a:solidFill>
                  <a:schemeClr val="bg2"/>
                </a:solidFill>
              </a:rPr>
              <a:t> need to be divided by the irreducible polynomial. To avoid the polynomial division, the relation ƒ(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0" dirty="0">
                <a:solidFill>
                  <a:schemeClr val="bg2"/>
                </a:solidFill>
              </a:rPr>
              <a:t>) = 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30000" dirty="0">
                <a:solidFill>
                  <a:schemeClr val="bg2"/>
                </a:solidFill>
              </a:rPr>
              <a:t>4</a:t>
            </a:r>
            <a:r>
              <a:rPr lang="en-US" sz="2400" baseline="0" dirty="0">
                <a:solidFill>
                  <a:schemeClr val="bg2"/>
                </a:solidFill>
              </a:rPr>
              <a:t> + </a:t>
            </a:r>
            <a:r>
              <a:rPr lang="en-US" sz="2400" i="1" baseline="0" dirty="0">
                <a:solidFill>
                  <a:schemeClr val="bg2"/>
                </a:solidFill>
              </a:rPr>
              <a:t>g</a:t>
            </a:r>
            <a:r>
              <a:rPr lang="en-US" sz="2400" baseline="0" dirty="0">
                <a:solidFill>
                  <a:schemeClr val="bg2"/>
                </a:solidFill>
              </a:rPr>
              <a:t> + 1 = 0 can be </a:t>
            </a:r>
            <a:r>
              <a:rPr lang="en-US" sz="2400" baseline="0">
                <a:solidFill>
                  <a:schemeClr val="bg2"/>
                </a:solidFill>
              </a:rPr>
              <a:t>used </a:t>
            </a:r>
            <a:r>
              <a:rPr lang="en-US" sz="2400" baseline="0" smtClean="0">
                <a:solidFill>
                  <a:schemeClr val="bg2"/>
                </a:solidFill>
              </a:rPr>
              <a:t>. </a:t>
            </a:r>
            <a:endParaRPr lang="en-US" sz="2400" baseline="0" dirty="0">
              <a:solidFill>
                <a:schemeClr val="bg2"/>
              </a:solidFill>
            </a:endParaRPr>
          </a:p>
        </p:txBody>
      </p:sp>
      <p:sp>
        <p:nvSpPr>
          <p:cNvPr id="1173517" name="Text Box 13"/>
          <p:cNvSpPr txBox="1">
            <a:spLocks noChangeArrowheads="1"/>
          </p:cNvSpPr>
          <p:nvPr/>
        </p:nvSpPr>
        <p:spPr bwMode="auto">
          <a:xfrm>
            <a:off x="417423" y="2514600"/>
            <a:ext cx="12987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aseline="0" dirty="0">
                <a:solidFill>
                  <a:schemeClr val="hlink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51604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4.</a:t>
            </a:r>
            <a:fld id="{D79524A0-E6A3-43B5-A50A-B3A575097B09}" type="slidenum">
              <a:rPr lang="en-US"/>
              <a:pPr/>
              <a:t>94</a:t>
            </a:fld>
            <a:endParaRPr lang="en-US"/>
          </a:p>
        </p:txBody>
      </p:sp>
      <p:sp>
        <p:nvSpPr>
          <p:cNvPr id="1175554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5555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5556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5557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5558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5559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5560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5561" name="Text Box 9"/>
          <p:cNvSpPr txBox="1">
            <a:spLocks noChangeArrowheads="1"/>
          </p:cNvSpPr>
          <p:nvPr/>
        </p:nvSpPr>
        <p:spPr bwMode="auto">
          <a:xfrm>
            <a:off x="1143000" y="0"/>
            <a:ext cx="3265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i="1" baseline="0"/>
              <a:t>4.2.1</a:t>
            </a:r>
            <a:r>
              <a:rPr lang="en-US" sz="3200" i="1" baseline="0">
                <a:solidFill>
                  <a:schemeClr val="hlink"/>
                </a:solidFill>
              </a:rPr>
              <a:t>     </a:t>
            </a:r>
            <a:r>
              <a:rPr lang="en-US" sz="3200" i="1" baseline="0"/>
              <a:t>Continued</a:t>
            </a:r>
          </a:p>
        </p:txBody>
      </p:sp>
      <p:sp>
        <p:nvSpPr>
          <p:cNvPr id="1175562" name="Text Box 10"/>
          <p:cNvSpPr txBox="1">
            <a:spLocks noChangeArrowheads="1"/>
          </p:cNvSpPr>
          <p:nvPr/>
        </p:nvSpPr>
        <p:spPr bwMode="auto">
          <a:xfrm>
            <a:off x="1066800" y="533400"/>
            <a:ext cx="1146468" cy="40011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aseline="0" dirty="0">
                <a:solidFill>
                  <a:schemeClr val="bg1"/>
                </a:solidFill>
              </a:rPr>
              <a:t>Example </a:t>
            </a:r>
            <a:endParaRPr lang="en-US" sz="2000" i="1" baseline="0" dirty="0">
              <a:solidFill>
                <a:schemeClr val="bg1"/>
              </a:solidFill>
            </a:endParaRPr>
          </a:p>
        </p:txBody>
      </p:sp>
      <p:sp>
        <p:nvSpPr>
          <p:cNvPr id="1175564" name="Text Box 12"/>
          <p:cNvSpPr txBox="1">
            <a:spLocks noChangeArrowheads="1"/>
          </p:cNvSpPr>
          <p:nvPr/>
        </p:nvSpPr>
        <p:spPr bwMode="auto">
          <a:xfrm>
            <a:off x="3124200" y="533400"/>
            <a:ext cx="1725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i="1" baseline="0"/>
              <a:t>Continued</a:t>
            </a:r>
          </a:p>
        </p:txBody>
      </p:sp>
      <p:pic>
        <p:nvPicPr>
          <p:cNvPr id="1175566" name="Picture 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8839200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651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4.</a:t>
            </a:r>
            <a:fld id="{9336D23E-A61F-4836-817C-6FF2AE8D3760}" type="slidenum">
              <a:rPr lang="en-US"/>
              <a:pPr/>
              <a:t>95</a:t>
            </a:fld>
            <a:endParaRPr lang="en-US"/>
          </a:p>
        </p:txBody>
      </p:sp>
      <p:sp>
        <p:nvSpPr>
          <p:cNvPr id="1177602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7603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7604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7605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7606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7607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7608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7609" name="Text Box 9"/>
          <p:cNvSpPr txBox="1">
            <a:spLocks noChangeArrowheads="1"/>
          </p:cNvSpPr>
          <p:nvPr/>
        </p:nvSpPr>
        <p:spPr bwMode="auto">
          <a:xfrm>
            <a:off x="1143000" y="0"/>
            <a:ext cx="3265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i="1" baseline="0"/>
              <a:t>4.2.1</a:t>
            </a:r>
            <a:r>
              <a:rPr lang="en-US" sz="3200" i="1" baseline="0">
                <a:solidFill>
                  <a:schemeClr val="hlink"/>
                </a:solidFill>
              </a:rPr>
              <a:t>     </a:t>
            </a:r>
            <a:r>
              <a:rPr lang="en-US" sz="3200" i="1" baseline="0"/>
              <a:t>Continued</a:t>
            </a:r>
          </a:p>
        </p:txBody>
      </p:sp>
      <p:sp>
        <p:nvSpPr>
          <p:cNvPr id="1177610" name="Text Box 10"/>
          <p:cNvSpPr txBox="1">
            <a:spLocks noChangeArrowheads="1"/>
          </p:cNvSpPr>
          <p:nvPr/>
        </p:nvSpPr>
        <p:spPr bwMode="auto">
          <a:xfrm>
            <a:off x="1179513" y="593725"/>
            <a:ext cx="1146468" cy="40011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aseline="0" dirty="0">
                <a:solidFill>
                  <a:schemeClr val="bg1"/>
                </a:solidFill>
              </a:rPr>
              <a:t>Example </a:t>
            </a:r>
            <a:endParaRPr lang="en-US" sz="2000" i="1" baseline="0" dirty="0">
              <a:solidFill>
                <a:schemeClr val="bg1"/>
              </a:solidFill>
            </a:endParaRPr>
          </a:p>
        </p:txBody>
      </p:sp>
      <p:sp>
        <p:nvSpPr>
          <p:cNvPr id="1177611" name="Rectangle 11"/>
          <p:cNvSpPr>
            <a:spLocks noChangeArrowheads="1"/>
          </p:cNvSpPr>
          <p:nvPr/>
        </p:nvSpPr>
        <p:spPr bwMode="auto">
          <a:xfrm>
            <a:off x="152400" y="1213862"/>
            <a:ext cx="88392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baseline="0" dirty="0"/>
              <a:t>The </a:t>
            </a:r>
            <a:r>
              <a:rPr lang="en-US" sz="2800" baseline="0" dirty="0">
                <a:solidFill>
                  <a:srgbClr val="FF0000"/>
                </a:solidFill>
              </a:rPr>
              <a:t>following show the results of addition and subtraction operations:</a:t>
            </a:r>
          </a:p>
        </p:txBody>
      </p:sp>
      <p:pic>
        <p:nvPicPr>
          <p:cNvPr id="117761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" y="3011606"/>
            <a:ext cx="8491537" cy="74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811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4.</a:t>
            </a:r>
            <a:fld id="{60F7EA38-691B-4643-A89B-E57B5883CB00}" type="slidenum">
              <a:rPr lang="en-US"/>
              <a:pPr/>
              <a:t>96</a:t>
            </a:fld>
            <a:endParaRPr lang="en-US"/>
          </a:p>
        </p:txBody>
      </p:sp>
      <p:sp>
        <p:nvSpPr>
          <p:cNvPr id="1179650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9651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9652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9653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9654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9655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9656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b="0" baseline="0">
              <a:latin typeface="Tahoma" pitchFamily="34" charset="0"/>
            </a:endParaRPr>
          </a:p>
        </p:txBody>
      </p:sp>
      <p:sp>
        <p:nvSpPr>
          <p:cNvPr id="1179657" name="Text Box 9"/>
          <p:cNvSpPr txBox="1">
            <a:spLocks noChangeArrowheads="1"/>
          </p:cNvSpPr>
          <p:nvPr/>
        </p:nvSpPr>
        <p:spPr bwMode="auto">
          <a:xfrm>
            <a:off x="1143000" y="0"/>
            <a:ext cx="3265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i="1" baseline="0"/>
              <a:t>4.2.1</a:t>
            </a:r>
            <a:r>
              <a:rPr lang="en-US" sz="3200" i="1" baseline="0">
                <a:solidFill>
                  <a:schemeClr val="hlink"/>
                </a:solidFill>
              </a:rPr>
              <a:t>     </a:t>
            </a:r>
            <a:r>
              <a:rPr lang="en-US" sz="3200" i="1" baseline="0"/>
              <a:t>Continued</a:t>
            </a:r>
          </a:p>
        </p:txBody>
      </p:sp>
      <p:sp>
        <p:nvSpPr>
          <p:cNvPr id="1179658" name="Text Box 10"/>
          <p:cNvSpPr txBox="1">
            <a:spLocks noChangeArrowheads="1"/>
          </p:cNvSpPr>
          <p:nvPr/>
        </p:nvSpPr>
        <p:spPr bwMode="auto">
          <a:xfrm>
            <a:off x="1066800" y="533400"/>
            <a:ext cx="1146468" cy="40011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aseline="0" dirty="0">
                <a:solidFill>
                  <a:schemeClr val="bg1"/>
                </a:solidFill>
              </a:rPr>
              <a:t>Example </a:t>
            </a:r>
            <a:endParaRPr lang="en-US" sz="2000" i="1" baseline="0" dirty="0">
              <a:solidFill>
                <a:schemeClr val="bg1"/>
              </a:solidFill>
            </a:endParaRPr>
          </a:p>
        </p:txBody>
      </p:sp>
      <p:sp>
        <p:nvSpPr>
          <p:cNvPr id="1179659" name="Rectangle 11"/>
          <p:cNvSpPr>
            <a:spLocks noChangeArrowheads="1"/>
          </p:cNvSpPr>
          <p:nvPr/>
        </p:nvSpPr>
        <p:spPr bwMode="auto">
          <a:xfrm>
            <a:off x="152400" y="1138406"/>
            <a:ext cx="8839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ct val="70000"/>
              </a:spcAft>
            </a:pPr>
            <a:r>
              <a:rPr lang="en-US" baseline="0" dirty="0"/>
              <a:t>The </a:t>
            </a:r>
            <a:r>
              <a:rPr lang="en-US" sz="2400" baseline="0" dirty="0">
                <a:solidFill>
                  <a:srgbClr val="FF0000"/>
                </a:solidFill>
              </a:rPr>
              <a:t>following show the result of multiplication and division operations:. </a:t>
            </a:r>
          </a:p>
        </p:txBody>
      </p:sp>
      <p:pic>
        <p:nvPicPr>
          <p:cNvPr id="117966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22394"/>
            <a:ext cx="8839200" cy="105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538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67" y="908855"/>
            <a:ext cx="8532169" cy="3922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4213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00" y="1002684"/>
            <a:ext cx="8277293" cy="4852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03951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894" y="2709689"/>
            <a:ext cx="8228013" cy="1433513"/>
          </a:xfrm>
        </p:spPr>
        <p:txBody>
          <a:bodyPr/>
          <a:lstStyle/>
          <a:p>
            <a:r>
              <a:rPr lang="en-US" sz="4400" b="1" dirty="0" smtClean="0">
                <a:solidFill>
                  <a:srgbClr val="FF0000"/>
                </a:solidFill>
              </a:rPr>
              <a:t>GCD Revisited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40726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F2DC2-D1DA-4515-BD8A-1E19BCF560D9}" type="slidenum">
              <a:rPr lang="en-US" smtClean="0">
                <a:solidFill>
                  <a:srgbClr val="000000"/>
                </a:solidFill>
              </a:rPr>
              <a:pPr/>
              <a:t>100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86786" name="Text Box 2"/>
          <p:cNvSpPr txBox="1">
            <a:spLocks noChangeArrowheads="1"/>
          </p:cNvSpPr>
          <p:nvPr/>
        </p:nvSpPr>
        <p:spPr bwMode="auto">
          <a:xfrm>
            <a:off x="766549" y="3733800"/>
            <a:ext cx="2917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3333CC"/>
                </a:solidFill>
                <a:latin typeface="Times New Roman" pitchFamily="18" charset="0"/>
                <a:cs typeface="+mn-cs"/>
              </a:rPr>
              <a:t>Euclidean Algorithm</a:t>
            </a:r>
            <a:endParaRPr lang="en-US" sz="2000" b="1" i="1" dirty="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86795" name="Line 11"/>
          <p:cNvSpPr>
            <a:spLocks noChangeShapeType="1"/>
          </p:cNvSpPr>
          <p:nvPr/>
        </p:nvSpPr>
        <p:spPr bwMode="auto">
          <a:xfrm>
            <a:off x="609600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86796" name="Line 12"/>
          <p:cNvSpPr>
            <a:spLocks noChangeShapeType="1"/>
          </p:cNvSpPr>
          <p:nvPr/>
        </p:nvSpPr>
        <p:spPr bwMode="auto">
          <a:xfrm>
            <a:off x="609600" y="6324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86797" name="Rectangle 13"/>
          <p:cNvSpPr>
            <a:spLocks noChangeArrowheads="1"/>
          </p:cNvSpPr>
          <p:nvPr/>
        </p:nvSpPr>
        <p:spPr bwMode="auto">
          <a:xfrm>
            <a:off x="647700" y="4664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200" b="1" i="1" smtClean="0">
                <a:solidFill>
                  <a:srgbClr val="000000"/>
                </a:solidFill>
                <a:latin typeface="Arial" charset="0"/>
                <a:cs typeface="+mn-cs"/>
              </a:rPr>
              <a:t>Fact 1: gcd (a, 0) = a</a:t>
            </a:r>
            <a:br>
              <a:rPr lang="en-US" sz="3200" b="1" i="1" smtClean="0">
                <a:solidFill>
                  <a:srgbClr val="000000"/>
                </a:solidFill>
                <a:latin typeface="Arial" charset="0"/>
                <a:cs typeface="+mn-cs"/>
              </a:rPr>
            </a:br>
            <a:r>
              <a:rPr lang="en-US" sz="3200" b="1" i="1" smtClean="0">
                <a:solidFill>
                  <a:srgbClr val="000000"/>
                </a:solidFill>
                <a:latin typeface="Arial" charset="0"/>
                <a:cs typeface="+mn-cs"/>
              </a:rPr>
              <a:t>Fact 2: gcd (a, b) = gcd (b, r), where r is</a:t>
            </a:r>
            <a:br>
              <a:rPr lang="en-US" sz="3200" b="1" i="1" smtClean="0">
                <a:solidFill>
                  <a:srgbClr val="000000"/>
                </a:solidFill>
                <a:latin typeface="Arial" charset="0"/>
                <a:cs typeface="+mn-cs"/>
              </a:rPr>
            </a:br>
            <a:r>
              <a:rPr lang="en-US" sz="3200" b="1" i="1" smtClean="0">
                <a:solidFill>
                  <a:srgbClr val="000000"/>
                </a:solidFill>
                <a:latin typeface="Arial" charset="0"/>
                <a:cs typeface="+mn-cs"/>
              </a:rPr>
              <a:t>             the remainder of dividing a by b</a:t>
            </a:r>
          </a:p>
        </p:txBody>
      </p:sp>
      <p:sp>
        <p:nvSpPr>
          <p:cNvPr id="886798" name="Line 14"/>
          <p:cNvSpPr>
            <a:spLocks noChangeShapeType="1"/>
          </p:cNvSpPr>
          <p:nvPr/>
        </p:nvSpPr>
        <p:spPr bwMode="auto">
          <a:xfrm>
            <a:off x="609600" y="175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86799" name="Line 15"/>
          <p:cNvSpPr>
            <a:spLocks noChangeShapeType="1"/>
          </p:cNvSpPr>
          <p:nvPr/>
        </p:nvSpPr>
        <p:spPr bwMode="auto">
          <a:xfrm>
            <a:off x="609600" y="3505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86800" name="Rectangle 16"/>
          <p:cNvSpPr>
            <a:spLocks noChangeArrowheads="1"/>
          </p:cNvSpPr>
          <p:nvPr/>
        </p:nvSpPr>
        <p:spPr bwMode="auto">
          <a:xfrm>
            <a:off x="647700" y="18446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200" b="1" i="1" smtClean="0">
                <a:solidFill>
                  <a:srgbClr val="000000"/>
                </a:solidFill>
                <a:latin typeface="Arial" charset="0"/>
                <a:cs typeface="+mn-cs"/>
              </a:rPr>
              <a:t>The greatest common divisor of two positive integers is the largest integer that can divide both integers.</a:t>
            </a:r>
          </a:p>
        </p:txBody>
      </p:sp>
      <p:sp>
        <p:nvSpPr>
          <p:cNvPr id="886801" name="Text Box 17"/>
          <p:cNvSpPr txBox="1">
            <a:spLocks noChangeArrowheads="1"/>
          </p:cNvSpPr>
          <p:nvPr/>
        </p:nvSpPr>
        <p:spPr bwMode="auto">
          <a:xfrm>
            <a:off x="2614684" y="495869"/>
            <a:ext cx="3603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3333CC"/>
                </a:solidFill>
                <a:latin typeface="Times New Roman" pitchFamily="18" charset="0"/>
                <a:cs typeface="+mn-cs"/>
              </a:rPr>
              <a:t>Greatest Common Divisor</a:t>
            </a:r>
            <a:endParaRPr lang="en-US" sz="2000" b="1" i="1" dirty="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44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E81EF-C60A-4BCA-ABAC-B78EE047B21F}" type="slidenum">
              <a:rPr lang="en-US" smtClean="0">
                <a:solidFill>
                  <a:srgbClr val="000000"/>
                </a:solidFill>
              </a:rPr>
              <a:pPr/>
              <a:t>101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8884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888842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 Continued</a:t>
            </a:r>
          </a:p>
        </p:txBody>
      </p:sp>
      <p:pic>
        <p:nvPicPr>
          <p:cNvPr id="888856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1066800"/>
            <a:ext cx="7002462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88857" name="Text Box 25"/>
          <p:cNvSpPr txBox="1">
            <a:spLocks noChangeArrowheads="1"/>
          </p:cNvSpPr>
          <p:nvPr/>
        </p:nvSpPr>
        <p:spPr bwMode="auto">
          <a:xfrm>
            <a:off x="1219200" y="533400"/>
            <a:ext cx="3497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3333CC"/>
                </a:solidFill>
                <a:latin typeface="Times New Roman" pitchFamily="18" charset="0"/>
                <a:cs typeface="+mn-cs"/>
              </a:rPr>
              <a:t>Figure   </a:t>
            </a:r>
            <a:r>
              <a:rPr lang="en-US" sz="20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Euclidean Algorithm</a:t>
            </a:r>
          </a:p>
        </p:txBody>
      </p:sp>
      <p:sp>
        <p:nvSpPr>
          <p:cNvPr id="888859" name="Line 27"/>
          <p:cNvSpPr>
            <a:spLocks noChangeShapeType="1"/>
          </p:cNvSpPr>
          <p:nvPr/>
        </p:nvSpPr>
        <p:spPr bwMode="auto">
          <a:xfrm>
            <a:off x="609600" y="5334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88860" name="Line 28"/>
          <p:cNvSpPr>
            <a:spLocks noChangeShapeType="1"/>
          </p:cNvSpPr>
          <p:nvPr/>
        </p:nvSpPr>
        <p:spPr bwMode="auto">
          <a:xfrm>
            <a:off x="609600" y="6553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88861" name="Rectangle 29"/>
          <p:cNvSpPr>
            <a:spLocks noChangeArrowheads="1"/>
          </p:cNvSpPr>
          <p:nvPr/>
        </p:nvSpPr>
        <p:spPr bwMode="auto">
          <a:xfrm>
            <a:off x="647700" y="5426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200" b="1" i="1" smtClean="0">
                <a:solidFill>
                  <a:srgbClr val="000000"/>
                </a:solidFill>
                <a:latin typeface="Arial" charset="0"/>
                <a:cs typeface="+mn-cs"/>
              </a:rPr>
              <a:t>When gcd (a, b) = 1, we say that a and b are relatively prime.</a:t>
            </a:r>
          </a:p>
        </p:txBody>
      </p:sp>
    </p:spTree>
    <p:extLst>
      <p:ext uri="{BB962C8B-B14F-4D97-AF65-F5344CB8AC3E}">
        <p14:creationId xmlns:p14="http://schemas.microsoft.com/office/powerpoint/2010/main" val="229335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1D7E14-3607-4CB3-966C-79F828FDA462}" type="slidenum">
              <a:rPr lang="en-US" smtClean="0">
                <a:solidFill>
                  <a:srgbClr val="000000"/>
                </a:solidFill>
              </a:rPr>
              <a:pPr/>
              <a:t>102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90888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890889" name="Text Box 9"/>
          <p:cNvSpPr txBox="1">
            <a:spLocks noChangeArrowheads="1"/>
          </p:cNvSpPr>
          <p:nvPr/>
        </p:nvSpPr>
        <p:spPr bwMode="auto">
          <a:xfrm>
            <a:off x="1143000" y="0"/>
            <a:ext cx="21675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Continued</a:t>
            </a:r>
          </a:p>
        </p:txBody>
      </p:sp>
      <p:sp>
        <p:nvSpPr>
          <p:cNvPr id="890892" name="Line 12"/>
          <p:cNvSpPr>
            <a:spLocks noChangeShapeType="1"/>
          </p:cNvSpPr>
          <p:nvPr/>
        </p:nvSpPr>
        <p:spPr bwMode="auto">
          <a:xfrm>
            <a:off x="609600" y="3124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90893" name="Line 13"/>
          <p:cNvSpPr>
            <a:spLocks noChangeShapeType="1"/>
          </p:cNvSpPr>
          <p:nvPr/>
        </p:nvSpPr>
        <p:spPr bwMode="auto">
          <a:xfrm>
            <a:off x="609600" y="4343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90894" name="Rectangle 14"/>
          <p:cNvSpPr>
            <a:spLocks noChangeArrowheads="1"/>
          </p:cNvSpPr>
          <p:nvPr/>
        </p:nvSpPr>
        <p:spPr bwMode="auto">
          <a:xfrm>
            <a:off x="647700" y="32162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200" b="1" i="1" smtClean="0">
                <a:solidFill>
                  <a:srgbClr val="000000"/>
                </a:solidFill>
                <a:latin typeface="Arial" charset="0"/>
                <a:cs typeface="+mn-cs"/>
              </a:rPr>
              <a:t>When gcd (a, b) = 1, we say that a and b are relatively prime.</a:t>
            </a:r>
          </a:p>
        </p:txBody>
      </p:sp>
    </p:spTree>
    <p:extLst>
      <p:ext uri="{BB962C8B-B14F-4D97-AF65-F5344CB8AC3E}">
        <p14:creationId xmlns:p14="http://schemas.microsoft.com/office/powerpoint/2010/main" val="136902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32EB31-C4FC-4DAC-8264-E5EACA590527}" type="slidenum">
              <a:rPr lang="en-US" smtClean="0">
                <a:solidFill>
                  <a:srgbClr val="000000"/>
                </a:solidFill>
              </a:rPr>
              <a:pPr/>
              <a:t>103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94978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78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FFFFFF"/>
                </a:solidFill>
                <a:latin typeface="Times New Roman" pitchFamily="18" charset="0"/>
                <a:cs typeface="+mn-cs"/>
              </a:rPr>
              <a:t>Example </a:t>
            </a:r>
            <a:endParaRPr lang="en-US" sz="2000" b="1" i="1" dirty="0" smtClean="0">
              <a:solidFill>
                <a:srgbClr val="FFFFFF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9498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894986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 Continued</a:t>
            </a:r>
          </a:p>
        </p:txBody>
      </p:sp>
      <p:sp>
        <p:nvSpPr>
          <p:cNvPr id="894987" name="Rectangle 11"/>
          <p:cNvSpPr>
            <a:spLocks noChangeArrowheads="1"/>
          </p:cNvSpPr>
          <p:nvPr/>
        </p:nvSpPr>
        <p:spPr bwMode="auto">
          <a:xfrm>
            <a:off x="304800" y="1065213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Find the greatest common divisor of 2740 and 1760.</a:t>
            </a:r>
          </a:p>
        </p:txBody>
      </p:sp>
      <p:sp>
        <p:nvSpPr>
          <p:cNvPr id="894988" name="Rectangle 12"/>
          <p:cNvSpPr>
            <a:spLocks noChangeArrowheads="1"/>
          </p:cNvSpPr>
          <p:nvPr/>
        </p:nvSpPr>
        <p:spPr bwMode="auto">
          <a:xfrm>
            <a:off x="228600" y="2057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We have gcd (2740, 1760) = 20.</a:t>
            </a:r>
          </a:p>
        </p:txBody>
      </p:sp>
      <p:sp>
        <p:nvSpPr>
          <p:cNvPr id="894989" name="Rectangle 13"/>
          <p:cNvSpPr>
            <a:spLocks noChangeArrowheads="1"/>
          </p:cNvSpPr>
          <p:nvPr/>
        </p:nvSpPr>
        <p:spPr bwMode="auto">
          <a:xfrm>
            <a:off x="2286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Solution</a:t>
            </a:r>
          </a:p>
        </p:txBody>
      </p:sp>
      <p:pic>
        <p:nvPicPr>
          <p:cNvPr id="89499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3" y="2565400"/>
            <a:ext cx="5265737" cy="3830638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710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D7A822-3181-465A-84BA-F99D5799A4E4}" type="slidenum">
              <a:rPr lang="en-US" smtClean="0">
                <a:solidFill>
                  <a:srgbClr val="000000"/>
                </a:solidFill>
              </a:rPr>
              <a:pPr/>
              <a:t>104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97026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78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FFFFFF"/>
                </a:solidFill>
                <a:latin typeface="Times New Roman" pitchFamily="18" charset="0"/>
                <a:cs typeface="+mn-cs"/>
              </a:rPr>
              <a:t>Example </a:t>
            </a:r>
            <a:endParaRPr lang="en-US" sz="2000" b="1" i="1" dirty="0" smtClean="0">
              <a:solidFill>
                <a:srgbClr val="FFFFFF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9703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897034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75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Continued</a:t>
            </a:r>
          </a:p>
        </p:txBody>
      </p:sp>
      <p:sp>
        <p:nvSpPr>
          <p:cNvPr id="897035" name="Rectangle 11"/>
          <p:cNvSpPr>
            <a:spLocks noChangeArrowheads="1"/>
          </p:cNvSpPr>
          <p:nvPr/>
        </p:nvSpPr>
        <p:spPr bwMode="auto">
          <a:xfrm>
            <a:off x="304800" y="1065213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Find the greatest common divisor of 25 and 60.</a:t>
            </a:r>
          </a:p>
        </p:txBody>
      </p:sp>
      <p:sp>
        <p:nvSpPr>
          <p:cNvPr id="897036" name="Rectangle 12"/>
          <p:cNvSpPr>
            <a:spLocks noChangeArrowheads="1"/>
          </p:cNvSpPr>
          <p:nvPr/>
        </p:nvSpPr>
        <p:spPr bwMode="auto">
          <a:xfrm>
            <a:off x="228600" y="2057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We have gcd (25, 65) = 5.</a:t>
            </a:r>
          </a:p>
        </p:txBody>
      </p:sp>
      <p:sp>
        <p:nvSpPr>
          <p:cNvPr id="897037" name="Rectangle 13"/>
          <p:cNvSpPr>
            <a:spLocks noChangeArrowheads="1"/>
          </p:cNvSpPr>
          <p:nvPr/>
        </p:nvSpPr>
        <p:spPr bwMode="auto">
          <a:xfrm>
            <a:off x="228600" y="1676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Solution</a:t>
            </a:r>
          </a:p>
        </p:txBody>
      </p:sp>
      <p:pic>
        <p:nvPicPr>
          <p:cNvPr id="89703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25" y="2735263"/>
            <a:ext cx="5146675" cy="282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792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23336C-2D6C-4D66-92A5-1DB13FF74FF2}" type="slidenum">
              <a:rPr lang="en-US" smtClean="0">
                <a:solidFill>
                  <a:srgbClr val="000000"/>
                </a:solidFill>
              </a:rPr>
              <a:pPr/>
              <a:t>105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99074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423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smtClean="0">
                <a:solidFill>
                  <a:srgbClr val="3333CC"/>
                </a:solidFill>
                <a:latin typeface="Times New Roman" pitchFamily="18" charset="0"/>
                <a:cs typeface="+mn-cs"/>
              </a:rPr>
              <a:t>Extended Euclidean Algorithm</a:t>
            </a:r>
            <a:endParaRPr lang="en-US" sz="2000" b="1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89908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899082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 Continued</a:t>
            </a:r>
          </a:p>
        </p:txBody>
      </p:sp>
      <p:sp>
        <p:nvSpPr>
          <p:cNvPr id="899083" name="Rectangle 11"/>
          <p:cNvSpPr>
            <a:spLocks noChangeArrowheads="1"/>
          </p:cNvSpPr>
          <p:nvPr/>
        </p:nvSpPr>
        <p:spPr bwMode="auto">
          <a:xfrm>
            <a:off x="304800" y="1082675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Given two integers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b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, we often need to find other two integers,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, such that</a:t>
            </a:r>
          </a:p>
        </p:txBody>
      </p:sp>
      <p:pic>
        <p:nvPicPr>
          <p:cNvPr id="89908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2438400"/>
            <a:ext cx="5462587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9088" name="Rectangle 16"/>
          <p:cNvSpPr>
            <a:spLocks noChangeArrowheads="1"/>
          </p:cNvSpPr>
          <p:nvPr/>
        </p:nvSpPr>
        <p:spPr bwMode="auto">
          <a:xfrm>
            <a:off x="381000" y="3978275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The extended Euclidean algorithm can calculate the gcd (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,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b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) and at the same time calculate the value of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665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E4202-B313-4656-AD84-24FEDAB00992}" type="slidenum">
              <a:rPr lang="en-US" smtClean="0">
                <a:solidFill>
                  <a:srgbClr val="000000"/>
                </a:solidFill>
              </a:rPr>
              <a:pPr/>
              <a:t>106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0112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901130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 Continued</a:t>
            </a:r>
          </a:p>
        </p:txBody>
      </p:sp>
      <p:pic>
        <p:nvPicPr>
          <p:cNvPr id="90113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676400"/>
            <a:ext cx="8593137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1136" name="Text Box 16"/>
          <p:cNvSpPr txBox="1">
            <a:spLocks noChangeArrowheads="1"/>
          </p:cNvSpPr>
          <p:nvPr/>
        </p:nvSpPr>
        <p:spPr bwMode="auto">
          <a:xfrm>
            <a:off x="1066800" y="533400"/>
            <a:ext cx="52718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3333CC"/>
                </a:solidFill>
                <a:latin typeface="Times New Roman" pitchFamily="18" charset="0"/>
                <a:cs typeface="+mn-cs"/>
              </a:rPr>
              <a:t>Figure   </a:t>
            </a:r>
            <a:r>
              <a:rPr lang="en-US" sz="20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Extended Euclidean algorithm, part a</a:t>
            </a:r>
          </a:p>
        </p:txBody>
      </p:sp>
    </p:spTree>
    <p:extLst>
      <p:ext uri="{BB962C8B-B14F-4D97-AF65-F5344CB8AC3E}">
        <p14:creationId xmlns:p14="http://schemas.microsoft.com/office/powerpoint/2010/main" val="194126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3CD79B-4662-4D07-A7C3-DD156296BD13}" type="slidenum">
              <a:rPr lang="en-US" smtClean="0">
                <a:solidFill>
                  <a:srgbClr val="000000"/>
                </a:solidFill>
              </a:rPr>
              <a:pPr/>
              <a:t>107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0317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903178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 Continued</a:t>
            </a:r>
          </a:p>
        </p:txBody>
      </p:sp>
      <p:sp>
        <p:nvSpPr>
          <p:cNvPr id="903182" name="Text Box 14"/>
          <p:cNvSpPr txBox="1">
            <a:spLocks noChangeArrowheads="1"/>
          </p:cNvSpPr>
          <p:nvPr/>
        </p:nvSpPr>
        <p:spPr bwMode="auto">
          <a:xfrm>
            <a:off x="1155700" y="533400"/>
            <a:ext cx="4176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Extended Euclidean algorithm, part b</a:t>
            </a:r>
          </a:p>
        </p:txBody>
      </p:sp>
      <p:pic>
        <p:nvPicPr>
          <p:cNvPr id="90318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63675"/>
            <a:ext cx="7277100" cy="501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01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568946-E483-45BB-8483-F30D64B04228}" type="slidenum">
              <a:rPr lang="en-US" smtClean="0">
                <a:solidFill>
                  <a:srgbClr val="000000"/>
                </a:solidFill>
              </a:rPr>
              <a:pPr/>
              <a:t>108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05218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78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FFFFFF"/>
                </a:solidFill>
                <a:latin typeface="Times New Roman" pitchFamily="18" charset="0"/>
                <a:cs typeface="+mn-cs"/>
              </a:rPr>
              <a:t>Example </a:t>
            </a:r>
            <a:endParaRPr lang="en-US" sz="2000" b="1" i="1" dirty="0" smtClean="0">
              <a:solidFill>
                <a:srgbClr val="FFFFFF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90522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905226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75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Continued</a:t>
            </a:r>
          </a:p>
        </p:txBody>
      </p:sp>
      <p:sp>
        <p:nvSpPr>
          <p:cNvPr id="905227" name="Rectangle 11"/>
          <p:cNvSpPr>
            <a:spLocks noChangeArrowheads="1"/>
          </p:cNvSpPr>
          <p:nvPr/>
        </p:nvSpPr>
        <p:spPr bwMode="auto">
          <a:xfrm>
            <a:off x="304800" y="1158875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Given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161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b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28, find gcd (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,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b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) and the values of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.</a:t>
            </a:r>
          </a:p>
        </p:txBody>
      </p:sp>
      <p:sp>
        <p:nvSpPr>
          <p:cNvPr id="905228" name="Rectangle 12"/>
          <p:cNvSpPr>
            <a:spLocks noChangeArrowheads="1"/>
          </p:cNvSpPr>
          <p:nvPr/>
        </p:nvSpPr>
        <p:spPr bwMode="auto">
          <a:xfrm>
            <a:off x="381000" y="2590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We get gcd (161, 28) = 7,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−1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6.</a:t>
            </a:r>
          </a:p>
        </p:txBody>
      </p:sp>
      <p:sp>
        <p:nvSpPr>
          <p:cNvPr id="905229" name="Rectangle 13"/>
          <p:cNvSpPr>
            <a:spLocks noChangeArrowheads="1"/>
          </p:cNvSpPr>
          <p:nvPr/>
        </p:nvSpPr>
        <p:spPr bwMode="auto">
          <a:xfrm>
            <a:off x="3810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Solution</a:t>
            </a:r>
          </a:p>
        </p:txBody>
      </p:sp>
      <p:pic>
        <p:nvPicPr>
          <p:cNvPr id="905231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30575"/>
            <a:ext cx="7632700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606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3945A-7157-4D10-85B9-0D0D4EAA1F78}" type="slidenum">
              <a:rPr lang="en-US" smtClean="0">
                <a:solidFill>
                  <a:srgbClr val="000000"/>
                </a:solidFill>
              </a:rPr>
              <a:pPr/>
              <a:t>109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07266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78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FFFFFF"/>
                </a:solidFill>
                <a:latin typeface="Times New Roman" pitchFamily="18" charset="0"/>
                <a:cs typeface="+mn-cs"/>
              </a:rPr>
              <a:t>Example </a:t>
            </a:r>
            <a:endParaRPr lang="en-US" sz="2000" b="1" i="1" dirty="0" smtClean="0">
              <a:solidFill>
                <a:srgbClr val="FFFFFF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90727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907274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75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Continued</a:t>
            </a:r>
          </a:p>
        </p:txBody>
      </p:sp>
      <p:sp>
        <p:nvSpPr>
          <p:cNvPr id="907275" name="Rectangle 11"/>
          <p:cNvSpPr>
            <a:spLocks noChangeArrowheads="1"/>
          </p:cNvSpPr>
          <p:nvPr/>
        </p:nvSpPr>
        <p:spPr bwMode="auto">
          <a:xfrm>
            <a:off x="304800" y="1082675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Given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17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b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0, find gcd (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,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b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) and the values of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</a:t>
            </a:r>
            <a:b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</a:b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.</a:t>
            </a:r>
          </a:p>
        </p:txBody>
      </p:sp>
      <p:sp>
        <p:nvSpPr>
          <p:cNvPr id="907276" name="Rectangle 12"/>
          <p:cNvSpPr>
            <a:spLocks noChangeArrowheads="1"/>
          </p:cNvSpPr>
          <p:nvPr/>
        </p:nvSpPr>
        <p:spPr bwMode="auto">
          <a:xfrm>
            <a:off x="304800" y="2819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We get gcd (17, 0) = 17,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1,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0</a:t>
            </a:r>
            <a:r>
              <a:rPr lang="en-US" sz="2400" b="1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.</a:t>
            </a:r>
          </a:p>
        </p:txBody>
      </p:sp>
      <p:sp>
        <p:nvSpPr>
          <p:cNvPr id="907277" name="Rectangle 13"/>
          <p:cNvSpPr>
            <a:spLocks noChangeArrowheads="1"/>
          </p:cNvSpPr>
          <p:nvPr/>
        </p:nvSpPr>
        <p:spPr bwMode="auto">
          <a:xfrm>
            <a:off x="228600" y="2362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Solution</a:t>
            </a:r>
          </a:p>
        </p:txBody>
      </p:sp>
      <p:pic>
        <p:nvPicPr>
          <p:cNvPr id="90727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3738563"/>
            <a:ext cx="8491537" cy="106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293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2E75B8-C5EF-4D9C-BF27-AC990873F4C4}" type="slidenum">
              <a:rPr lang="en-US" smtClean="0">
                <a:solidFill>
                  <a:srgbClr val="000000"/>
                </a:solidFill>
              </a:rPr>
              <a:pPr/>
              <a:t>110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09314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78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>
                <a:solidFill>
                  <a:srgbClr val="FFFFFF"/>
                </a:solidFill>
                <a:latin typeface="Times New Roman" pitchFamily="18" charset="0"/>
                <a:cs typeface="+mn-cs"/>
              </a:rPr>
              <a:t>Example </a:t>
            </a:r>
            <a:endParaRPr lang="en-US" sz="2000" b="1" i="1" dirty="0" smtClean="0">
              <a:solidFill>
                <a:srgbClr val="FFFFFF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9093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sz="2400" smtClean="0">
              <a:solidFill>
                <a:srgbClr val="000000"/>
              </a:solidFill>
              <a:latin typeface="Tahoma" pitchFamily="34" charset="0"/>
              <a:cs typeface="+mn-cs"/>
            </a:endParaRPr>
          </a:p>
        </p:txBody>
      </p:sp>
      <p:sp>
        <p:nvSpPr>
          <p:cNvPr id="909322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75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cs typeface="+mn-cs"/>
              </a:rPr>
              <a:t>  Continued</a:t>
            </a:r>
          </a:p>
        </p:txBody>
      </p:sp>
      <p:sp>
        <p:nvSpPr>
          <p:cNvPr id="909323" name="Rectangle 11"/>
          <p:cNvSpPr>
            <a:spLocks noChangeArrowheads="1"/>
          </p:cNvSpPr>
          <p:nvPr/>
        </p:nvSpPr>
        <p:spPr bwMode="auto">
          <a:xfrm>
            <a:off x="304800" y="1158875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Given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0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b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45, find gcd (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,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b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) and the values of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</a:t>
            </a:r>
            <a:b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</a:b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.</a:t>
            </a:r>
          </a:p>
        </p:txBody>
      </p:sp>
      <p:sp>
        <p:nvSpPr>
          <p:cNvPr id="909324" name="Rectangle 12"/>
          <p:cNvSpPr>
            <a:spLocks noChangeArrowheads="1"/>
          </p:cNvSpPr>
          <p:nvPr/>
        </p:nvSpPr>
        <p:spPr bwMode="auto">
          <a:xfrm>
            <a:off x="228600" y="2590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We get gcd (0, 45) = 45,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0, and </a:t>
            </a:r>
            <a:r>
              <a:rPr lang="en-US" sz="2400" b="1" i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t</a:t>
            </a:r>
            <a:r>
              <a:rPr 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 = 1.</a:t>
            </a:r>
          </a:p>
        </p:txBody>
      </p:sp>
      <p:sp>
        <p:nvSpPr>
          <p:cNvPr id="909325" name="Rectangle 13"/>
          <p:cNvSpPr>
            <a:spLocks noChangeArrowheads="1"/>
          </p:cNvSpPr>
          <p:nvPr/>
        </p:nvSpPr>
        <p:spPr bwMode="auto">
          <a:xfrm>
            <a:off x="2286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4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+mn-cs"/>
              </a:rPr>
              <a:t>Solution</a:t>
            </a:r>
          </a:p>
        </p:txBody>
      </p:sp>
      <p:pic>
        <p:nvPicPr>
          <p:cNvPr id="90932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3495675"/>
            <a:ext cx="8491537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48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-20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-20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-20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-20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-20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-20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14638</TotalTime>
  <Words>4205</Words>
  <Application>Microsoft Office PowerPoint</Application>
  <PresentationFormat>On-screen Show (4:3)</PresentationFormat>
  <Paragraphs>494</Paragraphs>
  <Slides>110</Slides>
  <Notes>74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110</vt:i4>
      </vt:variant>
    </vt:vector>
  </HeadingPairs>
  <TitlesOfParts>
    <vt:vector size="116" baseType="lpstr">
      <vt:lpstr>Ion</vt:lpstr>
      <vt:lpstr>Custom Design</vt:lpstr>
      <vt:lpstr>Blends</vt:lpstr>
      <vt:lpstr>2_Blends</vt:lpstr>
      <vt:lpstr>3_Blends</vt:lpstr>
      <vt:lpstr>4_Blends</vt:lpstr>
      <vt:lpstr>Cryptographic Math-2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Polynomials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Ordinary Polynomial Arithmetic</vt:lpstr>
      <vt:lpstr>PowerPoint Presentation</vt:lpstr>
      <vt:lpstr>Computational Considerations</vt:lpstr>
      <vt:lpstr>Example</vt:lpstr>
      <vt:lpstr>PowerPoint Presentation</vt:lpstr>
      <vt:lpstr>PowerPoint Presentation</vt:lpstr>
      <vt:lpstr>PowerPoint Presentation</vt:lpstr>
      <vt:lpstr>GF(7)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GCD Revisited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</dc:title>
  <dc:creator>Nishant</dc:creator>
  <cp:lastModifiedBy>PGRLAB-9</cp:lastModifiedBy>
  <cp:revision>218</cp:revision>
  <dcterms:created xsi:type="dcterms:W3CDTF">2014-03-25T06:22:02Z</dcterms:created>
  <dcterms:modified xsi:type="dcterms:W3CDTF">2022-04-22T03:47:20Z</dcterms:modified>
</cp:coreProperties>
</file>