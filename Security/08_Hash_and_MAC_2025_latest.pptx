
<file path=[Content_Types].xml><?xml version="1.0" encoding="utf-8"?>
<Types xmlns="http://schemas.openxmlformats.org/package/2006/content-types">
  <Default Extension="png" ContentType="image/pn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9"/>
  </p:notesMasterIdLst>
  <p:handoutMasterIdLst>
    <p:handoutMasterId r:id="rId60"/>
  </p:handoutMasterIdLst>
  <p:sldIdLst>
    <p:sldId id="829" r:id="rId2"/>
    <p:sldId id="899" r:id="rId3"/>
    <p:sldId id="1027" r:id="rId4"/>
    <p:sldId id="1045" r:id="rId5"/>
    <p:sldId id="1046" r:id="rId6"/>
    <p:sldId id="1047" r:id="rId7"/>
    <p:sldId id="1048" r:id="rId8"/>
    <p:sldId id="1028" r:id="rId9"/>
    <p:sldId id="1029" r:id="rId10"/>
    <p:sldId id="1030" r:id="rId11"/>
    <p:sldId id="1049" r:id="rId12"/>
    <p:sldId id="1050" r:id="rId13"/>
    <p:sldId id="1051" r:id="rId14"/>
    <p:sldId id="1052" r:id="rId15"/>
    <p:sldId id="1053" r:id="rId16"/>
    <p:sldId id="1054" r:id="rId17"/>
    <p:sldId id="1055" r:id="rId18"/>
    <p:sldId id="1031" r:id="rId19"/>
    <p:sldId id="1032" r:id="rId20"/>
    <p:sldId id="1058" r:id="rId21"/>
    <p:sldId id="1033" r:id="rId22"/>
    <p:sldId id="1034" r:id="rId23"/>
    <p:sldId id="1035" r:id="rId24"/>
    <p:sldId id="1036" r:id="rId25"/>
    <p:sldId id="1037" r:id="rId26"/>
    <p:sldId id="1038" r:id="rId27"/>
    <p:sldId id="1039" r:id="rId28"/>
    <p:sldId id="1040" r:id="rId29"/>
    <p:sldId id="1041" r:id="rId30"/>
    <p:sldId id="1042" r:id="rId31"/>
    <p:sldId id="1059" r:id="rId32"/>
    <p:sldId id="1060" r:id="rId33"/>
    <p:sldId id="1061" r:id="rId34"/>
    <p:sldId id="1043" r:id="rId35"/>
    <p:sldId id="1044" r:id="rId36"/>
    <p:sldId id="1076" r:id="rId37"/>
    <p:sldId id="1004" r:id="rId38"/>
    <p:sldId id="957" r:id="rId39"/>
    <p:sldId id="1075" r:id="rId40"/>
    <p:sldId id="1023" r:id="rId41"/>
    <p:sldId id="1024" r:id="rId42"/>
    <p:sldId id="1025" r:id="rId43"/>
    <p:sldId id="1074" r:id="rId44"/>
    <p:sldId id="1026" r:id="rId45"/>
    <p:sldId id="1056" r:id="rId46"/>
    <p:sldId id="1062" r:id="rId47"/>
    <p:sldId id="1077" r:id="rId48"/>
    <p:sldId id="1065" r:id="rId49"/>
    <p:sldId id="1066" r:id="rId50"/>
    <p:sldId id="1067" r:id="rId51"/>
    <p:sldId id="1064" r:id="rId52"/>
    <p:sldId id="1068" r:id="rId53"/>
    <p:sldId id="1069" r:id="rId54"/>
    <p:sldId id="1070" r:id="rId55"/>
    <p:sldId id="1071" r:id="rId56"/>
    <p:sldId id="1072" r:id="rId57"/>
    <p:sldId id="1073" r:id="rId58"/>
  </p:sldIdLst>
  <p:sldSz cx="12192000" cy="6858000"/>
  <p:notesSz cx="6858000" cy="9144000"/>
  <p:custShowLst>
    <p:custShow name="Custom Show 1" id="0">
      <p:sldLst>
        <p:sld r:id="rId2"/>
      </p:sldLst>
    </p:custShow>
  </p:custShow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browse/>
    <p:sldRg st="1" end="57"/>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669900"/>
    <a:srgbClr val="080808"/>
    <a:srgbClr val="99CC00"/>
    <a:srgbClr val="CC3300"/>
    <a:srgbClr val="0000CC"/>
    <a:srgbClr val="0099CC"/>
    <a:srgbClr val="CC0000"/>
    <a:srgbClr val="FFFF00"/>
    <a:srgbClr val="CC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4" autoAdjust="0"/>
    <p:restoredTop sz="90239" autoAdjust="0"/>
  </p:normalViewPr>
  <p:slideViewPr>
    <p:cSldViewPr>
      <p:cViewPr>
        <p:scale>
          <a:sx n="55" d="100"/>
          <a:sy n="55" d="100"/>
        </p:scale>
        <p:origin x="-630" y="-210"/>
      </p:cViewPr>
      <p:guideLst>
        <p:guide orient="horz" pos="2160"/>
        <p:guide pos="3840"/>
      </p:guideLst>
    </p:cSldViewPr>
  </p:slideViewPr>
  <p:outlineViewPr>
    <p:cViewPr>
      <p:scale>
        <a:sx n="33" d="100"/>
        <a:sy n="33" d="100"/>
      </p:scale>
      <p:origin x="0" y="3686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47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en-US"/>
          </a:p>
        </p:txBody>
      </p:sp>
      <p:sp>
        <p:nvSpPr>
          <p:cNvPr id="58470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en-US"/>
          </a:p>
        </p:txBody>
      </p:sp>
      <p:sp>
        <p:nvSpPr>
          <p:cNvPr id="58470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en-US"/>
          </a:p>
        </p:txBody>
      </p:sp>
      <p:sp>
        <p:nvSpPr>
          <p:cNvPr id="58470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6F33488A-B7C6-480F-B7F5-4587EE4CC9F6}" type="slidenum">
              <a:rPr lang="en-US"/>
              <a:pPr>
                <a:defRPr/>
              </a:pPr>
              <a:t>‹#›</a:t>
            </a:fld>
            <a:endParaRPr lang="en-US" dirty="0"/>
          </a:p>
        </p:txBody>
      </p:sp>
    </p:spTree>
    <p:extLst>
      <p:ext uri="{BB962C8B-B14F-4D97-AF65-F5344CB8AC3E}">
        <p14:creationId xmlns:p14="http://schemas.microsoft.com/office/powerpoint/2010/main" val="4850823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en-US"/>
          </a:p>
        </p:txBody>
      </p:sp>
      <p:sp>
        <p:nvSpPr>
          <p:cNvPr id="573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en-US"/>
          </a:p>
        </p:txBody>
      </p:sp>
      <p:sp>
        <p:nvSpPr>
          <p:cNvPr id="8090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573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573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en-US"/>
          </a:p>
        </p:txBody>
      </p:sp>
      <p:sp>
        <p:nvSpPr>
          <p:cNvPr id="573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749F2D50-6E2B-46EF-97FB-6F795E0BE53E}" type="slidenum">
              <a:rPr lang="en-US"/>
              <a:pPr>
                <a:defRPr/>
              </a:pPr>
              <a:t>‹#›</a:t>
            </a:fld>
            <a:endParaRPr lang="en-US" dirty="0"/>
          </a:p>
        </p:txBody>
      </p:sp>
    </p:spTree>
    <p:extLst>
      <p:ext uri="{BB962C8B-B14F-4D97-AF65-F5344CB8AC3E}">
        <p14:creationId xmlns:p14="http://schemas.microsoft.com/office/powerpoint/2010/main" val="36757495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749F2D50-6E2B-46EF-97FB-6F795E0BE53E}" type="slidenum">
              <a:rPr lang="en-US" smtClean="0"/>
              <a:pPr>
                <a:defRPr/>
              </a:pPr>
              <a:t>1</a:t>
            </a:fld>
            <a:endParaRPr lang="en-US" dirty="0"/>
          </a:p>
        </p:txBody>
      </p:sp>
    </p:spTree>
    <p:extLst>
      <p:ext uri="{BB962C8B-B14F-4D97-AF65-F5344CB8AC3E}">
        <p14:creationId xmlns:p14="http://schemas.microsoft.com/office/powerpoint/2010/main" val="4256131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ea typeface="ＭＳ Ｐゴシック" pitchFamily="34" charset="-128"/>
              </a:defRPr>
            </a:lvl1pPr>
            <a:lvl2pPr marL="742950" indent="-285750">
              <a:defRPr sz="1200">
                <a:solidFill>
                  <a:schemeClr val="tx1"/>
                </a:solidFill>
                <a:latin typeface="Arial" pitchFamily="34" charset="0"/>
                <a:ea typeface="ＭＳ Ｐゴシック" pitchFamily="34" charset="-128"/>
              </a:defRPr>
            </a:lvl2pPr>
            <a:lvl3pPr marL="1143000" indent="-228600">
              <a:defRPr sz="1200">
                <a:solidFill>
                  <a:schemeClr val="tx1"/>
                </a:solidFill>
                <a:latin typeface="Arial" pitchFamily="34" charset="0"/>
                <a:ea typeface="ＭＳ Ｐゴシック" pitchFamily="34" charset="-128"/>
              </a:defRPr>
            </a:lvl3pPr>
            <a:lvl4pPr marL="1600200" indent="-228600">
              <a:defRPr sz="1200">
                <a:solidFill>
                  <a:schemeClr val="tx1"/>
                </a:solidFill>
                <a:latin typeface="Arial" pitchFamily="34" charset="0"/>
                <a:ea typeface="ＭＳ Ｐゴシック" pitchFamily="34" charset="-128"/>
              </a:defRPr>
            </a:lvl4pPr>
            <a:lvl5pPr marL="2057400" indent="-228600">
              <a:defRPr sz="1200">
                <a:solidFill>
                  <a:schemeClr val="tx1"/>
                </a:solidFill>
                <a:latin typeface="Arial"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Arial"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Arial"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Arial"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Arial" pitchFamily="34" charset="0"/>
                <a:ea typeface="ＭＳ Ｐゴシック" pitchFamily="34" charset="-128"/>
              </a:defRPr>
            </a:lvl9pPr>
          </a:lstStyle>
          <a:p>
            <a:fld id="{64098343-368E-4995-BE67-2B8AC2FFE427}" type="slidenum">
              <a:rPr lang="en-AU"/>
              <a:pPr/>
              <a:t>6</a:t>
            </a:fld>
            <a:endParaRPr lang="en-AU"/>
          </a:p>
        </p:txBody>
      </p:sp>
      <p:sp>
        <p:nvSpPr>
          <p:cNvPr id="9219" name="Rectangle 2"/>
          <p:cNvSpPr>
            <a:spLocks noGrp="1" noRot="1" noChangeAspect="1" noChangeArrowheads="1" noTextEdit="1"/>
          </p:cNvSpPr>
          <p:nvPr>
            <p:ph type="sldImg"/>
          </p:nvPr>
        </p:nvSpPr>
        <p:spPr>
          <a:xfrm>
            <a:off x="381000" y="685800"/>
            <a:ext cx="6096000" cy="3429000"/>
          </a:xfrm>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cs typeface="Arial" pitchFamily="34" charset="0"/>
              </a:rPr>
              <a:t>Message encryption by itself can provide a measure of authentication. The analysis differs for symmetric and public-key encryption schemes. </a:t>
            </a:r>
          </a:p>
          <a:p>
            <a:pPr eaLnBrk="1" hangingPunct="1"/>
            <a:r>
              <a:rPr lang="en-US" dirty="0" smtClean="0">
                <a:latin typeface="Arial" pitchFamily="34" charset="0"/>
                <a:cs typeface="Arial" pitchFamily="34" charset="0"/>
              </a:rPr>
              <a:t>If use symmetric encryption, If no other party knows the key, then confidentiality is provided. As well, symmetric encryption provides authentication as well as confidentiality, since only the other party can have encrypted a properly constructed message (Stallings Figure 12.1a). Here, the </a:t>
            </a:r>
            <a:r>
              <a:rPr lang="en-US" dirty="0" err="1" smtClean="0">
                <a:latin typeface="Arial" pitchFamily="34" charset="0"/>
                <a:cs typeface="Arial" pitchFamily="34" charset="0"/>
              </a:rPr>
              <a:t>ciphertext</a:t>
            </a:r>
            <a:r>
              <a:rPr lang="en-US" dirty="0" smtClean="0">
                <a:latin typeface="Arial" pitchFamily="34" charset="0"/>
                <a:cs typeface="Arial" pitchFamily="34" charset="0"/>
              </a:rPr>
              <a:t> of the entire message serves as its authenticator, on the basis that only those who know the appropriate keys could have validly encrypted the message. This is provided you can recognize a valid message (</a:t>
            </a:r>
            <a:r>
              <a:rPr lang="en-US" dirty="0" err="1" smtClean="0">
                <a:latin typeface="Arial" pitchFamily="34" charset="0"/>
                <a:cs typeface="Arial" pitchFamily="34" charset="0"/>
              </a:rPr>
              <a:t>ie</a:t>
            </a:r>
            <a:r>
              <a:rPr lang="en-US" dirty="0" smtClean="0">
                <a:latin typeface="Arial" pitchFamily="34" charset="0"/>
                <a:cs typeface="Arial" pitchFamily="34" charset="0"/>
              </a:rPr>
              <a:t> if the message has </a:t>
            </a:r>
            <a:r>
              <a:rPr lang="en-AU" dirty="0" smtClean="0">
                <a:latin typeface="Arial" pitchFamily="34" charset="0"/>
                <a:cs typeface="Arial" pitchFamily="34" charset="0"/>
              </a:rPr>
              <a:t>suitable structure such as redundancy or a checksum to detect any changes).</a:t>
            </a:r>
          </a:p>
          <a:p>
            <a:pPr eaLnBrk="1" hangingPunct="1"/>
            <a:endParaRPr lang="en-US" dirty="0" smtClean="0">
              <a:latin typeface="Arial" pitchFamily="34" charset="0"/>
              <a:cs typeface="Arial" pitchFamily="34" charset="0"/>
            </a:endParaRPr>
          </a:p>
        </p:txBody>
      </p:sp>
    </p:spTree>
    <p:extLst>
      <p:ext uri="{BB962C8B-B14F-4D97-AF65-F5344CB8AC3E}">
        <p14:creationId xmlns:p14="http://schemas.microsoft.com/office/powerpoint/2010/main" val="4005305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ea typeface="ＭＳ Ｐゴシック" pitchFamily="34" charset="-128"/>
              </a:defRPr>
            </a:lvl1pPr>
            <a:lvl2pPr marL="742950" indent="-285750">
              <a:defRPr sz="1200">
                <a:solidFill>
                  <a:schemeClr val="tx1"/>
                </a:solidFill>
                <a:latin typeface="Arial" pitchFamily="34" charset="0"/>
                <a:ea typeface="ＭＳ Ｐゴシック" pitchFamily="34" charset="-128"/>
              </a:defRPr>
            </a:lvl2pPr>
            <a:lvl3pPr marL="1143000" indent="-228600">
              <a:defRPr sz="1200">
                <a:solidFill>
                  <a:schemeClr val="tx1"/>
                </a:solidFill>
                <a:latin typeface="Arial" pitchFamily="34" charset="0"/>
                <a:ea typeface="ＭＳ Ｐゴシック" pitchFamily="34" charset="-128"/>
              </a:defRPr>
            </a:lvl3pPr>
            <a:lvl4pPr marL="1600200" indent="-228600">
              <a:defRPr sz="1200">
                <a:solidFill>
                  <a:schemeClr val="tx1"/>
                </a:solidFill>
                <a:latin typeface="Arial" pitchFamily="34" charset="0"/>
                <a:ea typeface="ＭＳ Ｐゴシック" pitchFamily="34" charset="-128"/>
              </a:defRPr>
            </a:lvl4pPr>
            <a:lvl5pPr marL="2057400" indent="-228600">
              <a:defRPr sz="1200">
                <a:solidFill>
                  <a:schemeClr val="tx1"/>
                </a:solidFill>
                <a:latin typeface="Arial"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Arial"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Arial"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Arial"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Arial" pitchFamily="34" charset="0"/>
                <a:ea typeface="ＭＳ Ｐゴシック" pitchFamily="34" charset="-128"/>
              </a:defRPr>
            </a:lvl9pPr>
          </a:lstStyle>
          <a:p>
            <a:fld id="{64098343-368E-4995-BE67-2B8AC2FFE427}" type="slidenum">
              <a:rPr lang="en-AU"/>
              <a:pPr/>
              <a:t>7</a:t>
            </a:fld>
            <a:endParaRPr lang="en-AU"/>
          </a:p>
        </p:txBody>
      </p:sp>
      <p:sp>
        <p:nvSpPr>
          <p:cNvPr id="9219" name="Rectangle 2"/>
          <p:cNvSpPr>
            <a:spLocks noGrp="1" noRot="1" noChangeAspect="1" noChangeArrowheads="1" noTextEdit="1"/>
          </p:cNvSpPr>
          <p:nvPr>
            <p:ph type="sldImg"/>
          </p:nvPr>
        </p:nvSpPr>
        <p:spPr>
          <a:xfrm>
            <a:off x="381000" y="685800"/>
            <a:ext cx="6096000" cy="3429000"/>
          </a:xfrm>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itchFamily="34" charset="0"/>
                <a:cs typeface="Arial" pitchFamily="34" charset="0"/>
              </a:rPr>
              <a:t>Message encryption by itself can provide a measure of authentication. The analysis differs for symmetric and public-key encryption schemes. </a:t>
            </a:r>
          </a:p>
          <a:p>
            <a:pPr eaLnBrk="1" hangingPunct="1"/>
            <a:r>
              <a:rPr lang="en-US" smtClean="0">
                <a:latin typeface="Arial" pitchFamily="34" charset="0"/>
                <a:cs typeface="Arial" pitchFamily="34" charset="0"/>
              </a:rPr>
              <a:t>If use symmetric encryption, If no other party knows the key, then confidentiality is provided. As well, symmetric encryption provides authentication as well as confidentiality, since only the other party can have encrypted a properly constructed message (Stallings Figure 12.1a). Here, the ciphertext of the entire message serves as its authenticator, on the basis that only those who know the appropriate keys could have validly encrypted the message. This is provided you can recognize a valid message (ie if the message has </a:t>
            </a:r>
            <a:r>
              <a:rPr lang="en-AU" smtClean="0">
                <a:latin typeface="Arial" pitchFamily="34" charset="0"/>
                <a:cs typeface="Arial" pitchFamily="34" charset="0"/>
              </a:rPr>
              <a:t>suitable structure such as redundancy or a checksum to detect any changes).</a:t>
            </a:r>
          </a:p>
          <a:p>
            <a:pPr eaLnBrk="1" hangingPunct="1"/>
            <a:endParaRPr lang="en-US" smtClean="0">
              <a:latin typeface="Arial" pitchFamily="34" charset="0"/>
              <a:cs typeface="Arial" pitchFamily="34" charset="0"/>
            </a:endParaRPr>
          </a:p>
        </p:txBody>
      </p:sp>
    </p:spTree>
    <p:extLst>
      <p:ext uri="{BB962C8B-B14F-4D97-AF65-F5344CB8AC3E}">
        <p14:creationId xmlns:p14="http://schemas.microsoft.com/office/powerpoint/2010/main" val="3800919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fld id="{2494A8E0-7678-4F30-9C59-4B5755314B10}" type="slidenum">
              <a:rPr lang="en-US" sz="1200" b="0">
                <a:latin typeface="Times New Roman" panose="02020603050405020304" pitchFamily="18" charset="0"/>
              </a:rPr>
              <a:pPr/>
              <a:t>37</a:t>
            </a:fld>
            <a:endParaRPr lang="en-US" sz="1200" b="0">
              <a:latin typeface="Times New Roman" panose="02020603050405020304" pitchFamily="18" charset="0"/>
            </a:endParaRPr>
          </a:p>
        </p:txBody>
      </p:sp>
      <p:sp>
        <p:nvSpPr>
          <p:cNvPr id="110595" name="Rectangle 2"/>
          <p:cNvSpPr>
            <a:spLocks noGrp="1" noRot="1" noChangeAspect="1" noChangeArrowheads="1" noTextEdit="1"/>
          </p:cNvSpPr>
          <p:nvPr>
            <p:ph type="sldImg"/>
          </p:nvPr>
        </p:nvSpPr>
        <p:spPr>
          <a:xfrm>
            <a:off x="381000" y="685800"/>
            <a:ext cx="6096000" cy="3429000"/>
          </a:xfrm>
          <a:ln/>
        </p:spPr>
      </p:sp>
      <p:sp>
        <p:nvSpPr>
          <p:cNvPr id="110596"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4121195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Before proceeding, we should mention several common misconceptions concerning</a:t>
            </a:r>
          </a:p>
          <a:p>
            <a:r>
              <a:rPr lang="en-US" sz="1200" kern="1200" baseline="0" dirty="0" smtClean="0">
                <a:solidFill>
                  <a:schemeClr val="tx1"/>
                </a:solidFill>
                <a:latin typeface="Arial" charset="0"/>
                <a:ea typeface="ＭＳ Ｐゴシック" pitchFamily="-107" charset="-128"/>
                <a:cs typeface="ＭＳ Ｐゴシック" pitchFamily="-107" charset="-128"/>
              </a:rPr>
              <a:t>public-key encryption. One such misconception is that public-key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is more secure from cryptanalysis than is symmetric encryption. In fact, the</a:t>
            </a:r>
          </a:p>
          <a:p>
            <a:r>
              <a:rPr lang="en-US" sz="1200" kern="1200" baseline="0" dirty="0" smtClean="0">
                <a:solidFill>
                  <a:schemeClr val="tx1"/>
                </a:solidFill>
                <a:latin typeface="Arial" charset="0"/>
                <a:ea typeface="ＭＳ Ｐゴシック" pitchFamily="-107" charset="-128"/>
                <a:cs typeface="ＭＳ Ｐゴシック" pitchFamily="-107" charset="-128"/>
              </a:rPr>
              <a:t>security of any encryption scheme depends on the length of the key and the computational</a:t>
            </a:r>
          </a:p>
          <a:p>
            <a:r>
              <a:rPr lang="en-US" sz="1200" kern="1200" baseline="0" dirty="0" smtClean="0">
                <a:solidFill>
                  <a:schemeClr val="tx1"/>
                </a:solidFill>
                <a:latin typeface="Arial" charset="0"/>
                <a:ea typeface="ＭＳ Ｐゴシック" pitchFamily="-107" charset="-128"/>
                <a:cs typeface="ＭＳ Ｐゴシック" pitchFamily="-107" charset="-128"/>
              </a:rPr>
              <a:t>work involved in breaking a cipher. There is nothing in principle about</a:t>
            </a:r>
          </a:p>
          <a:p>
            <a:r>
              <a:rPr lang="en-US" sz="1200" kern="1200" baseline="0" dirty="0" smtClean="0">
                <a:solidFill>
                  <a:schemeClr val="tx1"/>
                </a:solidFill>
                <a:latin typeface="Arial" charset="0"/>
                <a:ea typeface="ＭＳ Ｐゴシック" pitchFamily="-107" charset="-128"/>
                <a:cs typeface="ＭＳ Ｐゴシック" pitchFamily="-107" charset="-128"/>
              </a:rPr>
              <a:t> either symmetric or public-key encryption that makes one superior to another from</a:t>
            </a:r>
          </a:p>
          <a:p>
            <a:r>
              <a:rPr lang="en-US" sz="1200" kern="1200" baseline="0" dirty="0" smtClean="0">
                <a:solidFill>
                  <a:schemeClr val="tx1"/>
                </a:solidFill>
                <a:latin typeface="Arial" charset="0"/>
                <a:ea typeface="ＭＳ Ｐゴシック" pitchFamily="-107" charset="-128"/>
                <a:cs typeface="ＭＳ Ｐゴシック" pitchFamily="-107" charset="-128"/>
              </a:rPr>
              <a:t>the point of view of resisting cryptanalysis.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second misconception is that public-key encryption is a general-purpose</a:t>
            </a:r>
          </a:p>
          <a:p>
            <a:r>
              <a:rPr lang="en-US" sz="1200" kern="1200" baseline="0" dirty="0" smtClean="0">
                <a:solidFill>
                  <a:schemeClr val="tx1"/>
                </a:solidFill>
                <a:latin typeface="Arial" charset="0"/>
                <a:ea typeface="ＭＳ Ｐゴシック" pitchFamily="-107" charset="-128"/>
                <a:cs typeface="ＭＳ Ｐゴシック" pitchFamily="-107" charset="-128"/>
              </a:rPr>
              <a:t>technique that has made symmetric encryption obsolete. On the contrary, because</a:t>
            </a:r>
          </a:p>
          <a:p>
            <a:r>
              <a:rPr lang="en-US" sz="1200" kern="1200" baseline="0" dirty="0" smtClean="0">
                <a:solidFill>
                  <a:schemeClr val="tx1"/>
                </a:solidFill>
                <a:latin typeface="Arial" charset="0"/>
                <a:ea typeface="ＭＳ Ｐゴシック" pitchFamily="-107" charset="-128"/>
                <a:cs typeface="ＭＳ Ｐゴシック" pitchFamily="-107" charset="-128"/>
              </a:rPr>
              <a:t>of the computational overhead of current public-key encryption schemes, there</a:t>
            </a:r>
          </a:p>
          <a:p>
            <a:r>
              <a:rPr lang="en-US" sz="1200" kern="1200" baseline="0" dirty="0" smtClean="0">
                <a:solidFill>
                  <a:schemeClr val="tx1"/>
                </a:solidFill>
                <a:latin typeface="Arial" charset="0"/>
                <a:ea typeface="ＭＳ Ｐゴシック" pitchFamily="-107" charset="-128"/>
                <a:cs typeface="ＭＳ Ｐゴシック" pitchFamily="-107" charset="-128"/>
              </a:rPr>
              <a:t>seems no foreseeable likelihood that symmetric encryption will be abandoned. As</a:t>
            </a:r>
          </a:p>
          <a:p>
            <a:r>
              <a:rPr lang="en-US" sz="1200" kern="1200" baseline="0" dirty="0" smtClean="0">
                <a:solidFill>
                  <a:schemeClr val="tx1"/>
                </a:solidFill>
                <a:latin typeface="Arial" charset="0"/>
                <a:ea typeface="ＭＳ Ｐゴシック" pitchFamily="-107" charset="-128"/>
                <a:cs typeface="ＭＳ Ｐゴシック" pitchFamily="-107" charset="-128"/>
              </a:rPr>
              <a:t>one of the inventors of public-key encryption has put it [DIFF88], “the restriction</a:t>
            </a:r>
          </a:p>
          <a:p>
            <a:r>
              <a:rPr lang="en-US" sz="1200" kern="1200" baseline="0" dirty="0" smtClean="0">
                <a:solidFill>
                  <a:schemeClr val="tx1"/>
                </a:solidFill>
                <a:latin typeface="Arial" charset="0"/>
                <a:ea typeface="ＭＳ Ｐゴシック" pitchFamily="-107" charset="-128"/>
                <a:cs typeface="ＭＳ Ｐゴシック" pitchFamily="-107" charset="-128"/>
              </a:rPr>
              <a:t>of public-key cryptography to key management and signature applications is almost</a:t>
            </a:r>
          </a:p>
          <a:p>
            <a:r>
              <a:rPr lang="en-US" sz="1200" kern="1200" baseline="0" dirty="0" smtClean="0">
                <a:solidFill>
                  <a:schemeClr val="tx1"/>
                </a:solidFill>
                <a:latin typeface="Arial" charset="0"/>
                <a:ea typeface="ＭＳ Ｐゴシック" pitchFamily="-107" charset="-128"/>
                <a:cs typeface="ＭＳ Ｐゴシック" pitchFamily="-107" charset="-128"/>
              </a:rPr>
              <a:t>universally accepted.”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Finally, there is a feeling that key distribution is trivial when using public-key</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compared to the rather cumbersome handshaking involved with</a:t>
            </a:r>
          </a:p>
          <a:p>
            <a:r>
              <a:rPr lang="en-US" sz="1200" kern="1200" baseline="0" dirty="0" smtClean="0">
                <a:solidFill>
                  <a:schemeClr val="tx1"/>
                </a:solidFill>
                <a:latin typeface="Arial" charset="0"/>
                <a:ea typeface="ＭＳ Ｐゴシック" pitchFamily="-107" charset="-128"/>
                <a:cs typeface="ＭＳ Ｐゴシック" pitchFamily="-107" charset="-128"/>
              </a:rPr>
              <a:t>key distribution centers for symmetric encryption. In fact, some form of protocol</a:t>
            </a:r>
          </a:p>
          <a:p>
            <a:r>
              <a:rPr lang="en-US" sz="1200" kern="1200" baseline="0" dirty="0" smtClean="0">
                <a:solidFill>
                  <a:schemeClr val="tx1"/>
                </a:solidFill>
                <a:latin typeface="Arial" charset="0"/>
                <a:ea typeface="ＭＳ Ｐゴシック" pitchFamily="-107" charset="-128"/>
                <a:cs typeface="ＭＳ Ｐゴシック" pitchFamily="-107" charset="-128"/>
              </a:rPr>
              <a:t>is needed, generally involving a central agent, and the procedures involved are not</a:t>
            </a:r>
          </a:p>
          <a:p>
            <a:r>
              <a:rPr lang="en-US" sz="1200" kern="1200" baseline="0" dirty="0" smtClean="0">
                <a:solidFill>
                  <a:schemeClr val="tx1"/>
                </a:solidFill>
                <a:latin typeface="Arial" charset="0"/>
                <a:ea typeface="ＭＳ Ｐゴシック" pitchFamily="-107" charset="-128"/>
                <a:cs typeface="ＭＳ Ｐゴシック" pitchFamily="-107" charset="-128"/>
              </a:rPr>
              <a:t>simpler nor any more efficient than those required for symmetric encryption (e.g.,</a:t>
            </a:r>
          </a:p>
          <a:p>
            <a:r>
              <a:rPr lang="en-US" sz="1200" kern="1200" baseline="0" dirty="0" smtClean="0">
                <a:solidFill>
                  <a:schemeClr val="tx1"/>
                </a:solidFill>
                <a:latin typeface="Arial" charset="0"/>
                <a:ea typeface="ＭＳ Ｐゴシック" pitchFamily="-107" charset="-128"/>
                <a:cs typeface="ＭＳ Ｐゴシック" pitchFamily="-107" charset="-128"/>
              </a:rPr>
              <a:t>see analysis in [NEED78]).</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38</a:t>
            </a:fld>
            <a:endParaRPr lang="en-AU" dirty="0"/>
          </a:p>
        </p:txBody>
      </p:sp>
    </p:spTree>
    <p:extLst>
      <p:ext uri="{BB962C8B-B14F-4D97-AF65-F5344CB8AC3E}">
        <p14:creationId xmlns:p14="http://schemas.microsoft.com/office/powerpoint/2010/main" val="40726113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Before proceeding, we should mention several common misconceptions concerning</a:t>
            </a:r>
          </a:p>
          <a:p>
            <a:r>
              <a:rPr lang="en-US" sz="1200" kern="1200" baseline="0" dirty="0" smtClean="0">
                <a:solidFill>
                  <a:schemeClr val="tx1"/>
                </a:solidFill>
                <a:latin typeface="Arial" charset="0"/>
                <a:ea typeface="ＭＳ Ｐゴシック" pitchFamily="-107" charset="-128"/>
                <a:cs typeface="ＭＳ Ｐゴシック" pitchFamily="-107" charset="-128"/>
              </a:rPr>
              <a:t>public-key encryption. One such misconception is that public-key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is more secure from cryptanalysis than is symmetric encryption. In fact, the</a:t>
            </a:r>
          </a:p>
          <a:p>
            <a:r>
              <a:rPr lang="en-US" sz="1200" kern="1200" baseline="0" dirty="0" smtClean="0">
                <a:solidFill>
                  <a:schemeClr val="tx1"/>
                </a:solidFill>
                <a:latin typeface="Arial" charset="0"/>
                <a:ea typeface="ＭＳ Ｐゴシック" pitchFamily="-107" charset="-128"/>
                <a:cs typeface="ＭＳ Ｐゴシック" pitchFamily="-107" charset="-128"/>
              </a:rPr>
              <a:t>security of any encryption scheme depends on the length of the key and the computational</a:t>
            </a:r>
          </a:p>
          <a:p>
            <a:r>
              <a:rPr lang="en-US" sz="1200" kern="1200" baseline="0" dirty="0" smtClean="0">
                <a:solidFill>
                  <a:schemeClr val="tx1"/>
                </a:solidFill>
                <a:latin typeface="Arial" charset="0"/>
                <a:ea typeface="ＭＳ Ｐゴシック" pitchFamily="-107" charset="-128"/>
                <a:cs typeface="ＭＳ Ｐゴシック" pitchFamily="-107" charset="-128"/>
              </a:rPr>
              <a:t>work involved in breaking a cipher. There is nothing in principle about</a:t>
            </a:r>
          </a:p>
          <a:p>
            <a:r>
              <a:rPr lang="en-US" sz="1200" kern="1200" baseline="0" dirty="0" smtClean="0">
                <a:solidFill>
                  <a:schemeClr val="tx1"/>
                </a:solidFill>
                <a:latin typeface="Arial" charset="0"/>
                <a:ea typeface="ＭＳ Ｐゴシック" pitchFamily="-107" charset="-128"/>
                <a:cs typeface="ＭＳ Ｐゴシック" pitchFamily="-107" charset="-128"/>
              </a:rPr>
              <a:t> either symmetric or public-key encryption that makes one superior to another from</a:t>
            </a:r>
          </a:p>
          <a:p>
            <a:r>
              <a:rPr lang="en-US" sz="1200" kern="1200" baseline="0" dirty="0" smtClean="0">
                <a:solidFill>
                  <a:schemeClr val="tx1"/>
                </a:solidFill>
                <a:latin typeface="Arial" charset="0"/>
                <a:ea typeface="ＭＳ Ｐゴシック" pitchFamily="-107" charset="-128"/>
                <a:cs typeface="ＭＳ Ｐゴシック" pitchFamily="-107" charset="-128"/>
              </a:rPr>
              <a:t>the point of view of resisting cryptanalysis.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second misconception is that public-key encryption is a general-purpose</a:t>
            </a:r>
          </a:p>
          <a:p>
            <a:r>
              <a:rPr lang="en-US" sz="1200" kern="1200" baseline="0" dirty="0" smtClean="0">
                <a:solidFill>
                  <a:schemeClr val="tx1"/>
                </a:solidFill>
                <a:latin typeface="Arial" charset="0"/>
                <a:ea typeface="ＭＳ Ｐゴシック" pitchFamily="-107" charset="-128"/>
                <a:cs typeface="ＭＳ Ｐゴシック" pitchFamily="-107" charset="-128"/>
              </a:rPr>
              <a:t>technique that has made symmetric encryption obsolete. On the contrary, because</a:t>
            </a:r>
          </a:p>
          <a:p>
            <a:r>
              <a:rPr lang="en-US" sz="1200" kern="1200" baseline="0" dirty="0" smtClean="0">
                <a:solidFill>
                  <a:schemeClr val="tx1"/>
                </a:solidFill>
                <a:latin typeface="Arial" charset="0"/>
                <a:ea typeface="ＭＳ Ｐゴシック" pitchFamily="-107" charset="-128"/>
                <a:cs typeface="ＭＳ Ｐゴシック" pitchFamily="-107" charset="-128"/>
              </a:rPr>
              <a:t>of the computational overhead of current public-key encryption schemes, there</a:t>
            </a:r>
          </a:p>
          <a:p>
            <a:r>
              <a:rPr lang="en-US" sz="1200" kern="1200" baseline="0" dirty="0" smtClean="0">
                <a:solidFill>
                  <a:schemeClr val="tx1"/>
                </a:solidFill>
                <a:latin typeface="Arial" charset="0"/>
                <a:ea typeface="ＭＳ Ｐゴシック" pitchFamily="-107" charset="-128"/>
                <a:cs typeface="ＭＳ Ｐゴシック" pitchFamily="-107" charset="-128"/>
              </a:rPr>
              <a:t>seems no foreseeable likelihood that symmetric encryption will be abandoned. As</a:t>
            </a:r>
          </a:p>
          <a:p>
            <a:r>
              <a:rPr lang="en-US" sz="1200" kern="1200" baseline="0" dirty="0" smtClean="0">
                <a:solidFill>
                  <a:schemeClr val="tx1"/>
                </a:solidFill>
                <a:latin typeface="Arial" charset="0"/>
                <a:ea typeface="ＭＳ Ｐゴシック" pitchFamily="-107" charset="-128"/>
                <a:cs typeface="ＭＳ Ｐゴシック" pitchFamily="-107" charset="-128"/>
              </a:rPr>
              <a:t>one of the inventors of public-key encryption has put it [DIFF88], “the restriction</a:t>
            </a:r>
          </a:p>
          <a:p>
            <a:r>
              <a:rPr lang="en-US" sz="1200" kern="1200" baseline="0" dirty="0" smtClean="0">
                <a:solidFill>
                  <a:schemeClr val="tx1"/>
                </a:solidFill>
                <a:latin typeface="Arial" charset="0"/>
                <a:ea typeface="ＭＳ Ｐゴシック" pitchFamily="-107" charset="-128"/>
                <a:cs typeface="ＭＳ Ｐゴシック" pitchFamily="-107" charset="-128"/>
              </a:rPr>
              <a:t>of public-key cryptography to key management and signature applications is almost</a:t>
            </a:r>
          </a:p>
          <a:p>
            <a:r>
              <a:rPr lang="en-US" sz="1200" kern="1200" baseline="0" dirty="0" smtClean="0">
                <a:solidFill>
                  <a:schemeClr val="tx1"/>
                </a:solidFill>
                <a:latin typeface="Arial" charset="0"/>
                <a:ea typeface="ＭＳ Ｐゴシック" pitchFamily="-107" charset="-128"/>
                <a:cs typeface="ＭＳ Ｐゴシック" pitchFamily="-107" charset="-128"/>
              </a:rPr>
              <a:t>universally accepted.”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Finally, there is a feeling that key distribution is trivial when using public-key</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compared to the rather cumbersome handshaking involved with</a:t>
            </a:r>
          </a:p>
          <a:p>
            <a:r>
              <a:rPr lang="en-US" sz="1200" kern="1200" baseline="0" dirty="0" smtClean="0">
                <a:solidFill>
                  <a:schemeClr val="tx1"/>
                </a:solidFill>
                <a:latin typeface="Arial" charset="0"/>
                <a:ea typeface="ＭＳ Ｐゴシック" pitchFamily="-107" charset="-128"/>
                <a:cs typeface="ＭＳ Ｐゴシック" pitchFamily="-107" charset="-128"/>
              </a:rPr>
              <a:t>key distribution centers for symmetric encryption. In fact, some form of protocol</a:t>
            </a:r>
          </a:p>
          <a:p>
            <a:r>
              <a:rPr lang="en-US" sz="1200" kern="1200" baseline="0" dirty="0" smtClean="0">
                <a:solidFill>
                  <a:schemeClr val="tx1"/>
                </a:solidFill>
                <a:latin typeface="Arial" charset="0"/>
                <a:ea typeface="ＭＳ Ｐゴシック" pitchFamily="-107" charset="-128"/>
                <a:cs typeface="ＭＳ Ｐゴシック" pitchFamily="-107" charset="-128"/>
              </a:rPr>
              <a:t>is needed, generally involving a central agent, and the procedures involved are not</a:t>
            </a:r>
          </a:p>
          <a:p>
            <a:r>
              <a:rPr lang="en-US" sz="1200" kern="1200" baseline="0" dirty="0" smtClean="0">
                <a:solidFill>
                  <a:schemeClr val="tx1"/>
                </a:solidFill>
                <a:latin typeface="Arial" charset="0"/>
                <a:ea typeface="ＭＳ Ｐゴシック" pitchFamily="-107" charset="-128"/>
                <a:cs typeface="ＭＳ Ｐゴシック" pitchFamily="-107" charset="-128"/>
              </a:rPr>
              <a:t>simpler nor any more efficient than those required for symmetric encryption (e.g.,</a:t>
            </a:r>
          </a:p>
          <a:p>
            <a:r>
              <a:rPr lang="en-US" sz="1200" kern="1200" baseline="0" dirty="0" smtClean="0">
                <a:solidFill>
                  <a:schemeClr val="tx1"/>
                </a:solidFill>
                <a:latin typeface="Arial" charset="0"/>
                <a:ea typeface="ＭＳ Ｐゴシック" pitchFamily="-107" charset="-128"/>
                <a:cs typeface="ＭＳ Ｐゴシック" pitchFamily="-107" charset="-128"/>
              </a:rPr>
              <a:t>see analysis in [NEED78]).</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39</a:t>
            </a:fld>
            <a:endParaRPr lang="en-AU" dirty="0"/>
          </a:p>
        </p:txBody>
      </p:sp>
    </p:spTree>
    <p:extLst>
      <p:ext uri="{BB962C8B-B14F-4D97-AF65-F5344CB8AC3E}">
        <p14:creationId xmlns:p14="http://schemas.microsoft.com/office/powerpoint/2010/main" val="283909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Before proceeding, we should mention several common misconceptions concerning</a:t>
            </a:r>
          </a:p>
          <a:p>
            <a:r>
              <a:rPr lang="en-US" sz="1200" kern="1200" baseline="0" dirty="0" smtClean="0">
                <a:solidFill>
                  <a:schemeClr val="tx1"/>
                </a:solidFill>
                <a:latin typeface="Arial" charset="0"/>
                <a:ea typeface="ＭＳ Ｐゴシック" pitchFamily="-107" charset="-128"/>
                <a:cs typeface="ＭＳ Ｐゴシック" pitchFamily="-107" charset="-128"/>
              </a:rPr>
              <a:t>public-key encryption. One such misconception is that public-key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is more secure from cryptanalysis than is symmetric encryption. In fact, the</a:t>
            </a:r>
          </a:p>
          <a:p>
            <a:r>
              <a:rPr lang="en-US" sz="1200" kern="1200" baseline="0" dirty="0" smtClean="0">
                <a:solidFill>
                  <a:schemeClr val="tx1"/>
                </a:solidFill>
                <a:latin typeface="Arial" charset="0"/>
                <a:ea typeface="ＭＳ Ｐゴシック" pitchFamily="-107" charset="-128"/>
                <a:cs typeface="ＭＳ Ｐゴシック" pitchFamily="-107" charset="-128"/>
              </a:rPr>
              <a:t>security of any encryption scheme depends on the length of the key and the computational</a:t>
            </a:r>
          </a:p>
          <a:p>
            <a:r>
              <a:rPr lang="en-US" sz="1200" kern="1200" baseline="0" dirty="0" smtClean="0">
                <a:solidFill>
                  <a:schemeClr val="tx1"/>
                </a:solidFill>
                <a:latin typeface="Arial" charset="0"/>
                <a:ea typeface="ＭＳ Ｐゴシック" pitchFamily="-107" charset="-128"/>
                <a:cs typeface="ＭＳ Ｐゴシック" pitchFamily="-107" charset="-128"/>
              </a:rPr>
              <a:t>work involved in breaking a cipher. There is nothing in principle about</a:t>
            </a:r>
          </a:p>
          <a:p>
            <a:r>
              <a:rPr lang="en-US" sz="1200" kern="1200" baseline="0" dirty="0" smtClean="0">
                <a:solidFill>
                  <a:schemeClr val="tx1"/>
                </a:solidFill>
                <a:latin typeface="Arial" charset="0"/>
                <a:ea typeface="ＭＳ Ｐゴシック" pitchFamily="-107" charset="-128"/>
                <a:cs typeface="ＭＳ Ｐゴシック" pitchFamily="-107" charset="-128"/>
              </a:rPr>
              <a:t> either symmetric or public-key encryption that makes one superior to another from</a:t>
            </a:r>
          </a:p>
          <a:p>
            <a:r>
              <a:rPr lang="en-US" sz="1200" kern="1200" baseline="0" dirty="0" smtClean="0">
                <a:solidFill>
                  <a:schemeClr val="tx1"/>
                </a:solidFill>
                <a:latin typeface="Arial" charset="0"/>
                <a:ea typeface="ＭＳ Ｐゴシック" pitchFamily="-107" charset="-128"/>
                <a:cs typeface="ＭＳ Ｐゴシック" pitchFamily="-107" charset="-128"/>
              </a:rPr>
              <a:t>the point of view of resisting cryptanalysis.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second misconception is that public-key encryption is a general-purpose</a:t>
            </a:r>
          </a:p>
          <a:p>
            <a:r>
              <a:rPr lang="en-US" sz="1200" kern="1200" baseline="0" dirty="0" smtClean="0">
                <a:solidFill>
                  <a:schemeClr val="tx1"/>
                </a:solidFill>
                <a:latin typeface="Arial" charset="0"/>
                <a:ea typeface="ＭＳ Ｐゴシック" pitchFamily="-107" charset="-128"/>
                <a:cs typeface="ＭＳ Ｐゴシック" pitchFamily="-107" charset="-128"/>
              </a:rPr>
              <a:t>technique that has made symmetric encryption obsolete. On the contrary, because</a:t>
            </a:r>
          </a:p>
          <a:p>
            <a:r>
              <a:rPr lang="en-US" sz="1200" kern="1200" baseline="0" dirty="0" smtClean="0">
                <a:solidFill>
                  <a:schemeClr val="tx1"/>
                </a:solidFill>
                <a:latin typeface="Arial" charset="0"/>
                <a:ea typeface="ＭＳ Ｐゴシック" pitchFamily="-107" charset="-128"/>
                <a:cs typeface="ＭＳ Ｐゴシック" pitchFamily="-107" charset="-128"/>
              </a:rPr>
              <a:t>of the computational overhead of current public-key encryption schemes, there</a:t>
            </a:r>
          </a:p>
          <a:p>
            <a:r>
              <a:rPr lang="en-US" sz="1200" kern="1200" baseline="0" dirty="0" smtClean="0">
                <a:solidFill>
                  <a:schemeClr val="tx1"/>
                </a:solidFill>
                <a:latin typeface="Arial" charset="0"/>
                <a:ea typeface="ＭＳ Ｐゴシック" pitchFamily="-107" charset="-128"/>
                <a:cs typeface="ＭＳ Ｐゴシック" pitchFamily="-107" charset="-128"/>
              </a:rPr>
              <a:t>seems no foreseeable likelihood that symmetric encryption will be abandoned. As</a:t>
            </a:r>
          </a:p>
          <a:p>
            <a:r>
              <a:rPr lang="en-US" sz="1200" kern="1200" baseline="0" dirty="0" smtClean="0">
                <a:solidFill>
                  <a:schemeClr val="tx1"/>
                </a:solidFill>
                <a:latin typeface="Arial" charset="0"/>
                <a:ea typeface="ＭＳ Ｐゴシック" pitchFamily="-107" charset="-128"/>
                <a:cs typeface="ＭＳ Ｐゴシック" pitchFamily="-107" charset="-128"/>
              </a:rPr>
              <a:t>one of the inventors of public-key encryption has put it [DIFF88], “the restriction</a:t>
            </a:r>
          </a:p>
          <a:p>
            <a:r>
              <a:rPr lang="en-US" sz="1200" kern="1200" baseline="0" dirty="0" smtClean="0">
                <a:solidFill>
                  <a:schemeClr val="tx1"/>
                </a:solidFill>
                <a:latin typeface="Arial" charset="0"/>
                <a:ea typeface="ＭＳ Ｐゴシック" pitchFamily="-107" charset="-128"/>
                <a:cs typeface="ＭＳ Ｐゴシック" pitchFamily="-107" charset="-128"/>
              </a:rPr>
              <a:t>of public-key cryptography to key management and signature applications is almost</a:t>
            </a:r>
          </a:p>
          <a:p>
            <a:r>
              <a:rPr lang="en-US" sz="1200" kern="1200" baseline="0" dirty="0" smtClean="0">
                <a:solidFill>
                  <a:schemeClr val="tx1"/>
                </a:solidFill>
                <a:latin typeface="Arial" charset="0"/>
                <a:ea typeface="ＭＳ Ｐゴシック" pitchFamily="-107" charset="-128"/>
                <a:cs typeface="ＭＳ Ｐゴシック" pitchFamily="-107" charset="-128"/>
              </a:rPr>
              <a:t>universally accepted.”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Finally, there is a feeling that key distribution is trivial when using public-key</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compared to the rather cumbersome handshaking involved with</a:t>
            </a:r>
          </a:p>
          <a:p>
            <a:r>
              <a:rPr lang="en-US" sz="1200" kern="1200" baseline="0" dirty="0" smtClean="0">
                <a:solidFill>
                  <a:schemeClr val="tx1"/>
                </a:solidFill>
                <a:latin typeface="Arial" charset="0"/>
                <a:ea typeface="ＭＳ Ｐゴシック" pitchFamily="-107" charset="-128"/>
                <a:cs typeface="ＭＳ Ｐゴシック" pitchFamily="-107" charset="-128"/>
              </a:rPr>
              <a:t>key distribution centers for symmetric encryption. In fact, some form of protocol</a:t>
            </a:r>
          </a:p>
          <a:p>
            <a:r>
              <a:rPr lang="en-US" sz="1200" kern="1200" baseline="0" dirty="0" smtClean="0">
                <a:solidFill>
                  <a:schemeClr val="tx1"/>
                </a:solidFill>
                <a:latin typeface="Arial" charset="0"/>
                <a:ea typeface="ＭＳ Ｐゴシック" pitchFamily="-107" charset="-128"/>
                <a:cs typeface="ＭＳ Ｐゴシック" pitchFamily="-107" charset="-128"/>
              </a:rPr>
              <a:t>is needed, generally involving a central agent, and the procedures involved are not</a:t>
            </a:r>
          </a:p>
          <a:p>
            <a:r>
              <a:rPr lang="en-US" sz="1200" kern="1200" baseline="0" dirty="0" smtClean="0">
                <a:solidFill>
                  <a:schemeClr val="tx1"/>
                </a:solidFill>
                <a:latin typeface="Arial" charset="0"/>
                <a:ea typeface="ＭＳ Ｐゴシック" pitchFamily="-107" charset="-128"/>
                <a:cs typeface="ＭＳ Ｐゴシック" pitchFamily="-107" charset="-128"/>
              </a:rPr>
              <a:t>simpler nor any more efficient than those required for symmetric encryption (e.g.,</a:t>
            </a:r>
          </a:p>
          <a:p>
            <a:r>
              <a:rPr lang="en-US" sz="1200" kern="1200" baseline="0" dirty="0" smtClean="0">
                <a:solidFill>
                  <a:schemeClr val="tx1"/>
                </a:solidFill>
                <a:latin typeface="Arial" charset="0"/>
                <a:ea typeface="ＭＳ Ｐゴシック" pitchFamily="-107" charset="-128"/>
                <a:cs typeface="ＭＳ Ｐゴシック" pitchFamily="-107" charset="-128"/>
              </a:rPr>
              <a:t>see analysis in [NEED78]).</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40</a:t>
            </a:fld>
            <a:endParaRPr lang="en-AU" dirty="0"/>
          </a:p>
        </p:txBody>
      </p:sp>
    </p:spTree>
    <p:extLst>
      <p:ext uri="{BB962C8B-B14F-4D97-AF65-F5344CB8AC3E}">
        <p14:creationId xmlns:p14="http://schemas.microsoft.com/office/powerpoint/2010/main" val="40726113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Before proceeding, we should mention several common misconceptions concerning</a:t>
            </a:r>
          </a:p>
          <a:p>
            <a:r>
              <a:rPr lang="en-US" sz="1200" kern="1200" baseline="0" dirty="0" smtClean="0">
                <a:solidFill>
                  <a:schemeClr val="tx1"/>
                </a:solidFill>
                <a:latin typeface="Arial" charset="0"/>
                <a:ea typeface="ＭＳ Ｐゴシック" pitchFamily="-107" charset="-128"/>
                <a:cs typeface="ＭＳ Ｐゴシック" pitchFamily="-107" charset="-128"/>
              </a:rPr>
              <a:t>public-key encryption. One such misconception is that public-key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is more secure from cryptanalysis than is symmetric encryption. In fact, the</a:t>
            </a:r>
          </a:p>
          <a:p>
            <a:r>
              <a:rPr lang="en-US" sz="1200" kern="1200" baseline="0" dirty="0" smtClean="0">
                <a:solidFill>
                  <a:schemeClr val="tx1"/>
                </a:solidFill>
                <a:latin typeface="Arial" charset="0"/>
                <a:ea typeface="ＭＳ Ｐゴシック" pitchFamily="-107" charset="-128"/>
                <a:cs typeface="ＭＳ Ｐゴシック" pitchFamily="-107" charset="-128"/>
              </a:rPr>
              <a:t>security of any encryption scheme depends on the length of the key and the computational</a:t>
            </a:r>
          </a:p>
          <a:p>
            <a:r>
              <a:rPr lang="en-US" sz="1200" kern="1200" baseline="0" dirty="0" smtClean="0">
                <a:solidFill>
                  <a:schemeClr val="tx1"/>
                </a:solidFill>
                <a:latin typeface="Arial" charset="0"/>
                <a:ea typeface="ＭＳ Ｐゴシック" pitchFamily="-107" charset="-128"/>
                <a:cs typeface="ＭＳ Ｐゴシック" pitchFamily="-107" charset="-128"/>
              </a:rPr>
              <a:t>work involved in breaking a cipher. There is nothing in principle about</a:t>
            </a:r>
          </a:p>
          <a:p>
            <a:r>
              <a:rPr lang="en-US" sz="1200" kern="1200" baseline="0" dirty="0" smtClean="0">
                <a:solidFill>
                  <a:schemeClr val="tx1"/>
                </a:solidFill>
                <a:latin typeface="Arial" charset="0"/>
                <a:ea typeface="ＭＳ Ｐゴシック" pitchFamily="-107" charset="-128"/>
                <a:cs typeface="ＭＳ Ｐゴシック" pitchFamily="-107" charset="-128"/>
              </a:rPr>
              <a:t> either symmetric or public-key encryption that makes one superior to another from</a:t>
            </a:r>
          </a:p>
          <a:p>
            <a:r>
              <a:rPr lang="en-US" sz="1200" kern="1200" baseline="0" dirty="0" smtClean="0">
                <a:solidFill>
                  <a:schemeClr val="tx1"/>
                </a:solidFill>
                <a:latin typeface="Arial" charset="0"/>
                <a:ea typeface="ＭＳ Ｐゴシック" pitchFamily="-107" charset="-128"/>
                <a:cs typeface="ＭＳ Ｐゴシック" pitchFamily="-107" charset="-128"/>
              </a:rPr>
              <a:t>the point of view of resisting cryptanalysis.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second misconception is that public-key encryption is a general-purpose</a:t>
            </a:r>
          </a:p>
          <a:p>
            <a:r>
              <a:rPr lang="en-US" sz="1200" kern="1200" baseline="0" dirty="0" smtClean="0">
                <a:solidFill>
                  <a:schemeClr val="tx1"/>
                </a:solidFill>
                <a:latin typeface="Arial" charset="0"/>
                <a:ea typeface="ＭＳ Ｐゴシック" pitchFamily="-107" charset="-128"/>
                <a:cs typeface="ＭＳ Ｐゴシック" pitchFamily="-107" charset="-128"/>
              </a:rPr>
              <a:t>technique that has made symmetric encryption obsolete. On the contrary, because</a:t>
            </a:r>
          </a:p>
          <a:p>
            <a:r>
              <a:rPr lang="en-US" sz="1200" kern="1200" baseline="0" dirty="0" smtClean="0">
                <a:solidFill>
                  <a:schemeClr val="tx1"/>
                </a:solidFill>
                <a:latin typeface="Arial" charset="0"/>
                <a:ea typeface="ＭＳ Ｐゴシック" pitchFamily="-107" charset="-128"/>
                <a:cs typeface="ＭＳ Ｐゴシック" pitchFamily="-107" charset="-128"/>
              </a:rPr>
              <a:t>of the computational overhead of current public-key encryption schemes, there</a:t>
            </a:r>
          </a:p>
          <a:p>
            <a:r>
              <a:rPr lang="en-US" sz="1200" kern="1200" baseline="0" dirty="0" smtClean="0">
                <a:solidFill>
                  <a:schemeClr val="tx1"/>
                </a:solidFill>
                <a:latin typeface="Arial" charset="0"/>
                <a:ea typeface="ＭＳ Ｐゴシック" pitchFamily="-107" charset="-128"/>
                <a:cs typeface="ＭＳ Ｐゴシック" pitchFamily="-107" charset="-128"/>
              </a:rPr>
              <a:t>seems no foreseeable likelihood that symmetric encryption will be abandoned. As</a:t>
            </a:r>
          </a:p>
          <a:p>
            <a:r>
              <a:rPr lang="en-US" sz="1200" kern="1200" baseline="0" dirty="0" smtClean="0">
                <a:solidFill>
                  <a:schemeClr val="tx1"/>
                </a:solidFill>
                <a:latin typeface="Arial" charset="0"/>
                <a:ea typeface="ＭＳ Ｐゴシック" pitchFamily="-107" charset="-128"/>
                <a:cs typeface="ＭＳ Ｐゴシック" pitchFamily="-107" charset="-128"/>
              </a:rPr>
              <a:t>one of the inventors of public-key encryption has put it [DIFF88], “the restriction</a:t>
            </a:r>
          </a:p>
          <a:p>
            <a:r>
              <a:rPr lang="en-US" sz="1200" kern="1200" baseline="0" dirty="0" smtClean="0">
                <a:solidFill>
                  <a:schemeClr val="tx1"/>
                </a:solidFill>
                <a:latin typeface="Arial" charset="0"/>
                <a:ea typeface="ＭＳ Ｐゴシック" pitchFamily="-107" charset="-128"/>
                <a:cs typeface="ＭＳ Ｐゴシック" pitchFamily="-107" charset="-128"/>
              </a:rPr>
              <a:t>of public-key cryptography to key management and signature applications is almost</a:t>
            </a:r>
          </a:p>
          <a:p>
            <a:r>
              <a:rPr lang="en-US" sz="1200" kern="1200" baseline="0" dirty="0" smtClean="0">
                <a:solidFill>
                  <a:schemeClr val="tx1"/>
                </a:solidFill>
                <a:latin typeface="Arial" charset="0"/>
                <a:ea typeface="ＭＳ Ｐゴシック" pitchFamily="-107" charset="-128"/>
                <a:cs typeface="ＭＳ Ｐゴシック" pitchFamily="-107" charset="-128"/>
              </a:rPr>
              <a:t>universally accepted.”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Finally, there is a feeling that key distribution is trivial when using public-key</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compared to the rather cumbersome handshaking involved with</a:t>
            </a:r>
          </a:p>
          <a:p>
            <a:r>
              <a:rPr lang="en-US" sz="1200" kern="1200" baseline="0" dirty="0" smtClean="0">
                <a:solidFill>
                  <a:schemeClr val="tx1"/>
                </a:solidFill>
                <a:latin typeface="Arial" charset="0"/>
                <a:ea typeface="ＭＳ Ｐゴシック" pitchFamily="-107" charset="-128"/>
                <a:cs typeface="ＭＳ Ｐゴシック" pitchFamily="-107" charset="-128"/>
              </a:rPr>
              <a:t>key distribution centers for symmetric encryption. In fact, some form of protocol</a:t>
            </a:r>
          </a:p>
          <a:p>
            <a:r>
              <a:rPr lang="en-US" sz="1200" kern="1200" baseline="0" dirty="0" smtClean="0">
                <a:solidFill>
                  <a:schemeClr val="tx1"/>
                </a:solidFill>
                <a:latin typeface="Arial" charset="0"/>
                <a:ea typeface="ＭＳ Ｐゴシック" pitchFamily="-107" charset="-128"/>
                <a:cs typeface="ＭＳ Ｐゴシック" pitchFamily="-107" charset="-128"/>
              </a:rPr>
              <a:t>is needed, generally involving a central agent, and the procedures involved are not</a:t>
            </a:r>
          </a:p>
          <a:p>
            <a:r>
              <a:rPr lang="en-US" sz="1200" kern="1200" baseline="0" dirty="0" smtClean="0">
                <a:solidFill>
                  <a:schemeClr val="tx1"/>
                </a:solidFill>
                <a:latin typeface="Arial" charset="0"/>
                <a:ea typeface="ＭＳ Ｐゴシック" pitchFamily="-107" charset="-128"/>
                <a:cs typeface="ＭＳ Ｐゴシック" pitchFamily="-107" charset="-128"/>
              </a:rPr>
              <a:t>simpler nor any more efficient than those required for symmetric encryption (e.g.,</a:t>
            </a:r>
          </a:p>
          <a:p>
            <a:r>
              <a:rPr lang="en-US" sz="1200" kern="1200" baseline="0" dirty="0" smtClean="0">
                <a:solidFill>
                  <a:schemeClr val="tx1"/>
                </a:solidFill>
                <a:latin typeface="Arial" charset="0"/>
                <a:ea typeface="ＭＳ Ｐゴシック" pitchFamily="-107" charset="-128"/>
                <a:cs typeface="ＭＳ Ｐゴシック" pitchFamily="-107" charset="-128"/>
              </a:rPr>
              <a:t>see analysis in [NEED78]).</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41</a:t>
            </a:fld>
            <a:endParaRPr lang="en-AU" dirty="0"/>
          </a:p>
        </p:txBody>
      </p:sp>
    </p:spTree>
    <p:extLst>
      <p:ext uri="{BB962C8B-B14F-4D97-AF65-F5344CB8AC3E}">
        <p14:creationId xmlns:p14="http://schemas.microsoft.com/office/powerpoint/2010/main" val="40726113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Before proceeding, we should mention several common misconceptions concerning</a:t>
            </a:r>
          </a:p>
          <a:p>
            <a:r>
              <a:rPr lang="en-US" sz="1200" kern="1200" baseline="0" dirty="0" smtClean="0">
                <a:solidFill>
                  <a:schemeClr val="tx1"/>
                </a:solidFill>
                <a:latin typeface="Arial" charset="0"/>
                <a:ea typeface="ＭＳ Ｐゴシック" pitchFamily="-107" charset="-128"/>
                <a:cs typeface="ＭＳ Ｐゴシック" pitchFamily="-107" charset="-128"/>
              </a:rPr>
              <a:t>public-key encryption. One such misconception is that public-key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is more secure from cryptanalysis than is symmetric encryption. In fact, the</a:t>
            </a:r>
          </a:p>
          <a:p>
            <a:r>
              <a:rPr lang="en-US" sz="1200" kern="1200" baseline="0" dirty="0" smtClean="0">
                <a:solidFill>
                  <a:schemeClr val="tx1"/>
                </a:solidFill>
                <a:latin typeface="Arial" charset="0"/>
                <a:ea typeface="ＭＳ Ｐゴシック" pitchFamily="-107" charset="-128"/>
                <a:cs typeface="ＭＳ Ｐゴシック" pitchFamily="-107" charset="-128"/>
              </a:rPr>
              <a:t>security of any encryption scheme depends on the length of the key and the computational</a:t>
            </a:r>
          </a:p>
          <a:p>
            <a:r>
              <a:rPr lang="en-US" sz="1200" kern="1200" baseline="0" dirty="0" smtClean="0">
                <a:solidFill>
                  <a:schemeClr val="tx1"/>
                </a:solidFill>
                <a:latin typeface="Arial" charset="0"/>
                <a:ea typeface="ＭＳ Ｐゴシック" pitchFamily="-107" charset="-128"/>
                <a:cs typeface="ＭＳ Ｐゴシック" pitchFamily="-107" charset="-128"/>
              </a:rPr>
              <a:t>work involved in breaking a cipher. There is nothing in principle about</a:t>
            </a:r>
          </a:p>
          <a:p>
            <a:r>
              <a:rPr lang="en-US" sz="1200" kern="1200" baseline="0" dirty="0" smtClean="0">
                <a:solidFill>
                  <a:schemeClr val="tx1"/>
                </a:solidFill>
                <a:latin typeface="Arial" charset="0"/>
                <a:ea typeface="ＭＳ Ｐゴシック" pitchFamily="-107" charset="-128"/>
                <a:cs typeface="ＭＳ Ｐゴシック" pitchFamily="-107" charset="-128"/>
              </a:rPr>
              <a:t> either symmetric or public-key encryption that makes one superior to another from</a:t>
            </a:r>
          </a:p>
          <a:p>
            <a:r>
              <a:rPr lang="en-US" sz="1200" kern="1200" baseline="0" dirty="0" smtClean="0">
                <a:solidFill>
                  <a:schemeClr val="tx1"/>
                </a:solidFill>
                <a:latin typeface="Arial" charset="0"/>
                <a:ea typeface="ＭＳ Ｐゴシック" pitchFamily="-107" charset="-128"/>
                <a:cs typeface="ＭＳ Ｐゴシック" pitchFamily="-107" charset="-128"/>
              </a:rPr>
              <a:t>the point of view of resisting cryptanalysis.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second misconception is that public-key encryption is a general-purpose</a:t>
            </a:r>
          </a:p>
          <a:p>
            <a:r>
              <a:rPr lang="en-US" sz="1200" kern="1200" baseline="0" dirty="0" smtClean="0">
                <a:solidFill>
                  <a:schemeClr val="tx1"/>
                </a:solidFill>
                <a:latin typeface="Arial" charset="0"/>
                <a:ea typeface="ＭＳ Ｐゴシック" pitchFamily="-107" charset="-128"/>
                <a:cs typeface="ＭＳ Ｐゴシック" pitchFamily="-107" charset="-128"/>
              </a:rPr>
              <a:t>technique that has made symmetric encryption obsolete. On the contrary, because</a:t>
            </a:r>
          </a:p>
          <a:p>
            <a:r>
              <a:rPr lang="en-US" sz="1200" kern="1200" baseline="0" dirty="0" smtClean="0">
                <a:solidFill>
                  <a:schemeClr val="tx1"/>
                </a:solidFill>
                <a:latin typeface="Arial" charset="0"/>
                <a:ea typeface="ＭＳ Ｐゴシック" pitchFamily="-107" charset="-128"/>
                <a:cs typeface="ＭＳ Ｐゴシック" pitchFamily="-107" charset="-128"/>
              </a:rPr>
              <a:t>of the computational overhead of current public-key encryption schemes, there</a:t>
            </a:r>
          </a:p>
          <a:p>
            <a:r>
              <a:rPr lang="en-US" sz="1200" kern="1200" baseline="0" dirty="0" smtClean="0">
                <a:solidFill>
                  <a:schemeClr val="tx1"/>
                </a:solidFill>
                <a:latin typeface="Arial" charset="0"/>
                <a:ea typeface="ＭＳ Ｐゴシック" pitchFamily="-107" charset="-128"/>
                <a:cs typeface="ＭＳ Ｐゴシック" pitchFamily="-107" charset="-128"/>
              </a:rPr>
              <a:t>seems no foreseeable likelihood that symmetric encryption will be abandoned. As</a:t>
            </a:r>
          </a:p>
          <a:p>
            <a:r>
              <a:rPr lang="en-US" sz="1200" kern="1200" baseline="0" dirty="0" smtClean="0">
                <a:solidFill>
                  <a:schemeClr val="tx1"/>
                </a:solidFill>
                <a:latin typeface="Arial" charset="0"/>
                <a:ea typeface="ＭＳ Ｐゴシック" pitchFamily="-107" charset="-128"/>
                <a:cs typeface="ＭＳ Ｐゴシック" pitchFamily="-107" charset="-128"/>
              </a:rPr>
              <a:t>one of the inventors of public-key encryption has put it [DIFF88], “the restriction</a:t>
            </a:r>
          </a:p>
          <a:p>
            <a:r>
              <a:rPr lang="en-US" sz="1200" kern="1200" baseline="0" dirty="0" smtClean="0">
                <a:solidFill>
                  <a:schemeClr val="tx1"/>
                </a:solidFill>
                <a:latin typeface="Arial" charset="0"/>
                <a:ea typeface="ＭＳ Ｐゴシック" pitchFamily="-107" charset="-128"/>
                <a:cs typeface="ＭＳ Ｐゴシック" pitchFamily="-107" charset="-128"/>
              </a:rPr>
              <a:t>of public-key cryptography to key management and signature applications is almost</a:t>
            </a:r>
          </a:p>
          <a:p>
            <a:r>
              <a:rPr lang="en-US" sz="1200" kern="1200" baseline="0" dirty="0" smtClean="0">
                <a:solidFill>
                  <a:schemeClr val="tx1"/>
                </a:solidFill>
                <a:latin typeface="Arial" charset="0"/>
                <a:ea typeface="ＭＳ Ｐゴシック" pitchFamily="-107" charset="-128"/>
                <a:cs typeface="ＭＳ Ｐゴシック" pitchFamily="-107" charset="-128"/>
              </a:rPr>
              <a:t>universally accepted.”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Finally, there is a feeling that key distribution is trivial when using public-key</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compared to the rather cumbersome handshaking involved with</a:t>
            </a:r>
          </a:p>
          <a:p>
            <a:r>
              <a:rPr lang="en-US" sz="1200" kern="1200" baseline="0" dirty="0" smtClean="0">
                <a:solidFill>
                  <a:schemeClr val="tx1"/>
                </a:solidFill>
                <a:latin typeface="Arial" charset="0"/>
                <a:ea typeface="ＭＳ Ｐゴシック" pitchFamily="-107" charset="-128"/>
                <a:cs typeface="ＭＳ Ｐゴシック" pitchFamily="-107" charset="-128"/>
              </a:rPr>
              <a:t>key distribution centers for symmetric encryption. In fact, some form of protocol</a:t>
            </a:r>
          </a:p>
          <a:p>
            <a:r>
              <a:rPr lang="en-US" sz="1200" kern="1200" baseline="0" dirty="0" smtClean="0">
                <a:solidFill>
                  <a:schemeClr val="tx1"/>
                </a:solidFill>
                <a:latin typeface="Arial" charset="0"/>
                <a:ea typeface="ＭＳ Ｐゴシック" pitchFamily="-107" charset="-128"/>
                <a:cs typeface="ＭＳ Ｐゴシック" pitchFamily="-107" charset="-128"/>
              </a:rPr>
              <a:t>is needed, generally involving a central agent, and the procedures involved are not</a:t>
            </a:r>
          </a:p>
          <a:p>
            <a:r>
              <a:rPr lang="en-US" sz="1200" kern="1200" baseline="0" dirty="0" smtClean="0">
                <a:solidFill>
                  <a:schemeClr val="tx1"/>
                </a:solidFill>
                <a:latin typeface="Arial" charset="0"/>
                <a:ea typeface="ＭＳ Ｐゴシック" pitchFamily="-107" charset="-128"/>
                <a:cs typeface="ＭＳ Ｐゴシック" pitchFamily="-107" charset="-128"/>
              </a:rPr>
              <a:t>simpler nor any more efficient than those required for symmetric encryption (e.g.,</a:t>
            </a:r>
          </a:p>
          <a:p>
            <a:r>
              <a:rPr lang="en-US" sz="1200" kern="1200" baseline="0" dirty="0" smtClean="0">
                <a:solidFill>
                  <a:schemeClr val="tx1"/>
                </a:solidFill>
                <a:latin typeface="Arial" charset="0"/>
                <a:ea typeface="ＭＳ Ｐゴシック" pitchFamily="-107" charset="-128"/>
                <a:cs typeface="ＭＳ Ｐゴシック" pitchFamily="-107" charset="-128"/>
              </a:rPr>
              <a:t>see analysis in [NEED78]).</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42</a:t>
            </a:fld>
            <a:endParaRPr lang="en-AU" dirty="0"/>
          </a:p>
        </p:txBody>
      </p:sp>
    </p:spTree>
    <p:extLst>
      <p:ext uri="{BB962C8B-B14F-4D97-AF65-F5344CB8AC3E}">
        <p14:creationId xmlns:p14="http://schemas.microsoft.com/office/powerpoint/2010/main" val="4072611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Before proceeding, we should mention several common misconceptions concerning</a:t>
            </a:r>
          </a:p>
          <a:p>
            <a:r>
              <a:rPr lang="en-US" sz="1200" kern="1200" baseline="0" dirty="0" smtClean="0">
                <a:solidFill>
                  <a:schemeClr val="tx1"/>
                </a:solidFill>
                <a:latin typeface="Arial" charset="0"/>
                <a:ea typeface="ＭＳ Ｐゴシック" pitchFamily="-107" charset="-128"/>
                <a:cs typeface="ＭＳ Ｐゴシック" pitchFamily="-107" charset="-128"/>
              </a:rPr>
              <a:t>public-key encryption. One such misconception is that public-key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is more secure from cryptanalysis than is symmetric encryption. In fact, the</a:t>
            </a:r>
          </a:p>
          <a:p>
            <a:r>
              <a:rPr lang="en-US" sz="1200" kern="1200" baseline="0" dirty="0" smtClean="0">
                <a:solidFill>
                  <a:schemeClr val="tx1"/>
                </a:solidFill>
                <a:latin typeface="Arial" charset="0"/>
                <a:ea typeface="ＭＳ Ｐゴシック" pitchFamily="-107" charset="-128"/>
                <a:cs typeface="ＭＳ Ｐゴシック" pitchFamily="-107" charset="-128"/>
              </a:rPr>
              <a:t>security of any encryption scheme depends on the length of the key and the computational</a:t>
            </a:r>
          </a:p>
          <a:p>
            <a:r>
              <a:rPr lang="en-US" sz="1200" kern="1200" baseline="0" dirty="0" smtClean="0">
                <a:solidFill>
                  <a:schemeClr val="tx1"/>
                </a:solidFill>
                <a:latin typeface="Arial" charset="0"/>
                <a:ea typeface="ＭＳ Ｐゴシック" pitchFamily="-107" charset="-128"/>
                <a:cs typeface="ＭＳ Ｐゴシック" pitchFamily="-107" charset="-128"/>
              </a:rPr>
              <a:t>work involved in breaking a cipher. There is nothing in principle about</a:t>
            </a:r>
          </a:p>
          <a:p>
            <a:r>
              <a:rPr lang="en-US" sz="1200" kern="1200" baseline="0" dirty="0" smtClean="0">
                <a:solidFill>
                  <a:schemeClr val="tx1"/>
                </a:solidFill>
                <a:latin typeface="Arial" charset="0"/>
                <a:ea typeface="ＭＳ Ｐゴシック" pitchFamily="-107" charset="-128"/>
                <a:cs typeface="ＭＳ Ｐゴシック" pitchFamily="-107" charset="-128"/>
              </a:rPr>
              <a:t> either symmetric or public-key encryption that makes one superior to another from</a:t>
            </a:r>
          </a:p>
          <a:p>
            <a:r>
              <a:rPr lang="en-US" sz="1200" kern="1200" baseline="0" dirty="0" smtClean="0">
                <a:solidFill>
                  <a:schemeClr val="tx1"/>
                </a:solidFill>
                <a:latin typeface="Arial" charset="0"/>
                <a:ea typeface="ＭＳ Ｐゴシック" pitchFamily="-107" charset="-128"/>
                <a:cs typeface="ＭＳ Ｐゴシック" pitchFamily="-107" charset="-128"/>
              </a:rPr>
              <a:t>the point of view of resisting cryptanalysis.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second misconception is that public-key encryption is a general-purpose</a:t>
            </a:r>
          </a:p>
          <a:p>
            <a:r>
              <a:rPr lang="en-US" sz="1200" kern="1200" baseline="0" dirty="0" smtClean="0">
                <a:solidFill>
                  <a:schemeClr val="tx1"/>
                </a:solidFill>
                <a:latin typeface="Arial" charset="0"/>
                <a:ea typeface="ＭＳ Ｐゴシック" pitchFamily="-107" charset="-128"/>
                <a:cs typeface="ＭＳ Ｐゴシック" pitchFamily="-107" charset="-128"/>
              </a:rPr>
              <a:t>technique that has made symmetric encryption obsolete. On the contrary, because</a:t>
            </a:r>
          </a:p>
          <a:p>
            <a:r>
              <a:rPr lang="en-US" sz="1200" kern="1200" baseline="0" dirty="0" smtClean="0">
                <a:solidFill>
                  <a:schemeClr val="tx1"/>
                </a:solidFill>
                <a:latin typeface="Arial" charset="0"/>
                <a:ea typeface="ＭＳ Ｐゴシック" pitchFamily="-107" charset="-128"/>
                <a:cs typeface="ＭＳ Ｐゴシック" pitchFamily="-107" charset="-128"/>
              </a:rPr>
              <a:t>of the computational overhead of current public-key encryption schemes, there</a:t>
            </a:r>
          </a:p>
          <a:p>
            <a:r>
              <a:rPr lang="en-US" sz="1200" kern="1200" baseline="0" dirty="0" smtClean="0">
                <a:solidFill>
                  <a:schemeClr val="tx1"/>
                </a:solidFill>
                <a:latin typeface="Arial" charset="0"/>
                <a:ea typeface="ＭＳ Ｐゴシック" pitchFamily="-107" charset="-128"/>
                <a:cs typeface="ＭＳ Ｐゴシック" pitchFamily="-107" charset="-128"/>
              </a:rPr>
              <a:t>seems no foreseeable likelihood that symmetric encryption will be abandoned. As</a:t>
            </a:r>
          </a:p>
          <a:p>
            <a:r>
              <a:rPr lang="en-US" sz="1200" kern="1200" baseline="0" dirty="0" smtClean="0">
                <a:solidFill>
                  <a:schemeClr val="tx1"/>
                </a:solidFill>
                <a:latin typeface="Arial" charset="0"/>
                <a:ea typeface="ＭＳ Ｐゴシック" pitchFamily="-107" charset="-128"/>
                <a:cs typeface="ＭＳ Ｐゴシック" pitchFamily="-107" charset="-128"/>
              </a:rPr>
              <a:t>one of the inventors of public-key encryption has put it [DIFF88], “the restriction</a:t>
            </a:r>
          </a:p>
          <a:p>
            <a:r>
              <a:rPr lang="en-US" sz="1200" kern="1200" baseline="0" dirty="0" smtClean="0">
                <a:solidFill>
                  <a:schemeClr val="tx1"/>
                </a:solidFill>
                <a:latin typeface="Arial" charset="0"/>
                <a:ea typeface="ＭＳ Ｐゴシック" pitchFamily="-107" charset="-128"/>
                <a:cs typeface="ＭＳ Ｐゴシック" pitchFamily="-107" charset="-128"/>
              </a:rPr>
              <a:t>of public-key cryptography to key management and signature applications is almost</a:t>
            </a:r>
          </a:p>
          <a:p>
            <a:r>
              <a:rPr lang="en-US" sz="1200" kern="1200" baseline="0" dirty="0" smtClean="0">
                <a:solidFill>
                  <a:schemeClr val="tx1"/>
                </a:solidFill>
                <a:latin typeface="Arial" charset="0"/>
                <a:ea typeface="ＭＳ Ｐゴシック" pitchFamily="-107" charset="-128"/>
                <a:cs typeface="ＭＳ Ｐゴシック" pitchFamily="-107" charset="-128"/>
              </a:rPr>
              <a:t>universally accepted.”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Finally, there is a feeling that key distribution is trivial when using public-key</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compared to the rather cumbersome handshaking involved with</a:t>
            </a:r>
          </a:p>
          <a:p>
            <a:r>
              <a:rPr lang="en-US" sz="1200" kern="1200" baseline="0" dirty="0" smtClean="0">
                <a:solidFill>
                  <a:schemeClr val="tx1"/>
                </a:solidFill>
                <a:latin typeface="Arial" charset="0"/>
                <a:ea typeface="ＭＳ Ｐゴシック" pitchFamily="-107" charset="-128"/>
                <a:cs typeface="ＭＳ Ｐゴシック" pitchFamily="-107" charset="-128"/>
              </a:rPr>
              <a:t>key distribution centers for symmetric encryption. In fact, some form of protocol</a:t>
            </a:r>
          </a:p>
          <a:p>
            <a:r>
              <a:rPr lang="en-US" sz="1200" kern="1200" baseline="0" dirty="0" smtClean="0">
                <a:solidFill>
                  <a:schemeClr val="tx1"/>
                </a:solidFill>
                <a:latin typeface="Arial" charset="0"/>
                <a:ea typeface="ＭＳ Ｐゴシック" pitchFamily="-107" charset="-128"/>
                <a:cs typeface="ＭＳ Ｐゴシック" pitchFamily="-107" charset="-128"/>
              </a:rPr>
              <a:t>is needed, generally involving a central agent, and the procedures involved are not</a:t>
            </a:r>
          </a:p>
          <a:p>
            <a:r>
              <a:rPr lang="en-US" sz="1200" kern="1200" baseline="0" dirty="0" smtClean="0">
                <a:solidFill>
                  <a:schemeClr val="tx1"/>
                </a:solidFill>
                <a:latin typeface="Arial" charset="0"/>
                <a:ea typeface="ＭＳ Ｐゴシック" pitchFamily="-107" charset="-128"/>
                <a:cs typeface="ＭＳ Ｐゴシック" pitchFamily="-107" charset="-128"/>
              </a:rPr>
              <a:t>simpler nor any more efficient than those required for symmetric encryption (e.g.,</a:t>
            </a:r>
          </a:p>
          <a:p>
            <a:r>
              <a:rPr lang="en-US" sz="1200" kern="1200" baseline="0" dirty="0" smtClean="0">
                <a:solidFill>
                  <a:schemeClr val="tx1"/>
                </a:solidFill>
                <a:latin typeface="Arial" charset="0"/>
                <a:ea typeface="ＭＳ Ｐゴシック" pitchFamily="-107" charset="-128"/>
                <a:cs typeface="ＭＳ Ｐゴシック" pitchFamily="-107" charset="-128"/>
              </a:rPr>
              <a:t>see analysis in [NEED78]).</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43</a:t>
            </a:fld>
            <a:endParaRPr lang="en-AU" dirty="0"/>
          </a:p>
        </p:txBody>
      </p:sp>
    </p:spTree>
    <p:extLst>
      <p:ext uri="{BB962C8B-B14F-4D97-AF65-F5344CB8AC3E}">
        <p14:creationId xmlns:p14="http://schemas.microsoft.com/office/powerpoint/2010/main" val="24909939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Before proceeding, we should mention several common misconceptions concerning</a:t>
            </a:r>
          </a:p>
          <a:p>
            <a:r>
              <a:rPr lang="en-US" sz="1200" kern="1200" baseline="0" dirty="0" smtClean="0">
                <a:solidFill>
                  <a:schemeClr val="tx1"/>
                </a:solidFill>
                <a:latin typeface="Arial" charset="0"/>
                <a:ea typeface="ＭＳ Ｐゴシック" pitchFamily="-107" charset="-128"/>
                <a:cs typeface="ＭＳ Ｐゴシック" pitchFamily="-107" charset="-128"/>
              </a:rPr>
              <a:t>public-key encryption. One such misconception is that public-key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is more secure from cryptanalysis than is symmetric encryption. In fact, the</a:t>
            </a:r>
          </a:p>
          <a:p>
            <a:r>
              <a:rPr lang="en-US" sz="1200" kern="1200" baseline="0" dirty="0" smtClean="0">
                <a:solidFill>
                  <a:schemeClr val="tx1"/>
                </a:solidFill>
                <a:latin typeface="Arial" charset="0"/>
                <a:ea typeface="ＭＳ Ｐゴシック" pitchFamily="-107" charset="-128"/>
                <a:cs typeface="ＭＳ Ｐゴシック" pitchFamily="-107" charset="-128"/>
              </a:rPr>
              <a:t>security of any encryption scheme depends on the length of the key and the computational</a:t>
            </a:r>
          </a:p>
          <a:p>
            <a:r>
              <a:rPr lang="en-US" sz="1200" kern="1200" baseline="0" dirty="0" smtClean="0">
                <a:solidFill>
                  <a:schemeClr val="tx1"/>
                </a:solidFill>
                <a:latin typeface="Arial" charset="0"/>
                <a:ea typeface="ＭＳ Ｐゴシック" pitchFamily="-107" charset="-128"/>
                <a:cs typeface="ＭＳ Ｐゴシック" pitchFamily="-107" charset="-128"/>
              </a:rPr>
              <a:t>work involved in breaking a cipher. There is nothing in principle about</a:t>
            </a:r>
          </a:p>
          <a:p>
            <a:r>
              <a:rPr lang="en-US" sz="1200" kern="1200" baseline="0" dirty="0" smtClean="0">
                <a:solidFill>
                  <a:schemeClr val="tx1"/>
                </a:solidFill>
                <a:latin typeface="Arial" charset="0"/>
                <a:ea typeface="ＭＳ Ｐゴシック" pitchFamily="-107" charset="-128"/>
                <a:cs typeface="ＭＳ Ｐゴシック" pitchFamily="-107" charset="-128"/>
              </a:rPr>
              <a:t> either symmetric or public-key encryption that makes one superior to another from</a:t>
            </a:r>
          </a:p>
          <a:p>
            <a:r>
              <a:rPr lang="en-US" sz="1200" kern="1200" baseline="0" dirty="0" smtClean="0">
                <a:solidFill>
                  <a:schemeClr val="tx1"/>
                </a:solidFill>
                <a:latin typeface="Arial" charset="0"/>
                <a:ea typeface="ＭＳ Ｐゴシック" pitchFamily="-107" charset="-128"/>
                <a:cs typeface="ＭＳ Ｐゴシック" pitchFamily="-107" charset="-128"/>
              </a:rPr>
              <a:t>the point of view of resisting cryptanalysis.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second misconception is that public-key encryption is a general-purpose</a:t>
            </a:r>
          </a:p>
          <a:p>
            <a:r>
              <a:rPr lang="en-US" sz="1200" kern="1200" baseline="0" dirty="0" smtClean="0">
                <a:solidFill>
                  <a:schemeClr val="tx1"/>
                </a:solidFill>
                <a:latin typeface="Arial" charset="0"/>
                <a:ea typeface="ＭＳ Ｐゴシック" pitchFamily="-107" charset="-128"/>
                <a:cs typeface="ＭＳ Ｐゴシック" pitchFamily="-107" charset="-128"/>
              </a:rPr>
              <a:t>technique that has made symmetric encryption obsolete. On the contrary, because</a:t>
            </a:r>
          </a:p>
          <a:p>
            <a:r>
              <a:rPr lang="en-US" sz="1200" kern="1200" baseline="0" dirty="0" smtClean="0">
                <a:solidFill>
                  <a:schemeClr val="tx1"/>
                </a:solidFill>
                <a:latin typeface="Arial" charset="0"/>
                <a:ea typeface="ＭＳ Ｐゴシック" pitchFamily="-107" charset="-128"/>
                <a:cs typeface="ＭＳ Ｐゴシック" pitchFamily="-107" charset="-128"/>
              </a:rPr>
              <a:t>of the computational overhead of current public-key encryption schemes, there</a:t>
            </a:r>
          </a:p>
          <a:p>
            <a:r>
              <a:rPr lang="en-US" sz="1200" kern="1200" baseline="0" dirty="0" smtClean="0">
                <a:solidFill>
                  <a:schemeClr val="tx1"/>
                </a:solidFill>
                <a:latin typeface="Arial" charset="0"/>
                <a:ea typeface="ＭＳ Ｐゴシック" pitchFamily="-107" charset="-128"/>
                <a:cs typeface="ＭＳ Ｐゴシック" pitchFamily="-107" charset="-128"/>
              </a:rPr>
              <a:t>seems no foreseeable likelihood that symmetric encryption will be abandoned. As</a:t>
            </a:r>
          </a:p>
          <a:p>
            <a:r>
              <a:rPr lang="en-US" sz="1200" kern="1200" baseline="0" dirty="0" smtClean="0">
                <a:solidFill>
                  <a:schemeClr val="tx1"/>
                </a:solidFill>
                <a:latin typeface="Arial" charset="0"/>
                <a:ea typeface="ＭＳ Ｐゴシック" pitchFamily="-107" charset="-128"/>
                <a:cs typeface="ＭＳ Ｐゴシック" pitchFamily="-107" charset="-128"/>
              </a:rPr>
              <a:t>one of the inventors of public-key encryption has put it [DIFF88], “the restriction</a:t>
            </a:r>
          </a:p>
          <a:p>
            <a:r>
              <a:rPr lang="en-US" sz="1200" kern="1200" baseline="0" dirty="0" smtClean="0">
                <a:solidFill>
                  <a:schemeClr val="tx1"/>
                </a:solidFill>
                <a:latin typeface="Arial" charset="0"/>
                <a:ea typeface="ＭＳ Ｐゴシック" pitchFamily="-107" charset="-128"/>
                <a:cs typeface="ＭＳ Ｐゴシック" pitchFamily="-107" charset="-128"/>
              </a:rPr>
              <a:t>of public-key cryptography to key management and signature applications is almost</a:t>
            </a:r>
          </a:p>
          <a:p>
            <a:r>
              <a:rPr lang="en-US" sz="1200" kern="1200" baseline="0" dirty="0" smtClean="0">
                <a:solidFill>
                  <a:schemeClr val="tx1"/>
                </a:solidFill>
                <a:latin typeface="Arial" charset="0"/>
                <a:ea typeface="ＭＳ Ｐゴシック" pitchFamily="-107" charset="-128"/>
                <a:cs typeface="ＭＳ Ｐゴシック" pitchFamily="-107" charset="-128"/>
              </a:rPr>
              <a:t>universally accepted.”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Finally, there is a feeling that key distribution is trivial when using public-key</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compared to the rather cumbersome handshaking involved with</a:t>
            </a:r>
          </a:p>
          <a:p>
            <a:r>
              <a:rPr lang="en-US" sz="1200" kern="1200" baseline="0" dirty="0" smtClean="0">
                <a:solidFill>
                  <a:schemeClr val="tx1"/>
                </a:solidFill>
                <a:latin typeface="Arial" charset="0"/>
                <a:ea typeface="ＭＳ Ｐゴシック" pitchFamily="-107" charset="-128"/>
                <a:cs typeface="ＭＳ Ｐゴシック" pitchFamily="-107" charset="-128"/>
              </a:rPr>
              <a:t>key distribution centers for symmetric encryption. In fact, some form of protocol</a:t>
            </a:r>
          </a:p>
          <a:p>
            <a:r>
              <a:rPr lang="en-US" sz="1200" kern="1200" baseline="0" dirty="0" smtClean="0">
                <a:solidFill>
                  <a:schemeClr val="tx1"/>
                </a:solidFill>
                <a:latin typeface="Arial" charset="0"/>
                <a:ea typeface="ＭＳ Ｐゴシック" pitchFamily="-107" charset="-128"/>
                <a:cs typeface="ＭＳ Ｐゴシック" pitchFamily="-107" charset="-128"/>
              </a:rPr>
              <a:t>is needed, generally involving a central agent, and the procedures involved are not</a:t>
            </a:r>
          </a:p>
          <a:p>
            <a:r>
              <a:rPr lang="en-US" sz="1200" kern="1200" baseline="0" dirty="0" smtClean="0">
                <a:solidFill>
                  <a:schemeClr val="tx1"/>
                </a:solidFill>
                <a:latin typeface="Arial" charset="0"/>
                <a:ea typeface="ＭＳ Ｐゴシック" pitchFamily="-107" charset="-128"/>
                <a:cs typeface="ＭＳ Ｐゴシック" pitchFamily="-107" charset="-128"/>
              </a:rPr>
              <a:t>simpler nor any more efficient than those required for symmetric encryption (e.g.,</a:t>
            </a:r>
          </a:p>
          <a:p>
            <a:r>
              <a:rPr lang="en-US" sz="1200" kern="1200" baseline="0" dirty="0" smtClean="0">
                <a:solidFill>
                  <a:schemeClr val="tx1"/>
                </a:solidFill>
                <a:latin typeface="Arial" charset="0"/>
                <a:ea typeface="ＭＳ Ｐゴシック" pitchFamily="-107" charset="-128"/>
                <a:cs typeface="ＭＳ Ｐゴシック" pitchFamily="-107" charset="-128"/>
              </a:rPr>
              <a:t>see analysis in [NEED78]).</a:t>
            </a:r>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44</a:t>
            </a:fld>
            <a:endParaRPr lang="en-AU" dirty="0"/>
          </a:p>
        </p:txBody>
      </p:sp>
    </p:spTree>
    <p:extLst>
      <p:ext uri="{BB962C8B-B14F-4D97-AF65-F5344CB8AC3E}">
        <p14:creationId xmlns:p14="http://schemas.microsoft.com/office/powerpoint/2010/main" val="40726113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4512D2D-F426-463B-A287-7F19E70A3F04}"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1C0370D3-2A0E-430D-9AB5-2A1EC2291BB5}"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D1AD4A7-0882-4109-99AA-A63B3268F595}"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74754" name="Rectangle 2"/>
          <p:cNvSpPr>
            <a:spLocks noGrp="1" noChangeArrowheads="1"/>
          </p:cNvSpPr>
          <p:nvPr>
            <p:ph type="ctrTitle"/>
          </p:nvPr>
        </p:nvSpPr>
        <p:spPr>
          <a:xfrm>
            <a:off x="914400" y="2130426"/>
            <a:ext cx="10363200" cy="1470025"/>
          </a:xfrm>
        </p:spPr>
        <p:txBody>
          <a:bodyPr/>
          <a:lstStyle>
            <a:lvl1pPr>
              <a:defRPr/>
            </a:lvl1pPr>
          </a:lstStyle>
          <a:p>
            <a:r>
              <a:rPr lang="en-US" smtClean="0"/>
              <a:t>Click to edit Master title style</a:t>
            </a:r>
            <a:endParaRPr lang="en-US"/>
          </a:p>
        </p:txBody>
      </p:sp>
      <p:sp>
        <p:nvSpPr>
          <p:cNvPr id="74755"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r>
              <a:rPr lang="en-US" smtClean="0"/>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a:xfrm>
            <a:off x="8737600" y="6245225"/>
            <a:ext cx="2844800" cy="476250"/>
          </a:xfrm>
        </p:spPr>
        <p:txBody>
          <a:bodyPr/>
          <a:lstStyle>
            <a:lvl1pPr>
              <a:defRPr smtClean="0"/>
            </a:lvl1pPr>
          </a:lstStyle>
          <a:p>
            <a:pPr>
              <a:defRPr/>
            </a:pPr>
            <a:fld id="{C8B07C73-BD55-4794-AC9F-2E8189A32BE1}" type="slidenum">
              <a:rPr lang="en-US"/>
              <a:pPr>
                <a:defRPr/>
              </a:pPr>
              <a:t>‹#›</a:t>
            </a:fld>
            <a:endParaRPr lang="en-US" dirty="0"/>
          </a:p>
        </p:txBody>
      </p:sp>
    </p:spTree>
    <p:extLst>
      <p:ext uri="{BB962C8B-B14F-4D97-AF65-F5344CB8AC3E}">
        <p14:creationId xmlns:p14="http://schemas.microsoft.com/office/powerpoint/2010/main" val="25289037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73732"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73734" name="Rectangle 6"/>
          <p:cNvSpPr>
            <a:spLocks noGrp="1" noChangeArrowheads="1"/>
          </p:cNvSpPr>
          <p:nvPr>
            <p:ph type="sldNum" sz="quarter" idx="4"/>
          </p:nvPr>
        </p:nvSpPr>
        <p:spPr bwMode="auto">
          <a:xfrm>
            <a:off x="8737600" y="6229350"/>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vl1pPr>
          </a:lstStyle>
          <a:p>
            <a:pPr>
              <a:defRPr/>
            </a:pPr>
            <a:fld id="{CC8D8CBA-988B-44C7-9959-56385BC04621}"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76" r:id="rId1"/>
    <p:sldLayoutId id="2147483680" r:id="rId2"/>
    <p:sldLayoutId id="2147483681" r:id="rId3"/>
    <p:sldLayoutId id="2147483682" r:id="rId4"/>
  </p:sldLayoutIdLst>
  <p:hf hdr="0" dt="0"/>
  <p:txStyles>
    <p:title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wmf"/><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wmf"/><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wmf"/><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Slide Number Placeholder 5"/>
          <p:cNvSpPr>
            <a:spLocks noGrp="1"/>
          </p:cNvSpPr>
          <p:nvPr>
            <p:ph type="sldNum" sz="quarter" idx="12"/>
          </p:nvPr>
        </p:nvSpPr>
        <p:spPr>
          <a:noFill/>
        </p:spPr>
        <p:txBody>
          <a:bodyPr/>
          <a:lstStyle/>
          <a:p>
            <a:fld id="{54E5B6B1-7EE7-4DA8-A041-A7583CA77706}" type="slidenum">
              <a:rPr lang="en-US"/>
              <a:pPr/>
              <a:t>1</a:t>
            </a:fld>
            <a:endParaRPr lang="en-US"/>
          </a:p>
        </p:txBody>
      </p:sp>
      <p:sp>
        <p:nvSpPr>
          <p:cNvPr id="6" name="Title 5"/>
          <p:cNvSpPr>
            <a:spLocks noGrp="1" noChangeArrowheads="1"/>
          </p:cNvSpPr>
          <p:nvPr>
            <p:ph type="ctrTitle"/>
          </p:nvPr>
        </p:nvSpPr>
        <p:spPr bwMode="auto">
          <a:xfrm>
            <a:off x="2057400" y="2590801"/>
            <a:ext cx="5791200" cy="1200329"/>
          </a:xfrm>
          <a:prstGeom prst="rect">
            <a:avLst/>
          </a:prstGeom>
          <a:noFill/>
          <a:ln w="9525">
            <a:noFill/>
            <a:miter lim="800000"/>
            <a:headEnd/>
            <a:tailEnd/>
          </a:ln>
        </p:spPr>
        <p:txBody>
          <a:bodyPr wrap="square">
            <a:spAutoFit/>
          </a:bodyPr>
          <a:lstStyle/>
          <a:p>
            <a:pPr algn="ctr"/>
            <a:r>
              <a:rPr lang="en-US" altLang="zh-CN" sz="3600" b="1" dirty="0">
                <a:solidFill>
                  <a:srgbClr val="FF0000"/>
                </a:solidFill>
                <a:latin typeface="Tw Cen MT" panose="020B0602020104020603" pitchFamily="34" charset="0"/>
                <a:ea typeface="SimSun" pitchFamily="2" charset="-122"/>
                <a:cs typeface="Times New Roman" pitchFamily="18" charset="0"/>
              </a:rPr>
              <a:t>Cryptographic Hash and MAC</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401" y="533400"/>
            <a:ext cx="2295525" cy="558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27719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2</a:t>
            </a:fld>
            <a:endParaRPr lang="en-US" dirty="0"/>
          </a:p>
        </p:txBody>
      </p:sp>
      <p:sp>
        <p:nvSpPr>
          <p:cNvPr id="3" name="Rectangle 2"/>
          <p:cNvSpPr/>
          <p:nvPr/>
        </p:nvSpPr>
        <p:spPr>
          <a:xfrm>
            <a:off x="2438400" y="1676400"/>
            <a:ext cx="7696200" cy="4093428"/>
          </a:xfrm>
          <a:prstGeom prst="rect">
            <a:avLst/>
          </a:prstGeom>
        </p:spPr>
        <p:txBody>
          <a:bodyPr wrap="square">
            <a:spAutoFit/>
          </a:bodyPr>
          <a:lstStyle/>
          <a:p>
            <a:pPr marL="457200" indent="-457200">
              <a:spcAft>
                <a:spcPts val="1200"/>
              </a:spcAft>
              <a:buFont typeface="+mj-lt"/>
              <a:buAutoNum type="arabicPeriod"/>
            </a:pPr>
            <a:r>
              <a:rPr lang="en-US" sz="2800" dirty="0">
                <a:latin typeface="Tw Cen MT" panose="020B0602020104020603" pitchFamily="34" charset="0"/>
                <a:cs typeface="Times New Roman" pitchFamily="18" charset="0"/>
              </a:rPr>
              <a:t>To introduce general ideas behind cryptographic  hash functions</a:t>
            </a:r>
          </a:p>
          <a:p>
            <a:pPr marL="457200" indent="-457200">
              <a:spcAft>
                <a:spcPts val="1200"/>
              </a:spcAft>
              <a:buFont typeface="+mj-lt"/>
              <a:buAutoNum type="arabicPeriod"/>
            </a:pPr>
            <a:r>
              <a:rPr lang="en-US" sz="2800" dirty="0">
                <a:latin typeface="Tw Cen MT" panose="020B0602020104020603" pitchFamily="34" charset="0"/>
                <a:cs typeface="Times New Roman" pitchFamily="18" charset="0"/>
              </a:rPr>
              <a:t> To discuss the </a:t>
            </a:r>
            <a:r>
              <a:rPr lang="en-US" sz="2800" dirty="0" err="1">
                <a:latin typeface="Tw Cen MT" panose="020B0602020104020603" pitchFamily="34" charset="0"/>
                <a:cs typeface="Times New Roman" pitchFamily="18" charset="0"/>
              </a:rPr>
              <a:t>Merkle-Damgard</a:t>
            </a:r>
            <a:r>
              <a:rPr lang="en-US" sz="2800" dirty="0">
                <a:latin typeface="Tw Cen MT" panose="020B0602020104020603" pitchFamily="34" charset="0"/>
                <a:cs typeface="Times New Roman" pitchFamily="18" charset="0"/>
              </a:rPr>
              <a:t> scheme as the basis  for iterated hash functions</a:t>
            </a:r>
          </a:p>
          <a:p>
            <a:pPr marL="457200" indent="-457200">
              <a:spcAft>
                <a:spcPts val="1200"/>
              </a:spcAft>
              <a:buFont typeface="+mj-lt"/>
              <a:buAutoNum type="arabicPeriod"/>
            </a:pPr>
            <a:r>
              <a:rPr lang="en-US" sz="2800" dirty="0">
                <a:latin typeface="Tw Cen MT" panose="020B0602020104020603" pitchFamily="34" charset="0"/>
                <a:cs typeface="Times New Roman" pitchFamily="18" charset="0"/>
              </a:rPr>
              <a:t> To distinguish between two categories of hash</a:t>
            </a:r>
            <a:br>
              <a:rPr lang="en-US" sz="2800" dirty="0">
                <a:latin typeface="Tw Cen MT" panose="020B0602020104020603" pitchFamily="34" charset="0"/>
                <a:cs typeface="Times New Roman" pitchFamily="18" charset="0"/>
              </a:rPr>
            </a:br>
            <a:r>
              <a:rPr lang="en-US" sz="2800" dirty="0">
                <a:latin typeface="Tw Cen MT" panose="020B0602020104020603" pitchFamily="34" charset="0"/>
                <a:cs typeface="Times New Roman" pitchFamily="18" charset="0"/>
              </a:rPr>
              <a:t> functions.</a:t>
            </a:r>
          </a:p>
          <a:p>
            <a:pPr marL="457200" indent="-457200">
              <a:spcAft>
                <a:spcPts val="1200"/>
              </a:spcAft>
              <a:buFont typeface="+mj-lt"/>
              <a:buAutoNum type="arabicPeriod"/>
            </a:pPr>
            <a:r>
              <a:rPr lang="en-US" sz="2800" dirty="0">
                <a:latin typeface="Tw Cen MT" panose="020B0602020104020603" pitchFamily="34" charset="0"/>
                <a:cs typeface="Times New Roman" pitchFamily="18" charset="0"/>
              </a:rPr>
              <a:t> To discuss the structure of SHA-512.</a:t>
            </a:r>
          </a:p>
          <a:p>
            <a:pPr>
              <a:spcAft>
                <a:spcPts val="1200"/>
              </a:spcAft>
            </a:pPr>
            <a:endParaRPr lang="en-US" sz="2400" dirty="0">
              <a:latin typeface="Tw Cen MT" panose="020B0602020104020603" pitchFamily="34" charset="0"/>
              <a:cs typeface="Times New Roman" pitchFamily="18" charset="0"/>
            </a:endParaRPr>
          </a:p>
        </p:txBody>
      </p:sp>
      <p:sp>
        <p:nvSpPr>
          <p:cNvPr id="4" name="Rectangle 3"/>
          <p:cNvSpPr/>
          <p:nvPr/>
        </p:nvSpPr>
        <p:spPr>
          <a:xfrm>
            <a:off x="4885412" y="838201"/>
            <a:ext cx="1444626" cy="584775"/>
          </a:xfrm>
          <a:prstGeom prst="rect">
            <a:avLst/>
          </a:prstGeom>
        </p:spPr>
        <p:txBody>
          <a:bodyPr wrap="none">
            <a:spAutoFit/>
          </a:bodyPr>
          <a:lstStyle/>
          <a:p>
            <a:r>
              <a:rPr lang="en-US" sz="3200" b="1" dirty="0">
                <a:solidFill>
                  <a:srgbClr val="FF0000"/>
                </a:solidFill>
                <a:latin typeface="Tw Cen MT" panose="020B0602020104020603" pitchFamily="34" charset="0"/>
              </a:rPr>
              <a:t>Outline</a:t>
            </a:r>
            <a:endParaRPr lang="en-US" sz="3200" dirty="0">
              <a:solidFill>
                <a:srgbClr val="FF0000"/>
              </a:solidFill>
              <a:latin typeface="Tw Cen MT" panose="020B0602020104020603" pitchFamily="34" charset="0"/>
            </a:endParaRPr>
          </a:p>
        </p:txBody>
      </p:sp>
    </p:spTree>
    <p:extLst>
      <p:ext uri="{BB962C8B-B14F-4D97-AF65-F5344CB8AC3E}">
        <p14:creationId xmlns:p14="http://schemas.microsoft.com/office/powerpoint/2010/main" val="12794719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3</a:t>
            </a:fld>
            <a:endParaRPr lang="en-US" dirty="0"/>
          </a:p>
        </p:txBody>
      </p:sp>
      <p:sp>
        <p:nvSpPr>
          <p:cNvPr id="4" name="Rectangle 3"/>
          <p:cNvSpPr/>
          <p:nvPr/>
        </p:nvSpPr>
        <p:spPr>
          <a:xfrm>
            <a:off x="4885412" y="838201"/>
            <a:ext cx="1444626" cy="584775"/>
          </a:xfrm>
          <a:prstGeom prst="rect">
            <a:avLst/>
          </a:prstGeom>
        </p:spPr>
        <p:txBody>
          <a:bodyPr wrap="none">
            <a:spAutoFit/>
          </a:bodyPr>
          <a:lstStyle/>
          <a:p>
            <a:r>
              <a:rPr lang="en-US" sz="3200" b="1" dirty="0">
                <a:solidFill>
                  <a:srgbClr val="FF0000"/>
                </a:solidFill>
                <a:latin typeface="Tw Cen MT" panose="020B0602020104020603" pitchFamily="34" charset="0"/>
              </a:rPr>
              <a:t>Outline</a:t>
            </a:r>
            <a:endParaRPr lang="en-US" sz="3200" dirty="0">
              <a:solidFill>
                <a:srgbClr val="FF0000"/>
              </a:solidFill>
              <a:latin typeface="Tw Cen MT" panose="020B0602020104020603" pitchFamily="34" charset="0"/>
            </a:endParaRPr>
          </a:p>
        </p:txBody>
      </p:sp>
      <p:sp>
        <p:nvSpPr>
          <p:cNvPr id="5" name="Rectangle 3"/>
          <p:cNvSpPr>
            <a:spLocks noChangeArrowheads="1"/>
          </p:cNvSpPr>
          <p:nvPr/>
        </p:nvSpPr>
        <p:spPr bwMode="auto">
          <a:xfrm>
            <a:off x="1905000" y="1403350"/>
            <a:ext cx="8534400" cy="469265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Aft>
                <a:spcPct val="55000"/>
              </a:spcAft>
            </a:pPr>
            <a:r>
              <a:rPr lang="en-US" sz="2800" dirty="0">
                <a:latin typeface="Tw Cen MT" pitchFamily="34" charset="0"/>
              </a:rPr>
              <a:t>❏  To define message integrity</a:t>
            </a:r>
          </a:p>
          <a:p>
            <a:pPr algn="just">
              <a:spcAft>
                <a:spcPct val="55000"/>
              </a:spcAft>
            </a:pPr>
            <a:r>
              <a:rPr lang="en-US" sz="2800" dirty="0">
                <a:latin typeface="Tw Cen MT" pitchFamily="34" charset="0"/>
              </a:rPr>
              <a:t>❏  To define message authentication</a:t>
            </a:r>
          </a:p>
          <a:p>
            <a:pPr algn="just">
              <a:spcAft>
                <a:spcPct val="55000"/>
              </a:spcAft>
            </a:pPr>
            <a:r>
              <a:rPr lang="en-US" sz="2800" dirty="0">
                <a:latin typeface="Tw Cen MT" pitchFamily="34" charset="0"/>
              </a:rPr>
              <a:t>❏  To define criteria for a cryptographic hash function</a:t>
            </a:r>
          </a:p>
          <a:p>
            <a:pPr algn="just">
              <a:spcAft>
                <a:spcPct val="55000"/>
              </a:spcAft>
            </a:pPr>
            <a:r>
              <a:rPr lang="en-US" sz="2800" dirty="0">
                <a:latin typeface="Tw Cen MT" pitchFamily="34" charset="0"/>
              </a:rPr>
              <a:t>❏  To define the Random Oracle Model and its role in</a:t>
            </a:r>
            <a:br>
              <a:rPr lang="en-US" sz="2800" dirty="0">
                <a:latin typeface="Tw Cen MT" pitchFamily="34" charset="0"/>
              </a:rPr>
            </a:br>
            <a:r>
              <a:rPr lang="en-US" sz="2800" dirty="0">
                <a:latin typeface="Tw Cen MT" pitchFamily="34" charset="0"/>
              </a:rPr>
              <a:t>      evaluating the security of cryptographic hash</a:t>
            </a:r>
            <a:br>
              <a:rPr lang="en-US" sz="2800" dirty="0">
                <a:latin typeface="Tw Cen MT" pitchFamily="34" charset="0"/>
              </a:rPr>
            </a:br>
            <a:r>
              <a:rPr lang="en-US" sz="2800" dirty="0">
                <a:latin typeface="Tw Cen MT" pitchFamily="34" charset="0"/>
              </a:rPr>
              <a:t>      functions</a:t>
            </a:r>
          </a:p>
          <a:p>
            <a:pPr algn="just">
              <a:spcAft>
                <a:spcPct val="55000"/>
              </a:spcAft>
            </a:pPr>
            <a:r>
              <a:rPr lang="en-US" sz="2800" dirty="0">
                <a:latin typeface="Tw Cen MT" pitchFamily="34" charset="0"/>
              </a:rPr>
              <a:t>❏  To distinguish between an MDC and a MAC</a:t>
            </a:r>
          </a:p>
          <a:p>
            <a:pPr algn="just">
              <a:spcAft>
                <a:spcPct val="55000"/>
              </a:spcAft>
            </a:pPr>
            <a:r>
              <a:rPr lang="en-US" sz="2800" dirty="0">
                <a:latin typeface="Tw Cen MT" pitchFamily="34" charset="0"/>
              </a:rPr>
              <a:t>❏  To discuss some common MACs</a:t>
            </a:r>
          </a:p>
        </p:txBody>
      </p:sp>
    </p:spTree>
    <p:extLst>
      <p:ext uri="{BB962C8B-B14F-4D97-AF65-F5344CB8AC3E}">
        <p14:creationId xmlns:p14="http://schemas.microsoft.com/office/powerpoint/2010/main" val="27494639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b="1" dirty="0" smtClean="0">
                <a:solidFill>
                  <a:srgbClr val="FF0000"/>
                </a:solidFill>
                <a:latin typeface="Tw Cen MT" pitchFamily="34" charset="0"/>
              </a:rPr>
              <a:t>Message Authentication Requirements</a:t>
            </a:r>
            <a:endParaRPr lang="en-US" dirty="0" smtClean="0">
              <a:solidFill>
                <a:srgbClr val="FF0000"/>
              </a:solidFill>
              <a:latin typeface="Tw Cen MT" pitchFamily="34" charset="0"/>
            </a:endParaRPr>
          </a:p>
        </p:txBody>
      </p:sp>
      <p:sp>
        <p:nvSpPr>
          <p:cNvPr id="6147" name="Rectangle 2"/>
          <p:cNvSpPr>
            <a:spLocks noChangeArrowheads="1"/>
          </p:cNvSpPr>
          <p:nvPr/>
        </p:nvSpPr>
        <p:spPr bwMode="auto">
          <a:xfrm>
            <a:off x="2743201" y="1828800"/>
            <a:ext cx="357187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buFontTx/>
              <a:buAutoNum type="arabicPeriod"/>
            </a:pPr>
            <a:r>
              <a:rPr lang="en-US" sz="2400" dirty="0">
                <a:latin typeface="Tw Cen MT" pitchFamily="34" charset="0"/>
                <a:cs typeface="CMSS12"/>
              </a:rPr>
              <a:t>Disclosure</a:t>
            </a:r>
          </a:p>
          <a:p>
            <a:pPr marL="342900" indent="-342900"/>
            <a:r>
              <a:rPr lang="en-US" sz="2400" dirty="0">
                <a:latin typeface="Tw Cen MT" pitchFamily="34" charset="0"/>
                <a:cs typeface="CMSS12"/>
              </a:rPr>
              <a:t>2.  Traffic analysis</a:t>
            </a:r>
          </a:p>
          <a:p>
            <a:pPr marL="342900" indent="-342900"/>
            <a:r>
              <a:rPr lang="en-US" sz="2400" dirty="0">
                <a:latin typeface="Tw Cen MT" pitchFamily="34" charset="0"/>
                <a:cs typeface="CMSS12"/>
              </a:rPr>
              <a:t>3. Masquerade</a:t>
            </a:r>
          </a:p>
          <a:p>
            <a:pPr marL="342900" indent="-342900"/>
            <a:r>
              <a:rPr lang="en-US" sz="2400" dirty="0">
                <a:latin typeface="Tw Cen MT" pitchFamily="34" charset="0"/>
                <a:cs typeface="CMSS12"/>
              </a:rPr>
              <a:t>4. Content modification</a:t>
            </a:r>
          </a:p>
          <a:p>
            <a:pPr marL="342900" indent="-342900"/>
            <a:r>
              <a:rPr lang="en-US" sz="2400" dirty="0">
                <a:latin typeface="Tw Cen MT" pitchFamily="34" charset="0"/>
                <a:cs typeface="CMSS12"/>
              </a:rPr>
              <a:t>5. Sequence modification</a:t>
            </a:r>
          </a:p>
          <a:p>
            <a:pPr marL="342900" indent="-342900"/>
            <a:r>
              <a:rPr lang="en-US" sz="2400" dirty="0">
                <a:latin typeface="Tw Cen MT" pitchFamily="34" charset="0"/>
                <a:cs typeface="CMSS12"/>
              </a:rPr>
              <a:t>6. Timing modification</a:t>
            </a:r>
          </a:p>
          <a:p>
            <a:pPr marL="342900" indent="-342900"/>
            <a:r>
              <a:rPr lang="en-US" sz="2400" dirty="0">
                <a:latin typeface="Tw Cen MT" pitchFamily="34" charset="0"/>
                <a:cs typeface="CMSS12"/>
              </a:rPr>
              <a:t>7. Source repudiation</a:t>
            </a:r>
          </a:p>
          <a:p>
            <a:pPr marL="342900" indent="-342900"/>
            <a:r>
              <a:rPr lang="en-US" sz="2400" dirty="0">
                <a:latin typeface="Tw Cen MT" pitchFamily="34" charset="0"/>
                <a:cs typeface="CMSS12"/>
              </a:rPr>
              <a:t>8. Destination repudiation</a:t>
            </a:r>
            <a:endParaRPr lang="en-US" dirty="0">
              <a:latin typeface="Tw Cen MT" pitchFamily="34" charset="0"/>
              <a:cs typeface="CMSS12"/>
            </a:endParaRPr>
          </a:p>
        </p:txBody>
      </p:sp>
    </p:spTree>
    <p:extLst>
      <p:ext uri="{BB962C8B-B14F-4D97-AF65-F5344CB8AC3E}">
        <p14:creationId xmlns:p14="http://schemas.microsoft.com/office/powerpoint/2010/main" val="18215732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b="1" dirty="0" smtClean="0">
                <a:solidFill>
                  <a:srgbClr val="FF0000"/>
                </a:solidFill>
                <a:latin typeface="Tw Cen MT" pitchFamily="34" charset="0"/>
              </a:rPr>
              <a:t>Message Authentication Functions</a:t>
            </a:r>
            <a:endParaRPr lang="en-US" dirty="0" smtClean="0">
              <a:solidFill>
                <a:srgbClr val="FF0000"/>
              </a:solidFill>
              <a:latin typeface="Tw Cen MT" pitchFamily="34" charset="0"/>
            </a:endParaRPr>
          </a:p>
        </p:txBody>
      </p:sp>
      <p:sp>
        <p:nvSpPr>
          <p:cNvPr id="4" name="Rectangle 3"/>
          <p:cNvSpPr txBox="1">
            <a:spLocks noChangeArrowheads="1"/>
          </p:cNvSpPr>
          <p:nvPr/>
        </p:nvSpPr>
        <p:spPr>
          <a:xfrm>
            <a:off x="2024063" y="1500189"/>
            <a:ext cx="8229600" cy="4454525"/>
          </a:xfrm>
          <a:prstGeom prst="rect">
            <a:avLst/>
          </a:prstGeom>
        </p:spPr>
        <p:txBody>
          <a:bodyPr/>
          <a:lstStyle/>
          <a:p>
            <a:pPr marL="342900" indent="-342900" algn="just">
              <a:spcBef>
                <a:spcPct val="20000"/>
              </a:spcBef>
              <a:buClr>
                <a:schemeClr val="hlink"/>
              </a:buClr>
              <a:buSzPct val="80000"/>
              <a:buBlip>
                <a:blip r:embed="rId2"/>
              </a:buBlip>
              <a:defRPr/>
            </a:pPr>
            <a:r>
              <a:rPr lang="en-US" sz="2400" b="1" dirty="0">
                <a:solidFill>
                  <a:srgbClr val="080808"/>
                </a:solidFill>
                <a:latin typeface="Tw Cen MT" pitchFamily="34" charset="0"/>
              </a:rPr>
              <a:t>Hash function: </a:t>
            </a:r>
            <a:r>
              <a:rPr lang="en-US" sz="2400" dirty="0">
                <a:solidFill>
                  <a:srgbClr val="080808"/>
                </a:solidFill>
                <a:latin typeface="Tw Cen MT" pitchFamily="34" charset="0"/>
              </a:rPr>
              <a:t>A function that maps a message of any length into a fixed length hash value, which serves as the authenticator</a:t>
            </a:r>
          </a:p>
          <a:p>
            <a:pPr marL="342900" indent="-342900" algn="just">
              <a:spcBef>
                <a:spcPct val="20000"/>
              </a:spcBef>
              <a:buClr>
                <a:schemeClr val="hlink"/>
              </a:buClr>
              <a:buSzPct val="80000"/>
              <a:buBlip>
                <a:blip r:embed="rId2"/>
              </a:buBlip>
              <a:defRPr/>
            </a:pPr>
            <a:endParaRPr lang="en-US" sz="2400" dirty="0">
              <a:solidFill>
                <a:srgbClr val="080808"/>
              </a:solidFill>
              <a:latin typeface="Tw Cen MT" pitchFamily="34" charset="0"/>
            </a:endParaRPr>
          </a:p>
          <a:p>
            <a:pPr marL="342900" indent="-342900" algn="just">
              <a:spcBef>
                <a:spcPct val="20000"/>
              </a:spcBef>
              <a:buClr>
                <a:schemeClr val="hlink"/>
              </a:buClr>
              <a:buSzPct val="80000"/>
              <a:buBlip>
                <a:blip r:embed="rId2"/>
              </a:buBlip>
              <a:defRPr/>
            </a:pPr>
            <a:r>
              <a:rPr lang="en-AU" sz="2400" kern="0" dirty="0">
                <a:solidFill>
                  <a:srgbClr val="080808"/>
                </a:solidFill>
                <a:latin typeface="Tw Cen MT" pitchFamily="34" charset="0"/>
                <a:cs typeface="CMSS12"/>
              </a:rPr>
              <a:t> </a:t>
            </a:r>
            <a:r>
              <a:rPr lang="en-US" sz="2400" b="1" dirty="0">
                <a:solidFill>
                  <a:srgbClr val="080808"/>
                </a:solidFill>
                <a:latin typeface="Tw Cen MT" pitchFamily="34" charset="0"/>
              </a:rPr>
              <a:t>Message encryption: </a:t>
            </a:r>
            <a:r>
              <a:rPr lang="en-US" sz="2400" dirty="0">
                <a:solidFill>
                  <a:srgbClr val="080808"/>
                </a:solidFill>
                <a:latin typeface="Tw Cen MT" pitchFamily="34" charset="0"/>
              </a:rPr>
              <a:t>The </a:t>
            </a:r>
            <a:r>
              <a:rPr lang="en-US" sz="2400" dirty="0" err="1">
                <a:solidFill>
                  <a:srgbClr val="080808"/>
                </a:solidFill>
                <a:latin typeface="Tw Cen MT" pitchFamily="34" charset="0"/>
              </a:rPr>
              <a:t>ciphertext</a:t>
            </a:r>
            <a:r>
              <a:rPr lang="en-US" sz="2400" dirty="0">
                <a:solidFill>
                  <a:srgbClr val="080808"/>
                </a:solidFill>
                <a:latin typeface="Tw Cen MT" pitchFamily="34" charset="0"/>
              </a:rPr>
              <a:t> of the entire message serves as its authenticator</a:t>
            </a:r>
          </a:p>
          <a:p>
            <a:pPr marL="342900" indent="-342900" algn="just">
              <a:spcBef>
                <a:spcPct val="20000"/>
              </a:spcBef>
              <a:buClr>
                <a:schemeClr val="hlink"/>
              </a:buClr>
              <a:buSzPct val="80000"/>
              <a:buBlip>
                <a:blip r:embed="rId2"/>
              </a:buBlip>
              <a:defRPr/>
            </a:pPr>
            <a:endParaRPr lang="en-AU" sz="2400" kern="0" dirty="0">
              <a:solidFill>
                <a:srgbClr val="080808"/>
              </a:solidFill>
              <a:latin typeface="Tw Cen MT" pitchFamily="34" charset="0"/>
              <a:cs typeface="CMSS12"/>
            </a:endParaRPr>
          </a:p>
          <a:p>
            <a:pPr marL="342900" indent="-342900" algn="just">
              <a:spcBef>
                <a:spcPct val="20000"/>
              </a:spcBef>
              <a:buClr>
                <a:schemeClr val="hlink"/>
              </a:buClr>
              <a:buSzPct val="80000"/>
              <a:buBlip>
                <a:blip r:embed="rId2"/>
              </a:buBlip>
              <a:defRPr/>
            </a:pPr>
            <a:r>
              <a:rPr lang="en-US" sz="2400" b="1" dirty="0">
                <a:solidFill>
                  <a:srgbClr val="080808"/>
                </a:solidFill>
                <a:latin typeface="Tw Cen MT" pitchFamily="34" charset="0"/>
              </a:rPr>
              <a:t>Message authentication code (MAC</a:t>
            </a:r>
            <a:r>
              <a:rPr lang="en-US" sz="2400" dirty="0">
                <a:solidFill>
                  <a:srgbClr val="080808"/>
                </a:solidFill>
                <a:latin typeface="Tw Cen MT" pitchFamily="34" charset="0"/>
              </a:rPr>
              <a:t>): A function of the message and a secret key that produces a fixed-length value that serves as the authenticator</a:t>
            </a:r>
            <a:endParaRPr lang="en-AU" sz="2400" kern="0" dirty="0">
              <a:solidFill>
                <a:srgbClr val="080808"/>
              </a:solidFill>
              <a:latin typeface="Tw Cen MT" pitchFamily="34" charset="0"/>
              <a:cs typeface="CMSS12"/>
            </a:endParaRPr>
          </a:p>
        </p:txBody>
      </p:sp>
    </p:spTree>
    <p:extLst>
      <p:ext uri="{BB962C8B-B14F-4D97-AF65-F5344CB8AC3E}">
        <p14:creationId xmlns:p14="http://schemas.microsoft.com/office/powerpoint/2010/main" val="38071579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752600" y="1"/>
            <a:ext cx="8686800" cy="1139825"/>
          </a:xfrm>
        </p:spPr>
        <p:txBody>
          <a:bodyPr/>
          <a:lstStyle/>
          <a:p>
            <a:pPr eaLnBrk="1" hangingPunct="1"/>
            <a:r>
              <a:rPr lang="en-US" b="1" dirty="0" smtClean="0">
                <a:solidFill>
                  <a:srgbClr val="FF0000"/>
                </a:solidFill>
                <a:latin typeface="Tw Cen MT" pitchFamily="34" charset="0"/>
              </a:rPr>
              <a:t>Symmetric Message Encryption</a:t>
            </a:r>
            <a:endParaRPr lang="en-AU" b="1" dirty="0" smtClean="0">
              <a:solidFill>
                <a:srgbClr val="FF0000"/>
              </a:solidFill>
              <a:latin typeface="Tw Cen MT" pitchFamily="34" charset="0"/>
            </a:endParaRPr>
          </a:p>
        </p:txBody>
      </p:sp>
      <p:sp>
        <p:nvSpPr>
          <p:cNvPr id="50179" name="Rectangle 3"/>
          <p:cNvSpPr>
            <a:spLocks noGrp="1" noChangeArrowheads="1"/>
          </p:cNvSpPr>
          <p:nvPr>
            <p:ph type="body" idx="1"/>
          </p:nvPr>
        </p:nvSpPr>
        <p:spPr>
          <a:xfrm>
            <a:off x="2238375" y="990601"/>
            <a:ext cx="7743826" cy="4454525"/>
          </a:xfrm>
        </p:spPr>
        <p:txBody>
          <a:bodyPr/>
          <a:lstStyle/>
          <a:p>
            <a:pPr eaLnBrk="1" hangingPunct="1">
              <a:buFontTx/>
              <a:buBlip>
                <a:blip r:embed="rId3"/>
              </a:buBlip>
            </a:pPr>
            <a:r>
              <a:rPr lang="en-US" dirty="0" smtClean="0">
                <a:solidFill>
                  <a:srgbClr val="080808"/>
                </a:solidFill>
                <a:latin typeface="Tw Cen MT" pitchFamily="34" charset="0"/>
              </a:rPr>
              <a:t>encryption can also provides authentication</a:t>
            </a:r>
          </a:p>
          <a:p>
            <a:pPr eaLnBrk="1" hangingPunct="1">
              <a:buFontTx/>
              <a:buBlip>
                <a:blip r:embed="rId3"/>
              </a:buBlip>
            </a:pPr>
            <a:r>
              <a:rPr lang="en-US" dirty="0" smtClean="0">
                <a:solidFill>
                  <a:srgbClr val="080808"/>
                </a:solidFill>
                <a:latin typeface="Tw Cen MT" pitchFamily="34" charset="0"/>
              </a:rPr>
              <a:t>if symmetric encryption is used then:</a:t>
            </a:r>
          </a:p>
          <a:p>
            <a:pPr lvl="1" eaLnBrk="1" hangingPunct="1">
              <a:buFontTx/>
              <a:buBlip>
                <a:blip r:embed="rId4"/>
              </a:buBlip>
            </a:pPr>
            <a:r>
              <a:rPr lang="en-US" dirty="0" smtClean="0">
                <a:solidFill>
                  <a:srgbClr val="080808"/>
                </a:solidFill>
                <a:latin typeface="Tw Cen MT" pitchFamily="34" charset="0"/>
              </a:rPr>
              <a:t>receiver know sender must have created it</a:t>
            </a:r>
          </a:p>
          <a:p>
            <a:pPr lvl="1" eaLnBrk="1" hangingPunct="1">
              <a:buFontTx/>
              <a:buBlip>
                <a:blip r:embed="rId4"/>
              </a:buBlip>
            </a:pPr>
            <a:r>
              <a:rPr lang="en-US" dirty="0" smtClean="0">
                <a:solidFill>
                  <a:srgbClr val="080808"/>
                </a:solidFill>
                <a:latin typeface="Tw Cen MT" pitchFamily="34" charset="0"/>
              </a:rPr>
              <a:t>since only sender and receiver now key used</a:t>
            </a:r>
          </a:p>
          <a:p>
            <a:pPr lvl="1" eaLnBrk="1" hangingPunct="1">
              <a:buFontTx/>
              <a:buBlip>
                <a:blip r:embed="rId4"/>
              </a:buBlip>
            </a:pPr>
            <a:r>
              <a:rPr lang="en-US" dirty="0" smtClean="0">
                <a:solidFill>
                  <a:srgbClr val="080808"/>
                </a:solidFill>
                <a:latin typeface="Tw Cen MT" pitchFamily="34" charset="0"/>
              </a:rPr>
              <a:t>know content cannot have been altered</a:t>
            </a:r>
          </a:p>
          <a:p>
            <a:pPr lvl="1" eaLnBrk="1" hangingPunct="1">
              <a:buFontTx/>
              <a:buBlip>
                <a:blip r:embed="rId4"/>
              </a:buBlip>
            </a:pPr>
            <a:r>
              <a:rPr lang="en-US" dirty="0" smtClean="0">
                <a:solidFill>
                  <a:srgbClr val="080808"/>
                </a:solidFill>
                <a:latin typeface="Tw Cen MT" pitchFamily="34" charset="0"/>
              </a:rPr>
              <a:t>if message has </a:t>
            </a:r>
            <a:r>
              <a:rPr lang="en-AU" dirty="0" smtClean="0">
                <a:solidFill>
                  <a:srgbClr val="080808"/>
                </a:solidFill>
                <a:latin typeface="Tw Cen MT" pitchFamily="34" charset="0"/>
              </a:rPr>
              <a:t>suitable structure, redundancy or a checksum to detect any changes</a:t>
            </a:r>
          </a:p>
        </p:txBody>
      </p:sp>
      <p:pic>
        <p:nvPicPr>
          <p:cNvPr id="8196" name="Picture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4337505"/>
            <a:ext cx="6858000" cy="195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39945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179">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17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752600" y="1"/>
            <a:ext cx="8686800" cy="1139825"/>
          </a:xfrm>
        </p:spPr>
        <p:txBody>
          <a:bodyPr/>
          <a:lstStyle/>
          <a:p>
            <a:pPr eaLnBrk="1" hangingPunct="1"/>
            <a:r>
              <a:rPr lang="en-US" b="1" dirty="0" smtClean="0">
                <a:solidFill>
                  <a:srgbClr val="FF0000"/>
                </a:solidFill>
                <a:latin typeface="Tw Cen MT" pitchFamily="34" charset="0"/>
              </a:rPr>
              <a:t>Message Encryption</a:t>
            </a:r>
            <a:endParaRPr lang="en-AU" b="1" dirty="0" smtClean="0">
              <a:solidFill>
                <a:srgbClr val="FF0000"/>
              </a:solidFill>
              <a:latin typeface="Tw Cen MT" pitchFamily="34" charset="0"/>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1" y="990601"/>
            <a:ext cx="5438775" cy="532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98966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8</a:t>
            </a:fld>
            <a:endParaRPr lang="en-US" dirty="0"/>
          </a:p>
        </p:txBody>
      </p:sp>
      <p:sp>
        <p:nvSpPr>
          <p:cNvPr id="4" name="Rectangle 3"/>
          <p:cNvSpPr/>
          <p:nvPr/>
        </p:nvSpPr>
        <p:spPr>
          <a:xfrm>
            <a:off x="4267200" y="609601"/>
            <a:ext cx="3219536" cy="584775"/>
          </a:xfrm>
          <a:prstGeom prst="rect">
            <a:avLst/>
          </a:prstGeom>
        </p:spPr>
        <p:txBody>
          <a:bodyPr wrap="none">
            <a:spAutoFit/>
          </a:bodyPr>
          <a:lstStyle/>
          <a:p>
            <a:r>
              <a:rPr lang="en-US" sz="3200" b="1" dirty="0">
                <a:solidFill>
                  <a:srgbClr val="FF0000"/>
                </a:solidFill>
                <a:latin typeface="Tw Cen MT" panose="020B0602020104020603" pitchFamily="34" charset="0"/>
              </a:rPr>
              <a:t>Message Integrity</a:t>
            </a:r>
          </a:p>
        </p:txBody>
      </p:sp>
      <p:sp>
        <p:nvSpPr>
          <p:cNvPr id="6" name="Rectangle 5"/>
          <p:cNvSpPr>
            <a:spLocks noChangeArrowheads="1"/>
          </p:cNvSpPr>
          <p:nvPr/>
        </p:nvSpPr>
        <p:spPr bwMode="auto">
          <a:xfrm>
            <a:off x="1828800" y="1524001"/>
            <a:ext cx="8229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800" dirty="0">
                <a:latin typeface="Tw Cen MT" pitchFamily="34" charset="0"/>
              </a:rPr>
              <a:t>The cryptography systems that we have studied so far provide secrecy, or confidentiality, but not </a:t>
            </a:r>
            <a:r>
              <a:rPr lang="en-US" sz="2800" dirty="0">
                <a:solidFill>
                  <a:srgbClr val="FF0000"/>
                </a:solidFill>
                <a:latin typeface="Tw Cen MT" pitchFamily="34" charset="0"/>
              </a:rPr>
              <a:t>integrity. </a:t>
            </a:r>
            <a:r>
              <a:rPr lang="en-US" sz="2800" dirty="0">
                <a:latin typeface="Tw Cen MT" pitchFamily="34" charset="0"/>
              </a:rPr>
              <a:t>However, there are occasions where we may not even need secrecy but instead </a:t>
            </a:r>
            <a:r>
              <a:rPr lang="en-US" sz="2800" dirty="0">
                <a:solidFill>
                  <a:srgbClr val="FF0000"/>
                </a:solidFill>
                <a:latin typeface="Tw Cen MT" pitchFamily="34" charset="0"/>
              </a:rPr>
              <a:t>must have integrity. </a:t>
            </a:r>
          </a:p>
        </p:txBody>
      </p:sp>
      <p:sp>
        <p:nvSpPr>
          <p:cNvPr id="7" name="Rectangle 29"/>
          <p:cNvSpPr>
            <a:spLocks noChangeArrowheads="1"/>
          </p:cNvSpPr>
          <p:nvPr/>
        </p:nvSpPr>
        <p:spPr bwMode="auto">
          <a:xfrm>
            <a:off x="1828800" y="4362450"/>
            <a:ext cx="67056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sz="2400" dirty="0">
                <a:solidFill>
                  <a:schemeClr val="hlink"/>
                </a:solidFill>
                <a:latin typeface="Tw Cen MT" pitchFamily="34" charset="0"/>
              </a:rPr>
              <a:t>1</a:t>
            </a:r>
            <a:r>
              <a:rPr lang="en-US" sz="2400" dirty="0">
                <a:solidFill>
                  <a:srgbClr val="0033CC"/>
                </a:solidFill>
                <a:latin typeface="Tw Cen MT" pitchFamily="34" charset="0"/>
              </a:rPr>
              <a:t>	Document and Fingerprint</a:t>
            </a:r>
          </a:p>
          <a:p>
            <a:pPr>
              <a:buClr>
                <a:schemeClr val="tx1"/>
              </a:buClr>
              <a:buSzPct val="117000"/>
              <a:buFont typeface="Wingdings" pitchFamily="2" charset="2"/>
              <a:buNone/>
            </a:pPr>
            <a:r>
              <a:rPr lang="en-US" sz="2400" dirty="0">
                <a:solidFill>
                  <a:schemeClr val="hlink"/>
                </a:solidFill>
                <a:latin typeface="Tw Cen MT" pitchFamily="34" charset="0"/>
              </a:rPr>
              <a:t>2</a:t>
            </a:r>
            <a:r>
              <a:rPr lang="en-US" sz="2400" dirty="0">
                <a:solidFill>
                  <a:srgbClr val="0033CC"/>
                </a:solidFill>
                <a:latin typeface="Tw Cen MT" pitchFamily="34" charset="0"/>
              </a:rPr>
              <a:t>	Message and Message Digest</a:t>
            </a:r>
          </a:p>
          <a:p>
            <a:pPr>
              <a:buClr>
                <a:schemeClr val="tx1"/>
              </a:buClr>
              <a:buSzPct val="117000"/>
              <a:buFont typeface="Wingdings" pitchFamily="2" charset="2"/>
              <a:buNone/>
            </a:pPr>
            <a:r>
              <a:rPr lang="en-US" sz="2400" dirty="0">
                <a:solidFill>
                  <a:schemeClr val="hlink"/>
                </a:solidFill>
                <a:latin typeface="Tw Cen MT" pitchFamily="34" charset="0"/>
              </a:rPr>
              <a:t>3</a:t>
            </a:r>
            <a:r>
              <a:rPr lang="en-US" sz="2400" dirty="0">
                <a:solidFill>
                  <a:srgbClr val="0033CC"/>
                </a:solidFill>
                <a:latin typeface="Tw Cen MT" pitchFamily="34" charset="0"/>
              </a:rPr>
              <a:t>	Difference</a:t>
            </a:r>
          </a:p>
          <a:p>
            <a:pPr>
              <a:buClr>
                <a:schemeClr val="tx1"/>
              </a:buClr>
              <a:buSzPct val="117000"/>
              <a:buFont typeface="Wingdings" pitchFamily="2" charset="2"/>
              <a:buNone/>
            </a:pPr>
            <a:r>
              <a:rPr lang="en-US" sz="2400" dirty="0">
                <a:solidFill>
                  <a:schemeClr val="hlink"/>
                </a:solidFill>
                <a:latin typeface="Tw Cen MT" pitchFamily="34" charset="0"/>
              </a:rPr>
              <a:t>4</a:t>
            </a:r>
            <a:r>
              <a:rPr lang="en-US" sz="2400" dirty="0">
                <a:solidFill>
                  <a:srgbClr val="0033CC"/>
                </a:solidFill>
                <a:latin typeface="Tw Cen MT" pitchFamily="34" charset="0"/>
              </a:rPr>
              <a:t>	Checking Integrity</a:t>
            </a:r>
          </a:p>
          <a:p>
            <a:pPr>
              <a:buClr>
                <a:schemeClr val="tx1"/>
              </a:buClr>
              <a:buSzPct val="117000"/>
              <a:buFont typeface="Wingdings" pitchFamily="2" charset="2"/>
              <a:buNone/>
            </a:pPr>
            <a:r>
              <a:rPr lang="en-US" sz="2400" dirty="0">
                <a:solidFill>
                  <a:schemeClr val="hlink"/>
                </a:solidFill>
                <a:latin typeface="Tw Cen MT" pitchFamily="34" charset="0"/>
              </a:rPr>
              <a:t>5</a:t>
            </a:r>
            <a:r>
              <a:rPr lang="en-US" sz="2400" dirty="0">
                <a:solidFill>
                  <a:srgbClr val="0033CC"/>
                </a:solidFill>
                <a:latin typeface="Tw Cen MT" pitchFamily="34" charset="0"/>
              </a:rPr>
              <a:t>	Cryptographic Hash Function Criteria</a:t>
            </a:r>
          </a:p>
        </p:txBody>
      </p:sp>
      <p:sp>
        <p:nvSpPr>
          <p:cNvPr id="8" name="Text Box 30"/>
          <p:cNvSpPr txBox="1">
            <a:spLocks noChangeArrowheads="1"/>
          </p:cNvSpPr>
          <p:nvPr/>
        </p:nvSpPr>
        <p:spPr bwMode="auto">
          <a:xfrm>
            <a:off x="1981200" y="3624590"/>
            <a:ext cx="111017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800" i="1" u="sng" dirty="0">
                <a:solidFill>
                  <a:schemeClr val="hlink"/>
                </a:solidFill>
                <a:effectLst>
                  <a:outerShdw blurRad="38100" dist="38100" dir="2700000" algn="tl">
                    <a:srgbClr val="C0C0C0"/>
                  </a:outerShdw>
                </a:effectLst>
                <a:latin typeface="Tw Cen MT" pitchFamily="34" charset="0"/>
              </a:rPr>
              <a:t>Topics:</a:t>
            </a:r>
          </a:p>
        </p:txBody>
      </p:sp>
    </p:spTree>
    <p:extLst>
      <p:ext uri="{BB962C8B-B14F-4D97-AF65-F5344CB8AC3E}">
        <p14:creationId xmlns:p14="http://schemas.microsoft.com/office/powerpoint/2010/main" val="4658461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9</a:t>
            </a:fld>
            <a:endParaRPr lang="en-US" dirty="0"/>
          </a:p>
        </p:txBody>
      </p:sp>
      <p:sp>
        <p:nvSpPr>
          <p:cNvPr id="4" name="Rectangle 3"/>
          <p:cNvSpPr/>
          <p:nvPr/>
        </p:nvSpPr>
        <p:spPr>
          <a:xfrm>
            <a:off x="3962400" y="609601"/>
            <a:ext cx="4608954" cy="584775"/>
          </a:xfrm>
          <a:prstGeom prst="rect">
            <a:avLst/>
          </a:prstGeom>
        </p:spPr>
        <p:txBody>
          <a:bodyPr wrap="none">
            <a:spAutoFit/>
          </a:bodyPr>
          <a:lstStyle/>
          <a:p>
            <a:r>
              <a:rPr lang="en-US" sz="3200" b="1" dirty="0">
                <a:solidFill>
                  <a:srgbClr val="FF0000"/>
                </a:solidFill>
                <a:latin typeface="Tw Cen MT" panose="020B0602020104020603" pitchFamily="34" charset="0"/>
              </a:rPr>
              <a:t>Document and Fingerprint</a:t>
            </a:r>
          </a:p>
        </p:txBody>
      </p:sp>
      <p:sp>
        <p:nvSpPr>
          <p:cNvPr id="9" name="Rectangle 9"/>
          <p:cNvSpPr>
            <a:spLocks noChangeArrowheads="1"/>
          </p:cNvSpPr>
          <p:nvPr/>
        </p:nvSpPr>
        <p:spPr bwMode="auto">
          <a:xfrm>
            <a:off x="2133600" y="1524000"/>
            <a:ext cx="8001000" cy="224676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sz="2800" dirty="0">
                <a:latin typeface="Tw Cen MT" pitchFamily="34" charset="0"/>
              </a:rPr>
              <a:t>One way to preserve the integrity of a document is through the </a:t>
            </a:r>
            <a:r>
              <a:rPr lang="en-US" sz="2800" dirty="0">
                <a:solidFill>
                  <a:srgbClr val="FF0000"/>
                </a:solidFill>
                <a:latin typeface="Tw Cen MT" pitchFamily="34" charset="0"/>
              </a:rPr>
              <a:t>use of a fingerprint</a:t>
            </a:r>
            <a:r>
              <a:rPr lang="en-US" sz="2800" dirty="0">
                <a:latin typeface="Tw Cen MT" pitchFamily="34" charset="0"/>
              </a:rPr>
              <a:t>. If Alice needs to be sure that the contents of her document will not be changed, she can put her fingerprint at the bottom of the document. </a:t>
            </a:r>
          </a:p>
        </p:txBody>
      </p:sp>
    </p:spTree>
    <p:extLst>
      <p:ext uri="{BB962C8B-B14F-4D97-AF65-F5344CB8AC3E}">
        <p14:creationId xmlns:p14="http://schemas.microsoft.com/office/powerpoint/2010/main" val="33538593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10</a:t>
            </a:fld>
            <a:endParaRPr lang="en-US" dirty="0"/>
          </a:p>
        </p:txBody>
      </p:sp>
      <p:sp>
        <p:nvSpPr>
          <p:cNvPr id="4" name="Rectangle 3"/>
          <p:cNvSpPr/>
          <p:nvPr/>
        </p:nvSpPr>
        <p:spPr>
          <a:xfrm>
            <a:off x="3547732" y="625435"/>
            <a:ext cx="5248937" cy="584775"/>
          </a:xfrm>
          <a:prstGeom prst="rect">
            <a:avLst/>
          </a:prstGeom>
        </p:spPr>
        <p:txBody>
          <a:bodyPr wrap="none">
            <a:spAutoFit/>
          </a:bodyPr>
          <a:lstStyle/>
          <a:p>
            <a:r>
              <a:rPr lang="en-US" sz="3200" b="1" dirty="0">
                <a:solidFill>
                  <a:srgbClr val="FF0000"/>
                </a:solidFill>
                <a:latin typeface="Tw Cen MT" panose="020B0602020104020603" pitchFamily="34" charset="0"/>
              </a:rPr>
              <a:t>Message and Message Digest</a:t>
            </a:r>
          </a:p>
        </p:txBody>
      </p:sp>
      <p:sp>
        <p:nvSpPr>
          <p:cNvPr id="5" name="Rectangle 9"/>
          <p:cNvSpPr>
            <a:spLocks noChangeArrowheads="1"/>
          </p:cNvSpPr>
          <p:nvPr/>
        </p:nvSpPr>
        <p:spPr bwMode="auto">
          <a:xfrm>
            <a:off x="1827811" y="1239897"/>
            <a:ext cx="8686800" cy="267765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a:latin typeface="Tw Cen MT" pitchFamily="34" charset="0"/>
              </a:rPr>
              <a:t>The electronic equivalent of the document and fingerprint pair is the message and digest pair. </a:t>
            </a:r>
          </a:p>
          <a:p>
            <a:pPr algn="just"/>
            <a:endParaRPr lang="en-US" sz="2800" dirty="0">
              <a:latin typeface="Tw Cen MT" pitchFamily="34" charset="0"/>
            </a:endParaRPr>
          </a:p>
          <a:p>
            <a:pPr algn="just"/>
            <a:r>
              <a:rPr lang="en-US" sz="2800" dirty="0">
                <a:latin typeface="Tw Cen MT" pitchFamily="34" charset="0"/>
              </a:rPr>
              <a:t>A hash function H accepts a variable-length block of data M as input and produces</a:t>
            </a:r>
          </a:p>
          <a:p>
            <a:pPr algn="just"/>
            <a:r>
              <a:rPr lang="en-US" sz="2800" dirty="0">
                <a:latin typeface="Tw Cen MT" pitchFamily="34" charset="0"/>
              </a:rPr>
              <a:t>a fixed-size hash value h = H(M).</a:t>
            </a:r>
          </a:p>
        </p:txBody>
      </p:sp>
      <p:sp>
        <p:nvSpPr>
          <p:cNvPr id="6" name="Text Box 12"/>
          <p:cNvSpPr txBox="1">
            <a:spLocks noChangeArrowheads="1"/>
          </p:cNvSpPr>
          <p:nvPr/>
        </p:nvSpPr>
        <p:spPr bwMode="auto">
          <a:xfrm>
            <a:off x="5029200" y="4188768"/>
            <a:ext cx="31688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dirty="0">
                <a:latin typeface="Tw Cen MT" pitchFamily="34" charset="0"/>
              </a:rPr>
              <a:t>Message and digest</a:t>
            </a:r>
          </a:p>
        </p:txBody>
      </p:sp>
      <p:pic>
        <p:nvPicPr>
          <p:cNvPr id="7"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8887" y="4650432"/>
            <a:ext cx="5484813" cy="1795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35183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11</a:t>
            </a:fld>
            <a:endParaRPr lang="en-US" dirty="0"/>
          </a:p>
        </p:txBody>
      </p:sp>
      <p:sp>
        <p:nvSpPr>
          <p:cNvPr id="4" name="Rectangle 3"/>
          <p:cNvSpPr/>
          <p:nvPr/>
        </p:nvSpPr>
        <p:spPr>
          <a:xfrm>
            <a:off x="3547732" y="625435"/>
            <a:ext cx="5132559" cy="584775"/>
          </a:xfrm>
          <a:prstGeom prst="rect">
            <a:avLst/>
          </a:prstGeom>
        </p:spPr>
        <p:txBody>
          <a:bodyPr wrap="none">
            <a:spAutoFit/>
          </a:bodyPr>
          <a:lstStyle/>
          <a:p>
            <a:r>
              <a:rPr lang="en-US" sz="3200" b="1" dirty="0">
                <a:solidFill>
                  <a:srgbClr val="FF0000"/>
                </a:solidFill>
                <a:latin typeface="Tw Cen MT" panose="020B0602020104020603" pitchFamily="34" charset="0"/>
              </a:rPr>
              <a:t>Cryptographic Hash Function</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1" y="1371601"/>
            <a:ext cx="5286375" cy="4779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60286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12</a:t>
            </a:fld>
            <a:endParaRPr lang="en-US" dirty="0"/>
          </a:p>
        </p:txBody>
      </p:sp>
      <p:sp>
        <p:nvSpPr>
          <p:cNvPr id="4" name="Rectangle 3"/>
          <p:cNvSpPr/>
          <p:nvPr/>
        </p:nvSpPr>
        <p:spPr>
          <a:xfrm>
            <a:off x="2133601" y="625435"/>
            <a:ext cx="7698967" cy="584775"/>
          </a:xfrm>
          <a:prstGeom prst="rect">
            <a:avLst/>
          </a:prstGeom>
        </p:spPr>
        <p:txBody>
          <a:bodyPr wrap="none">
            <a:spAutoFit/>
          </a:bodyPr>
          <a:lstStyle/>
          <a:p>
            <a:r>
              <a:rPr lang="en-US" sz="3200" b="1" dirty="0">
                <a:solidFill>
                  <a:srgbClr val="FF0000"/>
                </a:solidFill>
                <a:latin typeface="Tw Cen MT" panose="020B0602020104020603" pitchFamily="34" charset="0"/>
              </a:rPr>
              <a:t>Application of Cryptographic Hash Function</a:t>
            </a:r>
          </a:p>
        </p:txBody>
      </p:sp>
      <p:sp>
        <p:nvSpPr>
          <p:cNvPr id="3" name="Rectangle 2"/>
          <p:cNvSpPr/>
          <p:nvPr/>
        </p:nvSpPr>
        <p:spPr>
          <a:xfrm>
            <a:off x="1905000" y="1524000"/>
            <a:ext cx="8153400" cy="1938992"/>
          </a:xfrm>
          <a:prstGeom prst="rect">
            <a:avLst/>
          </a:prstGeom>
        </p:spPr>
        <p:txBody>
          <a:bodyPr wrap="square">
            <a:spAutoFit/>
          </a:bodyPr>
          <a:lstStyle/>
          <a:p>
            <a:pPr algn="just"/>
            <a:r>
              <a:rPr lang="en-US" sz="2400" b="1" dirty="0">
                <a:latin typeface="Tw Cen MT" pitchFamily="34" charset="0"/>
              </a:rPr>
              <a:t>Message Authentication: </a:t>
            </a:r>
            <a:r>
              <a:rPr lang="en-US" sz="2400" dirty="0">
                <a:latin typeface="Tw Cen MT" pitchFamily="34" charset="0"/>
              </a:rPr>
              <a:t>Message authentication is a </a:t>
            </a:r>
            <a:r>
              <a:rPr lang="en-US" sz="2400" dirty="0" err="1">
                <a:latin typeface="Tw Cen MT" pitchFamily="34" charset="0"/>
              </a:rPr>
              <a:t>mecha-nism</a:t>
            </a:r>
            <a:r>
              <a:rPr lang="en-US" sz="2400" dirty="0">
                <a:latin typeface="Tw Cen MT" pitchFamily="34" charset="0"/>
              </a:rPr>
              <a:t> or service used to verify the integrity of a message. </a:t>
            </a:r>
          </a:p>
          <a:p>
            <a:pPr algn="just"/>
            <a:endParaRPr lang="en-US" sz="2400" dirty="0">
              <a:latin typeface="Tw Cen MT" pitchFamily="34" charset="0"/>
            </a:endParaRPr>
          </a:p>
          <a:p>
            <a:pPr algn="just"/>
            <a:r>
              <a:rPr lang="en-US" sz="2400" dirty="0">
                <a:latin typeface="Tw Cen MT" pitchFamily="34" charset="0"/>
              </a:rPr>
              <a:t>When a hash function is used to provide message authentication,</a:t>
            </a:r>
          </a:p>
          <a:p>
            <a:pPr algn="just"/>
            <a:r>
              <a:rPr lang="en-US" sz="2400" dirty="0">
                <a:latin typeface="Tw Cen MT" pitchFamily="34" charset="0"/>
              </a:rPr>
              <a:t>the hash function value is often referred to as a message digest.</a:t>
            </a:r>
          </a:p>
        </p:txBody>
      </p:sp>
    </p:spTree>
    <p:extLst>
      <p:ext uri="{BB962C8B-B14F-4D97-AF65-F5344CB8AC3E}">
        <p14:creationId xmlns:p14="http://schemas.microsoft.com/office/powerpoint/2010/main" val="11313392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13</a:t>
            </a:fld>
            <a:endParaRPr lang="en-US" dirty="0"/>
          </a:p>
        </p:txBody>
      </p:sp>
      <p:sp>
        <p:nvSpPr>
          <p:cNvPr id="4" name="Rectangle 3"/>
          <p:cNvSpPr/>
          <p:nvPr/>
        </p:nvSpPr>
        <p:spPr>
          <a:xfrm>
            <a:off x="2133601" y="625435"/>
            <a:ext cx="7698967" cy="584775"/>
          </a:xfrm>
          <a:prstGeom prst="rect">
            <a:avLst/>
          </a:prstGeom>
        </p:spPr>
        <p:txBody>
          <a:bodyPr wrap="none">
            <a:spAutoFit/>
          </a:bodyPr>
          <a:lstStyle/>
          <a:p>
            <a:r>
              <a:rPr lang="en-US" sz="3200" b="1" dirty="0">
                <a:solidFill>
                  <a:srgbClr val="FF0000"/>
                </a:solidFill>
                <a:latin typeface="Tw Cen MT" panose="020B0602020104020603" pitchFamily="34" charset="0"/>
              </a:rPr>
              <a:t>Application of Cryptographic Hash Function</a:t>
            </a:r>
          </a:p>
        </p:txBody>
      </p:sp>
      <p:sp>
        <p:nvSpPr>
          <p:cNvPr id="3" name="Rectangle 2"/>
          <p:cNvSpPr/>
          <p:nvPr/>
        </p:nvSpPr>
        <p:spPr>
          <a:xfrm>
            <a:off x="1925186" y="1371601"/>
            <a:ext cx="8153400" cy="830997"/>
          </a:xfrm>
          <a:prstGeom prst="rect">
            <a:avLst/>
          </a:prstGeom>
        </p:spPr>
        <p:txBody>
          <a:bodyPr wrap="square">
            <a:spAutoFit/>
          </a:bodyPr>
          <a:lstStyle/>
          <a:p>
            <a:pPr algn="just"/>
            <a:r>
              <a:rPr lang="en-US" sz="2400" dirty="0">
                <a:latin typeface="Tw Cen MT" pitchFamily="34" charset="0"/>
              </a:rPr>
              <a:t>Figures illustrates </a:t>
            </a:r>
            <a:r>
              <a:rPr lang="en-US" sz="2400" dirty="0">
                <a:solidFill>
                  <a:srgbClr val="FF0000"/>
                </a:solidFill>
                <a:latin typeface="Tw Cen MT" pitchFamily="34" charset="0"/>
              </a:rPr>
              <a:t>a variety of ways in which a hash code</a:t>
            </a:r>
            <a:r>
              <a:rPr lang="en-US" sz="2400" dirty="0">
                <a:latin typeface="Tw Cen MT" pitchFamily="34" charset="0"/>
              </a:rPr>
              <a:t> can be used to provide message authentication, as follows.</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9320" y="2354997"/>
            <a:ext cx="7296150" cy="1854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282" y="4495801"/>
            <a:ext cx="7215188" cy="2040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99840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14</a:t>
            </a:fld>
            <a:endParaRPr lang="en-US" dirty="0"/>
          </a:p>
        </p:txBody>
      </p:sp>
      <p:sp>
        <p:nvSpPr>
          <p:cNvPr id="4" name="Rectangle 3"/>
          <p:cNvSpPr/>
          <p:nvPr/>
        </p:nvSpPr>
        <p:spPr>
          <a:xfrm>
            <a:off x="2133601" y="625435"/>
            <a:ext cx="7698967" cy="584775"/>
          </a:xfrm>
          <a:prstGeom prst="rect">
            <a:avLst/>
          </a:prstGeom>
        </p:spPr>
        <p:txBody>
          <a:bodyPr wrap="none">
            <a:spAutoFit/>
          </a:bodyPr>
          <a:lstStyle/>
          <a:p>
            <a:r>
              <a:rPr lang="en-US" sz="3200" b="1" dirty="0">
                <a:solidFill>
                  <a:srgbClr val="FF0000"/>
                </a:solidFill>
                <a:latin typeface="Tw Cen MT" panose="020B0602020104020603" pitchFamily="34" charset="0"/>
              </a:rPr>
              <a:t>Application of Cryptographic Hash Function</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1928" y="1524001"/>
            <a:ext cx="8345283" cy="205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1" y="4191000"/>
            <a:ext cx="8634413" cy="163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101980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15</a:t>
            </a:fld>
            <a:endParaRPr lang="en-US" dirty="0"/>
          </a:p>
        </p:txBody>
      </p:sp>
      <p:sp>
        <p:nvSpPr>
          <p:cNvPr id="4" name="Rectangle 3"/>
          <p:cNvSpPr/>
          <p:nvPr/>
        </p:nvSpPr>
        <p:spPr>
          <a:xfrm>
            <a:off x="2133600" y="625435"/>
            <a:ext cx="1010598" cy="584775"/>
          </a:xfrm>
          <a:prstGeom prst="rect">
            <a:avLst/>
          </a:prstGeom>
        </p:spPr>
        <p:txBody>
          <a:bodyPr wrap="none">
            <a:spAutoFit/>
          </a:bodyPr>
          <a:lstStyle/>
          <a:p>
            <a:r>
              <a:rPr lang="en-US" sz="3200" b="1" dirty="0">
                <a:solidFill>
                  <a:srgbClr val="FF0000"/>
                </a:solidFill>
                <a:latin typeface="Tw Cen MT" panose="020B0602020104020603" pitchFamily="34" charset="0"/>
              </a:rPr>
              <a:t>MAC</a:t>
            </a:r>
          </a:p>
        </p:txBody>
      </p:sp>
      <p:sp>
        <p:nvSpPr>
          <p:cNvPr id="3" name="Rectangle 2"/>
          <p:cNvSpPr/>
          <p:nvPr/>
        </p:nvSpPr>
        <p:spPr>
          <a:xfrm>
            <a:off x="2133600" y="1600200"/>
            <a:ext cx="8229600" cy="1938992"/>
          </a:xfrm>
          <a:prstGeom prst="rect">
            <a:avLst/>
          </a:prstGeom>
        </p:spPr>
        <p:txBody>
          <a:bodyPr wrap="square">
            <a:spAutoFit/>
          </a:bodyPr>
          <a:lstStyle/>
          <a:p>
            <a:pPr algn="just"/>
            <a:r>
              <a:rPr lang="en-US" sz="2400" dirty="0">
                <a:latin typeface="Tw Cen MT" pitchFamily="34" charset="0"/>
              </a:rPr>
              <a:t>More commonly, message authentication is achieved using a message authentication code (MAC), also known as </a:t>
            </a:r>
            <a:r>
              <a:rPr lang="en-US" sz="2400" dirty="0">
                <a:solidFill>
                  <a:srgbClr val="FF0000"/>
                </a:solidFill>
                <a:latin typeface="Tw Cen MT" pitchFamily="34" charset="0"/>
              </a:rPr>
              <a:t>a keyed hash </a:t>
            </a:r>
            <a:r>
              <a:rPr lang="en-US" sz="2400" dirty="0">
                <a:latin typeface="Tw Cen MT" pitchFamily="34" charset="0"/>
              </a:rPr>
              <a:t>function. Typically, MACs are used between two parties that </a:t>
            </a:r>
            <a:r>
              <a:rPr lang="en-US" sz="2400" dirty="0">
                <a:solidFill>
                  <a:srgbClr val="FF0000"/>
                </a:solidFill>
                <a:latin typeface="Tw Cen MT" pitchFamily="34" charset="0"/>
              </a:rPr>
              <a:t>share a secret key</a:t>
            </a:r>
            <a:r>
              <a:rPr lang="en-US" sz="2400" dirty="0">
                <a:latin typeface="Tw Cen MT" pitchFamily="34" charset="0"/>
              </a:rPr>
              <a:t> to authenticate information exchanged between those parties.</a:t>
            </a:r>
          </a:p>
        </p:txBody>
      </p:sp>
    </p:spTree>
    <p:extLst>
      <p:ext uri="{BB962C8B-B14F-4D97-AF65-F5344CB8AC3E}">
        <p14:creationId xmlns:p14="http://schemas.microsoft.com/office/powerpoint/2010/main" val="23978431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16</a:t>
            </a:fld>
            <a:endParaRPr lang="en-US" dirty="0"/>
          </a:p>
        </p:txBody>
      </p:sp>
      <p:sp>
        <p:nvSpPr>
          <p:cNvPr id="4" name="Rectangle 3"/>
          <p:cNvSpPr/>
          <p:nvPr/>
        </p:nvSpPr>
        <p:spPr>
          <a:xfrm>
            <a:off x="2133600" y="625434"/>
            <a:ext cx="3213124" cy="1077218"/>
          </a:xfrm>
          <a:prstGeom prst="rect">
            <a:avLst/>
          </a:prstGeom>
        </p:spPr>
        <p:txBody>
          <a:bodyPr wrap="none">
            <a:spAutoFit/>
          </a:bodyPr>
          <a:lstStyle/>
          <a:p>
            <a:r>
              <a:rPr lang="en-US" sz="3200" b="1" dirty="0">
                <a:solidFill>
                  <a:srgbClr val="FF0000"/>
                </a:solidFill>
                <a:latin typeface="Tw Cen MT" pitchFamily="34" charset="0"/>
              </a:rPr>
              <a:t>Digital Signatures</a:t>
            </a:r>
            <a:r>
              <a:rPr lang="en-US" sz="3200" dirty="0">
                <a:solidFill>
                  <a:srgbClr val="FF0000"/>
                </a:solidFill>
                <a:latin typeface="Tw Cen MT" pitchFamily="34" charset="0"/>
              </a:rPr>
              <a:t/>
            </a:r>
            <a:br>
              <a:rPr lang="en-US" sz="3200" dirty="0">
                <a:solidFill>
                  <a:srgbClr val="FF0000"/>
                </a:solidFill>
                <a:latin typeface="Tw Cen MT" pitchFamily="34" charset="0"/>
              </a:rPr>
            </a:br>
            <a:endParaRPr lang="en-US" sz="3200" b="1" dirty="0">
              <a:solidFill>
                <a:srgbClr val="FF0000"/>
              </a:solidFill>
              <a:latin typeface="Tw Cen MT" panose="020B0602020104020603" pitchFamily="34" charset="0"/>
            </a:endParaRPr>
          </a:p>
        </p:txBody>
      </p:sp>
      <p:sp>
        <p:nvSpPr>
          <p:cNvPr id="3" name="Rectangle 2"/>
          <p:cNvSpPr/>
          <p:nvPr/>
        </p:nvSpPr>
        <p:spPr>
          <a:xfrm>
            <a:off x="2096984" y="1295401"/>
            <a:ext cx="8229600" cy="461665"/>
          </a:xfrm>
          <a:prstGeom prst="rect">
            <a:avLst/>
          </a:prstGeom>
        </p:spPr>
        <p:txBody>
          <a:bodyPr wrap="square">
            <a:spAutoFit/>
          </a:bodyPr>
          <a:lstStyle/>
          <a:p>
            <a:pPr algn="just"/>
            <a:r>
              <a:rPr lang="en-US" sz="2400" dirty="0">
                <a:latin typeface="Tw Cen MT" pitchFamily="34" charset="0"/>
              </a:rPr>
              <a:t>A digital signature  is achieved throw:</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209801"/>
            <a:ext cx="7410450" cy="2148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0266" y="4572001"/>
            <a:ext cx="8329613" cy="167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24218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17</a:t>
            </a:fld>
            <a:endParaRPr lang="en-US" dirty="0"/>
          </a:p>
        </p:txBody>
      </p:sp>
      <p:sp>
        <p:nvSpPr>
          <p:cNvPr id="4" name="Rectangle 3"/>
          <p:cNvSpPr/>
          <p:nvPr/>
        </p:nvSpPr>
        <p:spPr>
          <a:xfrm>
            <a:off x="2133601" y="625434"/>
            <a:ext cx="3397277" cy="1077218"/>
          </a:xfrm>
          <a:prstGeom prst="rect">
            <a:avLst/>
          </a:prstGeom>
        </p:spPr>
        <p:txBody>
          <a:bodyPr wrap="none">
            <a:spAutoFit/>
          </a:bodyPr>
          <a:lstStyle/>
          <a:p>
            <a:r>
              <a:rPr lang="en-US" sz="3200" b="1" dirty="0">
                <a:solidFill>
                  <a:srgbClr val="FF0000"/>
                </a:solidFill>
                <a:latin typeface="Tw Cen MT" pitchFamily="34" charset="0"/>
              </a:rPr>
              <a:t>Other Applications</a:t>
            </a:r>
            <a:br>
              <a:rPr lang="en-US" sz="3200" b="1" dirty="0">
                <a:solidFill>
                  <a:srgbClr val="FF0000"/>
                </a:solidFill>
                <a:latin typeface="Tw Cen MT" pitchFamily="34" charset="0"/>
              </a:rPr>
            </a:br>
            <a:endParaRPr lang="en-US" sz="3200" b="1" dirty="0">
              <a:solidFill>
                <a:srgbClr val="FF0000"/>
              </a:solidFill>
              <a:latin typeface="Tw Cen MT" pitchFamily="34" charset="0"/>
            </a:endParaRPr>
          </a:p>
        </p:txBody>
      </p:sp>
      <p:sp>
        <p:nvSpPr>
          <p:cNvPr id="3" name="Rectangle 2"/>
          <p:cNvSpPr/>
          <p:nvPr/>
        </p:nvSpPr>
        <p:spPr>
          <a:xfrm>
            <a:off x="2133600" y="1702652"/>
            <a:ext cx="7772400" cy="1938992"/>
          </a:xfrm>
          <a:prstGeom prst="rect">
            <a:avLst/>
          </a:prstGeom>
        </p:spPr>
        <p:txBody>
          <a:bodyPr wrap="square">
            <a:spAutoFit/>
          </a:bodyPr>
          <a:lstStyle/>
          <a:p>
            <a:pPr marL="342900" indent="-342900" algn="just">
              <a:buFont typeface="Wingdings" pitchFamily="2" charset="2"/>
              <a:buChar char="§"/>
            </a:pPr>
            <a:r>
              <a:rPr lang="en-US" sz="2400" dirty="0">
                <a:latin typeface="Tw Cen MT" pitchFamily="34" charset="0"/>
              </a:rPr>
              <a:t>One way </a:t>
            </a:r>
            <a:r>
              <a:rPr lang="en-US" sz="2400" dirty="0">
                <a:solidFill>
                  <a:srgbClr val="FF0000"/>
                </a:solidFill>
                <a:latin typeface="Tw Cen MT" pitchFamily="34" charset="0"/>
              </a:rPr>
              <a:t>password file:</a:t>
            </a:r>
          </a:p>
          <a:p>
            <a:pPr marL="342900" indent="-342900" algn="just">
              <a:buFont typeface="Wingdings" pitchFamily="2" charset="2"/>
              <a:buChar char="§"/>
            </a:pPr>
            <a:r>
              <a:rPr lang="en-US" sz="2400" dirty="0">
                <a:latin typeface="Tw Cen MT" pitchFamily="34" charset="0"/>
              </a:rPr>
              <a:t>Hash functions can be used for </a:t>
            </a:r>
            <a:r>
              <a:rPr lang="en-US" sz="2400" dirty="0">
                <a:solidFill>
                  <a:srgbClr val="FF0000"/>
                </a:solidFill>
                <a:latin typeface="Tw Cen MT" pitchFamily="34" charset="0"/>
              </a:rPr>
              <a:t>intrusion detection </a:t>
            </a:r>
            <a:r>
              <a:rPr lang="en-US" sz="2400" dirty="0">
                <a:latin typeface="Tw Cen MT" pitchFamily="34" charset="0"/>
              </a:rPr>
              <a:t>and </a:t>
            </a:r>
            <a:r>
              <a:rPr lang="en-US" sz="2400" dirty="0">
                <a:solidFill>
                  <a:srgbClr val="FF0000"/>
                </a:solidFill>
                <a:latin typeface="Tw Cen MT" pitchFamily="34" charset="0"/>
              </a:rPr>
              <a:t>virus detection. </a:t>
            </a:r>
          </a:p>
          <a:p>
            <a:pPr marL="342900" indent="-342900" algn="just">
              <a:buFont typeface="Wingdings" pitchFamily="2" charset="2"/>
              <a:buChar char="§"/>
            </a:pPr>
            <a:r>
              <a:rPr lang="en-US" sz="2400" dirty="0">
                <a:solidFill>
                  <a:srgbClr val="080808"/>
                </a:solidFill>
                <a:latin typeface="Tw Cen MT" pitchFamily="34" charset="0"/>
              </a:rPr>
              <a:t>can be used to construct a pseudorandom function (PRF) or a pseudorandom number generator (PRNG). </a:t>
            </a:r>
          </a:p>
        </p:txBody>
      </p:sp>
    </p:spTree>
    <p:extLst>
      <p:ext uri="{BB962C8B-B14F-4D97-AF65-F5344CB8AC3E}">
        <p14:creationId xmlns:p14="http://schemas.microsoft.com/office/powerpoint/2010/main" val="12036686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18</a:t>
            </a:fld>
            <a:endParaRPr lang="en-US" dirty="0"/>
          </a:p>
        </p:txBody>
      </p:sp>
      <p:sp>
        <p:nvSpPr>
          <p:cNvPr id="4" name="Rectangle 3"/>
          <p:cNvSpPr/>
          <p:nvPr/>
        </p:nvSpPr>
        <p:spPr>
          <a:xfrm>
            <a:off x="5070252" y="649185"/>
            <a:ext cx="1937197" cy="584775"/>
          </a:xfrm>
          <a:prstGeom prst="rect">
            <a:avLst/>
          </a:prstGeom>
        </p:spPr>
        <p:txBody>
          <a:bodyPr wrap="none">
            <a:spAutoFit/>
          </a:bodyPr>
          <a:lstStyle/>
          <a:p>
            <a:r>
              <a:rPr lang="en-US" sz="3200" b="1" dirty="0">
                <a:solidFill>
                  <a:srgbClr val="FF0000"/>
                </a:solidFill>
                <a:latin typeface="Tw Cen MT" panose="020B0602020104020603" pitchFamily="34" charset="0"/>
              </a:rPr>
              <a:t>Difference</a:t>
            </a:r>
          </a:p>
        </p:txBody>
      </p:sp>
      <p:sp>
        <p:nvSpPr>
          <p:cNvPr id="8" name="Rectangle 9"/>
          <p:cNvSpPr>
            <a:spLocks noChangeArrowheads="1"/>
          </p:cNvSpPr>
          <p:nvPr/>
        </p:nvSpPr>
        <p:spPr bwMode="auto">
          <a:xfrm>
            <a:off x="1981200" y="1447800"/>
            <a:ext cx="8115300" cy="26543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sz="2800" dirty="0">
                <a:latin typeface="Tw Cen MT" pitchFamily="34" charset="0"/>
              </a:rPr>
              <a:t>The two pairs (</a:t>
            </a:r>
            <a:r>
              <a:rPr lang="en-US" sz="2800" dirty="0">
                <a:solidFill>
                  <a:srgbClr val="FF0000"/>
                </a:solidFill>
                <a:latin typeface="Tw Cen MT" pitchFamily="34" charset="0"/>
              </a:rPr>
              <a:t>document / fingerprint</a:t>
            </a:r>
            <a:r>
              <a:rPr lang="en-US" sz="2800" dirty="0">
                <a:latin typeface="Tw Cen MT" pitchFamily="34" charset="0"/>
              </a:rPr>
              <a:t>) and (</a:t>
            </a:r>
            <a:r>
              <a:rPr lang="en-US" sz="2800" dirty="0">
                <a:solidFill>
                  <a:srgbClr val="FF0000"/>
                </a:solidFill>
                <a:latin typeface="Tw Cen MT" pitchFamily="34" charset="0"/>
              </a:rPr>
              <a:t>message / message digest</a:t>
            </a:r>
            <a:r>
              <a:rPr lang="en-US" sz="2800" dirty="0">
                <a:latin typeface="Tw Cen MT" pitchFamily="34" charset="0"/>
              </a:rPr>
              <a:t>) are similar, with some differences. The document and fingerprint are </a:t>
            </a:r>
            <a:r>
              <a:rPr lang="en-US" sz="2800" dirty="0">
                <a:solidFill>
                  <a:srgbClr val="FF0000"/>
                </a:solidFill>
                <a:latin typeface="Tw Cen MT" pitchFamily="34" charset="0"/>
              </a:rPr>
              <a:t>physically linked together</a:t>
            </a:r>
            <a:r>
              <a:rPr lang="en-US" sz="2800" dirty="0">
                <a:latin typeface="Tw Cen MT" pitchFamily="34" charset="0"/>
              </a:rPr>
              <a:t>. The message and message digest </a:t>
            </a:r>
            <a:r>
              <a:rPr lang="en-US" sz="2800" dirty="0">
                <a:solidFill>
                  <a:srgbClr val="FF0000"/>
                </a:solidFill>
                <a:latin typeface="Tw Cen MT" pitchFamily="34" charset="0"/>
              </a:rPr>
              <a:t>can be unlinked </a:t>
            </a:r>
            <a:r>
              <a:rPr lang="en-US" sz="2800" dirty="0">
                <a:latin typeface="Tw Cen MT" pitchFamily="34" charset="0"/>
              </a:rPr>
              <a:t>separately, and, most importantly, the message digest needs to be safe from change.</a:t>
            </a:r>
          </a:p>
        </p:txBody>
      </p:sp>
      <p:sp>
        <p:nvSpPr>
          <p:cNvPr id="9" name="Line 11"/>
          <p:cNvSpPr>
            <a:spLocks noChangeShapeType="1"/>
          </p:cNvSpPr>
          <p:nvPr/>
        </p:nvSpPr>
        <p:spPr bwMode="auto">
          <a:xfrm>
            <a:off x="1981200" y="4648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Tw Cen MT" pitchFamily="34" charset="0"/>
            </a:endParaRPr>
          </a:p>
        </p:txBody>
      </p:sp>
      <p:sp>
        <p:nvSpPr>
          <p:cNvPr id="10" name="Line 12"/>
          <p:cNvSpPr>
            <a:spLocks noChangeShapeType="1"/>
          </p:cNvSpPr>
          <p:nvPr/>
        </p:nvSpPr>
        <p:spPr bwMode="auto">
          <a:xfrm>
            <a:off x="1982788" y="5334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Tw Cen MT" pitchFamily="34" charset="0"/>
            </a:endParaRPr>
          </a:p>
        </p:txBody>
      </p:sp>
      <p:sp>
        <p:nvSpPr>
          <p:cNvPr id="11" name="Rectangle 13"/>
          <p:cNvSpPr>
            <a:spLocks noChangeArrowheads="1"/>
          </p:cNvSpPr>
          <p:nvPr/>
        </p:nvSpPr>
        <p:spPr bwMode="auto">
          <a:xfrm>
            <a:off x="2019300" y="4728401"/>
            <a:ext cx="8077200" cy="51911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800" dirty="0">
                <a:latin typeface="Tw Cen MT" pitchFamily="34" charset="0"/>
              </a:rPr>
              <a:t>The message digest needs to be safe from change.</a:t>
            </a:r>
          </a:p>
        </p:txBody>
      </p:sp>
    </p:spTree>
    <p:extLst>
      <p:ext uri="{BB962C8B-B14F-4D97-AF65-F5344CB8AC3E}">
        <p14:creationId xmlns:p14="http://schemas.microsoft.com/office/powerpoint/2010/main" val="8410495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19</a:t>
            </a:fld>
            <a:endParaRPr lang="en-US" dirty="0"/>
          </a:p>
        </p:txBody>
      </p:sp>
      <p:sp>
        <p:nvSpPr>
          <p:cNvPr id="4" name="Rectangle 3"/>
          <p:cNvSpPr/>
          <p:nvPr/>
        </p:nvSpPr>
        <p:spPr>
          <a:xfrm>
            <a:off x="4505146" y="649185"/>
            <a:ext cx="3267433" cy="584775"/>
          </a:xfrm>
          <a:prstGeom prst="rect">
            <a:avLst/>
          </a:prstGeom>
        </p:spPr>
        <p:txBody>
          <a:bodyPr wrap="none">
            <a:spAutoFit/>
          </a:bodyPr>
          <a:lstStyle/>
          <a:p>
            <a:r>
              <a:rPr lang="en-US" sz="3200" b="1" dirty="0">
                <a:solidFill>
                  <a:srgbClr val="FF0000"/>
                </a:solidFill>
                <a:latin typeface="Tw Cen MT" panose="020B0602020104020603" pitchFamily="34" charset="0"/>
              </a:rPr>
              <a:t>Checking Integrity</a:t>
            </a:r>
          </a:p>
        </p:txBody>
      </p:sp>
      <p:sp>
        <p:nvSpPr>
          <p:cNvPr id="12" name="Text Box 11"/>
          <p:cNvSpPr txBox="1">
            <a:spLocks noChangeArrowheads="1"/>
          </p:cNvSpPr>
          <p:nvPr/>
        </p:nvSpPr>
        <p:spPr bwMode="auto">
          <a:xfrm>
            <a:off x="4587971" y="1737755"/>
            <a:ext cx="290175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i="1" dirty="0">
                <a:latin typeface="Tw Cen MT" pitchFamily="34" charset="0"/>
              </a:rPr>
              <a:t>Checking integrity</a:t>
            </a:r>
          </a:p>
        </p:txBody>
      </p:sp>
      <p:pic>
        <p:nvPicPr>
          <p:cNvPr id="13"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1" y="2432049"/>
            <a:ext cx="7248525" cy="267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04705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20</a:t>
            </a:fld>
            <a:endParaRPr lang="en-US" dirty="0"/>
          </a:p>
        </p:txBody>
      </p:sp>
      <p:sp>
        <p:nvSpPr>
          <p:cNvPr id="4" name="Rectangle 3"/>
          <p:cNvSpPr/>
          <p:nvPr/>
        </p:nvSpPr>
        <p:spPr>
          <a:xfrm>
            <a:off x="3547732" y="625435"/>
            <a:ext cx="5132559" cy="584775"/>
          </a:xfrm>
          <a:prstGeom prst="rect">
            <a:avLst/>
          </a:prstGeom>
        </p:spPr>
        <p:txBody>
          <a:bodyPr wrap="none">
            <a:spAutoFit/>
          </a:bodyPr>
          <a:lstStyle/>
          <a:p>
            <a:r>
              <a:rPr lang="en-US" sz="3200" b="1" dirty="0">
                <a:solidFill>
                  <a:srgbClr val="FF0000"/>
                </a:solidFill>
                <a:latin typeface="Tw Cen MT" panose="020B0602020104020603" pitchFamily="34" charset="0"/>
              </a:rPr>
              <a:t>Cryptographic Hash Function</a:t>
            </a:r>
          </a:p>
        </p:txBody>
      </p:sp>
      <p:sp>
        <p:nvSpPr>
          <p:cNvPr id="3" name="Rectangle 2"/>
          <p:cNvSpPr/>
          <p:nvPr/>
        </p:nvSpPr>
        <p:spPr>
          <a:xfrm>
            <a:off x="2286000" y="1600200"/>
            <a:ext cx="8382000" cy="3908762"/>
          </a:xfrm>
          <a:prstGeom prst="rect">
            <a:avLst/>
          </a:prstGeom>
        </p:spPr>
        <p:txBody>
          <a:bodyPr wrap="square">
            <a:spAutoFit/>
          </a:bodyPr>
          <a:lstStyle/>
          <a:p>
            <a:pPr marL="457200" indent="-457200">
              <a:buFont typeface="+mj-lt"/>
              <a:buAutoNum type="arabicPeriod"/>
            </a:pPr>
            <a:r>
              <a:rPr lang="en-GB" sz="2400" dirty="0">
                <a:latin typeface="Tw Cen MT" panose="020B0602020104020603" pitchFamily="34" charset="0"/>
              </a:rPr>
              <a:t>Variable Size Input</a:t>
            </a:r>
          </a:p>
          <a:p>
            <a:pPr marL="457200" indent="-457200">
              <a:buFont typeface="+mj-lt"/>
              <a:buAutoNum type="arabicPeriod"/>
            </a:pPr>
            <a:r>
              <a:rPr lang="en-GB" sz="2400" dirty="0">
                <a:latin typeface="Tw Cen MT" panose="020B0602020104020603" pitchFamily="34" charset="0"/>
              </a:rPr>
              <a:t>Fixed output size</a:t>
            </a:r>
          </a:p>
          <a:p>
            <a:pPr marL="457200" indent="-457200">
              <a:buFont typeface="+mj-lt"/>
              <a:buAutoNum type="arabicPeriod"/>
            </a:pPr>
            <a:r>
              <a:rPr lang="en-GB" sz="2400" dirty="0">
                <a:latin typeface="Tw Cen MT" panose="020B0602020104020603" pitchFamily="34" charset="0"/>
              </a:rPr>
              <a:t>Efficient computation</a:t>
            </a:r>
          </a:p>
          <a:p>
            <a:pPr marL="457200" indent="-457200">
              <a:buFont typeface="+mj-lt"/>
              <a:buAutoNum type="arabicPeriod"/>
            </a:pPr>
            <a:r>
              <a:rPr lang="en-GB" sz="2400" dirty="0">
                <a:latin typeface="Tw Cen MT" panose="020B0602020104020603" pitchFamily="34" charset="0"/>
              </a:rPr>
              <a:t>Pseudorandom</a:t>
            </a:r>
          </a:p>
          <a:p>
            <a:pPr marL="457200" indent="-457200">
              <a:buFont typeface="+mj-lt"/>
              <a:buAutoNum type="arabicPeriod"/>
            </a:pPr>
            <a:r>
              <a:rPr lang="en-GB" sz="2400" dirty="0">
                <a:latin typeface="Tw Cen MT" panose="020B0602020104020603" pitchFamily="34" charset="0"/>
              </a:rPr>
              <a:t>Pre-image Resistant = one-way</a:t>
            </a:r>
          </a:p>
          <a:p>
            <a:pPr marL="457200" indent="-457200">
              <a:buFont typeface="+mj-lt"/>
              <a:buAutoNum type="arabicPeriod"/>
            </a:pPr>
            <a:r>
              <a:rPr lang="en-GB" sz="2400" dirty="0">
                <a:latin typeface="Tw Cen MT" panose="020B0602020104020603" pitchFamily="34" charset="0"/>
              </a:rPr>
              <a:t>It is not possible to find any M, given h.</a:t>
            </a:r>
          </a:p>
          <a:p>
            <a:pPr marL="457200" indent="-457200">
              <a:buFont typeface="+mj-lt"/>
              <a:buAutoNum type="arabicPeriod"/>
            </a:pPr>
            <a:r>
              <a:rPr lang="en-GB" sz="2400" dirty="0">
                <a:latin typeface="Tw Cen MT" panose="020B0602020104020603" pitchFamily="34" charset="0"/>
              </a:rPr>
              <a:t>2nd Pre-image Resistant = Weak Collision Resistant</a:t>
            </a:r>
          </a:p>
          <a:p>
            <a:pPr marL="457200" indent="-457200">
              <a:buFont typeface="+mj-lt"/>
              <a:buAutoNum type="arabicPeriod"/>
            </a:pPr>
            <a:r>
              <a:rPr lang="en-GB" sz="2400" dirty="0">
                <a:latin typeface="Tw Cen MT" panose="020B0602020104020603" pitchFamily="34" charset="0"/>
              </a:rPr>
              <a:t>It is not possible to find y, such that h(y)=h(x)</a:t>
            </a:r>
          </a:p>
          <a:p>
            <a:pPr marL="457200" indent="-457200">
              <a:buFont typeface="+mj-lt"/>
              <a:buAutoNum type="arabicPeriod"/>
            </a:pPr>
            <a:r>
              <a:rPr lang="en-GB" sz="2400" dirty="0">
                <a:latin typeface="Tw Cen MT" panose="020B0602020104020603" pitchFamily="34" charset="0"/>
              </a:rPr>
              <a:t>Strong Collision Resistant: It is not possible to find any two x</a:t>
            </a:r>
          </a:p>
          <a:p>
            <a:r>
              <a:rPr lang="en-GB" sz="2400" dirty="0">
                <a:latin typeface="Tw Cen MT" panose="020B0602020104020603" pitchFamily="34" charset="0"/>
              </a:rPr>
              <a:t>     and y, such that h(y)=h(x)</a:t>
            </a:r>
          </a:p>
        </p:txBody>
      </p:sp>
    </p:spTree>
    <p:extLst>
      <p:ext uri="{BB962C8B-B14F-4D97-AF65-F5344CB8AC3E}">
        <p14:creationId xmlns:p14="http://schemas.microsoft.com/office/powerpoint/2010/main" val="47635349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21</a:t>
            </a:fld>
            <a:endParaRPr lang="en-US" dirty="0"/>
          </a:p>
        </p:txBody>
      </p:sp>
      <p:sp>
        <p:nvSpPr>
          <p:cNvPr id="4" name="Rectangle 3"/>
          <p:cNvSpPr/>
          <p:nvPr/>
        </p:nvSpPr>
        <p:spPr>
          <a:xfrm>
            <a:off x="2893368" y="533401"/>
            <a:ext cx="6472669" cy="584775"/>
          </a:xfrm>
          <a:prstGeom prst="rect">
            <a:avLst/>
          </a:prstGeom>
        </p:spPr>
        <p:txBody>
          <a:bodyPr wrap="none">
            <a:spAutoFit/>
          </a:bodyPr>
          <a:lstStyle/>
          <a:p>
            <a:r>
              <a:rPr lang="en-US" sz="3200" b="1" dirty="0">
                <a:solidFill>
                  <a:srgbClr val="FF0000"/>
                </a:solidFill>
                <a:latin typeface="Tw Cen MT" panose="020B0602020104020603" pitchFamily="34" charset="0"/>
              </a:rPr>
              <a:t>Cryptographic Hash Function Criteria</a:t>
            </a:r>
          </a:p>
        </p:txBody>
      </p:sp>
      <p:sp>
        <p:nvSpPr>
          <p:cNvPr id="6" name="Rectangle 9"/>
          <p:cNvSpPr>
            <a:spLocks noChangeArrowheads="1"/>
          </p:cNvSpPr>
          <p:nvPr/>
        </p:nvSpPr>
        <p:spPr bwMode="auto">
          <a:xfrm>
            <a:off x="1786302" y="1250782"/>
            <a:ext cx="8686800"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a:latin typeface="Tw Cen MT" pitchFamily="34" charset="0"/>
              </a:rPr>
              <a:t>A cryptographic hash function must satisfy </a:t>
            </a:r>
            <a:r>
              <a:rPr lang="en-US" sz="2800" dirty="0">
                <a:solidFill>
                  <a:srgbClr val="FF0000"/>
                </a:solidFill>
                <a:latin typeface="Tw Cen MT" pitchFamily="34" charset="0"/>
              </a:rPr>
              <a:t>three criteria</a:t>
            </a:r>
            <a:r>
              <a:rPr lang="en-US" sz="2800" dirty="0">
                <a:latin typeface="Tw Cen MT" pitchFamily="34" charset="0"/>
              </a:rPr>
              <a:t>: </a:t>
            </a:r>
            <a:r>
              <a:rPr lang="en-US" sz="2800" dirty="0" err="1">
                <a:latin typeface="Tw Cen MT" pitchFamily="34" charset="0"/>
              </a:rPr>
              <a:t>preimage</a:t>
            </a:r>
            <a:r>
              <a:rPr lang="en-US" sz="2800" dirty="0">
                <a:latin typeface="Tw Cen MT" pitchFamily="34" charset="0"/>
              </a:rPr>
              <a:t> resistance, second </a:t>
            </a:r>
            <a:r>
              <a:rPr lang="en-US" sz="2800" dirty="0" err="1">
                <a:latin typeface="Tw Cen MT" pitchFamily="34" charset="0"/>
              </a:rPr>
              <a:t>preimage</a:t>
            </a:r>
            <a:r>
              <a:rPr lang="en-US" sz="2800" dirty="0">
                <a:latin typeface="Tw Cen MT" pitchFamily="34" charset="0"/>
              </a:rPr>
              <a:t> resistance, and collision resistance.</a:t>
            </a:r>
          </a:p>
        </p:txBody>
      </p:sp>
      <p:sp>
        <p:nvSpPr>
          <p:cNvPr id="7" name="Text Box 11"/>
          <p:cNvSpPr txBox="1">
            <a:spLocks noChangeArrowheads="1"/>
          </p:cNvSpPr>
          <p:nvPr/>
        </p:nvSpPr>
        <p:spPr bwMode="auto">
          <a:xfrm>
            <a:off x="3425458" y="2986645"/>
            <a:ext cx="54268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dirty="0">
                <a:latin typeface="Tw Cen MT" pitchFamily="34" charset="0"/>
              </a:rPr>
              <a:t>Criteria of a cryptographic hash function</a:t>
            </a:r>
          </a:p>
        </p:txBody>
      </p:sp>
      <p:pic>
        <p:nvPicPr>
          <p:cNvPr id="8"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876" y="3810000"/>
            <a:ext cx="6562725" cy="181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0628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22</a:t>
            </a:fld>
            <a:endParaRPr lang="en-US" dirty="0"/>
          </a:p>
        </p:txBody>
      </p:sp>
      <p:sp>
        <p:nvSpPr>
          <p:cNvPr id="4" name="Rectangle 3"/>
          <p:cNvSpPr/>
          <p:nvPr/>
        </p:nvSpPr>
        <p:spPr>
          <a:xfrm>
            <a:off x="4114801" y="375498"/>
            <a:ext cx="3701013" cy="584775"/>
          </a:xfrm>
          <a:prstGeom prst="rect">
            <a:avLst/>
          </a:prstGeom>
        </p:spPr>
        <p:txBody>
          <a:bodyPr wrap="none">
            <a:spAutoFit/>
          </a:bodyPr>
          <a:lstStyle/>
          <a:p>
            <a:r>
              <a:rPr lang="en-US" sz="3200" b="1" dirty="0" err="1">
                <a:solidFill>
                  <a:srgbClr val="FF0000"/>
                </a:solidFill>
                <a:latin typeface="Tw Cen MT" panose="020B0602020104020603" pitchFamily="34" charset="0"/>
              </a:rPr>
              <a:t>Preimage</a:t>
            </a:r>
            <a:r>
              <a:rPr lang="en-US" sz="3200" b="1" dirty="0">
                <a:solidFill>
                  <a:srgbClr val="FF0000"/>
                </a:solidFill>
                <a:latin typeface="Tw Cen MT" panose="020B0602020104020603" pitchFamily="34" charset="0"/>
              </a:rPr>
              <a:t> Resistance</a:t>
            </a:r>
          </a:p>
        </p:txBody>
      </p:sp>
      <p:sp>
        <p:nvSpPr>
          <p:cNvPr id="9" name="Rectangle 9"/>
          <p:cNvSpPr>
            <a:spLocks noChangeArrowheads="1"/>
          </p:cNvSpPr>
          <p:nvPr/>
        </p:nvSpPr>
        <p:spPr bwMode="auto">
          <a:xfrm>
            <a:off x="1752600" y="973138"/>
            <a:ext cx="8686800" cy="5191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err="1">
                <a:solidFill>
                  <a:schemeClr val="folHlink"/>
                </a:solidFill>
                <a:latin typeface="Tw Cen MT" pitchFamily="34" charset="0"/>
              </a:rPr>
              <a:t>Preimage</a:t>
            </a:r>
            <a:r>
              <a:rPr lang="en-US" sz="2800" dirty="0">
                <a:solidFill>
                  <a:schemeClr val="folHlink"/>
                </a:solidFill>
                <a:latin typeface="Tw Cen MT" pitchFamily="34" charset="0"/>
              </a:rPr>
              <a:t> Resistance</a:t>
            </a:r>
            <a:endParaRPr lang="en-US" sz="2800" dirty="0">
              <a:latin typeface="Tw Cen MT" pitchFamily="34" charset="0"/>
            </a:endParaRPr>
          </a:p>
        </p:txBody>
      </p:sp>
      <p:pic>
        <p:nvPicPr>
          <p:cNvPr id="10"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8650" y="1752600"/>
            <a:ext cx="8235950" cy="642938"/>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5426" y="2895600"/>
            <a:ext cx="6973888" cy="362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 Box 15"/>
          <p:cNvSpPr txBox="1">
            <a:spLocks noChangeArrowheads="1"/>
          </p:cNvSpPr>
          <p:nvPr/>
        </p:nvSpPr>
        <p:spPr bwMode="auto">
          <a:xfrm>
            <a:off x="7554913" y="3124201"/>
            <a:ext cx="21371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i="1" dirty="0" err="1">
                <a:latin typeface="Tw Cen MT" pitchFamily="34" charset="0"/>
              </a:rPr>
              <a:t>Preimage</a:t>
            </a:r>
            <a:endParaRPr lang="en-US" sz="2000" i="1" dirty="0">
              <a:latin typeface="Tw Cen MT" pitchFamily="34" charset="0"/>
            </a:endParaRPr>
          </a:p>
        </p:txBody>
      </p:sp>
    </p:spTree>
    <p:extLst>
      <p:ext uri="{BB962C8B-B14F-4D97-AF65-F5344CB8AC3E}">
        <p14:creationId xmlns:p14="http://schemas.microsoft.com/office/powerpoint/2010/main" val="252359782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23</a:t>
            </a:fld>
            <a:endParaRPr lang="en-US" dirty="0"/>
          </a:p>
        </p:txBody>
      </p:sp>
      <p:sp>
        <p:nvSpPr>
          <p:cNvPr id="4" name="Rectangle 3"/>
          <p:cNvSpPr/>
          <p:nvPr/>
        </p:nvSpPr>
        <p:spPr>
          <a:xfrm>
            <a:off x="4114801" y="375498"/>
            <a:ext cx="3701013" cy="584775"/>
          </a:xfrm>
          <a:prstGeom prst="rect">
            <a:avLst/>
          </a:prstGeom>
        </p:spPr>
        <p:txBody>
          <a:bodyPr wrap="none">
            <a:spAutoFit/>
          </a:bodyPr>
          <a:lstStyle/>
          <a:p>
            <a:r>
              <a:rPr lang="en-US" sz="3200" b="1" dirty="0" err="1">
                <a:solidFill>
                  <a:srgbClr val="FF0000"/>
                </a:solidFill>
                <a:latin typeface="Tw Cen MT" panose="020B0602020104020603" pitchFamily="34" charset="0"/>
              </a:rPr>
              <a:t>Preimage</a:t>
            </a:r>
            <a:r>
              <a:rPr lang="en-US" sz="3200" b="1" dirty="0">
                <a:solidFill>
                  <a:srgbClr val="FF0000"/>
                </a:solidFill>
                <a:latin typeface="Tw Cen MT" panose="020B0602020104020603" pitchFamily="34" charset="0"/>
              </a:rPr>
              <a:t> Resistance</a:t>
            </a:r>
          </a:p>
        </p:txBody>
      </p:sp>
      <p:sp>
        <p:nvSpPr>
          <p:cNvPr id="8" name="Rectangle 10"/>
          <p:cNvSpPr>
            <a:spLocks noChangeArrowheads="1"/>
          </p:cNvSpPr>
          <p:nvPr/>
        </p:nvSpPr>
        <p:spPr bwMode="auto">
          <a:xfrm>
            <a:off x="1905000" y="1595865"/>
            <a:ext cx="8382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sz="2400">
                <a:latin typeface="Tw Cen MT" pitchFamily="34" charset="0"/>
              </a:rPr>
              <a:t>Can we use a conventional lossless compression method such as </a:t>
            </a:r>
            <a:r>
              <a:rPr lang="en-US" sz="2400" i="1">
                <a:solidFill>
                  <a:schemeClr val="hlink"/>
                </a:solidFill>
                <a:latin typeface="Tw Cen MT" pitchFamily="34" charset="0"/>
              </a:rPr>
              <a:t>StuffIt</a:t>
            </a:r>
            <a:r>
              <a:rPr lang="en-US" sz="2400">
                <a:latin typeface="Tw Cen MT" pitchFamily="34" charset="0"/>
              </a:rPr>
              <a:t> as a cryptographic hash function?</a:t>
            </a:r>
          </a:p>
        </p:txBody>
      </p:sp>
      <p:sp>
        <p:nvSpPr>
          <p:cNvPr id="13" name="Text Box 11"/>
          <p:cNvSpPr txBox="1">
            <a:spLocks noChangeArrowheads="1"/>
          </p:cNvSpPr>
          <p:nvPr/>
        </p:nvSpPr>
        <p:spPr bwMode="auto">
          <a:xfrm>
            <a:off x="1802894" y="1066801"/>
            <a:ext cx="1321306" cy="46166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400" dirty="0">
                <a:solidFill>
                  <a:schemeClr val="bg1"/>
                </a:solidFill>
                <a:latin typeface="Tw Cen MT" pitchFamily="34" charset="0"/>
              </a:rPr>
              <a:t>Example </a:t>
            </a:r>
            <a:endParaRPr lang="en-US" sz="2000" i="1" dirty="0">
              <a:solidFill>
                <a:schemeClr val="bg1"/>
              </a:solidFill>
              <a:latin typeface="Tw Cen MT" pitchFamily="34" charset="0"/>
            </a:endParaRPr>
          </a:p>
        </p:txBody>
      </p:sp>
      <p:sp>
        <p:nvSpPr>
          <p:cNvPr id="14" name="Rectangle 12"/>
          <p:cNvSpPr>
            <a:spLocks noChangeArrowheads="1"/>
          </p:cNvSpPr>
          <p:nvPr/>
        </p:nvSpPr>
        <p:spPr bwMode="auto">
          <a:xfrm>
            <a:off x="1905000" y="2584362"/>
            <a:ext cx="8382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sz="2400">
                <a:solidFill>
                  <a:schemeClr val="hlink"/>
                </a:solidFill>
                <a:latin typeface="Tw Cen MT" pitchFamily="34" charset="0"/>
              </a:rPr>
              <a:t>Solution</a:t>
            </a:r>
          </a:p>
          <a:p>
            <a:pPr algn="just" eaLnBrk="1" hangingPunct="1"/>
            <a:r>
              <a:rPr lang="en-US" sz="2400">
                <a:latin typeface="Tw Cen MT" pitchFamily="34" charset="0"/>
              </a:rPr>
              <a:t>We cannot. A lossless compression method creates a compressed message that is reversible. </a:t>
            </a:r>
          </a:p>
        </p:txBody>
      </p:sp>
      <p:sp>
        <p:nvSpPr>
          <p:cNvPr id="15" name="Rectangle 16"/>
          <p:cNvSpPr>
            <a:spLocks noChangeArrowheads="1"/>
          </p:cNvSpPr>
          <p:nvPr/>
        </p:nvSpPr>
        <p:spPr bwMode="auto">
          <a:xfrm>
            <a:off x="1905000" y="4661844"/>
            <a:ext cx="8382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sz="2400">
                <a:latin typeface="Tw Cen MT" pitchFamily="34" charset="0"/>
              </a:rPr>
              <a:t>Can we use a checksum function as a cryptographic hash function?</a:t>
            </a:r>
          </a:p>
        </p:txBody>
      </p:sp>
      <p:sp>
        <p:nvSpPr>
          <p:cNvPr id="16" name="Text Box 17"/>
          <p:cNvSpPr txBox="1">
            <a:spLocks noChangeArrowheads="1"/>
          </p:cNvSpPr>
          <p:nvPr/>
        </p:nvSpPr>
        <p:spPr bwMode="auto">
          <a:xfrm>
            <a:off x="1802894" y="3962401"/>
            <a:ext cx="1397506" cy="46166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400" dirty="0">
                <a:solidFill>
                  <a:schemeClr val="bg1"/>
                </a:solidFill>
                <a:latin typeface="Tw Cen MT" pitchFamily="34" charset="0"/>
              </a:rPr>
              <a:t>Example </a:t>
            </a:r>
            <a:endParaRPr lang="en-US" sz="2000" i="1" dirty="0">
              <a:solidFill>
                <a:schemeClr val="bg1"/>
              </a:solidFill>
              <a:latin typeface="Tw Cen MT" pitchFamily="34" charset="0"/>
            </a:endParaRPr>
          </a:p>
        </p:txBody>
      </p:sp>
      <p:sp>
        <p:nvSpPr>
          <p:cNvPr id="17" name="Rectangle 18"/>
          <p:cNvSpPr>
            <a:spLocks noChangeArrowheads="1"/>
          </p:cNvSpPr>
          <p:nvPr/>
        </p:nvSpPr>
        <p:spPr bwMode="auto">
          <a:xfrm>
            <a:off x="1905000" y="5183374"/>
            <a:ext cx="8382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sz="2400" dirty="0">
                <a:solidFill>
                  <a:schemeClr val="hlink"/>
                </a:solidFill>
                <a:latin typeface="Tw Cen MT" pitchFamily="34" charset="0"/>
              </a:rPr>
              <a:t>Solution</a:t>
            </a:r>
          </a:p>
          <a:p>
            <a:pPr algn="just" eaLnBrk="1" hangingPunct="1"/>
            <a:r>
              <a:rPr lang="en-US" sz="2400" dirty="0">
                <a:latin typeface="Tw Cen MT" pitchFamily="34" charset="0"/>
              </a:rPr>
              <a:t>We cannot. A checksum function is not </a:t>
            </a:r>
            <a:r>
              <a:rPr lang="en-US" sz="2400" dirty="0" err="1">
                <a:latin typeface="Tw Cen MT" pitchFamily="34" charset="0"/>
              </a:rPr>
              <a:t>preimage</a:t>
            </a:r>
            <a:r>
              <a:rPr lang="en-US" sz="2400" dirty="0">
                <a:latin typeface="Tw Cen MT" pitchFamily="34" charset="0"/>
              </a:rPr>
              <a:t> resistant, Eve may find several messages whose checksum matches the given one.</a:t>
            </a:r>
          </a:p>
        </p:txBody>
      </p:sp>
    </p:spTree>
    <p:extLst>
      <p:ext uri="{BB962C8B-B14F-4D97-AF65-F5344CB8AC3E}">
        <p14:creationId xmlns:p14="http://schemas.microsoft.com/office/powerpoint/2010/main" val="18560153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24</a:t>
            </a:fld>
            <a:endParaRPr lang="en-US" dirty="0"/>
          </a:p>
        </p:txBody>
      </p:sp>
      <p:sp>
        <p:nvSpPr>
          <p:cNvPr id="4" name="Rectangle 3"/>
          <p:cNvSpPr/>
          <p:nvPr/>
        </p:nvSpPr>
        <p:spPr>
          <a:xfrm>
            <a:off x="3886200" y="304801"/>
            <a:ext cx="5021888" cy="584775"/>
          </a:xfrm>
          <a:prstGeom prst="rect">
            <a:avLst/>
          </a:prstGeom>
        </p:spPr>
        <p:txBody>
          <a:bodyPr wrap="none">
            <a:spAutoFit/>
          </a:bodyPr>
          <a:lstStyle/>
          <a:p>
            <a:r>
              <a:rPr lang="en-US" sz="3200" b="1" dirty="0">
                <a:solidFill>
                  <a:srgbClr val="FF0000"/>
                </a:solidFill>
                <a:latin typeface="Tw Cen MT" panose="020B0602020104020603" pitchFamily="34" charset="0"/>
              </a:rPr>
              <a:t>Second </a:t>
            </a:r>
            <a:r>
              <a:rPr lang="en-US" sz="3200" b="1" dirty="0" err="1">
                <a:solidFill>
                  <a:srgbClr val="FF0000"/>
                </a:solidFill>
                <a:latin typeface="Tw Cen MT" panose="020B0602020104020603" pitchFamily="34" charset="0"/>
              </a:rPr>
              <a:t>Preimage</a:t>
            </a:r>
            <a:r>
              <a:rPr lang="en-US" sz="3200" b="1" dirty="0">
                <a:solidFill>
                  <a:srgbClr val="FF0000"/>
                </a:solidFill>
                <a:latin typeface="Tw Cen MT" panose="020B0602020104020603" pitchFamily="34" charset="0"/>
              </a:rPr>
              <a:t> Resistance</a:t>
            </a:r>
          </a:p>
        </p:txBody>
      </p:sp>
      <p:sp>
        <p:nvSpPr>
          <p:cNvPr id="10" name="Rectangle 9"/>
          <p:cNvSpPr>
            <a:spLocks noChangeArrowheads="1"/>
          </p:cNvSpPr>
          <p:nvPr/>
        </p:nvSpPr>
        <p:spPr bwMode="auto">
          <a:xfrm>
            <a:off x="1779795" y="998796"/>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a:solidFill>
                  <a:schemeClr val="folHlink"/>
                </a:solidFill>
                <a:latin typeface="Tw Cen MT" pitchFamily="34" charset="0"/>
              </a:rPr>
              <a:t>Second </a:t>
            </a:r>
            <a:r>
              <a:rPr lang="en-US" sz="2800" dirty="0" err="1">
                <a:solidFill>
                  <a:schemeClr val="folHlink"/>
                </a:solidFill>
                <a:latin typeface="Tw Cen MT" pitchFamily="34" charset="0"/>
              </a:rPr>
              <a:t>Preimage</a:t>
            </a:r>
            <a:r>
              <a:rPr lang="en-US" sz="2800" dirty="0">
                <a:solidFill>
                  <a:schemeClr val="folHlink"/>
                </a:solidFill>
                <a:latin typeface="Tw Cen MT" pitchFamily="34" charset="0"/>
              </a:rPr>
              <a:t> Resistance</a:t>
            </a:r>
            <a:endParaRPr lang="en-US" sz="2800" dirty="0">
              <a:latin typeface="Tw Cen MT" pitchFamily="34" charset="0"/>
            </a:endParaRPr>
          </a:p>
        </p:txBody>
      </p:sp>
      <p:pic>
        <p:nvPicPr>
          <p:cNvPr id="11"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9795" y="1590139"/>
            <a:ext cx="8583612" cy="635000"/>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 Box 13"/>
          <p:cNvSpPr txBox="1">
            <a:spLocks noChangeArrowheads="1"/>
          </p:cNvSpPr>
          <p:nvPr/>
        </p:nvSpPr>
        <p:spPr bwMode="auto">
          <a:xfrm>
            <a:off x="4624389" y="2286001"/>
            <a:ext cx="29976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dirty="0">
                <a:latin typeface="Tw Cen MT" pitchFamily="34" charset="0"/>
              </a:rPr>
              <a:t>Second </a:t>
            </a:r>
            <a:r>
              <a:rPr lang="en-US" sz="2000" dirty="0" err="1">
                <a:latin typeface="Tw Cen MT" pitchFamily="34" charset="0"/>
              </a:rPr>
              <a:t>preimage</a:t>
            </a:r>
            <a:endParaRPr lang="en-US" sz="2000" dirty="0">
              <a:latin typeface="Tw Cen MT" pitchFamily="34" charset="0"/>
            </a:endParaRPr>
          </a:p>
        </p:txBody>
      </p:sp>
      <p:pic>
        <p:nvPicPr>
          <p:cNvPr id="18"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2865438"/>
            <a:ext cx="7202488" cy="376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727541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25</a:t>
            </a:fld>
            <a:endParaRPr lang="en-US" dirty="0"/>
          </a:p>
        </p:txBody>
      </p:sp>
      <p:sp>
        <p:nvSpPr>
          <p:cNvPr id="4" name="Rectangle 3"/>
          <p:cNvSpPr/>
          <p:nvPr/>
        </p:nvSpPr>
        <p:spPr>
          <a:xfrm>
            <a:off x="3886200" y="304801"/>
            <a:ext cx="3577198" cy="584775"/>
          </a:xfrm>
          <a:prstGeom prst="rect">
            <a:avLst/>
          </a:prstGeom>
        </p:spPr>
        <p:txBody>
          <a:bodyPr wrap="none">
            <a:spAutoFit/>
          </a:bodyPr>
          <a:lstStyle/>
          <a:p>
            <a:r>
              <a:rPr lang="en-US" sz="3200" b="1" dirty="0" err="1" smtClean="0">
                <a:solidFill>
                  <a:srgbClr val="FF0000"/>
                </a:solidFill>
                <a:latin typeface="Tw Cen MT" panose="020B0602020104020603" pitchFamily="34" charset="0"/>
              </a:rPr>
              <a:t>Collison</a:t>
            </a:r>
            <a:r>
              <a:rPr lang="en-US" sz="3200" b="1" dirty="0" smtClean="0">
                <a:solidFill>
                  <a:srgbClr val="FF0000"/>
                </a:solidFill>
                <a:latin typeface="Tw Cen MT" panose="020B0602020104020603" pitchFamily="34" charset="0"/>
              </a:rPr>
              <a:t> </a:t>
            </a:r>
            <a:r>
              <a:rPr lang="en-US" sz="3200" b="1" dirty="0" smtClean="0">
                <a:solidFill>
                  <a:srgbClr val="FF0000"/>
                </a:solidFill>
                <a:latin typeface="Tw Cen MT" panose="020B0602020104020603" pitchFamily="34" charset="0"/>
              </a:rPr>
              <a:t> </a:t>
            </a:r>
            <a:r>
              <a:rPr lang="en-US" sz="3200" b="1" dirty="0">
                <a:solidFill>
                  <a:srgbClr val="FF0000"/>
                </a:solidFill>
                <a:latin typeface="Tw Cen MT" panose="020B0602020104020603" pitchFamily="34" charset="0"/>
              </a:rPr>
              <a:t>Resistance</a:t>
            </a:r>
          </a:p>
        </p:txBody>
      </p:sp>
      <p:sp>
        <p:nvSpPr>
          <p:cNvPr id="8" name="Rectangle 9"/>
          <p:cNvSpPr>
            <a:spLocks noChangeArrowheads="1"/>
          </p:cNvSpPr>
          <p:nvPr/>
        </p:nvSpPr>
        <p:spPr bwMode="auto">
          <a:xfrm>
            <a:off x="1752600" y="990601"/>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a:solidFill>
                  <a:schemeClr val="folHlink"/>
                </a:solidFill>
                <a:latin typeface="Tw Cen MT" pitchFamily="34" charset="0"/>
              </a:rPr>
              <a:t>Collision Resistance</a:t>
            </a:r>
            <a:endParaRPr lang="en-US" sz="2800">
              <a:latin typeface="Tw Cen MT" pitchFamily="34" charset="0"/>
            </a:endParaRPr>
          </a:p>
        </p:txBody>
      </p:sp>
      <p:pic>
        <p:nvPicPr>
          <p:cNvPr id="9"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9600" y="1676401"/>
            <a:ext cx="8255000" cy="682625"/>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 Box 12"/>
          <p:cNvSpPr txBox="1">
            <a:spLocks noChangeArrowheads="1"/>
          </p:cNvSpPr>
          <p:nvPr/>
        </p:nvSpPr>
        <p:spPr bwMode="auto">
          <a:xfrm>
            <a:off x="5379077" y="2921646"/>
            <a:ext cx="20361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dirty="0">
                <a:latin typeface="Tw Cen MT" pitchFamily="34" charset="0"/>
              </a:rPr>
              <a:t>Collision</a:t>
            </a:r>
          </a:p>
        </p:txBody>
      </p:sp>
      <p:pic>
        <p:nvPicPr>
          <p:cNvPr id="14"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3138" y="3833814"/>
            <a:ext cx="7129462" cy="2414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985579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26</a:t>
            </a:fld>
            <a:endParaRPr lang="en-US" dirty="0"/>
          </a:p>
        </p:txBody>
      </p:sp>
      <p:sp>
        <p:nvSpPr>
          <p:cNvPr id="4" name="Rectangle 3"/>
          <p:cNvSpPr/>
          <p:nvPr/>
        </p:nvSpPr>
        <p:spPr>
          <a:xfrm>
            <a:off x="3886200" y="304801"/>
            <a:ext cx="4014048" cy="584775"/>
          </a:xfrm>
          <a:prstGeom prst="rect">
            <a:avLst/>
          </a:prstGeom>
        </p:spPr>
        <p:txBody>
          <a:bodyPr wrap="none">
            <a:spAutoFit/>
          </a:bodyPr>
          <a:lstStyle/>
          <a:p>
            <a:r>
              <a:rPr lang="en-US" sz="3200" b="1" dirty="0">
                <a:solidFill>
                  <a:srgbClr val="FF0000"/>
                </a:solidFill>
                <a:latin typeface="Tw Cen MT" panose="020B0602020104020603" pitchFamily="34" charset="0"/>
              </a:rPr>
              <a:t>Random Oracle Model</a:t>
            </a:r>
          </a:p>
        </p:txBody>
      </p:sp>
      <p:sp>
        <p:nvSpPr>
          <p:cNvPr id="10" name="Rectangle 5"/>
          <p:cNvSpPr>
            <a:spLocks noChangeArrowheads="1"/>
          </p:cNvSpPr>
          <p:nvPr/>
        </p:nvSpPr>
        <p:spPr bwMode="auto">
          <a:xfrm>
            <a:off x="2057400" y="1447800"/>
            <a:ext cx="79248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sz="2800" dirty="0">
                <a:latin typeface="Tw Cen MT" pitchFamily="34" charset="0"/>
              </a:rPr>
              <a:t>The Random Oracle Model, which was introduced in 1993 by </a:t>
            </a:r>
            <a:r>
              <a:rPr lang="en-US" sz="2800" dirty="0" err="1">
                <a:latin typeface="Tw Cen MT" pitchFamily="34" charset="0"/>
              </a:rPr>
              <a:t>Bellare</a:t>
            </a:r>
            <a:r>
              <a:rPr lang="en-US" sz="2800" dirty="0">
                <a:latin typeface="Tw Cen MT" pitchFamily="34" charset="0"/>
              </a:rPr>
              <a:t> and </a:t>
            </a:r>
            <a:r>
              <a:rPr lang="en-US" sz="2800" dirty="0" err="1">
                <a:latin typeface="Tw Cen MT" pitchFamily="34" charset="0"/>
              </a:rPr>
              <a:t>Rogaway</a:t>
            </a:r>
            <a:r>
              <a:rPr lang="en-US" sz="2800" dirty="0">
                <a:latin typeface="Tw Cen MT" pitchFamily="34" charset="0"/>
              </a:rPr>
              <a:t>, is an </a:t>
            </a:r>
            <a:r>
              <a:rPr lang="en-US" sz="2800" dirty="0">
                <a:solidFill>
                  <a:srgbClr val="FF0000"/>
                </a:solidFill>
                <a:latin typeface="Tw Cen MT" pitchFamily="34" charset="0"/>
              </a:rPr>
              <a:t>ideal mathematical model for a hash function. </a:t>
            </a:r>
          </a:p>
        </p:txBody>
      </p:sp>
      <p:sp>
        <p:nvSpPr>
          <p:cNvPr id="11" name="Rectangle 6"/>
          <p:cNvSpPr>
            <a:spLocks noChangeArrowheads="1"/>
          </p:cNvSpPr>
          <p:nvPr/>
        </p:nvSpPr>
        <p:spPr bwMode="auto">
          <a:xfrm>
            <a:off x="2057400" y="4495800"/>
            <a:ext cx="67056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sz="2400" dirty="0">
                <a:solidFill>
                  <a:schemeClr val="hlink"/>
                </a:solidFill>
                <a:latin typeface="Tw Cen MT" pitchFamily="34" charset="0"/>
              </a:rPr>
              <a:t>1</a:t>
            </a:r>
            <a:r>
              <a:rPr lang="en-US" sz="2400" dirty="0">
                <a:solidFill>
                  <a:srgbClr val="0033CC"/>
                </a:solidFill>
                <a:latin typeface="Tw Cen MT" pitchFamily="34" charset="0"/>
              </a:rPr>
              <a:t>	Pigeonhole Principle</a:t>
            </a:r>
          </a:p>
          <a:p>
            <a:pPr>
              <a:buClr>
                <a:schemeClr val="tx1"/>
              </a:buClr>
              <a:buSzPct val="117000"/>
              <a:buFont typeface="Wingdings" pitchFamily="2" charset="2"/>
              <a:buNone/>
            </a:pPr>
            <a:r>
              <a:rPr lang="en-US" sz="2400" dirty="0">
                <a:solidFill>
                  <a:schemeClr val="hlink"/>
                </a:solidFill>
                <a:latin typeface="Tw Cen MT" pitchFamily="34" charset="0"/>
              </a:rPr>
              <a:t>2</a:t>
            </a:r>
            <a:r>
              <a:rPr lang="en-US" sz="2400" dirty="0">
                <a:solidFill>
                  <a:srgbClr val="0033CC"/>
                </a:solidFill>
                <a:latin typeface="Tw Cen MT" pitchFamily="34" charset="0"/>
              </a:rPr>
              <a:t>	Birthday Problems</a:t>
            </a:r>
          </a:p>
          <a:p>
            <a:pPr>
              <a:buClr>
                <a:schemeClr val="tx1"/>
              </a:buClr>
              <a:buSzPct val="117000"/>
              <a:buFont typeface="Wingdings" pitchFamily="2" charset="2"/>
              <a:buNone/>
            </a:pPr>
            <a:r>
              <a:rPr lang="en-US" sz="2400" dirty="0">
                <a:solidFill>
                  <a:schemeClr val="hlink"/>
                </a:solidFill>
                <a:latin typeface="Tw Cen MT" pitchFamily="34" charset="0"/>
              </a:rPr>
              <a:t>3</a:t>
            </a:r>
            <a:r>
              <a:rPr lang="en-US" sz="2400" dirty="0">
                <a:solidFill>
                  <a:srgbClr val="0033CC"/>
                </a:solidFill>
                <a:latin typeface="Tw Cen MT" pitchFamily="34" charset="0"/>
              </a:rPr>
              <a:t>	Attacks on Random Oracle Model</a:t>
            </a:r>
          </a:p>
          <a:p>
            <a:pPr>
              <a:buClr>
                <a:schemeClr val="tx1"/>
              </a:buClr>
              <a:buSzPct val="117000"/>
              <a:buFont typeface="Wingdings" pitchFamily="2" charset="2"/>
              <a:buNone/>
            </a:pPr>
            <a:r>
              <a:rPr lang="en-US" sz="2400" dirty="0">
                <a:solidFill>
                  <a:schemeClr val="hlink"/>
                </a:solidFill>
                <a:latin typeface="Tw Cen MT" pitchFamily="34" charset="0"/>
              </a:rPr>
              <a:t>4</a:t>
            </a:r>
            <a:r>
              <a:rPr lang="en-US" sz="2400" dirty="0">
                <a:solidFill>
                  <a:srgbClr val="0033CC"/>
                </a:solidFill>
                <a:latin typeface="Tw Cen MT" pitchFamily="34" charset="0"/>
              </a:rPr>
              <a:t>	Attacks on the Structure</a:t>
            </a:r>
          </a:p>
        </p:txBody>
      </p:sp>
      <p:sp>
        <p:nvSpPr>
          <p:cNvPr id="12" name="Text Box 7"/>
          <p:cNvSpPr txBox="1">
            <a:spLocks noChangeArrowheads="1"/>
          </p:cNvSpPr>
          <p:nvPr/>
        </p:nvSpPr>
        <p:spPr bwMode="auto">
          <a:xfrm>
            <a:off x="2209801" y="3704066"/>
            <a:ext cx="120590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800" u="sng" dirty="0">
                <a:solidFill>
                  <a:schemeClr val="hlink"/>
                </a:solidFill>
                <a:effectLst>
                  <a:outerShdw blurRad="38100" dist="38100" dir="2700000" algn="tl">
                    <a:srgbClr val="C0C0C0"/>
                  </a:outerShdw>
                </a:effectLst>
                <a:latin typeface="Tw Cen MT" pitchFamily="34" charset="0"/>
              </a:rPr>
              <a:t>Topics :</a:t>
            </a:r>
          </a:p>
        </p:txBody>
      </p:sp>
    </p:spTree>
    <p:extLst>
      <p:ext uri="{BB962C8B-B14F-4D97-AF65-F5344CB8AC3E}">
        <p14:creationId xmlns:p14="http://schemas.microsoft.com/office/powerpoint/2010/main" val="156462612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27</a:t>
            </a:fld>
            <a:endParaRPr lang="en-US" dirty="0"/>
          </a:p>
        </p:txBody>
      </p:sp>
      <p:sp>
        <p:nvSpPr>
          <p:cNvPr id="4" name="Rectangle 3"/>
          <p:cNvSpPr/>
          <p:nvPr/>
        </p:nvSpPr>
        <p:spPr>
          <a:xfrm>
            <a:off x="4012776" y="376054"/>
            <a:ext cx="4014048" cy="584775"/>
          </a:xfrm>
          <a:prstGeom prst="rect">
            <a:avLst/>
          </a:prstGeom>
        </p:spPr>
        <p:txBody>
          <a:bodyPr wrap="none">
            <a:spAutoFit/>
          </a:bodyPr>
          <a:lstStyle/>
          <a:p>
            <a:r>
              <a:rPr lang="en-US" sz="3200" b="1" dirty="0">
                <a:solidFill>
                  <a:srgbClr val="FF0000"/>
                </a:solidFill>
                <a:latin typeface="Tw Cen MT" panose="020B0602020104020603" pitchFamily="34" charset="0"/>
              </a:rPr>
              <a:t>Random Oracle Model</a:t>
            </a:r>
          </a:p>
        </p:txBody>
      </p:sp>
      <p:sp>
        <p:nvSpPr>
          <p:cNvPr id="10" name="Rectangle 5"/>
          <p:cNvSpPr>
            <a:spLocks noChangeArrowheads="1"/>
          </p:cNvSpPr>
          <p:nvPr/>
        </p:nvSpPr>
        <p:spPr bwMode="auto">
          <a:xfrm>
            <a:off x="2057400" y="1143000"/>
            <a:ext cx="79248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sz="2800" dirty="0">
                <a:latin typeface="Tw Cen MT" pitchFamily="34" charset="0"/>
              </a:rPr>
              <a:t>The Random Oracle Model, which was introduced in 1993 by </a:t>
            </a:r>
            <a:r>
              <a:rPr lang="en-US" sz="2800" dirty="0" err="1">
                <a:latin typeface="Tw Cen MT" pitchFamily="34" charset="0"/>
              </a:rPr>
              <a:t>Bellare</a:t>
            </a:r>
            <a:r>
              <a:rPr lang="en-US" sz="2800" dirty="0">
                <a:latin typeface="Tw Cen MT" pitchFamily="34" charset="0"/>
              </a:rPr>
              <a:t> and </a:t>
            </a:r>
            <a:r>
              <a:rPr lang="en-US" sz="2800" dirty="0" err="1">
                <a:latin typeface="Tw Cen MT" pitchFamily="34" charset="0"/>
              </a:rPr>
              <a:t>Rogaway</a:t>
            </a:r>
            <a:r>
              <a:rPr lang="en-US" sz="2800" dirty="0">
                <a:latin typeface="Tw Cen MT" pitchFamily="34" charset="0"/>
              </a:rPr>
              <a:t>, is an ideal mathematical model for a hash function. </a:t>
            </a:r>
          </a:p>
        </p:txBody>
      </p:sp>
      <p:sp>
        <p:nvSpPr>
          <p:cNvPr id="11" name="Rectangle 6"/>
          <p:cNvSpPr>
            <a:spLocks noChangeArrowheads="1"/>
          </p:cNvSpPr>
          <p:nvPr/>
        </p:nvSpPr>
        <p:spPr bwMode="auto">
          <a:xfrm>
            <a:off x="2065317" y="3581400"/>
            <a:ext cx="778328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just">
              <a:buClr>
                <a:schemeClr val="tx1"/>
              </a:buClr>
              <a:buSzPct val="100000"/>
              <a:buFont typeface="+mj-lt"/>
              <a:buAutoNum type="arabicPeriod"/>
            </a:pPr>
            <a:r>
              <a:rPr lang="en-US" sz="2400" dirty="0">
                <a:solidFill>
                  <a:srgbClr val="0033CC"/>
                </a:solidFill>
                <a:latin typeface="Tw Cen MT" pitchFamily="34" charset="0"/>
              </a:rPr>
              <a:t>For </a:t>
            </a:r>
            <a:r>
              <a:rPr lang="en-US" sz="2400" dirty="0">
                <a:solidFill>
                  <a:srgbClr val="FF0000"/>
                </a:solidFill>
                <a:latin typeface="Tw Cen MT" pitchFamily="34" charset="0"/>
              </a:rPr>
              <a:t>new message</a:t>
            </a:r>
            <a:r>
              <a:rPr lang="en-US" sz="2400" dirty="0">
                <a:solidFill>
                  <a:srgbClr val="0033CC"/>
                </a:solidFill>
                <a:latin typeface="Tw Cen MT" pitchFamily="34" charset="0"/>
              </a:rPr>
              <a:t>, creates </a:t>
            </a:r>
            <a:r>
              <a:rPr lang="en-US" sz="2400" dirty="0">
                <a:solidFill>
                  <a:srgbClr val="FF0000"/>
                </a:solidFill>
                <a:latin typeface="Tw Cen MT" pitchFamily="34" charset="0"/>
              </a:rPr>
              <a:t>random digest </a:t>
            </a:r>
            <a:r>
              <a:rPr lang="en-US" sz="2400" dirty="0">
                <a:solidFill>
                  <a:srgbClr val="0033CC"/>
                </a:solidFill>
                <a:latin typeface="Tw Cen MT" pitchFamily="34" charset="0"/>
              </a:rPr>
              <a:t>and </a:t>
            </a:r>
            <a:r>
              <a:rPr lang="en-US" sz="2400" dirty="0">
                <a:solidFill>
                  <a:srgbClr val="FF0000"/>
                </a:solidFill>
                <a:latin typeface="Tw Cen MT" pitchFamily="34" charset="0"/>
              </a:rPr>
              <a:t>stores both </a:t>
            </a:r>
            <a:r>
              <a:rPr lang="en-US" sz="2400" dirty="0">
                <a:solidFill>
                  <a:srgbClr val="0033CC"/>
                </a:solidFill>
                <a:latin typeface="Tw Cen MT" pitchFamily="34" charset="0"/>
              </a:rPr>
              <a:t>of them</a:t>
            </a:r>
          </a:p>
          <a:p>
            <a:pPr marL="457200" indent="-457200" algn="just">
              <a:buClr>
                <a:schemeClr val="tx1"/>
              </a:buClr>
              <a:buSzPct val="100000"/>
              <a:buFont typeface="+mj-lt"/>
              <a:buAutoNum type="arabicPeriod"/>
            </a:pPr>
            <a:r>
              <a:rPr lang="en-US" sz="2400" dirty="0">
                <a:solidFill>
                  <a:srgbClr val="FF0000"/>
                </a:solidFill>
                <a:latin typeface="Tw Cen MT" pitchFamily="34" charset="0"/>
              </a:rPr>
              <a:t>If message </a:t>
            </a:r>
            <a:r>
              <a:rPr lang="en-US" sz="2400" dirty="0">
                <a:solidFill>
                  <a:srgbClr val="0033CC"/>
                </a:solidFill>
                <a:latin typeface="Tw Cen MT" pitchFamily="34" charset="0"/>
              </a:rPr>
              <a:t>is  given, </a:t>
            </a:r>
            <a:r>
              <a:rPr lang="en-US" sz="2400" dirty="0">
                <a:solidFill>
                  <a:srgbClr val="FF0000"/>
                </a:solidFill>
                <a:latin typeface="Tw Cen MT" pitchFamily="34" charset="0"/>
              </a:rPr>
              <a:t>returns digest </a:t>
            </a:r>
            <a:r>
              <a:rPr lang="en-US" sz="2400" dirty="0">
                <a:solidFill>
                  <a:srgbClr val="0033CC"/>
                </a:solidFill>
                <a:latin typeface="Tw Cen MT" pitchFamily="34" charset="0"/>
              </a:rPr>
              <a:t>if exists</a:t>
            </a:r>
          </a:p>
          <a:p>
            <a:pPr marL="457200" indent="-457200" algn="just">
              <a:buClr>
                <a:schemeClr val="tx1"/>
              </a:buClr>
              <a:buSzPct val="100000"/>
              <a:buFont typeface="+mj-lt"/>
              <a:buAutoNum type="arabicPeriod"/>
            </a:pPr>
            <a:endParaRPr lang="en-US" sz="2400" dirty="0">
              <a:solidFill>
                <a:srgbClr val="0033CC"/>
              </a:solidFill>
              <a:latin typeface="Tw Cen MT" pitchFamily="34" charset="0"/>
            </a:endParaRPr>
          </a:p>
          <a:p>
            <a:pPr marL="457200" indent="-457200" algn="just">
              <a:buClr>
                <a:schemeClr val="tx1"/>
              </a:buClr>
              <a:buSzPct val="100000"/>
              <a:buFont typeface="+mj-lt"/>
              <a:buAutoNum type="arabicPeriod"/>
            </a:pPr>
            <a:r>
              <a:rPr lang="en-US" sz="2400" dirty="0">
                <a:solidFill>
                  <a:srgbClr val="FF0000"/>
                </a:solidFill>
                <a:latin typeface="Tw Cen MT" pitchFamily="34" charset="0"/>
              </a:rPr>
              <a:t>Digest for new message is independent </a:t>
            </a:r>
            <a:r>
              <a:rPr lang="en-US" sz="2400" dirty="0">
                <a:solidFill>
                  <a:srgbClr val="0033CC"/>
                </a:solidFill>
                <a:latin typeface="Tw Cen MT" pitchFamily="34" charset="0"/>
              </a:rPr>
              <a:t>from all previous digests	</a:t>
            </a:r>
          </a:p>
        </p:txBody>
      </p:sp>
      <p:sp>
        <p:nvSpPr>
          <p:cNvPr id="3" name="TextBox 2"/>
          <p:cNvSpPr txBox="1"/>
          <p:nvPr/>
        </p:nvSpPr>
        <p:spPr>
          <a:xfrm>
            <a:off x="2209800" y="2895600"/>
            <a:ext cx="6698288" cy="523220"/>
          </a:xfrm>
          <a:prstGeom prst="rect">
            <a:avLst/>
          </a:prstGeom>
          <a:noFill/>
        </p:spPr>
        <p:txBody>
          <a:bodyPr wrap="square" rtlCol="0">
            <a:spAutoFit/>
          </a:bodyPr>
          <a:lstStyle/>
          <a:p>
            <a:r>
              <a:rPr lang="en-US" sz="2800" b="1" dirty="0" err="1">
                <a:solidFill>
                  <a:srgbClr val="669900"/>
                </a:solidFill>
                <a:latin typeface="Tw Cen MT" pitchFamily="34" charset="0"/>
              </a:rPr>
              <a:t>Behaviour</a:t>
            </a:r>
            <a:r>
              <a:rPr lang="en-US" sz="2800" b="1" dirty="0">
                <a:solidFill>
                  <a:srgbClr val="669900"/>
                </a:solidFill>
                <a:latin typeface="Tw Cen MT" pitchFamily="34" charset="0"/>
              </a:rPr>
              <a:t> of Random Oracle  Model:</a:t>
            </a:r>
          </a:p>
        </p:txBody>
      </p:sp>
    </p:spTree>
    <p:extLst>
      <p:ext uri="{BB962C8B-B14F-4D97-AF65-F5344CB8AC3E}">
        <p14:creationId xmlns:p14="http://schemas.microsoft.com/office/powerpoint/2010/main" val="230690589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28</a:t>
            </a:fld>
            <a:endParaRPr lang="en-US" dirty="0"/>
          </a:p>
        </p:txBody>
      </p:sp>
      <p:sp>
        <p:nvSpPr>
          <p:cNvPr id="4" name="Rectangle 3"/>
          <p:cNvSpPr/>
          <p:nvPr/>
        </p:nvSpPr>
        <p:spPr>
          <a:xfrm>
            <a:off x="4191000" y="668441"/>
            <a:ext cx="3695242" cy="584775"/>
          </a:xfrm>
          <a:prstGeom prst="rect">
            <a:avLst/>
          </a:prstGeom>
        </p:spPr>
        <p:txBody>
          <a:bodyPr wrap="none">
            <a:spAutoFit/>
          </a:bodyPr>
          <a:lstStyle/>
          <a:p>
            <a:r>
              <a:rPr lang="en-US" sz="3200" b="1" dirty="0">
                <a:solidFill>
                  <a:srgbClr val="FF0000"/>
                </a:solidFill>
                <a:latin typeface="Tw Cen MT" panose="020B0602020104020603" pitchFamily="34" charset="0"/>
              </a:rPr>
              <a:t>Pigeonhole Principal</a:t>
            </a:r>
          </a:p>
        </p:txBody>
      </p:sp>
      <p:sp>
        <p:nvSpPr>
          <p:cNvPr id="3" name="TextBox 2"/>
          <p:cNvSpPr txBox="1"/>
          <p:nvPr/>
        </p:nvSpPr>
        <p:spPr>
          <a:xfrm>
            <a:off x="2209800" y="2895600"/>
            <a:ext cx="6698288" cy="523220"/>
          </a:xfrm>
          <a:prstGeom prst="rect">
            <a:avLst/>
          </a:prstGeom>
          <a:noFill/>
        </p:spPr>
        <p:txBody>
          <a:bodyPr wrap="square" rtlCol="0">
            <a:spAutoFit/>
          </a:bodyPr>
          <a:lstStyle/>
          <a:p>
            <a:r>
              <a:rPr lang="en-US" sz="2800" b="1" dirty="0" err="1">
                <a:solidFill>
                  <a:srgbClr val="669900"/>
                </a:solidFill>
                <a:latin typeface="Tw Cen MT" pitchFamily="34" charset="0"/>
              </a:rPr>
              <a:t>Behaviour</a:t>
            </a:r>
            <a:r>
              <a:rPr lang="en-US" sz="2800" b="1" dirty="0">
                <a:solidFill>
                  <a:srgbClr val="669900"/>
                </a:solidFill>
                <a:latin typeface="Tw Cen MT" pitchFamily="34" charset="0"/>
              </a:rPr>
              <a:t> of Random Oracle  Model:</a:t>
            </a:r>
          </a:p>
        </p:txBody>
      </p:sp>
      <p:sp>
        <p:nvSpPr>
          <p:cNvPr id="7" name="Rectangle 9"/>
          <p:cNvSpPr>
            <a:spLocks noChangeArrowheads="1"/>
          </p:cNvSpPr>
          <p:nvPr/>
        </p:nvSpPr>
        <p:spPr bwMode="auto">
          <a:xfrm>
            <a:off x="1981200" y="1219201"/>
            <a:ext cx="8382000" cy="22272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sz="2800" dirty="0">
                <a:latin typeface="Tw Cen MT" pitchFamily="34" charset="0"/>
              </a:rPr>
              <a:t>If </a:t>
            </a:r>
            <a:r>
              <a:rPr lang="en-US" sz="2800" b="1" dirty="0">
                <a:solidFill>
                  <a:srgbClr val="FF0000"/>
                </a:solidFill>
                <a:latin typeface="Tw Cen MT" pitchFamily="34" charset="0"/>
              </a:rPr>
              <a:t>n</a:t>
            </a:r>
            <a:r>
              <a:rPr lang="en-US" sz="2800" dirty="0">
                <a:latin typeface="Tw Cen MT" pitchFamily="34" charset="0"/>
              </a:rPr>
              <a:t> pigeonholes are occupied by </a:t>
            </a:r>
            <a:r>
              <a:rPr lang="en-US" sz="2800" b="1" dirty="0">
                <a:solidFill>
                  <a:srgbClr val="FF0000"/>
                </a:solidFill>
                <a:latin typeface="Tw Cen MT" pitchFamily="34" charset="0"/>
              </a:rPr>
              <a:t>n + 1</a:t>
            </a:r>
            <a:r>
              <a:rPr lang="en-US" sz="2800" b="1" dirty="0">
                <a:latin typeface="Tw Cen MT" pitchFamily="34" charset="0"/>
              </a:rPr>
              <a:t> </a:t>
            </a:r>
            <a:r>
              <a:rPr lang="en-US" sz="2800" dirty="0">
                <a:latin typeface="Tw Cen MT" pitchFamily="34" charset="0"/>
              </a:rPr>
              <a:t>pigeons, then </a:t>
            </a:r>
            <a:r>
              <a:rPr lang="en-US" sz="2800" dirty="0">
                <a:solidFill>
                  <a:srgbClr val="FF0000"/>
                </a:solidFill>
                <a:latin typeface="Tw Cen MT" pitchFamily="34" charset="0"/>
              </a:rPr>
              <a:t>at least one pigeonhole</a:t>
            </a:r>
            <a:r>
              <a:rPr lang="en-US" sz="2800" dirty="0">
                <a:latin typeface="Tw Cen MT" pitchFamily="34" charset="0"/>
              </a:rPr>
              <a:t> </a:t>
            </a:r>
            <a:r>
              <a:rPr lang="en-US" sz="2800" dirty="0">
                <a:solidFill>
                  <a:srgbClr val="FF0000"/>
                </a:solidFill>
                <a:latin typeface="Tw Cen MT" pitchFamily="34" charset="0"/>
              </a:rPr>
              <a:t>is occupied by </a:t>
            </a:r>
            <a:r>
              <a:rPr lang="en-US" sz="2800" b="1" dirty="0">
                <a:solidFill>
                  <a:srgbClr val="FF0000"/>
                </a:solidFill>
                <a:latin typeface="Tw Cen MT" pitchFamily="34" charset="0"/>
              </a:rPr>
              <a:t>two pigeons</a:t>
            </a:r>
            <a:r>
              <a:rPr lang="en-US" sz="2800" dirty="0">
                <a:solidFill>
                  <a:srgbClr val="FF0000"/>
                </a:solidFill>
                <a:latin typeface="Tw Cen MT" pitchFamily="34" charset="0"/>
              </a:rPr>
              <a:t>.</a:t>
            </a:r>
            <a:r>
              <a:rPr lang="en-US" sz="2800" dirty="0">
                <a:latin typeface="Tw Cen MT" pitchFamily="34" charset="0"/>
              </a:rPr>
              <a:t> The generalized version of the pigeonhole principle is that if </a:t>
            </a:r>
            <a:r>
              <a:rPr lang="en-US" sz="2800" b="1" dirty="0">
                <a:solidFill>
                  <a:srgbClr val="0000FF"/>
                </a:solidFill>
                <a:latin typeface="Tw Cen MT" pitchFamily="34" charset="0"/>
              </a:rPr>
              <a:t>n</a:t>
            </a:r>
            <a:r>
              <a:rPr lang="en-US" sz="2800" dirty="0">
                <a:solidFill>
                  <a:srgbClr val="FF0000"/>
                </a:solidFill>
                <a:latin typeface="Tw Cen MT" pitchFamily="34" charset="0"/>
              </a:rPr>
              <a:t> </a:t>
            </a:r>
            <a:r>
              <a:rPr lang="en-US" sz="2800" dirty="0">
                <a:latin typeface="Tw Cen MT" pitchFamily="34" charset="0"/>
              </a:rPr>
              <a:t>pigeonholes are occupied by </a:t>
            </a:r>
            <a:r>
              <a:rPr lang="en-US" sz="2800" b="1" dirty="0" err="1">
                <a:solidFill>
                  <a:srgbClr val="0000FF"/>
                </a:solidFill>
                <a:latin typeface="Tw Cen MT" pitchFamily="34" charset="0"/>
              </a:rPr>
              <a:t>kn</a:t>
            </a:r>
            <a:r>
              <a:rPr lang="en-US" sz="2800" b="1" dirty="0">
                <a:solidFill>
                  <a:srgbClr val="0000FF"/>
                </a:solidFill>
                <a:latin typeface="Tw Cen MT" pitchFamily="34" charset="0"/>
              </a:rPr>
              <a:t> + 1 </a:t>
            </a:r>
            <a:r>
              <a:rPr lang="en-US" sz="2800" dirty="0">
                <a:latin typeface="Tw Cen MT" pitchFamily="34" charset="0"/>
              </a:rPr>
              <a:t>pigeons, then at least one pigeonhole is occupied by </a:t>
            </a:r>
            <a:r>
              <a:rPr lang="en-US" sz="2800" b="1" dirty="0">
                <a:solidFill>
                  <a:srgbClr val="0000FF"/>
                </a:solidFill>
                <a:latin typeface="Tw Cen MT" pitchFamily="34" charset="0"/>
              </a:rPr>
              <a:t>k + 1 </a:t>
            </a:r>
            <a:r>
              <a:rPr lang="en-US" sz="2800" dirty="0">
                <a:latin typeface="Tw Cen MT" pitchFamily="34" charset="0"/>
              </a:rPr>
              <a:t>pigeons.</a:t>
            </a:r>
          </a:p>
        </p:txBody>
      </p:sp>
      <p:pic>
        <p:nvPicPr>
          <p:cNvPr id="6" name="Picture 5"/>
          <p:cNvPicPr>
            <a:picLocks noChangeAspect="1"/>
          </p:cNvPicPr>
          <p:nvPr/>
        </p:nvPicPr>
        <p:blipFill>
          <a:blip r:embed="rId2"/>
          <a:stretch>
            <a:fillRect/>
          </a:stretch>
        </p:blipFill>
        <p:spPr>
          <a:xfrm>
            <a:off x="4038600" y="3657600"/>
            <a:ext cx="4252912" cy="2633602"/>
          </a:xfrm>
          <a:prstGeom prst="rect">
            <a:avLst/>
          </a:prstGeom>
        </p:spPr>
      </p:pic>
      <p:sp>
        <p:nvSpPr>
          <p:cNvPr id="8" name="TextBox 7"/>
          <p:cNvSpPr txBox="1"/>
          <p:nvPr/>
        </p:nvSpPr>
        <p:spPr>
          <a:xfrm>
            <a:off x="2438400" y="4495800"/>
            <a:ext cx="1143000" cy="369332"/>
          </a:xfrm>
          <a:prstGeom prst="rect">
            <a:avLst/>
          </a:prstGeom>
          <a:noFill/>
        </p:spPr>
        <p:txBody>
          <a:bodyPr wrap="square" rtlCol="0">
            <a:spAutoFit/>
          </a:bodyPr>
          <a:lstStyle/>
          <a:p>
            <a:r>
              <a:rPr lang="en-GB" dirty="0" smtClean="0"/>
              <a:t>n=12</a:t>
            </a:r>
            <a:endParaRPr lang="en-GB" dirty="0"/>
          </a:p>
        </p:txBody>
      </p:sp>
    </p:spTree>
    <p:extLst>
      <p:ext uri="{BB962C8B-B14F-4D97-AF65-F5344CB8AC3E}">
        <p14:creationId xmlns:p14="http://schemas.microsoft.com/office/powerpoint/2010/main" val="124010622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29</a:t>
            </a:fld>
            <a:endParaRPr lang="en-US" dirty="0"/>
          </a:p>
        </p:txBody>
      </p:sp>
      <p:sp>
        <p:nvSpPr>
          <p:cNvPr id="4" name="Rectangle 3"/>
          <p:cNvSpPr/>
          <p:nvPr/>
        </p:nvSpPr>
        <p:spPr>
          <a:xfrm>
            <a:off x="4191000" y="668441"/>
            <a:ext cx="3695242" cy="584775"/>
          </a:xfrm>
          <a:prstGeom prst="rect">
            <a:avLst/>
          </a:prstGeom>
        </p:spPr>
        <p:txBody>
          <a:bodyPr wrap="none">
            <a:spAutoFit/>
          </a:bodyPr>
          <a:lstStyle/>
          <a:p>
            <a:r>
              <a:rPr lang="en-US" sz="3200" b="1" dirty="0">
                <a:solidFill>
                  <a:srgbClr val="FF0000"/>
                </a:solidFill>
                <a:latin typeface="Tw Cen MT" panose="020B0602020104020603" pitchFamily="34" charset="0"/>
              </a:rPr>
              <a:t>Pigeonhole Principal</a:t>
            </a:r>
          </a:p>
        </p:txBody>
      </p:sp>
      <p:sp>
        <p:nvSpPr>
          <p:cNvPr id="6" name="Rectangle 11"/>
          <p:cNvSpPr>
            <a:spLocks noChangeArrowheads="1"/>
          </p:cNvSpPr>
          <p:nvPr/>
        </p:nvSpPr>
        <p:spPr bwMode="auto">
          <a:xfrm>
            <a:off x="1981201" y="2286000"/>
            <a:ext cx="815340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sz="2400" dirty="0">
                <a:latin typeface="Tw Cen MT" pitchFamily="34" charset="0"/>
              </a:rPr>
              <a:t>Assume that the messages in a hash function are 6 bits long and the digests are only 4 bits long. Then the possible number of digests (pigeonholes) is 24 = 16, and the possible number of messages (pigeons) is 26 = 64. This means </a:t>
            </a:r>
            <a:r>
              <a:rPr lang="en-US" sz="2400" i="1" dirty="0">
                <a:latin typeface="Tw Cen MT" pitchFamily="34" charset="0"/>
              </a:rPr>
              <a:t>n</a:t>
            </a:r>
            <a:r>
              <a:rPr lang="en-US" sz="2400" dirty="0">
                <a:latin typeface="Tw Cen MT" pitchFamily="34" charset="0"/>
              </a:rPr>
              <a:t> = 16 and </a:t>
            </a:r>
            <a:r>
              <a:rPr lang="en-US" sz="2400" i="1" dirty="0" err="1">
                <a:latin typeface="Tw Cen MT" pitchFamily="34" charset="0"/>
              </a:rPr>
              <a:t>kn</a:t>
            </a:r>
            <a:r>
              <a:rPr lang="en-US" sz="2400" dirty="0">
                <a:latin typeface="Tw Cen MT" pitchFamily="34" charset="0"/>
              </a:rPr>
              <a:t> + 1 = 64, so </a:t>
            </a:r>
            <a:r>
              <a:rPr lang="en-US" sz="2400" i="1" dirty="0">
                <a:latin typeface="Tw Cen MT" pitchFamily="34" charset="0"/>
              </a:rPr>
              <a:t>k</a:t>
            </a:r>
            <a:r>
              <a:rPr lang="en-US" sz="2400" dirty="0">
                <a:latin typeface="Tw Cen MT" pitchFamily="34" charset="0"/>
              </a:rPr>
              <a:t> is larger than 3. The conclusion is that at least one digest corresponds to </a:t>
            </a:r>
            <a:r>
              <a:rPr lang="en-US" sz="2400" dirty="0">
                <a:solidFill>
                  <a:srgbClr val="FF0000"/>
                </a:solidFill>
                <a:latin typeface="Tw Cen MT" pitchFamily="34" charset="0"/>
              </a:rPr>
              <a:t>four (i.e., </a:t>
            </a:r>
            <a:r>
              <a:rPr lang="en-US" sz="2400" i="1" dirty="0">
                <a:solidFill>
                  <a:srgbClr val="FF0000"/>
                </a:solidFill>
                <a:latin typeface="Tw Cen MT" pitchFamily="34" charset="0"/>
              </a:rPr>
              <a:t>k</a:t>
            </a:r>
            <a:r>
              <a:rPr lang="en-US" sz="2400" dirty="0">
                <a:solidFill>
                  <a:srgbClr val="FF0000"/>
                </a:solidFill>
                <a:latin typeface="Tw Cen MT" pitchFamily="34" charset="0"/>
              </a:rPr>
              <a:t> + 1) messages</a:t>
            </a:r>
            <a:r>
              <a:rPr lang="en-US" sz="2400" dirty="0">
                <a:latin typeface="Tw Cen MT" pitchFamily="34" charset="0"/>
              </a:rPr>
              <a:t>.</a:t>
            </a:r>
          </a:p>
        </p:txBody>
      </p:sp>
      <p:sp>
        <p:nvSpPr>
          <p:cNvPr id="8" name="Text Box 12"/>
          <p:cNvSpPr txBox="1">
            <a:spLocks noChangeArrowheads="1"/>
          </p:cNvSpPr>
          <p:nvPr/>
        </p:nvSpPr>
        <p:spPr bwMode="auto">
          <a:xfrm>
            <a:off x="1981200" y="1600200"/>
            <a:ext cx="1324402" cy="46166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bg1"/>
                </a:solidFill>
                <a:latin typeface="Tw Cen MT" pitchFamily="34" charset="0"/>
              </a:rPr>
              <a:t>Example </a:t>
            </a:r>
            <a:endParaRPr lang="en-US" sz="2000" i="1" dirty="0">
              <a:solidFill>
                <a:schemeClr val="bg1"/>
              </a:solidFill>
              <a:latin typeface="Tw Cen MT" pitchFamily="34" charset="0"/>
            </a:endParaRPr>
          </a:p>
        </p:txBody>
      </p:sp>
    </p:spTree>
    <p:extLst>
      <p:ext uri="{BB962C8B-B14F-4D97-AF65-F5344CB8AC3E}">
        <p14:creationId xmlns:p14="http://schemas.microsoft.com/office/powerpoint/2010/main" val="132727641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30</a:t>
            </a:fld>
            <a:endParaRPr lang="en-US" dirty="0"/>
          </a:p>
        </p:txBody>
      </p:sp>
      <p:grpSp>
        <p:nvGrpSpPr>
          <p:cNvPr id="20" name="Group 19"/>
          <p:cNvGrpSpPr/>
          <p:nvPr/>
        </p:nvGrpSpPr>
        <p:grpSpPr>
          <a:xfrm>
            <a:off x="1751610" y="668439"/>
            <a:ext cx="8840190" cy="5921492"/>
            <a:chOff x="227610" y="668439"/>
            <a:chExt cx="8840190" cy="5921492"/>
          </a:xfrm>
        </p:grpSpPr>
        <p:sp>
          <p:nvSpPr>
            <p:cNvPr id="4" name="Rectangle 3"/>
            <p:cNvSpPr/>
            <p:nvPr/>
          </p:nvSpPr>
          <p:spPr>
            <a:xfrm>
              <a:off x="2999002" y="668439"/>
              <a:ext cx="3332579" cy="584775"/>
            </a:xfrm>
            <a:prstGeom prst="rect">
              <a:avLst/>
            </a:prstGeom>
          </p:spPr>
          <p:txBody>
            <a:bodyPr wrap="none">
              <a:spAutoFit/>
            </a:bodyPr>
            <a:lstStyle/>
            <a:p>
              <a:r>
                <a:rPr lang="en-US" sz="3200" b="1" dirty="0">
                  <a:solidFill>
                    <a:srgbClr val="FF0000"/>
                  </a:solidFill>
                  <a:latin typeface="Tw Cen MT" panose="020B0602020104020603" pitchFamily="34" charset="0"/>
                </a:rPr>
                <a:t>Birthday Problems</a:t>
              </a:r>
            </a:p>
          </p:txBody>
        </p:sp>
        <p:sp>
          <p:nvSpPr>
            <p:cNvPr id="11" name="Text Box 11"/>
            <p:cNvSpPr txBox="1">
              <a:spLocks noChangeArrowheads="1"/>
            </p:cNvSpPr>
            <p:nvPr/>
          </p:nvSpPr>
          <p:spPr bwMode="auto">
            <a:xfrm>
              <a:off x="337457" y="1253214"/>
              <a:ext cx="83119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dirty="0">
                  <a:latin typeface="Tw Cen MT" pitchFamily="34" charset="0"/>
                </a:rPr>
                <a:t>Four birthday problems are usually encountered in Probability courses</a:t>
              </a:r>
            </a:p>
          </p:txBody>
        </p:sp>
        <p:pic>
          <p:nvPicPr>
            <p:cNvPr id="12"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907840"/>
              <a:ext cx="6781800" cy="4035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304800" y="4800600"/>
              <a:ext cx="1143000" cy="646331"/>
            </a:xfrm>
            <a:prstGeom prst="rect">
              <a:avLst/>
            </a:prstGeom>
            <a:noFill/>
          </p:spPr>
          <p:txBody>
            <a:bodyPr wrap="square" rtlCol="0">
              <a:spAutoFit/>
            </a:bodyPr>
            <a:lstStyle/>
            <a:p>
              <a:r>
                <a:rPr lang="en-US" b="1" dirty="0" smtClean="0">
                  <a:solidFill>
                    <a:srgbClr val="0000FF"/>
                  </a:solidFill>
                </a:rPr>
                <a:t>Birthday paradox</a:t>
              </a:r>
              <a:endParaRPr lang="en-US" b="1" dirty="0">
                <a:solidFill>
                  <a:srgbClr val="0000FF"/>
                </a:solidFill>
              </a:endParaRPr>
            </a:p>
          </p:txBody>
        </p:sp>
        <p:sp>
          <p:nvSpPr>
            <p:cNvPr id="5" name="TextBox 4"/>
            <p:cNvSpPr txBox="1"/>
            <p:nvPr/>
          </p:nvSpPr>
          <p:spPr>
            <a:xfrm>
              <a:off x="227610" y="2057400"/>
              <a:ext cx="1143000" cy="1477328"/>
            </a:xfrm>
            <a:prstGeom prst="rect">
              <a:avLst/>
            </a:prstGeom>
            <a:noFill/>
          </p:spPr>
          <p:txBody>
            <a:bodyPr wrap="square" rtlCol="0">
              <a:spAutoFit/>
            </a:bodyPr>
            <a:lstStyle/>
            <a:p>
              <a:r>
                <a:rPr lang="en-US" dirty="0" smtClean="0">
                  <a:solidFill>
                    <a:srgbClr val="FF0000"/>
                  </a:solidFill>
                </a:rPr>
                <a:t>What Min number, k, list size</a:t>
              </a:r>
              <a:endParaRPr lang="en-US" dirty="0">
                <a:solidFill>
                  <a:srgbClr val="FF0000"/>
                </a:solidFill>
              </a:endParaRPr>
            </a:p>
          </p:txBody>
        </p:sp>
        <p:sp>
          <p:nvSpPr>
            <p:cNvPr id="13" name="TextBox 12"/>
            <p:cNvSpPr txBox="1"/>
            <p:nvPr/>
          </p:nvSpPr>
          <p:spPr>
            <a:xfrm>
              <a:off x="3657600" y="2590800"/>
              <a:ext cx="1447800" cy="646331"/>
            </a:xfrm>
            <a:prstGeom prst="rect">
              <a:avLst/>
            </a:prstGeom>
            <a:noFill/>
          </p:spPr>
          <p:txBody>
            <a:bodyPr wrap="square" rtlCol="0">
              <a:spAutoFit/>
            </a:bodyPr>
            <a:lstStyle/>
            <a:p>
              <a:r>
                <a:rPr lang="en-US" dirty="0" smtClean="0">
                  <a:solidFill>
                    <a:srgbClr val="FF0000"/>
                  </a:solidFill>
                </a:rPr>
                <a:t>At least one matches</a:t>
              </a:r>
              <a:endParaRPr lang="en-US" dirty="0">
                <a:solidFill>
                  <a:srgbClr val="FF0000"/>
                </a:solidFill>
              </a:endParaRPr>
            </a:p>
          </p:txBody>
        </p:sp>
        <p:sp>
          <p:nvSpPr>
            <p:cNvPr id="14" name="TextBox 13"/>
            <p:cNvSpPr txBox="1"/>
            <p:nvPr/>
          </p:nvSpPr>
          <p:spPr>
            <a:xfrm>
              <a:off x="7162800" y="1907840"/>
              <a:ext cx="1752600" cy="369332"/>
            </a:xfrm>
            <a:prstGeom prst="rect">
              <a:avLst/>
            </a:prstGeom>
            <a:noFill/>
          </p:spPr>
          <p:txBody>
            <a:bodyPr wrap="square" rtlCol="0">
              <a:spAutoFit/>
            </a:bodyPr>
            <a:lstStyle/>
            <a:p>
              <a:r>
                <a:rPr lang="en-US" dirty="0" smtClean="0">
                  <a:solidFill>
                    <a:srgbClr val="FF0000"/>
                  </a:solidFill>
                </a:rPr>
                <a:t>Selected value</a:t>
              </a:r>
              <a:endParaRPr lang="en-US" dirty="0">
                <a:solidFill>
                  <a:srgbClr val="FF0000"/>
                </a:solidFill>
              </a:endParaRPr>
            </a:p>
          </p:txBody>
        </p:sp>
        <p:sp>
          <p:nvSpPr>
            <p:cNvPr id="15" name="TextBox 14"/>
            <p:cNvSpPr txBox="1"/>
            <p:nvPr/>
          </p:nvSpPr>
          <p:spPr>
            <a:xfrm>
              <a:off x="2628900" y="4191000"/>
              <a:ext cx="1752600" cy="369332"/>
            </a:xfrm>
            <a:prstGeom prst="rect">
              <a:avLst/>
            </a:prstGeom>
            <a:noFill/>
          </p:spPr>
          <p:txBody>
            <a:bodyPr wrap="square" rtlCol="0">
              <a:spAutoFit/>
            </a:bodyPr>
            <a:lstStyle/>
            <a:p>
              <a:r>
                <a:rPr lang="en-US" dirty="0" smtClean="0">
                  <a:solidFill>
                    <a:srgbClr val="FF0000"/>
                  </a:solidFill>
                </a:rPr>
                <a:t>Any two values</a:t>
              </a:r>
              <a:endParaRPr lang="en-US" dirty="0">
                <a:solidFill>
                  <a:srgbClr val="FF0000"/>
                </a:solidFill>
              </a:endParaRPr>
            </a:p>
          </p:txBody>
        </p:sp>
        <p:sp>
          <p:nvSpPr>
            <p:cNvPr id="16" name="TextBox 15"/>
            <p:cNvSpPr txBox="1"/>
            <p:nvPr/>
          </p:nvSpPr>
          <p:spPr>
            <a:xfrm>
              <a:off x="4998081" y="5943600"/>
              <a:ext cx="2667000" cy="646331"/>
            </a:xfrm>
            <a:prstGeom prst="rect">
              <a:avLst/>
            </a:prstGeom>
            <a:noFill/>
          </p:spPr>
          <p:txBody>
            <a:bodyPr wrap="square" rtlCol="0">
              <a:spAutoFit/>
            </a:bodyPr>
            <a:lstStyle/>
            <a:p>
              <a:r>
                <a:rPr lang="en-US" dirty="0" smtClean="0">
                  <a:solidFill>
                    <a:srgbClr val="FF0000"/>
                  </a:solidFill>
                </a:rPr>
                <a:t>Min number k values (same two </a:t>
              </a:r>
              <a:r>
                <a:rPr lang="en-US" dirty="0" err="1" smtClean="0">
                  <a:solidFill>
                    <a:srgbClr val="FF0000"/>
                  </a:solidFill>
                </a:rPr>
                <a:t>sts</a:t>
              </a:r>
              <a:r>
                <a:rPr lang="en-US" dirty="0" smtClean="0">
                  <a:solidFill>
                    <a:srgbClr val="FF0000"/>
                  </a:solidFill>
                </a:rPr>
                <a:t>)</a:t>
              </a:r>
              <a:endParaRPr lang="en-US" dirty="0">
                <a:solidFill>
                  <a:srgbClr val="FF0000"/>
                </a:solidFill>
              </a:endParaRPr>
            </a:p>
          </p:txBody>
        </p:sp>
        <p:sp>
          <p:nvSpPr>
            <p:cNvPr id="17" name="TextBox 16"/>
            <p:cNvSpPr txBox="1"/>
            <p:nvPr/>
          </p:nvSpPr>
          <p:spPr>
            <a:xfrm>
              <a:off x="5609606" y="4205844"/>
              <a:ext cx="1752600" cy="369332"/>
            </a:xfrm>
            <a:prstGeom prst="rect">
              <a:avLst/>
            </a:prstGeom>
            <a:noFill/>
          </p:spPr>
          <p:txBody>
            <a:bodyPr wrap="square" rtlCol="0">
              <a:spAutoFit/>
            </a:bodyPr>
            <a:lstStyle/>
            <a:p>
              <a:r>
                <a:rPr lang="en-US" dirty="0">
                  <a:solidFill>
                    <a:srgbClr val="FF0000"/>
                  </a:solidFill>
                </a:rPr>
                <a:t> </a:t>
              </a:r>
              <a:r>
                <a:rPr lang="en-US" dirty="0" smtClean="0">
                  <a:solidFill>
                    <a:srgbClr val="FF0000"/>
                  </a:solidFill>
                </a:rPr>
                <a:t>any value</a:t>
              </a:r>
              <a:endParaRPr lang="en-US" dirty="0">
                <a:solidFill>
                  <a:srgbClr val="FF0000"/>
                </a:solidFill>
              </a:endParaRPr>
            </a:p>
          </p:txBody>
        </p:sp>
        <p:sp>
          <p:nvSpPr>
            <p:cNvPr id="19" name="TextBox 18"/>
            <p:cNvSpPr txBox="1"/>
            <p:nvPr/>
          </p:nvSpPr>
          <p:spPr>
            <a:xfrm>
              <a:off x="7924800" y="4939099"/>
              <a:ext cx="1143000" cy="646331"/>
            </a:xfrm>
            <a:prstGeom prst="rect">
              <a:avLst/>
            </a:prstGeom>
            <a:noFill/>
          </p:spPr>
          <p:txBody>
            <a:bodyPr wrap="square" rtlCol="0">
              <a:spAutoFit/>
            </a:bodyPr>
            <a:lstStyle/>
            <a:p>
              <a:r>
                <a:rPr lang="en-US" dirty="0">
                  <a:solidFill>
                    <a:srgbClr val="FF0000"/>
                  </a:solidFill>
                </a:rPr>
                <a:t> </a:t>
              </a:r>
              <a:r>
                <a:rPr lang="en-US" dirty="0" smtClean="0">
                  <a:solidFill>
                    <a:srgbClr val="FF0000"/>
                  </a:solidFill>
                </a:rPr>
                <a:t>any value</a:t>
              </a:r>
              <a:endParaRPr lang="en-US" dirty="0">
                <a:solidFill>
                  <a:srgbClr val="FF0000"/>
                </a:solidFill>
              </a:endParaRPr>
            </a:p>
          </p:txBody>
        </p:sp>
      </p:grpSp>
    </p:spTree>
    <p:extLst>
      <p:ext uri="{BB962C8B-B14F-4D97-AF65-F5344CB8AC3E}">
        <p14:creationId xmlns:p14="http://schemas.microsoft.com/office/powerpoint/2010/main" val="379916255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31</a:t>
            </a:fld>
            <a:endParaRPr lang="en-US" dirty="0"/>
          </a:p>
        </p:txBody>
      </p:sp>
      <p:sp>
        <p:nvSpPr>
          <p:cNvPr id="4" name="Rectangle 3"/>
          <p:cNvSpPr/>
          <p:nvPr/>
        </p:nvSpPr>
        <p:spPr>
          <a:xfrm>
            <a:off x="4636717" y="533401"/>
            <a:ext cx="3332579" cy="584775"/>
          </a:xfrm>
          <a:prstGeom prst="rect">
            <a:avLst/>
          </a:prstGeom>
        </p:spPr>
        <p:txBody>
          <a:bodyPr wrap="none">
            <a:spAutoFit/>
          </a:bodyPr>
          <a:lstStyle/>
          <a:p>
            <a:r>
              <a:rPr lang="en-US" sz="3200" b="1" dirty="0">
                <a:solidFill>
                  <a:srgbClr val="FF0000"/>
                </a:solidFill>
                <a:latin typeface="Tw Cen MT" panose="020B0602020104020603" pitchFamily="34" charset="0"/>
              </a:rPr>
              <a:t>Birthday Problems</a:t>
            </a:r>
          </a:p>
        </p:txBody>
      </p:sp>
      <p:pic>
        <p:nvPicPr>
          <p:cNvPr id="6" name="Picture 5"/>
          <p:cNvPicPr>
            <a:picLocks noChangeAspect="1"/>
          </p:cNvPicPr>
          <p:nvPr/>
        </p:nvPicPr>
        <p:blipFill>
          <a:blip r:embed="rId2"/>
          <a:stretch>
            <a:fillRect/>
          </a:stretch>
        </p:blipFill>
        <p:spPr>
          <a:xfrm>
            <a:off x="2133601" y="1371601"/>
            <a:ext cx="7743825" cy="4524375"/>
          </a:xfrm>
          <a:prstGeom prst="rect">
            <a:avLst/>
          </a:prstGeom>
        </p:spPr>
      </p:pic>
    </p:spTree>
    <p:extLst>
      <p:ext uri="{BB962C8B-B14F-4D97-AF65-F5344CB8AC3E}">
        <p14:creationId xmlns:p14="http://schemas.microsoft.com/office/powerpoint/2010/main" val="72929518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32</a:t>
            </a:fld>
            <a:endParaRPr lang="en-US" dirty="0"/>
          </a:p>
        </p:txBody>
      </p:sp>
      <p:sp>
        <p:nvSpPr>
          <p:cNvPr id="4" name="Rectangle 3"/>
          <p:cNvSpPr/>
          <p:nvPr/>
        </p:nvSpPr>
        <p:spPr>
          <a:xfrm>
            <a:off x="4636717" y="533401"/>
            <a:ext cx="3332579" cy="584775"/>
          </a:xfrm>
          <a:prstGeom prst="rect">
            <a:avLst/>
          </a:prstGeom>
        </p:spPr>
        <p:txBody>
          <a:bodyPr wrap="none">
            <a:spAutoFit/>
          </a:bodyPr>
          <a:lstStyle/>
          <a:p>
            <a:r>
              <a:rPr lang="en-US" sz="3200" b="1" dirty="0">
                <a:solidFill>
                  <a:srgbClr val="FF0000"/>
                </a:solidFill>
                <a:latin typeface="Tw Cen MT" panose="020B0602020104020603" pitchFamily="34" charset="0"/>
              </a:rPr>
              <a:t>Birthday Problems</a:t>
            </a:r>
          </a:p>
        </p:txBody>
      </p:sp>
      <p:pic>
        <p:nvPicPr>
          <p:cNvPr id="3" name="Picture 2"/>
          <p:cNvPicPr>
            <a:picLocks noChangeAspect="1"/>
          </p:cNvPicPr>
          <p:nvPr/>
        </p:nvPicPr>
        <p:blipFill>
          <a:blip r:embed="rId2"/>
          <a:stretch>
            <a:fillRect/>
          </a:stretch>
        </p:blipFill>
        <p:spPr>
          <a:xfrm>
            <a:off x="1981201" y="1447801"/>
            <a:ext cx="8201025" cy="4600575"/>
          </a:xfrm>
          <a:prstGeom prst="rect">
            <a:avLst/>
          </a:prstGeom>
        </p:spPr>
      </p:pic>
      <p:pic>
        <p:nvPicPr>
          <p:cNvPr id="9" name="Picture 8"/>
          <p:cNvPicPr>
            <a:picLocks noChangeAspect="1"/>
          </p:cNvPicPr>
          <p:nvPr/>
        </p:nvPicPr>
        <p:blipFill>
          <a:blip r:embed="rId3"/>
          <a:stretch>
            <a:fillRect/>
          </a:stretch>
        </p:blipFill>
        <p:spPr>
          <a:xfrm>
            <a:off x="1981200" y="5257801"/>
            <a:ext cx="609600" cy="561975"/>
          </a:xfrm>
          <a:prstGeom prst="rect">
            <a:avLst/>
          </a:prstGeom>
        </p:spPr>
      </p:pic>
      <p:pic>
        <p:nvPicPr>
          <p:cNvPr id="10" name="Picture 9"/>
          <p:cNvPicPr>
            <a:picLocks noChangeAspect="1"/>
          </p:cNvPicPr>
          <p:nvPr/>
        </p:nvPicPr>
        <p:blipFill>
          <a:blip r:embed="rId4"/>
          <a:stretch>
            <a:fillRect/>
          </a:stretch>
        </p:blipFill>
        <p:spPr>
          <a:xfrm>
            <a:off x="2438400" y="5334001"/>
            <a:ext cx="607030" cy="523875"/>
          </a:xfrm>
          <a:prstGeom prst="rect">
            <a:avLst/>
          </a:prstGeom>
        </p:spPr>
      </p:pic>
    </p:spTree>
    <p:extLst>
      <p:ext uri="{BB962C8B-B14F-4D97-AF65-F5344CB8AC3E}">
        <p14:creationId xmlns:p14="http://schemas.microsoft.com/office/powerpoint/2010/main" val="165002613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33</a:t>
            </a:fld>
            <a:endParaRPr lang="en-US" dirty="0"/>
          </a:p>
        </p:txBody>
      </p:sp>
      <p:sp>
        <p:nvSpPr>
          <p:cNvPr id="4" name="Rectangle 3"/>
          <p:cNvSpPr/>
          <p:nvPr/>
        </p:nvSpPr>
        <p:spPr>
          <a:xfrm>
            <a:off x="4636717" y="533401"/>
            <a:ext cx="3332579" cy="584775"/>
          </a:xfrm>
          <a:prstGeom prst="rect">
            <a:avLst/>
          </a:prstGeom>
        </p:spPr>
        <p:txBody>
          <a:bodyPr wrap="none">
            <a:spAutoFit/>
          </a:bodyPr>
          <a:lstStyle/>
          <a:p>
            <a:r>
              <a:rPr lang="en-US" sz="3200" b="1" dirty="0">
                <a:solidFill>
                  <a:srgbClr val="FF0000"/>
                </a:solidFill>
                <a:latin typeface="Tw Cen MT" panose="020B0602020104020603" pitchFamily="34" charset="0"/>
              </a:rPr>
              <a:t>Birthday Problems</a:t>
            </a:r>
          </a:p>
        </p:txBody>
      </p:sp>
      <p:pic>
        <p:nvPicPr>
          <p:cNvPr id="5" name="Picture 4"/>
          <p:cNvPicPr>
            <a:picLocks noChangeAspect="1"/>
          </p:cNvPicPr>
          <p:nvPr/>
        </p:nvPicPr>
        <p:blipFill>
          <a:blip r:embed="rId2"/>
          <a:stretch>
            <a:fillRect/>
          </a:stretch>
        </p:blipFill>
        <p:spPr>
          <a:xfrm>
            <a:off x="2005013" y="1528763"/>
            <a:ext cx="8181975" cy="3800475"/>
          </a:xfrm>
          <a:prstGeom prst="rect">
            <a:avLst/>
          </a:prstGeom>
        </p:spPr>
      </p:pic>
      <p:pic>
        <p:nvPicPr>
          <p:cNvPr id="6" name="Picture 5"/>
          <p:cNvPicPr>
            <a:picLocks noChangeAspect="1"/>
          </p:cNvPicPr>
          <p:nvPr/>
        </p:nvPicPr>
        <p:blipFill>
          <a:blip r:embed="rId3"/>
          <a:stretch>
            <a:fillRect/>
          </a:stretch>
        </p:blipFill>
        <p:spPr>
          <a:xfrm>
            <a:off x="5486401" y="2362201"/>
            <a:ext cx="276225" cy="276225"/>
          </a:xfrm>
          <a:prstGeom prst="rect">
            <a:avLst/>
          </a:prstGeom>
        </p:spPr>
      </p:pic>
      <p:pic>
        <p:nvPicPr>
          <p:cNvPr id="7" name="Picture 6"/>
          <p:cNvPicPr>
            <a:picLocks noChangeAspect="1"/>
          </p:cNvPicPr>
          <p:nvPr/>
        </p:nvPicPr>
        <p:blipFill>
          <a:blip r:embed="rId3"/>
          <a:stretch>
            <a:fillRect/>
          </a:stretch>
        </p:blipFill>
        <p:spPr>
          <a:xfrm>
            <a:off x="3886201" y="2819401"/>
            <a:ext cx="276225" cy="276225"/>
          </a:xfrm>
          <a:prstGeom prst="rect">
            <a:avLst/>
          </a:prstGeom>
        </p:spPr>
      </p:pic>
      <p:pic>
        <p:nvPicPr>
          <p:cNvPr id="8" name="Picture 7"/>
          <p:cNvPicPr>
            <a:picLocks noChangeAspect="1"/>
          </p:cNvPicPr>
          <p:nvPr/>
        </p:nvPicPr>
        <p:blipFill>
          <a:blip r:embed="rId3"/>
          <a:stretch>
            <a:fillRect/>
          </a:stretch>
        </p:blipFill>
        <p:spPr>
          <a:xfrm>
            <a:off x="3643533" y="3629465"/>
            <a:ext cx="276225" cy="276225"/>
          </a:xfrm>
          <a:prstGeom prst="rect">
            <a:avLst/>
          </a:prstGeom>
        </p:spPr>
      </p:pic>
      <p:pic>
        <p:nvPicPr>
          <p:cNvPr id="9" name="Picture 8"/>
          <p:cNvPicPr>
            <a:picLocks noChangeAspect="1"/>
          </p:cNvPicPr>
          <p:nvPr/>
        </p:nvPicPr>
        <p:blipFill>
          <a:blip r:embed="rId3"/>
          <a:stretch>
            <a:fillRect/>
          </a:stretch>
        </p:blipFill>
        <p:spPr>
          <a:xfrm>
            <a:off x="3733801" y="4419601"/>
            <a:ext cx="276225" cy="276225"/>
          </a:xfrm>
          <a:prstGeom prst="rect">
            <a:avLst/>
          </a:prstGeom>
        </p:spPr>
      </p:pic>
      <p:pic>
        <p:nvPicPr>
          <p:cNvPr id="10" name="Picture 9"/>
          <p:cNvPicPr>
            <a:picLocks noChangeAspect="1"/>
          </p:cNvPicPr>
          <p:nvPr/>
        </p:nvPicPr>
        <p:blipFill>
          <a:blip r:embed="rId3"/>
          <a:stretch>
            <a:fillRect/>
          </a:stretch>
        </p:blipFill>
        <p:spPr>
          <a:xfrm>
            <a:off x="3886201" y="4828737"/>
            <a:ext cx="276225" cy="276225"/>
          </a:xfrm>
          <a:prstGeom prst="rect">
            <a:avLst/>
          </a:prstGeom>
        </p:spPr>
      </p:pic>
      <p:pic>
        <p:nvPicPr>
          <p:cNvPr id="11" name="Picture 10"/>
          <p:cNvPicPr>
            <a:picLocks noChangeAspect="1"/>
          </p:cNvPicPr>
          <p:nvPr/>
        </p:nvPicPr>
        <p:blipFill>
          <a:blip r:embed="rId3"/>
          <a:stretch>
            <a:fillRect/>
          </a:stretch>
        </p:blipFill>
        <p:spPr>
          <a:xfrm>
            <a:off x="5520397" y="1600201"/>
            <a:ext cx="276225" cy="276225"/>
          </a:xfrm>
          <a:prstGeom prst="rect">
            <a:avLst/>
          </a:prstGeom>
        </p:spPr>
      </p:pic>
      <p:pic>
        <p:nvPicPr>
          <p:cNvPr id="12" name="Picture 11"/>
          <p:cNvPicPr>
            <a:picLocks noChangeAspect="1"/>
          </p:cNvPicPr>
          <p:nvPr/>
        </p:nvPicPr>
        <p:blipFill>
          <a:blip r:embed="rId3"/>
          <a:stretch>
            <a:fillRect/>
          </a:stretch>
        </p:blipFill>
        <p:spPr>
          <a:xfrm>
            <a:off x="2300069" y="3166405"/>
            <a:ext cx="276225" cy="276225"/>
          </a:xfrm>
          <a:prstGeom prst="rect">
            <a:avLst/>
          </a:prstGeom>
        </p:spPr>
      </p:pic>
    </p:spTree>
    <p:extLst>
      <p:ext uri="{BB962C8B-B14F-4D97-AF65-F5344CB8AC3E}">
        <p14:creationId xmlns:p14="http://schemas.microsoft.com/office/powerpoint/2010/main" val="156394371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34</a:t>
            </a:fld>
            <a:endParaRPr lang="en-US" dirty="0"/>
          </a:p>
        </p:txBody>
      </p:sp>
      <p:sp>
        <p:nvSpPr>
          <p:cNvPr id="4" name="Rectangle 3"/>
          <p:cNvSpPr/>
          <p:nvPr/>
        </p:nvSpPr>
        <p:spPr>
          <a:xfrm>
            <a:off x="4523003" y="668440"/>
            <a:ext cx="3332579" cy="584775"/>
          </a:xfrm>
          <a:prstGeom prst="rect">
            <a:avLst/>
          </a:prstGeom>
        </p:spPr>
        <p:txBody>
          <a:bodyPr wrap="none">
            <a:spAutoFit/>
          </a:bodyPr>
          <a:lstStyle/>
          <a:p>
            <a:r>
              <a:rPr lang="en-US" sz="3200" b="1" dirty="0">
                <a:solidFill>
                  <a:srgbClr val="FF0000"/>
                </a:solidFill>
                <a:latin typeface="Tw Cen MT" panose="020B0602020104020603" pitchFamily="34" charset="0"/>
              </a:rPr>
              <a:t>Birthday Problems</a:t>
            </a:r>
          </a:p>
        </p:txBody>
      </p:sp>
      <p:sp>
        <p:nvSpPr>
          <p:cNvPr id="18" name="Rectangle 9"/>
          <p:cNvSpPr>
            <a:spLocks noChangeArrowheads="1"/>
          </p:cNvSpPr>
          <p:nvPr/>
        </p:nvSpPr>
        <p:spPr bwMode="auto">
          <a:xfrm>
            <a:off x="1752600" y="1279934"/>
            <a:ext cx="8686800" cy="138499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a:solidFill>
                  <a:schemeClr val="folHlink"/>
                </a:solidFill>
                <a:latin typeface="Tw Cen MT" pitchFamily="34" charset="0"/>
              </a:rPr>
              <a:t>Summary of Solutions</a:t>
            </a:r>
          </a:p>
          <a:p>
            <a:pPr algn="just"/>
            <a:r>
              <a:rPr lang="en-US" sz="2800" dirty="0">
                <a:latin typeface="Tw Cen MT" pitchFamily="34" charset="0"/>
              </a:rPr>
              <a:t>Solutions to these problems are given in Appendix E for interested readers; The results are summarized in Table.</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1163" y="2819401"/>
            <a:ext cx="8829675" cy="300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5926894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35</a:t>
            </a:fld>
            <a:endParaRPr lang="en-US" dirty="0"/>
          </a:p>
        </p:txBody>
      </p:sp>
      <p:sp>
        <p:nvSpPr>
          <p:cNvPr id="4" name="Rectangle 3"/>
          <p:cNvSpPr/>
          <p:nvPr/>
        </p:nvSpPr>
        <p:spPr>
          <a:xfrm>
            <a:off x="4768558" y="533401"/>
            <a:ext cx="2247731" cy="584775"/>
          </a:xfrm>
          <a:prstGeom prst="rect">
            <a:avLst/>
          </a:prstGeom>
        </p:spPr>
        <p:txBody>
          <a:bodyPr wrap="none">
            <a:spAutoFit/>
          </a:bodyPr>
          <a:lstStyle/>
          <a:p>
            <a:r>
              <a:rPr lang="en-US" sz="3200" b="1" dirty="0">
                <a:solidFill>
                  <a:srgbClr val="FF0000"/>
                </a:solidFill>
                <a:latin typeface="Tw Cen MT" panose="020B0602020104020603" pitchFamily="34" charset="0"/>
              </a:rPr>
              <a:t>Comparison</a:t>
            </a:r>
          </a:p>
        </p:txBody>
      </p:sp>
      <p:sp>
        <p:nvSpPr>
          <p:cNvPr id="6" name="Rectangle 9"/>
          <p:cNvSpPr>
            <a:spLocks noChangeArrowheads="1"/>
          </p:cNvSpPr>
          <p:nvPr/>
        </p:nvSpPr>
        <p:spPr bwMode="auto">
          <a:xfrm>
            <a:off x="1711324" y="1253215"/>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a:solidFill>
                  <a:schemeClr val="folHlink"/>
                </a:solidFill>
                <a:latin typeface="Tw Cen MT" pitchFamily="34" charset="0"/>
              </a:rPr>
              <a:t>Comparison</a:t>
            </a:r>
            <a:endParaRPr lang="en-US" sz="2800" dirty="0">
              <a:latin typeface="Tw Cen MT" pitchFamily="34" charset="0"/>
            </a:endParaRPr>
          </a:p>
        </p:txBody>
      </p:sp>
      <p:sp>
        <p:nvSpPr>
          <p:cNvPr id="7" name="Text Box 11"/>
          <p:cNvSpPr txBox="1">
            <a:spLocks noChangeArrowheads="1"/>
          </p:cNvSpPr>
          <p:nvPr/>
        </p:nvSpPr>
        <p:spPr bwMode="auto">
          <a:xfrm>
            <a:off x="3706054" y="1772328"/>
            <a:ext cx="437273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i="1" dirty="0">
                <a:latin typeface="Tw Cen MT" pitchFamily="34" charset="0"/>
              </a:rPr>
              <a:t>Graph of four birthday problem</a:t>
            </a:r>
          </a:p>
        </p:txBody>
      </p:sp>
      <p:pic>
        <p:nvPicPr>
          <p:cNvPr id="8"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3402" y="2416630"/>
            <a:ext cx="7834312" cy="424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8111447" y="3657601"/>
            <a:ext cx="1143000" cy="646331"/>
          </a:xfrm>
          <a:prstGeom prst="rect">
            <a:avLst/>
          </a:prstGeom>
          <a:noFill/>
        </p:spPr>
        <p:txBody>
          <a:bodyPr wrap="square" rtlCol="0">
            <a:spAutoFit/>
          </a:bodyPr>
          <a:lstStyle/>
          <a:p>
            <a:r>
              <a:rPr lang="en-US" dirty="0" smtClean="0">
                <a:solidFill>
                  <a:srgbClr val="FF0000"/>
                </a:solidFill>
                <a:latin typeface="Tw Cen MT" pitchFamily="34" charset="0"/>
              </a:rPr>
              <a:t>Collision attack</a:t>
            </a:r>
            <a:endParaRPr lang="en-US" dirty="0">
              <a:solidFill>
                <a:srgbClr val="FF0000"/>
              </a:solidFill>
              <a:latin typeface="Tw Cen MT" pitchFamily="34" charset="0"/>
            </a:endParaRPr>
          </a:p>
        </p:txBody>
      </p:sp>
      <p:sp>
        <p:nvSpPr>
          <p:cNvPr id="10" name="TextBox 9"/>
          <p:cNvSpPr txBox="1"/>
          <p:nvPr/>
        </p:nvSpPr>
        <p:spPr>
          <a:xfrm>
            <a:off x="9174183" y="3137940"/>
            <a:ext cx="1341417" cy="646331"/>
          </a:xfrm>
          <a:prstGeom prst="rect">
            <a:avLst/>
          </a:prstGeom>
          <a:noFill/>
        </p:spPr>
        <p:txBody>
          <a:bodyPr wrap="square" rtlCol="0">
            <a:spAutoFit/>
          </a:bodyPr>
          <a:lstStyle/>
          <a:p>
            <a:r>
              <a:rPr lang="en-US" dirty="0" err="1" smtClean="0">
                <a:solidFill>
                  <a:srgbClr val="FF0000"/>
                </a:solidFill>
                <a:latin typeface="Tw Cen MT" pitchFamily="34" charset="0"/>
              </a:rPr>
              <a:t>Preimage</a:t>
            </a:r>
            <a:r>
              <a:rPr lang="en-US" dirty="0" smtClean="0">
                <a:solidFill>
                  <a:srgbClr val="FF0000"/>
                </a:solidFill>
                <a:latin typeface="Tw Cen MT" pitchFamily="34" charset="0"/>
              </a:rPr>
              <a:t>  attack</a:t>
            </a:r>
            <a:endParaRPr lang="en-US" dirty="0">
              <a:solidFill>
                <a:srgbClr val="FF0000"/>
              </a:solidFill>
              <a:latin typeface="Tw Cen MT" pitchFamily="34" charset="0"/>
            </a:endParaRPr>
          </a:p>
        </p:txBody>
      </p:sp>
      <p:sp>
        <p:nvSpPr>
          <p:cNvPr id="5" name="TextBox 4"/>
          <p:cNvSpPr txBox="1"/>
          <p:nvPr/>
        </p:nvSpPr>
        <p:spPr>
          <a:xfrm>
            <a:off x="2667001" y="2400197"/>
            <a:ext cx="1326197" cy="369332"/>
          </a:xfrm>
          <a:prstGeom prst="rect">
            <a:avLst/>
          </a:prstGeom>
          <a:noFill/>
        </p:spPr>
        <p:txBody>
          <a:bodyPr wrap="none" rtlCol="0">
            <a:spAutoFit/>
          </a:bodyPr>
          <a:lstStyle/>
          <a:p>
            <a:r>
              <a:rPr lang="en-US" dirty="0" smtClean="0">
                <a:latin typeface="Tw Cen MT" pitchFamily="34" charset="0"/>
              </a:rPr>
              <a:t>, probability</a:t>
            </a:r>
            <a:endParaRPr lang="en-US" dirty="0">
              <a:latin typeface="Tw Cen MT" pitchFamily="34" charset="0"/>
            </a:endParaRPr>
          </a:p>
        </p:txBody>
      </p:sp>
    </p:spTree>
    <p:extLst>
      <p:ext uri="{BB962C8B-B14F-4D97-AF65-F5344CB8AC3E}">
        <p14:creationId xmlns:p14="http://schemas.microsoft.com/office/powerpoint/2010/main" val="210927565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36</a:t>
            </a:fld>
            <a:endParaRPr lang="en-US" dirty="0"/>
          </a:p>
        </p:txBody>
      </p:sp>
      <p:sp>
        <p:nvSpPr>
          <p:cNvPr id="4" name="Rectangle 3"/>
          <p:cNvSpPr/>
          <p:nvPr/>
        </p:nvSpPr>
        <p:spPr>
          <a:xfrm>
            <a:off x="3352800" y="457201"/>
            <a:ext cx="5876352" cy="584775"/>
          </a:xfrm>
          <a:prstGeom prst="rect">
            <a:avLst/>
          </a:prstGeom>
        </p:spPr>
        <p:txBody>
          <a:bodyPr wrap="none">
            <a:spAutoFit/>
          </a:bodyPr>
          <a:lstStyle/>
          <a:p>
            <a:r>
              <a:rPr lang="en-GB" sz="3200" dirty="0">
                <a:solidFill>
                  <a:srgbClr val="FF0000"/>
                </a:solidFill>
                <a:latin typeface="Tw Cen MT" panose="020B0602020104020603" pitchFamily="34" charset="0"/>
              </a:rPr>
              <a:t>Examples of Crypto Hash Functions</a:t>
            </a:r>
            <a:endParaRPr lang="en-US" sz="3200" b="1" dirty="0">
              <a:solidFill>
                <a:srgbClr val="FF0000"/>
              </a:solidFill>
              <a:latin typeface="Tw Cen MT" panose="020B0602020104020603" pitchFamily="34" charset="0"/>
            </a:endParaRPr>
          </a:p>
        </p:txBody>
      </p:sp>
      <p:sp>
        <p:nvSpPr>
          <p:cNvPr id="6" name="Rectangle 9"/>
          <p:cNvSpPr>
            <a:spLocks noChangeArrowheads="1"/>
          </p:cNvSpPr>
          <p:nvPr/>
        </p:nvSpPr>
        <p:spPr bwMode="auto">
          <a:xfrm>
            <a:off x="1711324" y="1253215"/>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a:solidFill>
                  <a:schemeClr val="folHlink"/>
                </a:solidFill>
                <a:latin typeface="Tw Cen MT" pitchFamily="34" charset="0"/>
              </a:rPr>
              <a:t>Comparison</a:t>
            </a:r>
            <a:endParaRPr lang="en-US" sz="2800" dirty="0">
              <a:latin typeface="Tw Cen MT" pitchFamily="34" charset="0"/>
            </a:endParaRPr>
          </a:p>
        </p:txBody>
      </p:sp>
      <p:sp>
        <p:nvSpPr>
          <p:cNvPr id="9" name="Rectangle 8"/>
          <p:cNvSpPr/>
          <p:nvPr/>
        </p:nvSpPr>
        <p:spPr>
          <a:xfrm>
            <a:off x="1828800" y="1981200"/>
            <a:ext cx="8001000" cy="3416320"/>
          </a:xfrm>
          <a:prstGeom prst="rect">
            <a:avLst/>
          </a:prstGeom>
        </p:spPr>
        <p:txBody>
          <a:bodyPr wrap="square">
            <a:spAutoFit/>
          </a:bodyPr>
          <a:lstStyle/>
          <a:p>
            <a:pPr marL="342900" indent="-342900" algn="just">
              <a:lnSpc>
                <a:spcPct val="150000"/>
              </a:lnSpc>
              <a:buFont typeface="Wingdings" panose="05000000000000000000" pitchFamily="2" charset="2"/>
              <a:buChar char="§"/>
            </a:pPr>
            <a:r>
              <a:rPr lang="en-GB" sz="2400" dirty="0">
                <a:latin typeface="Tw Cen MT" panose="020B0602020104020603" pitchFamily="34" charset="0"/>
              </a:rPr>
              <a:t>MD4 = Message Digest 4 - 32b operations </a:t>
            </a:r>
          </a:p>
          <a:p>
            <a:pPr marL="342900" indent="-342900" algn="just">
              <a:lnSpc>
                <a:spcPct val="150000"/>
              </a:lnSpc>
              <a:buFont typeface="Wingdings" panose="05000000000000000000" pitchFamily="2" charset="2"/>
              <a:buChar char="§"/>
            </a:pPr>
            <a:r>
              <a:rPr lang="en-GB" sz="2400" dirty="0">
                <a:latin typeface="Tw Cen MT" panose="020B0602020104020603" pitchFamily="34" charset="0"/>
              </a:rPr>
              <a:t>MD5 = Message Digest 5 - 32b operations </a:t>
            </a:r>
          </a:p>
          <a:p>
            <a:pPr marL="342900" indent="-342900" algn="just">
              <a:lnSpc>
                <a:spcPct val="150000"/>
              </a:lnSpc>
              <a:buFont typeface="Wingdings" panose="05000000000000000000" pitchFamily="2" charset="2"/>
              <a:buChar char="§"/>
            </a:pPr>
            <a:r>
              <a:rPr lang="en-GB" sz="2400" dirty="0">
                <a:latin typeface="Tw Cen MT" panose="020B0602020104020603" pitchFamily="34" charset="0"/>
              </a:rPr>
              <a:t>SHA = Secure hash algorithm [NIST] </a:t>
            </a:r>
          </a:p>
          <a:p>
            <a:pPr marL="342900" indent="-342900" algn="just">
              <a:lnSpc>
                <a:spcPct val="150000"/>
              </a:lnSpc>
              <a:buFont typeface="Wingdings" panose="05000000000000000000" pitchFamily="2" charset="2"/>
              <a:buChar char="§"/>
            </a:pPr>
            <a:r>
              <a:rPr lang="en-GB" sz="2400" dirty="0">
                <a:latin typeface="Tw Cen MT" panose="020B0602020104020603" pitchFamily="34" charset="0"/>
              </a:rPr>
              <a:t>SHA-1 = Updated SHA </a:t>
            </a:r>
          </a:p>
          <a:p>
            <a:pPr marL="342900" indent="-342900" algn="just">
              <a:lnSpc>
                <a:spcPct val="150000"/>
              </a:lnSpc>
              <a:buFont typeface="Wingdings" panose="05000000000000000000" pitchFamily="2" charset="2"/>
              <a:buChar char="§"/>
            </a:pPr>
            <a:r>
              <a:rPr lang="en-GB" sz="2400" dirty="0">
                <a:latin typeface="Tw Cen MT" panose="020B0602020104020603" pitchFamily="34" charset="0"/>
              </a:rPr>
              <a:t>SHA-2 = SHA-224, SHA-256, SHA-384, SHA-512 </a:t>
            </a:r>
            <a:r>
              <a:rPr lang="en-GB" sz="2400" dirty="0" err="1">
                <a:latin typeface="Tw Cen MT" panose="020B0602020104020603" pitchFamily="34" charset="0"/>
              </a:rPr>
              <a:t>SHA-512</a:t>
            </a:r>
            <a:r>
              <a:rPr lang="en-GB" sz="2400" dirty="0">
                <a:latin typeface="Tw Cen MT" panose="020B0602020104020603" pitchFamily="34" charset="0"/>
              </a:rPr>
              <a:t> uses 64-bit operations</a:t>
            </a:r>
          </a:p>
        </p:txBody>
      </p:sp>
    </p:spTree>
    <p:extLst>
      <p:ext uri="{BB962C8B-B14F-4D97-AF65-F5344CB8AC3E}">
        <p14:creationId xmlns:p14="http://schemas.microsoft.com/office/powerpoint/2010/main" val="25859084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Slide Number Placeholder 1"/>
          <p:cNvSpPr>
            <a:spLocks noGrp="1"/>
          </p:cNvSpPr>
          <p:nvPr>
            <p:ph type="sldNum" sz="quarter" idx="10"/>
          </p:nvPr>
        </p:nvSpPr>
        <p:spPr>
          <a:noFill/>
        </p:spPr>
        <p:txBody>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pPr algn="just"/>
            <a:fld id="{9869E540-A311-4645-8657-E7EDA055E3E5}" type="slidenum">
              <a:rPr lang="en-US" sz="2400" b="0">
                <a:solidFill>
                  <a:schemeClr val="bg2"/>
                </a:solidFill>
                <a:latin typeface="Tw Cen MT" panose="020B0602020104020603" pitchFamily="34" charset="0"/>
              </a:rPr>
              <a:pPr algn="just"/>
              <a:t>37</a:t>
            </a:fld>
            <a:endParaRPr lang="en-US" sz="2400" b="0" dirty="0">
              <a:solidFill>
                <a:schemeClr val="bg2"/>
              </a:solidFill>
              <a:latin typeface="Tw Cen MT" panose="020B0602020104020603" pitchFamily="34" charset="0"/>
            </a:endParaRPr>
          </a:p>
        </p:txBody>
      </p:sp>
      <p:sp>
        <p:nvSpPr>
          <p:cNvPr id="859139" name="Text Box 3"/>
          <p:cNvSpPr txBox="1">
            <a:spLocks noChangeArrowheads="1"/>
          </p:cNvSpPr>
          <p:nvPr/>
        </p:nvSpPr>
        <p:spPr bwMode="auto">
          <a:xfrm>
            <a:off x="1819225" y="520536"/>
            <a:ext cx="685668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a:defRPr/>
            </a:pPr>
            <a:r>
              <a:rPr lang="en-US" sz="3600" b="1" dirty="0">
                <a:solidFill>
                  <a:srgbClr val="FF0000"/>
                </a:solidFill>
                <a:latin typeface="Tw Cen MT" panose="020B0602020104020603" pitchFamily="34" charset="0"/>
              </a:rPr>
              <a:t>Cryptographic hash function Types</a:t>
            </a:r>
          </a:p>
        </p:txBody>
      </p:sp>
      <p:sp>
        <p:nvSpPr>
          <p:cNvPr id="38917" name="Text Box 4"/>
          <p:cNvSpPr txBox="1">
            <a:spLocks noChangeArrowheads="1"/>
          </p:cNvSpPr>
          <p:nvPr/>
        </p:nvSpPr>
        <p:spPr bwMode="auto">
          <a:xfrm>
            <a:off x="9753601" y="640080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pPr algn="just"/>
            <a:endParaRPr lang="en-US" sz="2400">
              <a:latin typeface="Tw Cen MT" panose="020B0602020104020603" pitchFamily="34" charset="0"/>
            </a:endParaRPr>
          </a:p>
        </p:txBody>
      </p:sp>
      <p:sp>
        <p:nvSpPr>
          <p:cNvPr id="9" name="Content Placeholder 2"/>
          <p:cNvSpPr txBox="1">
            <a:spLocks/>
          </p:cNvSpPr>
          <p:nvPr/>
        </p:nvSpPr>
        <p:spPr>
          <a:xfrm>
            <a:off x="1676401" y="1524000"/>
            <a:ext cx="8762999" cy="2362200"/>
          </a:xfrm>
          <a:prstGeom prst="rect">
            <a:avLst/>
          </a:prstGeom>
        </p:spPr>
        <p:txBody>
          <a:bodyPr>
            <a:normAutofit/>
          </a:bodyPr>
          <a:lst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algn="just">
              <a:spcBef>
                <a:spcPts val="0"/>
              </a:spcBef>
              <a:spcAft>
                <a:spcPts val="1200"/>
              </a:spcAft>
            </a:pPr>
            <a:r>
              <a:rPr lang="en-US" sz="2800" dirty="0">
                <a:solidFill>
                  <a:schemeClr val="tx1"/>
                </a:solidFill>
                <a:latin typeface="Tw Cen MT" pitchFamily="34" charset="0"/>
              </a:rPr>
              <a:t>A cryptographic hash function takes a message of arbitrary length and creates a message digest of fixed length. The ultimate goal in this lesson is to discuss the details of the two most promising cryptographic hash algorithms SHA-512 and Whirlpool. </a:t>
            </a:r>
            <a:endParaRPr lang="en-US" dirty="0">
              <a:solidFill>
                <a:schemeClr val="tx1"/>
              </a:solidFill>
              <a:latin typeface="Tw Cen MT" panose="020B0602020104020603" pitchFamily="34" charset="0"/>
            </a:endParaRPr>
          </a:p>
        </p:txBody>
      </p:sp>
      <p:sp>
        <p:nvSpPr>
          <p:cNvPr id="10" name="Rectangle 6"/>
          <p:cNvSpPr>
            <a:spLocks noChangeArrowheads="1"/>
          </p:cNvSpPr>
          <p:nvPr/>
        </p:nvSpPr>
        <p:spPr bwMode="auto">
          <a:xfrm>
            <a:off x="2057400" y="4953001"/>
            <a:ext cx="6705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Californian FB" panose="0207040306080B030204" pitchFamily="18" charset="0"/>
              </a:defRPr>
            </a:lvl1pPr>
            <a:lvl2pPr marL="742950" indent="-285750">
              <a:defRPr sz="3200" b="1">
                <a:solidFill>
                  <a:schemeClr val="tx1"/>
                </a:solidFill>
                <a:latin typeface="Californian FB" panose="0207040306080B030204" pitchFamily="18" charset="0"/>
              </a:defRPr>
            </a:lvl2pPr>
            <a:lvl3pPr marL="1143000" indent="-228600">
              <a:defRPr sz="3200" b="1">
                <a:solidFill>
                  <a:schemeClr val="tx1"/>
                </a:solidFill>
                <a:latin typeface="Californian FB" panose="0207040306080B030204" pitchFamily="18" charset="0"/>
              </a:defRPr>
            </a:lvl3pPr>
            <a:lvl4pPr marL="1600200" indent="-228600">
              <a:defRPr sz="3200" b="1">
                <a:solidFill>
                  <a:schemeClr val="tx1"/>
                </a:solidFill>
                <a:latin typeface="Californian FB" panose="0207040306080B030204" pitchFamily="18" charset="0"/>
              </a:defRPr>
            </a:lvl4pPr>
            <a:lvl5pPr marL="2057400" indent="-228600">
              <a:defRPr sz="3200" b="1">
                <a:solidFill>
                  <a:schemeClr val="tx1"/>
                </a:solidFill>
                <a:latin typeface="Californian FB" panose="0207040306080B030204" pitchFamily="18" charset="0"/>
              </a:defRPr>
            </a:lvl5pPr>
            <a:lvl6pPr marL="2514600" indent="-228600" eaLnBrk="0" fontAlgn="base" hangingPunct="0">
              <a:spcBef>
                <a:spcPct val="0"/>
              </a:spcBef>
              <a:spcAft>
                <a:spcPct val="0"/>
              </a:spcAft>
              <a:defRPr sz="3200" b="1">
                <a:solidFill>
                  <a:schemeClr val="tx1"/>
                </a:solidFill>
                <a:latin typeface="Californian FB" panose="0207040306080B030204" pitchFamily="18" charset="0"/>
              </a:defRPr>
            </a:lvl6pPr>
            <a:lvl7pPr marL="2971800" indent="-228600" eaLnBrk="0" fontAlgn="base" hangingPunct="0">
              <a:spcBef>
                <a:spcPct val="0"/>
              </a:spcBef>
              <a:spcAft>
                <a:spcPct val="0"/>
              </a:spcAft>
              <a:defRPr sz="3200" b="1">
                <a:solidFill>
                  <a:schemeClr val="tx1"/>
                </a:solidFill>
                <a:latin typeface="Californian FB" panose="0207040306080B030204" pitchFamily="18" charset="0"/>
              </a:defRPr>
            </a:lvl7pPr>
            <a:lvl8pPr marL="3429000" indent="-228600" eaLnBrk="0" fontAlgn="base" hangingPunct="0">
              <a:spcBef>
                <a:spcPct val="0"/>
              </a:spcBef>
              <a:spcAft>
                <a:spcPct val="0"/>
              </a:spcAft>
              <a:defRPr sz="3200" b="1">
                <a:solidFill>
                  <a:schemeClr val="tx1"/>
                </a:solidFill>
                <a:latin typeface="Californian FB" panose="0207040306080B030204" pitchFamily="18" charset="0"/>
              </a:defRPr>
            </a:lvl8pPr>
            <a:lvl9pPr marL="3886200" indent="-228600" eaLnBrk="0" fontAlgn="base" hangingPunct="0">
              <a:spcBef>
                <a:spcPct val="0"/>
              </a:spcBef>
              <a:spcAft>
                <a:spcPct val="0"/>
              </a:spcAft>
              <a:defRPr sz="3200" b="1">
                <a:solidFill>
                  <a:schemeClr val="tx1"/>
                </a:solidFill>
                <a:latin typeface="Californian FB" panose="0207040306080B030204" pitchFamily="18" charset="0"/>
              </a:defRPr>
            </a:lvl9pPr>
          </a:lstStyle>
          <a:p>
            <a:pPr>
              <a:buClr>
                <a:schemeClr val="tx1"/>
              </a:buClr>
              <a:buSzPct val="117000"/>
              <a:buFont typeface="Wingdings" pitchFamily="2" charset="2"/>
              <a:buNone/>
            </a:pPr>
            <a:r>
              <a:rPr lang="en-US" sz="2400" dirty="0">
                <a:solidFill>
                  <a:schemeClr val="hlink"/>
                </a:solidFill>
                <a:latin typeface="Tw Cen MT" pitchFamily="34" charset="0"/>
              </a:rPr>
              <a:t>1 </a:t>
            </a:r>
            <a:r>
              <a:rPr lang="en-US" sz="2400" dirty="0">
                <a:solidFill>
                  <a:srgbClr val="0033CC"/>
                </a:solidFill>
                <a:latin typeface="Tw Cen MT" pitchFamily="34" charset="0"/>
              </a:rPr>
              <a:t>Iterated Hash Function</a:t>
            </a:r>
          </a:p>
          <a:p>
            <a:pPr>
              <a:buClr>
                <a:schemeClr val="tx1"/>
              </a:buClr>
              <a:buSzPct val="117000"/>
              <a:buFont typeface="Wingdings" pitchFamily="2" charset="2"/>
              <a:buNone/>
            </a:pPr>
            <a:r>
              <a:rPr lang="en-US" sz="2400" dirty="0">
                <a:solidFill>
                  <a:schemeClr val="hlink"/>
                </a:solidFill>
                <a:latin typeface="Tw Cen MT" pitchFamily="34" charset="0"/>
              </a:rPr>
              <a:t>2 </a:t>
            </a:r>
            <a:r>
              <a:rPr lang="en-US" sz="2400" dirty="0">
                <a:solidFill>
                  <a:srgbClr val="0033CC"/>
                </a:solidFill>
                <a:latin typeface="Tw Cen MT" pitchFamily="34" charset="0"/>
              </a:rPr>
              <a:t>Two Groups of Compression Functions</a:t>
            </a:r>
          </a:p>
          <a:p>
            <a:pPr algn="just">
              <a:buClr>
                <a:schemeClr val="tx1"/>
              </a:buClr>
              <a:buSzPct val="117000"/>
              <a:buFont typeface="Wingdings" panose="05000000000000000000" pitchFamily="2" charset="2"/>
              <a:buNone/>
            </a:pPr>
            <a:endParaRPr lang="en-US" sz="2400" dirty="0">
              <a:solidFill>
                <a:srgbClr val="0033CC"/>
              </a:solidFill>
              <a:latin typeface="Tw Cen MT" pitchFamily="34" charset="0"/>
            </a:endParaRPr>
          </a:p>
        </p:txBody>
      </p:sp>
    </p:spTree>
    <p:extLst>
      <p:ext uri="{BB962C8B-B14F-4D97-AF65-F5344CB8AC3E}">
        <p14:creationId xmlns:p14="http://schemas.microsoft.com/office/powerpoint/2010/main" val="204518854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4475" y="533401"/>
            <a:ext cx="6705600" cy="609601"/>
          </a:xfrm>
        </p:spPr>
        <p:txBody>
          <a:bodyPr/>
          <a:lstStyle/>
          <a:p>
            <a:pPr>
              <a:lnSpc>
                <a:spcPts val="4800"/>
              </a:lnSpc>
            </a:pPr>
            <a:r>
              <a:rPr lang="en-US" sz="3600" b="1" dirty="0">
                <a:solidFill>
                  <a:srgbClr val="CC3300"/>
                </a:solidFill>
                <a:latin typeface="Tw Cen MT" panose="020B0602020104020603" pitchFamily="34" charset="0"/>
              </a:rPr>
              <a:t>Iterated Hash Function</a:t>
            </a:r>
          </a:p>
        </p:txBody>
      </p:sp>
      <p:sp>
        <p:nvSpPr>
          <p:cNvPr id="8" name="Rectangle 11"/>
          <p:cNvSpPr>
            <a:spLocks noChangeArrowheads="1"/>
          </p:cNvSpPr>
          <p:nvPr/>
        </p:nvSpPr>
        <p:spPr bwMode="auto">
          <a:xfrm>
            <a:off x="2361210" y="1295400"/>
            <a:ext cx="7162800" cy="20005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sz="2800" b="1" dirty="0" err="1">
                <a:solidFill>
                  <a:srgbClr val="669900"/>
                </a:solidFill>
                <a:latin typeface="Tw Cen MT" pitchFamily="34" charset="0"/>
              </a:rPr>
              <a:t>Merkle-Damgard</a:t>
            </a:r>
            <a:r>
              <a:rPr lang="en-US" sz="2800" b="1" dirty="0">
                <a:solidFill>
                  <a:srgbClr val="669900"/>
                </a:solidFill>
                <a:latin typeface="Tw Cen MT" pitchFamily="34" charset="0"/>
              </a:rPr>
              <a:t> Scheme : </a:t>
            </a:r>
            <a:r>
              <a:rPr lang="en-US" sz="2400" dirty="0">
                <a:latin typeface="Tw Cen MT" pitchFamily="34" charset="0"/>
              </a:rPr>
              <a:t>All cryptographic hash functions need to create a fixed-size digest out of a variable size message -&gt; iteration</a:t>
            </a:r>
          </a:p>
          <a:p>
            <a:pPr algn="just"/>
            <a:r>
              <a:rPr lang="en-GB" sz="2400" dirty="0">
                <a:solidFill>
                  <a:srgbClr val="FF0000"/>
                </a:solidFill>
                <a:latin typeface="Tw Cen MT" panose="020B0602020104020603" pitchFamily="34" charset="0"/>
              </a:rPr>
              <a:t>If compression function is collision resistant</a:t>
            </a:r>
            <a:r>
              <a:rPr lang="en-GB" sz="2400" dirty="0">
                <a:latin typeface="Tw Cen MT" panose="020B0602020104020603" pitchFamily="34" charset="0"/>
              </a:rPr>
              <a:t>, </a:t>
            </a:r>
            <a:r>
              <a:rPr lang="en-GB" sz="2400" dirty="0">
                <a:solidFill>
                  <a:srgbClr val="FF0000"/>
                </a:solidFill>
                <a:latin typeface="Tw Cen MT" panose="020B0602020104020603" pitchFamily="34" charset="0"/>
              </a:rPr>
              <a:t>the entire structure is collision resistant</a:t>
            </a:r>
            <a:r>
              <a:rPr lang="en-GB" sz="2400" dirty="0">
                <a:latin typeface="Tw Cen MT" panose="020B0602020104020603" pitchFamily="34" charset="0"/>
              </a:rPr>
              <a:t> </a:t>
            </a:r>
            <a:endParaRPr lang="en-US" sz="2400" dirty="0">
              <a:latin typeface="Tw Cen MT" pitchFamily="34" charset="0"/>
            </a:endParaRPr>
          </a:p>
        </p:txBody>
      </p:sp>
      <p:grpSp>
        <p:nvGrpSpPr>
          <p:cNvPr id="10" name="Group 9"/>
          <p:cNvGrpSpPr/>
          <p:nvPr/>
        </p:nvGrpSpPr>
        <p:grpSpPr>
          <a:xfrm>
            <a:off x="2362200" y="3581400"/>
            <a:ext cx="7448994" cy="2617788"/>
            <a:chOff x="247206" y="2971800"/>
            <a:chExt cx="8515794" cy="3151188"/>
          </a:xfrm>
        </p:grpSpPr>
        <p:pic>
          <p:nvPicPr>
            <p:cNvPr id="7"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550" y="2971800"/>
              <a:ext cx="8299450" cy="315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247206" y="5407720"/>
              <a:ext cx="1180008" cy="629831"/>
            </a:xfrm>
            <a:prstGeom prst="rect">
              <a:avLst/>
            </a:prstGeom>
            <a:noFill/>
          </p:spPr>
          <p:txBody>
            <a:bodyPr wrap="square" rtlCol="0">
              <a:spAutoFit/>
            </a:bodyPr>
            <a:lstStyle/>
            <a:p>
              <a:r>
                <a:rPr lang="en-US" sz="1400" dirty="0"/>
                <a:t>Initial Vector</a:t>
              </a:r>
            </a:p>
          </p:txBody>
        </p:sp>
      </p:grpSp>
    </p:spTree>
    <p:extLst>
      <p:ext uri="{BB962C8B-B14F-4D97-AF65-F5344CB8AC3E}">
        <p14:creationId xmlns:p14="http://schemas.microsoft.com/office/powerpoint/2010/main" val="155354452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4475" y="533401"/>
            <a:ext cx="6705600" cy="609601"/>
          </a:xfrm>
        </p:spPr>
        <p:txBody>
          <a:bodyPr/>
          <a:lstStyle/>
          <a:p>
            <a:pPr>
              <a:lnSpc>
                <a:spcPts val="4800"/>
              </a:lnSpc>
            </a:pPr>
            <a:r>
              <a:rPr lang="en-US" sz="3600" b="1" dirty="0">
                <a:solidFill>
                  <a:srgbClr val="CC3300"/>
                </a:solidFill>
                <a:latin typeface="Tw Cen MT" panose="020B0602020104020603" pitchFamily="34" charset="0"/>
              </a:rPr>
              <a:t>Iterated Hash Function</a:t>
            </a:r>
          </a:p>
        </p:txBody>
      </p:sp>
      <p:pic>
        <p:nvPicPr>
          <p:cNvPr id="3" name="Picture 2"/>
          <p:cNvPicPr>
            <a:picLocks noChangeAspect="1"/>
          </p:cNvPicPr>
          <p:nvPr/>
        </p:nvPicPr>
        <p:blipFill>
          <a:blip r:embed="rId3"/>
          <a:stretch>
            <a:fillRect/>
          </a:stretch>
        </p:blipFill>
        <p:spPr>
          <a:xfrm>
            <a:off x="1981201" y="1905000"/>
            <a:ext cx="7500839" cy="3733800"/>
          </a:xfrm>
          <a:prstGeom prst="rect">
            <a:avLst/>
          </a:prstGeom>
        </p:spPr>
      </p:pic>
    </p:spTree>
    <p:extLst>
      <p:ext uri="{BB962C8B-B14F-4D97-AF65-F5344CB8AC3E}">
        <p14:creationId xmlns:p14="http://schemas.microsoft.com/office/powerpoint/2010/main" val="273161046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0"/>
          <p:cNvSpPr txBox="1">
            <a:spLocks noGrp="1" noChangeArrowheads="1"/>
          </p:cNvSpPr>
          <p:nvPr>
            <p:ph type="title"/>
          </p:nvPr>
        </p:nvSpPr>
        <p:spPr bwMode="auto">
          <a:xfrm>
            <a:off x="2742756" y="545813"/>
            <a:ext cx="678903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rgbClr val="FF0000"/>
                </a:solidFill>
                <a:latin typeface="Tw Cen MT" pitchFamily="34" charset="0"/>
              </a:rPr>
              <a:t>Two Groups of Compression Functions</a:t>
            </a:r>
          </a:p>
        </p:txBody>
      </p:sp>
      <p:sp>
        <p:nvSpPr>
          <p:cNvPr id="6" name="Rectangle 9"/>
          <p:cNvSpPr>
            <a:spLocks noChangeArrowheads="1"/>
          </p:cNvSpPr>
          <p:nvPr/>
        </p:nvSpPr>
        <p:spPr bwMode="auto">
          <a:xfrm>
            <a:off x="1752600" y="1323975"/>
            <a:ext cx="8686800" cy="52322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a:latin typeface="Tw Cen MT" pitchFamily="34" charset="0"/>
              </a:rPr>
              <a:t>1. The compression function is made from scratch.</a:t>
            </a:r>
          </a:p>
        </p:txBody>
      </p:sp>
      <p:sp>
        <p:nvSpPr>
          <p:cNvPr id="9" name="Rectangle 11"/>
          <p:cNvSpPr>
            <a:spLocks noChangeArrowheads="1"/>
          </p:cNvSpPr>
          <p:nvPr/>
        </p:nvSpPr>
        <p:spPr bwMode="auto">
          <a:xfrm>
            <a:off x="1752600" y="3533776"/>
            <a:ext cx="8686800" cy="95410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a:latin typeface="Tw Cen MT" pitchFamily="34" charset="0"/>
              </a:rPr>
              <a:t>2. A symmetric-key block cipher serves as a compression function.</a:t>
            </a:r>
          </a:p>
        </p:txBody>
      </p:sp>
      <p:sp>
        <p:nvSpPr>
          <p:cNvPr id="10" name="Rectangle 12"/>
          <p:cNvSpPr>
            <a:spLocks noChangeArrowheads="1"/>
          </p:cNvSpPr>
          <p:nvPr/>
        </p:nvSpPr>
        <p:spPr bwMode="auto">
          <a:xfrm>
            <a:off x="2164649" y="2209800"/>
            <a:ext cx="7862702" cy="523220"/>
          </a:xfrm>
          <a:prstGeom prst="rect">
            <a:avLst/>
          </a:prstGeom>
          <a:solidFill>
            <a:schemeClr val="bg1"/>
          </a:solidFill>
          <a:ln w="381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sz="2800" b="1" dirty="0">
                <a:solidFill>
                  <a:schemeClr val="folHlink"/>
                </a:solidFill>
                <a:latin typeface="Tw Cen MT" pitchFamily="34" charset="0"/>
              </a:rPr>
              <a:t>Message Digest (MD) </a:t>
            </a:r>
            <a:r>
              <a:rPr lang="en-US" sz="2800" dirty="0">
                <a:solidFill>
                  <a:schemeClr val="folHlink"/>
                </a:solidFill>
                <a:latin typeface="Tw Cen MT" pitchFamily="34" charset="0"/>
              </a:rPr>
              <a:t>(by Ron </a:t>
            </a:r>
            <a:r>
              <a:rPr lang="en-US" sz="2800" dirty="0" err="1">
                <a:solidFill>
                  <a:schemeClr val="folHlink"/>
                </a:solidFill>
                <a:latin typeface="Tw Cen MT" pitchFamily="34" charset="0"/>
              </a:rPr>
              <a:t>Rivest</a:t>
            </a:r>
            <a:r>
              <a:rPr lang="en-US" sz="2800" dirty="0">
                <a:solidFill>
                  <a:schemeClr val="folHlink"/>
                </a:solidFill>
                <a:latin typeface="Tw Cen MT" pitchFamily="34" charset="0"/>
              </a:rPr>
              <a:t>), </a:t>
            </a:r>
            <a:r>
              <a:rPr lang="en-US" sz="2800" b="1" dirty="0">
                <a:solidFill>
                  <a:schemeClr val="folHlink"/>
                </a:solidFill>
                <a:latin typeface="Tw Cen MT" pitchFamily="34" charset="0"/>
              </a:rPr>
              <a:t>SHA (by NIST</a:t>
            </a:r>
            <a:endParaRPr lang="en-US" sz="2800" b="1" dirty="0">
              <a:latin typeface="Tw Cen MT" pitchFamily="34" charset="0"/>
            </a:endParaRPr>
          </a:p>
        </p:txBody>
      </p:sp>
      <p:sp>
        <p:nvSpPr>
          <p:cNvPr id="11" name="Rectangle 13"/>
          <p:cNvSpPr>
            <a:spLocks noChangeArrowheads="1"/>
          </p:cNvSpPr>
          <p:nvPr/>
        </p:nvSpPr>
        <p:spPr bwMode="auto">
          <a:xfrm>
            <a:off x="2971800" y="4614863"/>
            <a:ext cx="1866900" cy="523220"/>
          </a:xfrm>
          <a:prstGeom prst="rect">
            <a:avLst/>
          </a:prstGeom>
          <a:solidFill>
            <a:schemeClr val="bg1"/>
          </a:solidFill>
          <a:ln w="381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b="1" dirty="0">
                <a:solidFill>
                  <a:schemeClr val="folHlink"/>
                </a:solidFill>
                <a:latin typeface="Tw Cen MT" pitchFamily="34" charset="0"/>
              </a:rPr>
              <a:t>Whirlpool</a:t>
            </a:r>
            <a:endParaRPr lang="en-US" sz="2800" b="1" dirty="0">
              <a:latin typeface="Tw Cen MT" pitchFamily="34" charset="0"/>
            </a:endParaRPr>
          </a:p>
        </p:txBody>
      </p:sp>
    </p:spTree>
    <p:extLst>
      <p:ext uri="{BB962C8B-B14F-4D97-AF65-F5344CB8AC3E}">
        <p14:creationId xmlns:p14="http://schemas.microsoft.com/office/powerpoint/2010/main" val="383082620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0"/>
          <p:cNvSpPr txBox="1">
            <a:spLocks noGrp="1" noChangeArrowheads="1"/>
          </p:cNvSpPr>
          <p:nvPr>
            <p:ph type="title"/>
          </p:nvPr>
        </p:nvSpPr>
        <p:spPr bwMode="auto">
          <a:xfrm>
            <a:off x="4225531" y="545813"/>
            <a:ext cx="382348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smtClean="0">
                <a:solidFill>
                  <a:srgbClr val="FF0000"/>
                </a:solidFill>
                <a:latin typeface="Tw Cen MT" pitchFamily="34" charset="0"/>
              </a:rPr>
              <a:t>Secure Hash Function</a:t>
            </a:r>
            <a:endParaRPr lang="en-US" b="1" dirty="0">
              <a:solidFill>
                <a:srgbClr val="FF0000"/>
              </a:solidFill>
              <a:latin typeface="Tw Cen MT"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3089" y="2105025"/>
            <a:ext cx="8505825"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042870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0"/>
          <p:cNvSpPr txBox="1">
            <a:spLocks noGrp="1" noChangeArrowheads="1"/>
          </p:cNvSpPr>
          <p:nvPr>
            <p:ph type="title"/>
          </p:nvPr>
        </p:nvSpPr>
        <p:spPr bwMode="auto">
          <a:xfrm>
            <a:off x="2701081" y="545813"/>
            <a:ext cx="687239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smtClean="0">
                <a:solidFill>
                  <a:srgbClr val="FF0000"/>
                </a:solidFill>
                <a:latin typeface="Tw Cen MT" pitchFamily="34" charset="0"/>
              </a:rPr>
              <a:t>Hash </a:t>
            </a:r>
            <a:r>
              <a:rPr lang="en-US" b="1" dirty="0">
                <a:solidFill>
                  <a:srgbClr val="FF0000"/>
                </a:solidFill>
                <a:latin typeface="Tw Cen MT" pitchFamily="34" charset="0"/>
              </a:rPr>
              <a:t>Functions Based on Block Ciphers</a:t>
            </a:r>
          </a:p>
        </p:txBody>
      </p:sp>
      <p:sp>
        <p:nvSpPr>
          <p:cNvPr id="4" name="Rectangle 9"/>
          <p:cNvSpPr>
            <a:spLocks noChangeArrowheads="1"/>
          </p:cNvSpPr>
          <p:nvPr/>
        </p:nvSpPr>
        <p:spPr bwMode="auto">
          <a:xfrm>
            <a:off x="1752600" y="1371600"/>
            <a:ext cx="8686800" cy="107721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3200" dirty="0">
                <a:solidFill>
                  <a:schemeClr val="folHlink"/>
                </a:solidFill>
                <a:latin typeface="Tw Cen MT" pitchFamily="34" charset="0"/>
              </a:rPr>
              <a:t>Rabin Scheme (based on M-D scheme) </a:t>
            </a:r>
            <a:r>
              <a:rPr lang="en-US" sz="3200" dirty="0">
                <a:solidFill>
                  <a:srgbClr val="002060"/>
                </a:solidFill>
                <a:latin typeface="Tw Cen MT" pitchFamily="34" charset="0"/>
              </a:rPr>
              <a:t>uses </a:t>
            </a:r>
            <a:r>
              <a:rPr lang="en-US" sz="3200" b="1" dirty="0">
                <a:solidFill>
                  <a:srgbClr val="FF0000"/>
                </a:solidFill>
                <a:latin typeface="Tw Cen MT" pitchFamily="34" charset="0"/>
              </a:rPr>
              <a:t>any cipher</a:t>
            </a:r>
            <a:r>
              <a:rPr lang="en-US" sz="3200" dirty="0">
                <a:solidFill>
                  <a:srgbClr val="002060"/>
                </a:solidFill>
                <a:latin typeface="Tw Cen MT" pitchFamily="34" charset="0"/>
              </a:rPr>
              <a:t> as compression function</a:t>
            </a:r>
          </a:p>
        </p:txBody>
      </p:sp>
      <p:sp>
        <p:nvSpPr>
          <p:cNvPr id="6" name="Text Box 11"/>
          <p:cNvSpPr txBox="1">
            <a:spLocks noChangeArrowheads="1"/>
          </p:cNvSpPr>
          <p:nvPr/>
        </p:nvSpPr>
        <p:spPr bwMode="auto">
          <a:xfrm>
            <a:off x="4191000" y="2438401"/>
            <a:ext cx="25763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dirty="0">
                <a:latin typeface="Tw Cen MT" pitchFamily="34" charset="0"/>
              </a:rPr>
              <a:t>Rabin scheme</a:t>
            </a:r>
          </a:p>
        </p:txBody>
      </p:sp>
      <p:pic>
        <p:nvPicPr>
          <p:cNvPr id="7"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9600" y="3067050"/>
            <a:ext cx="82550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2362200" y="6002194"/>
            <a:ext cx="5715000" cy="369332"/>
          </a:xfrm>
          <a:prstGeom prst="rect">
            <a:avLst/>
          </a:prstGeom>
          <a:noFill/>
        </p:spPr>
        <p:txBody>
          <a:bodyPr wrap="square" rtlCol="0">
            <a:spAutoFit/>
          </a:bodyPr>
          <a:lstStyle/>
          <a:p>
            <a:pPr marL="285750" indent="-285750">
              <a:buFont typeface="Wingdings" pitchFamily="2" charset="2"/>
              <a:buChar char="§"/>
            </a:pPr>
            <a:r>
              <a:rPr lang="en-US" dirty="0">
                <a:solidFill>
                  <a:srgbClr val="FF0000"/>
                </a:solidFill>
              </a:rPr>
              <a:t>v</a:t>
            </a:r>
            <a:r>
              <a:rPr lang="en-US" dirty="0" smtClean="0">
                <a:solidFill>
                  <a:srgbClr val="FF0000"/>
                </a:solidFill>
              </a:rPr>
              <a:t>ulnerable to meet-in-the-middle attack</a:t>
            </a:r>
            <a:endParaRPr lang="en-US" dirty="0">
              <a:solidFill>
                <a:srgbClr val="FF0000"/>
              </a:solidFill>
            </a:endParaRPr>
          </a:p>
        </p:txBody>
      </p:sp>
    </p:spTree>
    <p:extLst>
      <p:ext uri="{BB962C8B-B14F-4D97-AF65-F5344CB8AC3E}">
        <p14:creationId xmlns:p14="http://schemas.microsoft.com/office/powerpoint/2010/main" val="19476531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0"/>
          <p:cNvSpPr txBox="1">
            <a:spLocks noGrp="1" noChangeArrowheads="1"/>
          </p:cNvSpPr>
          <p:nvPr>
            <p:ph type="title"/>
          </p:nvPr>
        </p:nvSpPr>
        <p:spPr bwMode="auto">
          <a:xfrm>
            <a:off x="2701081" y="545813"/>
            <a:ext cx="687239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smtClean="0">
                <a:solidFill>
                  <a:srgbClr val="FF0000"/>
                </a:solidFill>
                <a:latin typeface="Tw Cen MT" pitchFamily="34" charset="0"/>
              </a:rPr>
              <a:t>Hash </a:t>
            </a:r>
            <a:r>
              <a:rPr lang="en-US" b="1" dirty="0">
                <a:solidFill>
                  <a:srgbClr val="FF0000"/>
                </a:solidFill>
                <a:latin typeface="Tw Cen MT" pitchFamily="34" charset="0"/>
              </a:rPr>
              <a:t>Functions Based on Block Ciphers</a:t>
            </a:r>
          </a:p>
        </p:txBody>
      </p:sp>
      <p:sp>
        <p:nvSpPr>
          <p:cNvPr id="4" name="Rectangle 9"/>
          <p:cNvSpPr>
            <a:spLocks noChangeArrowheads="1"/>
          </p:cNvSpPr>
          <p:nvPr/>
        </p:nvSpPr>
        <p:spPr bwMode="auto">
          <a:xfrm>
            <a:off x="1752600" y="1371601"/>
            <a:ext cx="8686800" cy="95410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dirty="0">
                <a:solidFill>
                  <a:schemeClr val="folHlink"/>
                </a:solidFill>
                <a:latin typeface="Tw Cen MT" pitchFamily="34" charset="0"/>
              </a:rPr>
              <a:t>Rabin Scheme (based on M-D scheme) </a:t>
            </a:r>
            <a:r>
              <a:rPr lang="en-US" sz="2800" dirty="0">
                <a:solidFill>
                  <a:srgbClr val="002060"/>
                </a:solidFill>
                <a:latin typeface="Tw Cen MT" pitchFamily="34" charset="0"/>
              </a:rPr>
              <a:t>uses any cipher as compression function</a:t>
            </a:r>
          </a:p>
        </p:txBody>
      </p:sp>
      <p:sp>
        <p:nvSpPr>
          <p:cNvPr id="6" name="Text Box 11"/>
          <p:cNvSpPr txBox="1">
            <a:spLocks noChangeArrowheads="1"/>
          </p:cNvSpPr>
          <p:nvPr/>
        </p:nvSpPr>
        <p:spPr bwMode="auto">
          <a:xfrm>
            <a:off x="4191000" y="2438401"/>
            <a:ext cx="25763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dirty="0">
                <a:latin typeface="Tw Cen MT" pitchFamily="34" charset="0"/>
              </a:rPr>
              <a:t>Rabin scheme</a:t>
            </a:r>
          </a:p>
        </p:txBody>
      </p:sp>
      <p:pic>
        <p:nvPicPr>
          <p:cNvPr id="7"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9600" y="3067050"/>
            <a:ext cx="82550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2362200" y="6002194"/>
            <a:ext cx="5715000" cy="369332"/>
          </a:xfrm>
          <a:prstGeom prst="rect">
            <a:avLst/>
          </a:prstGeom>
          <a:noFill/>
        </p:spPr>
        <p:txBody>
          <a:bodyPr wrap="square" rtlCol="0">
            <a:spAutoFit/>
          </a:bodyPr>
          <a:lstStyle/>
          <a:p>
            <a:pPr marL="285750" indent="-285750">
              <a:buFont typeface="Wingdings" pitchFamily="2" charset="2"/>
              <a:buChar char="§"/>
            </a:pPr>
            <a:r>
              <a:rPr lang="en-US" dirty="0">
                <a:solidFill>
                  <a:srgbClr val="FF0000"/>
                </a:solidFill>
              </a:rPr>
              <a:t>v</a:t>
            </a:r>
            <a:r>
              <a:rPr lang="en-US" dirty="0" smtClean="0">
                <a:solidFill>
                  <a:srgbClr val="FF0000"/>
                </a:solidFill>
              </a:rPr>
              <a:t>ulnerable to meet-in-the-middle attack</a:t>
            </a:r>
            <a:endParaRPr lang="en-US" dirty="0">
              <a:solidFill>
                <a:srgbClr val="FF0000"/>
              </a:solidFill>
            </a:endParaRPr>
          </a:p>
        </p:txBody>
      </p:sp>
    </p:spTree>
    <p:extLst>
      <p:ext uri="{BB962C8B-B14F-4D97-AF65-F5344CB8AC3E}">
        <p14:creationId xmlns:p14="http://schemas.microsoft.com/office/powerpoint/2010/main" val="68546013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0"/>
          <p:cNvSpPr txBox="1">
            <a:spLocks noGrp="1" noChangeArrowheads="1"/>
          </p:cNvSpPr>
          <p:nvPr>
            <p:ph type="title"/>
          </p:nvPr>
        </p:nvSpPr>
        <p:spPr bwMode="auto">
          <a:xfrm>
            <a:off x="2701081" y="545813"/>
            <a:ext cx="687239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smtClean="0">
                <a:solidFill>
                  <a:srgbClr val="FF0000"/>
                </a:solidFill>
                <a:latin typeface="Tw Cen MT" pitchFamily="34" charset="0"/>
              </a:rPr>
              <a:t>Hash </a:t>
            </a:r>
            <a:r>
              <a:rPr lang="en-US" b="1" dirty="0">
                <a:solidFill>
                  <a:srgbClr val="FF0000"/>
                </a:solidFill>
                <a:latin typeface="Tw Cen MT" pitchFamily="34" charset="0"/>
              </a:rPr>
              <a:t>Functions Based on Block Ciphers</a:t>
            </a:r>
          </a:p>
        </p:txBody>
      </p:sp>
      <p:sp>
        <p:nvSpPr>
          <p:cNvPr id="2" name="TextBox 1"/>
          <p:cNvSpPr txBox="1"/>
          <p:nvPr/>
        </p:nvSpPr>
        <p:spPr>
          <a:xfrm>
            <a:off x="2362200" y="6002194"/>
            <a:ext cx="5715000" cy="369332"/>
          </a:xfrm>
          <a:prstGeom prst="rect">
            <a:avLst/>
          </a:prstGeom>
          <a:noFill/>
        </p:spPr>
        <p:txBody>
          <a:bodyPr wrap="square" rtlCol="0">
            <a:spAutoFit/>
          </a:bodyPr>
          <a:lstStyle/>
          <a:p>
            <a:pPr marL="285750" indent="-285750">
              <a:buFont typeface="Wingdings" pitchFamily="2" charset="2"/>
              <a:buChar char="§"/>
            </a:pPr>
            <a:r>
              <a:rPr lang="en-US" dirty="0">
                <a:solidFill>
                  <a:srgbClr val="FF0000"/>
                </a:solidFill>
              </a:rPr>
              <a:t>T</a:t>
            </a:r>
            <a:r>
              <a:rPr lang="en-US" dirty="0" smtClean="0">
                <a:solidFill>
                  <a:srgbClr val="FF0000"/>
                </a:solidFill>
              </a:rPr>
              <a:t>o protect from meet-in-the-middle attack</a:t>
            </a:r>
            <a:endParaRPr lang="en-US" dirty="0">
              <a:solidFill>
                <a:srgbClr val="FF0000"/>
              </a:solidFill>
            </a:endParaRPr>
          </a:p>
        </p:txBody>
      </p:sp>
      <p:sp>
        <p:nvSpPr>
          <p:cNvPr id="8" name="Rectangle 9"/>
          <p:cNvSpPr>
            <a:spLocks noChangeArrowheads="1"/>
          </p:cNvSpPr>
          <p:nvPr/>
        </p:nvSpPr>
        <p:spPr bwMode="auto">
          <a:xfrm>
            <a:off x="1752600" y="1359932"/>
            <a:ext cx="8686800" cy="52322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b="1" dirty="0">
                <a:solidFill>
                  <a:schemeClr val="folHlink"/>
                </a:solidFill>
                <a:latin typeface="Tw Cen MT" pitchFamily="34" charset="0"/>
              </a:rPr>
              <a:t>Davies-Meyer Scheme</a:t>
            </a:r>
            <a:endParaRPr lang="en-US" sz="2800" b="1" dirty="0">
              <a:latin typeface="Tw Cen MT" pitchFamily="34" charset="0"/>
            </a:endParaRPr>
          </a:p>
        </p:txBody>
      </p:sp>
      <p:sp>
        <p:nvSpPr>
          <p:cNvPr id="9" name="Text Box 11"/>
          <p:cNvSpPr txBox="1">
            <a:spLocks noChangeArrowheads="1"/>
          </p:cNvSpPr>
          <p:nvPr/>
        </p:nvSpPr>
        <p:spPr bwMode="auto">
          <a:xfrm>
            <a:off x="4191000" y="1981201"/>
            <a:ext cx="333745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w Cen MT" pitchFamily="34" charset="0"/>
              </a:rPr>
              <a:t>Figure  </a:t>
            </a:r>
            <a:r>
              <a:rPr lang="en-US" sz="2000" dirty="0">
                <a:latin typeface="Tw Cen MT" pitchFamily="34" charset="0"/>
              </a:rPr>
              <a:t>Davies-Meyer scheme</a:t>
            </a:r>
          </a:p>
        </p:txBody>
      </p:sp>
      <p:pic>
        <p:nvPicPr>
          <p:cNvPr id="10"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2838450"/>
            <a:ext cx="8610600" cy="272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885911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45</a:t>
            </a:fld>
            <a:endParaRPr lang="en-US" dirty="0"/>
          </a:p>
        </p:txBody>
      </p:sp>
      <p:sp>
        <p:nvSpPr>
          <p:cNvPr id="4" name="Text Box 10"/>
          <p:cNvSpPr txBox="1">
            <a:spLocks noChangeArrowheads="1"/>
          </p:cNvSpPr>
          <p:nvPr/>
        </p:nvSpPr>
        <p:spPr bwMode="auto">
          <a:xfrm>
            <a:off x="4114801" y="228601"/>
            <a:ext cx="40847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Secure Hash Algorithm</a:t>
            </a:r>
          </a:p>
        </p:txBody>
      </p:sp>
      <p:pic>
        <p:nvPicPr>
          <p:cNvPr id="5" name="Picture 4"/>
          <p:cNvPicPr>
            <a:picLocks noChangeAspect="1"/>
          </p:cNvPicPr>
          <p:nvPr/>
        </p:nvPicPr>
        <p:blipFill>
          <a:blip r:embed="rId2"/>
          <a:stretch>
            <a:fillRect/>
          </a:stretch>
        </p:blipFill>
        <p:spPr>
          <a:xfrm>
            <a:off x="2057401" y="914401"/>
            <a:ext cx="7877175" cy="5153025"/>
          </a:xfrm>
          <a:prstGeom prst="rect">
            <a:avLst/>
          </a:prstGeom>
        </p:spPr>
      </p:pic>
    </p:spTree>
    <p:extLst>
      <p:ext uri="{BB962C8B-B14F-4D97-AF65-F5344CB8AC3E}">
        <p14:creationId xmlns:p14="http://schemas.microsoft.com/office/powerpoint/2010/main" val="276407994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46</a:t>
            </a:fld>
            <a:endParaRPr lang="en-US" dirty="0"/>
          </a:p>
        </p:txBody>
      </p:sp>
      <p:sp>
        <p:nvSpPr>
          <p:cNvPr id="4" name="Text Box 10"/>
          <p:cNvSpPr txBox="1">
            <a:spLocks noChangeArrowheads="1"/>
          </p:cNvSpPr>
          <p:nvPr/>
        </p:nvSpPr>
        <p:spPr bwMode="auto">
          <a:xfrm>
            <a:off x="5522234" y="228601"/>
            <a:ext cx="126989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SHA-1</a:t>
            </a:r>
          </a:p>
        </p:txBody>
      </p:sp>
      <p:pic>
        <p:nvPicPr>
          <p:cNvPr id="3" name="Picture 2"/>
          <p:cNvPicPr>
            <a:picLocks noChangeAspect="1"/>
          </p:cNvPicPr>
          <p:nvPr/>
        </p:nvPicPr>
        <p:blipFill>
          <a:blip r:embed="rId2"/>
          <a:stretch>
            <a:fillRect/>
          </a:stretch>
        </p:blipFill>
        <p:spPr>
          <a:xfrm>
            <a:off x="2205038" y="1042988"/>
            <a:ext cx="7781925" cy="4772025"/>
          </a:xfrm>
          <a:prstGeom prst="rect">
            <a:avLst/>
          </a:prstGeom>
        </p:spPr>
      </p:pic>
      <p:sp>
        <p:nvSpPr>
          <p:cNvPr id="5" name="Rectangle 4"/>
          <p:cNvSpPr/>
          <p:nvPr/>
        </p:nvSpPr>
        <p:spPr>
          <a:xfrm>
            <a:off x="2286000" y="6019800"/>
            <a:ext cx="6781800" cy="369332"/>
          </a:xfrm>
          <a:prstGeom prst="rect">
            <a:avLst/>
          </a:prstGeom>
        </p:spPr>
        <p:txBody>
          <a:bodyPr wrap="square">
            <a:spAutoFit/>
          </a:bodyPr>
          <a:lstStyle/>
          <a:p>
            <a:r>
              <a:rPr lang="en-GB" dirty="0" err="1"/>
              <a:t>Wt</a:t>
            </a:r>
            <a:r>
              <a:rPr lang="en-GB" dirty="0"/>
              <a:t> = ( W[t-3]⊕W[t-8]⊕W[t-14]⊕W[t-16] ) &lt;&lt;&lt; 1</a:t>
            </a:r>
          </a:p>
        </p:txBody>
      </p:sp>
    </p:spTree>
    <p:extLst>
      <p:ext uri="{BB962C8B-B14F-4D97-AF65-F5344CB8AC3E}">
        <p14:creationId xmlns:p14="http://schemas.microsoft.com/office/powerpoint/2010/main" val="4930523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47</a:t>
            </a:fld>
            <a:endParaRPr lang="en-US" dirty="0"/>
          </a:p>
        </p:txBody>
      </p:sp>
      <p:sp>
        <p:nvSpPr>
          <p:cNvPr id="4" name="Text Box 10"/>
          <p:cNvSpPr txBox="1">
            <a:spLocks noChangeArrowheads="1"/>
          </p:cNvSpPr>
          <p:nvPr/>
        </p:nvSpPr>
        <p:spPr bwMode="auto">
          <a:xfrm>
            <a:off x="5522234" y="228601"/>
            <a:ext cx="126989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SHA-1</a:t>
            </a:r>
          </a:p>
        </p:txBody>
      </p:sp>
      <p:pic>
        <p:nvPicPr>
          <p:cNvPr id="5" name="Picture 4"/>
          <p:cNvPicPr>
            <a:picLocks noChangeAspect="1"/>
          </p:cNvPicPr>
          <p:nvPr/>
        </p:nvPicPr>
        <p:blipFill>
          <a:blip r:embed="rId2"/>
          <a:stretch>
            <a:fillRect/>
          </a:stretch>
        </p:blipFill>
        <p:spPr>
          <a:xfrm>
            <a:off x="6553201" y="2057401"/>
            <a:ext cx="3937635" cy="3343275"/>
          </a:xfrm>
          <a:prstGeom prst="rect">
            <a:avLst/>
          </a:prstGeom>
        </p:spPr>
      </p:pic>
      <p:sp>
        <p:nvSpPr>
          <p:cNvPr id="6" name="Rectangle 5"/>
          <p:cNvSpPr/>
          <p:nvPr/>
        </p:nvSpPr>
        <p:spPr>
          <a:xfrm>
            <a:off x="1676400" y="3429000"/>
            <a:ext cx="5257800" cy="369332"/>
          </a:xfrm>
          <a:prstGeom prst="rect">
            <a:avLst/>
          </a:prstGeom>
        </p:spPr>
        <p:txBody>
          <a:bodyPr wrap="square">
            <a:spAutoFit/>
          </a:bodyPr>
          <a:lstStyle/>
          <a:p>
            <a:r>
              <a:rPr lang="en-GB" dirty="0" smtClean="0">
                <a:latin typeface="Tw Cen MT" panose="020B0602020104020603" pitchFamily="34" charset="0"/>
              </a:rPr>
              <a:t>W[t] </a:t>
            </a:r>
            <a:r>
              <a:rPr lang="en-GB" dirty="0">
                <a:latin typeface="Tw Cen MT" panose="020B0602020104020603" pitchFamily="34" charset="0"/>
              </a:rPr>
              <a:t>= ( W[t-3]⊕W[t-8]⊕W[t-14]⊕W[t-16] ) &lt;&lt;&lt; 1</a:t>
            </a:r>
          </a:p>
        </p:txBody>
      </p:sp>
      <p:sp>
        <p:nvSpPr>
          <p:cNvPr id="7" name="Rectangle 6"/>
          <p:cNvSpPr/>
          <p:nvPr/>
        </p:nvSpPr>
        <p:spPr>
          <a:xfrm>
            <a:off x="1905000" y="2362201"/>
            <a:ext cx="4572000" cy="646331"/>
          </a:xfrm>
          <a:prstGeom prst="rect">
            <a:avLst/>
          </a:prstGeom>
        </p:spPr>
        <p:txBody>
          <a:bodyPr>
            <a:spAutoFit/>
          </a:bodyPr>
          <a:lstStyle/>
          <a:p>
            <a:r>
              <a:rPr lang="en-GB" dirty="0" smtClean="0">
                <a:latin typeface="Tw Cen MT" panose="020B0602020104020603" pitchFamily="34" charset="0"/>
              </a:rPr>
              <a:t>2. The </a:t>
            </a:r>
            <a:r>
              <a:rPr lang="en-GB" dirty="0">
                <a:latin typeface="Tw Cen MT" panose="020B0602020104020603" pitchFamily="34" charset="0"/>
              </a:rPr>
              <a:t>second step </a:t>
            </a:r>
            <a:r>
              <a:rPr lang="en-GB" dirty="0">
                <a:solidFill>
                  <a:srgbClr val="FF0000"/>
                </a:solidFill>
                <a:latin typeface="Tw Cen MT" panose="020B0602020104020603" pitchFamily="34" charset="0"/>
              </a:rPr>
              <a:t>massage word </a:t>
            </a:r>
            <a:r>
              <a:rPr lang="en-GB" dirty="0">
                <a:latin typeface="Tw Cen MT" panose="020B0602020104020603" pitchFamily="34" charset="0"/>
              </a:rPr>
              <a:t>W[0-15] extended into 80 word W[16-79]</a:t>
            </a:r>
          </a:p>
        </p:txBody>
      </p:sp>
      <p:sp>
        <p:nvSpPr>
          <p:cNvPr id="8" name="Rectangle 7"/>
          <p:cNvSpPr/>
          <p:nvPr/>
        </p:nvSpPr>
        <p:spPr>
          <a:xfrm>
            <a:off x="1981200" y="4191001"/>
            <a:ext cx="4572000" cy="646331"/>
          </a:xfrm>
          <a:prstGeom prst="rect">
            <a:avLst/>
          </a:prstGeom>
        </p:spPr>
        <p:txBody>
          <a:bodyPr>
            <a:spAutoFit/>
          </a:bodyPr>
          <a:lstStyle/>
          <a:p>
            <a:r>
              <a:rPr lang="en-GB" dirty="0" smtClean="0">
                <a:latin typeface="Tw Cen MT" panose="020B0602020104020603" pitchFamily="34" charset="0"/>
              </a:rPr>
              <a:t>3. In </a:t>
            </a:r>
            <a:r>
              <a:rPr lang="en-GB" dirty="0">
                <a:latin typeface="Tw Cen MT" panose="020B0602020104020603" pitchFamily="34" charset="0"/>
              </a:rPr>
              <a:t>the third step 5 variable (A to E) is added which is equal to (H0 to H4)</a:t>
            </a:r>
          </a:p>
        </p:txBody>
      </p:sp>
      <p:sp>
        <p:nvSpPr>
          <p:cNvPr id="9" name="Rectangle 8"/>
          <p:cNvSpPr/>
          <p:nvPr/>
        </p:nvSpPr>
        <p:spPr>
          <a:xfrm>
            <a:off x="1828800" y="914400"/>
            <a:ext cx="7543800" cy="369332"/>
          </a:xfrm>
          <a:prstGeom prst="rect">
            <a:avLst/>
          </a:prstGeom>
        </p:spPr>
        <p:txBody>
          <a:bodyPr wrap="square">
            <a:spAutoFit/>
          </a:bodyPr>
          <a:lstStyle/>
          <a:p>
            <a:r>
              <a:rPr lang="en-GB" dirty="0" smtClean="0">
                <a:latin typeface="Tw Cen MT" panose="020B0602020104020603" pitchFamily="34" charset="0"/>
              </a:rPr>
              <a:t>1. In </a:t>
            </a:r>
            <a:r>
              <a:rPr lang="en-GB" dirty="0">
                <a:latin typeface="Tw Cen MT" panose="020B0602020104020603" pitchFamily="34" charset="0"/>
              </a:rPr>
              <a:t>the first step hash variables </a:t>
            </a:r>
            <a:r>
              <a:rPr lang="en-GB" dirty="0" smtClean="0">
                <a:latin typeface="Tw Cen MT" panose="020B0602020104020603" pitchFamily="34" charset="0"/>
              </a:rPr>
              <a:t>are </a:t>
            </a:r>
            <a:r>
              <a:rPr lang="en-GB" dirty="0">
                <a:latin typeface="Tw Cen MT" panose="020B0602020104020603" pitchFamily="34" charset="0"/>
              </a:rPr>
              <a:t>initialized</a:t>
            </a:r>
            <a:r>
              <a:rPr lang="en-GB" dirty="0" smtClean="0">
                <a:latin typeface="Tw Cen MT" panose="020B0602020104020603" pitchFamily="34" charset="0"/>
              </a:rPr>
              <a:t>. </a:t>
            </a:r>
            <a:r>
              <a:rPr lang="en-GB" dirty="0" smtClean="0">
                <a:solidFill>
                  <a:srgbClr val="FF0000"/>
                </a:solidFill>
                <a:latin typeface="Tw Cen MT" panose="020B0602020104020603" pitchFamily="34" charset="0"/>
              </a:rPr>
              <a:t>let</a:t>
            </a:r>
            <a:endParaRPr lang="en-GB" dirty="0">
              <a:solidFill>
                <a:srgbClr val="FF0000"/>
              </a:solidFill>
              <a:latin typeface="Tw Cen MT" panose="020B0602020104020603" pitchFamily="34" charset="0"/>
            </a:endParaRPr>
          </a:p>
        </p:txBody>
      </p:sp>
      <p:sp>
        <p:nvSpPr>
          <p:cNvPr id="10" name="Rectangle 9"/>
          <p:cNvSpPr/>
          <p:nvPr/>
        </p:nvSpPr>
        <p:spPr>
          <a:xfrm>
            <a:off x="4953000" y="2971800"/>
            <a:ext cx="1317990" cy="369332"/>
          </a:xfrm>
          <a:prstGeom prst="rect">
            <a:avLst/>
          </a:prstGeom>
        </p:spPr>
        <p:txBody>
          <a:bodyPr wrap="none">
            <a:spAutoFit/>
          </a:bodyPr>
          <a:lstStyle/>
          <a:p>
            <a:r>
              <a:rPr lang="en-GB" dirty="0">
                <a:latin typeface="Tw Cen MT" panose="020B0602020104020603" pitchFamily="34" charset="0"/>
              </a:rPr>
              <a:t>16 ≤ t ≤ 79</a:t>
            </a:r>
          </a:p>
        </p:txBody>
      </p:sp>
      <p:sp>
        <p:nvSpPr>
          <p:cNvPr id="11" name="Rectangle 10"/>
          <p:cNvSpPr/>
          <p:nvPr/>
        </p:nvSpPr>
        <p:spPr>
          <a:xfrm>
            <a:off x="1905000" y="5181601"/>
            <a:ext cx="4572000" cy="646331"/>
          </a:xfrm>
          <a:prstGeom prst="rect">
            <a:avLst/>
          </a:prstGeom>
        </p:spPr>
        <p:txBody>
          <a:bodyPr>
            <a:spAutoFit/>
          </a:bodyPr>
          <a:lstStyle/>
          <a:p>
            <a:r>
              <a:rPr lang="en-GB" dirty="0" smtClean="0">
                <a:latin typeface="Tw Cen MT" panose="020B0602020104020603" pitchFamily="34" charset="0"/>
              </a:rPr>
              <a:t>4. The </a:t>
            </a:r>
            <a:r>
              <a:rPr lang="en-GB" dirty="0">
                <a:latin typeface="Tw Cen MT" panose="020B0602020104020603" pitchFamily="34" charset="0"/>
              </a:rPr>
              <a:t>fourth step is the main loop which is (A to E) will </a:t>
            </a:r>
            <a:r>
              <a:rPr lang="en-GB" dirty="0" smtClean="0">
                <a:latin typeface="Tw Cen MT" panose="020B0602020104020603" pitchFamily="34" charset="0"/>
              </a:rPr>
              <a:t>be calculated </a:t>
            </a:r>
            <a:r>
              <a:rPr lang="en-GB" dirty="0">
                <a:latin typeface="Tw Cen MT" panose="020B0602020104020603" pitchFamily="34" charset="0"/>
              </a:rPr>
              <a:t>in 80 Round as following:</a:t>
            </a:r>
          </a:p>
        </p:txBody>
      </p:sp>
      <p:pic>
        <p:nvPicPr>
          <p:cNvPr id="12" name="Picture 11"/>
          <p:cNvPicPr>
            <a:picLocks noChangeAspect="1"/>
          </p:cNvPicPr>
          <p:nvPr/>
        </p:nvPicPr>
        <p:blipFill>
          <a:blip r:embed="rId3"/>
          <a:stretch>
            <a:fillRect/>
          </a:stretch>
        </p:blipFill>
        <p:spPr>
          <a:xfrm>
            <a:off x="1828800" y="1371600"/>
            <a:ext cx="6286500" cy="647700"/>
          </a:xfrm>
          <a:prstGeom prst="rect">
            <a:avLst/>
          </a:prstGeom>
        </p:spPr>
      </p:pic>
      <p:sp>
        <p:nvSpPr>
          <p:cNvPr id="13" name="Rectangle 12"/>
          <p:cNvSpPr/>
          <p:nvPr/>
        </p:nvSpPr>
        <p:spPr>
          <a:xfrm>
            <a:off x="8431490" y="1447800"/>
            <a:ext cx="2236510" cy="369332"/>
          </a:xfrm>
          <a:prstGeom prst="rect">
            <a:avLst/>
          </a:prstGeom>
        </p:spPr>
        <p:txBody>
          <a:bodyPr wrap="none">
            <a:spAutoFit/>
          </a:bodyPr>
          <a:lstStyle/>
          <a:p>
            <a:r>
              <a:rPr lang="en-GB" dirty="0">
                <a:solidFill>
                  <a:srgbClr val="FF0000"/>
                </a:solidFill>
              </a:rPr>
              <a:t>k is round constants</a:t>
            </a:r>
          </a:p>
        </p:txBody>
      </p:sp>
      <p:cxnSp>
        <p:nvCxnSpPr>
          <p:cNvPr id="15" name="Straight Arrow Connector 14"/>
          <p:cNvCxnSpPr/>
          <p:nvPr/>
        </p:nvCxnSpPr>
        <p:spPr bwMode="auto">
          <a:xfrm>
            <a:off x="1981200" y="3810000"/>
            <a:ext cx="7315200" cy="0"/>
          </a:xfrm>
          <a:prstGeom prst="straightConnector1">
            <a:avLst/>
          </a:prstGeom>
          <a:solidFill>
            <a:schemeClr val="accent1"/>
          </a:solidFill>
          <a:ln w="25400" cap="flat" cmpd="sng" algn="ctr">
            <a:solidFill>
              <a:srgbClr val="0000FF"/>
            </a:solidFill>
            <a:prstDash val="solid"/>
            <a:round/>
            <a:headEnd type="none" w="med" len="med"/>
            <a:tailEnd type="triangle"/>
          </a:ln>
          <a:effectLst/>
        </p:spPr>
      </p:cxnSp>
    </p:spTree>
    <p:extLst>
      <p:ext uri="{BB962C8B-B14F-4D97-AF65-F5344CB8AC3E}">
        <p14:creationId xmlns:p14="http://schemas.microsoft.com/office/powerpoint/2010/main" val="208425981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48</a:t>
            </a:fld>
            <a:endParaRPr lang="en-US" dirty="0"/>
          </a:p>
        </p:txBody>
      </p:sp>
      <p:sp>
        <p:nvSpPr>
          <p:cNvPr id="4" name="Text Box 10"/>
          <p:cNvSpPr txBox="1">
            <a:spLocks noChangeArrowheads="1"/>
          </p:cNvSpPr>
          <p:nvPr/>
        </p:nvSpPr>
        <p:spPr bwMode="auto">
          <a:xfrm>
            <a:off x="5522234" y="228601"/>
            <a:ext cx="126989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SHA-1</a:t>
            </a:r>
          </a:p>
        </p:txBody>
      </p:sp>
      <p:pic>
        <p:nvPicPr>
          <p:cNvPr id="5" name="Picture 4"/>
          <p:cNvPicPr>
            <a:picLocks noChangeAspect="1"/>
          </p:cNvPicPr>
          <p:nvPr/>
        </p:nvPicPr>
        <p:blipFill>
          <a:blip r:embed="rId2"/>
          <a:stretch>
            <a:fillRect/>
          </a:stretch>
        </p:blipFill>
        <p:spPr>
          <a:xfrm>
            <a:off x="1752600" y="2209800"/>
            <a:ext cx="8771306" cy="2438400"/>
          </a:xfrm>
          <a:prstGeom prst="rect">
            <a:avLst/>
          </a:prstGeom>
        </p:spPr>
      </p:pic>
    </p:spTree>
    <p:extLst>
      <p:ext uri="{BB962C8B-B14F-4D97-AF65-F5344CB8AC3E}">
        <p14:creationId xmlns:p14="http://schemas.microsoft.com/office/powerpoint/2010/main" val="299424305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49</a:t>
            </a:fld>
            <a:endParaRPr lang="en-US" dirty="0"/>
          </a:p>
        </p:txBody>
      </p:sp>
      <p:sp>
        <p:nvSpPr>
          <p:cNvPr id="4" name="Text Box 10"/>
          <p:cNvSpPr txBox="1">
            <a:spLocks noChangeArrowheads="1"/>
          </p:cNvSpPr>
          <p:nvPr/>
        </p:nvSpPr>
        <p:spPr bwMode="auto">
          <a:xfrm>
            <a:off x="5522234" y="228601"/>
            <a:ext cx="126989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SHA-2</a:t>
            </a:r>
          </a:p>
        </p:txBody>
      </p:sp>
      <p:sp>
        <p:nvSpPr>
          <p:cNvPr id="3" name="Rectangle 2"/>
          <p:cNvSpPr/>
          <p:nvPr/>
        </p:nvSpPr>
        <p:spPr>
          <a:xfrm>
            <a:off x="2133600" y="914400"/>
            <a:ext cx="7924800" cy="2308324"/>
          </a:xfrm>
          <a:prstGeom prst="rect">
            <a:avLst/>
          </a:prstGeom>
        </p:spPr>
        <p:txBody>
          <a:bodyPr wrap="square">
            <a:spAutoFit/>
          </a:bodyPr>
          <a:lstStyle/>
          <a:p>
            <a:pPr marL="457200" indent="-457200">
              <a:buFont typeface="Wingdings" panose="05000000000000000000" pitchFamily="2" charset="2"/>
              <a:buChar char="§"/>
            </a:pPr>
            <a:r>
              <a:rPr lang="en-GB" sz="2400" dirty="0">
                <a:latin typeface="Tw Cen MT" panose="020B0602020104020603" pitchFamily="34" charset="0"/>
              </a:rPr>
              <a:t>SHA-256 uses 32-bit operations</a:t>
            </a:r>
          </a:p>
          <a:p>
            <a:pPr marL="457200" indent="-457200">
              <a:buFont typeface="Wingdings" panose="05000000000000000000" pitchFamily="2" charset="2"/>
              <a:buChar char="§"/>
            </a:pPr>
            <a:r>
              <a:rPr lang="en-GB" sz="2400" dirty="0">
                <a:latin typeface="Tw Cen MT" panose="020B0602020104020603" pitchFamily="34" charset="0"/>
              </a:rPr>
              <a:t>SHA-512 uses 64-bit operations</a:t>
            </a:r>
          </a:p>
          <a:p>
            <a:pPr marL="457200" indent="-457200">
              <a:buFont typeface="Wingdings" panose="05000000000000000000" pitchFamily="2" charset="2"/>
              <a:buChar char="§"/>
            </a:pPr>
            <a:r>
              <a:rPr lang="en-GB" sz="2400" dirty="0">
                <a:latin typeface="Tw Cen MT" panose="020B0602020104020603" pitchFamily="34" charset="0"/>
              </a:rPr>
              <a:t>Use different shift amounts and additive constants</a:t>
            </a:r>
          </a:p>
          <a:p>
            <a:pPr marL="457200" indent="-457200">
              <a:buFont typeface="Wingdings" panose="05000000000000000000" pitchFamily="2" charset="2"/>
              <a:buChar char="§"/>
            </a:pPr>
            <a:r>
              <a:rPr lang="en-GB" sz="2400" dirty="0">
                <a:latin typeface="Tw Cen MT" panose="020B0602020104020603" pitchFamily="34" charset="0"/>
              </a:rPr>
              <a:t>SHA-224 and SHA-384 are simply truncated versions of SHA256 and SHA-512 using different initial values.</a:t>
            </a:r>
          </a:p>
          <a:p>
            <a:pPr marL="457200" indent="-457200">
              <a:buFont typeface="Wingdings" panose="05000000000000000000" pitchFamily="2" charset="2"/>
              <a:buChar char="§"/>
            </a:pPr>
            <a:r>
              <a:rPr lang="en-GB" sz="2400" dirty="0">
                <a:latin typeface="Tw Cen MT" panose="020B0602020104020603" pitchFamily="34" charset="0"/>
              </a:rPr>
              <a:t>SHA-224 matches the key length of two-key triple-DES</a:t>
            </a:r>
          </a:p>
        </p:txBody>
      </p:sp>
      <p:pic>
        <p:nvPicPr>
          <p:cNvPr id="6" name="Picture 5"/>
          <p:cNvPicPr>
            <a:picLocks noChangeAspect="1"/>
          </p:cNvPicPr>
          <p:nvPr/>
        </p:nvPicPr>
        <p:blipFill>
          <a:blip r:embed="rId2"/>
          <a:stretch>
            <a:fillRect/>
          </a:stretch>
        </p:blipFill>
        <p:spPr>
          <a:xfrm>
            <a:off x="1828801" y="3505200"/>
            <a:ext cx="8620125" cy="1962150"/>
          </a:xfrm>
          <a:prstGeom prst="rect">
            <a:avLst/>
          </a:prstGeom>
        </p:spPr>
      </p:pic>
    </p:spTree>
    <p:extLst>
      <p:ext uri="{BB962C8B-B14F-4D97-AF65-F5344CB8AC3E}">
        <p14:creationId xmlns:p14="http://schemas.microsoft.com/office/powerpoint/2010/main" val="147742865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50</a:t>
            </a:fld>
            <a:endParaRPr lang="en-US" dirty="0"/>
          </a:p>
        </p:txBody>
      </p:sp>
      <p:sp>
        <p:nvSpPr>
          <p:cNvPr id="4" name="Text Box 10"/>
          <p:cNvSpPr txBox="1">
            <a:spLocks noChangeArrowheads="1"/>
          </p:cNvSpPr>
          <p:nvPr/>
        </p:nvSpPr>
        <p:spPr bwMode="auto">
          <a:xfrm>
            <a:off x="4114801" y="228601"/>
            <a:ext cx="40847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Secure Hash Algorithm</a:t>
            </a:r>
          </a:p>
        </p:txBody>
      </p:sp>
      <p:pic>
        <p:nvPicPr>
          <p:cNvPr id="3" name="Picture 2"/>
          <p:cNvPicPr>
            <a:picLocks noChangeAspect="1"/>
          </p:cNvPicPr>
          <p:nvPr/>
        </p:nvPicPr>
        <p:blipFill>
          <a:blip r:embed="rId2"/>
          <a:stretch>
            <a:fillRect/>
          </a:stretch>
        </p:blipFill>
        <p:spPr>
          <a:xfrm>
            <a:off x="2124075" y="1619250"/>
            <a:ext cx="7943850" cy="3619500"/>
          </a:xfrm>
          <a:prstGeom prst="rect">
            <a:avLst/>
          </a:prstGeom>
        </p:spPr>
      </p:pic>
    </p:spTree>
    <p:extLst>
      <p:ext uri="{BB962C8B-B14F-4D97-AF65-F5344CB8AC3E}">
        <p14:creationId xmlns:p14="http://schemas.microsoft.com/office/powerpoint/2010/main" val="266023767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51</a:t>
            </a:fld>
            <a:endParaRPr lang="en-US" dirty="0"/>
          </a:p>
        </p:txBody>
      </p:sp>
      <p:sp>
        <p:nvSpPr>
          <p:cNvPr id="4" name="Text Box 10"/>
          <p:cNvSpPr txBox="1">
            <a:spLocks noChangeArrowheads="1"/>
          </p:cNvSpPr>
          <p:nvPr/>
        </p:nvSpPr>
        <p:spPr bwMode="auto">
          <a:xfrm>
            <a:off x="5304225" y="228601"/>
            <a:ext cx="17059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SHA-512</a:t>
            </a:r>
          </a:p>
        </p:txBody>
      </p:sp>
      <p:pic>
        <p:nvPicPr>
          <p:cNvPr id="5" name="Picture 4"/>
          <p:cNvPicPr>
            <a:picLocks noChangeAspect="1"/>
          </p:cNvPicPr>
          <p:nvPr/>
        </p:nvPicPr>
        <p:blipFill>
          <a:blip r:embed="rId2"/>
          <a:stretch>
            <a:fillRect/>
          </a:stretch>
        </p:blipFill>
        <p:spPr>
          <a:xfrm>
            <a:off x="2590800" y="762001"/>
            <a:ext cx="6781800" cy="5673237"/>
          </a:xfrm>
          <a:prstGeom prst="rect">
            <a:avLst/>
          </a:prstGeom>
        </p:spPr>
      </p:pic>
    </p:spTree>
    <p:extLst>
      <p:ext uri="{BB962C8B-B14F-4D97-AF65-F5344CB8AC3E}">
        <p14:creationId xmlns:p14="http://schemas.microsoft.com/office/powerpoint/2010/main" val="385060095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52</a:t>
            </a:fld>
            <a:endParaRPr lang="en-US" dirty="0"/>
          </a:p>
        </p:txBody>
      </p:sp>
      <p:sp>
        <p:nvSpPr>
          <p:cNvPr id="4" name="Text Box 10"/>
          <p:cNvSpPr txBox="1">
            <a:spLocks noChangeArrowheads="1"/>
          </p:cNvSpPr>
          <p:nvPr/>
        </p:nvSpPr>
        <p:spPr bwMode="auto">
          <a:xfrm>
            <a:off x="5304225" y="228601"/>
            <a:ext cx="17059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SHA-512</a:t>
            </a:r>
          </a:p>
        </p:txBody>
      </p:sp>
      <p:pic>
        <p:nvPicPr>
          <p:cNvPr id="3" name="Picture 2"/>
          <p:cNvPicPr>
            <a:picLocks noChangeAspect="1"/>
          </p:cNvPicPr>
          <p:nvPr/>
        </p:nvPicPr>
        <p:blipFill>
          <a:blip r:embed="rId2"/>
          <a:stretch>
            <a:fillRect/>
          </a:stretch>
        </p:blipFill>
        <p:spPr>
          <a:xfrm>
            <a:off x="4038600" y="838201"/>
            <a:ext cx="4419600" cy="5383449"/>
          </a:xfrm>
          <a:prstGeom prst="rect">
            <a:avLst/>
          </a:prstGeom>
        </p:spPr>
      </p:pic>
      <p:sp>
        <p:nvSpPr>
          <p:cNvPr id="6" name="Rectangle 5"/>
          <p:cNvSpPr/>
          <p:nvPr/>
        </p:nvSpPr>
        <p:spPr>
          <a:xfrm>
            <a:off x="3048000" y="6172200"/>
            <a:ext cx="6400800" cy="369332"/>
          </a:xfrm>
          <a:prstGeom prst="rect">
            <a:avLst/>
          </a:prstGeom>
        </p:spPr>
        <p:txBody>
          <a:bodyPr wrap="square">
            <a:spAutoFit/>
          </a:bodyPr>
          <a:lstStyle/>
          <a:p>
            <a:r>
              <a:rPr lang="en-GB" dirty="0"/>
              <a:t>SHA-512 Processing of a Single 1024-Bit </a:t>
            </a:r>
            <a:r>
              <a:rPr lang="en-GB" dirty="0" smtClean="0"/>
              <a:t>Block (</a:t>
            </a:r>
            <a:r>
              <a:rPr lang="en-GB" dirty="0" smtClean="0">
                <a:solidFill>
                  <a:srgbClr val="FF0000"/>
                </a:solidFill>
              </a:rPr>
              <a:t>single block</a:t>
            </a:r>
            <a:r>
              <a:rPr lang="en-GB" dirty="0" smtClean="0"/>
              <a:t>)</a:t>
            </a:r>
            <a:endParaRPr lang="en-GB" dirty="0"/>
          </a:p>
        </p:txBody>
      </p:sp>
    </p:spTree>
    <p:extLst>
      <p:ext uri="{BB962C8B-B14F-4D97-AF65-F5344CB8AC3E}">
        <p14:creationId xmlns:p14="http://schemas.microsoft.com/office/powerpoint/2010/main" val="385103758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53</a:t>
            </a:fld>
            <a:endParaRPr lang="en-US" dirty="0"/>
          </a:p>
        </p:txBody>
      </p:sp>
      <p:sp>
        <p:nvSpPr>
          <p:cNvPr id="4" name="Text Box 10"/>
          <p:cNvSpPr txBox="1">
            <a:spLocks noChangeArrowheads="1"/>
          </p:cNvSpPr>
          <p:nvPr/>
        </p:nvSpPr>
        <p:spPr bwMode="auto">
          <a:xfrm>
            <a:off x="3915223" y="228601"/>
            <a:ext cx="4483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SHA-512 Round Function</a:t>
            </a:r>
          </a:p>
        </p:txBody>
      </p:sp>
      <p:sp>
        <p:nvSpPr>
          <p:cNvPr id="6" name="Rectangle 5"/>
          <p:cNvSpPr/>
          <p:nvPr/>
        </p:nvSpPr>
        <p:spPr>
          <a:xfrm>
            <a:off x="3429000" y="5486401"/>
            <a:ext cx="6400800" cy="646331"/>
          </a:xfrm>
          <a:prstGeom prst="rect">
            <a:avLst/>
          </a:prstGeom>
        </p:spPr>
        <p:txBody>
          <a:bodyPr wrap="square">
            <a:spAutoFit/>
          </a:bodyPr>
          <a:lstStyle/>
          <a:p>
            <a:r>
              <a:rPr lang="en-GB" dirty="0"/>
              <a:t>Elementary SHA-512 Operation (single round) </a:t>
            </a:r>
            <a:br>
              <a:rPr lang="en-GB" dirty="0"/>
            </a:br>
            <a:endParaRPr lang="en-GB" dirty="0"/>
          </a:p>
        </p:txBody>
      </p:sp>
      <p:pic>
        <p:nvPicPr>
          <p:cNvPr id="5" name="Picture 4"/>
          <p:cNvPicPr>
            <a:picLocks noChangeAspect="1"/>
          </p:cNvPicPr>
          <p:nvPr/>
        </p:nvPicPr>
        <p:blipFill>
          <a:blip r:embed="rId2"/>
          <a:stretch>
            <a:fillRect/>
          </a:stretch>
        </p:blipFill>
        <p:spPr>
          <a:xfrm>
            <a:off x="3124200" y="1066800"/>
            <a:ext cx="5562600" cy="3919638"/>
          </a:xfrm>
          <a:prstGeom prst="rect">
            <a:avLst/>
          </a:prstGeom>
        </p:spPr>
      </p:pic>
    </p:spTree>
    <p:extLst>
      <p:ext uri="{BB962C8B-B14F-4D97-AF65-F5344CB8AC3E}">
        <p14:creationId xmlns:p14="http://schemas.microsoft.com/office/powerpoint/2010/main" val="362150819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54</a:t>
            </a:fld>
            <a:endParaRPr lang="en-US" dirty="0"/>
          </a:p>
        </p:txBody>
      </p:sp>
      <p:sp>
        <p:nvSpPr>
          <p:cNvPr id="4" name="Text Box 10"/>
          <p:cNvSpPr txBox="1">
            <a:spLocks noChangeArrowheads="1"/>
          </p:cNvSpPr>
          <p:nvPr/>
        </p:nvSpPr>
        <p:spPr bwMode="auto">
          <a:xfrm>
            <a:off x="5304225" y="228601"/>
            <a:ext cx="17059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SHA-512</a:t>
            </a:r>
          </a:p>
        </p:txBody>
      </p:sp>
      <p:sp>
        <p:nvSpPr>
          <p:cNvPr id="6" name="Rectangle 5"/>
          <p:cNvSpPr/>
          <p:nvPr/>
        </p:nvSpPr>
        <p:spPr>
          <a:xfrm>
            <a:off x="3124200" y="5562601"/>
            <a:ext cx="6400800" cy="646331"/>
          </a:xfrm>
          <a:prstGeom prst="rect">
            <a:avLst/>
          </a:prstGeom>
        </p:spPr>
        <p:txBody>
          <a:bodyPr wrap="square">
            <a:spAutoFit/>
          </a:bodyPr>
          <a:lstStyle/>
          <a:p>
            <a:r>
              <a:rPr lang="en-GB" dirty="0"/>
              <a:t>Elementary SHA-512 Operation (single round) </a:t>
            </a:r>
            <a:br>
              <a:rPr lang="en-GB" dirty="0"/>
            </a:br>
            <a:endParaRPr lang="en-GB" dirty="0"/>
          </a:p>
        </p:txBody>
      </p:sp>
      <p:pic>
        <p:nvPicPr>
          <p:cNvPr id="3" name="Picture 2"/>
          <p:cNvPicPr>
            <a:picLocks noChangeAspect="1"/>
          </p:cNvPicPr>
          <p:nvPr/>
        </p:nvPicPr>
        <p:blipFill>
          <a:blip r:embed="rId2"/>
          <a:stretch>
            <a:fillRect/>
          </a:stretch>
        </p:blipFill>
        <p:spPr>
          <a:xfrm>
            <a:off x="2133600" y="1371600"/>
            <a:ext cx="7772400" cy="3048000"/>
          </a:xfrm>
          <a:prstGeom prst="rect">
            <a:avLst/>
          </a:prstGeom>
        </p:spPr>
      </p:pic>
    </p:spTree>
    <p:extLst>
      <p:ext uri="{BB962C8B-B14F-4D97-AF65-F5344CB8AC3E}">
        <p14:creationId xmlns:p14="http://schemas.microsoft.com/office/powerpoint/2010/main" val="355607693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55</a:t>
            </a:fld>
            <a:endParaRPr lang="en-US" dirty="0"/>
          </a:p>
        </p:txBody>
      </p:sp>
      <p:sp>
        <p:nvSpPr>
          <p:cNvPr id="4" name="Text Box 10"/>
          <p:cNvSpPr txBox="1">
            <a:spLocks noChangeArrowheads="1"/>
          </p:cNvSpPr>
          <p:nvPr/>
        </p:nvSpPr>
        <p:spPr bwMode="auto">
          <a:xfrm>
            <a:off x="3069700" y="381001"/>
            <a:ext cx="61766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SHA-512: 80-Word Input Sequence </a:t>
            </a:r>
          </a:p>
        </p:txBody>
      </p:sp>
      <p:pic>
        <p:nvPicPr>
          <p:cNvPr id="5" name="Picture 4"/>
          <p:cNvPicPr>
            <a:picLocks noChangeAspect="1"/>
          </p:cNvPicPr>
          <p:nvPr/>
        </p:nvPicPr>
        <p:blipFill>
          <a:blip r:embed="rId2"/>
          <a:stretch>
            <a:fillRect/>
          </a:stretch>
        </p:blipFill>
        <p:spPr>
          <a:xfrm>
            <a:off x="2347913" y="1909763"/>
            <a:ext cx="7496175" cy="3038475"/>
          </a:xfrm>
          <a:prstGeom prst="rect">
            <a:avLst/>
          </a:prstGeom>
        </p:spPr>
      </p:pic>
      <p:sp>
        <p:nvSpPr>
          <p:cNvPr id="7" name="TextBox 6"/>
          <p:cNvSpPr txBox="1"/>
          <p:nvPr/>
        </p:nvSpPr>
        <p:spPr>
          <a:xfrm>
            <a:off x="2209800" y="5562601"/>
            <a:ext cx="7620000" cy="584775"/>
          </a:xfrm>
          <a:prstGeom prst="rect">
            <a:avLst/>
          </a:prstGeom>
          <a:noFill/>
        </p:spPr>
        <p:txBody>
          <a:bodyPr wrap="square" rtlCol="0">
            <a:spAutoFit/>
          </a:bodyPr>
          <a:lstStyle/>
          <a:p>
            <a:r>
              <a:rPr lang="en-GB" sz="3200" dirty="0">
                <a:solidFill>
                  <a:srgbClr val="FF0000"/>
                </a:solidFill>
                <a:latin typeface="Tw Cen MT" panose="020B0602020104020603" pitchFamily="34" charset="0"/>
              </a:rPr>
              <a:t>From 16 words (1024 bits)  to 80 words</a:t>
            </a:r>
          </a:p>
        </p:txBody>
      </p:sp>
    </p:spTree>
    <p:extLst>
      <p:ext uri="{BB962C8B-B14F-4D97-AF65-F5344CB8AC3E}">
        <p14:creationId xmlns:p14="http://schemas.microsoft.com/office/powerpoint/2010/main" val="415339019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56</a:t>
            </a:fld>
            <a:endParaRPr lang="en-US" dirty="0"/>
          </a:p>
        </p:txBody>
      </p:sp>
      <p:sp>
        <p:nvSpPr>
          <p:cNvPr id="4" name="Text Box 10"/>
          <p:cNvSpPr txBox="1">
            <a:spLocks noChangeArrowheads="1"/>
          </p:cNvSpPr>
          <p:nvPr/>
        </p:nvSpPr>
        <p:spPr bwMode="auto">
          <a:xfrm>
            <a:off x="5468587" y="381001"/>
            <a:ext cx="137890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SHA-3 </a:t>
            </a:r>
          </a:p>
        </p:txBody>
      </p:sp>
      <p:sp>
        <p:nvSpPr>
          <p:cNvPr id="3" name="Rectangle 2"/>
          <p:cNvSpPr/>
          <p:nvPr/>
        </p:nvSpPr>
        <p:spPr>
          <a:xfrm>
            <a:off x="2209800" y="1720840"/>
            <a:ext cx="8305800" cy="3046988"/>
          </a:xfrm>
          <a:prstGeom prst="rect">
            <a:avLst/>
          </a:prstGeom>
        </p:spPr>
        <p:txBody>
          <a:bodyPr wrap="square">
            <a:spAutoFit/>
          </a:bodyPr>
          <a:lstStyle/>
          <a:p>
            <a:pPr marL="457200" indent="-457200">
              <a:buFont typeface="Wingdings" panose="05000000000000000000" pitchFamily="2" charset="2"/>
              <a:buChar char="§"/>
            </a:pPr>
            <a:r>
              <a:rPr lang="en-GB" sz="2400" dirty="0">
                <a:latin typeface="Tw Cen MT" panose="020B0602020104020603" pitchFamily="34" charset="0"/>
              </a:rPr>
              <a:t>SHA-2 (esp. SHA-512) seems secure</a:t>
            </a:r>
          </a:p>
          <a:p>
            <a:r>
              <a:rPr lang="en-GB" sz="2400" dirty="0">
                <a:latin typeface="Tw Cen MT" panose="020B0602020104020603" pitchFamily="34" charset="0"/>
              </a:rPr>
              <a:t>	Shares same structure and mathematical operations as 	predecessors so have concern</a:t>
            </a:r>
          </a:p>
          <a:p>
            <a:pPr marL="457200" indent="-457200">
              <a:buFont typeface="Wingdings" panose="05000000000000000000" pitchFamily="2" charset="2"/>
              <a:buChar char="§"/>
            </a:pPr>
            <a:r>
              <a:rPr lang="en-GB" sz="2400" dirty="0">
                <a:latin typeface="Tw Cen MT" panose="020B0602020104020603" pitchFamily="34" charset="0"/>
              </a:rPr>
              <a:t>NIST announced in 2007 a competition for the SHA-3</a:t>
            </a:r>
          </a:p>
          <a:p>
            <a:r>
              <a:rPr lang="en-GB" sz="2400" dirty="0">
                <a:latin typeface="Tw Cen MT" panose="020B0602020104020603" pitchFamily="34" charset="0"/>
              </a:rPr>
              <a:t>	Has had 3 rounds of narrowing down the selections</a:t>
            </a:r>
          </a:p>
          <a:p>
            <a:r>
              <a:rPr lang="en-GB" sz="2400" dirty="0">
                <a:latin typeface="Tw Cen MT" panose="020B0602020104020603" pitchFamily="34" charset="0"/>
              </a:rPr>
              <a:t>	Five algorithms advanced to the third (and final) round in</a:t>
            </a:r>
          </a:p>
          <a:p>
            <a:r>
              <a:rPr lang="en-GB" sz="2400" dirty="0">
                <a:latin typeface="Tw Cen MT" panose="020B0602020104020603" pitchFamily="34" charset="0"/>
              </a:rPr>
              <a:t>	December 2010</a:t>
            </a:r>
          </a:p>
          <a:p>
            <a:r>
              <a:rPr lang="en-GB" sz="2400" dirty="0">
                <a:latin typeface="Tw Cen MT" panose="020B0602020104020603" pitchFamily="34" charset="0"/>
              </a:rPr>
              <a:t>	Final selection announced in 2012</a:t>
            </a:r>
          </a:p>
        </p:txBody>
      </p:sp>
    </p:spTree>
    <p:extLst>
      <p:ext uri="{BB962C8B-B14F-4D97-AF65-F5344CB8AC3E}">
        <p14:creationId xmlns:p14="http://schemas.microsoft.com/office/powerpoint/2010/main" val="428161799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CD1AD4A7-0882-4109-99AA-A63B3268F595}" type="slidenum">
              <a:rPr lang="en-US" smtClean="0"/>
              <a:pPr>
                <a:defRPr/>
              </a:pPr>
              <a:t>57</a:t>
            </a:fld>
            <a:endParaRPr lang="en-US" dirty="0"/>
          </a:p>
        </p:txBody>
      </p:sp>
      <p:sp>
        <p:nvSpPr>
          <p:cNvPr id="4" name="Text Box 10"/>
          <p:cNvSpPr txBox="1">
            <a:spLocks noChangeArrowheads="1"/>
          </p:cNvSpPr>
          <p:nvPr/>
        </p:nvSpPr>
        <p:spPr bwMode="auto">
          <a:xfrm>
            <a:off x="4876800" y="457201"/>
            <a:ext cx="137890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rtl="0" fontAlgn="base">
              <a:spcBef>
                <a:spcPct val="0"/>
              </a:spcBef>
              <a:spcAft>
                <a:spcPct val="0"/>
              </a:spcAft>
              <a:defRPr sz="3200">
                <a:solidFill>
                  <a:srgbClr val="FFFF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b="1" kern="0" dirty="0">
                <a:solidFill>
                  <a:srgbClr val="FF0000"/>
                </a:solidFill>
                <a:latin typeface="Tw Cen MT" pitchFamily="34" charset="0"/>
              </a:rPr>
              <a:t>SHA-3 </a:t>
            </a:r>
          </a:p>
        </p:txBody>
      </p:sp>
      <p:sp>
        <p:nvSpPr>
          <p:cNvPr id="3" name="Rectangle 2"/>
          <p:cNvSpPr/>
          <p:nvPr/>
        </p:nvSpPr>
        <p:spPr>
          <a:xfrm>
            <a:off x="2209800" y="1720840"/>
            <a:ext cx="8305800" cy="3046988"/>
          </a:xfrm>
          <a:prstGeom prst="rect">
            <a:avLst/>
          </a:prstGeom>
        </p:spPr>
        <p:txBody>
          <a:bodyPr wrap="square">
            <a:spAutoFit/>
          </a:bodyPr>
          <a:lstStyle/>
          <a:p>
            <a:r>
              <a:rPr lang="en-GB" sz="2400" dirty="0">
                <a:latin typeface="Tw Cen MT" panose="020B0602020104020603" pitchFamily="34" charset="0"/>
              </a:rPr>
              <a:t> Replace SHA-2 with SHA-3 in any use</a:t>
            </a:r>
          </a:p>
          <a:p>
            <a:r>
              <a:rPr lang="en-GB" sz="2400" dirty="0">
                <a:latin typeface="Tw Cen MT" panose="020B0602020104020603" pitchFamily="34" charset="0"/>
              </a:rPr>
              <a:t>	So use same hash sizes</a:t>
            </a:r>
          </a:p>
          <a:p>
            <a:r>
              <a:rPr lang="en-GB" sz="2400" dirty="0">
                <a:latin typeface="Tw Cen MT" panose="020B0602020104020603" pitchFamily="34" charset="0"/>
              </a:rPr>
              <a:t> Preserve the online nature of SHA-2</a:t>
            </a:r>
          </a:p>
          <a:p>
            <a:r>
              <a:rPr lang="en-GB" sz="2400" dirty="0">
                <a:latin typeface="Tw Cen MT" panose="020B0602020104020603" pitchFamily="34" charset="0"/>
              </a:rPr>
              <a:t>	So must process small blocks (512 / 1024 bits)</a:t>
            </a:r>
          </a:p>
          <a:p>
            <a:r>
              <a:rPr lang="en-GB" sz="2400" dirty="0">
                <a:latin typeface="Tw Cen MT" panose="020B0602020104020603" pitchFamily="34" charset="0"/>
              </a:rPr>
              <a:t> Evaluation criteria</a:t>
            </a:r>
          </a:p>
          <a:p>
            <a:r>
              <a:rPr lang="en-GB" sz="2400" dirty="0">
                <a:latin typeface="Tw Cen MT" panose="020B0602020104020603" pitchFamily="34" charset="0"/>
              </a:rPr>
              <a:t>	Security close to theoretical max for hash sizes</a:t>
            </a:r>
          </a:p>
          <a:p>
            <a:r>
              <a:rPr lang="en-GB" sz="2400" dirty="0">
                <a:latin typeface="Tw Cen MT" panose="020B0602020104020603" pitchFamily="34" charset="0"/>
              </a:rPr>
              <a:t>	Cost in time &amp; memory</a:t>
            </a:r>
          </a:p>
          <a:p>
            <a:r>
              <a:rPr lang="en-GB" sz="2400" dirty="0">
                <a:latin typeface="Tw Cen MT" panose="020B0602020104020603" pitchFamily="34" charset="0"/>
              </a:rPr>
              <a:t>	Characteristics: such as flexibility &amp; simplicity</a:t>
            </a:r>
          </a:p>
        </p:txBody>
      </p:sp>
    </p:spTree>
    <p:extLst>
      <p:ext uri="{BB962C8B-B14F-4D97-AF65-F5344CB8AC3E}">
        <p14:creationId xmlns:p14="http://schemas.microsoft.com/office/powerpoint/2010/main" val="3562043887"/>
      </p:ext>
    </p:extLst>
  </p:cSld>
  <p:clrMapOvr>
    <a:masterClrMapping/>
  </p:clrMapOvr>
  <p:timing>
    <p:tnLst>
      <p:par>
        <p:cTn id="1" dur="indefinite" restart="never" nodeType="tmRoot"/>
      </p:par>
    </p:tnLst>
  </p:timing>
</p:sld>
</file>

<file path=ppt/theme/theme1.xml><?xml version="1.0" encoding="utf-8"?>
<a:theme xmlns:a="http://schemas.openxmlformats.org/drawingml/2006/main" name="CCNA">
  <a:themeElements>
    <a:clrScheme name="CiscoAcadem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iscoAcademy">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73025" tIns="36512" rIns="73025" bIns="36512"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73025" tIns="36512" rIns="73025" bIns="36512"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iscoAcadem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iscoAcademy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iscoAcademy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iscoAcademy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iscoAcademy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iscoAcademy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iscoAcademy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iscoAcademy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iscoAcademy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iscoAcademy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iscoAcademy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iscoAcademy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CCNA</Template>
  <TotalTime>21321</TotalTime>
  <Words>3566</Words>
  <Application>Microsoft Office PowerPoint</Application>
  <PresentationFormat>Custom</PresentationFormat>
  <Paragraphs>443</Paragraphs>
  <Slides>57</Slides>
  <Notes>11</Notes>
  <HiddenSlides>0</HiddenSlides>
  <MMClips>0</MMClips>
  <ScaleCrop>false</ScaleCrop>
  <HeadingPairs>
    <vt:vector size="6" baseType="variant">
      <vt:variant>
        <vt:lpstr>Theme</vt:lpstr>
      </vt:variant>
      <vt:variant>
        <vt:i4>1</vt:i4>
      </vt:variant>
      <vt:variant>
        <vt:lpstr>Slide Titles</vt:lpstr>
      </vt:variant>
      <vt:variant>
        <vt:i4>57</vt:i4>
      </vt:variant>
      <vt:variant>
        <vt:lpstr>Custom Shows</vt:lpstr>
      </vt:variant>
      <vt:variant>
        <vt:i4>1</vt:i4>
      </vt:variant>
    </vt:vector>
  </HeadingPairs>
  <TitlesOfParts>
    <vt:vector size="59" baseType="lpstr">
      <vt:lpstr>CCNA</vt:lpstr>
      <vt:lpstr>Cryptographic Hash and MAC</vt:lpstr>
      <vt:lpstr>PowerPoint Presentation</vt:lpstr>
      <vt:lpstr>PowerPoint Presentation</vt:lpstr>
      <vt:lpstr>Message Authentication Requirements</vt:lpstr>
      <vt:lpstr>Message Authentication Functions</vt:lpstr>
      <vt:lpstr>Symmetric Message Encryption</vt:lpstr>
      <vt:lpstr>Message Encryption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Iterated Hash Function</vt:lpstr>
      <vt:lpstr>Iterated Hash Function</vt:lpstr>
      <vt:lpstr>Two Groups of Compression Functions</vt:lpstr>
      <vt:lpstr>Secure Hash Function</vt:lpstr>
      <vt:lpstr>Hash Functions Based on Block Ciphers</vt:lpstr>
      <vt:lpstr>Hash Functions Based on Block Ciphers</vt:lpstr>
      <vt:lpstr>Hash Functions Based on Block Ciphers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Custom Show 1</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Use Packet Tracer</dc:title>
  <dc:creator>Kenneth M. Chipps Ph.D.</dc:creator>
  <cp:lastModifiedBy>PGRLAB-9</cp:lastModifiedBy>
  <cp:revision>411</cp:revision>
  <dcterms:created xsi:type="dcterms:W3CDTF">2006-12-01T18:00:48Z</dcterms:created>
  <dcterms:modified xsi:type="dcterms:W3CDTF">2022-07-27T15:12:50Z</dcterms:modified>
</cp:coreProperties>
</file>