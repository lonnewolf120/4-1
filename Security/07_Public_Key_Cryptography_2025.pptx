
<file path=[Content_Types].xml><?xml version="1.0" encoding="utf-8"?>
<Types xmlns="http://schemas.openxmlformats.org/package/2006/content-types">
  <Default Extension="png" ContentType="image/png"/>
  <Default Extension="pdf" ContentType="application/pdf"/>
  <Default Extension="wmf" ContentType="image/x-w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2"/>
  </p:notesMasterIdLst>
  <p:handoutMasterIdLst>
    <p:handoutMasterId r:id="rId113"/>
  </p:handoutMasterIdLst>
  <p:sldIdLst>
    <p:sldId id="829" r:id="rId2"/>
    <p:sldId id="899" r:id="rId3"/>
    <p:sldId id="957" r:id="rId4"/>
    <p:sldId id="958" r:id="rId5"/>
    <p:sldId id="959" r:id="rId6"/>
    <p:sldId id="903" r:id="rId7"/>
    <p:sldId id="904" r:id="rId8"/>
    <p:sldId id="898" r:id="rId9"/>
    <p:sldId id="949" r:id="rId10"/>
    <p:sldId id="960" r:id="rId11"/>
    <p:sldId id="961" r:id="rId12"/>
    <p:sldId id="950" r:id="rId13"/>
    <p:sldId id="962" r:id="rId14"/>
    <p:sldId id="951" r:id="rId15"/>
    <p:sldId id="952" r:id="rId16"/>
    <p:sldId id="953" r:id="rId17"/>
    <p:sldId id="954" r:id="rId18"/>
    <p:sldId id="956" r:id="rId19"/>
    <p:sldId id="902" r:id="rId20"/>
    <p:sldId id="901" r:id="rId21"/>
    <p:sldId id="905" r:id="rId22"/>
    <p:sldId id="963" r:id="rId23"/>
    <p:sldId id="964" r:id="rId24"/>
    <p:sldId id="842" r:id="rId25"/>
    <p:sldId id="965" r:id="rId26"/>
    <p:sldId id="966" r:id="rId27"/>
    <p:sldId id="967" r:id="rId28"/>
    <p:sldId id="968" r:id="rId29"/>
    <p:sldId id="843" r:id="rId30"/>
    <p:sldId id="969" r:id="rId31"/>
    <p:sldId id="970" r:id="rId32"/>
    <p:sldId id="971" r:id="rId33"/>
    <p:sldId id="972" r:id="rId34"/>
    <p:sldId id="973" r:id="rId35"/>
    <p:sldId id="974" r:id="rId36"/>
    <p:sldId id="975" r:id="rId37"/>
    <p:sldId id="976" r:id="rId38"/>
    <p:sldId id="977" r:id="rId39"/>
    <p:sldId id="978" r:id="rId40"/>
    <p:sldId id="979" r:id="rId41"/>
    <p:sldId id="980" r:id="rId42"/>
    <p:sldId id="981" r:id="rId43"/>
    <p:sldId id="982" r:id="rId44"/>
    <p:sldId id="983" r:id="rId45"/>
    <p:sldId id="984" r:id="rId46"/>
    <p:sldId id="985" r:id="rId47"/>
    <p:sldId id="988" r:id="rId48"/>
    <p:sldId id="986" r:id="rId49"/>
    <p:sldId id="849" r:id="rId50"/>
    <p:sldId id="850" r:id="rId51"/>
    <p:sldId id="851" r:id="rId52"/>
    <p:sldId id="852" r:id="rId53"/>
    <p:sldId id="853" r:id="rId54"/>
    <p:sldId id="912" r:id="rId55"/>
    <p:sldId id="774" r:id="rId56"/>
    <p:sldId id="990" r:id="rId57"/>
    <p:sldId id="991" r:id="rId58"/>
    <p:sldId id="992" r:id="rId59"/>
    <p:sldId id="993" r:id="rId60"/>
    <p:sldId id="994" r:id="rId61"/>
    <p:sldId id="995" r:id="rId62"/>
    <p:sldId id="996" r:id="rId63"/>
    <p:sldId id="997" r:id="rId64"/>
    <p:sldId id="998" r:id="rId65"/>
    <p:sldId id="999" r:id="rId66"/>
    <p:sldId id="1000" r:id="rId67"/>
    <p:sldId id="1001" r:id="rId68"/>
    <p:sldId id="1002" r:id="rId69"/>
    <p:sldId id="1004" r:id="rId70"/>
    <p:sldId id="1005" r:id="rId71"/>
    <p:sldId id="1006" r:id="rId72"/>
    <p:sldId id="1007" r:id="rId73"/>
    <p:sldId id="1008" r:id="rId74"/>
    <p:sldId id="1009" r:id="rId75"/>
    <p:sldId id="1010" r:id="rId76"/>
    <p:sldId id="989" r:id="rId77"/>
    <p:sldId id="869" r:id="rId78"/>
    <p:sldId id="1022" r:id="rId79"/>
    <p:sldId id="882" r:id="rId80"/>
    <p:sldId id="883" r:id="rId81"/>
    <p:sldId id="1011" r:id="rId82"/>
    <p:sldId id="1012" r:id="rId83"/>
    <p:sldId id="1016" r:id="rId84"/>
    <p:sldId id="875" r:id="rId85"/>
    <p:sldId id="922" r:id="rId86"/>
    <p:sldId id="923" r:id="rId87"/>
    <p:sldId id="924" r:id="rId88"/>
    <p:sldId id="925" r:id="rId89"/>
    <p:sldId id="926" r:id="rId90"/>
    <p:sldId id="927" r:id="rId91"/>
    <p:sldId id="928" r:id="rId92"/>
    <p:sldId id="929" r:id="rId93"/>
    <p:sldId id="930" r:id="rId94"/>
    <p:sldId id="876" r:id="rId95"/>
    <p:sldId id="878" r:id="rId96"/>
    <p:sldId id="877" r:id="rId97"/>
    <p:sldId id="1017" r:id="rId98"/>
    <p:sldId id="1018" r:id="rId99"/>
    <p:sldId id="1019" r:id="rId100"/>
    <p:sldId id="1020" r:id="rId101"/>
    <p:sldId id="1021" r:id="rId102"/>
    <p:sldId id="931" r:id="rId103"/>
    <p:sldId id="932" r:id="rId104"/>
    <p:sldId id="933" r:id="rId105"/>
    <p:sldId id="934" r:id="rId106"/>
    <p:sldId id="935" r:id="rId107"/>
    <p:sldId id="936" r:id="rId108"/>
    <p:sldId id="941" r:id="rId109"/>
    <p:sldId id="945" r:id="rId110"/>
    <p:sldId id="1003" r:id="rId1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0099CC"/>
    <a:srgbClr val="CC3300"/>
    <a:srgbClr val="CC0000"/>
    <a:srgbClr val="FFFF00"/>
    <a:srgbClr val="CCFF66"/>
    <a:srgbClr val="CCCC00"/>
    <a:srgbClr val="00CC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4578" autoAdjust="0"/>
    <p:restoredTop sz="89703" autoAdjust="0"/>
  </p:normalViewPr>
  <p:slideViewPr>
    <p:cSldViewPr>
      <p:cViewPr varScale="1">
        <p:scale>
          <a:sx n="78" d="100"/>
          <a:sy n="78" d="100"/>
        </p:scale>
        <p:origin x="1476" y="96"/>
      </p:cViewPr>
      <p:guideLst>
        <p:guide orient="horz" pos="2160"/>
        <p:guide pos="2880"/>
      </p:guideLst>
    </p:cSldViewPr>
  </p:slideViewPr>
  <p:outlineViewPr>
    <p:cViewPr>
      <p:scale>
        <a:sx n="33" d="100"/>
        <a:sy n="33" d="100"/>
      </p:scale>
      <p:origin x="0" y="3686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E690A4-C4B1-4140-A11F-580D452924C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1F864227-CA81-8D49-99F4-A41E3F3A4405}">
      <dgm:prSet phldrT="[Text]" custT="1"/>
      <dgm:spPr/>
      <dgm:t>
        <a:bodyPr/>
        <a:lstStyle/>
        <a:p>
          <a:r>
            <a:rPr lang="en-US" sz="1600" b="1" i="0" dirty="0" smtClean="0">
              <a:solidFill>
                <a:srgbClr val="0000FF"/>
              </a:solidFill>
            </a:rPr>
            <a:t>Key distribution</a:t>
          </a:r>
          <a:endParaRPr lang="en-US" sz="1600" b="1" i="0" dirty="0">
            <a:solidFill>
              <a:srgbClr val="0000FF"/>
            </a:solidFill>
          </a:endParaRPr>
        </a:p>
      </dgm:t>
    </dgm:pt>
    <dgm:pt modelId="{A9B89A90-A709-4947-943D-3DC63E50989B}" type="parTrans" cxnId="{BF47E28C-4EB0-5945-BDFE-22A8A8AC8379}">
      <dgm:prSet/>
      <dgm:spPr/>
      <dgm:t>
        <a:bodyPr/>
        <a:lstStyle/>
        <a:p>
          <a:endParaRPr lang="en-US"/>
        </a:p>
      </dgm:t>
    </dgm:pt>
    <dgm:pt modelId="{6B7EB79C-1427-5348-BFCA-6058AD406C08}" type="sibTrans" cxnId="{BF47E28C-4EB0-5945-BDFE-22A8A8AC8379}">
      <dgm:prSet/>
      <dgm:spPr/>
      <dgm:t>
        <a:bodyPr/>
        <a:lstStyle/>
        <a:p>
          <a:endParaRPr lang="en-US"/>
        </a:p>
      </dgm:t>
    </dgm:pt>
    <dgm:pt modelId="{3DC0467C-9B21-C541-A1BA-500358705074}">
      <dgm:prSet custT="1"/>
      <dgm:spPr/>
      <dgm:t>
        <a:bodyPr/>
        <a:lstStyle/>
        <a:p>
          <a:r>
            <a:rPr lang="en-US" sz="1600" b="1" i="0" dirty="0" smtClean="0">
              <a:solidFill>
                <a:srgbClr val="0000FF"/>
              </a:solidFill>
            </a:rPr>
            <a:t>Digital signatures</a:t>
          </a:r>
        </a:p>
      </dgm:t>
    </dgm:pt>
    <dgm:pt modelId="{058CCD16-1BA9-2C42-9BE1-1AE6E0F77C07}" type="parTrans" cxnId="{FE560BCC-DA97-BB4B-9644-74AF08B6ED9B}">
      <dgm:prSet/>
      <dgm:spPr/>
      <dgm:t>
        <a:bodyPr/>
        <a:lstStyle/>
        <a:p>
          <a:endParaRPr lang="en-US"/>
        </a:p>
      </dgm:t>
    </dgm:pt>
    <dgm:pt modelId="{EE80C3D6-261E-7140-B1FA-C7DBEF360B20}" type="sibTrans" cxnId="{FE560BCC-DA97-BB4B-9644-74AF08B6ED9B}">
      <dgm:prSet/>
      <dgm:spPr/>
      <dgm:t>
        <a:bodyPr/>
        <a:lstStyle/>
        <a:p>
          <a:endParaRPr lang="en-US"/>
        </a:p>
      </dgm:t>
    </dgm:pt>
    <dgm:pt modelId="{E98664D3-0C41-C541-9E55-F995A3CAB7E5}">
      <dgm:prSet custT="1"/>
      <dgm:spPr/>
      <dgm:t>
        <a:bodyPr/>
        <a:lstStyle/>
        <a:p>
          <a:endParaRPr lang="en-US" sz="2400" b="1" i="0" dirty="0" smtClean="0"/>
        </a:p>
      </dgm:t>
    </dgm:pt>
    <dgm:pt modelId="{28516441-8924-C147-8A92-12D1C9BE741C}" type="parTrans" cxnId="{F9A45E78-4AF2-CC4F-90BB-14BB83E88489}">
      <dgm:prSet/>
      <dgm:spPr/>
      <dgm:t>
        <a:bodyPr/>
        <a:lstStyle/>
        <a:p>
          <a:endParaRPr lang="en-US"/>
        </a:p>
      </dgm:t>
    </dgm:pt>
    <dgm:pt modelId="{FCCEDB7F-8754-E444-BABB-9983CDFB86F2}" type="sibTrans" cxnId="{F9A45E78-4AF2-CC4F-90BB-14BB83E88489}">
      <dgm:prSet/>
      <dgm:spPr/>
      <dgm:t>
        <a:bodyPr/>
        <a:lstStyle/>
        <a:p>
          <a:endParaRPr lang="en-US"/>
        </a:p>
      </dgm:t>
    </dgm:pt>
    <dgm:pt modelId="{8A6334C8-AAD5-DC4E-A921-230E4B3A68EF}" type="pres">
      <dgm:prSet presAssocID="{17E690A4-C4B1-4140-A11F-580D452924C3}" presName="linear" presStyleCnt="0">
        <dgm:presLayoutVars>
          <dgm:dir/>
          <dgm:animLvl val="lvl"/>
          <dgm:resizeHandles val="exact"/>
        </dgm:presLayoutVars>
      </dgm:prSet>
      <dgm:spPr/>
      <dgm:t>
        <a:bodyPr/>
        <a:lstStyle/>
        <a:p>
          <a:endParaRPr lang="en-US"/>
        </a:p>
      </dgm:t>
    </dgm:pt>
    <dgm:pt modelId="{86CB6F17-1E55-F54A-9B1D-3EE59E01E62F}" type="pres">
      <dgm:prSet presAssocID="{1F864227-CA81-8D49-99F4-A41E3F3A4405}" presName="parentLin" presStyleCnt="0"/>
      <dgm:spPr/>
    </dgm:pt>
    <dgm:pt modelId="{0D00A682-4F23-A845-A81C-DB63F83A8DD9}" type="pres">
      <dgm:prSet presAssocID="{1F864227-CA81-8D49-99F4-A41E3F3A4405}" presName="parentLeftMargin" presStyleLbl="node1" presStyleIdx="0" presStyleCnt="2"/>
      <dgm:spPr/>
      <dgm:t>
        <a:bodyPr/>
        <a:lstStyle/>
        <a:p>
          <a:endParaRPr lang="en-US"/>
        </a:p>
      </dgm:t>
    </dgm:pt>
    <dgm:pt modelId="{9F42F34A-248A-9B4C-8DA2-E1AB8DB6FB1A}" type="pres">
      <dgm:prSet presAssocID="{1F864227-CA81-8D49-99F4-A41E3F3A4405}" presName="parentText" presStyleLbl="node1" presStyleIdx="0" presStyleCnt="2" custScaleX="38256" custScaleY="107447">
        <dgm:presLayoutVars>
          <dgm:chMax val="0"/>
          <dgm:bulletEnabled val="1"/>
        </dgm:presLayoutVars>
      </dgm:prSet>
      <dgm:spPr/>
      <dgm:t>
        <a:bodyPr/>
        <a:lstStyle/>
        <a:p>
          <a:endParaRPr lang="en-US"/>
        </a:p>
      </dgm:t>
    </dgm:pt>
    <dgm:pt modelId="{F0ED7B4C-4F05-9247-AAC6-EF95D101ACF3}" type="pres">
      <dgm:prSet presAssocID="{1F864227-CA81-8D49-99F4-A41E3F3A4405}" presName="negativeSpace" presStyleCnt="0"/>
      <dgm:spPr/>
    </dgm:pt>
    <dgm:pt modelId="{753A43A3-74E4-6242-AD74-2CEC8831F941}" type="pres">
      <dgm:prSet presAssocID="{1F864227-CA81-8D49-99F4-A41E3F3A4405}" presName="childText" presStyleLbl="conFgAcc1" presStyleIdx="0" presStyleCnt="2">
        <dgm:presLayoutVars>
          <dgm:bulletEnabled val="1"/>
        </dgm:presLayoutVars>
      </dgm:prSet>
      <dgm:spPr/>
      <dgm:t>
        <a:bodyPr/>
        <a:lstStyle/>
        <a:p>
          <a:endParaRPr lang="en-US"/>
        </a:p>
      </dgm:t>
    </dgm:pt>
    <dgm:pt modelId="{84DE40D8-A87B-9140-AEA7-4DE5104CAF15}" type="pres">
      <dgm:prSet presAssocID="{6B7EB79C-1427-5348-BFCA-6058AD406C08}" presName="spaceBetweenRectangles" presStyleCnt="0"/>
      <dgm:spPr/>
    </dgm:pt>
    <dgm:pt modelId="{004CA9D9-7211-6D47-B6C5-22252F770AD3}" type="pres">
      <dgm:prSet presAssocID="{3DC0467C-9B21-C541-A1BA-500358705074}" presName="parentLin" presStyleCnt="0"/>
      <dgm:spPr/>
    </dgm:pt>
    <dgm:pt modelId="{411CB552-9417-9B47-B62F-5B53822C9E77}" type="pres">
      <dgm:prSet presAssocID="{3DC0467C-9B21-C541-A1BA-500358705074}" presName="parentLeftMargin" presStyleLbl="node1" presStyleIdx="0" presStyleCnt="2"/>
      <dgm:spPr/>
      <dgm:t>
        <a:bodyPr/>
        <a:lstStyle/>
        <a:p>
          <a:endParaRPr lang="en-US"/>
        </a:p>
      </dgm:t>
    </dgm:pt>
    <dgm:pt modelId="{CA4E2293-290D-C34A-80FC-C37A52E5B3EA}" type="pres">
      <dgm:prSet presAssocID="{3DC0467C-9B21-C541-A1BA-500358705074}" presName="parentText" presStyleLbl="node1" presStyleIdx="1" presStyleCnt="2" custScaleX="41196" custScaleY="107162">
        <dgm:presLayoutVars>
          <dgm:chMax val="0"/>
          <dgm:bulletEnabled val="1"/>
        </dgm:presLayoutVars>
      </dgm:prSet>
      <dgm:spPr/>
      <dgm:t>
        <a:bodyPr/>
        <a:lstStyle/>
        <a:p>
          <a:endParaRPr lang="en-US"/>
        </a:p>
      </dgm:t>
    </dgm:pt>
    <dgm:pt modelId="{3A7A68A8-DA0B-9F4B-820E-A28B7674BE3B}" type="pres">
      <dgm:prSet presAssocID="{3DC0467C-9B21-C541-A1BA-500358705074}" presName="negativeSpace" presStyleCnt="0"/>
      <dgm:spPr/>
    </dgm:pt>
    <dgm:pt modelId="{E034BB72-F90F-E644-B964-59D253E21B41}" type="pres">
      <dgm:prSet presAssocID="{3DC0467C-9B21-C541-A1BA-500358705074}" presName="childText" presStyleLbl="conFgAcc1" presStyleIdx="1" presStyleCnt="2">
        <dgm:presLayoutVars>
          <dgm:bulletEnabled val="1"/>
        </dgm:presLayoutVars>
      </dgm:prSet>
      <dgm:spPr/>
      <dgm:t>
        <a:bodyPr/>
        <a:lstStyle/>
        <a:p>
          <a:endParaRPr lang="en-US"/>
        </a:p>
      </dgm:t>
    </dgm:pt>
  </dgm:ptLst>
  <dgm:cxnLst>
    <dgm:cxn modelId="{13DCD418-9B9B-49D8-807B-718A4F6F3F19}" type="presOf" srcId="{1F864227-CA81-8D49-99F4-A41E3F3A4405}" destId="{0D00A682-4F23-A845-A81C-DB63F83A8DD9}" srcOrd="0" destOrd="0" presId="urn:microsoft.com/office/officeart/2005/8/layout/list1"/>
    <dgm:cxn modelId="{F9A45E78-4AF2-CC4F-90BB-14BB83E88489}" srcId="{3DC0467C-9B21-C541-A1BA-500358705074}" destId="{E98664D3-0C41-C541-9E55-F995A3CAB7E5}" srcOrd="0" destOrd="0" parTransId="{28516441-8924-C147-8A92-12D1C9BE741C}" sibTransId="{FCCEDB7F-8754-E444-BABB-9983CDFB86F2}"/>
    <dgm:cxn modelId="{457C8FDC-C84F-4BE8-BF0D-38205B0089EA}" type="presOf" srcId="{E98664D3-0C41-C541-9E55-F995A3CAB7E5}" destId="{E034BB72-F90F-E644-B964-59D253E21B41}" srcOrd="0" destOrd="0" presId="urn:microsoft.com/office/officeart/2005/8/layout/list1"/>
    <dgm:cxn modelId="{FE560BCC-DA97-BB4B-9644-74AF08B6ED9B}" srcId="{17E690A4-C4B1-4140-A11F-580D452924C3}" destId="{3DC0467C-9B21-C541-A1BA-500358705074}" srcOrd="1" destOrd="0" parTransId="{058CCD16-1BA9-2C42-9BE1-1AE6E0F77C07}" sibTransId="{EE80C3D6-261E-7140-B1FA-C7DBEF360B20}"/>
    <dgm:cxn modelId="{800042F8-0838-4992-90EE-67E47ABF7C28}" type="presOf" srcId="{3DC0467C-9B21-C541-A1BA-500358705074}" destId="{CA4E2293-290D-C34A-80FC-C37A52E5B3EA}" srcOrd="1" destOrd="0" presId="urn:microsoft.com/office/officeart/2005/8/layout/list1"/>
    <dgm:cxn modelId="{13EE2826-5E87-4DC4-BB46-38B839B65A5A}" type="presOf" srcId="{1F864227-CA81-8D49-99F4-A41E3F3A4405}" destId="{9F42F34A-248A-9B4C-8DA2-E1AB8DB6FB1A}" srcOrd="1" destOrd="0" presId="urn:microsoft.com/office/officeart/2005/8/layout/list1"/>
    <dgm:cxn modelId="{7B403799-191B-437F-9872-273320CADFB0}" type="presOf" srcId="{17E690A4-C4B1-4140-A11F-580D452924C3}" destId="{8A6334C8-AAD5-DC4E-A921-230E4B3A68EF}" srcOrd="0" destOrd="0" presId="urn:microsoft.com/office/officeart/2005/8/layout/list1"/>
    <dgm:cxn modelId="{BF47E28C-4EB0-5945-BDFE-22A8A8AC8379}" srcId="{17E690A4-C4B1-4140-A11F-580D452924C3}" destId="{1F864227-CA81-8D49-99F4-A41E3F3A4405}" srcOrd="0" destOrd="0" parTransId="{A9B89A90-A709-4947-943D-3DC63E50989B}" sibTransId="{6B7EB79C-1427-5348-BFCA-6058AD406C08}"/>
    <dgm:cxn modelId="{E40FD423-13DF-4554-B0D8-62240F384248}" type="presOf" srcId="{3DC0467C-9B21-C541-A1BA-500358705074}" destId="{411CB552-9417-9B47-B62F-5B53822C9E77}" srcOrd="0" destOrd="0" presId="urn:microsoft.com/office/officeart/2005/8/layout/list1"/>
    <dgm:cxn modelId="{64B96CCD-0861-46EA-81B9-66EDB805F636}" type="presParOf" srcId="{8A6334C8-AAD5-DC4E-A921-230E4B3A68EF}" destId="{86CB6F17-1E55-F54A-9B1D-3EE59E01E62F}" srcOrd="0" destOrd="0" presId="urn:microsoft.com/office/officeart/2005/8/layout/list1"/>
    <dgm:cxn modelId="{42E469D7-9172-4CF4-9E8E-E188B4E58361}" type="presParOf" srcId="{86CB6F17-1E55-F54A-9B1D-3EE59E01E62F}" destId="{0D00A682-4F23-A845-A81C-DB63F83A8DD9}" srcOrd="0" destOrd="0" presId="urn:microsoft.com/office/officeart/2005/8/layout/list1"/>
    <dgm:cxn modelId="{D3F4C5B1-274E-413D-BB75-0D5433E62A28}" type="presParOf" srcId="{86CB6F17-1E55-F54A-9B1D-3EE59E01E62F}" destId="{9F42F34A-248A-9B4C-8DA2-E1AB8DB6FB1A}" srcOrd="1" destOrd="0" presId="urn:microsoft.com/office/officeart/2005/8/layout/list1"/>
    <dgm:cxn modelId="{C566A4C1-12A4-4A9A-8266-19094FE26380}" type="presParOf" srcId="{8A6334C8-AAD5-DC4E-A921-230E4B3A68EF}" destId="{F0ED7B4C-4F05-9247-AAC6-EF95D101ACF3}" srcOrd="1" destOrd="0" presId="urn:microsoft.com/office/officeart/2005/8/layout/list1"/>
    <dgm:cxn modelId="{AE19C6AF-78B5-41C8-A1BA-099C984AF527}" type="presParOf" srcId="{8A6334C8-AAD5-DC4E-A921-230E4B3A68EF}" destId="{753A43A3-74E4-6242-AD74-2CEC8831F941}" srcOrd="2" destOrd="0" presId="urn:microsoft.com/office/officeart/2005/8/layout/list1"/>
    <dgm:cxn modelId="{5E933658-7490-4E8E-A688-C2CAC037B08A}" type="presParOf" srcId="{8A6334C8-AAD5-DC4E-A921-230E4B3A68EF}" destId="{84DE40D8-A87B-9140-AEA7-4DE5104CAF15}" srcOrd="3" destOrd="0" presId="urn:microsoft.com/office/officeart/2005/8/layout/list1"/>
    <dgm:cxn modelId="{D31361E3-0F4E-4B3E-B5AF-8BE6D53BA818}" type="presParOf" srcId="{8A6334C8-AAD5-DC4E-A921-230E4B3A68EF}" destId="{004CA9D9-7211-6D47-B6C5-22252F770AD3}" srcOrd="4" destOrd="0" presId="urn:microsoft.com/office/officeart/2005/8/layout/list1"/>
    <dgm:cxn modelId="{F50D10AB-9B45-4879-B49B-842D79C71E1A}" type="presParOf" srcId="{004CA9D9-7211-6D47-B6C5-22252F770AD3}" destId="{411CB552-9417-9B47-B62F-5B53822C9E77}" srcOrd="0" destOrd="0" presId="urn:microsoft.com/office/officeart/2005/8/layout/list1"/>
    <dgm:cxn modelId="{DEAAA188-03F7-4A97-A45E-F163A97A5996}" type="presParOf" srcId="{004CA9D9-7211-6D47-B6C5-22252F770AD3}" destId="{CA4E2293-290D-C34A-80FC-C37A52E5B3EA}" srcOrd="1" destOrd="0" presId="urn:microsoft.com/office/officeart/2005/8/layout/list1"/>
    <dgm:cxn modelId="{12798FB8-3CD1-46EA-B679-B5F6E4F5DAF8}" type="presParOf" srcId="{8A6334C8-AAD5-DC4E-A921-230E4B3A68EF}" destId="{3A7A68A8-DA0B-9F4B-820E-A28B7674BE3B}" srcOrd="5" destOrd="0" presId="urn:microsoft.com/office/officeart/2005/8/layout/list1"/>
    <dgm:cxn modelId="{3ABEFAD8-6353-41FA-8E65-7E092545AB33}" type="presParOf" srcId="{8A6334C8-AAD5-DC4E-A921-230E4B3A68EF}" destId="{E034BB72-F90F-E644-B964-59D253E21B41}"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E9771E-BB07-DD4B-BAA6-1FF590A2A3AC}"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90CE9CE0-49D7-B447-868E-3F6990D64B0F}">
      <dgm:prSet phldrT="[Text]"/>
      <dgm:spPr>
        <a:solidFill>
          <a:schemeClr val="bg1"/>
        </a:solidFill>
        <a:ln>
          <a:solidFill>
            <a:schemeClr val="accent1"/>
          </a:solidFill>
        </a:ln>
      </dgm:spPr>
      <dgm:t>
        <a:bodyPr/>
        <a:lstStyle/>
        <a:p>
          <a:r>
            <a:rPr lang="en-AU" dirty="0" smtClean="0"/>
            <a:t>Plaintext</a:t>
          </a:r>
          <a:endParaRPr lang="en-US" dirty="0"/>
        </a:p>
      </dgm:t>
    </dgm:pt>
    <dgm:pt modelId="{4F8D4922-37BD-974F-96C6-15C278DCECF3}" type="parTrans" cxnId="{B13089F1-E60C-BB4B-A199-166B077445E1}">
      <dgm:prSet/>
      <dgm:spPr/>
      <dgm:t>
        <a:bodyPr/>
        <a:lstStyle/>
        <a:p>
          <a:endParaRPr lang="en-US"/>
        </a:p>
      </dgm:t>
    </dgm:pt>
    <dgm:pt modelId="{9741ED17-F573-404D-8A34-A3CEDFF5D273}" type="sibTrans" cxnId="{B13089F1-E60C-BB4B-A199-166B077445E1}">
      <dgm:prSet/>
      <dgm:spPr/>
      <dgm:t>
        <a:bodyPr/>
        <a:lstStyle/>
        <a:p>
          <a:endParaRPr lang="en-US"/>
        </a:p>
      </dgm:t>
    </dgm:pt>
    <dgm:pt modelId="{261F40C1-7E02-DA45-BFC1-98073985D4AE}">
      <dgm:prSet custT="1"/>
      <dgm:spPr>
        <a:ln>
          <a:solidFill>
            <a:schemeClr val="tx1"/>
          </a:solidFill>
        </a:ln>
        <a:effectLst/>
      </dgm:spPr>
      <dgm:t>
        <a:bodyPr/>
        <a:lstStyle/>
        <a:p>
          <a:r>
            <a:rPr lang="en-AU" sz="1600" b="1" i="0" dirty="0" smtClean="0">
              <a:solidFill>
                <a:srgbClr val="0000CC"/>
              </a:solidFill>
            </a:rPr>
            <a:t>The readable message or data that is fed into the algorithm as input</a:t>
          </a:r>
        </a:p>
      </dgm:t>
    </dgm:pt>
    <dgm:pt modelId="{A17E81BD-F36F-7E4A-AB10-F1F3E0E78598}" type="parTrans" cxnId="{ADC1C764-19F5-6145-8669-21881E3478EB}">
      <dgm:prSet/>
      <dgm:spPr/>
      <dgm:t>
        <a:bodyPr/>
        <a:lstStyle/>
        <a:p>
          <a:endParaRPr lang="en-US"/>
        </a:p>
      </dgm:t>
    </dgm:pt>
    <dgm:pt modelId="{DF9040C9-7F48-0C48-A9AD-04D61152645D}" type="sibTrans" cxnId="{ADC1C764-19F5-6145-8669-21881E3478EB}">
      <dgm:prSet/>
      <dgm:spPr/>
      <dgm:t>
        <a:bodyPr/>
        <a:lstStyle/>
        <a:p>
          <a:endParaRPr lang="en-US"/>
        </a:p>
      </dgm:t>
    </dgm:pt>
    <dgm:pt modelId="{C166F341-50FA-B846-98BD-E7EDD1067A0C}">
      <dgm:prSet/>
      <dgm:spPr>
        <a:solidFill>
          <a:schemeClr val="bg1"/>
        </a:solidFill>
        <a:ln>
          <a:solidFill>
            <a:schemeClr val="accent1"/>
          </a:solidFill>
        </a:ln>
      </dgm:spPr>
      <dgm:t>
        <a:bodyPr/>
        <a:lstStyle/>
        <a:p>
          <a:r>
            <a:rPr lang="en-AU" dirty="0" smtClean="0"/>
            <a:t>Encryption algorithm</a:t>
          </a:r>
        </a:p>
      </dgm:t>
    </dgm:pt>
    <dgm:pt modelId="{5A90ED35-D7E9-794E-BE81-9951979A7FDF}" type="parTrans" cxnId="{D8AF1A3F-CF5F-AE4E-A5C6-68DF1A8E05A9}">
      <dgm:prSet/>
      <dgm:spPr/>
      <dgm:t>
        <a:bodyPr/>
        <a:lstStyle/>
        <a:p>
          <a:endParaRPr lang="en-US"/>
        </a:p>
      </dgm:t>
    </dgm:pt>
    <dgm:pt modelId="{3F8AB0C2-D10E-5040-A929-74DFCE6B2270}" type="sibTrans" cxnId="{D8AF1A3F-CF5F-AE4E-A5C6-68DF1A8E05A9}">
      <dgm:prSet/>
      <dgm:spPr/>
      <dgm:t>
        <a:bodyPr/>
        <a:lstStyle/>
        <a:p>
          <a:endParaRPr lang="en-US"/>
        </a:p>
      </dgm:t>
    </dgm:pt>
    <dgm:pt modelId="{E4B47229-731B-CE4A-9CC4-46785BDEDA3B}">
      <dgm:prSet custT="1"/>
      <dgm:spPr>
        <a:ln>
          <a:solidFill>
            <a:schemeClr val="tx1"/>
          </a:solidFill>
        </a:ln>
      </dgm:spPr>
      <dgm:t>
        <a:bodyPr/>
        <a:lstStyle/>
        <a:p>
          <a:r>
            <a:rPr lang="en-AU" sz="1600" b="1" i="0" dirty="0" smtClean="0">
              <a:solidFill>
                <a:srgbClr val="0000CC"/>
              </a:solidFill>
            </a:rPr>
            <a:t>Performs various </a:t>
          </a:r>
          <a:r>
            <a:rPr lang="en-AU" sz="1600" b="1" i="0" dirty="0" err="1" smtClean="0">
              <a:solidFill>
                <a:srgbClr val="0000CC"/>
              </a:solidFill>
            </a:rPr>
            <a:t>transforma-tions</a:t>
          </a:r>
          <a:r>
            <a:rPr lang="en-AU" sz="1600" b="1" i="0" dirty="0" smtClean="0">
              <a:solidFill>
                <a:srgbClr val="0000CC"/>
              </a:solidFill>
            </a:rPr>
            <a:t> on the plaintext</a:t>
          </a:r>
        </a:p>
      </dgm:t>
    </dgm:pt>
    <dgm:pt modelId="{AA48253F-7A06-2247-A519-D69992DF4442}" type="parTrans" cxnId="{29FD7559-32AA-7E49-BDA6-1AA08946394F}">
      <dgm:prSet/>
      <dgm:spPr/>
      <dgm:t>
        <a:bodyPr/>
        <a:lstStyle/>
        <a:p>
          <a:endParaRPr lang="en-US"/>
        </a:p>
      </dgm:t>
    </dgm:pt>
    <dgm:pt modelId="{FFE89E57-F97A-2645-98EC-A7A86589167D}" type="sibTrans" cxnId="{29FD7559-32AA-7E49-BDA6-1AA08946394F}">
      <dgm:prSet/>
      <dgm:spPr/>
      <dgm:t>
        <a:bodyPr/>
        <a:lstStyle/>
        <a:p>
          <a:endParaRPr lang="en-US"/>
        </a:p>
      </dgm:t>
    </dgm:pt>
    <dgm:pt modelId="{1FDFDE4D-0011-F74A-A8DD-3C684F225A5B}">
      <dgm:prSet/>
      <dgm:spPr>
        <a:solidFill>
          <a:schemeClr val="bg1"/>
        </a:solidFill>
        <a:ln>
          <a:solidFill>
            <a:schemeClr val="accent1"/>
          </a:solidFill>
        </a:ln>
      </dgm:spPr>
      <dgm:t>
        <a:bodyPr/>
        <a:lstStyle/>
        <a:p>
          <a:r>
            <a:rPr lang="en-AU" dirty="0" smtClean="0">
              <a:solidFill>
                <a:srgbClr val="FF0000"/>
              </a:solidFill>
            </a:rPr>
            <a:t>Public key</a:t>
          </a:r>
        </a:p>
      </dgm:t>
    </dgm:pt>
    <dgm:pt modelId="{CD40001B-AD08-4547-A23E-D415B3AE038E}" type="parTrans" cxnId="{8E3DFFB1-2F42-BE4B-9D93-E4DE70A2EA46}">
      <dgm:prSet/>
      <dgm:spPr/>
      <dgm:t>
        <a:bodyPr/>
        <a:lstStyle/>
        <a:p>
          <a:endParaRPr lang="en-US"/>
        </a:p>
      </dgm:t>
    </dgm:pt>
    <dgm:pt modelId="{0BD97CA3-0E26-9140-BCEC-7339827E98DD}" type="sibTrans" cxnId="{8E3DFFB1-2F42-BE4B-9D93-E4DE70A2EA46}">
      <dgm:prSet/>
      <dgm:spPr/>
      <dgm:t>
        <a:bodyPr/>
        <a:lstStyle/>
        <a:p>
          <a:endParaRPr lang="en-US"/>
        </a:p>
      </dgm:t>
    </dgm:pt>
    <dgm:pt modelId="{1952F105-7600-7B48-B741-6715F32CA827}">
      <dgm:prSet custT="1"/>
      <dgm:spPr>
        <a:ln>
          <a:solidFill>
            <a:schemeClr val="tx1"/>
          </a:solidFill>
        </a:ln>
      </dgm:spPr>
      <dgm:t>
        <a:bodyPr/>
        <a:lstStyle/>
        <a:p>
          <a:r>
            <a:rPr lang="en-AU" sz="1600" b="1" i="0" dirty="0" smtClean="0">
              <a:solidFill>
                <a:srgbClr val="0000CC"/>
              </a:solidFill>
            </a:rPr>
            <a:t>Used for encryption or decryption</a:t>
          </a:r>
        </a:p>
      </dgm:t>
    </dgm:pt>
    <dgm:pt modelId="{40483CA9-B7AF-1D43-8288-FB2B95D4D5FE}" type="parTrans" cxnId="{E7B8237F-CE9D-1F49-84C7-3C9AAB436EA2}">
      <dgm:prSet/>
      <dgm:spPr/>
      <dgm:t>
        <a:bodyPr/>
        <a:lstStyle/>
        <a:p>
          <a:endParaRPr lang="en-US"/>
        </a:p>
      </dgm:t>
    </dgm:pt>
    <dgm:pt modelId="{A067637A-07C2-224F-891B-284255C563D2}" type="sibTrans" cxnId="{E7B8237F-CE9D-1F49-84C7-3C9AAB436EA2}">
      <dgm:prSet/>
      <dgm:spPr/>
      <dgm:t>
        <a:bodyPr/>
        <a:lstStyle/>
        <a:p>
          <a:endParaRPr lang="en-US"/>
        </a:p>
      </dgm:t>
    </dgm:pt>
    <dgm:pt modelId="{2D925515-C5E7-2A4E-853D-D717DAB0E9BB}">
      <dgm:prSet/>
      <dgm:spPr>
        <a:solidFill>
          <a:schemeClr val="bg1"/>
        </a:solidFill>
        <a:ln>
          <a:solidFill>
            <a:schemeClr val="accent1"/>
          </a:solidFill>
        </a:ln>
      </dgm:spPr>
      <dgm:t>
        <a:bodyPr/>
        <a:lstStyle/>
        <a:p>
          <a:r>
            <a:rPr lang="en-AU" dirty="0" smtClean="0">
              <a:solidFill>
                <a:srgbClr val="FF0000"/>
              </a:solidFill>
            </a:rPr>
            <a:t>Private key</a:t>
          </a:r>
        </a:p>
      </dgm:t>
    </dgm:pt>
    <dgm:pt modelId="{F1ABC093-6A47-2244-B0B7-CDCD5365F4F9}" type="parTrans" cxnId="{C8F8BEB9-48C2-D74F-816D-2A2469A9D74E}">
      <dgm:prSet/>
      <dgm:spPr/>
      <dgm:t>
        <a:bodyPr/>
        <a:lstStyle/>
        <a:p>
          <a:endParaRPr lang="en-US"/>
        </a:p>
      </dgm:t>
    </dgm:pt>
    <dgm:pt modelId="{4DDA5F6E-E54D-A14B-BDCA-87359F863874}" type="sibTrans" cxnId="{C8F8BEB9-48C2-D74F-816D-2A2469A9D74E}">
      <dgm:prSet/>
      <dgm:spPr/>
      <dgm:t>
        <a:bodyPr/>
        <a:lstStyle/>
        <a:p>
          <a:endParaRPr lang="en-US"/>
        </a:p>
      </dgm:t>
    </dgm:pt>
    <dgm:pt modelId="{8B0B8382-09D9-9C43-BA48-DCC1829176B6}">
      <dgm:prSet custT="1"/>
      <dgm:spPr>
        <a:ln>
          <a:solidFill>
            <a:schemeClr val="tx1"/>
          </a:solidFill>
        </a:ln>
      </dgm:spPr>
      <dgm:t>
        <a:bodyPr/>
        <a:lstStyle/>
        <a:p>
          <a:r>
            <a:rPr lang="en-AU" sz="1600" b="1" i="0" dirty="0" smtClean="0">
              <a:solidFill>
                <a:srgbClr val="0000CC"/>
              </a:solidFill>
            </a:rPr>
            <a:t>Used for encryption or decryption</a:t>
          </a:r>
        </a:p>
      </dgm:t>
    </dgm:pt>
    <dgm:pt modelId="{8E55FE5C-5D5E-8949-92E4-A80A1521271D}" type="parTrans" cxnId="{265AA379-8381-7643-BA33-2BFB91FCE375}">
      <dgm:prSet/>
      <dgm:spPr/>
      <dgm:t>
        <a:bodyPr/>
        <a:lstStyle/>
        <a:p>
          <a:endParaRPr lang="en-US"/>
        </a:p>
      </dgm:t>
    </dgm:pt>
    <dgm:pt modelId="{73681498-392C-CD4B-B24B-53B205448944}" type="sibTrans" cxnId="{265AA379-8381-7643-BA33-2BFB91FCE375}">
      <dgm:prSet/>
      <dgm:spPr/>
      <dgm:t>
        <a:bodyPr/>
        <a:lstStyle/>
        <a:p>
          <a:endParaRPr lang="en-US"/>
        </a:p>
      </dgm:t>
    </dgm:pt>
    <dgm:pt modelId="{2C3DE6D9-8A06-5249-AED7-0AD1FDE42CFC}">
      <dgm:prSet/>
      <dgm:spPr>
        <a:solidFill>
          <a:schemeClr val="bg1"/>
        </a:solidFill>
        <a:ln>
          <a:solidFill>
            <a:schemeClr val="accent1"/>
          </a:solidFill>
        </a:ln>
      </dgm:spPr>
      <dgm:t>
        <a:bodyPr/>
        <a:lstStyle/>
        <a:p>
          <a:r>
            <a:rPr lang="en-AU" smtClean="0"/>
            <a:t>Ciphertext</a:t>
          </a:r>
          <a:endParaRPr lang="en-AU" dirty="0" smtClean="0"/>
        </a:p>
      </dgm:t>
    </dgm:pt>
    <dgm:pt modelId="{6FED049C-66FF-9C45-BC3A-B860FF6A5A5A}" type="parTrans" cxnId="{0A42FDC5-1421-7F4B-934A-84F4D550281E}">
      <dgm:prSet/>
      <dgm:spPr/>
      <dgm:t>
        <a:bodyPr/>
        <a:lstStyle/>
        <a:p>
          <a:endParaRPr lang="en-US"/>
        </a:p>
      </dgm:t>
    </dgm:pt>
    <dgm:pt modelId="{61DF70DB-25B6-E24E-8432-750AC90373FA}" type="sibTrans" cxnId="{0A42FDC5-1421-7F4B-934A-84F4D550281E}">
      <dgm:prSet/>
      <dgm:spPr/>
      <dgm:t>
        <a:bodyPr/>
        <a:lstStyle/>
        <a:p>
          <a:endParaRPr lang="en-US"/>
        </a:p>
      </dgm:t>
    </dgm:pt>
    <dgm:pt modelId="{C0E20B20-26DC-3B4B-A4B9-4E0C6C50A723}">
      <dgm:prSet/>
      <dgm:spPr>
        <a:ln>
          <a:solidFill>
            <a:schemeClr val="tx1"/>
          </a:solidFill>
        </a:ln>
      </dgm:spPr>
      <dgm:t>
        <a:bodyPr/>
        <a:lstStyle/>
        <a:p>
          <a:r>
            <a:rPr lang="en-AU" b="1" i="0" dirty="0" smtClean="0">
              <a:solidFill>
                <a:srgbClr val="0000CC"/>
              </a:solidFill>
            </a:rPr>
            <a:t>The scrambled message produced as output</a:t>
          </a:r>
        </a:p>
      </dgm:t>
    </dgm:pt>
    <dgm:pt modelId="{A0FE6041-1FA6-1E4E-BE33-87FCA0B8A793}" type="parTrans" cxnId="{532B3715-9B3D-3D42-8792-1A2788E6F57B}">
      <dgm:prSet/>
      <dgm:spPr/>
      <dgm:t>
        <a:bodyPr/>
        <a:lstStyle/>
        <a:p>
          <a:endParaRPr lang="en-US"/>
        </a:p>
      </dgm:t>
    </dgm:pt>
    <dgm:pt modelId="{AD3EFFF4-28AE-224C-8A33-2B24D9439B91}" type="sibTrans" cxnId="{532B3715-9B3D-3D42-8792-1A2788E6F57B}">
      <dgm:prSet/>
      <dgm:spPr/>
      <dgm:t>
        <a:bodyPr/>
        <a:lstStyle/>
        <a:p>
          <a:endParaRPr lang="en-US"/>
        </a:p>
      </dgm:t>
    </dgm:pt>
    <dgm:pt modelId="{7FF012FF-DEE7-D94F-BF03-055E54642452}">
      <dgm:prSet/>
      <dgm:spPr>
        <a:solidFill>
          <a:schemeClr val="bg1"/>
        </a:solidFill>
        <a:ln>
          <a:solidFill>
            <a:schemeClr val="accent1"/>
          </a:solidFill>
        </a:ln>
      </dgm:spPr>
      <dgm:t>
        <a:bodyPr/>
        <a:lstStyle/>
        <a:p>
          <a:r>
            <a:rPr lang="en-AU" smtClean="0"/>
            <a:t>Decryption algorithm</a:t>
          </a:r>
          <a:endParaRPr lang="en-AU" dirty="0" smtClean="0"/>
        </a:p>
      </dgm:t>
    </dgm:pt>
    <dgm:pt modelId="{21B1DEB2-DF36-FA4D-BE7F-6D5830B16888}" type="parTrans" cxnId="{01A1DFBC-94FA-8041-8933-418FEE400A02}">
      <dgm:prSet/>
      <dgm:spPr/>
      <dgm:t>
        <a:bodyPr/>
        <a:lstStyle/>
        <a:p>
          <a:endParaRPr lang="en-US"/>
        </a:p>
      </dgm:t>
    </dgm:pt>
    <dgm:pt modelId="{A7D8CBAA-EBE2-FA4A-B619-BC30A13979BD}" type="sibTrans" cxnId="{01A1DFBC-94FA-8041-8933-418FEE400A02}">
      <dgm:prSet/>
      <dgm:spPr/>
      <dgm:t>
        <a:bodyPr/>
        <a:lstStyle/>
        <a:p>
          <a:endParaRPr lang="en-US"/>
        </a:p>
      </dgm:t>
    </dgm:pt>
    <dgm:pt modelId="{704DD6A1-E74B-A44B-8D72-8D91B7171BB7}">
      <dgm:prSet custT="1"/>
      <dgm:spPr>
        <a:ln>
          <a:solidFill>
            <a:schemeClr val="tx1"/>
          </a:solidFill>
        </a:ln>
      </dgm:spPr>
      <dgm:t>
        <a:bodyPr/>
        <a:lstStyle/>
        <a:p>
          <a:r>
            <a:rPr lang="en-AU" sz="1600" b="1" i="0" dirty="0" smtClean="0">
              <a:solidFill>
                <a:srgbClr val="0000CC"/>
              </a:solidFill>
            </a:rPr>
            <a:t>Accepts the </a:t>
          </a:r>
          <a:r>
            <a:rPr lang="en-AU" sz="1600" b="1" i="0" dirty="0" err="1" smtClean="0">
              <a:solidFill>
                <a:srgbClr val="0000CC"/>
              </a:solidFill>
            </a:rPr>
            <a:t>ciphertext</a:t>
          </a:r>
          <a:r>
            <a:rPr lang="en-AU" sz="1600" b="1" i="0" dirty="0" smtClean="0">
              <a:solidFill>
                <a:srgbClr val="0000CC"/>
              </a:solidFill>
            </a:rPr>
            <a:t> and the matching key and produces the original plaintext</a:t>
          </a:r>
          <a:endParaRPr lang="en-AU" sz="1600" b="1" i="0" dirty="0">
            <a:solidFill>
              <a:srgbClr val="0000CC"/>
            </a:solidFill>
          </a:endParaRPr>
        </a:p>
      </dgm:t>
    </dgm:pt>
    <dgm:pt modelId="{4E5001B0-7D95-B146-9FA7-02336AF961D5}" type="parTrans" cxnId="{8442A4D7-ED10-004E-BFDF-FC0153BE7FD8}">
      <dgm:prSet/>
      <dgm:spPr/>
      <dgm:t>
        <a:bodyPr/>
        <a:lstStyle/>
        <a:p>
          <a:endParaRPr lang="en-US"/>
        </a:p>
      </dgm:t>
    </dgm:pt>
    <dgm:pt modelId="{339989ED-9791-A341-A81E-F6DFAE6A7CD3}" type="sibTrans" cxnId="{8442A4D7-ED10-004E-BFDF-FC0153BE7FD8}">
      <dgm:prSet/>
      <dgm:spPr/>
      <dgm:t>
        <a:bodyPr/>
        <a:lstStyle/>
        <a:p>
          <a:endParaRPr lang="en-US"/>
        </a:p>
      </dgm:t>
    </dgm:pt>
    <dgm:pt modelId="{24E0BDBE-4582-544C-8963-250205123224}" type="pres">
      <dgm:prSet presAssocID="{C0E9771E-BB07-DD4B-BAA6-1FF590A2A3AC}" presName="theList" presStyleCnt="0">
        <dgm:presLayoutVars>
          <dgm:dir/>
          <dgm:animLvl val="lvl"/>
          <dgm:resizeHandles val="exact"/>
        </dgm:presLayoutVars>
      </dgm:prSet>
      <dgm:spPr/>
      <dgm:t>
        <a:bodyPr/>
        <a:lstStyle/>
        <a:p>
          <a:endParaRPr lang="en-US"/>
        </a:p>
      </dgm:t>
    </dgm:pt>
    <dgm:pt modelId="{4AA6785F-EF80-684D-B9E1-E47ACFFDB9F1}" type="pres">
      <dgm:prSet presAssocID="{90CE9CE0-49D7-B447-868E-3F6990D64B0F}" presName="compNode" presStyleCnt="0"/>
      <dgm:spPr/>
    </dgm:pt>
    <dgm:pt modelId="{02027EE2-FF3C-994D-A776-4D37484DD5FD}" type="pres">
      <dgm:prSet presAssocID="{90CE9CE0-49D7-B447-868E-3F6990D64B0F}" presName="aNode" presStyleLbl="bgShp" presStyleIdx="0" presStyleCnt="6"/>
      <dgm:spPr/>
      <dgm:t>
        <a:bodyPr/>
        <a:lstStyle/>
        <a:p>
          <a:endParaRPr lang="en-US"/>
        </a:p>
      </dgm:t>
    </dgm:pt>
    <dgm:pt modelId="{2F2532B3-7BFA-184C-A454-ED378FABE244}" type="pres">
      <dgm:prSet presAssocID="{90CE9CE0-49D7-B447-868E-3F6990D64B0F}" presName="textNode" presStyleLbl="bgShp" presStyleIdx="0" presStyleCnt="6"/>
      <dgm:spPr/>
      <dgm:t>
        <a:bodyPr/>
        <a:lstStyle/>
        <a:p>
          <a:endParaRPr lang="en-US"/>
        </a:p>
      </dgm:t>
    </dgm:pt>
    <dgm:pt modelId="{6171A512-F964-0D4B-8059-460244AFC691}" type="pres">
      <dgm:prSet presAssocID="{90CE9CE0-49D7-B447-868E-3F6990D64B0F}" presName="compChildNode" presStyleCnt="0"/>
      <dgm:spPr/>
    </dgm:pt>
    <dgm:pt modelId="{97BFE183-3770-D04D-8866-86F16DD2BC11}" type="pres">
      <dgm:prSet presAssocID="{90CE9CE0-49D7-B447-868E-3F6990D64B0F}" presName="theInnerList" presStyleCnt="0"/>
      <dgm:spPr/>
    </dgm:pt>
    <dgm:pt modelId="{36E59498-7C13-1140-A51E-5D3A8D84CC22}" type="pres">
      <dgm:prSet presAssocID="{261F40C1-7E02-DA45-BFC1-98073985D4AE}" presName="childNode" presStyleLbl="node1" presStyleIdx="0" presStyleCnt="6">
        <dgm:presLayoutVars>
          <dgm:bulletEnabled val="1"/>
        </dgm:presLayoutVars>
      </dgm:prSet>
      <dgm:spPr/>
      <dgm:t>
        <a:bodyPr/>
        <a:lstStyle/>
        <a:p>
          <a:endParaRPr lang="en-US"/>
        </a:p>
      </dgm:t>
    </dgm:pt>
    <dgm:pt modelId="{DDFEC640-F2FE-754A-9D40-0AC227ED4574}" type="pres">
      <dgm:prSet presAssocID="{90CE9CE0-49D7-B447-868E-3F6990D64B0F}" presName="aSpace" presStyleCnt="0"/>
      <dgm:spPr/>
    </dgm:pt>
    <dgm:pt modelId="{460AC76E-7A07-A841-8AA5-AFDBACDDCBE3}" type="pres">
      <dgm:prSet presAssocID="{C166F341-50FA-B846-98BD-E7EDD1067A0C}" presName="compNode" presStyleCnt="0"/>
      <dgm:spPr/>
    </dgm:pt>
    <dgm:pt modelId="{2851CE41-8A79-8D45-BDED-E09AAFA1E6DB}" type="pres">
      <dgm:prSet presAssocID="{C166F341-50FA-B846-98BD-E7EDD1067A0C}" presName="aNode" presStyleLbl="bgShp" presStyleIdx="1" presStyleCnt="6" custScaleX="110303"/>
      <dgm:spPr/>
      <dgm:t>
        <a:bodyPr/>
        <a:lstStyle/>
        <a:p>
          <a:endParaRPr lang="en-US"/>
        </a:p>
      </dgm:t>
    </dgm:pt>
    <dgm:pt modelId="{E2FE584B-E14E-5541-957A-7F020213F807}" type="pres">
      <dgm:prSet presAssocID="{C166F341-50FA-B846-98BD-E7EDD1067A0C}" presName="textNode" presStyleLbl="bgShp" presStyleIdx="1" presStyleCnt="6"/>
      <dgm:spPr/>
      <dgm:t>
        <a:bodyPr/>
        <a:lstStyle/>
        <a:p>
          <a:endParaRPr lang="en-US"/>
        </a:p>
      </dgm:t>
    </dgm:pt>
    <dgm:pt modelId="{2CB27E6E-5340-9B4E-A5E8-D0FFD9FD70B4}" type="pres">
      <dgm:prSet presAssocID="{C166F341-50FA-B846-98BD-E7EDD1067A0C}" presName="compChildNode" presStyleCnt="0"/>
      <dgm:spPr/>
    </dgm:pt>
    <dgm:pt modelId="{61EEBBB3-4F3B-164E-943F-149665FF2FD1}" type="pres">
      <dgm:prSet presAssocID="{C166F341-50FA-B846-98BD-E7EDD1067A0C}" presName="theInnerList" presStyleCnt="0"/>
      <dgm:spPr/>
    </dgm:pt>
    <dgm:pt modelId="{6D1D3F2C-2E14-D14B-BE6E-9C2B6C4D677D}" type="pres">
      <dgm:prSet presAssocID="{E4B47229-731B-CE4A-9CC4-46785BDEDA3B}" presName="childNode" presStyleLbl="node1" presStyleIdx="1" presStyleCnt="6" custScaleX="118486">
        <dgm:presLayoutVars>
          <dgm:bulletEnabled val="1"/>
        </dgm:presLayoutVars>
      </dgm:prSet>
      <dgm:spPr/>
      <dgm:t>
        <a:bodyPr/>
        <a:lstStyle/>
        <a:p>
          <a:endParaRPr lang="en-US"/>
        </a:p>
      </dgm:t>
    </dgm:pt>
    <dgm:pt modelId="{00BE2CDB-361B-1C4B-9053-54EDBEC9F19C}" type="pres">
      <dgm:prSet presAssocID="{C166F341-50FA-B846-98BD-E7EDD1067A0C}" presName="aSpace" presStyleCnt="0"/>
      <dgm:spPr/>
    </dgm:pt>
    <dgm:pt modelId="{890BB40B-A441-1B47-BB47-C8B167ACB919}" type="pres">
      <dgm:prSet presAssocID="{1FDFDE4D-0011-F74A-A8DD-3C684F225A5B}" presName="compNode" presStyleCnt="0"/>
      <dgm:spPr/>
    </dgm:pt>
    <dgm:pt modelId="{0CE6E98A-073C-EA48-AF0E-CA7DAE973DFD}" type="pres">
      <dgm:prSet presAssocID="{1FDFDE4D-0011-F74A-A8DD-3C684F225A5B}" presName="aNode" presStyleLbl="bgShp" presStyleIdx="2" presStyleCnt="6"/>
      <dgm:spPr/>
      <dgm:t>
        <a:bodyPr/>
        <a:lstStyle/>
        <a:p>
          <a:endParaRPr lang="en-US"/>
        </a:p>
      </dgm:t>
    </dgm:pt>
    <dgm:pt modelId="{642D9DB7-9B1B-5546-B78E-92EA7D07EB31}" type="pres">
      <dgm:prSet presAssocID="{1FDFDE4D-0011-F74A-A8DD-3C684F225A5B}" presName="textNode" presStyleLbl="bgShp" presStyleIdx="2" presStyleCnt="6"/>
      <dgm:spPr/>
      <dgm:t>
        <a:bodyPr/>
        <a:lstStyle/>
        <a:p>
          <a:endParaRPr lang="en-US"/>
        </a:p>
      </dgm:t>
    </dgm:pt>
    <dgm:pt modelId="{D0E4E55B-366C-EF4E-BDC4-19D561B75B79}" type="pres">
      <dgm:prSet presAssocID="{1FDFDE4D-0011-F74A-A8DD-3C684F225A5B}" presName="compChildNode" presStyleCnt="0"/>
      <dgm:spPr/>
    </dgm:pt>
    <dgm:pt modelId="{82813AC1-348F-D346-B2CD-41EE9A7983EA}" type="pres">
      <dgm:prSet presAssocID="{1FDFDE4D-0011-F74A-A8DD-3C684F225A5B}" presName="theInnerList" presStyleCnt="0"/>
      <dgm:spPr/>
    </dgm:pt>
    <dgm:pt modelId="{65F64760-4962-264D-8200-BFB3CE057398}" type="pres">
      <dgm:prSet presAssocID="{1952F105-7600-7B48-B741-6715F32CA827}" presName="childNode" presStyleLbl="node1" presStyleIdx="2" presStyleCnt="6" custScaleX="112821">
        <dgm:presLayoutVars>
          <dgm:bulletEnabled val="1"/>
        </dgm:presLayoutVars>
      </dgm:prSet>
      <dgm:spPr/>
      <dgm:t>
        <a:bodyPr/>
        <a:lstStyle/>
        <a:p>
          <a:endParaRPr lang="en-US"/>
        </a:p>
      </dgm:t>
    </dgm:pt>
    <dgm:pt modelId="{80382FFE-DE13-9D45-A8EF-2DC8B220D416}" type="pres">
      <dgm:prSet presAssocID="{1FDFDE4D-0011-F74A-A8DD-3C684F225A5B}" presName="aSpace" presStyleCnt="0"/>
      <dgm:spPr/>
    </dgm:pt>
    <dgm:pt modelId="{53F176EB-9FC0-644C-978E-BB98D8DE2B28}" type="pres">
      <dgm:prSet presAssocID="{2D925515-C5E7-2A4E-853D-D717DAB0E9BB}" presName="compNode" presStyleCnt="0"/>
      <dgm:spPr/>
    </dgm:pt>
    <dgm:pt modelId="{1780A409-40A8-FC4D-B6F6-DDE3780A5EE1}" type="pres">
      <dgm:prSet presAssocID="{2D925515-C5E7-2A4E-853D-D717DAB0E9BB}" presName="aNode" presStyleLbl="bgShp" presStyleIdx="3" presStyleCnt="6"/>
      <dgm:spPr/>
      <dgm:t>
        <a:bodyPr/>
        <a:lstStyle/>
        <a:p>
          <a:endParaRPr lang="en-US"/>
        </a:p>
      </dgm:t>
    </dgm:pt>
    <dgm:pt modelId="{1E7935A4-D16C-3B44-ABBB-DB845569236E}" type="pres">
      <dgm:prSet presAssocID="{2D925515-C5E7-2A4E-853D-D717DAB0E9BB}" presName="textNode" presStyleLbl="bgShp" presStyleIdx="3" presStyleCnt="6"/>
      <dgm:spPr/>
      <dgm:t>
        <a:bodyPr/>
        <a:lstStyle/>
        <a:p>
          <a:endParaRPr lang="en-US"/>
        </a:p>
      </dgm:t>
    </dgm:pt>
    <dgm:pt modelId="{CA2EAD4C-60F0-0442-AAA8-ECABC7235F59}" type="pres">
      <dgm:prSet presAssocID="{2D925515-C5E7-2A4E-853D-D717DAB0E9BB}" presName="compChildNode" presStyleCnt="0"/>
      <dgm:spPr/>
    </dgm:pt>
    <dgm:pt modelId="{241AF3B7-AC00-A646-8196-ECCC67AE3C1C}" type="pres">
      <dgm:prSet presAssocID="{2D925515-C5E7-2A4E-853D-D717DAB0E9BB}" presName="theInnerList" presStyleCnt="0"/>
      <dgm:spPr/>
    </dgm:pt>
    <dgm:pt modelId="{A594F0DC-0987-834E-B36D-EF0A1E13AA4F}" type="pres">
      <dgm:prSet presAssocID="{8B0B8382-09D9-9C43-BA48-DCC1829176B6}" presName="childNode" presStyleLbl="node1" presStyleIdx="3" presStyleCnt="6" custScaleX="108192">
        <dgm:presLayoutVars>
          <dgm:bulletEnabled val="1"/>
        </dgm:presLayoutVars>
      </dgm:prSet>
      <dgm:spPr/>
      <dgm:t>
        <a:bodyPr/>
        <a:lstStyle/>
        <a:p>
          <a:endParaRPr lang="en-US"/>
        </a:p>
      </dgm:t>
    </dgm:pt>
    <dgm:pt modelId="{1F450AB7-09EF-6E4A-B388-5B35086A794A}" type="pres">
      <dgm:prSet presAssocID="{2D925515-C5E7-2A4E-853D-D717DAB0E9BB}" presName="aSpace" presStyleCnt="0"/>
      <dgm:spPr/>
    </dgm:pt>
    <dgm:pt modelId="{7E146254-C99B-854D-A998-C20D23840C5F}" type="pres">
      <dgm:prSet presAssocID="{2C3DE6D9-8A06-5249-AED7-0AD1FDE42CFC}" presName="compNode" presStyleCnt="0"/>
      <dgm:spPr/>
    </dgm:pt>
    <dgm:pt modelId="{02D0EA8E-2F99-4F48-BE72-93FBD45D331E}" type="pres">
      <dgm:prSet presAssocID="{2C3DE6D9-8A06-5249-AED7-0AD1FDE42CFC}" presName="aNode" presStyleLbl="bgShp" presStyleIdx="4" presStyleCnt="6"/>
      <dgm:spPr/>
      <dgm:t>
        <a:bodyPr/>
        <a:lstStyle/>
        <a:p>
          <a:endParaRPr lang="en-US"/>
        </a:p>
      </dgm:t>
    </dgm:pt>
    <dgm:pt modelId="{373310CF-1FF9-A84E-98E3-2198E819FB29}" type="pres">
      <dgm:prSet presAssocID="{2C3DE6D9-8A06-5249-AED7-0AD1FDE42CFC}" presName="textNode" presStyleLbl="bgShp" presStyleIdx="4" presStyleCnt="6"/>
      <dgm:spPr/>
      <dgm:t>
        <a:bodyPr/>
        <a:lstStyle/>
        <a:p>
          <a:endParaRPr lang="en-US"/>
        </a:p>
      </dgm:t>
    </dgm:pt>
    <dgm:pt modelId="{2DA7B33F-F132-8D4B-84B7-D9380270CD3D}" type="pres">
      <dgm:prSet presAssocID="{2C3DE6D9-8A06-5249-AED7-0AD1FDE42CFC}" presName="compChildNode" presStyleCnt="0"/>
      <dgm:spPr/>
    </dgm:pt>
    <dgm:pt modelId="{596D463F-A139-0D4D-B337-03369CD01F08}" type="pres">
      <dgm:prSet presAssocID="{2C3DE6D9-8A06-5249-AED7-0AD1FDE42CFC}" presName="theInnerList" presStyleCnt="0"/>
      <dgm:spPr/>
    </dgm:pt>
    <dgm:pt modelId="{7B64A146-C0A8-8940-9124-D931298D8CF9}" type="pres">
      <dgm:prSet presAssocID="{C0E20B20-26DC-3B4B-A4B9-4E0C6C50A723}" presName="childNode" presStyleLbl="node1" presStyleIdx="4" presStyleCnt="6">
        <dgm:presLayoutVars>
          <dgm:bulletEnabled val="1"/>
        </dgm:presLayoutVars>
      </dgm:prSet>
      <dgm:spPr/>
      <dgm:t>
        <a:bodyPr/>
        <a:lstStyle/>
        <a:p>
          <a:endParaRPr lang="en-US"/>
        </a:p>
      </dgm:t>
    </dgm:pt>
    <dgm:pt modelId="{C2326672-C06D-F24A-A648-046AC6141E11}" type="pres">
      <dgm:prSet presAssocID="{2C3DE6D9-8A06-5249-AED7-0AD1FDE42CFC}" presName="aSpace" presStyleCnt="0"/>
      <dgm:spPr/>
    </dgm:pt>
    <dgm:pt modelId="{43C8EEDF-7C17-3C4D-BE6C-1CE9694ED576}" type="pres">
      <dgm:prSet presAssocID="{7FF012FF-DEE7-D94F-BF03-055E54642452}" presName="compNode" presStyleCnt="0"/>
      <dgm:spPr/>
    </dgm:pt>
    <dgm:pt modelId="{E0C1B328-6EE2-9646-B970-3DC2BBC44A27}" type="pres">
      <dgm:prSet presAssocID="{7FF012FF-DEE7-D94F-BF03-055E54642452}" presName="aNode" presStyleLbl="bgShp" presStyleIdx="5" presStyleCnt="6"/>
      <dgm:spPr/>
      <dgm:t>
        <a:bodyPr/>
        <a:lstStyle/>
        <a:p>
          <a:endParaRPr lang="en-US"/>
        </a:p>
      </dgm:t>
    </dgm:pt>
    <dgm:pt modelId="{9E8921A8-2576-984F-ACDF-8FA1DD30ECB0}" type="pres">
      <dgm:prSet presAssocID="{7FF012FF-DEE7-D94F-BF03-055E54642452}" presName="textNode" presStyleLbl="bgShp" presStyleIdx="5" presStyleCnt="6"/>
      <dgm:spPr/>
      <dgm:t>
        <a:bodyPr/>
        <a:lstStyle/>
        <a:p>
          <a:endParaRPr lang="en-US"/>
        </a:p>
      </dgm:t>
    </dgm:pt>
    <dgm:pt modelId="{7A852929-3C72-1541-9CDA-80AED5E6E5B4}" type="pres">
      <dgm:prSet presAssocID="{7FF012FF-DEE7-D94F-BF03-055E54642452}" presName="compChildNode" presStyleCnt="0"/>
      <dgm:spPr/>
    </dgm:pt>
    <dgm:pt modelId="{DE9041AA-A3A3-1643-B358-A2E296AFCEAA}" type="pres">
      <dgm:prSet presAssocID="{7FF012FF-DEE7-D94F-BF03-055E54642452}" presName="theInnerList" presStyleCnt="0"/>
      <dgm:spPr/>
    </dgm:pt>
    <dgm:pt modelId="{3365488A-89BC-3D4A-B118-9EF5A0947EA3}" type="pres">
      <dgm:prSet presAssocID="{704DD6A1-E74B-A44B-8D72-8D91B7171BB7}" presName="childNode" presStyleLbl="node1" presStyleIdx="5" presStyleCnt="6">
        <dgm:presLayoutVars>
          <dgm:bulletEnabled val="1"/>
        </dgm:presLayoutVars>
      </dgm:prSet>
      <dgm:spPr/>
      <dgm:t>
        <a:bodyPr/>
        <a:lstStyle/>
        <a:p>
          <a:endParaRPr lang="en-US"/>
        </a:p>
      </dgm:t>
    </dgm:pt>
  </dgm:ptLst>
  <dgm:cxnLst>
    <dgm:cxn modelId="{B48F9004-DFF5-4694-8CDA-9BC2AE9E51F7}" type="presOf" srcId="{C166F341-50FA-B846-98BD-E7EDD1067A0C}" destId="{E2FE584B-E14E-5541-957A-7F020213F807}" srcOrd="1" destOrd="0" presId="urn:microsoft.com/office/officeart/2005/8/layout/lProcess2"/>
    <dgm:cxn modelId="{01A1DFBC-94FA-8041-8933-418FEE400A02}" srcId="{C0E9771E-BB07-DD4B-BAA6-1FF590A2A3AC}" destId="{7FF012FF-DEE7-D94F-BF03-055E54642452}" srcOrd="5" destOrd="0" parTransId="{21B1DEB2-DF36-FA4D-BE7F-6D5830B16888}" sibTransId="{A7D8CBAA-EBE2-FA4A-B619-BC30A13979BD}"/>
    <dgm:cxn modelId="{532B3715-9B3D-3D42-8792-1A2788E6F57B}" srcId="{2C3DE6D9-8A06-5249-AED7-0AD1FDE42CFC}" destId="{C0E20B20-26DC-3B4B-A4B9-4E0C6C50A723}" srcOrd="0" destOrd="0" parTransId="{A0FE6041-1FA6-1E4E-BE33-87FCA0B8A793}" sibTransId="{AD3EFFF4-28AE-224C-8A33-2B24D9439B91}"/>
    <dgm:cxn modelId="{C07FC192-0382-44A5-BA1F-ADE3F4DD7F73}" type="presOf" srcId="{7FF012FF-DEE7-D94F-BF03-055E54642452}" destId="{E0C1B328-6EE2-9646-B970-3DC2BBC44A27}" srcOrd="0" destOrd="0" presId="urn:microsoft.com/office/officeart/2005/8/layout/lProcess2"/>
    <dgm:cxn modelId="{ADC1C764-19F5-6145-8669-21881E3478EB}" srcId="{90CE9CE0-49D7-B447-868E-3F6990D64B0F}" destId="{261F40C1-7E02-DA45-BFC1-98073985D4AE}" srcOrd="0" destOrd="0" parTransId="{A17E81BD-F36F-7E4A-AB10-F1F3E0E78598}" sibTransId="{DF9040C9-7F48-0C48-A9AD-04D61152645D}"/>
    <dgm:cxn modelId="{560C2748-A7F3-4FE6-A802-90793F3A8D4A}" type="presOf" srcId="{1FDFDE4D-0011-F74A-A8DD-3C684F225A5B}" destId="{0CE6E98A-073C-EA48-AF0E-CA7DAE973DFD}" srcOrd="0" destOrd="0" presId="urn:microsoft.com/office/officeart/2005/8/layout/lProcess2"/>
    <dgm:cxn modelId="{360DD8C4-8AA7-4748-B964-C4A330081578}" type="presOf" srcId="{1952F105-7600-7B48-B741-6715F32CA827}" destId="{65F64760-4962-264D-8200-BFB3CE057398}" srcOrd="0" destOrd="0" presId="urn:microsoft.com/office/officeart/2005/8/layout/lProcess2"/>
    <dgm:cxn modelId="{AF5CBD87-23D5-42A3-94CC-BDEF6506C434}" type="presOf" srcId="{90CE9CE0-49D7-B447-868E-3F6990D64B0F}" destId="{02027EE2-FF3C-994D-A776-4D37484DD5FD}" srcOrd="0" destOrd="0" presId="urn:microsoft.com/office/officeart/2005/8/layout/lProcess2"/>
    <dgm:cxn modelId="{8E3DFFB1-2F42-BE4B-9D93-E4DE70A2EA46}" srcId="{C0E9771E-BB07-DD4B-BAA6-1FF590A2A3AC}" destId="{1FDFDE4D-0011-F74A-A8DD-3C684F225A5B}" srcOrd="2" destOrd="0" parTransId="{CD40001B-AD08-4547-A23E-D415B3AE038E}" sibTransId="{0BD97CA3-0E26-9140-BCEC-7339827E98DD}"/>
    <dgm:cxn modelId="{F56A008D-5CEF-46B3-ADD9-D8E6972A44DE}" type="presOf" srcId="{1FDFDE4D-0011-F74A-A8DD-3C684F225A5B}" destId="{642D9DB7-9B1B-5546-B78E-92EA7D07EB31}" srcOrd="1" destOrd="0" presId="urn:microsoft.com/office/officeart/2005/8/layout/lProcess2"/>
    <dgm:cxn modelId="{CB1FC869-1366-4048-A64B-E1507B1E7ADC}" type="presOf" srcId="{C0E20B20-26DC-3B4B-A4B9-4E0C6C50A723}" destId="{7B64A146-C0A8-8940-9124-D931298D8CF9}" srcOrd="0" destOrd="0" presId="urn:microsoft.com/office/officeart/2005/8/layout/lProcess2"/>
    <dgm:cxn modelId="{E2528CEC-ECE7-41E2-9DAA-5C8FB0F1149E}" type="presOf" srcId="{C166F341-50FA-B846-98BD-E7EDD1067A0C}" destId="{2851CE41-8A79-8D45-BDED-E09AAFA1E6DB}" srcOrd="0" destOrd="0" presId="urn:microsoft.com/office/officeart/2005/8/layout/lProcess2"/>
    <dgm:cxn modelId="{29FD7559-32AA-7E49-BDA6-1AA08946394F}" srcId="{C166F341-50FA-B846-98BD-E7EDD1067A0C}" destId="{E4B47229-731B-CE4A-9CC4-46785BDEDA3B}" srcOrd="0" destOrd="0" parTransId="{AA48253F-7A06-2247-A519-D69992DF4442}" sibTransId="{FFE89E57-F97A-2645-98EC-A7A86589167D}"/>
    <dgm:cxn modelId="{413292A3-4C74-4526-BE73-7974B88D75FF}" type="presOf" srcId="{90CE9CE0-49D7-B447-868E-3F6990D64B0F}" destId="{2F2532B3-7BFA-184C-A454-ED378FABE244}" srcOrd="1" destOrd="0" presId="urn:microsoft.com/office/officeart/2005/8/layout/lProcess2"/>
    <dgm:cxn modelId="{EE65821E-9E53-47E7-B232-80227390C5D4}" type="presOf" srcId="{2C3DE6D9-8A06-5249-AED7-0AD1FDE42CFC}" destId="{02D0EA8E-2F99-4F48-BE72-93FBD45D331E}" srcOrd="0" destOrd="0" presId="urn:microsoft.com/office/officeart/2005/8/layout/lProcess2"/>
    <dgm:cxn modelId="{3CE19BEF-2FEE-4D7D-8D33-87BD2A896495}" type="presOf" srcId="{E4B47229-731B-CE4A-9CC4-46785BDEDA3B}" destId="{6D1D3F2C-2E14-D14B-BE6E-9C2B6C4D677D}" srcOrd="0" destOrd="0" presId="urn:microsoft.com/office/officeart/2005/8/layout/lProcess2"/>
    <dgm:cxn modelId="{E7B8237F-CE9D-1F49-84C7-3C9AAB436EA2}" srcId="{1FDFDE4D-0011-F74A-A8DD-3C684F225A5B}" destId="{1952F105-7600-7B48-B741-6715F32CA827}" srcOrd="0" destOrd="0" parTransId="{40483CA9-B7AF-1D43-8288-FB2B95D4D5FE}" sibTransId="{A067637A-07C2-224F-891B-284255C563D2}"/>
    <dgm:cxn modelId="{6467EB09-DEF0-485E-B62C-15D6EFF846FA}" type="presOf" srcId="{2C3DE6D9-8A06-5249-AED7-0AD1FDE42CFC}" destId="{373310CF-1FF9-A84E-98E3-2198E819FB29}" srcOrd="1" destOrd="0" presId="urn:microsoft.com/office/officeart/2005/8/layout/lProcess2"/>
    <dgm:cxn modelId="{03E28CBB-10E5-452C-8474-70237B12837E}" type="presOf" srcId="{704DD6A1-E74B-A44B-8D72-8D91B7171BB7}" destId="{3365488A-89BC-3D4A-B118-9EF5A0947EA3}" srcOrd="0" destOrd="0" presId="urn:microsoft.com/office/officeart/2005/8/layout/lProcess2"/>
    <dgm:cxn modelId="{E3EC6A68-3ED4-4CA1-864C-5995312C5235}" type="presOf" srcId="{8B0B8382-09D9-9C43-BA48-DCC1829176B6}" destId="{A594F0DC-0987-834E-B36D-EF0A1E13AA4F}" srcOrd="0" destOrd="0" presId="urn:microsoft.com/office/officeart/2005/8/layout/lProcess2"/>
    <dgm:cxn modelId="{DC7EBD4E-1959-4DF1-B18B-B37BCB7EEE6B}" type="presOf" srcId="{C0E9771E-BB07-DD4B-BAA6-1FF590A2A3AC}" destId="{24E0BDBE-4582-544C-8963-250205123224}" srcOrd="0" destOrd="0" presId="urn:microsoft.com/office/officeart/2005/8/layout/lProcess2"/>
    <dgm:cxn modelId="{7A1A9867-2146-43A8-B2FC-CCE99FF75566}" type="presOf" srcId="{2D925515-C5E7-2A4E-853D-D717DAB0E9BB}" destId="{1E7935A4-D16C-3B44-ABBB-DB845569236E}" srcOrd="1" destOrd="0" presId="urn:microsoft.com/office/officeart/2005/8/layout/lProcess2"/>
    <dgm:cxn modelId="{265AA379-8381-7643-BA33-2BFB91FCE375}" srcId="{2D925515-C5E7-2A4E-853D-D717DAB0E9BB}" destId="{8B0B8382-09D9-9C43-BA48-DCC1829176B6}" srcOrd="0" destOrd="0" parTransId="{8E55FE5C-5D5E-8949-92E4-A80A1521271D}" sibTransId="{73681498-392C-CD4B-B24B-53B205448944}"/>
    <dgm:cxn modelId="{3C1BCAD4-C200-4652-B953-6633E385E3B9}" type="presOf" srcId="{2D925515-C5E7-2A4E-853D-D717DAB0E9BB}" destId="{1780A409-40A8-FC4D-B6F6-DDE3780A5EE1}" srcOrd="0" destOrd="0" presId="urn:microsoft.com/office/officeart/2005/8/layout/lProcess2"/>
    <dgm:cxn modelId="{B13089F1-E60C-BB4B-A199-166B077445E1}" srcId="{C0E9771E-BB07-DD4B-BAA6-1FF590A2A3AC}" destId="{90CE9CE0-49D7-B447-868E-3F6990D64B0F}" srcOrd="0" destOrd="0" parTransId="{4F8D4922-37BD-974F-96C6-15C278DCECF3}" sibTransId="{9741ED17-F573-404D-8A34-A3CEDFF5D273}"/>
    <dgm:cxn modelId="{D8AF1A3F-CF5F-AE4E-A5C6-68DF1A8E05A9}" srcId="{C0E9771E-BB07-DD4B-BAA6-1FF590A2A3AC}" destId="{C166F341-50FA-B846-98BD-E7EDD1067A0C}" srcOrd="1" destOrd="0" parTransId="{5A90ED35-D7E9-794E-BE81-9951979A7FDF}" sibTransId="{3F8AB0C2-D10E-5040-A929-74DFCE6B2270}"/>
    <dgm:cxn modelId="{989F7727-BFA2-4451-B14B-399930A55B04}" type="presOf" srcId="{7FF012FF-DEE7-D94F-BF03-055E54642452}" destId="{9E8921A8-2576-984F-ACDF-8FA1DD30ECB0}" srcOrd="1" destOrd="0" presId="urn:microsoft.com/office/officeart/2005/8/layout/lProcess2"/>
    <dgm:cxn modelId="{C8F8BEB9-48C2-D74F-816D-2A2469A9D74E}" srcId="{C0E9771E-BB07-DD4B-BAA6-1FF590A2A3AC}" destId="{2D925515-C5E7-2A4E-853D-D717DAB0E9BB}" srcOrd="3" destOrd="0" parTransId="{F1ABC093-6A47-2244-B0B7-CDCD5365F4F9}" sibTransId="{4DDA5F6E-E54D-A14B-BDCA-87359F863874}"/>
    <dgm:cxn modelId="{8442A4D7-ED10-004E-BFDF-FC0153BE7FD8}" srcId="{7FF012FF-DEE7-D94F-BF03-055E54642452}" destId="{704DD6A1-E74B-A44B-8D72-8D91B7171BB7}" srcOrd="0" destOrd="0" parTransId="{4E5001B0-7D95-B146-9FA7-02336AF961D5}" sibTransId="{339989ED-9791-A341-A81E-F6DFAE6A7CD3}"/>
    <dgm:cxn modelId="{0A42FDC5-1421-7F4B-934A-84F4D550281E}" srcId="{C0E9771E-BB07-DD4B-BAA6-1FF590A2A3AC}" destId="{2C3DE6D9-8A06-5249-AED7-0AD1FDE42CFC}" srcOrd="4" destOrd="0" parTransId="{6FED049C-66FF-9C45-BC3A-B860FF6A5A5A}" sibTransId="{61DF70DB-25B6-E24E-8432-750AC90373FA}"/>
    <dgm:cxn modelId="{58B68939-1375-44C2-8B29-9921E73F24E9}" type="presOf" srcId="{261F40C1-7E02-DA45-BFC1-98073985D4AE}" destId="{36E59498-7C13-1140-A51E-5D3A8D84CC22}" srcOrd="0" destOrd="0" presId="urn:microsoft.com/office/officeart/2005/8/layout/lProcess2"/>
    <dgm:cxn modelId="{AEF96E16-34AF-4194-990A-789F2F9D1765}" type="presParOf" srcId="{24E0BDBE-4582-544C-8963-250205123224}" destId="{4AA6785F-EF80-684D-B9E1-E47ACFFDB9F1}" srcOrd="0" destOrd="0" presId="urn:microsoft.com/office/officeart/2005/8/layout/lProcess2"/>
    <dgm:cxn modelId="{22561018-33FD-4A5C-9C4B-94B3BF0066FE}" type="presParOf" srcId="{4AA6785F-EF80-684D-B9E1-E47ACFFDB9F1}" destId="{02027EE2-FF3C-994D-A776-4D37484DD5FD}" srcOrd="0" destOrd="0" presId="urn:microsoft.com/office/officeart/2005/8/layout/lProcess2"/>
    <dgm:cxn modelId="{27C333DB-3AB1-4206-B577-25715B3EBCEC}" type="presParOf" srcId="{4AA6785F-EF80-684D-B9E1-E47ACFFDB9F1}" destId="{2F2532B3-7BFA-184C-A454-ED378FABE244}" srcOrd="1" destOrd="0" presId="urn:microsoft.com/office/officeart/2005/8/layout/lProcess2"/>
    <dgm:cxn modelId="{671C3746-B856-4198-99E6-6573F94A2789}" type="presParOf" srcId="{4AA6785F-EF80-684D-B9E1-E47ACFFDB9F1}" destId="{6171A512-F964-0D4B-8059-460244AFC691}" srcOrd="2" destOrd="0" presId="urn:microsoft.com/office/officeart/2005/8/layout/lProcess2"/>
    <dgm:cxn modelId="{73AFC5DA-C7C1-4F71-A729-7DB0708630BE}" type="presParOf" srcId="{6171A512-F964-0D4B-8059-460244AFC691}" destId="{97BFE183-3770-D04D-8866-86F16DD2BC11}" srcOrd="0" destOrd="0" presId="urn:microsoft.com/office/officeart/2005/8/layout/lProcess2"/>
    <dgm:cxn modelId="{639BF940-D555-4C86-83C4-408F5B5121A7}" type="presParOf" srcId="{97BFE183-3770-D04D-8866-86F16DD2BC11}" destId="{36E59498-7C13-1140-A51E-5D3A8D84CC22}" srcOrd="0" destOrd="0" presId="urn:microsoft.com/office/officeart/2005/8/layout/lProcess2"/>
    <dgm:cxn modelId="{7802EB03-A588-47F9-9566-18BC1BC91BFC}" type="presParOf" srcId="{24E0BDBE-4582-544C-8963-250205123224}" destId="{DDFEC640-F2FE-754A-9D40-0AC227ED4574}" srcOrd="1" destOrd="0" presId="urn:microsoft.com/office/officeart/2005/8/layout/lProcess2"/>
    <dgm:cxn modelId="{27EF12D3-D656-4854-8E8E-F4A08EED3687}" type="presParOf" srcId="{24E0BDBE-4582-544C-8963-250205123224}" destId="{460AC76E-7A07-A841-8AA5-AFDBACDDCBE3}" srcOrd="2" destOrd="0" presId="urn:microsoft.com/office/officeart/2005/8/layout/lProcess2"/>
    <dgm:cxn modelId="{B46364F1-87C3-49AF-8343-5BF85619E016}" type="presParOf" srcId="{460AC76E-7A07-A841-8AA5-AFDBACDDCBE3}" destId="{2851CE41-8A79-8D45-BDED-E09AAFA1E6DB}" srcOrd="0" destOrd="0" presId="urn:microsoft.com/office/officeart/2005/8/layout/lProcess2"/>
    <dgm:cxn modelId="{803AF388-65C8-4A3B-918F-5A5FF307B796}" type="presParOf" srcId="{460AC76E-7A07-A841-8AA5-AFDBACDDCBE3}" destId="{E2FE584B-E14E-5541-957A-7F020213F807}" srcOrd="1" destOrd="0" presId="urn:microsoft.com/office/officeart/2005/8/layout/lProcess2"/>
    <dgm:cxn modelId="{D5865EDA-60A2-463A-A6E0-D80A99EDBE47}" type="presParOf" srcId="{460AC76E-7A07-A841-8AA5-AFDBACDDCBE3}" destId="{2CB27E6E-5340-9B4E-A5E8-D0FFD9FD70B4}" srcOrd="2" destOrd="0" presId="urn:microsoft.com/office/officeart/2005/8/layout/lProcess2"/>
    <dgm:cxn modelId="{B3EE7796-A8F3-4496-8971-B8FA82733F71}" type="presParOf" srcId="{2CB27E6E-5340-9B4E-A5E8-D0FFD9FD70B4}" destId="{61EEBBB3-4F3B-164E-943F-149665FF2FD1}" srcOrd="0" destOrd="0" presId="urn:microsoft.com/office/officeart/2005/8/layout/lProcess2"/>
    <dgm:cxn modelId="{CEA94587-8684-4369-ACC3-554F8C1F3B5F}" type="presParOf" srcId="{61EEBBB3-4F3B-164E-943F-149665FF2FD1}" destId="{6D1D3F2C-2E14-D14B-BE6E-9C2B6C4D677D}" srcOrd="0" destOrd="0" presId="urn:microsoft.com/office/officeart/2005/8/layout/lProcess2"/>
    <dgm:cxn modelId="{51961ECE-049E-4133-9F72-3A2DF51A0924}" type="presParOf" srcId="{24E0BDBE-4582-544C-8963-250205123224}" destId="{00BE2CDB-361B-1C4B-9053-54EDBEC9F19C}" srcOrd="3" destOrd="0" presId="urn:microsoft.com/office/officeart/2005/8/layout/lProcess2"/>
    <dgm:cxn modelId="{1338E239-7161-4DEC-BC97-C3D79E4DA9F4}" type="presParOf" srcId="{24E0BDBE-4582-544C-8963-250205123224}" destId="{890BB40B-A441-1B47-BB47-C8B167ACB919}" srcOrd="4" destOrd="0" presId="urn:microsoft.com/office/officeart/2005/8/layout/lProcess2"/>
    <dgm:cxn modelId="{B945CFB9-B305-4F9E-92E6-A62B2DCF4030}" type="presParOf" srcId="{890BB40B-A441-1B47-BB47-C8B167ACB919}" destId="{0CE6E98A-073C-EA48-AF0E-CA7DAE973DFD}" srcOrd="0" destOrd="0" presId="urn:microsoft.com/office/officeart/2005/8/layout/lProcess2"/>
    <dgm:cxn modelId="{C4099B30-3CE9-4F56-B5A6-946CDBCA8BFA}" type="presParOf" srcId="{890BB40B-A441-1B47-BB47-C8B167ACB919}" destId="{642D9DB7-9B1B-5546-B78E-92EA7D07EB31}" srcOrd="1" destOrd="0" presId="urn:microsoft.com/office/officeart/2005/8/layout/lProcess2"/>
    <dgm:cxn modelId="{4B92E261-5612-40E5-9C45-E103CC8114AB}" type="presParOf" srcId="{890BB40B-A441-1B47-BB47-C8B167ACB919}" destId="{D0E4E55B-366C-EF4E-BDC4-19D561B75B79}" srcOrd="2" destOrd="0" presId="urn:microsoft.com/office/officeart/2005/8/layout/lProcess2"/>
    <dgm:cxn modelId="{2EA40447-0F27-4144-8AEF-D7CF68D1DB90}" type="presParOf" srcId="{D0E4E55B-366C-EF4E-BDC4-19D561B75B79}" destId="{82813AC1-348F-D346-B2CD-41EE9A7983EA}" srcOrd="0" destOrd="0" presId="urn:microsoft.com/office/officeart/2005/8/layout/lProcess2"/>
    <dgm:cxn modelId="{5010DDC6-3EBB-4C25-AEDA-07137F0C34A5}" type="presParOf" srcId="{82813AC1-348F-D346-B2CD-41EE9A7983EA}" destId="{65F64760-4962-264D-8200-BFB3CE057398}" srcOrd="0" destOrd="0" presId="urn:microsoft.com/office/officeart/2005/8/layout/lProcess2"/>
    <dgm:cxn modelId="{10D4C591-A082-46F6-B40E-CEF07D4B450A}" type="presParOf" srcId="{24E0BDBE-4582-544C-8963-250205123224}" destId="{80382FFE-DE13-9D45-A8EF-2DC8B220D416}" srcOrd="5" destOrd="0" presId="urn:microsoft.com/office/officeart/2005/8/layout/lProcess2"/>
    <dgm:cxn modelId="{7B60C593-1A23-4625-B117-5B8D38F4156B}" type="presParOf" srcId="{24E0BDBE-4582-544C-8963-250205123224}" destId="{53F176EB-9FC0-644C-978E-BB98D8DE2B28}" srcOrd="6" destOrd="0" presId="urn:microsoft.com/office/officeart/2005/8/layout/lProcess2"/>
    <dgm:cxn modelId="{A92BF43B-CCC8-4C6F-91A3-C2C32CB4EA2A}" type="presParOf" srcId="{53F176EB-9FC0-644C-978E-BB98D8DE2B28}" destId="{1780A409-40A8-FC4D-B6F6-DDE3780A5EE1}" srcOrd="0" destOrd="0" presId="urn:microsoft.com/office/officeart/2005/8/layout/lProcess2"/>
    <dgm:cxn modelId="{FBD259C7-EC7B-4101-BB54-1BDC768B5A9F}" type="presParOf" srcId="{53F176EB-9FC0-644C-978E-BB98D8DE2B28}" destId="{1E7935A4-D16C-3B44-ABBB-DB845569236E}" srcOrd="1" destOrd="0" presId="urn:microsoft.com/office/officeart/2005/8/layout/lProcess2"/>
    <dgm:cxn modelId="{25FA1DF8-D26F-4755-91EF-8A13DDE60A62}" type="presParOf" srcId="{53F176EB-9FC0-644C-978E-BB98D8DE2B28}" destId="{CA2EAD4C-60F0-0442-AAA8-ECABC7235F59}" srcOrd="2" destOrd="0" presId="urn:microsoft.com/office/officeart/2005/8/layout/lProcess2"/>
    <dgm:cxn modelId="{92F372CE-C01B-4E26-BD11-6D25C5B32E26}" type="presParOf" srcId="{CA2EAD4C-60F0-0442-AAA8-ECABC7235F59}" destId="{241AF3B7-AC00-A646-8196-ECCC67AE3C1C}" srcOrd="0" destOrd="0" presId="urn:microsoft.com/office/officeart/2005/8/layout/lProcess2"/>
    <dgm:cxn modelId="{0EC7B9ED-EFB1-4985-AECE-E5208F0522EF}" type="presParOf" srcId="{241AF3B7-AC00-A646-8196-ECCC67AE3C1C}" destId="{A594F0DC-0987-834E-B36D-EF0A1E13AA4F}" srcOrd="0" destOrd="0" presId="urn:microsoft.com/office/officeart/2005/8/layout/lProcess2"/>
    <dgm:cxn modelId="{69C507C4-3791-4477-BE24-6C654B0A85DB}" type="presParOf" srcId="{24E0BDBE-4582-544C-8963-250205123224}" destId="{1F450AB7-09EF-6E4A-B388-5B35086A794A}" srcOrd="7" destOrd="0" presId="urn:microsoft.com/office/officeart/2005/8/layout/lProcess2"/>
    <dgm:cxn modelId="{9A40A8BE-942E-497B-9093-A2FDA6E34566}" type="presParOf" srcId="{24E0BDBE-4582-544C-8963-250205123224}" destId="{7E146254-C99B-854D-A998-C20D23840C5F}" srcOrd="8" destOrd="0" presId="urn:microsoft.com/office/officeart/2005/8/layout/lProcess2"/>
    <dgm:cxn modelId="{6DA2E4C6-6E46-42C6-9D6F-7BCFCB3B4FB6}" type="presParOf" srcId="{7E146254-C99B-854D-A998-C20D23840C5F}" destId="{02D0EA8E-2F99-4F48-BE72-93FBD45D331E}" srcOrd="0" destOrd="0" presId="urn:microsoft.com/office/officeart/2005/8/layout/lProcess2"/>
    <dgm:cxn modelId="{D1130200-04DF-4BF5-8DAC-FB33E55AA2B5}" type="presParOf" srcId="{7E146254-C99B-854D-A998-C20D23840C5F}" destId="{373310CF-1FF9-A84E-98E3-2198E819FB29}" srcOrd="1" destOrd="0" presId="urn:microsoft.com/office/officeart/2005/8/layout/lProcess2"/>
    <dgm:cxn modelId="{F5FA621E-69FC-4BE4-A10E-DB7EC4C076D9}" type="presParOf" srcId="{7E146254-C99B-854D-A998-C20D23840C5F}" destId="{2DA7B33F-F132-8D4B-84B7-D9380270CD3D}" srcOrd="2" destOrd="0" presId="urn:microsoft.com/office/officeart/2005/8/layout/lProcess2"/>
    <dgm:cxn modelId="{20785C2C-70A7-4587-AB6F-A72DCEEE4614}" type="presParOf" srcId="{2DA7B33F-F132-8D4B-84B7-D9380270CD3D}" destId="{596D463F-A139-0D4D-B337-03369CD01F08}" srcOrd="0" destOrd="0" presId="urn:microsoft.com/office/officeart/2005/8/layout/lProcess2"/>
    <dgm:cxn modelId="{93982E4E-1745-4E20-A345-98878C382B4B}" type="presParOf" srcId="{596D463F-A139-0D4D-B337-03369CD01F08}" destId="{7B64A146-C0A8-8940-9124-D931298D8CF9}" srcOrd="0" destOrd="0" presId="urn:microsoft.com/office/officeart/2005/8/layout/lProcess2"/>
    <dgm:cxn modelId="{1A7F2F1F-1590-4F56-97B3-B76B42C55354}" type="presParOf" srcId="{24E0BDBE-4582-544C-8963-250205123224}" destId="{C2326672-C06D-F24A-A648-046AC6141E11}" srcOrd="9" destOrd="0" presId="urn:microsoft.com/office/officeart/2005/8/layout/lProcess2"/>
    <dgm:cxn modelId="{3A87AF3C-2AC7-44A3-811E-B20C4714E34A}" type="presParOf" srcId="{24E0BDBE-4582-544C-8963-250205123224}" destId="{43C8EEDF-7C17-3C4D-BE6C-1CE9694ED576}" srcOrd="10" destOrd="0" presId="urn:microsoft.com/office/officeart/2005/8/layout/lProcess2"/>
    <dgm:cxn modelId="{BF8982B7-6DF8-47D0-A0F7-4B72185B3862}" type="presParOf" srcId="{43C8EEDF-7C17-3C4D-BE6C-1CE9694ED576}" destId="{E0C1B328-6EE2-9646-B970-3DC2BBC44A27}" srcOrd="0" destOrd="0" presId="urn:microsoft.com/office/officeart/2005/8/layout/lProcess2"/>
    <dgm:cxn modelId="{CD0538A3-6716-4230-B25F-99B898572C5A}" type="presParOf" srcId="{43C8EEDF-7C17-3C4D-BE6C-1CE9694ED576}" destId="{9E8921A8-2576-984F-ACDF-8FA1DD30ECB0}" srcOrd="1" destOrd="0" presId="urn:microsoft.com/office/officeart/2005/8/layout/lProcess2"/>
    <dgm:cxn modelId="{BDA725B2-67FA-43B3-A313-20C0019D84FF}" type="presParOf" srcId="{43C8EEDF-7C17-3C4D-BE6C-1CE9694ED576}" destId="{7A852929-3C72-1541-9CDA-80AED5E6E5B4}" srcOrd="2" destOrd="0" presId="urn:microsoft.com/office/officeart/2005/8/layout/lProcess2"/>
    <dgm:cxn modelId="{02F393AD-8A2F-4D08-AF0E-072BAA4894CD}" type="presParOf" srcId="{7A852929-3C72-1541-9CDA-80AED5E6E5B4}" destId="{DE9041AA-A3A3-1643-B358-A2E296AFCEAA}" srcOrd="0" destOrd="0" presId="urn:microsoft.com/office/officeart/2005/8/layout/lProcess2"/>
    <dgm:cxn modelId="{F87DCF5A-D709-49BA-8671-730223826CA6}" type="presParOf" srcId="{DE9041AA-A3A3-1643-B358-A2E296AFCEAA}" destId="{3365488A-89BC-3D4A-B118-9EF5A0947EA3}"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605EE4-B4CA-0041-A470-E4A65C346906}" type="doc">
      <dgm:prSet loTypeId="urn:microsoft.com/office/officeart/2005/8/layout/radial1" loCatId="relationship" qsTypeId="urn:microsoft.com/office/officeart/2005/8/quickstyle/simple4" qsCatId="simple" csTypeId="urn:microsoft.com/office/officeart/2005/8/colors/accent1_2" csCatId="accent1" phldr="1"/>
      <dgm:spPr/>
      <dgm:t>
        <a:bodyPr/>
        <a:lstStyle/>
        <a:p>
          <a:endParaRPr lang="en-US"/>
        </a:p>
      </dgm:t>
    </dgm:pt>
    <dgm:pt modelId="{8C6B0834-F6CE-3F42-905D-6B7D5CC44A46}">
      <dgm:prSet custT="1"/>
      <dgm:spPr>
        <a:solidFill>
          <a:schemeClr val="bg1"/>
        </a:solidFill>
        <a:ln>
          <a:solidFill>
            <a:schemeClr val="accent1"/>
          </a:solidFill>
        </a:ln>
      </dgm:spPr>
      <dgm:t>
        <a:bodyPr/>
        <a:lstStyle/>
        <a:p>
          <a:pPr rtl="0"/>
          <a:r>
            <a:rPr lang="en-US" sz="1800" b="1" i="0" dirty="0" smtClean="0">
              <a:solidFill>
                <a:schemeClr val="tx1"/>
              </a:solidFill>
            </a:rPr>
            <a:t>Five possible approaches to attacking RSA are:</a:t>
          </a:r>
          <a:endParaRPr lang="en-US" sz="1800" b="1" i="0" dirty="0">
            <a:solidFill>
              <a:schemeClr val="tx1"/>
            </a:solidFill>
          </a:endParaRPr>
        </a:p>
      </dgm:t>
    </dgm:pt>
    <dgm:pt modelId="{069FD7BD-4F56-0744-8501-3DCB762EC054}" type="parTrans" cxnId="{2ADC074E-DCC4-E549-83ED-BC8A909A117D}">
      <dgm:prSet/>
      <dgm:spPr/>
      <dgm:t>
        <a:bodyPr/>
        <a:lstStyle/>
        <a:p>
          <a:endParaRPr lang="en-US"/>
        </a:p>
      </dgm:t>
    </dgm:pt>
    <dgm:pt modelId="{72464D9A-5A29-234D-82D3-FB8F6A7C0990}" type="sibTrans" cxnId="{2ADC074E-DCC4-E549-83ED-BC8A909A117D}">
      <dgm:prSet/>
      <dgm:spPr/>
      <dgm:t>
        <a:bodyPr/>
        <a:lstStyle/>
        <a:p>
          <a:endParaRPr lang="en-US"/>
        </a:p>
      </dgm:t>
    </dgm:pt>
    <dgm:pt modelId="{EEAFA194-4042-5249-A7FA-1DC665ECA86B}">
      <dgm:prSet custT="1"/>
      <dgm:spPr>
        <a:effectLst>
          <a:glow rad="101600">
            <a:schemeClr val="bg1">
              <a:alpha val="75000"/>
            </a:schemeClr>
          </a:glow>
          <a:softEdge rad="127000"/>
        </a:effectLst>
      </dgm:spPr>
      <dgm:t>
        <a:bodyPr/>
        <a:lstStyle/>
        <a:p>
          <a:pPr rtl="0"/>
          <a:r>
            <a:rPr lang="en-US" sz="1600" b="1" i="0" dirty="0" smtClean="0">
              <a:solidFill>
                <a:srgbClr val="2F1F58"/>
              </a:solidFill>
            </a:rPr>
            <a:t>    Brute force</a:t>
          </a:r>
          <a:endParaRPr lang="en-US" sz="1600" b="1" i="0" dirty="0">
            <a:solidFill>
              <a:srgbClr val="2F1F58"/>
            </a:solidFill>
          </a:endParaRPr>
        </a:p>
      </dgm:t>
    </dgm:pt>
    <dgm:pt modelId="{861B47C8-659D-424D-A1AF-27AEE52C0F44}" type="parTrans" cxnId="{63BB370D-4F98-074F-899F-D8EB04787F1E}">
      <dgm:prSet/>
      <dgm:spPr/>
      <dgm:t>
        <a:bodyPr/>
        <a:lstStyle/>
        <a:p>
          <a:endParaRPr lang="en-US"/>
        </a:p>
      </dgm:t>
    </dgm:pt>
    <dgm:pt modelId="{4DD63C4F-2061-C349-B573-1F6269AA217C}" type="sibTrans" cxnId="{63BB370D-4F98-074F-899F-D8EB04787F1E}">
      <dgm:prSet/>
      <dgm:spPr/>
      <dgm:t>
        <a:bodyPr/>
        <a:lstStyle/>
        <a:p>
          <a:endParaRPr lang="en-US"/>
        </a:p>
      </dgm:t>
    </dgm:pt>
    <dgm:pt modelId="{828376F7-FEA1-FB4C-A6F2-DAB9D5410FF9}">
      <dgm:prSet custT="1"/>
      <dgm:spPr>
        <a:effectLst>
          <a:glow rad="101600">
            <a:schemeClr val="bg1">
              <a:alpha val="75000"/>
            </a:schemeClr>
          </a:glow>
          <a:softEdge rad="127000"/>
        </a:effectLst>
      </dgm:spPr>
      <dgm:t>
        <a:bodyPr/>
        <a:lstStyle/>
        <a:p>
          <a:pPr rtl="0"/>
          <a:r>
            <a:rPr lang="en-US" sz="1600" b="1" i="0" dirty="0" smtClean="0">
              <a:solidFill>
                <a:srgbClr val="2F1F58"/>
              </a:solidFill>
            </a:rPr>
            <a:t>This type of attack exploits properties of the RSA algorithm</a:t>
          </a:r>
          <a:endParaRPr lang="en-AU" sz="1600" b="1" i="0" dirty="0">
            <a:solidFill>
              <a:srgbClr val="2F1F58"/>
            </a:solidFill>
          </a:endParaRPr>
        </a:p>
      </dgm:t>
    </dgm:pt>
    <dgm:pt modelId="{C7D3FF24-141F-3F4D-95B7-0BF199EC9764}">
      <dgm:prSet custT="1"/>
      <dgm:spPr>
        <a:effectLst>
          <a:glow rad="101600">
            <a:schemeClr val="bg1">
              <a:alpha val="75000"/>
            </a:schemeClr>
          </a:glow>
          <a:softEdge rad="127000"/>
        </a:effectLst>
      </dgm:spPr>
      <dgm:t>
        <a:bodyPr/>
        <a:lstStyle/>
        <a:p>
          <a:pPr rtl="0"/>
          <a:r>
            <a:rPr lang="en-US" sz="1600" b="1" i="0" dirty="0" smtClean="0">
              <a:solidFill>
                <a:srgbClr val="2F1F58"/>
              </a:solidFill>
            </a:rPr>
            <a:t> Chosen </a:t>
          </a:r>
          <a:r>
            <a:rPr lang="en-US" sz="1600" b="1" i="0" dirty="0" err="1" smtClean="0">
              <a:solidFill>
                <a:srgbClr val="2F1F58"/>
              </a:solidFill>
            </a:rPr>
            <a:t>ciphertext</a:t>
          </a:r>
          <a:r>
            <a:rPr lang="en-US" sz="1600" b="1" i="0" dirty="0" smtClean="0">
              <a:solidFill>
                <a:srgbClr val="2F1F58"/>
              </a:solidFill>
            </a:rPr>
            <a:t>     attacks</a:t>
          </a:r>
          <a:endParaRPr lang="en-US" sz="1600" b="1" i="0" dirty="0">
            <a:solidFill>
              <a:srgbClr val="2F1F58"/>
            </a:solidFill>
          </a:endParaRPr>
        </a:p>
      </dgm:t>
    </dgm:pt>
    <dgm:pt modelId="{A0F66038-2C0E-134A-B88A-91580F90ADB3}" type="sibTrans" cxnId="{DC3F1ECA-4B4B-DC45-B1AC-140575E14110}">
      <dgm:prSet/>
      <dgm:spPr/>
      <dgm:t>
        <a:bodyPr/>
        <a:lstStyle/>
        <a:p>
          <a:endParaRPr lang="en-US"/>
        </a:p>
      </dgm:t>
    </dgm:pt>
    <dgm:pt modelId="{29F54FE8-20E8-354F-BB68-53D0FF2791F0}" type="parTrans" cxnId="{DC3F1ECA-4B4B-DC45-B1AC-140575E14110}">
      <dgm:prSet/>
      <dgm:spPr/>
      <dgm:t>
        <a:bodyPr/>
        <a:lstStyle/>
        <a:p>
          <a:endParaRPr lang="en-US"/>
        </a:p>
      </dgm:t>
    </dgm:pt>
    <dgm:pt modelId="{780FD8A8-EAB9-F14F-85B8-F8914B05A3B3}" type="sibTrans" cxnId="{3BDAD225-F77B-C44E-9305-B845DFB5A660}">
      <dgm:prSet/>
      <dgm:spPr/>
      <dgm:t>
        <a:bodyPr/>
        <a:lstStyle/>
        <a:p>
          <a:endParaRPr lang="en-US"/>
        </a:p>
      </dgm:t>
    </dgm:pt>
    <dgm:pt modelId="{49E181A3-1F5E-D44E-939D-DF59308F3D22}" type="parTrans" cxnId="{3BDAD225-F77B-C44E-9305-B845DFB5A660}">
      <dgm:prSet/>
      <dgm:spPr/>
      <dgm:t>
        <a:bodyPr/>
        <a:lstStyle/>
        <a:p>
          <a:endParaRPr lang="en-US"/>
        </a:p>
      </dgm:t>
    </dgm:pt>
    <dgm:pt modelId="{23B954FD-FE52-864A-9A82-76EDA30A0A33}">
      <dgm:prSet custT="1"/>
      <dgm:spPr>
        <a:effectLst>
          <a:glow rad="101600">
            <a:schemeClr val="bg1">
              <a:alpha val="75000"/>
            </a:schemeClr>
          </a:glow>
          <a:softEdge rad="63500"/>
        </a:effectLst>
      </dgm:spPr>
      <dgm:t>
        <a:bodyPr/>
        <a:lstStyle/>
        <a:p>
          <a:pPr rtl="0"/>
          <a:r>
            <a:rPr lang="en-US" sz="1600" b="1" i="0" dirty="0" smtClean="0">
              <a:solidFill>
                <a:srgbClr val="2F1F58"/>
              </a:solidFill>
            </a:rPr>
            <a:t>This involves inducing hardware faults in the processor that is generating digital signatures</a:t>
          </a:r>
          <a:endParaRPr lang="en-US" sz="1600" b="1" i="0" dirty="0">
            <a:solidFill>
              <a:srgbClr val="2F1F58"/>
            </a:solidFill>
          </a:endParaRPr>
        </a:p>
      </dgm:t>
    </dgm:pt>
    <dgm:pt modelId="{8F5FA494-80E9-DF42-BEDA-416B11E7452D}">
      <dgm:prSet custT="1"/>
      <dgm:spPr>
        <a:effectLst>
          <a:glow rad="101600">
            <a:schemeClr val="bg1">
              <a:alpha val="75000"/>
            </a:schemeClr>
          </a:glow>
          <a:softEdge rad="63500"/>
        </a:effectLst>
      </dgm:spPr>
      <dgm:t>
        <a:bodyPr/>
        <a:lstStyle/>
        <a:p>
          <a:pPr rtl="0"/>
          <a:r>
            <a:rPr lang="en-US" sz="1600" b="1" i="0" dirty="0" smtClean="0">
              <a:solidFill>
                <a:srgbClr val="2F1F58"/>
              </a:solidFill>
            </a:rPr>
            <a:t> Hardware fault-based attack</a:t>
          </a:r>
          <a:endParaRPr lang="en-US" sz="1600" b="1" i="0" dirty="0">
            <a:solidFill>
              <a:srgbClr val="2F1F58"/>
            </a:solidFill>
          </a:endParaRPr>
        </a:p>
      </dgm:t>
    </dgm:pt>
    <dgm:pt modelId="{6FEB6580-924C-0D44-8FD5-F02F2FE90771}" type="sibTrans" cxnId="{CE31B831-4FDF-8947-8832-7EAEDBB9F420}">
      <dgm:prSet/>
      <dgm:spPr/>
      <dgm:t>
        <a:bodyPr/>
        <a:lstStyle/>
        <a:p>
          <a:endParaRPr lang="en-US"/>
        </a:p>
      </dgm:t>
    </dgm:pt>
    <dgm:pt modelId="{D12D9EC6-0BE5-E043-A4A0-0BBD457BAF23}" type="parTrans" cxnId="{CE31B831-4FDF-8947-8832-7EAEDBB9F420}">
      <dgm:prSet/>
      <dgm:spPr/>
      <dgm:t>
        <a:bodyPr/>
        <a:lstStyle/>
        <a:p>
          <a:endParaRPr lang="en-US"/>
        </a:p>
      </dgm:t>
    </dgm:pt>
    <dgm:pt modelId="{3823A65E-53C3-3D45-BBD5-B9165468177E}" type="sibTrans" cxnId="{1254201C-F557-A043-B73A-8918856E0F9C}">
      <dgm:prSet/>
      <dgm:spPr/>
      <dgm:t>
        <a:bodyPr/>
        <a:lstStyle/>
        <a:p>
          <a:endParaRPr lang="en-US"/>
        </a:p>
      </dgm:t>
    </dgm:pt>
    <dgm:pt modelId="{1BE030B5-3B56-2842-A574-8C588ED6897B}" type="parTrans" cxnId="{1254201C-F557-A043-B73A-8918856E0F9C}">
      <dgm:prSet/>
      <dgm:spPr/>
      <dgm:t>
        <a:bodyPr/>
        <a:lstStyle/>
        <a:p>
          <a:endParaRPr lang="en-US"/>
        </a:p>
      </dgm:t>
    </dgm:pt>
    <dgm:pt modelId="{BB2B46D9-A21B-A24F-B2E4-2784275C0F87}">
      <dgm:prSet custT="1"/>
      <dgm:spPr>
        <a:effectLst>
          <a:glow rad="101600">
            <a:schemeClr val="bg1">
              <a:alpha val="75000"/>
            </a:schemeClr>
          </a:glow>
          <a:softEdge rad="127000"/>
        </a:effectLst>
      </dgm:spPr>
      <dgm:t>
        <a:bodyPr/>
        <a:lstStyle/>
        <a:p>
          <a:pPr rtl="0"/>
          <a:r>
            <a:rPr lang="en-US" sz="1600" b="1" i="0" dirty="0" smtClean="0">
              <a:solidFill>
                <a:srgbClr val="2F1F58"/>
              </a:solidFill>
            </a:rPr>
            <a:t>These depend on the running time of the decryption algorithm</a:t>
          </a:r>
          <a:endParaRPr lang="en-US" sz="1600" b="1" i="0" dirty="0">
            <a:solidFill>
              <a:srgbClr val="2F1F58"/>
            </a:solidFill>
          </a:endParaRPr>
        </a:p>
      </dgm:t>
    </dgm:pt>
    <dgm:pt modelId="{3170A360-F8D0-BC42-9DFE-194BEAA4F315}">
      <dgm:prSet custT="1"/>
      <dgm:spPr>
        <a:effectLst>
          <a:glow rad="101600">
            <a:schemeClr val="bg1">
              <a:alpha val="75000"/>
            </a:schemeClr>
          </a:glow>
          <a:softEdge rad="127000"/>
        </a:effectLst>
      </dgm:spPr>
      <dgm:t>
        <a:bodyPr/>
        <a:lstStyle/>
        <a:p>
          <a:pPr rtl="0"/>
          <a:r>
            <a:rPr lang="en-US" sz="1600" b="1" i="0" dirty="0" smtClean="0">
              <a:solidFill>
                <a:srgbClr val="2F1F58"/>
              </a:solidFill>
            </a:rPr>
            <a:t>Timing attacks</a:t>
          </a:r>
          <a:endParaRPr lang="en-US" sz="1600" b="1" i="0" dirty="0">
            <a:solidFill>
              <a:srgbClr val="2F1F58"/>
            </a:solidFill>
          </a:endParaRPr>
        </a:p>
      </dgm:t>
    </dgm:pt>
    <dgm:pt modelId="{270B8A16-7407-1246-A271-C767971FE306}" type="sibTrans" cxnId="{076E22A9-8DF7-144A-9FBE-F32E9BA76F12}">
      <dgm:prSet/>
      <dgm:spPr/>
      <dgm:t>
        <a:bodyPr/>
        <a:lstStyle/>
        <a:p>
          <a:endParaRPr lang="en-US"/>
        </a:p>
      </dgm:t>
    </dgm:pt>
    <dgm:pt modelId="{F6EAB8AD-B96D-4641-AA42-30F481604F3B}" type="parTrans" cxnId="{076E22A9-8DF7-144A-9FBE-F32E9BA76F12}">
      <dgm:prSet/>
      <dgm:spPr/>
      <dgm:t>
        <a:bodyPr/>
        <a:lstStyle/>
        <a:p>
          <a:endParaRPr lang="en-US"/>
        </a:p>
      </dgm:t>
    </dgm:pt>
    <dgm:pt modelId="{7CA3B4EA-84B3-FA42-BEC1-1DED7147AF39}" type="sibTrans" cxnId="{BDBB5445-4EBD-7E49-AADC-91F944453508}">
      <dgm:prSet/>
      <dgm:spPr/>
      <dgm:t>
        <a:bodyPr/>
        <a:lstStyle/>
        <a:p>
          <a:endParaRPr lang="en-US"/>
        </a:p>
      </dgm:t>
    </dgm:pt>
    <dgm:pt modelId="{01F84AC0-893E-8B4B-A91F-0E9BBBBB159B}" type="parTrans" cxnId="{BDBB5445-4EBD-7E49-AADC-91F944453508}">
      <dgm:prSet/>
      <dgm:spPr/>
      <dgm:t>
        <a:bodyPr/>
        <a:lstStyle/>
        <a:p>
          <a:endParaRPr lang="en-US"/>
        </a:p>
      </dgm:t>
    </dgm:pt>
    <dgm:pt modelId="{5DD2512A-9002-9C4D-ABC4-73BBC6EE9567}">
      <dgm:prSet custT="1"/>
      <dgm:spPr>
        <a:effectLst>
          <a:glow rad="101600">
            <a:schemeClr val="bg1">
              <a:alpha val="75000"/>
            </a:schemeClr>
          </a:glow>
          <a:softEdge rad="127000"/>
        </a:effectLst>
      </dgm:spPr>
      <dgm:t>
        <a:bodyPr/>
        <a:lstStyle/>
        <a:p>
          <a:pPr rtl="0"/>
          <a:r>
            <a:rPr lang="en-US" sz="1600" b="1" i="0" dirty="0" smtClean="0">
              <a:solidFill>
                <a:srgbClr val="2F1F58"/>
              </a:solidFill>
            </a:rPr>
            <a:t>There are several approaches, all equivalent in effort to factoring the product of two primes</a:t>
          </a:r>
          <a:endParaRPr lang="en-US" sz="1600" b="1" i="0" dirty="0">
            <a:solidFill>
              <a:srgbClr val="2F1F58"/>
            </a:solidFill>
          </a:endParaRPr>
        </a:p>
      </dgm:t>
    </dgm:pt>
    <dgm:pt modelId="{DF26E906-FE6B-E94E-80F6-AB0B7C2719E2}">
      <dgm:prSet custT="1"/>
      <dgm:spPr>
        <a:effectLst>
          <a:glow rad="101600">
            <a:schemeClr val="bg1">
              <a:alpha val="75000"/>
            </a:schemeClr>
          </a:glow>
          <a:softEdge rad="127000"/>
        </a:effectLst>
      </dgm:spPr>
      <dgm:t>
        <a:bodyPr/>
        <a:lstStyle/>
        <a:p>
          <a:pPr rtl="0"/>
          <a:r>
            <a:rPr lang="en-US" sz="1600" b="1" i="0" dirty="0" smtClean="0">
              <a:solidFill>
                <a:srgbClr val="2F1F58"/>
              </a:solidFill>
            </a:rPr>
            <a:t>   Mathematical attacks </a:t>
          </a:r>
          <a:endParaRPr lang="en-US" sz="1600" b="1" i="0" dirty="0">
            <a:solidFill>
              <a:srgbClr val="2F1F58"/>
            </a:solidFill>
          </a:endParaRPr>
        </a:p>
      </dgm:t>
    </dgm:pt>
    <dgm:pt modelId="{8F061190-1701-DD43-A0BA-23BCABFF54EB}" type="sibTrans" cxnId="{15D63F02-FCA8-9147-9EFD-AD1AA9FE83B2}">
      <dgm:prSet/>
      <dgm:spPr/>
      <dgm:t>
        <a:bodyPr/>
        <a:lstStyle/>
        <a:p>
          <a:endParaRPr lang="en-US"/>
        </a:p>
      </dgm:t>
    </dgm:pt>
    <dgm:pt modelId="{A295B9A2-4AC7-0041-8677-CB8FB8BD44C0}" type="parTrans" cxnId="{15D63F02-FCA8-9147-9EFD-AD1AA9FE83B2}">
      <dgm:prSet/>
      <dgm:spPr/>
      <dgm:t>
        <a:bodyPr/>
        <a:lstStyle/>
        <a:p>
          <a:endParaRPr lang="en-US"/>
        </a:p>
      </dgm:t>
    </dgm:pt>
    <dgm:pt modelId="{13C3CB36-39CA-FE4C-8BA4-C784A8B68058}" type="sibTrans" cxnId="{8B703979-B572-0E4B-9F27-CCF5E209C19B}">
      <dgm:prSet/>
      <dgm:spPr/>
      <dgm:t>
        <a:bodyPr/>
        <a:lstStyle/>
        <a:p>
          <a:endParaRPr lang="en-US"/>
        </a:p>
      </dgm:t>
    </dgm:pt>
    <dgm:pt modelId="{929D72A4-0E81-7341-8DCA-6F67988E4956}" type="parTrans" cxnId="{8B703979-B572-0E4B-9F27-CCF5E209C19B}">
      <dgm:prSet/>
      <dgm:spPr/>
      <dgm:t>
        <a:bodyPr/>
        <a:lstStyle/>
        <a:p>
          <a:endParaRPr lang="en-US"/>
        </a:p>
      </dgm:t>
    </dgm:pt>
    <dgm:pt modelId="{0F3E6639-AFE1-164D-B3DC-DDCACF731D96}">
      <dgm:prSet custT="1"/>
      <dgm:spPr>
        <a:effectLst>
          <a:glow rad="101600">
            <a:schemeClr val="bg1">
              <a:alpha val="75000"/>
            </a:schemeClr>
          </a:glow>
          <a:softEdge rad="127000"/>
        </a:effectLst>
      </dgm:spPr>
      <dgm:t>
        <a:bodyPr/>
        <a:lstStyle/>
        <a:p>
          <a:pPr rtl="0"/>
          <a:r>
            <a:rPr lang="en-US" sz="1600" b="1" i="0" dirty="0" smtClean="0">
              <a:solidFill>
                <a:srgbClr val="2F1F58"/>
              </a:solidFill>
            </a:rPr>
            <a:t>Involves trying all possible private keys</a:t>
          </a:r>
          <a:endParaRPr lang="en-AU" sz="1600" b="1" i="0" dirty="0">
            <a:solidFill>
              <a:srgbClr val="2F1F58"/>
            </a:solidFill>
          </a:endParaRPr>
        </a:p>
      </dgm:t>
    </dgm:pt>
    <dgm:pt modelId="{6A4B80CD-68DA-8043-84B5-2832972D9FA5}" type="sibTrans" cxnId="{A92B00AE-1E7A-4448-B974-9273FBBC79A1}">
      <dgm:prSet/>
      <dgm:spPr/>
      <dgm:t>
        <a:bodyPr/>
        <a:lstStyle/>
        <a:p>
          <a:endParaRPr lang="en-US"/>
        </a:p>
      </dgm:t>
    </dgm:pt>
    <dgm:pt modelId="{31A16EEC-3787-284E-95FB-EB5D37A9C596}" type="parTrans" cxnId="{A92B00AE-1E7A-4448-B974-9273FBBC79A1}">
      <dgm:prSet/>
      <dgm:spPr/>
      <dgm:t>
        <a:bodyPr/>
        <a:lstStyle/>
        <a:p>
          <a:endParaRPr lang="en-US"/>
        </a:p>
      </dgm:t>
    </dgm:pt>
    <dgm:pt modelId="{E6709BD7-6469-A74B-BAE7-55F21C624B3A}" type="pres">
      <dgm:prSet presAssocID="{22605EE4-B4CA-0041-A470-E4A65C346906}" presName="cycle" presStyleCnt="0">
        <dgm:presLayoutVars>
          <dgm:chMax val="1"/>
          <dgm:dir/>
          <dgm:animLvl val="ctr"/>
          <dgm:resizeHandles val="exact"/>
        </dgm:presLayoutVars>
      </dgm:prSet>
      <dgm:spPr/>
      <dgm:t>
        <a:bodyPr/>
        <a:lstStyle/>
        <a:p>
          <a:endParaRPr lang="en-US"/>
        </a:p>
      </dgm:t>
    </dgm:pt>
    <dgm:pt modelId="{32D9C8C0-9CDA-1647-B0C7-6CBB40C6D8A2}" type="pres">
      <dgm:prSet presAssocID="{8C6B0834-F6CE-3F42-905D-6B7D5CC44A46}" presName="centerShape" presStyleLbl="node0" presStyleIdx="0" presStyleCnt="1" custScaleX="108830" custScaleY="118773" custLinFactNeighborX="319" custLinFactNeighborY="7543"/>
      <dgm:spPr/>
      <dgm:t>
        <a:bodyPr/>
        <a:lstStyle/>
        <a:p>
          <a:endParaRPr lang="en-US"/>
        </a:p>
      </dgm:t>
    </dgm:pt>
    <dgm:pt modelId="{6BB79F80-DF22-0646-815E-3D896A95FBB0}" type="pres">
      <dgm:prSet presAssocID="{861B47C8-659D-424D-A1AF-27AEE52C0F44}" presName="Name9" presStyleLbl="parChTrans1D2" presStyleIdx="0" presStyleCnt="5"/>
      <dgm:spPr/>
      <dgm:t>
        <a:bodyPr/>
        <a:lstStyle/>
        <a:p>
          <a:endParaRPr lang="en-US"/>
        </a:p>
      </dgm:t>
    </dgm:pt>
    <dgm:pt modelId="{B4BE6649-D0D7-8A4B-B5C8-8BE23DAF1DDC}" type="pres">
      <dgm:prSet presAssocID="{861B47C8-659D-424D-A1AF-27AEE52C0F44}" presName="connTx" presStyleLbl="parChTrans1D2" presStyleIdx="0" presStyleCnt="5"/>
      <dgm:spPr/>
      <dgm:t>
        <a:bodyPr/>
        <a:lstStyle/>
        <a:p>
          <a:endParaRPr lang="en-US"/>
        </a:p>
      </dgm:t>
    </dgm:pt>
    <dgm:pt modelId="{5ECF65A2-A9EC-B940-B497-AA098945971A}" type="pres">
      <dgm:prSet presAssocID="{EEAFA194-4042-5249-A7FA-1DC665ECA86B}" presName="node" presStyleLbl="node1" presStyleIdx="0" presStyleCnt="5" custScaleX="132773" custScaleY="116284" custRadScaleRad="85572" custRadScaleInc="3287">
        <dgm:presLayoutVars>
          <dgm:bulletEnabled val="1"/>
        </dgm:presLayoutVars>
      </dgm:prSet>
      <dgm:spPr/>
      <dgm:t>
        <a:bodyPr/>
        <a:lstStyle/>
        <a:p>
          <a:endParaRPr lang="en-US"/>
        </a:p>
      </dgm:t>
    </dgm:pt>
    <dgm:pt modelId="{3FD3A4A6-C5C2-1C4A-A6CE-6300D7BBADD2}" type="pres">
      <dgm:prSet presAssocID="{A295B9A2-4AC7-0041-8677-CB8FB8BD44C0}" presName="Name9" presStyleLbl="parChTrans1D2" presStyleIdx="1" presStyleCnt="5"/>
      <dgm:spPr/>
      <dgm:t>
        <a:bodyPr/>
        <a:lstStyle/>
        <a:p>
          <a:endParaRPr lang="en-US"/>
        </a:p>
      </dgm:t>
    </dgm:pt>
    <dgm:pt modelId="{8A821DCC-4110-994A-9EB1-98DEEDB63455}" type="pres">
      <dgm:prSet presAssocID="{A295B9A2-4AC7-0041-8677-CB8FB8BD44C0}" presName="connTx" presStyleLbl="parChTrans1D2" presStyleIdx="1" presStyleCnt="5"/>
      <dgm:spPr/>
      <dgm:t>
        <a:bodyPr/>
        <a:lstStyle/>
        <a:p>
          <a:endParaRPr lang="en-US"/>
        </a:p>
      </dgm:t>
    </dgm:pt>
    <dgm:pt modelId="{02C2359B-6912-8F4D-8857-2A5555F873C2}" type="pres">
      <dgm:prSet presAssocID="{DF26E906-FE6B-E94E-80F6-AB0B7C2719E2}" presName="node" presStyleLbl="node1" presStyleIdx="1" presStyleCnt="5" custScaleX="202391" custScaleY="138413" custRadScaleRad="150790" custRadScaleInc="-12804">
        <dgm:presLayoutVars>
          <dgm:bulletEnabled val="1"/>
        </dgm:presLayoutVars>
      </dgm:prSet>
      <dgm:spPr/>
      <dgm:t>
        <a:bodyPr/>
        <a:lstStyle/>
        <a:p>
          <a:endParaRPr lang="en-US"/>
        </a:p>
      </dgm:t>
    </dgm:pt>
    <dgm:pt modelId="{5B345D64-FF47-AC48-BFC7-DA71BABB422E}" type="pres">
      <dgm:prSet presAssocID="{F6EAB8AD-B96D-4641-AA42-30F481604F3B}" presName="Name9" presStyleLbl="parChTrans1D2" presStyleIdx="2" presStyleCnt="5"/>
      <dgm:spPr/>
      <dgm:t>
        <a:bodyPr/>
        <a:lstStyle/>
        <a:p>
          <a:endParaRPr lang="en-US"/>
        </a:p>
      </dgm:t>
    </dgm:pt>
    <dgm:pt modelId="{F88CBF2B-8819-A240-AD95-3095A231DF76}" type="pres">
      <dgm:prSet presAssocID="{F6EAB8AD-B96D-4641-AA42-30F481604F3B}" presName="connTx" presStyleLbl="parChTrans1D2" presStyleIdx="2" presStyleCnt="5"/>
      <dgm:spPr/>
      <dgm:t>
        <a:bodyPr/>
        <a:lstStyle/>
        <a:p>
          <a:endParaRPr lang="en-US"/>
        </a:p>
      </dgm:t>
    </dgm:pt>
    <dgm:pt modelId="{CDADC5E6-FF26-6E4C-9749-F104E4D07792}" type="pres">
      <dgm:prSet presAssocID="{3170A360-F8D0-BC42-9DFE-194BEAA4F315}" presName="node" presStyleLbl="node1" presStyleIdx="2" presStyleCnt="5" custScaleX="188383" custScaleY="139778" custRadScaleRad="146963" custRadScaleInc="-72790">
        <dgm:presLayoutVars>
          <dgm:bulletEnabled val="1"/>
        </dgm:presLayoutVars>
      </dgm:prSet>
      <dgm:spPr/>
      <dgm:t>
        <a:bodyPr/>
        <a:lstStyle/>
        <a:p>
          <a:endParaRPr lang="en-US"/>
        </a:p>
      </dgm:t>
    </dgm:pt>
    <dgm:pt modelId="{E7015661-1956-144D-9BC2-79A2B9BEC4D3}" type="pres">
      <dgm:prSet presAssocID="{D12D9EC6-0BE5-E043-A4A0-0BBD457BAF23}" presName="Name9" presStyleLbl="parChTrans1D2" presStyleIdx="3" presStyleCnt="5"/>
      <dgm:spPr/>
      <dgm:t>
        <a:bodyPr/>
        <a:lstStyle/>
        <a:p>
          <a:endParaRPr lang="en-US"/>
        </a:p>
      </dgm:t>
    </dgm:pt>
    <dgm:pt modelId="{EC407BEE-E314-F94C-8681-519F6AD2E4BE}" type="pres">
      <dgm:prSet presAssocID="{D12D9EC6-0BE5-E043-A4A0-0BBD457BAF23}" presName="connTx" presStyleLbl="parChTrans1D2" presStyleIdx="3" presStyleCnt="5"/>
      <dgm:spPr/>
      <dgm:t>
        <a:bodyPr/>
        <a:lstStyle/>
        <a:p>
          <a:endParaRPr lang="en-US"/>
        </a:p>
      </dgm:t>
    </dgm:pt>
    <dgm:pt modelId="{6E586F6C-941C-DD41-B10E-DE5B337460AD}" type="pres">
      <dgm:prSet presAssocID="{8F5FA494-80E9-DF42-BEDA-416B11E7452D}" presName="node" presStyleLbl="node1" presStyleIdx="3" presStyleCnt="5" custScaleX="198966" custScaleY="144069" custRadScaleRad="140300" custRadScaleInc="71587">
        <dgm:presLayoutVars>
          <dgm:bulletEnabled val="1"/>
        </dgm:presLayoutVars>
      </dgm:prSet>
      <dgm:spPr/>
      <dgm:t>
        <a:bodyPr/>
        <a:lstStyle/>
        <a:p>
          <a:endParaRPr lang="en-US"/>
        </a:p>
      </dgm:t>
    </dgm:pt>
    <dgm:pt modelId="{26EC5283-A8E7-2844-B56C-8060EDE92406}" type="pres">
      <dgm:prSet presAssocID="{29F54FE8-20E8-354F-BB68-53D0FF2791F0}" presName="Name9" presStyleLbl="parChTrans1D2" presStyleIdx="4" presStyleCnt="5"/>
      <dgm:spPr/>
      <dgm:t>
        <a:bodyPr/>
        <a:lstStyle/>
        <a:p>
          <a:endParaRPr lang="en-US"/>
        </a:p>
      </dgm:t>
    </dgm:pt>
    <dgm:pt modelId="{3B76324C-7DF7-AA42-87B7-1D070282270F}" type="pres">
      <dgm:prSet presAssocID="{29F54FE8-20E8-354F-BB68-53D0FF2791F0}" presName="connTx" presStyleLbl="parChTrans1D2" presStyleIdx="4" presStyleCnt="5"/>
      <dgm:spPr/>
      <dgm:t>
        <a:bodyPr/>
        <a:lstStyle/>
        <a:p>
          <a:endParaRPr lang="en-US"/>
        </a:p>
      </dgm:t>
    </dgm:pt>
    <dgm:pt modelId="{FB2E1E33-9AB3-9E4A-BD84-C9A8E59E5969}" type="pres">
      <dgm:prSet presAssocID="{C7D3FF24-141F-3F4D-95B7-0BF199EC9764}" presName="node" presStyleLbl="node1" presStyleIdx="4" presStyleCnt="5" custScaleX="180291" custScaleY="152015" custRadScaleRad="140742" custRadScaleInc="15828">
        <dgm:presLayoutVars>
          <dgm:bulletEnabled val="1"/>
        </dgm:presLayoutVars>
      </dgm:prSet>
      <dgm:spPr/>
      <dgm:t>
        <a:bodyPr/>
        <a:lstStyle/>
        <a:p>
          <a:endParaRPr lang="en-US"/>
        </a:p>
      </dgm:t>
    </dgm:pt>
  </dgm:ptLst>
  <dgm:cxnLst>
    <dgm:cxn modelId="{01C4B32A-109F-4FFD-9AB9-96D94B8AA1BF}" type="presOf" srcId="{DF26E906-FE6B-E94E-80F6-AB0B7C2719E2}" destId="{02C2359B-6912-8F4D-8857-2A5555F873C2}" srcOrd="0" destOrd="0" presId="urn:microsoft.com/office/officeart/2005/8/layout/radial1"/>
    <dgm:cxn modelId="{25D30BDB-D61C-42B2-B39C-66B7CA59F9C1}" type="presOf" srcId="{8F5FA494-80E9-DF42-BEDA-416B11E7452D}" destId="{6E586F6C-941C-DD41-B10E-DE5B337460AD}" srcOrd="0" destOrd="0" presId="urn:microsoft.com/office/officeart/2005/8/layout/radial1"/>
    <dgm:cxn modelId="{1BB5C659-8F0F-4986-A5B9-A19A284E1E99}" type="presOf" srcId="{29F54FE8-20E8-354F-BB68-53D0FF2791F0}" destId="{3B76324C-7DF7-AA42-87B7-1D070282270F}" srcOrd="1" destOrd="0" presId="urn:microsoft.com/office/officeart/2005/8/layout/radial1"/>
    <dgm:cxn modelId="{BDBB5445-4EBD-7E49-AADC-91F944453508}" srcId="{3170A360-F8D0-BC42-9DFE-194BEAA4F315}" destId="{BB2B46D9-A21B-A24F-B2E4-2784275C0F87}" srcOrd="0" destOrd="0" parTransId="{01F84AC0-893E-8B4B-A91F-0E9BBBBB159B}" sibTransId="{7CA3B4EA-84B3-FA42-BEC1-1DED7147AF39}"/>
    <dgm:cxn modelId="{95921B43-15B7-440C-AD7C-9FD7AF211D15}" type="presOf" srcId="{F6EAB8AD-B96D-4641-AA42-30F481604F3B}" destId="{F88CBF2B-8819-A240-AD95-3095A231DF76}" srcOrd="1" destOrd="0" presId="urn:microsoft.com/office/officeart/2005/8/layout/radial1"/>
    <dgm:cxn modelId="{70480226-866E-4B9B-BDFB-38145F230CD4}" type="presOf" srcId="{D12D9EC6-0BE5-E043-A4A0-0BBD457BAF23}" destId="{E7015661-1956-144D-9BC2-79A2B9BEC4D3}" srcOrd="0" destOrd="0" presId="urn:microsoft.com/office/officeart/2005/8/layout/radial1"/>
    <dgm:cxn modelId="{280DEBB6-9864-430A-8C64-2EEC6143EA66}" type="presOf" srcId="{22605EE4-B4CA-0041-A470-E4A65C346906}" destId="{E6709BD7-6469-A74B-BAE7-55F21C624B3A}" srcOrd="0" destOrd="0" presId="urn:microsoft.com/office/officeart/2005/8/layout/radial1"/>
    <dgm:cxn modelId="{3DAAD0FB-0034-47E3-AC31-5C0BEC00F364}" type="presOf" srcId="{C7D3FF24-141F-3F4D-95B7-0BF199EC9764}" destId="{FB2E1E33-9AB3-9E4A-BD84-C9A8E59E5969}" srcOrd="0" destOrd="0" presId="urn:microsoft.com/office/officeart/2005/8/layout/radial1"/>
    <dgm:cxn modelId="{2D0ABEE0-509B-43D1-910D-49E8AE843ED1}" type="presOf" srcId="{861B47C8-659D-424D-A1AF-27AEE52C0F44}" destId="{6BB79F80-DF22-0646-815E-3D896A95FBB0}" srcOrd="0" destOrd="0" presId="urn:microsoft.com/office/officeart/2005/8/layout/radial1"/>
    <dgm:cxn modelId="{CE31B831-4FDF-8947-8832-7EAEDBB9F420}" srcId="{8C6B0834-F6CE-3F42-905D-6B7D5CC44A46}" destId="{8F5FA494-80E9-DF42-BEDA-416B11E7452D}" srcOrd="3" destOrd="0" parTransId="{D12D9EC6-0BE5-E043-A4A0-0BBD457BAF23}" sibTransId="{6FEB6580-924C-0D44-8FD5-F02F2FE90771}"/>
    <dgm:cxn modelId="{63D30526-63D0-4E79-81E1-17DE95BB79A0}" type="presOf" srcId="{23B954FD-FE52-864A-9A82-76EDA30A0A33}" destId="{6E586F6C-941C-DD41-B10E-DE5B337460AD}" srcOrd="0" destOrd="1" presId="urn:microsoft.com/office/officeart/2005/8/layout/radial1"/>
    <dgm:cxn modelId="{15D63F02-FCA8-9147-9EFD-AD1AA9FE83B2}" srcId="{8C6B0834-F6CE-3F42-905D-6B7D5CC44A46}" destId="{DF26E906-FE6B-E94E-80F6-AB0B7C2719E2}" srcOrd="1" destOrd="0" parTransId="{A295B9A2-4AC7-0041-8677-CB8FB8BD44C0}" sibTransId="{8F061190-1701-DD43-A0BA-23BCABFF54EB}"/>
    <dgm:cxn modelId="{63BB370D-4F98-074F-899F-D8EB04787F1E}" srcId="{8C6B0834-F6CE-3F42-905D-6B7D5CC44A46}" destId="{EEAFA194-4042-5249-A7FA-1DC665ECA86B}" srcOrd="0" destOrd="0" parTransId="{861B47C8-659D-424D-A1AF-27AEE52C0F44}" sibTransId="{4DD63C4F-2061-C349-B573-1F6269AA217C}"/>
    <dgm:cxn modelId="{8B703979-B572-0E4B-9F27-CCF5E209C19B}" srcId="{DF26E906-FE6B-E94E-80F6-AB0B7C2719E2}" destId="{5DD2512A-9002-9C4D-ABC4-73BBC6EE9567}" srcOrd="0" destOrd="0" parTransId="{929D72A4-0E81-7341-8DCA-6F67988E4956}" sibTransId="{13C3CB36-39CA-FE4C-8BA4-C784A8B68058}"/>
    <dgm:cxn modelId="{54A9269C-D627-4DF8-888A-0DA8BD2D8D53}" type="presOf" srcId="{D12D9EC6-0BE5-E043-A4A0-0BBD457BAF23}" destId="{EC407BEE-E314-F94C-8681-519F6AD2E4BE}" srcOrd="1" destOrd="0" presId="urn:microsoft.com/office/officeart/2005/8/layout/radial1"/>
    <dgm:cxn modelId="{3EAC6914-5E61-4533-A42A-E326B95592E0}" type="presOf" srcId="{A295B9A2-4AC7-0041-8677-CB8FB8BD44C0}" destId="{3FD3A4A6-C5C2-1C4A-A6CE-6300D7BBADD2}" srcOrd="0" destOrd="0" presId="urn:microsoft.com/office/officeart/2005/8/layout/radial1"/>
    <dgm:cxn modelId="{4BCE3E7A-D160-4DFA-AA07-7B1B9FC182D5}" type="presOf" srcId="{5DD2512A-9002-9C4D-ABC4-73BBC6EE9567}" destId="{02C2359B-6912-8F4D-8857-2A5555F873C2}" srcOrd="0" destOrd="1" presId="urn:microsoft.com/office/officeart/2005/8/layout/radial1"/>
    <dgm:cxn modelId="{16EAE1EF-47FD-4FC4-A5E5-D4289702D246}" type="presOf" srcId="{861B47C8-659D-424D-A1AF-27AEE52C0F44}" destId="{B4BE6649-D0D7-8A4B-B5C8-8BE23DAF1DDC}" srcOrd="1" destOrd="0" presId="urn:microsoft.com/office/officeart/2005/8/layout/radial1"/>
    <dgm:cxn modelId="{2ADC074E-DCC4-E549-83ED-BC8A909A117D}" srcId="{22605EE4-B4CA-0041-A470-E4A65C346906}" destId="{8C6B0834-F6CE-3F42-905D-6B7D5CC44A46}" srcOrd="0" destOrd="0" parTransId="{069FD7BD-4F56-0744-8501-3DCB762EC054}" sibTransId="{72464D9A-5A29-234D-82D3-FB8F6A7C0990}"/>
    <dgm:cxn modelId="{8477D4B1-AA86-4C24-A87E-42F92B02622F}" type="presOf" srcId="{828376F7-FEA1-FB4C-A6F2-DAB9D5410FF9}" destId="{FB2E1E33-9AB3-9E4A-BD84-C9A8E59E5969}" srcOrd="0" destOrd="1" presId="urn:microsoft.com/office/officeart/2005/8/layout/radial1"/>
    <dgm:cxn modelId="{0608C803-1D5F-4440-AF82-92D8B8F632D6}" type="presOf" srcId="{EEAFA194-4042-5249-A7FA-1DC665ECA86B}" destId="{5ECF65A2-A9EC-B940-B497-AA098945971A}" srcOrd="0" destOrd="0" presId="urn:microsoft.com/office/officeart/2005/8/layout/radial1"/>
    <dgm:cxn modelId="{DC3F1ECA-4B4B-DC45-B1AC-140575E14110}" srcId="{8C6B0834-F6CE-3F42-905D-6B7D5CC44A46}" destId="{C7D3FF24-141F-3F4D-95B7-0BF199EC9764}" srcOrd="4" destOrd="0" parTransId="{29F54FE8-20E8-354F-BB68-53D0FF2791F0}" sibTransId="{A0F66038-2C0E-134A-B88A-91580F90ADB3}"/>
    <dgm:cxn modelId="{DAD8086B-ABB8-4324-8AAD-D43F7D20C9A0}" type="presOf" srcId="{3170A360-F8D0-BC42-9DFE-194BEAA4F315}" destId="{CDADC5E6-FF26-6E4C-9749-F104E4D07792}" srcOrd="0" destOrd="0" presId="urn:microsoft.com/office/officeart/2005/8/layout/radial1"/>
    <dgm:cxn modelId="{3BDAD225-F77B-C44E-9305-B845DFB5A660}" srcId="{C7D3FF24-141F-3F4D-95B7-0BF199EC9764}" destId="{828376F7-FEA1-FB4C-A6F2-DAB9D5410FF9}" srcOrd="0" destOrd="0" parTransId="{49E181A3-1F5E-D44E-939D-DF59308F3D22}" sibTransId="{780FD8A8-EAB9-F14F-85B8-F8914B05A3B3}"/>
    <dgm:cxn modelId="{1254201C-F557-A043-B73A-8918856E0F9C}" srcId="{8F5FA494-80E9-DF42-BEDA-416B11E7452D}" destId="{23B954FD-FE52-864A-9A82-76EDA30A0A33}" srcOrd="0" destOrd="0" parTransId="{1BE030B5-3B56-2842-A574-8C588ED6897B}" sibTransId="{3823A65E-53C3-3D45-BBD5-B9165468177E}"/>
    <dgm:cxn modelId="{076E22A9-8DF7-144A-9FBE-F32E9BA76F12}" srcId="{8C6B0834-F6CE-3F42-905D-6B7D5CC44A46}" destId="{3170A360-F8D0-BC42-9DFE-194BEAA4F315}" srcOrd="2" destOrd="0" parTransId="{F6EAB8AD-B96D-4641-AA42-30F481604F3B}" sibTransId="{270B8A16-7407-1246-A271-C767971FE306}"/>
    <dgm:cxn modelId="{DA9A55FE-9BFA-4E22-BB42-86242C859666}" type="presOf" srcId="{F6EAB8AD-B96D-4641-AA42-30F481604F3B}" destId="{5B345D64-FF47-AC48-BFC7-DA71BABB422E}" srcOrd="0" destOrd="0" presId="urn:microsoft.com/office/officeart/2005/8/layout/radial1"/>
    <dgm:cxn modelId="{A92B00AE-1E7A-4448-B974-9273FBBC79A1}" srcId="{EEAFA194-4042-5249-A7FA-1DC665ECA86B}" destId="{0F3E6639-AFE1-164D-B3DC-DDCACF731D96}" srcOrd="0" destOrd="0" parTransId="{31A16EEC-3787-284E-95FB-EB5D37A9C596}" sibTransId="{6A4B80CD-68DA-8043-84B5-2832972D9FA5}"/>
    <dgm:cxn modelId="{F1FF8477-A52D-48CC-BA45-096F0A5287F6}" type="presOf" srcId="{0F3E6639-AFE1-164D-B3DC-DDCACF731D96}" destId="{5ECF65A2-A9EC-B940-B497-AA098945971A}" srcOrd="0" destOrd="1" presId="urn:microsoft.com/office/officeart/2005/8/layout/radial1"/>
    <dgm:cxn modelId="{10C15651-028F-493C-ABE8-C025898F7C53}" type="presOf" srcId="{8C6B0834-F6CE-3F42-905D-6B7D5CC44A46}" destId="{32D9C8C0-9CDA-1647-B0C7-6CBB40C6D8A2}" srcOrd="0" destOrd="0" presId="urn:microsoft.com/office/officeart/2005/8/layout/radial1"/>
    <dgm:cxn modelId="{E534CB9F-5C81-4385-A7ED-37D934DEED5C}" type="presOf" srcId="{A295B9A2-4AC7-0041-8677-CB8FB8BD44C0}" destId="{8A821DCC-4110-994A-9EB1-98DEEDB63455}" srcOrd="1" destOrd="0" presId="urn:microsoft.com/office/officeart/2005/8/layout/radial1"/>
    <dgm:cxn modelId="{A1B4919E-2BBA-4752-AAC6-9B6A118F9A07}" type="presOf" srcId="{BB2B46D9-A21B-A24F-B2E4-2784275C0F87}" destId="{CDADC5E6-FF26-6E4C-9749-F104E4D07792}" srcOrd="0" destOrd="1" presId="urn:microsoft.com/office/officeart/2005/8/layout/radial1"/>
    <dgm:cxn modelId="{62FA1C10-01F3-40E8-A7EE-93CF849E656E}" type="presOf" srcId="{29F54FE8-20E8-354F-BB68-53D0FF2791F0}" destId="{26EC5283-A8E7-2844-B56C-8060EDE92406}" srcOrd="0" destOrd="0" presId="urn:microsoft.com/office/officeart/2005/8/layout/radial1"/>
    <dgm:cxn modelId="{CE0D86C4-C5B5-4737-B4BC-5ED76CDD0654}" type="presParOf" srcId="{E6709BD7-6469-A74B-BAE7-55F21C624B3A}" destId="{32D9C8C0-9CDA-1647-B0C7-6CBB40C6D8A2}" srcOrd="0" destOrd="0" presId="urn:microsoft.com/office/officeart/2005/8/layout/radial1"/>
    <dgm:cxn modelId="{9E75E0F7-C9C8-4BD0-A1CE-A0AA71D0E9EA}" type="presParOf" srcId="{E6709BD7-6469-A74B-BAE7-55F21C624B3A}" destId="{6BB79F80-DF22-0646-815E-3D896A95FBB0}" srcOrd="1" destOrd="0" presId="urn:microsoft.com/office/officeart/2005/8/layout/radial1"/>
    <dgm:cxn modelId="{6DABC75C-35FA-483A-92E6-A1C5CB443772}" type="presParOf" srcId="{6BB79F80-DF22-0646-815E-3D896A95FBB0}" destId="{B4BE6649-D0D7-8A4B-B5C8-8BE23DAF1DDC}" srcOrd="0" destOrd="0" presId="urn:microsoft.com/office/officeart/2005/8/layout/radial1"/>
    <dgm:cxn modelId="{53A34879-E9BA-4DBA-AD87-59F250829EB3}" type="presParOf" srcId="{E6709BD7-6469-A74B-BAE7-55F21C624B3A}" destId="{5ECF65A2-A9EC-B940-B497-AA098945971A}" srcOrd="2" destOrd="0" presId="urn:microsoft.com/office/officeart/2005/8/layout/radial1"/>
    <dgm:cxn modelId="{E65F15A1-3737-4477-9A6D-29C4373CF5FB}" type="presParOf" srcId="{E6709BD7-6469-A74B-BAE7-55F21C624B3A}" destId="{3FD3A4A6-C5C2-1C4A-A6CE-6300D7BBADD2}" srcOrd="3" destOrd="0" presId="urn:microsoft.com/office/officeart/2005/8/layout/radial1"/>
    <dgm:cxn modelId="{4F8778F0-2A73-472D-967F-8079F55CD352}" type="presParOf" srcId="{3FD3A4A6-C5C2-1C4A-A6CE-6300D7BBADD2}" destId="{8A821DCC-4110-994A-9EB1-98DEEDB63455}" srcOrd="0" destOrd="0" presId="urn:microsoft.com/office/officeart/2005/8/layout/radial1"/>
    <dgm:cxn modelId="{261CA8B7-B322-44B1-A974-7C87789C4C30}" type="presParOf" srcId="{E6709BD7-6469-A74B-BAE7-55F21C624B3A}" destId="{02C2359B-6912-8F4D-8857-2A5555F873C2}" srcOrd="4" destOrd="0" presId="urn:microsoft.com/office/officeart/2005/8/layout/radial1"/>
    <dgm:cxn modelId="{54ED7B88-275A-43A2-AAD7-F824649DF3F5}" type="presParOf" srcId="{E6709BD7-6469-A74B-BAE7-55F21C624B3A}" destId="{5B345D64-FF47-AC48-BFC7-DA71BABB422E}" srcOrd="5" destOrd="0" presId="urn:microsoft.com/office/officeart/2005/8/layout/radial1"/>
    <dgm:cxn modelId="{ECFC5BA2-BA24-453F-B444-4F1AFC492522}" type="presParOf" srcId="{5B345D64-FF47-AC48-BFC7-DA71BABB422E}" destId="{F88CBF2B-8819-A240-AD95-3095A231DF76}" srcOrd="0" destOrd="0" presId="urn:microsoft.com/office/officeart/2005/8/layout/radial1"/>
    <dgm:cxn modelId="{17C0D07F-05FF-4E07-8DF6-CD70A9374E8F}" type="presParOf" srcId="{E6709BD7-6469-A74B-BAE7-55F21C624B3A}" destId="{CDADC5E6-FF26-6E4C-9749-F104E4D07792}" srcOrd="6" destOrd="0" presId="urn:microsoft.com/office/officeart/2005/8/layout/radial1"/>
    <dgm:cxn modelId="{6B1CD91A-21BE-423D-B2E7-213C658C269B}" type="presParOf" srcId="{E6709BD7-6469-A74B-BAE7-55F21C624B3A}" destId="{E7015661-1956-144D-9BC2-79A2B9BEC4D3}" srcOrd="7" destOrd="0" presId="urn:microsoft.com/office/officeart/2005/8/layout/radial1"/>
    <dgm:cxn modelId="{D56705DC-3C53-4E15-81DB-3FA0102CE9D3}" type="presParOf" srcId="{E7015661-1956-144D-9BC2-79A2B9BEC4D3}" destId="{EC407BEE-E314-F94C-8681-519F6AD2E4BE}" srcOrd="0" destOrd="0" presId="urn:microsoft.com/office/officeart/2005/8/layout/radial1"/>
    <dgm:cxn modelId="{692C1F10-B23A-4267-8535-3AA1F1A04717}" type="presParOf" srcId="{E6709BD7-6469-A74B-BAE7-55F21C624B3A}" destId="{6E586F6C-941C-DD41-B10E-DE5B337460AD}" srcOrd="8" destOrd="0" presId="urn:microsoft.com/office/officeart/2005/8/layout/radial1"/>
    <dgm:cxn modelId="{FD8E826E-97DB-491A-8099-1B7C4FEF06D9}" type="presParOf" srcId="{E6709BD7-6469-A74B-BAE7-55F21C624B3A}" destId="{26EC5283-A8E7-2844-B56C-8060EDE92406}" srcOrd="9" destOrd="0" presId="urn:microsoft.com/office/officeart/2005/8/layout/radial1"/>
    <dgm:cxn modelId="{E3840F94-D12E-41F7-9EB5-F9CFD38D77FA}" type="presParOf" srcId="{26EC5283-A8E7-2844-B56C-8060EDE92406}" destId="{3B76324C-7DF7-AA42-87B7-1D070282270F}" srcOrd="0" destOrd="0" presId="urn:microsoft.com/office/officeart/2005/8/layout/radial1"/>
    <dgm:cxn modelId="{AFDC8526-1252-43BA-8D25-4A3C4E112FC4}" type="presParOf" srcId="{E6709BD7-6469-A74B-BAE7-55F21C624B3A}" destId="{FB2E1E33-9AB3-9E4A-BD84-C9A8E59E5969}" srcOrd="10"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B807D9-F862-5F4B-B341-A73333D79CED}"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593AC677-3545-9D46-8AAA-144139AC6036}">
      <dgm:prSet/>
      <dgm:spPr>
        <a:solidFill>
          <a:schemeClr val="bg1"/>
        </a:solidFill>
        <a:ln>
          <a:solidFill>
            <a:schemeClr val="bg2">
              <a:lumMod val="75000"/>
            </a:schemeClr>
          </a:solidFill>
        </a:ln>
        <a:effectLst>
          <a:glow rad="101600">
            <a:schemeClr val="accent1">
              <a:alpha val="75000"/>
            </a:schemeClr>
          </a:glow>
          <a:softEdge rad="101600"/>
        </a:effectLst>
      </dgm:spPr>
      <dgm:t>
        <a:bodyPr/>
        <a:lstStyle/>
        <a:p>
          <a:pPr rtl="0"/>
          <a:r>
            <a:rPr lang="en-US" b="1" dirty="0" smtClean="0">
              <a:solidFill>
                <a:schemeClr val="tx1"/>
              </a:solidFill>
            </a:rPr>
            <a:t>Constant exponentiation time</a:t>
          </a:r>
          <a:endParaRPr lang="en-US" b="1" dirty="0">
            <a:solidFill>
              <a:schemeClr val="tx1"/>
            </a:solidFill>
          </a:endParaRPr>
        </a:p>
      </dgm:t>
    </dgm:pt>
    <dgm:pt modelId="{D766C8DD-7AB8-6F4E-B275-CF701DBEA938}" type="parTrans" cxnId="{C9A744E2-FC6A-F645-8B4F-DC701F66617E}">
      <dgm:prSet/>
      <dgm:spPr/>
      <dgm:t>
        <a:bodyPr/>
        <a:lstStyle/>
        <a:p>
          <a:endParaRPr lang="en-US"/>
        </a:p>
      </dgm:t>
    </dgm:pt>
    <dgm:pt modelId="{AAD66FF9-1B0D-694D-9553-555A3B564B28}" type="sibTrans" cxnId="{C9A744E2-FC6A-F645-8B4F-DC701F66617E}">
      <dgm:prSet/>
      <dgm:spPr/>
      <dgm:t>
        <a:bodyPr/>
        <a:lstStyle/>
        <a:p>
          <a:endParaRPr lang="en-US"/>
        </a:p>
      </dgm:t>
    </dgm:pt>
    <dgm:pt modelId="{F7BFD760-6C9D-784B-95B6-37582D604067}">
      <dgm:prSet/>
      <dgm:spPr>
        <a:solidFill>
          <a:schemeClr val="bg1"/>
        </a:solidFill>
        <a:ln>
          <a:solidFill>
            <a:schemeClr val="bg2">
              <a:lumMod val="75000"/>
            </a:schemeClr>
          </a:solidFill>
        </a:ln>
        <a:effectLst>
          <a:glow rad="101600">
            <a:schemeClr val="accent1">
              <a:alpha val="75000"/>
            </a:schemeClr>
          </a:glow>
          <a:softEdge rad="101600"/>
        </a:effectLst>
      </dgm:spPr>
      <dgm:t>
        <a:bodyPr/>
        <a:lstStyle/>
        <a:p>
          <a:pPr rtl="0"/>
          <a:r>
            <a:rPr lang="en-US" b="0" dirty="0" smtClean="0">
              <a:solidFill>
                <a:schemeClr val="tx1"/>
              </a:solidFill>
            </a:rPr>
            <a:t>Ensure that all exponentiations take the same amount of time before returning a result; this is a simple fix but does degrade performance</a:t>
          </a:r>
          <a:endParaRPr lang="en-US" b="0" dirty="0">
            <a:solidFill>
              <a:schemeClr val="tx1"/>
            </a:solidFill>
          </a:endParaRPr>
        </a:p>
      </dgm:t>
    </dgm:pt>
    <dgm:pt modelId="{A2F0A1EF-71A0-C842-99CE-8E09A79EABB9}" type="parTrans" cxnId="{10E1D97C-5BCA-F342-AB3E-3CEF01246AB1}">
      <dgm:prSet/>
      <dgm:spPr/>
      <dgm:t>
        <a:bodyPr/>
        <a:lstStyle/>
        <a:p>
          <a:endParaRPr lang="en-US"/>
        </a:p>
      </dgm:t>
    </dgm:pt>
    <dgm:pt modelId="{2FAF6186-EB63-2447-BEAE-96A289582B6B}" type="sibTrans" cxnId="{10E1D97C-5BCA-F342-AB3E-3CEF01246AB1}">
      <dgm:prSet/>
      <dgm:spPr/>
      <dgm:t>
        <a:bodyPr/>
        <a:lstStyle/>
        <a:p>
          <a:endParaRPr lang="en-US"/>
        </a:p>
      </dgm:t>
    </dgm:pt>
    <dgm:pt modelId="{A02B755A-1857-DC45-AD97-749F71FA3CDF}">
      <dgm:prSet/>
      <dgm:spPr>
        <a:solidFill>
          <a:schemeClr val="bg1"/>
        </a:solidFill>
        <a:effectLst>
          <a:glow rad="101600">
            <a:schemeClr val="accent1">
              <a:alpha val="75000"/>
            </a:schemeClr>
          </a:glow>
          <a:softEdge rad="101600"/>
        </a:effectLst>
      </dgm:spPr>
      <dgm:t>
        <a:bodyPr/>
        <a:lstStyle/>
        <a:p>
          <a:pPr rtl="0"/>
          <a:r>
            <a:rPr lang="en-US" b="1" dirty="0" smtClean="0">
              <a:solidFill>
                <a:schemeClr val="tx1"/>
              </a:solidFill>
            </a:rPr>
            <a:t>Random delay</a:t>
          </a:r>
          <a:endParaRPr lang="en-US" b="1" dirty="0">
            <a:solidFill>
              <a:schemeClr val="tx1"/>
            </a:solidFill>
          </a:endParaRPr>
        </a:p>
      </dgm:t>
    </dgm:pt>
    <dgm:pt modelId="{72B53E7D-B2EE-734D-A1C1-C011388E1245}" type="parTrans" cxnId="{2045979E-CC7F-1444-8C59-DA9659BA5873}">
      <dgm:prSet/>
      <dgm:spPr/>
      <dgm:t>
        <a:bodyPr/>
        <a:lstStyle/>
        <a:p>
          <a:endParaRPr lang="en-US"/>
        </a:p>
      </dgm:t>
    </dgm:pt>
    <dgm:pt modelId="{E2A3BD6E-9B0E-7B45-A978-ED83E8379E08}" type="sibTrans" cxnId="{2045979E-CC7F-1444-8C59-DA9659BA5873}">
      <dgm:prSet/>
      <dgm:spPr/>
      <dgm:t>
        <a:bodyPr/>
        <a:lstStyle/>
        <a:p>
          <a:endParaRPr lang="en-US"/>
        </a:p>
      </dgm:t>
    </dgm:pt>
    <dgm:pt modelId="{84866641-6DFA-7143-96B0-81EFD07EC810}">
      <dgm:prSet/>
      <dgm:spPr>
        <a:solidFill>
          <a:schemeClr val="bg1"/>
        </a:solidFill>
        <a:effectLst>
          <a:glow rad="101600">
            <a:schemeClr val="accent1">
              <a:alpha val="75000"/>
            </a:schemeClr>
          </a:glow>
          <a:softEdge rad="101600"/>
        </a:effectLst>
      </dgm:spPr>
      <dgm:t>
        <a:bodyPr/>
        <a:lstStyle/>
        <a:p>
          <a:pPr rtl="0"/>
          <a:r>
            <a:rPr lang="en-US" b="0" dirty="0" smtClean="0">
              <a:solidFill>
                <a:schemeClr val="tx1"/>
              </a:solidFill>
            </a:rPr>
            <a:t>Better performance could be achieved by adding a random delay to the exponentiation algorithm to confuse the timing attack</a:t>
          </a:r>
          <a:endParaRPr lang="en-US" b="0" dirty="0">
            <a:solidFill>
              <a:schemeClr val="tx1"/>
            </a:solidFill>
          </a:endParaRPr>
        </a:p>
      </dgm:t>
    </dgm:pt>
    <dgm:pt modelId="{66C74637-5956-F541-950C-539AF119CE9A}" type="parTrans" cxnId="{7680419F-8360-B143-BE19-2C82AA417D24}">
      <dgm:prSet/>
      <dgm:spPr/>
      <dgm:t>
        <a:bodyPr/>
        <a:lstStyle/>
        <a:p>
          <a:endParaRPr lang="en-US"/>
        </a:p>
      </dgm:t>
    </dgm:pt>
    <dgm:pt modelId="{4DA6BC36-93F9-FD49-91B5-2624F8C42569}" type="sibTrans" cxnId="{7680419F-8360-B143-BE19-2C82AA417D24}">
      <dgm:prSet/>
      <dgm:spPr/>
      <dgm:t>
        <a:bodyPr/>
        <a:lstStyle/>
        <a:p>
          <a:endParaRPr lang="en-US"/>
        </a:p>
      </dgm:t>
    </dgm:pt>
    <dgm:pt modelId="{41592CA7-ABF8-8547-A33A-8FAD17BE773D}">
      <dgm:prSet/>
      <dgm:spPr>
        <a:solidFill>
          <a:schemeClr val="bg1"/>
        </a:solidFill>
        <a:effectLst>
          <a:glow rad="101600">
            <a:schemeClr val="accent1">
              <a:alpha val="75000"/>
            </a:schemeClr>
          </a:glow>
          <a:softEdge rad="101600"/>
        </a:effectLst>
      </dgm:spPr>
      <dgm:t>
        <a:bodyPr/>
        <a:lstStyle/>
        <a:p>
          <a:pPr rtl="0"/>
          <a:r>
            <a:rPr lang="en-US" b="1" dirty="0" smtClean="0">
              <a:solidFill>
                <a:schemeClr val="tx1"/>
              </a:solidFill>
            </a:rPr>
            <a:t>Blinding</a:t>
          </a:r>
          <a:endParaRPr lang="en-US" b="1" dirty="0">
            <a:solidFill>
              <a:schemeClr val="tx1"/>
            </a:solidFill>
          </a:endParaRPr>
        </a:p>
      </dgm:t>
    </dgm:pt>
    <dgm:pt modelId="{8E074999-78C2-0C4B-B585-4B2A26C64AB5}" type="parTrans" cxnId="{CA45E43A-D97B-0842-ACD2-1DC8AE912D49}">
      <dgm:prSet/>
      <dgm:spPr/>
      <dgm:t>
        <a:bodyPr/>
        <a:lstStyle/>
        <a:p>
          <a:endParaRPr lang="en-US"/>
        </a:p>
      </dgm:t>
    </dgm:pt>
    <dgm:pt modelId="{F412142E-0ED5-7144-A1E5-08589FC17237}" type="sibTrans" cxnId="{CA45E43A-D97B-0842-ACD2-1DC8AE912D49}">
      <dgm:prSet/>
      <dgm:spPr/>
      <dgm:t>
        <a:bodyPr/>
        <a:lstStyle/>
        <a:p>
          <a:endParaRPr lang="en-US"/>
        </a:p>
      </dgm:t>
    </dgm:pt>
    <dgm:pt modelId="{A42215A6-30EA-5645-A6BE-72F2D8176E99}">
      <dgm:prSet/>
      <dgm:spPr>
        <a:solidFill>
          <a:schemeClr val="bg1"/>
        </a:solidFill>
        <a:effectLst>
          <a:glow rad="101600">
            <a:schemeClr val="accent1">
              <a:alpha val="75000"/>
            </a:schemeClr>
          </a:glow>
          <a:softEdge rad="101600"/>
        </a:effectLst>
      </dgm:spPr>
      <dgm:t>
        <a:bodyPr/>
        <a:lstStyle/>
        <a:p>
          <a:pPr rtl="0"/>
          <a:r>
            <a:rPr lang="en-US" b="0" dirty="0" smtClean="0">
              <a:solidFill>
                <a:schemeClr val="tx1"/>
              </a:solidFill>
            </a:rPr>
            <a:t>Multiply the </a:t>
          </a:r>
          <a:r>
            <a:rPr lang="en-US" b="0" dirty="0" err="1" smtClean="0">
              <a:solidFill>
                <a:schemeClr val="tx1"/>
              </a:solidFill>
            </a:rPr>
            <a:t>ciphertext</a:t>
          </a:r>
          <a:r>
            <a:rPr lang="en-US" b="0" dirty="0" smtClean="0">
              <a:solidFill>
                <a:schemeClr val="tx1"/>
              </a:solidFill>
            </a:rPr>
            <a:t> by a random number before performing exponentiation; this process prevents the attacker from knowing what </a:t>
          </a:r>
          <a:r>
            <a:rPr lang="en-US" b="0" dirty="0" err="1" smtClean="0">
              <a:solidFill>
                <a:schemeClr val="tx1"/>
              </a:solidFill>
            </a:rPr>
            <a:t>ciphertext</a:t>
          </a:r>
          <a:r>
            <a:rPr lang="en-US" b="0" dirty="0" smtClean="0">
              <a:solidFill>
                <a:schemeClr val="tx1"/>
              </a:solidFill>
            </a:rPr>
            <a:t> bits are being processed inside the computer and therefore prevents the bit-by-bit analysis essential to the timing attack</a:t>
          </a:r>
          <a:endParaRPr lang="en-US" b="0" dirty="0">
            <a:solidFill>
              <a:schemeClr val="tx1"/>
            </a:solidFill>
          </a:endParaRPr>
        </a:p>
      </dgm:t>
    </dgm:pt>
    <dgm:pt modelId="{3E3C429C-B844-0E42-A246-15CE14FBD206}" type="parTrans" cxnId="{BE73EB40-EEC8-9C44-9D76-C72BC1D632CA}">
      <dgm:prSet/>
      <dgm:spPr/>
      <dgm:t>
        <a:bodyPr/>
        <a:lstStyle/>
        <a:p>
          <a:endParaRPr lang="en-US"/>
        </a:p>
      </dgm:t>
    </dgm:pt>
    <dgm:pt modelId="{0A9E1ECA-D0CE-8E43-965C-4CF6224A00DB}" type="sibTrans" cxnId="{BE73EB40-EEC8-9C44-9D76-C72BC1D632CA}">
      <dgm:prSet/>
      <dgm:spPr/>
      <dgm:t>
        <a:bodyPr/>
        <a:lstStyle/>
        <a:p>
          <a:endParaRPr lang="en-US"/>
        </a:p>
      </dgm:t>
    </dgm:pt>
    <dgm:pt modelId="{71A8BF31-B142-FF4E-BAC2-2178342505D6}" type="pres">
      <dgm:prSet presAssocID="{94B807D9-F862-5F4B-B341-A73333D79CED}" presName="Name0" presStyleCnt="0">
        <dgm:presLayoutVars>
          <dgm:dir/>
          <dgm:resizeHandles val="exact"/>
        </dgm:presLayoutVars>
      </dgm:prSet>
      <dgm:spPr/>
      <dgm:t>
        <a:bodyPr/>
        <a:lstStyle/>
        <a:p>
          <a:endParaRPr lang="en-US"/>
        </a:p>
      </dgm:t>
    </dgm:pt>
    <dgm:pt modelId="{CBE6354C-E5A1-744F-BAC5-629F4EB38A81}" type="pres">
      <dgm:prSet presAssocID="{593AC677-3545-9D46-8AAA-144139AC6036}" presName="node" presStyleLbl="node1" presStyleIdx="0" presStyleCnt="3">
        <dgm:presLayoutVars>
          <dgm:bulletEnabled val="1"/>
        </dgm:presLayoutVars>
      </dgm:prSet>
      <dgm:spPr/>
      <dgm:t>
        <a:bodyPr/>
        <a:lstStyle/>
        <a:p>
          <a:endParaRPr lang="en-US"/>
        </a:p>
      </dgm:t>
    </dgm:pt>
    <dgm:pt modelId="{B64891FB-A735-014D-B8D5-4740ED157DB1}" type="pres">
      <dgm:prSet presAssocID="{AAD66FF9-1B0D-694D-9553-555A3B564B28}" presName="sibTrans" presStyleCnt="0"/>
      <dgm:spPr/>
    </dgm:pt>
    <dgm:pt modelId="{7F33D086-23DD-EB41-B58E-E907661C3A77}" type="pres">
      <dgm:prSet presAssocID="{A02B755A-1857-DC45-AD97-749F71FA3CDF}" presName="node" presStyleLbl="node1" presStyleIdx="1" presStyleCnt="3">
        <dgm:presLayoutVars>
          <dgm:bulletEnabled val="1"/>
        </dgm:presLayoutVars>
      </dgm:prSet>
      <dgm:spPr/>
      <dgm:t>
        <a:bodyPr/>
        <a:lstStyle/>
        <a:p>
          <a:endParaRPr lang="en-US"/>
        </a:p>
      </dgm:t>
    </dgm:pt>
    <dgm:pt modelId="{CEAAF1EA-3A46-234E-B35A-F0A91DB42E12}" type="pres">
      <dgm:prSet presAssocID="{E2A3BD6E-9B0E-7B45-A978-ED83E8379E08}" presName="sibTrans" presStyleCnt="0"/>
      <dgm:spPr/>
    </dgm:pt>
    <dgm:pt modelId="{EB1FBD37-7AB0-4A4F-AC6C-F62C76CFE5BC}" type="pres">
      <dgm:prSet presAssocID="{41592CA7-ABF8-8547-A33A-8FAD17BE773D}" presName="node" presStyleLbl="node1" presStyleIdx="2" presStyleCnt="3">
        <dgm:presLayoutVars>
          <dgm:bulletEnabled val="1"/>
        </dgm:presLayoutVars>
      </dgm:prSet>
      <dgm:spPr/>
      <dgm:t>
        <a:bodyPr/>
        <a:lstStyle/>
        <a:p>
          <a:endParaRPr lang="en-US"/>
        </a:p>
      </dgm:t>
    </dgm:pt>
  </dgm:ptLst>
  <dgm:cxnLst>
    <dgm:cxn modelId="{D20C51CE-C1B0-44A5-9E4F-A6C1A07F57DB}" type="presOf" srcId="{84866641-6DFA-7143-96B0-81EFD07EC810}" destId="{7F33D086-23DD-EB41-B58E-E907661C3A77}" srcOrd="0" destOrd="1" presId="urn:microsoft.com/office/officeart/2005/8/layout/hList6"/>
    <dgm:cxn modelId="{2045979E-CC7F-1444-8C59-DA9659BA5873}" srcId="{94B807D9-F862-5F4B-B341-A73333D79CED}" destId="{A02B755A-1857-DC45-AD97-749F71FA3CDF}" srcOrd="1" destOrd="0" parTransId="{72B53E7D-B2EE-734D-A1C1-C011388E1245}" sibTransId="{E2A3BD6E-9B0E-7B45-A978-ED83E8379E08}"/>
    <dgm:cxn modelId="{C9A744E2-FC6A-F645-8B4F-DC701F66617E}" srcId="{94B807D9-F862-5F4B-B341-A73333D79CED}" destId="{593AC677-3545-9D46-8AAA-144139AC6036}" srcOrd="0" destOrd="0" parTransId="{D766C8DD-7AB8-6F4E-B275-CF701DBEA938}" sibTransId="{AAD66FF9-1B0D-694D-9553-555A3B564B28}"/>
    <dgm:cxn modelId="{7A393D71-E103-4DA8-B0E5-478739F64B5D}" type="presOf" srcId="{A42215A6-30EA-5645-A6BE-72F2D8176E99}" destId="{EB1FBD37-7AB0-4A4F-AC6C-F62C76CFE5BC}" srcOrd="0" destOrd="1" presId="urn:microsoft.com/office/officeart/2005/8/layout/hList6"/>
    <dgm:cxn modelId="{CAF3CE58-63A5-41BC-9F2A-08ADB3868C4A}" type="presOf" srcId="{A02B755A-1857-DC45-AD97-749F71FA3CDF}" destId="{7F33D086-23DD-EB41-B58E-E907661C3A77}" srcOrd="0" destOrd="0" presId="urn:microsoft.com/office/officeart/2005/8/layout/hList6"/>
    <dgm:cxn modelId="{CA45E43A-D97B-0842-ACD2-1DC8AE912D49}" srcId="{94B807D9-F862-5F4B-B341-A73333D79CED}" destId="{41592CA7-ABF8-8547-A33A-8FAD17BE773D}" srcOrd="2" destOrd="0" parTransId="{8E074999-78C2-0C4B-B585-4B2A26C64AB5}" sibTransId="{F412142E-0ED5-7144-A1E5-08589FC17237}"/>
    <dgm:cxn modelId="{7680419F-8360-B143-BE19-2C82AA417D24}" srcId="{A02B755A-1857-DC45-AD97-749F71FA3CDF}" destId="{84866641-6DFA-7143-96B0-81EFD07EC810}" srcOrd="0" destOrd="0" parTransId="{66C74637-5956-F541-950C-539AF119CE9A}" sibTransId="{4DA6BC36-93F9-FD49-91B5-2624F8C42569}"/>
    <dgm:cxn modelId="{175774B7-C340-46DE-A78D-873C617CF6CE}" type="presOf" srcId="{593AC677-3545-9D46-8AAA-144139AC6036}" destId="{CBE6354C-E5A1-744F-BAC5-629F4EB38A81}" srcOrd="0" destOrd="0" presId="urn:microsoft.com/office/officeart/2005/8/layout/hList6"/>
    <dgm:cxn modelId="{2EFDEDA3-F064-4C57-923F-7DA01F3164B4}" type="presOf" srcId="{F7BFD760-6C9D-784B-95B6-37582D604067}" destId="{CBE6354C-E5A1-744F-BAC5-629F4EB38A81}" srcOrd="0" destOrd="1" presId="urn:microsoft.com/office/officeart/2005/8/layout/hList6"/>
    <dgm:cxn modelId="{10E1D97C-5BCA-F342-AB3E-3CEF01246AB1}" srcId="{593AC677-3545-9D46-8AAA-144139AC6036}" destId="{F7BFD760-6C9D-784B-95B6-37582D604067}" srcOrd="0" destOrd="0" parTransId="{A2F0A1EF-71A0-C842-99CE-8E09A79EABB9}" sibTransId="{2FAF6186-EB63-2447-BEAE-96A289582B6B}"/>
    <dgm:cxn modelId="{3DBE01C3-2561-495B-9C33-B47723FF70AD}" type="presOf" srcId="{41592CA7-ABF8-8547-A33A-8FAD17BE773D}" destId="{EB1FBD37-7AB0-4A4F-AC6C-F62C76CFE5BC}" srcOrd="0" destOrd="0" presId="urn:microsoft.com/office/officeart/2005/8/layout/hList6"/>
    <dgm:cxn modelId="{B4402BBD-9973-4637-B173-26F6B163CCCC}" type="presOf" srcId="{94B807D9-F862-5F4B-B341-A73333D79CED}" destId="{71A8BF31-B142-FF4E-BAC2-2178342505D6}" srcOrd="0" destOrd="0" presId="urn:microsoft.com/office/officeart/2005/8/layout/hList6"/>
    <dgm:cxn modelId="{BE73EB40-EEC8-9C44-9D76-C72BC1D632CA}" srcId="{41592CA7-ABF8-8547-A33A-8FAD17BE773D}" destId="{A42215A6-30EA-5645-A6BE-72F2D8176E99}" srcOrd="0" destOrd="0" parTransId="{3E3C429C-B844-0E42-A246-15CE14FBD206}" sibTransId="{0A9E1ECA-D0CE-8E43-965C-4CF6224A00DB}"/>
    <dgm:cxn modelId="{BF586545-B2B2-4F9B-A756-CF3CF3A288CE}" type="presParOf" srcId="{71A8BF31-B142-FF4E-BAC2-2178342505D6}" destId="{CBE6354C-E5A1-744F-BAC5-629F4EB38A81}" srcOrd="0" destOrd="0" presId="urn:microsoft.com/office/officeart/2005/8/layout/hList6"/>
    <dgm:cxn modelId="{09D3DD2B-9E4C-43EB-80DA-90C19CEA249B}" type="presParOf" srcId="{71A8BF31-B142-FF4E-BAC2-2178342505D6}" destId="{B64891FB-A735-014D-B8D5-4740ED157DB1}" srcOrd="1" destOrd="0" presId="urn:microsoft.com/office/officeart/2005/8/layout/hList6"/>
    <dgm:cxn modelId="{C2D1DECF-72D1-478C-997B-8F4DC9874E59}" type="presParOf" srcId="{71A8BF31-B142-FF4E-BAC2-2178342505D6}" destId="{7F33D086-23DD-EB41-B58E-E907661C3A77}" srcOrd="2" destOrd="0" presId="urn:microsoft.com/office/officeart/2005/8/layout/hList6"/>
    <dgm:cxn modelId="{2AB9EB1C-4D90-41A9-8C50-63D5E74D7B8A}" type="presParOf" srcId="{71A8BF31-B142-FF4E-BAC2-2178342505D6}" destId="{CEAAF1EA-3A46-234E-B35A-F0A91DB42E12}" srcOrd="3" destOrd="0" presId="urn:microsoft.com/office/officeart/2005/8/layout/hList6"/>
    <dgm:cxn modelId="{DB8174E6-C9B9-4E83-A227-4C1428301D19}" type="presParOf" srcId="{71A8BF31-B142-FF4E-BAC2-2178342505D6}" destId="{EB1FBD37-7AB0-4A4F-AC6C-F62C76CFE5BC}"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3A43A3-74E4-6242-AD74-2CEC8831F941}">
      <dsp:nvSpPr>
        <dsp:cNvPr id="0" name=""/>
        <dsp:cNvSpPr/>
      </dsp:nvSpPr>
      <dsp:spPr>
        <a:xfrm>
          <a:off x="0" y="382641"/>
          <a:ext cx="7391400" cy="504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F42F34A-248A-9B4C-8DA2-E1AB8DB6FB1A}">
      <dsp:nvSpPr>
        <dsp:cNvPr id="0" name=""/>
        <dsp:cNvSpPr/>
      </dsp:nvSpPr>
      <dsp:spPr>
        <a:xfrm>
          <a:off x="369209" y="43474"/>
          <a:ext cx="1977424" cy="634367"/>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5564" tIns="0" rIns="195564" bIns="0" numCol="1" spcCol="1270" anchor="ctr" anchorCtr="0">
          <a:noAutofit/>
        </a:bodyPr>
        <a:lstStyle/>
        <a:p>
          <a:pPr lvl="0" algn="l" defTabSz="711200">
            <a:lnSpc>
              <a:spcPct val="90000"/>
            </a:lnSpc>
            <a:spcBef>
              <a:spcPct val="0"/>
            </a:spcBef>
            <a:spcAft>
              <a:spcPct val="35000"/>
            </a:spcAft>
          </a:pPr>
          <a:r>
            <a:rPr lang="en-US" sz="1600" b="1" i="0" kern="1200" dirty="0" smtClean="0">
              <a:solidFill>
                <a:srgbClr val="0000FF"/>
              </a:solidFill>
            </a:rPr>
            <a:t>Key distribution</a:t>
          </a:r>
          <a:endParaRPr lang="en-US" sz="1600" b="1" i="0" kern="1200" dirty="0">
            <a:solidFill>
              <a:srgbClr val="0000FF"/>
            </a:solidFill>
          </a:endParaRPr>
        </a:p>
      </dsp:txBody>
      <dsp:txXfrm>
        <a:off x="400176" y="74441"/>
        <a:ext cx="1915490" cy="572433"/>
      </dsp:txXfrm>
    </dsp:sp>
    <dsp:sp modelId="{E034BB72-F90F-E644-B964-59D253E21B41}">
      <dsp:nvSpPr>
        <dsp:cNvPr id="0" name=""/>
        <dsp:cNvSpPr/>
      </dsp:nvSpPr>
      <dsp:spPr>
        <a:xfrm>
          <a:off x="0" y="1332125"/>
          <a:ext cx="7391400" cy="504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3655" tIns="416560" rIns="573655" bIns="170688" numCol="1" spcCol="1270" anchor="t" anchorCtr="0">
          <a:noAutofit/>
        </a:bodyPr>
        <a:lstStyle/>
        <a:p>
          <a:pPr marL="228600" lvl="1" indent="-228600" algn="l" defTabSz="1066800">
            <a:lnSpc>
              <a:spcPct val="90000"/>
            </a:lnSpc>
            <a:spcBef>
              <a:spcPct val="0"/>
            </a:spcBef>
            <a:spcAft>
              <a:spcPct val="15000"/>
            </a:spcAft>
            <a:buChar char="••"/>
          </a:pPr>
          <a:endParaRPr lang="en-US" sz="2400" b="1" i="0" kern="1200" dirty="0" smtClean="0"/>
        </a:p>
      </dsp:txBody>
      <dsp:txXfrm>
        <a:off x="0" y="1332125"/>
        <a:ext cx="7391400" cy="504000"/>
      </dsp:txXfrm>
    </dsp:sp>
    <dsp:sp modelId="{CA4E2293-290D-C34A-80FC-C37A52E5B3EA}">
      <dsp:nvSpPr>
        <dsp:cNvPr id="0" name=""/>
        <dsp:cNvSpPr/>
      </dsp:nvSpPr>
      <dsp:spPr>
        <a:xfrm>
          <a:off x="369209" y="994641"/>
          <a:ext cx="2129391" cy="632684"/>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5564" tIns="0" rIns="195564" bIns="0" numCol="1" spcCol="1270" anchor="ctr" anchorCtr="0">
          <a:noAutofit/>
        </a:bodyPr>
        <a:lstStyle/>
        <a:p>
          <a:pPr lvl="0" algn="l" defTabSz="711200">
            <a:lnSpc>
              <a:spcPct val="90000"/>
            </a:lnSpc>
            <a:spcBef>
              <a:spcPct val="0"/>
            </a:spcBef>
            <a:spcAft>
              <a:spcPct val="35000"/>
            </a:spcAft>
          </a:pPr>
          <a:r>
            <a:rPr lang="en-US" sz="1600" b="1" i="0" kern="1200" dirty="0" smtClean="0">
              <a:solidFill>
                <a:srgbClr val="0000FF"/>
              </a:solidFill>
            </a:rPr>
            <a:t>Digital signatures</a:t>
          </a:r>
        </a:p>
      </dsp:txBody>
      <dsp:txXfrm>
        <a:off x="400094" y="1025526"/>
        <a:ext cx="2067621" cy="5709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027EE2-FF3C-994D-A776-4D37484DD5FD}">
      <dsp:nvSpPr>
        <dsp:cNvPr id="0" name=""/>
        <dsp:cNvSpPr/>
      </dsp:nvSpPr>
      <dsp:spPr>
        <a:xfrm>
          <a:off x="1946" y="0"/>
          <a:ext cx="1305073" cy="44958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Plaintext</a:t>
          </a:r>
          <a:endParaRPr lang="en-US" sz="1900" kern="1200" dirty="0"/>
        </a:p>
      </dsp:txBody>
      <dsp:txXfrm>
        <a:off x="1946" y="0"/>
        <a:ext cx="1305073" cy="1348740"/>
      </dsp:txXfrm>
    </dsp:sp>
    <dsp:sp modelId="{36E59498-7C13-1140-A51E-5D3A8D84CC22}">
      <dsp:nvSpPr>
        <dsp:cNvPr id="0" name=""/>
        <dsp:cNvSpPr/>
      </dsp:nvSpPr>
      <dsp:spPr>
        <a:xfrm>
          <a:off x="132453" y="1348740"/>
          <a:ext cx="1044059" cy="292227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solidFill>
                <a:srgbClr val="0000CC"/>
              </a:solidFill>
            </a:rPr>
            <a:t>The readable message or data that is fed into the algorithm as input</a:t>
          </a:r>
        </a:p>
      </dsp:txBody>
      <dsp:txXfrm>
        <a:off x="163032" y="1379319"/>
        <a:ext cx="982901" cy="2861112"/>
      </dsp:txXfrm>
    </dsp:sp>
    <dsp:sp modelId="{2851CE41-8A79-8D45-BDED-E09AAFA1E6DB}">
      <dsp:nvSpPr>
        <dsp:cNvPr id="0" name=""/>
        <dsp:cNvSpPr/>
      </dsp:nvSpPr>
      <dsp:spPr>
        <a:xfrm>
          <a:off x="1404900" y="0"/>
          <a:ext cx="1439535" cy="44958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Encryption algorithm</a:t>
          </a:r>
        </a:p>
      </dsp:txBody>
      <dsp:txXfrm>
        <a:off x="1404900" y="0"/>
        <a:ext cx="1439535" cy="1348740"/>
      </dsp:txXfrm>
    </dsp:sp>
    <dsp:sp modelId="{6D1D3F2C-2E14-D14B-BE6E-9C2B6C4D677D}">
      <dsp:nvSpPr>
        <dsp:cNvPr id="0" name=""/>
        <dsp:cNvSpPr/>
      </dsp:nvSpPr>
      <dsp:spPr>
        <a:xfrm>
          <a:off x="1506136" y="1348740"/>
          <a:ext cx="1237063" cy="292227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solidFill>
                <a:srgbClr val="0000CC"/>
              </a:solidFill>
            </a:rPr>
            <a:t>Performs various </a:t>
          </a:r>
          <a:r>
            <a:rPr lang="en-AU" sz="1600" b="1" i="0" kern="1200" dirty="0" err="1" smtClean="0">
              <a:solidFill>
                <a:srgbClr val="0000CC"/>
              </a:solidFill>
            </a:rPr>
            <a:t>transforma-tions</a:t>
          </a:r>
          <a:r>
            <a:rPr lang="en-AU" sz="1600" b="1" i="0" kern="1200" dirty="0" smtClean="0">
              <a:solidFill>
                <a:srgbClr val="0000CC"/>
              </a:solidFill>
            </a:rPr>
            <a:t> on the plaintext</a:t>
          </a:r>
        </a:p>
      </dsp:txBody>
      <dsp:txXfrm>
        <a:off x="1542368" y="1384972"/>
        <a:ext cx="1164599" cy="2849806"/>
      </dsp:txXfrm>
    </dsp:sp>
    <dsp:sp modelId="{0CE6E98A-073C-EA48-AF0E-CA7DAE973DFD}">
      <dsp:nvSpPr>
        <dsp:cNvPr id="0" name=""/>
        <dsp:cNvSpPr/>
      </dsp:nvSpPr>
      <dsp:spPr>
        <a:xfrm>
          <a:off x="2942316" y="0"/>
          <a:ext cx="1305073" cy="44958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solidFill>
                <a:srgbClr val="FF0000"/>
              </a:solidFill>
            </a:rPr>
            <a:t>Public key</a:t>
          </a:r>
        </a:p>
      </dsp:txBody>
      <dsp:txXfrm>
        <a:off x="2942316" y="0"/>
        <a:ext cx="1305073" cy="1348740"/>
      </dsp:txXfrm>
    </dsp:sp>
    <dsp:sp modelId="{65F64760-4962-264D-8200-BFB3CE057398}">
      <dsp:nvSpPr>
        <dsp:cNvPr id="0" name=""/>
        <dsp:cNvSpPr/>
      </dsp:nvSpPr>
      <dsp:spPr>
        <a:xfrm>
          <a:off x="3005894" y="1348740"/>
          <a:ext cx="1177917" cy="292227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solidFill>
                <a:srgbClr val="0000CC"/>
              </a:solidFill>
            </a:rPr>
            <a:t>Used for encryption or decryption</a:t>
          </a:r>
        </a:p>
      </dsp:txBody>
      <dsp:txXfrm>
        <a:off x="3040394" y="1383240"/>
        <a:ext cx="1108917" cy="2853270"/>
      </dsp:txXfrm>
    </dsp:sp>
    <dsp:sp modelId="{1780A409-40A8-FC4D-B6F6-DDE3780A5EE1}">
      <dsp:nvSpPr>
        <dsp:cNvPr id="0" name=""/>
        <dsp:cNvSpPr/>
      </dsp:nvSpPr>
      <dsp:spPr>
        <a:xfrm>
          <a:off x="4345271" y="0"/>
          <a:ext cx="1305073" cy="44958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solidFill>
                <a:srgbClr val="FF0000"/>
              </a:solidFill>
            </a:rPr>
            <a:t>Private key</a:t>
          </a:r>
        </a:p>
      </dsp:txBody>
      <dsp:txXfrm>
        <a:off x="4345271" y="0"/>
        <a:ext cx="1305073" cy="1348740"/>
      </dsp:txXfrm>
    </dsp:sp>
    <dsp:sp modelId="{A594F0DC-0987-834E-B36D-EF0A1E13AA4F}">
      <dsp:nvSpPr>
        <dsp:cNvPr id="0" name=""/>
        <dsp:cNvSpPr/>
      </dsp:nvSpPr>
      <dsp:spPr>
        <a:xfrm>
          <a:off x="4433013" y="1348740"/>
          <a:ext cx="1129588" cy="292227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solidFill>
                <a:srgbClr val="0000CC"/>
              </a:solidFill>
            </a:rPr>
            <a:t>Used for encryption or decryption</a:t>
          </a:r>
        </a:p>
      </dsp:txBody>
      <dsp:txXfrm>
        <a:off x="4466098" y="1381825"/>
        <a:ext cx="1063418" cy="2856100"/>
      </dsp:txXfrm>
    </dsp:sp>
    <dsp:sp modelId="{02D0EA8E-2F99-4F48-BE72-93FBD45D331E}">
      <dsp:nvSpPr>
        <dsp:cNvPr id="0" name=""/>
        <dsp:cNvSpPr/>
      </dsp:nvSpPr>
      <dsp:spPr>
        <a:xfrm>
          <a:off x="5748225" y="0"/>
          <a:ext cx="1305073" cy="44958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smtClean="0"/>
            <a:t>Ciphertext</a:t>
          </a:r>
          <a:endParaRPr lang="en-AU" sz="1900" kern="1200" dirty="0" smtClean="0"/>
        </a:p>
      </dsp:txBody>
      <dsp:txXfrm>
        <a:off x="5748225" y="0"/>
        <a:ext cx="1305073" cy="1348740"/>
      </dsp:txXfrm>
    </dsp:sp>
    <dsp:sp modelId="{7B64A146-C0A8-8940-9124-D931298D8CF9}">
      <dsp:nvSpPr>
        <dsp:cNvPr id="0" name=""/>
        <dsp:cNvSpPr/>
      </dsp:nvSpPr>
      <dsp:spPr>
        <a:xfrm>
          <a:off x="5878732" y="1348740"/>
          <a:ext cx="1044059" cy="292227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AU" sz="1400" b="1" i="0" kern="1200" dirty="0" smtClean="0">
              <a:solidFill>
                <a:srgbClr val="0000CC"/>
              </a:solidFill>
            </a:rPr>
            <a:t>The scrambled message produced as output</a:t>
          </a:r>
        </a:p>
      </dsp:txBody>
      <dsp:txXfrm>
        <a:off x="5909311" y="1379319"/>
        <a:ext cx="982901" cy="2861112"/>
      </dsp:txXfrm>
    </dsp:sp>
    <dsp:sp modelId="{E0C1B328-6EE2-9646-B970-3DC2BBC44A27}">
      <dsp:nvSpPr>
        <dsp:cNvPr id="0" name=""/>
        <dsp:cNvSpPr/>
      </dsp:nvSpPr>
      <dsp:spPr>
        <a:xfrm>
          <a:off x="7151179" y="0"/>
          <a:ext cx="1305073" cy="44958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smtClean="0"/>
            <a:t>Decryption algorithm</a:t>
          </a:r>
          <a:endParaRPr lang="en-AU" sz="1900" kern="1200" dirty="0" smtClean="0"/>
        </a:p>
      </dsp:txBody>
      <dsp:txXfrm>
        <a:off x="7151179" y="0"/>
        <a:ext cx="1305073" cy="1348740"/>
      </dsp:txXfrm>
    </dsp:sp>
    <dsp:sp modelId="{3365488A-89BC-3D4A-B118-9EF5A0947EA3}">
      <dsp:nvSpPr>
        <dsp:cNvPr id="0" name=""/>
        <dsp:cNvSpPr/>
      </dsp:nvSpPr>
      <dsp:spPr>
        <a:xfrm>
          <a:off x="7281687" y="1348740"/>
          <a:ext cx="1044059" cy="292227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solidFill>
                <a:srgbClr val="0000CC"/>
              </a:solidFill>
            </a:rPr>
            <a:t>Accepts the </a:t>
          </a:r>
          <a:r>
            <a:rPr lang="en-AU" sz="1600" b="1" i="0" kern="1200" dirty="0" err="1" smtClean="0">
              <a:solidFill>
                <a:srgbClr val="0000CC"/>
              </a:solidFill>
            </a:rPr>
            <a:t>ciphertext</a:t>
          </a:r>
          <a:r>
            <a:rPr lang="en-AU" sz="1600" b="1" i="0" kern="1200" dirty="0" smtClean="0">
              <a:solidFill>
                <a:srgbClr val="0000CC"/>
              </a:solidFill>
            </a:rPr>
            <a:t> and the matching key and produces the original plaintext</a:t>
          </a:r>
          <a:endParaRPr lang="en-AU" sz="1600" b="1" i="0" kern="1200" dirty="0">
            <a:solidFill>
              <a:srgbClr val="0000CC"/>
            </a:solidFill>
          </a:endParaRPr>
        </a:p>
      </dsp:txBody>
      <dsp:txXfrm>
        <a:off x="7312266" y="1379319"/>
        <a:ext cx="982901" cy="28611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D9C8C0-9CDA-1647-B0C7-6CBB40C6D8A2}">
      <dsp:nvSpPr>
        <dsp:cNvPr id="0" name=""/>
        <dsp:cNvSpPr/>
      </dsp:nvSpPr>
      <dsp:spPr>
        <a:xfrm>
          <a:off x="3323227" y="2065952"/>
          <a:ext cx="1667869" cy="1820250"/>
        </a:xfrm>
        <a:prstGeom prst="ellipse">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i="0" kern="1200" dirty="0" smtClean="0">
              <a:solidFill>
                <a:schemeClr val="tx1"/>
              </a:solidFill>
            </a:rPr>
            <a:t>Five possible approaches to attacking RSA are:</a:t>
          </a:r>
          <a:endParaRPr lang="en-US" sz="1800" b="1" i="0" kern="1200" dirty="0">
            <a:solidFill>
              <a:schemeClr val="tx1"/>
            </a:solidFill>
          </a:endParaRPr>
        </a:p>
      </dsp:txBody>
      <dsp:txXfrm>
        <a:off x="3567481" y="2332521"/>
        <a:ext cx="1179361" cy="1287112"/>
      </dsp:txXfrm>
    </dsp:sp>
    <dsp:sp modelId="{6BB79F80-DF22-0646-815E-3D896A95FBB0}">
      <dsp:nvSpPr>
        <dsp:cNvPr id="0" name=""/>
        <dsp:cNvSpPr/>
      </dsp:nvSpPr>
      <dsp:spPr>
        <a:xfrm rot="16238570">
          <a:off x="4064649" y="1945832"/>
          <a:ext cx="207776" cy="32614"/>
        </a:xfrm>
        <a:custGeom>
          <a:avLst/>
          <a:gdLst/>
          <a:ahLst/>
          <a:cxnLst/>
          <a:rect l="0" t="0" r="0" b="0"/>
          <a:pathLst>
            <a:path>
              <a:moveTo>
                <a:pt x="0" y="16307"/>
              </a:moveTo>
              <a:lnTo>
                <a:pt x="207776" y="16307"/>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163343" y="1956945"/>
        <a:ext cx="10388" cy="10388"/>
      </dsp:txXfrm>
    </dsp:sp>
    <dsp:sp modelId="{5ECF65A2-A9EC-B940-B497-AA098945971A}">
      <dsp:nvSpPr>
        <dsp:cNvPr id="0" name=""/>
        <dsp:cNvSpPr/>
      </dsp:nvSpPr>
      <dsp:spPr>
        <a:xfrm>
          <a:off x="3162297" y="76195"/>
          <a:ext cx="2034806" cy="1782105"/>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glow rad="101600">
            <a:schemeClr val="bg1">
              <a:alpha val="75000"/>
            </a:schemeClr>
          </a:glow>
          <a:softEdge rad="1270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    Brute force</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Involves trying all possible private keys</a:t>
          </a:r>
          <a:endParaRPr lang="en-AU" sz="1600" b="1" i="0" kern="1200" dirty="0">
            <a:solidFill>
              <a:srgbClr val="2F1F58"/>
            </a:solidFill>
          </a:endParaRPr>
        </a:p>
      </dsp:txBody>
      <dsp:txXfrm>
        <a:off x="3460287" y="337178"/>
        <a:ext cx="1438826" cy="1260139"/>
      </dsp:txXfrm>
    </dsp:sp>
    <dsp:sp modelId="{3FD3A4A6-C5C2-1C4A-A6CE-6300D7BBADD2}">
      <dsp:nvSpPr>
        <dsp:cNvPr id="0" name=""/>
        <dsp:cNvSpPr/>
      </dsp:nvSpPr>
      <dsp:spPr>
        <a:xfrm rot="19923934">
          <a:off x="4856183" y="2356717"/>
          <a:ext cx="876587" cy="32614"/>
        </a:xfrm>
        <a:custGeom>
          <a:avLst/>
          <a:gdLst/>
          <a:ahLst/>
          <a:cxnLst/>
          <a:rect l="0" t="0" r="0" b="0"/>
          <a:pathLst>
            <a:path>
              <a:moveTo>
                <a:pt x="0" y="16307"/>
              </a:moveTo>
              <a:lnTo>
                <a:pt x="876587" y="16307"/>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72562" y="2351110"/>
        <a:ext cx="43829" cy="43829"/>
      </dsp:txXfrm>
    </dsp:sp>
    <dsp:sp modelId="{02C2359B-6912-8F4D-8857-2A5555F873C2}">
      <dsp:nvSpPr>
        <dsp:cNvPr id="0" name=""/>
        <dsp:cNvSpPr/>
      </dsp:nvSpPr>
      <dsp:spPr>
        <a:xfrm>
          <a:off x="5356466" y="457198"/>
          <a:ext cx="3101733" cy="2121242"/>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glow rad="101600">
            <a:schemeClr val="bg1">
              <a:alpha val="75000"/>
            </a:schemeClr>
          </a:glow>
          <a:softEdge rad="1270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   Mathematical attacks </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There are several approaches, all equivalent in effort to factoring the product of two primes</a:t>
          </a:r>
          <a:endParaRPr lang="en-US" sz="1600" b="1" i="0" kern="1200" dirty="0">
            <a:solidFill>
              <a:srgbClr val="2F1F58"/>
            </a:solidFill>
          </a:endParaRPr>
        </a:p>
      </dsp:txBody>
      <dsp:txXfrm>
        <a:off x="5810704" y="767847"/>
        <a:ext cx="2193257" cy="1499944"/>
      </dsp:txXfrm>
    </dsp:sp>
    <dsp:sp modelId="{5B345D64-FF47-AC48-BFC7-DA71BABB422E}">
      <dsp:nvSpPr>
        <dsp:cNvPr id="0" name=""/>
        <dsp:cNvSpPr/>
      </dsp:nvSpPr>
      <dsp:spPr>
        <a:xfrm rot="1346815">
          <a:off x="4914906" y="3393757"/>
          <a:ext cx="585485" cy="32614"/>
        </a:xfrm>
        <a:custGeom>
          <a:avLst/>
          <a:gdLst/>
          <a:ahLst/>
          <a:cxnLst/>
          <a:rect l="0" t="0" r="0" b="0"/>
          <a:pathLst>
            <a:path>
              <a:moveTo>
                <a:pt x="0" y="16307"/>
              </a:moveTo>
              <a:lnTo>
                <a:pt x="585485" y="16307"/>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193012" y="3395427"/>
        <a:ext cx="29274" cy="29274"/>
      </dsp:txXfrm>
    </dsp:sp>
    <dsp:sp modelId="{CDADC5E6-FF26-6E4C-9749-F104E4D07792}">
      <dsp:nvSpPr>
        <dsp:cNvPr id="0" name=""/>
        <dsp:cNvSpPr/>
      </dsp:nvSpPr>
      <dsp:spPr>
        <a:xfrm>
          <a:off x="5295895" y="2971803"/>
          <a:ext cx="2887055" cy="2142161"/>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glow rad="101600">
            <a:schemeClr val="bg1">
              <a:alpha val="75000"/>
            </a:schemeClr>
          </a:glow>
          <a:softEdge rad="1270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Timing attacks</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These depend on the running time of the decryption algorithm</a:t>
          </a:r>
          <a:endParaRPr lang="en-US" sz="1600" b="1" i="0" kern="1200" dirty="0">
            <a:solidFill>
              <a:srgbClr val="2F1F58"/>
            </a:solidFill>
          </a:endParaRPr>
        </a:p>
      </dsp:txBody>
      <dsp:txXfrm>
        <a:off x="5718694" y="3285515"/>
        <a:ext cx="2041457" cy="1514737"/>
      </dsp:txXfrm>
    </dsp:sp>
    <dsp:sp modelId="{E7015661-1956-144D-9BC2-79A2B9BEC4D3}">
      <dsp:nvSpPr>
        <dsp:cNvPr id="0" name=""/>
        <dsp:cNvSpPr/>
      </dsp:nvSpPr>
      <dsp:spPr>
        <a:xfrm rot="9454536">
          <a:off x="2986271" y="3359144"/>
          <a:ext cx="406214" cy="32614"/>
        </a:xfrm>
        <a:custGeom>
          <a:avLst/>
          <a:gdLst/>
          <a:ahLst/>
          <a:cxnLst/>
          <a:rect l="0" t="0" r="0" b="0"/>
          <a:pathLst>
            <a:path>
              <a:moveTo>
                <a:pt x="0" y="16307"/>
              </a:moveTo>
              <a:lnTo>
                <a:pt x="406214" y="16307"/>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3179223" y="3365296"/>
        <a:ext cx="20310" cy="20310"/>
      </dsp:txXfrm>
    </dsp:sp>
    <dsp:sp modelId="{6E586F6C-941C-DD41-B10E-DE5B337460AD}">
      <dsp:nvSpPr>
        <dsp:cNvPr id="0" name=""/>
        <dsp:cNvSpPr/>
      </dsp:nvSpPr>
      <dsp:spPr>
        <a:xfrm>
          <a:off x="152401" y="2895591"/>
          <a:ext cx="3049244" cy="2207922"/>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glow rad="101600">
            <a:schemeClr val="bg1">
              <a:alpha val="75000"/>
            </a:schemeClr>
          </a:glow>
          <a:softEdge rad="635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 Hardware fault-based attack</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This involves inducing hardware faults in the processor that is generating digital signatures</a:t>
          </a:r>
          <a:endParaRPr lang="en-US" sz="1600" b="1" i="0" kern="1200" dirty="0">
            <a:solidFill>
              <a:srgbClr val="2F1F58"/>
            </a:solidFill>
          </a:endParaRPr>
        </a:p>
      </dsp:txBody>
      <dsp:txXfrm>
        <a:off x="598952" y="3218934"/>
        <a:ext cx="2156142" cy="1561236"/>
      </dsp:txXfrm>
    </dsp:sp>
    <dsp:sp modelId="{26EC5283-A8E7-2844-B56C-8060EDE92406}">
      <dsp:nvSpPr>
        <dsp:cNvPr id="0" name=""/>
        <dsp:cNvSpPr/>
      </dsp:nvSpPr>
      <dsp:spPr>
        <a:xfrm rot="12537215">
          <a:off x="2678076" y="2358417"/>
          <a:ext cx="784279" cy="32614"/>
        </a:xfrm>
        <a:custGeom>
          <a:avLst/>
          <a:gdLst/>
          <a:ahLst/>
          <a:cxnLst/>
          <a:rect l="0" t="0" r="0" b="0"/>
          <a:pathLst>
            <a:path>
              <a:moveTo>
                <a:pt x="0" y="16307"/>
              </a:moveTo>
              <a:lnTo>
                <a:pt x="784279" y="16307"/>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3050608" y="2355117"/>
        <a:ext cx="39213" cy="39213"/>
      </dsp:txXfrm>
    </dsp:sp>
    <dsp:sp modelId="{FB2E1E33-9AB3-9E4A-BD84-C9A8E59E5969}">
      <dsp:nvSpPr>
        <dsp:cNvPr id="0" name=""/>
        <dsp:cNvSpPr/>
      </dsp:nvSpPr>
      <dsp:spPr>
        <a:xfrm>
          <a:off x="190502" y="380999"/>
          <a:ext cx="2763041" cy="2329698"/>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glow rad="101600">
            <a:schemeClr val="bg1">
              <a:alpha val="75000"/>
            </a:schemeClr>
          </a:glow>
          <a:softEdge rad="127000"/>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l" defTabSz="711200" rtl="0">
            <a:lnSpc>
              <a:spcPct val="90000"/>
            </a:lnSpc>
            <a:spcBef>
              <a:spcPct val="0"/>
            </a:spcBef>
            <a:spcAft>
              <a:spcPct val="35000"/>
            </a:spcAft>
          </a:pPr>
          <a:r>
            <a:rPr lang="en-US" sz="1600" b="1" i="0" kern="1200" dirty="0" smtClean="0">
              <a:solidFill>
                <a:srgbClr val="2F1F58"/>
              </a:solidFill>
            </a:rPr>
            <a:t> Chosen </a:t>
          </a:r>
          <a:r>
            <a:rPr lang="en-US" sz="1600" b="1" i="0" kern="1200" dirty="0" err="1" smtClean="0">
              <a:solidFill>
                <a:srgbClr val="2F1F58"/>
              </a:solidFill>
            </a:rPr>
            <a:t>ciphertext</a:t>
          </a:r>
          <a:r>
            <a:rPr lang="en-US" sz="1600" b="1" i="0" kern="1200" dirty="0" smtClean="0">
              <a:solidFill>
                <a:srgbClr val="2F1F58"/>
              </a:solidFill>
            </a:rPr>
            <a:t>     attacks</a:t>
          </a:r>
          <a:endParaRPr lang="en-US" sz="16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solidFill>
                <a:srgbClr val="2F1F58"/>
              </a:solidFill>
            </a:rPr>
            <a:t>This type of attack exploits properties of the RSA algorithm</a:t>
          </a:r>
          <a:endParaRPr lang="en-AU" sz="1600" b="1" i="0" kern="1200" dirty="0">
            <a:solidFill>
              <a:srgbClr val="2F1F58"/>
            </a:solidFill>
          </a:endParaRPr>
        </a:p>
      </dsp:txBody>
      <dsp:txXfrm>
        <a:off x="595140" y="722175"/>
        <a:ext cx="1953765" cy="16473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E6354C-E5A1-744F-BAC5-629F4EB38A81}">
      <dsp:nvSpPr>
        <dsp:cNvPr id="0" name=""/>
        <dsp:cNvSpPr/>
      </dsp:nvSpPr>
      <dsp:spPr>
        <a:xfrm rot="16200000">
          <a:off x="-1193194" y="1194118"/>
          <a:ext cx="4791075" cy="2402837"/>
        </a:xfrm>
        <a:prstGeom prst="flowChartManualOperation">
          <a:avLst/>
        </a:prstGeom>
        <a:solidFill>
          <a:schemeClr val="bg1"/>
        </a:solidFill>
        <a:ln>
          <a:solidFill>
            <a:schemeClr val="bg2">
              <a:lumMod val="75000"/>
            </a:schemeClr>
          </a:solidFill>
        </a:ln>
        <a:effectLst>
          <a:glow rad="101600">
            <a:schemeClr val="accent1">
              <a:alpha val="75000"/>
            </a:schemeClr>
          </a:glow>
          <a:softEdge rad="101600"/>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393" bIns="0" numCol="1" spcCol="1270" anchor="t" anchorCtr="0">
          <a:noAutofit/>
        </a:bodyPr>
        <a:lstStyle/>
        <a:p>
          <a:pPr lvl="0" algn="l" defTabSz="800100" rtl="0">
            <a:lnSpc>
              <a:spcPct val="90000"/>
            </a:lnSpc>
            <a:spcBef>
              <a:spcPct val="0"/>
            </a:spcBef>
            <a:spcAft>
              <a:spcPct val="35000"/>
            </a:spcAft>
          </a:pPr>
          <a:r>
            <a:rPr lang="en-US" sz="1800" b="1" kern="1200" dirty="0" smtClean="0">
              <a:solidFill>
                <a:schemeClr val="tx1"/>
              </a:solidFill>
            </a:rPr>
            <a:t>Constant exponentiation time</a:t>
          </a:r>
          <a:endParaRPr lang="en-US" sz="1800" b="1" kern="1200" dirty="0">
            <a:solidFill>
              <a:schemeClr val="tx1"/>
            </a:solidFill>
          </a:endParaRPr>
        </a:p>
        <a:p>
          <a:pPr marL="114300" lvl="1" indent="-114300" algn="l" defTabSz="622300" rtl="0">
            <a:lnSpc>
              <a:spcPct val="90000"/>
            </a:lnSpc>
            <a:spcBef>
              <a:spcPct val="0"/>
            </a:spcBef>
            <a:spcAft>
              <a:spcPct val="15000"/>
            </a:spcAft>
            <a:buChar char="••"/>
          </a:pPr>
          <a:r>
            <a:rPr lang="en-US" sz="1400" b="0" kern="1200" dirty="0" smtClean="0">
              <a:solidFill>
                <a:schemeClr val="tx1"/>
              </a:solidFill>
            </a:rPr>
            <a:t>Ensure that all exponentiations take the same amount of time before returning a result; this is a simple fix but does degrade performance</a:t>
          </a:r>
          <a:endParaRPr lang="en-US" sz="1400" b="0" kern="1200" dirty="0">
            <a:solidFill>
              <a:schemeClr val="tx1"/>
            </a:solidFill>
          </a:endParaRPr>
        </a:p>
      </dsp:txBody>
      <dsp:txXfrm rot="5400000">
        <a:off x="925" y="958214"/>
        <a:ext cx="2402837" cy="2874645"/>
      </dsp:txXfrm>
    </dsp:sp>
    <dsp:sp modelId="{7F33D086-23DD-EB41-B58E-E907661C3A77}">
      <dsp:nvSpPr>
        <dsp:cNvPr id="0" name=""/>
        <dsp:cNvSpPr/>
      </dsp:nvSpPr>
      <dsp:spPr>
        <a:xfrm rot="16200000">
          <a:off x="1389855" y="1194118"/>
          <a:ext cx="4791075" cy="2402837"/>
        </a:xfrm>
        <a:prstGeom prst="flowChartManualOperation">
          <a:avLst/>
        </a:prstGeom>
        <a:solidFill>
          <a:schemeClr val="bg1"/>
        </a:solidFill>
        <a:ln>
          <a:noFill/>
        </a:ln>
        <a:effectLst>
          <a:glow rad="101600">
            <a:schemeClr val="accent1">
              <a:alpha val="75000"/>
            </a:schemeClr>
          </a:glow>
          <a:softEdge rad="101600"/>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393" bIns="0" numCol="1" spcCol="1270" anchor="t" anchorCtr="0">
          <a:noAutofit/>
        </a:bodyPr>
        <a:lstStyle/>
        <a:p>
          <a:pPr lvl="0" algn="l" defTabSz="800100" rtl="0">
            <a:lnSpc>
              <a:spcPct val="90000"/>
            </a:lnSpc>
            <a:spcBef>
              <a:spcPct val="0"/>
            </a:spcBef>
            <a:spcAft>
              <a:spcPct val="35000"/>
            </a:spcAft>
          </a:pPr>
          <a:r>
            <a:rPr lang="en-US" sz="1800" b="1" kern="1200" dirty="0" smtClean="0">
              <a:solidFill>
                <a:schemeClr val="tx1"/>
              </a:solidFill>
            </a:rPr>
            <a:t>Random delay</a:t>
          </a:r>
          <a:endParaRPr lang="en-US" sz="1800" b="1" kern="1200" dirty="0">
            <a:solidFill>
              <a:schemeClr val="tx1"/>
            </a:solidFill>
          </a:endParaRPr>
        </a:p>
        <a:p>
          <a:pPr marL="114300" lvl="1" indent="-114300" algn="l" defTabSz="622300" rtl="0">
            <a:lnSpc>
              <a:spcPct val="90000"/>
            </a:lnSpc>
            <a:spcBef>
              <a:spcPct val="0"/>
            </a:spcBef>
            <a:spcAft>
              <a:spcPct val="15000"/>
            </a:spcAft>
            <a:buChar char="••"/>
          </a:pPr>
          <a:r>
            <a:rPr lang="en-US" sz="1400" b="0" kern="1200" dirty="0" smtClean="0">
              <a:solidFill>
                <a:schemeClr val="tx1"/>
              </a:solidFill>
            </a:rPr>
            <a:t>Better performance could be achieved by adding a random delay to the exponentiation algorithm to confuse the timing attack</a:t>
          </a:r>
          <a:endParaRPr lang="en-US" sz="1400" b="0" kern="1200" dirty="0">
            <a:solidFill>
              <a:schemeClr val="tx1"/>
            </a:solidFill>
          </a:endParaRPr>
        </a:p>
      </dsp:txBody>
      <dsp:txXfrm rot="5400000">
        <a:off x="2583974" y="958214"/>
        <a:ext cx="2402837" cy="2874645"/>
      </dsp:txXfrm>
    </dsp:sp>
    <dsp:sp modelId="{EB1FBD37-7AB0-4A4F-AC6C-F62C76CFE5BC}">
      <dsp:nvSpPr>
        <dsp:cNvPr id="0" name=""/>
        <dsp:cNvSpPr/>
      </dsp:nvSpPr>
      <dsp:spPr>
        <a:xfrm rot="16200000">
          <a:off x="3972906" y="1194118"/>
          <a:ext cx="4791075" cy="2402837"/>
        </a:xfrm>
        <a:prstGeom prst="flowChartManualOperation">
          <a:avLst/>
        </a:prstGeom>
        <a:solidFill>
          <a:schemeClr val="bg1"/>
        </a:solidFill>
        <a:ln>
          <a:noFill/>
        </a:ln>
        <a:effectLst>
          <a:glow rad="101600">
            <a:schemeClr val="accent1">
              <a:alpha val="75000"/>
            </a:schemeClr>
          </a:glow>
          <a:softEdge rad="101600"/>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393" bIns="0" numCol="1" spcCol="1270" anchor="t" anchorCtr="0">
          <a:noAutofit/>
        </a:bodyPr>
        <a:lstStyle/>
        <a:p>
          <a:pPr lvl="0" algn="l" defTabSz="800100" rtl="0">
            <a:lnSpc>
              <a:spcPct val="90000"/>
            </a:lnSpc>
            <a:spcBef>
              <a:spcPct val="0"/>
            </a:spcBef>
            <a:spcAft>
              <a:spcPct val="35000"/>
            </a:spcAft>
          </a:pPr>
          <a:r>
            <a:rPr lang="en-US" sz="1800" b="1" kern="1200" dirty="0" smtClean="0">
              <a:solidFill>
                <a:schemeClr val="tx1"/>
              </a:solidFill>
            </a:rPr>
            <a:t>Blinding</a:t>
          </a:r>
          <a:endParaRPr lang="en-US" sz="1800" b="1" kern="1200" dirty="0">
            <a:solidFill>
              <a:schemeClr val="tx1"/>
            </a:solidFill>
          </a:endParaRPr>
        </a:p>
        <a:p>
          <a:pPr marL="114300" lvl="1" indent="-114300" algn="l" defTabSz="622300" rtl="0">
            <a:lnSpc>
              <a:spcPct val="90000"/>
            </a:lnSpc>
            <a:spcBef>
              <a:spcPct val="0"/>
            </a:spcBef>
            <a:spcAft>
              <a:spcPct val="15000"/>
            </a:spcAft>
            <a:buChar char="••"/>
          </a:pPr>
          <a:r>
            <a:rPr lang="en-US" sz="1400" b="0" kern="1200" dirty="0" smtClean="0">
              <a:solidFill>
                <a:schemeClr val="tx1"/>
              </a:solidFill>
            </a:rPr>
            <a:t>Multiply the </a:t>
          </a:r>
          <a:r>
            <a:rPr lang="en-US" sz="1400" b="0" kern="1200" dirty="0" err="1" smtClean="0">
              <a:solidFill>
                <a:schemeClr val="tx1"/>
              </a:solidFill>
            </a:rPr>
            <a:t>ciphertext</a:t>
          </a:r>
          <a:r>
            <a:rPr lang="en-US" sz="1400" b="0" kern="1200" dirty="0" smtClean="0">
              <a:solidFill>
                <a:schemeClr val="tx1"/>
              </a:solidFill>
            </a:rPr>
            <a:t> by a random number before performing exponentiation; this process prevents the attacker from knowing what </a:t>
          </a:r>
          <a:r>
            <a:rPr lang="en-US" sz="1400" b="0" kern="1200" dirty="0" err="1" smtClean="0">
              <a:solidFill>
                <a:schemeClr val="tx1"/>
              </a:solidFill>
            </a:rPr>
            <a:t>ciphertext</a:t>
          </a:r>
          <a:r>
            <a:rPr lang="en-US" sz="1400" b="0" kern="1200" dirty="0" smtClean="0">
              <a:solidFill>
                <a:schemeClr val="tx1"/>
              </a:solidFill>
            </a:rPr>
            <a:t> bits are being processed inside the computer and therefore prevents the bit-by-bit analysis essential to the timing attack</a:t>
          </a:r>
          <a:endParaRPr lang="en-US" sz="1400" b="0" kern="1200" dirty="0">
            <a:solidFill>
              <a:schemeClr val="tx1"/>
            </a:solidFill>
          </a:endParaRPr>
        </a:p>
      </dsp:txBody>
      <dsp:txXfrm rot="5400000">
        <a:off x="5167025" y="958214"/>
        <a:ext cx="2402837" cy="287464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4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5847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5847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5847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6F33488A-B7C6-480F-B7F5-4587EE4CC9F6}" type="slidenum">
              <a:rPr lang="en-US"/>
              <a:pPr>
                <a:defRPr/>
              </a:pPr>
              <a:t>‹#›</a:t>
            </a:fld>
            <a:endParaRPr lang="en-US" dirty="0"/>
          </a:p>
        </p:txBody>
      </p:sp>
    </p:spTree>
    <p:extLst>
      <p:ext uri="{BB962C8B-B14F-4D97-AF65-F5344CB8AC3E}">
        <p14:creationId xmlns:p14="http://schemas.microsoft.com/office/powerpoint/2010/main" val="4850823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573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809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73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73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573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749F2D50-6E2B-46EF-97FB-6F795E0BE53E}" type="slidenum">
              <a:rPr lang="en-US"/>
              <a:pPr>
                <a:defRPr/>
              </a:pPr>
              <a:t>‹#›</a:t>
            </a:fld>
            <a:endParaRPr lang="en-US" dirty="0"/>
          </a:p>
        </p:txBody>
      </p:sp>
    </p:spTree>
    <p:extLst>
      <p:ext uri="{BB962C8B-B14F-4D97-AF65-F5344CB8AC3E}">
        <p14:creationId xmlns:p14="http://schemas.microsoft.com/office/powerpoint/2010/main" val="36757495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cesg.gov.uk/about/nsecret/ellis.htm"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416EB191-7A21-9F49-A2FA-84FAF8C0EE27}" type="slidenum">
              <a:rPr lang="en-AU">
                <a:latin typeface="Arial" pitchFamily="-84" charset="0"/>
              </a:rPr>
              <a:pPr/>
              <a:t>4</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concept of public-key cryptography evolved from an attempt to attack two of</a:t>
            </a:r>
          </a:p>
          <a:p>
            <a:r>
              <a:rPr lang="en-US" sz="1200" kern="1200" baseline="0" dirty="0" smtClean="0">
                <a:solidFill>
                  <a:schemeClr val="tx1"/>
                </a:solidFill>
                <a:latin typeface="Arial" charset="0"/>
                <a:ea typeface="ＭＳ Ｐゴシック" pitchFamily="-107" charset="-128"/>
                <a:cs typeface="ＭＳ Ｐゴシック" pitchFamily="-107" charset="-128"/>
              </a:rPr>
              <a:t>the most difficult problems associated with symmetric encryption. The first problem</a:t>
            </a:r>
          </a:p>
          <a:p>
            <a:r>
              <a:rPr lang="en-US" sz="1200" kern="1200" baseline="0" dirty="0" smtClean="0">
                <a:solidFill>
                  <a:schemeClr val="tx1"/>
                </a:solidFill>
                <a:latin typeface="Arial" charset="0"/>
                <a:ea typeface="ＭＳ Ｐゴシック" pitchFamily="-107" charset="-128"/>
                <a:cs typeface="ＭＳ Ｐゴシック" pitchFamily="-107" charset="-128"/>
              </a:rPr>
              <a:t>is that of key distribution, which is examined in some detail in Chapter 14.</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Chapter 14 discusses, key distribution under symmetric encryption requires</a:t>
            </a:r>
          </a:p>
          <a:p>
            <a:r>
              <a:rPr lang="en-US" sz="1200" kern="1200" baseline="0" dirty="0" smtClean="0">
                <a:solidFill>
                  <a:schemeClr val="tx1"/>
                </a:solidFill>
                <a:latin typeface="Arial" charset="0"/>
                <a:ea typeface="ＭＳ Ｐゴシック" pitchFamily="-107" charset="-128"/>
                <a:cs typeface="ＭＳ Ｐゴシック" pitchFamily="-107" charset="-128"/>
              </a:rPr>
              <a:t>either (1) that two communicants already share a key, which somehow has been distributed</a:t>
            </a:r>
          </a:p>
          <a:p>
            <a:r>
              <a:rPr lang="en-US" sz="1200" kern="1200" baseline="0" dirty="0" smtClean="0">
                <a:solidFill>
                  <a:schemeClr val="tx1"/>
                </a:solidFill>
                <a:latin typeface="Arial" charset="0"/>
                <a:ea typeface="ＭＳ Ｐゴシック" pitchFamily="-107" charset="-128"/>
                <a:cs typeface="ＭＳ Ｐゴシック" pitchFamily="-107" charset="-128"/>
              </a:rPr>
              <a:t>to them; or (2) the use of a key distribution center. Whitfield Diffie, one</a:t>
            </a:r>
          </a:p>
          <a:p>
            <a:r>
              <a:rPr lang="en-US" sz="1200" kern="1200" baseline="0" dirty="0" smtClean="0">
                <a:solidFill>
                  <a:schemeClr val="tx1"/>
                </a:solidFill>
                <a:latin typeface="Arial" charset="0"/>
                <a:ea typeface="ＭＳ Ｐゴシック" pitchFamily="-107" charset="-128"/>
                <a:cs typeface="ＭＳ Ｐゴシック" pitchFamily="-107" charset="-128"/>
              </a:rPr>
              <a:t>of the discoverers of public-key encryption (along with Martin Hellman, both at</a:t>
            </a:r>
          </a:p>
          <a:p>
            <a:r>
              <a:rPr lang="en-US" sz="1200" kern="1200" baseline="0" dirty="0" smtClean="0">
                <a:solidFill>
                  <a:schemeClr val="tx1"/>
                </a:solidFill>
                <a:latin typeface="Arial" charset="0"/>
                <a:ea typeface="ＭＳ Ｐゴシック" pitchFamily="-107" charset="-128"/>
                <a:cs typeface="ＭＳ Ｐゴシック" pitchFamily="-107" charset="-128"/>
              </a:rPr>
              <a:t>Stanford University at the time), reasoned that this second requirement negated</a:t>
            </a:r>
          </a:p>
          <a:p>
            <a:r>
              <a:rPr lang="en-US" sz="1200" kern="1200" baseline="0" dirty="0" smtClean="0">
                <a:solidFill>
                  <a:schemeClr val="tx1"/>
                </a:solidFill>
                <a:latin typeface="Arial" charset="0"/>
                <a:ea typeface="ＭＳ Ｐゴシック" pitchFamily="-107" charset="-128"/>
                <a:cs typeface="ＭＳ Ｐゴシック" pitchFamily="-107" charset="-128"/>
              </a:rPr>
              <a:t>the very essence of cryptography: the ability to maintain total secrecy over your</a:t>
            </a:r>
          </a:p>
          <a:p>
            <a:r>
              <a:rPr lang="en-US" sz="1200" kern="1200" baseline="0" dirty="0" smtClean="0">
                <a:solidFill>
                  <a:schemeClr val="tx1"/>
                </a:solidFill>
                <a:latin typeface="Arial" charset="0"/>
                <a:ea typeface="ＭＳ Ｐゴシック" pitchFamily="-107" charset="-128"/>
                <a:cs typeface="ＭＳ Ｐゴシック" pitchFamily="-107" charset="-128"/>
              </a:rPr>
              <a:t>own communication. As Diffie put it [DIFF88], “what good would it do after all to</a:t>
            </a:r>
          </a:p>
          <a:p>
            <a:r>
              <a:rPr lang="en-US" sz="1200" kern="1200" baseline="0" dirty="0" smtClean="0">
                <a:solidFill>
                  <a:schemeClr val="tx1"/>
                </a:solidFill>
                <a:latin typeface="Arial" charset="0"/>
                <a:ea typeface="ＭＳ Ｐゴシック" pitchFamily="-107" charset="-128"/>
                <a:cs typeface="ＭＳ Ｐゴシック" pitchFamily="-107" charset="-128"/>
              </a:rPr>
              <a:t>develop impenetrable cryptosystems, if their users were forced to share their keys</a:t>
            </a:r>
          </a:p>
          <a:p>
            <a:r>
              <a:rPr lang="en-US" sz="1200" kern="1200" baseline="0" dirty="0" smtClean="0">
                <a:solidFill>
                  <a:schemeClr val="tx1"/>
                </a:solidFill>
                <a:latin typeface="Arial" charset="0"/>
                <a:ea typeface="ＭＳ Ｐゴシック" pitchFamily="-107" charset="-128"/>
                <a:cs typeface="ＭＳ Ｐゴシック" pitchFamily="-107" charset="-128"/>
              </a:rPr>
              <a:t>with a KDC that could be compromised by either burglary or subpoena?”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second problem that Diffie pondered, and one that was apparently</a:t>
            </a:r>
          </a:p>
          <a:p>
            <a:r>
              <a:rPr lang="en-US" sz="1200" kern="1200" baseline="0" dirty="0" smtClean="0">
                <a:solidFill>
                  <a:schemeClr val="tx1"/>
                </a:solidFill>
                <a:latin typeface="Arial" charset="0"/>
                <a:ea typeface="ＭＳ Ｐゴシック" pitchFamily="-107" charset="-128"/>
                <a:cs typeface="ＭＳ Ｐゴシック" pitchFamily="-107" charset="-128"/>
              </a:rPr>
              <a:t>unrelated to the first, was that of digital signatures . If the use of cryptography</a:t>
            </a:r>
          </a:p>
          <a:p>
            <a:r>
              <a:rPr lang="en-US" sz="1200" kern="1200" baseline="0" dirty="0" smtClean="0">
                <a:solidFill>
                  <a:schemeClr val="tx1"/>
                </a:solidFill>
                <a:latin typeface="Arial" charset="0"/>
                <a:ea typeface="ＭＳ Ｐゴシック" pitchFamily="-107" charset="-128"/>
                <a:cs typeface="ＭＳ Ｐゴシック" pitchFamily="-107" charset="-128"/>
              </a:rPr>
              <a:t>was to become widespread, not just in military situations but for commercial and</a:t>
            </a:r>
          </a:p>
          <a:p>
            <a:r>
              <a:rPr lang="en-US" sz="1200" kern="1200" baseline="0" dirty="0" smtClean="0">
                <a:solidFill>
                  <a:schemeClr val="tx1"/>
                </a:solidFill>
                <a:latin typeface="Arial" charset="0"/>
                <a:ea typeface="ＭＳ Ｐゴシック" pitchFamily="-107" charset="-128"/>
                <a:cs typeface="ＭＳ Ｐゴシック" pitchFamily="-107" charset="-128"/>
              </a:rPr>
              <a:t>private purposes, then electronic messages and documents would need the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of signatures used in paper documents. That is, could a method be devised</a:t>
            </a:r>
          </a:p>
          <a:p>
            <a:r>
              <a:rPr lang="en-US" sz="1200" kern="1200" baseline="0" dirty="0" smtClean="0">
                <a:solidFill>
                  <a:schemeClr val="tx1"/>
                </a:solidFill>
                <a:latin typeface="Arial" charset="0"/>
                <a:ea typeface="ＭＳ Ｐゴシック" pitchFamily="-107" charset="-128"/>
                <a:cs typeface="ＭＳ Ｐゴシック" pitchFamily="-107" charset="-128"/>
              </a:rPr>
              <a:t>that would stipulate, to the satisfaction of all parties, that a digital message had</a:t>
            </a:r>
          </a:p>
          <a:p>
            <a:r>
              <a:rPr lang="en-US" sz="1200" kern="1200" baseline="0" dirty="0" smtClean="0">
                <a:solidFill>
                  <a:schemeClr val="tx1"/>
                </a:solidFill>
                <a:latin typeface="Arial" charset="0"/>
                <a:ea typeface="ＭＳ Ｐゴシック" pitchFamily="-107" charset="-128"/>
                <a:cs typeface="ＭＳ Ｐゴシック" pitchFamily="-107" charset="-128"/>
              </a:rPr>
              <a:t>been sent by a particular person? This is a somewhat broader requirement than</a:t>
            </a:r>
          </a:p>
          <a:p>
            <a:r>
              <a:rPr lang="en-US" sz="1200" kern="1200" baseline="0" dirty="0" smtClean="0">
                <a:solidFill>
                  <a:schemeClr val="tx1"/>
                </a:solidFill>
                <a:latin typeface="Arial" charset="0"/>
                <a:ea typeface="ＭＳ Ｐゴシック" pitchFamily="-107" charset="-128"/>
                <a:cs typeface="ＭＳ Ｐゴシック" pitchFamily="-107" charset="-128"/>
              </a:rPr>
              <a:t>that of authentication, and its characteristics and ramifications are explored in</a:t>
            </a:r>
          </a:p>
          <a:p>
            <a:r>
              <a:rPr lang="en-US" sz="1200" kern="1200" baseline="0" dirty="0" smtClean="0">
                <a:solidFill>
                  <a:schemeClr val="tx1"/>
                </a:solidFill>
                <a:latin typeface="Arial" charset="0"/>
                <a:ea typeface="ＭＳ Ｐゴシック" pitchFamily="-107" charset="-128"/>
                <a:cs typeface="ＭＳ Ｐゴシック" pitchFamily="-107" charset="-128"/>
              </a:rPr>
              <a:t>Chapter 13.</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Diffie and Hellman achieved an astounding breakthrough in 1976</a:t>
            </a:r>
          </a:p>
          <a:p>
            <a:r>
              <a:rPr lang="en-US" sz="1200" kern="1200" baseline="0" dirty="0" smtClean="0">
                <a:solidFill>
                  <a:schemeClr val="tx1"/>
                </a:solidFill>
                <a:latin typeface="Arial" charset="0"/>
                <a:ea typeface="ＭＳ Ｐゴシック" pitchFamily="-107" charset="-128"/>
                <a:cs typeface="ＭＳ Ｐゴシック" pitchFamily="-107" charset="-128"/>
              </a:rPr>
              <a:t>[DIFF76 a, b] by coming up with a method that addressed both problems and was</a:t>
            </a:r>
          </a:p>
          <a:p>
            <a:r>
              <a:rPr lang="en-US" sz="1200" kern="1200" baseline="0" dirty="0" smtClean="0">
                <a:solidFill>
                  <a:schemeClr val="tx1"/>
                </a:solidFill>
                <a:latin typeface="Arial" charset="0"/>
                <a:ea typeface="ＭＳ Ｐゴシック" pitchFamily="-107" charset="-128"/>
                <a:cs typeface="ＭＳ Ｐゴシック" pitchFamily="-107" charset="-128"/>
              </a:rPr>
              <a:t>radically different from all previous approaches to cryptography, going back over</a:t>
            </a:r>
          </a:p>
          <a:p>
            <a:r>
              <a:rPr lang="en-US" sz="1200" kern="1200" baseline="0" dirty="0" smtClean="0">
                <a:solidFill>
                  <a:schemeClr val="tx1"/>
                </a:solidFill>
                <a:latin typeface="Arial" charset="0"/>
                <a:ea typeface="ＭＳ Ｐゴシック" pitchFamily="-107" charset="-128"/>
                <a:cs typeface="ＭＳ Ｐゴシック" pitchFamily="-107" charset="-128"/>
              </a:rPr>
              <a:t>four millennia.</a:t>
            </a:r>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4052006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0089CBAF-74CD-9842-855B-ACC1A106CFD6}" type="slidenum">
              <a:rPr lang="en-AU">
                <a:latin typeface="Arial" pitchFamily="-84" charset="0"/>
              </a:rPr>
              <a:pPr/>
              <a:t>5</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Asymmetric algorithms rely on one key for encryption and a different but related</a:t>
            </a:r>
          </a:p>
          <a:p>
            <a:r>
              <a:rPr lang="en-US" sz="1200" kern="1200" baseline="0" dirty="0" smtClean="0">
                <a:solidFill>
                  <a:schemeClr val="tx1"/>
                </a:solidFill>
                <a:latin typeface="Arial" charset="0"/>
                <a:ea typeface="ＭＳ Ｐゴシック" pitchFamily="-107" charset="-128"/>
                <a:cs typeface="ＭＳ Ｐゴシック" pitchFamily="-107" charset="-128"/>
              </a:rPr>
              <a:t>key for decryption. These algorithms have the following important characteristic.</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is computationally infeasible to determine the decryption key given only</a:t>
            </a:r>
          </a:p>
          <a:p>
            <a:r>
              <a:rPr lang="en-US" sz="1200" kern="1200" baseline="0" dirty="0" smtClean="0">
                <a:solidFill>
                  <a:schemeClr val="tx1"/>
                </a:solidFill>
                <a:latin typeface="Arial" charset="0"/>
                <a:ea typeface="ＭＳ Ｐゴシック" pitchFamily="-107" charset="-128"/>
                <a:cs typeface="ＭＳ Ｐゴシック" pitchFamily="-107" charset="-128"/>
              </a:rPr>
              <a:t>knowledge of the cryptographic algorithm and the encryption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In addition, some algorithms, such as RSA, also exhibit the following characteristic.</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Either of the two related keys can be used for encryption, with the other used</a:t>
            </a:r>
          </a:p>
          <a:p>
            <a:r>
              <a:rPr lang="en-US" sz="1200" kern="1200" baseline="0" dirty="0" smtClean="0">
                <a:solidFill>
                  <a:schemeClr val="tx1"/>
                </a:solidFill>
                <a:latin typeface="Arial" charset="0"/>
                <a:ea typeface="ＭＳ Ｐゴシック" pitchFamily="-107" charset="-128"/>
                <a:cs typeface="ＭＳ Ｐゴシック" pitchFamily="-107" charset="-128"/>
              </a:rPr>
              <a:t>for decryption.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public-key encryption  scheme has six ingredients (Figure 9.1a; compare</a:t>
            </a:r>
          </a:p>
          <a:p>
            <a:r>
              <a:rPr lang="en-US" sz="1200" kern="1200" baseline="0" dirty="0" smtClean="0">
                <a:solidFill>
                  <a:schemeClr val="tx1"/>
                </a:solidFill>
                <a:latin typeface="Arial" charset="0"/>
                <a:ea typeface="ＭＳ Ｐゴシック" pitchFamily="-107" charset="-128"/>
                <a:cs typeface="ＭＳ Ｐゴシック" pitchFamily="-107" charset="-128"/>
              </a:rPr>
              <a:t>with Figure 3.1).</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Plaintext:  This is the readable message or data that is fed into the algorithm as</a:t>
            </a:r>
          </a:p>
          <a:p>
            <a:r>
              <a:rPr lang="en-US" sz="1200" kern="1200" baseline="0" dirty="0" smtClean="0">
                <a:solidFill>
                  <a:schemeClr val="tx1"/>
                </a:solidFill>
                <a:latin typeface="Arial" charset="0"/>
                <a:ea typeface="ＭＳ Ｐゴシック" pitchFamily="-107" charset="-128"/>
                <a:cs typeface="ＭＳ Ｐゴシック" pitchFamily="-107" charset="-128"/>
              </a:rPr>
              <a:t>input.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Encryption algorithm: The encryption algorithm performs various transformations</a:t>
            </a:r>
          </a:p>
          <a:p>
            <a:r>
              <a:rPr lang="en-US" sz="1200" kern="1200" baseline="0" dirty="0" smtClean="0">
                <a:solidFill>
                  <a:schemeClr val="tx1"/>
                </a:solidFill>
                <a:latin typeface="Arial" charset="0"/>
                <a:ea typeface="ＭＳ Ｐゴシック" pitchFamily="-107" charset="-128"/>
                <a:cs typeface="ＭＳ Ｐゴシック" pitchFamily="-107" charset="-128"/>
              </a:rPr>
              <a:t>on the plaintext.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Public and private keys: This is a pair of keys that have been selected so that</a:t>
            </a:r>
          </a:p>
          <a:p>
            <a:r>
              <a:rPr lang="en-US" sz="1200" kern="1200" baseline="0" dirty="0" smtClean="0">
                <a:solidFill>
                  <a:schemeClr val="tx1"/>
                </a:solidFill>
                <a:latin typeface="Arial" charset="0"/>
                <a:ea typeface="ＭＳ Ｐゴシック" pitchFamily="-107" charset="-128"/>
                <a:cs typeface="ＭＳ Ｐゴシック" pitchFamily="-107" charset="-128"/>
              </a:rPr>
              <a:t>if one is used for encryption, the other is used for decryption. The exact transformations</a:t>
            </a:r>
          </a:p>
          <a:p>
            <a:r>
              <a:rPr lang="en-US" sz="1200" kern="1200" baseline="0" dirty="0" smtClean="0">
                <a:solidFill>
                  <a:schemeClr val="tx1"/>
                </a:solidFill>
                <a:latin typeface="Arial" charset="0"/>
                <a:ea typeface="ＭＳ Ｐゴシック" pitchFamily="-107" charset="-128"/>
                <a:cs typeface="ＭＳ Ｐゴシック" pitchFamily="-107" charset="-128"/>
              </a:rPr>
              <a:t>performed by the algorithm depend on the public or private key</a:t>
            </a:r>
          </a:p>
          <a:p>
            <a:r>
              <a:rPr lang="en-US" sz="1200" kern="1200" baseline="0" dirty="0" smtClean="0">
                <a:solidFill>
                  <a:schemeClr val="tx1"/>
                </a:solidFill>
                <a:latin typeface="Arial" charset="0"/>
                <a:ea typeface="ＭＳ Ｐゴシック" pitchFamily="-107" charset="-128"/>
                <a:cs typeface="ＭＳ Ｐゴシック" pitchFamily="-107" charset="-128"/>
              </a:rPr>
              <a:t>that is provided as input.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Ciphertext: This is the scrambled message produced as output. It depends on</a:t>
            </a:r>
          </a:p>
          <a:p>
            <a:r>
              <a:rPr lang="en-US" sz="1200" kern="1200" baseline="0" dirty="0" smtClean="0">
                <a:solidFill>
                  <a:schemeClr val="tx1"/>
                </a:solidFill>
                <a:latin typeface="Arial" charset="0"/>
                <a:ea typeface="ＭＳ Ｐゴシック" pitchFamily="-107" charset="-128"/>
                <a:cs typeface="ＭＳ Ｐゴシック" pitchFamily="-107" charset="-128"/>
              </a:rPr>
              <a:t>the plaintext and the key. For a given message, two different keys will produce</a:t>
            </a:r>
          </a:p>
          <a:p>
            <a:r>
              <a:rPr lang="en-US" sz="1200" kern="1200" baseline="0" dirty="0" smtClean="0">
                <a:solidFill>
                  <a:schemeClr val="tx1"/>
                </a:solidFill>
                <a:latin typeface="Arial" charset="0"/>
                <a:ea typeface="ＭＳ Ｐゴシック" pitchFamily="-107" charset="-128"/>
                <a:cs typeface="ＭＳ Ｐゴシック" pitchFamily="-107" charset="-128"/>
              </a:rPr>
              <a:t>two different ciphertexts.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Decryption algorithm: This algorithm accepts the ciphertext and the matching</a:t>
            </a:r>
          </a:p>
          <a:p>
            <a:r>
              <a:rPr lang="en-US" sz="1200" kern="1200" baseline="0" dirty="0" smtClean="0">
                <a:solidFill>
                  <a:schemeClr val="tx1"/>
                </a:solidFill>
                <a:latin typeface="Arial" charset="0"/>
                <a:ea typeface="ＭＳ Ｐゴシック" pitchFamily="-107" charset="-128"/>
                <a:cs typeface="ＭＳ Ｐゴシック" pitchFamily="-107" charset="-128"/>
              </a:rPr>
              <a:t>key and produces the original plaintext.</a:t>
            </a:r>
            <a:endParaRPr lang="en-AU" dirty="0" smtClean="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1826910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C44ACD33-CB5A-4375-8C1A-0353F9C344E2}" type="slidenum">
              <a:rPr lang="en-US" altLang="zh-CN"/>
              <a:pPr/>
              <a:t>6</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3659586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CDEDE3EE-79B7-4D78-8275-990271BFAA67}" type="slidenum">
              <a:rPr lang="en-US" altLang="zh-CN"/>
              <a:pPr/>
              <a:t>7</a:t>
            </a:fld>
            <a:endParaRPr lang="en-US" altLang="zh-CN"/>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461887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8</a:t>
            </a:fld>
            <a:endParaRPr lang="en-US" dirty="0"/>
          </a:p>
        </p:txBody>
      </p:sp>
    </p:spTree>
    <p:extLst>
      <p:ext uri="{BB962C8B-B14F-4D97-AF65-F5344CB8AC3E}">
        <p14:creationId xmlns:p14="http://schemas.microsoft.com/office/powerpoint/2010/main" val="2314435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9</a:t>
            </a:fld>
            <a:endParaRPr lang="en-US" dirty="0"/>
          </a:p>
        </p:txBody>
      </p:sp>
    </p:spTree>
    <p:extLst>
      <p:ext uri="{BB962C8B-B14F-4D97-AF65-F5344CB8AC3E}">
        <p14:creationId xmlns:p14="http://schemas.microsoft.com/office/powerpoint/2010/main" val="632540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10</a:t>
            </a:fld>
            <a:endParaRPr lang="en-US" dirty="0"/>
          </a:p>
        </p:txBody>
      </p:sp>
    </p:spTree>
    <p:extLst>
      <p:ext uri="{BB962C8B-B14F-4D97-AF65-F5344CB8AC3E}">
        <p14:creationId xmlns:p14="http://schemas.microsoft.com/office/powerpoint/2010/main" val="326021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11</a:t>
            </a:fld>
            <a:endParaRPr lang="en-US" dirty="0"/>
          </a:p>
        </p:txBody>
      </p:sp>
    </p:spTree>
    <p:extLst>
      <p:ext uri="{BB962C8B-B14F-4D97-AF65-F5344CB8AC3E}">
        <p14:creationId xmlns:p14="http://schemas.microsoft.com/office/powerpoint/2010/main" val="1743036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A3BC70-2492-4DBD-879A-2EE78AE42256}" type="slidenum">
              <a:rPr lang="zh-TW" altLang="en-AU"/>
              <a:pPr/>
              <a:t>12</a:t>
            </a:fld>
            <a:endParaRPr lang="en-AU" altLang="zh-TW"/>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r>
              <a:rPr lang="en-AU" altLang="zh-TW"/>
              <a:t>The idea of public key schemes, and the first practical scheme, which was for key distribution only, was published in 1977 by Diffie &amp; Hellman. The concept had been previously described in a classified report in 1970 by James Ellis (UK CESG) - and subsequently declassified in 1987. See </a:t>
            </a:r>
            <a:r>
              <a:rPr lang="en-AU" altLang="zh-TW">
                <a:hlinkClick r:id="rId3"/>
              </a:rPr>
              <a:t>History of Non-secret Encryption (at CESG)</a:t>
            </a:r>
            <a:r>
              <a:rPr lang="en-AU" altLang="zh-TW"/>
              <a:t>. Its interesting to note that they discovered RSA first, then Diffie-Hellman, opposite to the order of public discovery! </a:t>
            </a:r>
          </a:p>
        </p:txBody>
      </p:sp>
    </p:spTree>
    <p:extLst>
      <p:ext uri="{BB962C8B-B14F-4D97-AF65-F5344CB8AC3E}">
        <p14:creationId xmlns:p14="http://schemas.microsoft.com/office/powerpoint/2010/main" val="367485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3346C3F5-E6D3-014B-9D2A-72AA7DAD86D7}" type="slidenum">
              <a:rPr lang="en-AU">
                <a:latin typeface="Arial" pitchFamily="-84" charset="0"/>
              </a:rPr>
              <a:pPr/>
              <a:t>13</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xfrm>
            <a:off x="685800" y="4343400"/>
            <a:ext cx="5486400" cy="44958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9.2 summarizes some of the important aspects of symmetric and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To discriminate between the two, we refer to the key used in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as a secret key . The two keys used for asymmetric encryption are</a:t>
            </a:r>
          </a:p>
          <a:p>
            <a:r>
              <a:rPr lang="en-US" sz="1200" kern="1200" baseline="0" dirty="0" smtClean="0">
                <a:solidFill>
                  <a:schemeClr val="tx1"/>
                </a:solidFill>
                <a:latin typeface="Arial" charset="0"/>
                <a:ea typeface="ＭＳ Ｐゴシック" pitchFamily="-107" charset="-128"/>
                <a:cs typeface="ＭＳ Ｐゴシック" pitchFamily="-107" charset="-128"/>
              </a:rPr>
              <a:t>referred to as the public key  and the private key . Invariably, the private key is kept</a:t>
            </a:r>
          </a:p>
          <a:p>
            <a:r>
              <a:rPr lang="en-US" sz="1200" kern="1200" baseline="0" dirty="0" smtClean="0">
                <a:solidFill>
                  <a:schemeClr val="tx1"/>
                </a:solidFill>
                <a:latin typeface="Arial" charset="0"/>
                <a:ea typeface="ＭＳ Ｐゴシック" pitchFamily="-107" charset="-128"/>
                <a:cs typeface="ＭＳ Ｐゴシック" pitchFamily="-107" charset="-128"/>
              </a:rPr>
              <a:t>secret, but it is referred to as a private key rather than a secret key to avoid confusion</a:t>
            </a:r>
          </a:p>
          <a:p>
            <a:r>
              <a:rPr lang="en-US" sz="1200" kern="1200" baseline="0" dirty="0" smtClean="0">
                <a:solidFill>
                  <a:schemeClr val="tx1"/>
                </a:solidFill>
                <a:latin typeface="Arial" charset="0"/>
                <a:ea typeface="ＭＳ Ｐゴシック" pitchFamily="-107" charset="-128"/>
                <a:cs typeface="ＭＳ Ｐゴシック" pitchFamily="-107" charset="-128"/>
              </a:rPr>
              <a:t>with symmetric encryption.</a:t>
            </a:r>
            <a:endParaRPr lang="en-AU" dirty="0" smtClean="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4125524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C076FB-78C6-4311-9D05-9F4C26F6142E}" type="slidenum">
              <a:rPr lang="zh-TW" altLang="en-AU"/>
              <a:pPr/>
              <a:t>14</a:t>
            </a:fld>
            <a:endParaRPr lang="en-AU" altLang="zh-TW"/>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en-AU" altLang="zh-TW"/>
              <a:t>Public key schemes utilise problems that are easy (P type) one way but hard (NP type) the other way, eg exponentiation vs logs, multiplication vs factoring. Consider the following analogy using padlocked boxes: traditional schemes involve the sender putting a message in a box and locking it, sending that to the receiver, and somehow securely also sending them the key to unlock the box. The radical advance in public key schemes was to turn this around, the receiver sends an </a:t>
            </a:r>
            <a:r>
              <a:rPr lang="en-AU" altLang="zh-TW" b="1"/>
              <a:t>unlocked box</a:t>
            </a:r>
            <a:r>
              <a:rPr lang="en-AU" altLang="zh-TW"/>
              <a:t> to the sender, who puts the message in the box and locks it (easy - and having locked it cannot get at the message), and sends the locked box to the receiver who can unlock it (also easy), having the key. An attacker would have to pick the lock on the box (hard). </a:t>
            </a:r>
          </a:p>
        </p:txBody>
      </p:sp>
    </p:spTree>
    <p:extLst>
      <p:ext uri="{BB962C8B-B14F-4D97-AF65-F5344CB8AC3E}">
        <p14:creationId xmlns:p14="http://schemas.microsoft.com/office/powerpoint/2010/main" val="3514992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C076FB-78C6-4311-9D05-9F4C26F6142E}" type="slidenum">
              <a:rPr lang="zh-TW" altLang="en-AU"/>
              <a:pPr/>
              <a:t>15</a:t>
            </a:fld>
            <a:endParaRPr lang="en-AU" altLang="zh-TW"/>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en-AU" altLang="zh-TW"/>
              <a:t>Public key schemes utilise problems that are easy (P type) one way but hard (NP type) the other way, eg exponentiation vs logs, multiplication vs factoring. Consider the following analogy using padlocked boxes: traditional schemes involve the sender putting a message in a box and locking it, sending that to the receiver, and somehow securely also sending them the key to unlock the box. The radical advance in public key schemes was to turn this around, the receiver sends an </a:t>
            </a:r>
            <a:r>
              <a:rPr lang="en-AU" altLang="zh-TW" b="1"/>
              <a:t>unlocked box</a:t>
            </a:r>
            <a:r>
              <a:rPr lang="en-AU" altLang="zh-TW"/>
              <a:t> to the sender, who puts the message in the box and locks it (easy - and having locked it cannot get at the message), and sends the locked box to the receiver who can unlock it (also easy), having the key. An attacker would have to pick the lock on the box (hard). </a:t>
            </a:r>
          </a:p>
        </p:txBody>
      </p:sp>
    </p:spTree>
    <p:extLst>
      <p:ext uri="{BB962C8B-B14F-4D97-AF65-F5344CB8AC3E}">
        <p14:creationId xmlns:p14="http://schemas.microsoft.com/office/powerpoint/2010/main" val="2770281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C076FB-78C6-4311-9D05-9F4C26F6142E}" type="slidenum">
              <a:rPr lang="zh-TW" altLang="en-AU"/>
              <a:pPr/>
              <a:t>16</a:t>
            </a:fld>
            <a:endParaRPr lang="en-AU" altLang="zh-TW"/>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en-AU" altLang="zh-TW"/>
              <a:t>Public key schemes utilise problems that are easy (P type) one way but hard (NP type) the other way, eg exponentiation vs logs, multiplication vs factoring. Consider the following analogy using padlocked boxes: traditional schemes involve the sender putting a message in a box and locking it, sending that to the receiver, and somehow securely also sending them the key to unlock the box. The radical advance in public key schemes was to turn this around, the receiver sends an </a:t>
            </a:r>
            <a:r>
              <a:rPr lang="en-AU" altLang="zh-TW" b="1"/>
              <a:t>unlocked box</a:t>
            </a:r>
            <a:r>
              <a:rPr lang="en-AU" altLang="zh-TW"/>
              <a:t> to the sender, who puts the message in the box and locks it (easy - and having locked it cannot get at the message), and sends the locked box to the receiver who can unlock it (also easy), having the key. An attacker would have to pick the lock on the box (hard). </a:t>
            </a:r>
          </a:p>
        </p:txBody>
      </p:sp>
    </p:spTree>
    <p:extLst>
      <p:ext uri="{BB962C8B-B14F-4D97-AF65-F5344CB8AC3E}">
        <p14:creationId xmlns:p14="http://schemas.microsoft.com/office/powerpoint/2010/main" val="2685766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C076FB-78C6-4311-9D05-9F4C26F6142E}" type="slidenum">
              <a:rPr lang="zh-TW" altLang="en-AU"/>
              <a:pPr/>
              <a:t>17</a:t>
            </a:fld>
            <a:endParaRPr lang="en-AU" altLang="zh-TW"/>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en-AU" altLang="zh-TW"/>
              <a:t>Public key schemes utilise problems that are easy (P type) one way but hard (NP type) the other way, eg exponentiation vs logs, multiplication vs factoring. Consider the following analogy using padlocked boxes: traditional schemes involve the sender putting a message in a box and locking it, sending that to the receiver, and somehow securely also sending them the key to unlock the box. The radical advance in public key schemes was to turn this around, the receiver sends an </a:t>
            </a:r>
            <a:r>
              <a:rPr lang="en-AU" altLang="zh-TW" b="1"/>
              <a:t>unlocked box</a:t>
            </a:r>
            <a:r>
              <a:rPr lang="en-AU" altLang="zh-TW"/>
              <a:t> to the sender, who puts the message in the box and locks it (easy - and having locked it cannot get at the message), and sends the locked box to the receiver who can unlock it (also easy), having the key. An attacker would have to pick the lock on the box (hard). </a:t>
            </a:r>
          </a:p>
        </p:txBody>
      </p:sp>
    </p:spTree>
    <p:extLst>
      <p:ext uri="{BB962C8B-B14F-4D97-AF65-F5344CB8AC3E}">
        <p14:creationId xmlns:p14="http://schemas.microsoft.com/office/powerpoint/2010/main" val="2325102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9D8AA72E-FEEC-4C38-97C6-4E41CFE16DE5}" type="slidenum">
              <a:rPr lang="en-US" altLang="zh-CN"/>
              <a:pPr/>
              <a:t>19</a:t>
            </a:fld>
            <a:endParaRPr lang="en-US" altLang="zh-CN"/>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4232400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D7516B46-FEF9-430B-863E-5BCC1DB054B8}" type="slidenum">
              <a:rPr lang="en-US" altLang="zh-CN"/>
              <a:pPr/>
              <a:t>24</a:t>
            </a:fld>
            <a:endParaRPr lang="en-US" altLang="zh-CN"/>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3818048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D7516B46-FEF9-430B-863E-5BCC1DB054B8}" type="slidenum">
              <a:rPr lang="en-US" altLang="zh-CN"/>
              <a:pPr/>
              <a:t>25</a:t>
            </a:fld>
            <a:endParaRPr lang="en-US" altLang="zh-CN"/>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1128258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D7516B46-FEF9-430B-863E-5BCC1DB054B8}" type="slidenum">
              <a:rPr lang="en-US" altLang="zh-CN"/>
              <a:pPr/>
              <a:t>26</a:t>
            </a:fld>
            <a:endParaRPr lang="en-US" altLang="zh-CN"/>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2714251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D7516B46-FEF9-430B-863E-5BCC1DB054B8}" type="slidenum">
              <a:rPr lang="en-US" altLang="zh-CN"/>
              <a:pPr/>
              <a:t>27</a:t>
            </a:fld>
            <a:endParaRPr lang="en-US" altLang="zh-CN"/>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8170776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29</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22785689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30</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3164104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31</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2308814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32</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14937169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33</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598099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34</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39395004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35</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12691387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36</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6476665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37</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7953255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38</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33459577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39</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6947484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40</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1091887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41</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35185723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42</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1899605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43</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40020246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44</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2533267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45</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1428037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46</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28628931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48</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39224252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61215DD3-2F7F-4DAD-A0D2-3FD7F5621450}" type="slidenum">
              <a:rPr lang="en-US" altLang="zh-CN"/>
              <a:pPr/>
              <a:t>49</a:t>
            </a:fld>
            <a:endParaRPr lang="en-US" altLang="zh-CN"/>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21118780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0C198645-5C73-4DB5-8BA8-B4999D65B023}" type="slidenum">
              <a:rPr lang="en-US" altLang="zh-CN"/>
              <a:pPr/>
              <a:t>50</a:t>
            </a:fld>
            <a:endParaRPr lang="en-US" altLang="zh-CN"/>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20520797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601AC230-E8F4-4D9D-B354-94A0C74C7931}" type="slidenum">
              <a:rPr lang="en-US" altLang="zh-CN"/>
              <a:pPr/>
              <a:t>51</a:t>
            </a:fld>
            <a:endParaRPr lang="en-US" altLang="zh-CN"/>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6970514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18C66172-98AC-43B6-81C8-CA45AB63566E}" type="slidenum">
              <a:rPr lang="en-US" altLang="zh-CN"/>
              <a:pPr/>
              <a:t>52</a:t>
            </a:fld>
            <a:endParaRPr lang="en-US" altLang="zh-CN"/>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9319342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E5C7F2B8-9B5F-4B78-858D-6054BB2C835F}" type="slidenum">
              <a:rPr lang="en-US" altLang="zh-CN"/>
              <a:pPr/>
              <a:t>53</a:t>
            </a:fld>
            <a:endParaRPr lang="en-US" altLang="zh-CN"/>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36335221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15A01B0C-928A-4D0B-BB14-97B516355290}" type="slidenum">
              <a:rPr lang="zh-TW" altLang="en-AU" smtClean="0"/>
              <a:pPr eaLnBrk="1" hangingPunct="1"/>
              <a:t>55</a:t>
            </a:fld>
            <a:endParaRPr lang="en-AU" altLang="zh-TW"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itchFamily="34" charset="0"/>
                <a:cs typeface="Arial" pitchFamily="34" charset="0"/>
              </a:rPr>
              <a:t>This chapter continues our overview of public-key cryptography systems (PKCSs), and begins with a description of one of the earliest and simplest PKCS, Diffie-Hellman key exchange. This first published public-key algorithm appeared in the seminal paper by Diffie and Hellman that defined public-key cryptography [DIFF76b] and is generally referred to as Diffie-Hellman key exchange. </a:t>
            </a:r>
            <a:r>
              <a:rPr lang="en-AU" altLang="zh-TW" smtClean="0">
                <a:latin typeface="Arial" pitchFamily="34" charset="0"/>
                <a:cs typeface="Arial" pitchFamily="34" charset="0"/>
              </a:rPr>
              <a:t>The concept had been previously described in a classified report in 1970 by </a:t>
            </a:r>
            <a:r>
              <a:rPr lang="en-US" smtClean="0">
                <a:latin typeface="Arial" pitchFamily="34" charset="0"/>
                <a:cs typeface="Arial" pitchFamily="34" charset="0"/>
              </a:rPr>
              <a:t>Williamson</a:t>
            </a:r>
            <a:r>
              <a:rPr lang="en-AU" altLang="zh-TW" smtClean="0">
                <a:latin typeface="Arial" pitchFamily="34" charset="0"/>
                <a:cs typeface="Arial" pitchFamily="34" charset="0"/>
              </a:rPr>
              <a:t> (UK CESG) - and subsequently declassified in 1987, see</a:t>
            </a:r>
            <a:r>
              <a:rPr lang="en-US" smtClean="0">
                <a:latin typeface="Arial" pitchFamily="34" charset="0"/>
                <a:cs typeface="Arial" pitchFamily="34" charset="0"/>
              </a:rPr>
              <a:t> [ELLI99]. The purpose of the algorithm is to enable two users to securely exchange a key that can then be used for subsequent encryption of messages. The algorithm itself is limited to the exchange of secret values.  A number of commercial products employ this key exchange technique. </a:t>
            </a:r>
            <a:endParaRPr lang="en-AU" altLang="zh-TW" smtClean="0">
              <a:latin typeface="Arial" pitchFamily="34" charset="0"/>
              <a:cs typeface="Arial" pitchFamily="34" charset="0"/>
            </a:endParaRPr>
          </a:p>
        </p:txBody>
      </p:sp>
    </p:spTree>
    <p:extLst>
      <p:ext uri="{BB962C8B-B14F-4D97-AF65-F5344CB8AC3E}">
        <p14:creationId xmlns:p14="http://schemas.microsoft.com/office/powerpoint/2010/main" val="1718474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15A01B0C-928A-4D0B-BB14-97B516355290}" type="slidenum">
              <a:rPr lang="zh-TW" altLang="en-AU" smtClean="0"/>
              <a:pPr eaLnBrk="1" hangingPunct="1"/>
              <a:t>56</a:t>
            </a:fld>
            <a:endParaRPr lang="en-AU" altLang="zh-TW"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itchFamily="34" charset="0"/>
                <a:cs typeface="Arial" pitchFamily="34" charset="0"/>
              </a:rPr>
              <a:t>This chapter continues our overview of public-key cryptography systems (PKCSs), and begins with a description of one of the earliest and simplest PKCS, Diffie-Hellman key exchange. This first published public-key algorithm appeared in the seminal paper by Diffie and Hellman that defined public-key cryptography [DIFF76b] and is generally referred to as Diffie-Hellman key exchange. </a:t>
            </a:r>
            <a:r>
              <a:rPr lang="en-AU" altLang="zh-TW" smtClean="0">
                <a:latin typeface="Arial" pitchFamily="34" charset="0"/>
                <a:cs typeface="Arial" pitchFamily="34" charset="0"/>
              </a:rPr>
              <a:t>The concept had been previously described in a classified report in 1970 by </a:t>
            </a:r>
            <a:r>
              <a:rPr lang="en-US" smtClean="0">
                <a:latin typeface="Arial" pitchFamily="34" charset="0"/>
                <a:cs typeface="Arial" pitchFamily="34" charset="0"/>
              </a:rPr>
              <a:t>Williamson</a:t>
            </a:r>
            <a:r>
              <a:rPr lang="en-AU" altLang="zh-TW" smtClean="0">
                <a:latin typeface="Arial" pitchFamily="34" charset="0"/>
                <a:cs typeface="Arial" pitchFamily="34" charset="0"/>
              </a:rPr>
              <a:t> (UK CESG) - and subsequently declassified in 1987, see</a:t>
            </a:r>
            <a:r>
              <a:rPr lang="en-US" smtClean="0">
                <a:latin typeface="Arial" pitchFamily="34" charset="0"/>
                <a:cs typeface="Arial" pitchFamily="34" charset="0"/>
              </a:rPr>
              <a:t> [ELLI99]. The purpose of the algorithm is to enable two users to securely exchange a key that can then be used for subsequent encryption of messages. The algorithm itself is limited to the exchange of secret values.  A number of commercial products employ this key exchange technique. </a:t>
            </a:r>
            <a:endParaRPr lang="en-AU" altLang="zh-TW" smtClean="0">
              <a:latin typeface="Arial" pitchFamily="34" charset="0"/>
              <a:cs typeface="Arial" pitchFamily="34" charset="0"/>
            </a:endParaRPr>
          </a:p>
        </p:txBody>
      </p:sp>
    </p:spTree>
    <p:extLst>
      <p:ext uri="{BB962C8B-B14F-4D97-AF65-F5344CB8AC3E}">
        <p14:creationId xmlns:p14="http://schemas.microsoft.com/office/powerpoint/2010/main" val="5139651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15A01B0C-928A-4D0B-BB14-97B516355290}" type="slidenum">
              <a:rPr lang="zh-TW" altLang="en-AU" smtClean="0"/>
              <a:pPr eaLnBrk="1" hangingPunct="1"/>
              <a:t>57</a:t>
            </a:fld>
            <a:endParaRPr lang="en-AU" altLang="zh-TW"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itchFamily="34" charset="0"/>
                <a:cs typeface="Arial" pitchFamily="34" charset="0"/>
              </a:rPr>
              <a:t>This chapter continues our overview of public-key cryptography systems (PKCSs), and begins with a description of one of the earliest and simplest PKCS, Diffie-Hellman key exchange. This first published public-key algorithm appeared in the seminal paper by Diffie and Hellman that defined public-key cryptography [DIFF76b] and is generally referred to as Diffie-Hellman key exchange. </a:t>
            </a:r>
            <a:r>
              <a:rPr lang="en-AU" altLang="zh-TW" smtClean="0">
                <a:latin typeface="Arial" pitchFamily="34" charset="0"/>
                <a:cs typeface="Arial" pitchFamily="34" charset="0"/>
              </a:rPr>
              <a:t>The concept had been previously described in a classified report in 1970 by </a:t>
            </a:r>
            <a:r>
              <a:rPr lang="en-US" smtClean="0">
                <a:latin typeface="Arial" pitchFamily="34" charset="0"/>
                <a:cs typeface="Arial" pitchFamily="34" charset="0"/>
              </a:rPr>
              <a:t>Williamson</a:t>
            </a:r>
            <a:r>
              <a:rPr lang="en-AU" altLang="zh-TW" smtClean="0">
                <a:latin typeface="Arial" pitchFamily="34" charset="0"/>
                <a:cs typeface="Arial" pitchFamily="34" charset="0"/>
              </a:rPr>
              <a:t> (UK CESG) - and subsequently declassified in 1987, see</a:t>
            </a:r>
            <a:r>
              <a:rPr lang="en-US" smtClean="0">
                <a:latin typeface="Arial" pitchFamily="34" charset="0"/>
                <a:cs typeface="Arial" pitchFamily="34" charset="0"/>
              </a:rPr>
              <a:t> [ELLI99]. The purpose of the algorithm is to enable two users to securely exchange a key that can then be used for subsequent encryption of messages. The algorithm itself is limited to the exchange of secret values.  A number of commercial products employ this key exchange technique. </a:t>
            </a:r>
            <a:endParaRPr lang="en-AU" altLang="zh-TW" smtClean="0">
              <a:latin typeface="Arial" pitchFamily="34" charset="0"/>
              <a:cs typeface="Arial" pitchFamily="34" charset="0"/>
            </a:endParaRPr>
          </a:p>
        </p:txBody>
      </p:sp>
    </p:spTree>
    <p:extLst>
      <p:ext uri="{BB962C8B-B14F-4D97-AF65-F5344CB8AC3E}">
        <p14:creationId xmlns:p14="http://schemas.microsoft.com/office/powerpoint/2010/main" val="26940616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58</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437411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59</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019506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60</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497091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61</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252588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62</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179552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63</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942450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64</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251801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65</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550632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66</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115851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67</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574700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9E530-D4DA-49AF-AEB6-F9A3F4C83974}" type="slidenum">
              <a:rPr lang="en-US"/>
              <a:pPr/>
              <a:t>68</a:t>
            </a:fld>
            <a:endParaRPr lang="en-US"/>
          </a:p>
        </p:txBody>
      </p:sp>
      <p:sp>
        <p:nvSpPr>
          <p:cNvPr id="948226" name="Rectangle 2"/>
          <p:cNvSpPr>
            <a:spLocks noGrp="1" noRot="1" noChangeAspect="1" noChangeArrowheads="1" noTextEdit="1"/>
          </p:cNvSpPr>
          <p:nvPr>
            <p:ph type="sldImg"/>
          </p:nvPr>
        </p:nvSpPr>
        <p:spPr>
          <a:ln/>
        </p:spPr>
      </p:sp>
      <p:sp>
        <p:nvSpPr>
          <p:cNvPr id="94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103165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2494A8E0-7678-4F30-9C59-4B5755314B10}" type="slidenum">
              <a:rPr lang="en-US" sz="1200" b="0">
                <a:latin typeface="Times New Roman" panose="02020603050405020304" pitchFamily="18" charset="0"/>
              </a:rPr>
              <a:pPr/>
              <a:t>69</a:t>
            </a:fld>
            <a:endParaRPr lang="en-US" sz="1200" b="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121195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B1B64DC6-C676-4A38-88FF-3DF5F6AF410C}" type="slidenum">
              <a:rPr lang="en-US" sz="1200" b="0">
                <a:latin typeface="Times New Roman" panose="02020603050405020304" pitchFamily="18" charset="0"/>
              </a:rPr>
              <a:pPr/>
              <a:t>70</a:t>
            </a:fld>
            <a:endParaRPr lang="en-US" sz="1200" b="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4306382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B1B64DC6-C676-4A38-88FF-3DF5F6AF410C}" type="slidenum">
              <a:rPr lang="en-US" sz="1200" b="0">
                <a:latin typeface="Times New Roman" panose="02020603050405020304" pitchFamily="18" charset="0"/>
              </a:rPr>
              <a:pPr/>
              <a:t>71</a:t>
            </a:fld>
            <a:endParaRPr lang="en-US" sz="1200" b="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1863126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950D30A1-2DA7-4BAC-974C-51D1B6C436C5}" type="slidenum">
              <a:rPr lang="en-US" sz="1200" b="0">
                <a:latin typeface="Times New Roman" panose="02020603050405020304" pitchFamily="18" charset="0"/>
              </a:rPr>
              <a:pPr/>
              <a:t>72</a:t>
            </a:fld>
            <a:endParaRPr lang="en-US" sz="1200" b="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6048327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760A86AA-6011-43D5-B821-2F406F2D2CCD}" type="slidenum">
              <a:rPr lang="en-US" sz="1200" b="0">
                <a:latin typeface="Times New Roman" panose="02020603050405020304" pitchFamily="18" charset="0"/>
              </a:rPr>
              <a:pPr/>
              <a:t>73</a:t>
            </a:fld>
            <a:endParaRPr lang="en-US" sz="1200" b="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9334801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FD6B7142-F332-4EF6-8872-568421A26082}" type="slidenum">
              <a:rPr lang="en-US" sz="1200" b="0">
                <a:latin typeface="Times New Roman" panose="02020603050405020304" pitchFamily="18" charset="0"/>
              </a:rPr>
              <a:pPr/>
              <a:t>74</a:t>
            </a:fld>
            <a:endParaRPr lang="en-US" sz="1200" b="0">
              <a:latin typeface="Times New Roman" panose="02020603050405020304" pitchFamily="18"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11135254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BB075CA2-F5A7-4911-ABB7-84AC32597797}" type="slidenum">
              <a:rPr lang="en-US" sz="1200" b="0">
                <a:latin typeface="Times New Roman" panose="02020603050405020304" pitchFamily="18" charset="0"/>
              </a:rPr>
              <a:pPr/>
              <a:t>75</a:t>
            </a:fld>
            <a:endParaRPr lang="en-US" sz="1200" b="0">
              <a:latin typeface="Times New Roman" panose="02020603050405020304" pitchFamily="18"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3465630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fld id="{15A01B0C-928A-4D0B-BB14-97B516355290}" type="slidenum">
              <a:rPr lang="zh-TW" altLang="en-AU" smtClean="0"/>
              <a:pPr eaLnBrk="1" hangingPunct="1"/>
              <a:t>76</a:t>
            </a:fld>
            <a:endParaRPr lang="en-AU" altLang="zh-TW"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itchFamily="34" charset="0"/>
                <a:cs typeface="Arial" pitchFamily="34" charset="0"/>
              </a:rPr>
              <a:t>This chapter continues our overview of public-key cryptography systems (PKCSs), and begins with a description of one of the earliest and simplest PKCS, Diffie-Hellman key exchange. This first published public-key algorithm appeared in the seminal paper by Diffie and Hellman that defined public-key cryptography [DIFF76b] and is generally referred to as Diffie-Hellman key exchange. </a:t>
            </a:r>
            <a:r>
              <a:rPr lang="en-AU" altLang="zh-TW" smtClean="0">
                <a:latin typeface="Arial" pitchFamily="34" charset="0"/>
                <a:cs typeface="Arial" pitchFamily="34" charset="0"/>
              </a:rPr>
              <a:t>The concept had been previously described in a classified report in 1970 by </a:t>
            </a:r>
            <a:r>
              <a:rPr lang="en-US" smtClean="0">
                <a:latin typeface="Arial" pitchFamily="34" charset="0"/>
                <a:cs typeface="Arial" pitchFamily="34" charset="0"/>
              </a:rPr>
              <a:t>Williamson</a:t>
            </a:r>
            <a:r>
              <a:rPr lang="en-AU" altLang="zh-TW" smtClean="0">
                <a:latin typeface="Arial" pitchFamily="34" charset="0"/>
                <a:cs typeface="Arial" pitchFamily="34" charset="0"/>
              </a:rPr>
              <a:t> (UK CESG) - and subsequently declassified in 1987, see</a:t>
            </a:r>
            <a:r>
              <a:rPr lang="en-US" smtClean="0">
                <a:latin typeface="Arial" pitchFamily="34" charset="0"/>
                <a:cs typeface="Arial" pitchFamily="34" charset="0"/>
              </a:rPr>
              <a:t> [ELLI99]. The purpose of the algorithm is to enable two users to securely exchange a key that can then be used for subsequent encryption of messages. The algorithm itself is limited to the exchange of secret values.  A number of commercial products employ this key exchange technique. </a:t>
            </a:r>
            <a:endParaRPr lang="en-AU" altLang="zh-TW" smtClean="0">
              <a:latin typeface="Arial" pitchFamily="34" charset="0"/>
              <a:cs typeface="Arial" pitchFamily="34" charset="0"/>
            </a:endParaRPr>
          </a:p>
        </p:txBody>
      </p:sp>
    </p:spTree>
    <p:extLst>
      <p:ext uri="{BB962C8B-B14F-4D97-AF65-F5344CB8AC3E}">
        <p14:creationId xmlns:p14="http://schemas.microsoft.com/office/powerpoint/2010/main" val="38358030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4272FFCF-628D-4745-A1EF-8D78830FD145}" type="slidenum">
              <a:rPr lang="en-US" sz="1200" b="0">
                <a:latin typeface="Times New Roman" panose="02020603050405020304" pitchFamily="18" charset="0"/>
              </a:rPr>
              <a:pPr/>
              <a:t>81</a:t>
            </a:fld>
            <a:endParaRPr lang="en-US" sz="1200" b="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395295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B66D6AA7-A39B-43F9-B905-3F8AE2C1641C}" type="slidenum">
              <a:rPr lang="en-US" sz="1200" b="0">
                <a:latin typeface="Times New Roman" panose="02020603050405020304" pitchFamily="18" charset="0"/>
              </a:rPr>
              <a:pPr/>
              <a:t>82</a:t>
            </a:fld>
            <a:endParaRPr lang="en-US" sz="1200" b="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50653526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71F622D5-9922-4061-BAD6-A4D7FCF2DBD1}" type="slidenum">
              <a:rPr lang="en-US" sz="1200" b="0">
                <a:latin typeface="Times New Roman" panose="02020603050405020304" pitchFamily="18" charset="0"/>
              </a:rPr>
              <a:pPr/>
              <a:t>83</a:t>
            </a:fld>
            <a:endParaRPr lang="en-US" sz="1200" b="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3446202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84</a:t>
            </a:fld>
            <a:endParaRPr lang="en-US" dirty="0"/>
          </a:p>
        </p:txBody>
      </p:sp>
    </p:spTree>
    <p:extLst>
      <p:ext uri="{BB962C8B-B14F-4D97-AF65-F5344CB8AC3E}">
        <p14:creationId xmlns:p14="http://schemas.microsoft.com/office/powerpoint/2010/main" val="298272322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09E6CC-D313-4523-B421-9C173AEB74DC}" type="slidenum">
              <a:rPr lang="en-US"/>
              <a:pPr/>
              <a:t>85</a:t>
            </a:fld>
            <a:endParaRPr lang="en-US"/>
          </a:p>
        </p:txBody>
      </p:sp>
      <p:sp>
        <p:nvSpPr>
          <p:cNvPr id="901122" name="Rectangle 2"/>
          <p:cNvSpPr>
            <a:spLocks noGrp="1" noRot="1" noChangeAspect="1" noChangeArrowheads="1" noTextEdit="1"/>
          </p:cNvSpPr>
          <p:nvPr>
            <p:ph type="sldImg"/>
          </p:nvPr>
        </p:nvSpPr>
        <p:spPr>
          <a:ln/>
        </p:spPr>
      </p:sp>
      <p:sp>
        <p:nvSpPr>
          <p:cNvPr id="9011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217566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6CC0A8-2A87-41C7-9F1A-87A387CC3A23}" type="slidenum">
              <a:rPr lang="en-US"/>
              <a:pPr/>
              <a:t>86</a:t>
            </a:fld>
            <a:endParaRPr lang="en-US"/>
          </a:p>
        </p:txBody>
      </p:sp>
      <p:sp>
        <p:nvSpPr>
          <p:cNvPr id="962562" name="Rectangle 2"/>
          <p:cNvSpPr>
            <a:spLocks noGrp="1" noRot="1" noChangeAspect="1" noChangeArrowheads="1" noTextEdit="1"/>
          </p:cNvSpPr>
          <p:nvPr>
            <p:ph type="sldImg"/>
          </p:nvPr>
        </p:nvSpPr>
        <p:spPr>
          <a:ln/>
        </p:spPr>
      </p:sp>
      <p:sp>
        <p:nvSpPr>
          <p:cNvPr id="962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459317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CE38EA-1ECD-4642-A108-6009AD4EE74B}" type="slidenum">
              <a:rPr lang="en-US"/>
              <a:pPr/>
              <a:t>87</a:t>
            </a:fld>
            <a:endParaRPr lang="en-US"/>
          </a:p>
        </p:txBody>
      </p:sp>
      <p:sp>
        <p:nvSpPr>
          <p:cNvPr id="964610" name="Rectangle 2"/>
          <p:cNvSpPr>
            <a:spLocks noGrp="1" noRot="1" noChangeAspect="1" noChangeArrowheads="1" noTextEdit="1"/>
          </p:cNvSpPr>
          <p:nvPr>
            <p:ph type="sldImg"/>
          </p:nvPr>
        </p:nvSpPr>
        <p:spPr>
          <a:ln/>
        </p:spPr>
      </p:sp>
      <p:sp>
        <p:nvSpPr>
          <p:cNvPr id="96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9438004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A38137-60C9-4399-8A18-7595B5DC5AF0}" type="slidenum">
              <a:rPr lang="en-US"/>
              <a:pPr/>
              <a:t>88</a:t>
            </a:fld>
            <a:endParaRPr lang="en-US"/>
          </a:p>
        </p:txBody>
      </p:sp>
      <p:sp>
        <p:nvSpPr>
          <p:cNvPr id="966658" name="Rectangle 2"/>
          <p:cNvSpPr>
            <a:spLocks noGrp="1" noRot="1" noChangeAspect="1" noChangeArrowheads="1" noTextEdit="1"/>
          </p:cNvSpPr>
          <p:nvPr>
            <p:ph type="sldImg"/>
          </p:nvPr>
        </p:nvSpPr>
        <p:spPr>
          <a:ln/>
        </p:spPr>
      </p:sp>
      <p:sp>
        <p:nvSpPr>
          <p:cNvPr id="966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85912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C536C2-EDC1-4342-80D3-CEC5DA6DA816}" type="slidenum">
              <a:rPr lang="en-US"/>
              <a:pPr/>
              <a:t>89</a:t>
            </a:fld>
            <a:endParaRPr lang="en-US"/>
          </a:p>
        </p:txBody>
      </p:sp>
      <p:sp>
        <p:nvSpPr>
          <p:cNvPr id="968706" name="Rectangle 2"/>
          <p:cNvSpPr>
            <a:spLocks noGrp="1" noRot="1" noChangeAspect="1" noChangeArrowheads="1" noTextEdit="1"/>
          </p:cNvSpPr>
          <p:nvPr>
            <p:ph type="sldImg"/>
          </p:nvPr>
        </p:nvSpPr>
        <p:spPr>
          <a:ln/>
        </p:spPr>
      </p:sp>
      <p:sp>
        <p:nvSpPr>
          <p:cNvPr id="968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149619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501B8A-903A-48D2-8408-01C6BD4224E4}" type="slidenum">
              <a:rPr lang="en-US"/>
              <a:pPr/>
              <a:t>90</a:t>
            </a:fld>
            <a:endParaRPr lang="en-US"/>
          </a:p>
        </p:txBody>
      </p:sp>
      <p:sp>
        <p:nvSpPr>
          <p:cNvPr id="944130" name="Rectangle 2"/>
          <p:cNvSpPr>
            <a:spLocks noGrp="1" noRot="1" noChangeAspect="1" noChangeArrowheads="1" noTextEdit="1"/>
          </p:cNvSpPr>
          <p:nvPr>
            <p:ph type="sldImg"/>
          </p:nvPr>
        </p:nvSpPr>
        <p:spPr>
          <a:ln/>
        </p:spPr>
      </p:sp>
      <p:sp>
        <p:nvSpPr>
          <p:cNvPr id="9441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0083061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16106B-77D1-4310-8C27-47FD6CDA09DA}" type="slidenum">
              <a:rPr lang="en-US"/>
              <a:pPr/>
              <a:t>91</a:t>
            </a:fld>
            <a:endParaRPr lang="en-US"/>
          </a:p>
        </p:txBody>
      </p:sp>
      <p:sp>
        <p:nvSpPr>
          <p:cNvPr id="1040386" name="Rectangle 2"/>
          <p:cNvSpPr>
            <a:spLocks noGrp="1" noRot="1" noChangeAspect="1" noChangeArrowheads="1" noTextEdit="1"/>
          </p:cNvSpPr>
          <p:nvPr>
            <p:ph type="sldImg"/>
          </p:nvPr>
        </p:nvSpPr>
        <p:spPr>
          <a:ln/>
        </p:spPr>
      </p:sp>
      <p:sp>
        <p:nvSpPr>
          <p:cNvPr id="10403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5683018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CEC17A-DD17-4D37-857A-4C5D7810E93B}" type="slidenum">
              <a:rPr lang="en-US"/>
              <a:pPr/>
              <a:t>92</a:t>
            </a:fld>
            <a:endParaRPr lang="en-US"/>
          </a:p>
        </p:txBody>
      </p:sp>
      <p:sp>
        <p:nvSpPr>
          <p:cNvPr id="970754" name="Rectangle 2"/>
          <p:cNvSpPr>
            <a:spLocks noGrp="1" noRot="1" noChangeAspect="1" noChangeArrowheads="1" noTextEdit="1"/>
          </p:cNvSpPr>
          <p:nvPr>
            <p:ph type="sldImg"/>
          </p:nvPr>
        </p:nvSpPr>
        <p:spPr>
          <a:ln/>
        </p:spPr>
      </p:sp>
      <p:sp>
        <p:nvSpPr>
          <p:cNvPr id="970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919644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65A0B1-588E-4EBE-8D5F-E7D85DB7C04A}" type="slidenum">
              <a:rPr lang="en-US"/>
              <a:pPr/>
              <a:t>93</a:t>
            </a:fld>
            <a:endParaRPr lang="en-US"/>
          </a:p>
        </p:txBody>
      </p:sp>
      <p:sp>
        <p:nvSpPr>
          <p:cNvPr id="972802" name="Rectangle 2"/>
          <p:cNvSpPr>
            <a:spLocks noGrp="1" noRot="1" noChangeAspect="1" noChangeArrowheads="1" noTextEdit="1"/>
          </p:cNvSpPr>
          <p:nvPr>
            <p:ph type="sldImg"/>
          </p:nvPr>
        </p:nvSpPr>
        <p:spPr>
          <a:ln/>
        </p:spPr>
      </p:sp>
      <p:sp>
        <p:nvSpPr>
          <p:cNvPr id="972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774199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8EB653-ADA6-4B95-BB95-FC5BA839CF9D}" type="slidenum">
              <a:rPr lang="en-US"/>
              <a:pPr/>
              <a:t>97</a:t>
            </a:fld>
            <a:endParaRPr lang="en-US"/>
          </a:p>
        </p:txBody>
      </p:sp>
      <p:sp>
        <p:nvSpPr>
          <p:cNvPr id="946178" name="Rectangle 2"/>
          <p:cNvSpPr>
            <a:spLocks noGrp="1" noRot="1" noChangeAspect="1" noChangeArrowheads="1" noTextEdit="1"/>
          </p:cNvSpPr>
          <p:nvPr>
            <p:ph type="sldImg"/>
          </p:nvPr>
        </p:nvSpPr>
        <p:spPr>
          <a:ln/>
        </p:spPr>
      </p:sp>
      <p:sp>
        <p:nvSpPr>
          <p:cNvPr id="946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5187315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8E0235-40A7-4BBE-8CCF-B6B9B1E6E814}" type="slidenum">
              <a:rPr lang="en-US"/>
              <a:pPr/>
              <a:t>98</a:t>
            </a:fld>
            <a:endParaRPr lang="en-US"/>
          </a:p>
        </p:txBody>
      </p:sp>
      <p:sp>
        <p:nvSpPr>
          <p:cNvPr id="974850" name="Rectangle 2"/>
          <p:cNvSpPr>
            <a:spLocks noGrp="1" noRot="1" noChangeAspect="1" noChangeArrowheads="1" noTextEdit="1"/>
          </p:cNvSpPr>
          <p:nvPr>
            <p:ph type="sldImg"/>
          </p:nvPr>
        </p:nvSpPr>
        <p:spPr>
          <a:ln/>
        </p:spPr>
      </p:sp>
      <p:sp>
        <p:nvSpPr>
          <p:cNvPr id="974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0075893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098146-FB08-468D-9580-1A23878DE2FD}" type="slidenum">
              <a:rPr lang="en-US"/>
              <a:pPr/>
              <a:t>99</a:t>
            </a:fld>
            <a:endParaRPr lang="en-US"/>
          </a:p>
        </p:txBody>
      </p:sp>
      <p:sp>
        <p:nvSpPr>
          <p:cNvPr id="976898" name="Rectangle 2"/>
          <p:cNvSpPr>
            <a:spLocks noGrp="1" noRot="1" noChangeAspect="1" noChangeArrowheads="1" noTextEdit="1"/>
          </p:cNvSpPr>
          <p:nvPr>
            <p:ph type="sldImg"/>
          </p:nvPr>
        </p:nvSpPr>
        <p:spPr>
          <a:ln/>
        </p:spPr>
      </p:sp>
      <p:sp>
        <p:nvSpPr>
          <p:cNvPr id="976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106774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954A82-8CFB-4449-8E4B-266788C45F03}" type="slidenum">
              <a:rPr lang="en-US"/>
              <a:pPr/>
              <a:t>100</a:t>
            </a:fld>
            <a:endParaRPr lang="en-US"/>
          </a:p>
        </p:txBody>
      </p:sp>
      <p:sp>
        <p:nvSpPr>
          <p:cNvPr id="978946" name="Rectangle 2"/>
          <p:cNvSpPr>
            <a:spLocks noGrp="1" noRot="1" noChangeAspect="1" noChangeArrowheads="1" noTextEdit="1"/>
          </p:cNvSpPr>
          <p:nvPr>
            <p:ph type="sldImg"/>
          </p:nvPr>
        </p:nvSpPr>
        <p:spPr>
          <a:ln/>
        </p:spPr>
      </p:sp>
      <p:sp>
        <p:nvSpPr>
          <p:cNvPr id="978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6392792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8B8BF7-9189-48B2-B8CA-9AEFD2E4F9C9}" type="slidenum">
              <a:rPr lang="en-US"/>
              <a:pPr/>
              <a:t>101</a:t>
            </a:fld>
            <a:endParaRPr lang="en-US"/>
          </a:p>
        </p:txBody>
      </p:sp>
      <p:sp>
        <p:nvSpPr>
          <p:cNvPr id="980994" name="Rectangle 2"/>
          <p:cNvSpPr>
            <a:spLocks noGrp="1" noRot="1" noChangeAspect="1" noChangeArrowheads="1" noTextEdit="1"/>
          </p:cNvSpPr>
          <p:nvPr>
            <p:ph type="sldImg"/>
          </p:nvPr>
        </p:nvSpPr>
        <p:spPr>
          <a:ln/>
        </p:spPr>
      </p:sp>
      <p:sp>
        <p:nvSpPr>
          <p:cNvPr id="9809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8892087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5D4CC4-5E6F-4111-9D93-122C28790C06}" type="slidenum">
              <a:rPr lang="en-US"/>
              <a:pPr/>
              <a:t>102</a:t>
            </a:fld>
            <a:endParaRPr lang="en-US"/>
          </a:p>
        </p:txBody>
      </p:sp>
      <p:sp>
        <p:nvSpPr>
          <p:cNvPr id="950274" name="Rectangle 2"/>
          <p:cNvSpPr>
            <a:spLocks noGrp="1" noRot="1" noChangeAspect="1" noChangeArrowheads="1" noTextEdit="1"/>
          </p:cNvSpPr>
          <p:nvPr>
            <p:ph type="sldImg"/>
          </p:nvPr>
        </p:nvSpPr>
        <p:spPr>
          <a:ln/>
        </p:spPr>
      </p:sp>
      <p:sp>
        <p:nvSpPr>
          <p:cNvPr id="950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0941646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DF966C-E1F8-4B66-8348-70F12C1AAB1F}" type="slidenum">
              <a:rPr lang="en-US"/>
              <a:pPr/>
              <a:t>103</a:t>
            </a:fld>
            <a:endParaRPr lang="en-US"/>
          </a:p>
        </p:txBody>
      </p:sp>
      <p:sp>
        <p:nvSpPr>
          <p:cNvPr id="987138" name="Rectangle 2"/>
          <p:cNvSpPr>
            <a:spLocks noGrp="1" noRot="1" noChangeAspect="1" noChangeArrowheads="1" noTextEdit="1"/>
          </p:cNvSpPr>
          <p:nvPr>
            <p:ph type="sldImg"/>
          </p:nvPr>
        </p:nvSpPr>
        <p:spPr>
          <a:ln/>
        </p:spPr>
      </p:sp>
      <p:sp>
        <p:nvSpPr>
          <p:cNvPr id="9871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1090737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136880-41C8-494E-A5B7-B8E0AB5C15CA}" type="slidenum">
              <a:rPr lang="en-US"/>
              <a:pPr/>
              <a:t>104</a:t>
            </a:fld>
            <a:endParaRPr lang="en-US"/>
          </a:p>
        </p:txBody>
      </p:sp>
      <p:sp>
        <p:nvSpPr>
          <p:cNvPr id="1062914" name="Rectangle 2"/>
          <p:cNvSpPr>
            <a:spLocks noGrp="1" noRot="1" noChangeAspect="1" noChangeArrowheads="1" noTextEdit="1"/>
          </p:cNvSpPr>
          <p:nvPr>
            <p:ph type="sldImg"/>
          </p:nvPr>
        </p:nvSpPr>
        <p:spPr>
          <a:ln/>
        </p:spPr>
      </p:sp>
      <p:sp>
        <p:nvSpPr>
          <p:cNvPr id="10629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8239508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136880-41C8-494E-A5B7-B8E0AB5C15CA}" type="slidenum">
              <a:rPr lang="en-US"/>
              <a:pPr/>
              <a:t>105</a:t>
            </a:fld>
            <a:endParaRPr lang="en-US"/>
          </a:p>
        </p:txBody>
      </p:sp>
      <p:sp>
        <p:nvSpPr>
          <p:cNvPr id="1062914" name="Rectangle 2"/>
          <p:cNvSpPr>
            <a:spLocks noGrp="1" noRot="1" noChangeAspect="1" noChangeArrowheads="1" noTextEdit="1"/>
          </p:cNvSpPr>
          <p:nvPr>
            <p:ph type="sldImg"/>
          </p:nvPr>
        </p:nvSpPr>
        <p:spPr>
          <a:ln/>
        </p:spPr>
      </p:sp>
      <p:sp>
        <p:nvSpPr>
          <p:cNvPr id="10629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2606740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136880-41C8-494E-A5B7-B8E0AB5C15CA}" type="slidenum">
              <a:rPr lang="en-US"/>
              <a:pPr/>
              <a:t>106</a:t>
            </a:fld>
            <a:endParaRPr lang="en-US"/>
          </a:p>
        </p:txBody>
      </p:sp>
      <p:sp>
        <p:nvSpPr>
          <p:cNvPr id="1062914" name="Rectangle 2"/>
          <p:cNvSpPr>
            <a:spLocks noGrp="1" noRot="1" noChangeAspect="1" noChangeArrowheads="1" noTextEdit="1"/>
          </p:cNvSpPr>
          <p:nvPr>
            <p:ph type="sldImg"/>
          </p:nvPr>
        </p:nvSpPr>
        <p:spPr>
          <a:ln/>
        </p:spPr>
      </p:sp>
      <p:sp>
        <p:nvSpPr>
          <p:cNvPr id="10629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3473795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D09B07-F4B0-4963-9AEB-16F37D4A0454}" type="slidenum">
              <a:rPr lang="en-US"/>
              <a:pPr/>
              <a:t>107</a:t>
            </a:fld>
            <a:endParaRPr lang="en-US"/>
          </a:p>
        </p:txBody>
      </p:sp>
      <p:sp>
        <p:nvSpPr>
          <p:cNvPr id="991234" name="Rectangle 2"/>
          <p:cNvSpPr>
            <a:spLocks noGrp="1" noRot="1" noChangeAspect="1" noChangeArrowheads="1" noTextEdit="1"/>
          </p:cNvSpPr>
          <p:nvPr>
            <p:ph type="sldImg"/>
          </p:nvPr>
        </p:nvSpPr>
        <p:spPr>
          <a:ln/>
        </p:spPr>
      </p:sp>
      <p:sp>
        <p:nvSpPr>
          <p:cNvPr id="991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1407204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51CDC9-3C5A-45FD-B1C4-B0AAB069A4B0}" type="slidenum">
              <a:rPr lang="en-US"/>
              <a:pPr/>
              <a:t>108</a:t>
            </a:fld>
            <a:endParaRPr lang="en-US"/>
          </a:p>
        </p:txBody>
      </p:sp>
      <p:sp>
        <p:nvSpPr>
          <p:cNvPr id="993282" name="Rectangle 2"/>
          <p:cNvSpPr>
            <a:spLocks noGrp="1" noRot="1" noChangeAspect="1" noChangeArrowheads="1" noTextEdit="1"/>
          </p:cNvSpPr>
          <p:nvPr>
            <p:ph type="sldImg"/>
          </p:nvPr>
        </p:nvSpPr>
        <p:spPr>
          <a:ln/>
        </p:spPr>
      </p:sp>
      <p:sp>
        <p:nvSpPr>
          <p:cNvPr id="993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4791510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3F4E4A-0010-422A-82C7-F63D8EF21E4B}" type="slidenum">
              <a:rPr lang="en-US"/>
              <a:pPr/>
              <a:t>109</a:t>
            </a:fld>
            <a:endParaRPr lang="en-US"/>
          </a:p>
        </p:txBody>
      </p:sp>
      <p:sp>
        <p:nvSpPr>
          <p:cNvPr id="1150978" name="Rectangle 2"/>
          <p:cNvSpPr>
            <a:spLocks noGrp="1" noRot="1" noChangeAspect="1" noChangeArrowheads="1" noTextEdit="1"/>
          </p:cNvSpPr>
          <p:nvPr>
            <p:ph type="sldImg"/>
          </p:nvPr>
        </p:nvSpPr>
        <p:spPr>
          <a:ln/>
        </p:spPr>
      </p:sp>
      <p:sp>
        <p:nvSpPr>
          <p:cNvPr id="11509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8243997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FAF9AD8E-5E88-4E1B-897A-1024B8454F2C}" type="slidenum">
              <a:rPr lang="en-US" altLang="zh-CN"/>
              <a:pPr/>
              <a:t>110</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zh-CN" altLang="zh-CN" smtClean="0"/>
          </a:p>
        </p:txBody>
      </p:sp>
    </p:spTree>
    <p:extLst>
      <p:ext uri="{BB962C8B-B14F-4D97-AF65-F5344CB8AC3E}">
        <p14:creationId xmlns:p14="http://schemas.microsoft.com/office/powerpoint/2010/main" val="4213278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4512D2D-F426-463B-A287-7F19E70A3F04}"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C0370D3-2A0E-430D-9AB5-2A1EC2291BB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D1AD4A7-0882-4109-99AA-A63B3268F59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685800" y="2130425"/>
            <a:ext cx="7772400" cy="1470025"/>
          </a:xfrm>
        </p:spPr>
        <p:txBody>
          <a:bodyPr/>
          <a:lstStyle>
            <a:lvl1pPr>
              <a:defRPr/>
            </a:lvl1pPr>
          </a:lstStyle>
          <a:p>
            <a:r>
              <a:rPr lang="en-US" smtClean="0"/>
              <a:t>Click to edit Master title style</a:t>
            </a:r>
            <a:endParaRPr lang="en-US"/>
          </a:p>
        </p:txBody>
      </p:sp>
      <p:sp>
        <p:nvSpPr>
          <p:cNvPr id="74755"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6553200" y="6245225"/>
            <a:ext cx="2133600" cy="476250"/>
          </a:xfrm>
        </p:spPr>
        <p:txBody>
          <a:bodyPr/>
          <a:lstStyle>
            <a:lvl1pPr>
              <a:defRPr smtClean="0"/>
            </a:lvl1pPr>
          </a:lstStyle>
          <a:p>
            <a:pPr>
              <a:defRPr/>
            </a:pPr>
            <a:fld id="{C8B07C73-BD55-4794-AC9F-2E8189A32BE1}" type="slidenum">
              <a:rPr lang="en-US"/>
              <a:pPr>
                <a:defRPr/>
              </a:pPr>
              <a:t>‹#›</a:t>
            </a:fld>
            <a:endParaRPr lang="en-US" dirty="0"/>
          </a:p>
        </p:txBody>
      </p:sp>
    </p:spTree>
    <p:extLst>
      <p:ext uri="{BB962C8B-B14F-4D97-AF65-F5344CB8AC3E}">
        <p14:creationId xmlns:p14="http://schemas.microsoft.com/office/powerpoint/2010/main" val="25289037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7373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73734" name="Rectangle 6"/>
          <p:cNvSpPr>
            <a:spLocks noGrp="1" noChangeArrowheads="1"/>
          </p:cNvSpPr>
          <p:nvPr>
            <p:ph type="sldNum" sz="quarter" idx="4"/>
          </p:nvPr>
        </p:nvSpPr>
        <p:spPr bwMode="auto">
          <a:xfrm>
            <a:off x="6553200" y="62293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CC8D8CBA-988B-44C7-9959-56385BC0462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76" r:id="rId1"/>
    <p:sldLayoutId id="2147483680" r:id="rId2"/>
    <p:sldLayoutId id="2147483681" r:id="rId3"/>
    <p:sldLayoutId id="2147483682" r:id="rId4"/>
  </p:sldLayoutIdLst>
  <p:hf hdr="0" dt="0"/>
  <p:txStyles>
    <p:title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df"/><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32.wmf"/></Relationships>
</file>

<file path=ppt/slides/_rels/slide50.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36.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microsoft.com/office/2007/relationships/hdphoto" Target="../media/hdphoto2.wdp"/></Relationships>
</file>

<file path=ppt/slides/_rels/slide61.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4.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8.png"/></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7.xml"/><Relationship Id="rId1"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7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9.xml"/><Relationship Id="rId1" Type="http://schemas.openxmlformats.org/officeDocument/2006/relationships/slideLayout" Target="../slideLayouts/slideLayout3.xml"/><Relationship Id="rId4" Type="http://schemas.openxmlformats.org/officeDocument/2006/relationships/image" Target="../media/image72.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Slide Number Placeholder 5"/>
          <p:cNvSpPr>
            <a:spLocks noGrp="1"/>
          </p:cNvSpPr>
          <p:nvPr>
            <p:ph type="sldNum" sz="quarter" idx="12"/>
          </p:nvPr>
        </p:nvSpPr>
        <p:spPr>
          <a:noFill/>
        </p:spPr>
        <p:txBody>
          <a:bodyPr/>
          <a:lstStyle/>
          <a:p>
            <a:fld id="{54E5B6B1-7EE7-4DA8-A041-A7583CA77706}" type="slidenum">
              <a:rPr lang="en-US"/>
              <a:pPr/>
              <a:t>1</a:t>
            </a:fld>
            <a:endParaRPr lang="en-US"/>
          </a:p>
        </p:txBody>
      </p:sp>
      <p:sp>
        <p:nvSpPr>
          <p:cNvPr id="6" name="Title 5"/>
          <p:cNvSpPr>
            <a:spLocks noGrp="1" noChangeArrowheads="1"/>
          </p:cNvSpPr>
          <p:nvPr>
            <p:ph type="ctrTitle"/>
          </p:nvPr>
        </p:nvSpPr>
        <p:spPr bwMode="auto">
          <a:xfrm>
            <a:off x="1600200" y="3429000"/>
            <a:ext cx="5791200" cy="646331"/>
          </a:xfrm>
          <a:prstGeom prst="rect">
            <a:avLst/>
          </a:prstGeom>
          <a:noFill/>
          <a:ln w="9525">
            <a:noFill/>
            <a:miter lim="800000"/>
            <a:headEnd/>
            <a:tailEnd/>
          </a:ln>
        </p:spPr>
        <p:txBody>
          <a:bodyPr wrap="square">
            <a:spAutoFit/>
          </a:bodyPr>
          <a:lstStyle/>
          <a:p>
            <a:pPr algn="ctr"/>
            <a:r>
              <a:rPr lang="en-US" altLang="zh-CN" sz="3600" b="1" dirty="0" smtClean="0">
                <a:solidFill>
                  <a:srgbClr val="FF0000"/>
                </a:solidFill>
                <a:latin typeface="Tw Cen MT" panose="020B0602020104020603" pitchFamily="34" charset="0"/>
                <a:ea typeface="SimSun" pitchFamily="2" charset="-122"/>
                <a:cs typeface="Times New Roman" pitchFamily="18" charset="0"/>
              </a:rPr>
              <a:t>Public-Key Cryptography</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pic>
        <p:nvPicPr>
          <p:cNvPr id="2" name="Picture 1"/>
          <p:cNvPicPr>
            <a:picLocks noChangeAspect="1"/>
          </p:cNvPicPr>
          <p:nvPr/>
        </p:nvPicPr>
        <p:blipFill>
          <a:blip r:embed="rId2"/>
          <a:stretch>
            <a:fillRect/>
          </a:stretch>
        </p:blipFill>
        <p:spPr>
          <a:xfrm rot="15979181">
            <a:off x="2217147" y="1178554"/>
            <a:ext cx="2286281" cy="1547812"/>
          </a:xfrm>
          <a:prstGeom prst="rect">
            <a:avLst/>
          </a:prstGeom>
        </p:spPr>
      </p:pic>
      <p:pic>
        <p:nvPicPr>
          <p:cNvPr id="3" name="Picture 2"/>
          <p:cNvPicPr>
            <a:picLocks noChangeAspect="1"/>
          </p:cNvPicPr>
          <p:nvPr/>
        </p:nvPicPr>
        <p:blipFill>
          <a:blip r:embed="rId3"/>
          <a:stretch>
            <a:fillRect/>
          </a:stretch>
        </p:blipFill>
        <p:spPr>
          <a:xfrm rot="8336284">
            <a:off x="4389752" y="1322564"/>
            <a:ext cx="2687434" cy="1379586"/>
          </a:xfrm>
          <a:prstGeom prst="rect">
            <a:avLst/>
          </a:prstGeom>
        </p:spPr>
      </p:pic>
    </p:spTree>
    <p:extLst>
      <p:ext uri="{BB962C8B-B14F-4D97-AF65-F5344CB8AC3E}">
        <p14:creationId xmlns:p14="http://schemas.microsoft.com/office/powerpoint/2010/main" val="35227719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a:t>
            </a:fld>
            <a:endParaRPr lang="en-US" dirty="0"/>
          </a:p>
        </p:txBody>
      </p:sp>
      <p:sp>
        <p:nvSpPr>
          <p:cNvPr id="3" name="Rectangle 2"/>
          <p:cNvSpPr/>
          <p:nvPr/>
        </p:nvSpPr>
        <p:spPr>
          <a:xfrm>
            <a:off x="1219200" y="2209800"/>
            <a:ext cx="6172200" cy="3077766"/>
          </a:xfrm>
          <a:prstGeom prst="rect">
            <a:avLst/>
          </a:prstGeom>
        </p:spPr>
        <p:txBody>
          <a:bodyPr wrap="square">
            <a:spAutoFit/>
          </a:bodyPr>
          <a:lstStyle/>
          <a:p>
            <a:pPr>
              <a:spcAft>
                <a:spcPts val="1200"/>
              </a:spcAft>
            </a:pPr>
            <a:r>
              <a:rPr lang="en-US" sz="2400" dirty="0">
                <a:latin typeface="Tw Cen MT" panose="020B0602020104020603" pitchFamily="34" charset="0"/>
                <a:cs typeface="Times New Roman" pitchFamily="18" charset="0"/>
              </a:rPr>
              <a:t>1. Public Key Encryption</a:t>
            </a:r>
          </a:p>
          <a:p>
            <a:pPr>
              <a:spcAft>
                <a:spcPts val="1200"/>
              </a:spcAft>
            </a:pPr>
            <a:r>
              <a:rPr lang="en-US" sz="2400" dirty="0">
                <a:latin typeface="Tw Cen MT" panose="020B0602020104020603" pitchFamily="34" charset="0"/>
                <a:cs typeface="Times New Roman" pitchFamily="18" charset="0"/>
              </a:rPr>
              <a:t>2. Symmetric vs. Public-Key</a:t>
            </a:r>
          </a:p>
          <a:p>
            <a:pPr>
              <a:spcAft>
                <a:spcPts val="1200"/>
              </a:spcAft>
            </a:pPr>
            <a:r>
              <a:rPr lang="en-US" sz="2400" dirty="0">
                <a:latin typeface="Tw Cen MT" panose="020B0602020104020603" pitchFamily="34" charset="0"/>
                <a:cs typeface="Times New Roman" pitchFamily="18" charset="0"/>
              </a:rPr>
              <a:t>3. RSA Public Key Encryption</a:t>
            </a:r>
          </a:p>
          <a:p>
            <a:pPr>
              <a:spcAft>
                <a:spcPts val="1200"/>
              </a:spcAft>
            </a:pPr>
            <a:r>
              <a:rPr lang="en-US" sz="2400" dirty="0">
                <a:latin typeface="Tw Cen MT" panose="020B0602020104020603" pitchFamily="34" charset="0"/>
                <a:cs typeface="Times New Roman" pitchFamily="18" charset="0"/>
              </a:rPr>
              <a:t>4. RSA Key Construction</a:t>
            </a:r>
          </a:p>
          <a:p>
            <a:pPr>
              <a:spcAft>
                <a:spcPts val="1200"/>
              </a:spcAft>
            </a:pPr>
            <a:r>
              <a:rPr lang="en-US" sz="2400" dirty="0">
                <a:latin typeface="Tw Cen MT" panose="020B0602020104020603" pitchFamily="34" charset="0"/>
                <a:cs typeface="Times New Roman" pitchFamily="18" charset="0"/>
              </a:rPr>
              <a:t>5. Optimizing Private Key Operations</a:t>
            </a:r>
          </a:p>
          <a:p>
            <a:pPr>
              <a:spcAft>
                <a:spcPts val="1200"/>
              </a:spcAft>
            </a:pPr>
            <a:r>
              <a:rPr lang="en-US" sz="2400" dirty="0">
                <a:latin typeface="Tw Cen MT" panose="020B0602020104020603" pitchFamily="34" charset="0"/>
                <a:cs typeface="Times New Roman" pitchFamily="18" charset="0"/>
              </a:rPr>
              <a:t>6. RSA Security</a:t>
            </a:r>
          </a:p>
        </p:txBody>
      </p:sp>
      <p:sp>
        <p:nvSpPr>
          <p:cNvPr id="4" name="Rectangle 3"/>
          <p:cNvSpPr/>
          <p:nvPr/>
        </p:nvSpPr>
        <p:spPr>
          <a:xfrm>
            <a:off x="3361412" y="838200"/>
            <a:ext cx="1444626" cy="584775"/>
          </a:xfrm>
          <a:prstGeom prst="rect">
            <a:avLst/>
          </a:prstGeom>
        </p:spPr>
        <p:txBody>
          <a:bodyPr wrap="none">
            <a:spAutoFit/>
          </a:bodyPr>
          <a:lstStyle/>
          <a:p>
            <a:r>
              <a:rPr lang="en-US" sz="3200" b="1" dirty="0" smtClean="0">
                <a:solidFill>
                  <a:srgbClr val="FF0000"/>
                </a:solidFill>
                <a:latin typeface="Tw Cen MT" panose="020B0602020104020603" pitchFamily="34" charset="0"/>
              </a:rPr>
              <a:t>Outline</a:t>
            </a:r>
            <a:endParaRPr lang="en-US" sz="3200" dirty="0">
              <a:solidFill>
                <a:srgbClr val="FF0000"/>
              </a:solidFill>
              <a:latin typeface="Tw Cen MT" panose="020B0602020104020603" pitchFamily="34" charset="0"/>
            </a:endParaRPr>
          </a:p>
        </p:txBody>
      </p:sp>
    </p:spTree>
    <p:extLst>
      <p:ext uri="{BB962C8B-B14F-4D97-AF65-F5344CB8AC3E}">
        <p14:creationId xmlns:p14="http://schemas.microsoft.com/office/powerpoint/2010/main" val="12794719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pPr>
              <a:lnSpc>
                <a:spcPts val="4800"/>
              </a:lnSpc>
            </a:pPr>
            <a:r>
              <a:rPr lang="en-US" sz="3600" b="1" dirty="0" smtClean="0">
                <a:solidFill>
                  <a:srgbClr val="FF0000"/>
                </a:solidFill>
                <a:latin typeface="Tw Cen MT" panose="020B0602020104020603" pitchFamily="34" charset="0"/>
              </a:rPr>
              <a:t>Misconceptions</a:t>
            </a:r>
            <a:r>
              <a:rPr lang="en-US" sz="3600" b="1" dirty="0" smtClean="0">
                <a:latin typeface="Tw Cen MT" panose="020B0602020104020603" pitchFamily="34" charset="0"/>
              </a:rPr>
              <a:t> </a:t>
            </a:r>
            <a:r>
              <a:rPr lang="en-US" sz="3600" b="1" dirty="0" smtClean="0">
                <a:solidFill>
                  <a:srgbClr val="0099CC"/>
                </a:solidFill>
                <a:latin typeface="Tw Cen MT" panose="020B0602020104020603" pitchFamily="34" charset="0"/>
              </a:rPr>
              <a:t>Concerning </a:t>
            </a:r>
            <a:br>
              <a:rPr lang="en-US" sz="3600" b="1" dirty="0" smtClean="0">
                <a:solidFill>
                  <a:srgbClr val="0099CC"/>
                </a:solidFill>
                <a:latin typeface="Tw Cen MT" panose="020B0602020104020603" pitchFamily="34" charset="0"/>
              </a:rPr>
            </a:br>
            <a:r>
              <a:rPr lang="en-US" sz="3600" b="1" dirty="0" smtClean="0">
                <a:solidFill>
                  <a:srgbClr val="0099CC"/>
                </a:solidFill>
                <a:latin typeface="Tw Cen MT" panose="020B0602020104020603" pitchFamily="34" charset="0"/>
              </a:rPr>
              <a:t>Public-Key Encryption</a:t>
            </a:r>
            <a:endParaRPr lang="en-US" sz="3600" b="1" dirty="0">
              <a:solidFill>
                <a:srgbClr val="0099CC"/>
              </a:solidFill>
              <a:latin typeface="Tw Cen MT" panose="020B0602020104020603" pitchFamily="34" charset="0"/>
            </a:endParaRPr>
          </a:p>
        </p:txBody>
      </p:sp>
      <p:sp>
        <p:nvSpPr>
          <p:cNvPr id="3" name="Content Placeholder 2"/>
          <p:cNvSpPr>
            <a:spLocks noGrp="1"/>
          </p:cNvSpPr>
          <p:nvPr>
            <p:ph idx="1"/>
          </p:nvPr>
        </p:nvSpPr>
        <p:spPr>
          <a:xfrm>
            <a:off x="838200" y="1981201"/>
            <a:ext cx="7570787" cy="3429000"/>
          </a:xfrm>
        </p:spPr>
        <p:txBody>
          <a:bodyPr>
            <a:normAutofit/>
          </a:bodyPr>
          <a:lstStyle/>
          <a:p>
            <a:pPr algn="just">
              <a:spcBef>
                <a:spcPts val="0"/>
              </a:spcBef>
              <a:spcAft>
                <a:spcPts val="1200"/>
              </a:spcAft>
            </a:pPr>
            <a:r>
              <a:rPr lang="en-US" dirty="0" smtClean="0">
                <a:solidFill>
                  <a:schemeClr val="tx1"/>
                </a:solidFill>
                <a:latin typeface="Tw Cen MT" panose="020B0602020104020603" pitchFamily="34" charset="0"/>
              </a:rPr>
              <a:t>Public-key encryption is more secure from cryptanalysis than symmetric encryption</a:t>
            </a:r>
          </a:p>
          <a:p>
            <a:pPr algn="just">
              <a:spcBef>
                <a:spcPts val="0"/>
              </a:spcBef>
              <a:spcAft>
                <a:spcPts val="1200"/>
              </a:spcAft>
            </a:pPr>
            <a:r>
              <a:rPr lang="en-US" dirty="0" smtClean="0">
                <a:solidFill>
                  <a:schemeClr val="tx1"/>
                </a:solidFill>
                <a:latin typeface="Tw Cen MT" panose="020B0602020104020603" pitchFamily="34" charset="0"/>
              </a:rPr>
              <a:t>Public-key encryption is a general-purpose technique that has made symmetric encryption obsolete</a:t>
            </a:r>
          </a:p>
          <a:p>
            <a:pPr algn="just">
              <a:spcBef>
                <a:spcPts val="0"/>
              </a:spcBef>
              <a:spcAft>
                <a:spcPts val="1200"/>
              </a:spcAft>
            </a:pPr>
            <a:r>
              <a:rPr lang="en-US" dirty="0" smtClean="0">
                <a:solidFill>
                  <a:schemeClr val="tx1"/>
                </a:solidFill>
                <a:latin typeface="Tw Cen MT" panose="020B0602020104020603" pitchFamily="34" charset="0"/>
              </a:rPr>
              <a:t>There is a feeling that key distribution is trivial when using public-key encryption, compared to the cumbersome handshaking involved with key distribution centers for symmetric encryption</a:t>
            </a:r>
            <a:endParaRPr lang="en-US" dirty="0">
              <a:solidFill>
                <a:schemeClr val="tx1"/>
              </a:solidFill>
              <a:latin typeface="Tw Cen MT" panose="020B0602020104020603" pitchFamily="34" charset="0"/>
            </a:endParaRPr>
          </a:p>
        </p:txBody>
      </p:sp>
      <p:pic>
        <p:nvPicPr>
          <p:cNvPr id="6" name="Picture 5"/>
          <p:cNvPicPr>
            <a:picLocks noChangeAspect="1"/>
          </p:cNvPicPr>
          <p:nvPr/>
        </p:nvPicPr>
        <p:blipFill>
          <a:blip r:embed="rId3"/>
          <a:stretch>
            <a:fillRect/>
          </a:stretch>
        </p:blipFill>
        <p:spPr>
          <a:xfrm rot="3562930">
            <a:off x="7167818" y="665636"/>
            <a:ext cx="2082800" cy="939800"/>
          </a:xfrm>
          <a:prstGeom prst="rect">
            <a:avLst/>
          </a:prstGeom>
        </p:spPr>
      </p:pic>
    </p:spTree>
    <p:extLst>
      <p:ext uri="{BB962C8B-B14F-4D97-AF65-F5344CB8AC3E}">
        <p14:creationId xmlns:p14="http://schemas.microsoft.com/office/powerpoint/2010/main" val="15535445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457201" y="1365250"/>
            <a:ext cx="8305800" cy="4791075"/>
          </a:xfrm>
        </p:spPr>
        <p:txBody>
          <a:bodyPr>
            <a:normAutofit fontScale="92500" lnSpcReduction="10000"/>
          </a:bodyPr>
          <a:lstStyle/>
          <a:p>
            <a:pPr algn="just"/>
            <a:r>
              <a:rPr lang="en-US" sz="2600" dirty="0" smtClean="0">
                <a:solidFill>
                  <a:schemeClr val="tx1"/>
                </a:solidFill>
                <a:latin typeface="Tw Cen MT" panose="020B0602020104020603" pitchFamily="34" charset="0"/>
              </a:rPr>
              <a:t>The concept of public-key cryptography evolved from an attempt to attack two of the most difficult problems associated with symmetric encryption:</a:t>
            </a:r>
          </a:p>
          <a:p>
            <a:pPr algn="just"/>
            <a:endParaRPr lang="en-US" dirty="0" smtClean="0">
              <a:latin typeface="Tw Cen MT" panose="020B0602020104020603" pitchFamily="34" charset="0"/>
            </a:endParaRPr>
          </a:p>
          <a:p>
            <a:pPr algn="just"/>
            <a:endParaRPr lang="en-US" dirty="0" smtClean="0">
              <a:latin typeface="Tw Cen MT" panose="020B0602020104020603" pitchFamily="34" charset="0"/>
            </a:endParaRPr>
          </a:p>
          <a:p>
            <a:pPr algn="just"/>
            <a:endParaRPr lang="en-US" dirty="0" smtClean="0">
              <a:latin typeface="Tw Cen MT" panose="020B0602020104020603" pitchFamily="34" charset="0"/>
            </a:endParaRPr>
          </a:p>
          <a:p>
            <a:pPr algn="just"/>
            <a:endParaRPr lang="en-US" dirty="0" smtClean="0">
              <a:latin typeface="Tw Cen MT" panose="020B0602020104020603" pitchFamily="34" charset="0"/>
            </a:endParaRPr>
          </a:p>
          <a:p>
            <a:pPr algn="just"/>
            <a:endParaRPr lang="en-US" dirty="0" smtClean="0">
              <a:latin typeface="Tw Cen MT" panose="020B0602020104020603" pitchFamily="34" charset="0"/>
            </a:endParaRPr>
          </a:p>
          <a:p>
            <a:pPr algn="just"/>
            <a:endParaRPr lang="en-US" dirty="0" smtClean="0">
              <a:latin typeface="Tw Cen MT" panose="020B0602020104020603" pitchFamily="34" charset="0"/>
            </a:endParaRPr>
          </a:p>
          <a:p>
            <a:pPr algn="just"/>
            <a:r>
              <a:rPr lang="en-US" sz="2600" dirty="0" smtClean="0">
                <a:solidFill>
                  <a:schemeClr val="tx1"/>
                </a:solidFill>
                <a:latin typeface="Tw Cen MT" panose="020B0602020104020603" pitchFamily="34" charset="0"/>
              </a:rPr>
              <a:t>Whitfield Diffie and Martin Hellman from Stanford University achieved a breakthrough in 1976 by coming up with a method that addressed both problems and was radically different from all previous approaches to cryptography</a:t>
            </a:r>
          </a:p>
          <a:p>
            <a:pPr lvl="1" algn="just"/>
            <a:endParaRPr lang="en-AU" sz="2400" dirty="0">
              <a:latin typeface="Tw Cen MT" panose="020B0602020104020603" pitchFamily="34" charset="0"/>
            </a:endParaRPr>
          </a:p>
        </p:txBody>
      </p:sp>
      <p:sp>
        <p:nvSpPr>
          <p:cNvPr id="7" name="Rectangle 2"/>
          <p:cNvSpPr>
            <a:spLocks noGrp="1" noChangeArrowheads="1"/>
          </p:cNvSpPr>
          <p:nvPr>
            <p:ph type="title"/>
          </p:nvPr>
        </p:nvSpPr>
        <p:spPr>
          <a:xfrm>
            <a:off x="0" y="39688"/>
            <a:ext cx="9143999" cy="1412875"/>
          </a:xfrm>
        </p:spPr>
        <p:txBody>
          <a:bodyPr/>
          <a:lstStyle/>
          <a:p>
            <a:pPr>
              <a:lnSpc>
                <a:spcPts val="5000"/>
              </a:lnSpc>
            </a:pPr>
            <a:r>
              <a:rPr lang="en-AU" b="1" dirty="0" smtClean="0">
                <a:solidFill>
                  <a:srgbClr val="FF0000"/>
                </a:solidFill>
                <a:latin typeface="Tw Cen MT" panose="020B0602020104020603" pitchFamily="34" charset="0"/>
              </a:rPr>
              <a:t>Principles of Public-Key Cryptosystems</a:t>
            </a:r>
            <a:endParaRPr lang="en-AU" b="1" dirty="0">
              <a:solidFill>
                <a:srgbClr val="FF0000"/>
              </a:solidFill>
              <a:latin typeface="Tw Cen MT" panose="020B0602020104020603" pitchFamily="34" charset="0"/>
            </a:endParaRPr>
          </a:p>
        </p:txBody>
      </p:sp>
      <p:graphicFrame>
        <p:nvGraphicFramePr>
          <p:cNvPr id="4" name="Diagram 3"/>
          <p:cNvGraphicFramePr/>
          <p:nvPr>
            <p:extLst>
              <p:ext uri="{D42A27DB-BD31-4B8C-83A1-F6EECF244321}">
                <p14:modId xmlns:p14="http://schemas.microsoft.com/office/powerpoint/2010/main" val="145133025"/>
              </p:ext>
            </p:extLst>
          </p:nvPr>
        </p:nvGraphicFramePr>
        <p:xfrm>
          <a:off x="685800" y="2590800"/>
          <a:ext cx="7391400" cy="187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57075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39689"/>
            <a:ext cx="9143999" cy="1255712"/>
          </a:xfrm>
        </p:spPr>
        <p:txBody>
          <a:bodyPr/>
          <a:lstStyle/>
          <a:p>
            <a:r>
              <a:rPr lang="en-AU" sz="3600" b="1" dirty="0" smtClean="0">
                <a:solidFill>
                  <a:srgbClr val="FF0000"/>
                </a:solidFill>
                <a:latin typeface="Tw Cen MT" panose="020B0602020104020603" pitchFamily="34" charset="0"/>
              </a:rPr>
              <a:t>Public-Key Cryptosystems</a:t>
            </a:r>
            <a:endParaRPr lang="en-AU" sz="3600" b="1" dirty="0">
              <a:solidFill>
                <a:srgbClr val="FF0000"/>
              </a:solidFill>
              <a:latin typeface="Tw Cen MT" panose="020B0602020104020603" pitchFamily="34" charset="0"/>
            </a:endParaRPr>
          </a:p>
        </p:txBody>
      </p:sp>
      <p:sp>
        <p:nvSpPr>
          <p:cNvPr id="46083" name="Rectangle 3"/>
          <p:cNvSpPr>
            <a:spLocks noGrp="1" noChangeArrowheads="1"/>
          </p:cNvSpPr>
          <p:nvPr>
            <p:ph idx="1"/>
          </p:nvPr>
        </p:nvSpPr>
        <p:spPr>
          <a:xfrm>
            <a:off x="762000" y="1219200"/>
            <a:ext cx="7742237" cy="600075"/>
          </a:xfrm>
        </p:spPr>
        <p:txBody>
          <a:bodyPr>
            <a:normAutofit/>
          </a:bodyPr>
          <a:lstStyle/>
          <a:p>
            <a:r>
              <a:rPr lang="en-AU" dirty="0" smtClean="0">
                <a:latin typeface="Tw Cen MT" panose="020B0602020104020603" pitchFamily="34" charset="0"/>
              </a:rPr>
              <a:t>A public-key encryption scheme has six ingredients:</a:t>
            </a:r>
          </a:p>
        </p:txBody>
      </p:sp>
      <p:graphicFrame>
        <p:nvGraphicFramePr>
          <p:cNvPr id="5" name="Diagram 4"/>
          <p:cNvGraphicFramePr/>
          <p:nvPr>
            <p:extLst>
              <p:ext uri="{D42A27DB-BD31-4B8C-83A1-F6EECF244321}">
                <p14:modId xmlns:p14="http://schemas.microsoft.com/office/powerpoint/2010/main" val="953345560"/>
              </p:ext>
            </p:extLst>
          </p:nvPr>
        </p:nvGraphicFramePr>
        <p:xfrm>
          <a:off x="304800" y="1905000"/>
          <a:ext cx="84582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88648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4019" name="Text Box 3"/>
          <p:cNvSpPr txBox="1">
            <a:spLocks noChangeArrowheads="1"/>
          </p:cNvSpPr>
          <p:nvPr/>
        </p:nvSpPr>
        <p:spPr bwMode="auto">
          <a:xfrm>
            <a:off x="463669" y="457200"/>
            <a:ext cx="8102539" cy="584775"/>
          </a:xfrm>
          <a:prstGeom prst="rect">
            <a:avLst/>
          </a:prstGeom>
          <a:noFill/>
          <a:ln w="9525">
            <a:noFill/>
            <a:miter lim="800000"/>
            <a:headEnd/>
            <a:tailEnd/>
          </a:ln>
          <a:effectLst/>
        </p:spPr>
        <p:txBody>
          <a:bodyPr wrap="none">
            <a:spAutoFit/>
          </a:bodyPr>
          <a:lstStyle/>
          <a:p>
            <a:pPr algn="ctr">
              <a:defRPr/>
            </a:pPr>
            <a:r>
              <a:rPr lang="en-US" dirty="0" smtClean="0">
                <a:effectLst>
                  <a:outerShdw blurRad="38100" dist="38100" dir="2700000" algn="tl">
                    <a:srgbClr val="C0C0C0"/>
                  </a:outerShdw>
                </a:effectLst>
                <a:latin typeface="Times" pitchFamily="18" charset="0"/>
              </a:rPr>
              <a:t> </a:t>
            </a:r>
            <a:r>
              <a:rPr lang="en-US" sz="3200" b="1" dirty="0">
                <a:solidFill>
                  <a:srgbClr val="FF0000"/>
                </a:solidFill>
                <a:latin typeface="Tw Cen MT" panose="020B0602020104020603" pitchFamily="34" charset="0"/>
              </a:rPr>
              <a:t>Symmetric and </a:t>
            </a:r>
            <a:r>
              <a:rPr lang="en-US" sz="3200" b="1" dirty="0" smtClean="0">
                <a:solidFill>
                  <a:srgbClr val="FF0000"/>
                </a:solidFill>
                <a:latin typeface="Tw Cen MT" panose="020B0602020104020603" pitchFamily="34" charset="0"/>
              </a:rPr>
              <a:t>Asymmetric-key Cryptography</a:t>
            </a:r>
            <a:endParaRPr lang="en-US" sz="3200" b="1" dirty="0">
              <a:solidFill>
                <a:srgbClr val="FF0000"/>
              </a:solidFill>
              <a:latin typeface="Tw Cen MT" panose="020B0602020104020603" pitchFamily="34" charset="0"/>
            </a:endParaRPr>
          </a:p>
        </p:txBody>
      </p:sp>
      <p:sp>
        <p:nvSpPr>
          <p:cNvPr id="614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zh-CN" altLang="zh-CN" sz="1800">
              <a:latin typeface="Times New Roman" pitchFamily="18" charset="0"/>
              <a:ea typeface="SimSun" pitchFamily="2" charset="-122"/>
            </a:endParaRPr>
          </a:p>
        </p:txBody>
      </p:sp>
      <p:sp>
        <p:nvSpPr>
          <p:cNvPr id="1494021" name="Rectangle 5"/>
          <p:cNvSpPr>
            <a:spLocks noChangeArrowheads="1"/>
          </p:cNvSpPr>
          <p:nvPr/>
        </p:nvSpPr>
        <p:spPr bwMode="auto">
          <a:xfrm>
            <a:off x="457200" y="1406297"/>
            <a:ext cx="8382000" cy="2246769"/>
          </a:xfrm>
          <a:prstGeom prst="rect">
            <a:avLst/>
          </a:prstGeom>
          <a:noFill/>
          <a:ln w="9525">
            <a:noFill/>
            <a:miter lim="800000"/>
            <a:headEnd/>
            <a:tailEnd/>
          </a:ln>
          <a:effectLst/>
        </p:spPr>
        <p:txBody>
          <a:bodyPr wrap="square" anchor="ctr">
            <a:spAutoFit/>
          </a:bodyPr>
          <a:lstStyle/>
          <a:p>
            <a:pPr algn="just" eaLnBrk="1" hangingPunct="1">
              <a:defRPr/>
            </a:pPr>
            <a:r>
              <a:rPr lang="en-US" sz="2800" dirty="0">
                <a:latin typeface="Tw Cen MT" panose="020B0602020104020603" pitchFamily="34" charset="0"/>
              </a:rPr>
              <a:t>Symmetric and asymmetric-key cryptography </a:t>
            </a:r>
            <a:r>
              <a:rPr lang="en-US" sz="2800" dirty="0">
                <a:solidFill>
                  <a:srgbClr val="0000FF"/>
                </a:solidFill>
                <a:latin typeface="Tw Cen MT" panose="020B0602020104020603" pitchFamily="34" charset="0"/>
              </a:rPr>
              <a:t>will exist in parallel and continue to serve the community</a:t>
            </a:r>
            <a:r>
              <a:rPr lang="en-US" sz="2800" dirty="0">
                <a:latin typeface="Tw Cen MT" panose="020B0602020104020603" pitchFamily="34" charset="0"/>
              </a:rPr>
              <a:t>. We actually believe that they are complements of each other; the advantages of one can compensate for the disadvantages of the other.</a:t>
            </a:r>
          </a:p>
        </p:txBody>
      </p:sp>
      <p:sp>
        <p:nvSpPr>
          <p:cNvPr id="6151" name="Line 6"/>
          <p:cNvSpPr>
            <a:spLocks noChangeShapeType="1"/>
          </p:cNvSpPr>
          <p:nvPr/>
        </p:nvSpPr>
        <p:spPr bwMode="auto">
          <a:xfrm>
            <a:off x="533400" y="4495800"/>
            <a:ext cx="8153400" cy="0"/>
          </a:xfrm>
          <a:prstGeom prst="line">
            <a:avLst/>
          </a:prstGeom>
          <a:noFill/>
          <a:ln w="76200">
            <a:solidFill>
              <a:srgbClr val="009900"/>
            </a:solidFill>
            <a:round/>
            <a:headEnd/>
            <a:tailEnd/>
          </a:ln>
        </p:spPr>
        <p:txBody>
          <a:bodyPr/>
          <a:lstStyle/>
          <a:p>
            <a:endParaRPr lang="en-US"/>
          </a:p>
        </p:txBody>
      </p:sp>
      <p:sp>
        <p:nvSpPr>
          <p:cNvPr id="6152" name="Rectangle 7"/>
          <p:cNvSpPr>
            <a:spLocks noChangeArrowheads="1"/>
          </p:cNvSpPr>
          <p:nvPr/>
        </p:nvSpPr>
        <p:spPr bwMode="auto">
          <a:xfrm>
            <a:off x="571500" y="4587875"/>
            <a:ext cx="8077200" cy="830997"/>
          </a:xfrm>
          <a:prstGeom prst="rect">
            <a:avLst/>
          </a:prstGeom>
          <a:solidFill>
            <a:schemeClr val="accent5">
              <a:lumMod val="75000"/>
            </a:schemeClr>
          </a:solidFill>
          <a:ln w="76200" algn="ctr">
            <a:noFill/>
            <a:miter lim="800000"/>
            <a:headEnd/>
            <a:tailEnd/>
          </a:ln>
        </p:spPr>
        <p:txBody>
          <a:bodyPr>
            <a:spAutoFit/>
          </a:bodyPr>
          <a:lstStyle/>
          <a:p>
            <a:pPr algn="ctr"/>
            <a:r>
              <a:rPr lang="en-US" altLang="zh-CN" sz="2400" dirty="0">
                <a:latin typeface="Tw Cen MT" panose="020B0602020104020603" pitchFamily="34" charset="0"/>
                <a:ea typeface="SimSun" pitchFamily="2" charset="-122"/>
              </a:rPr>
              <a:t>Symmetric-key cryptography is based on sharing secrecy;</a:t>
            </a:r>
          </a:p>
          <a:p>
            <a:pPr algn="ctr"/>
            <a:r>
              <a:rPr lang="en-US" altLang="zh-CN" sz="2400" dirty="0">
                <a:latin typeface="Tw Cen MT" panose="020B0602020104020603" pitchFamily="34" charset="0"/>
                <a:ea typeface="SimSun" pitchFamily="2" charset="-122"/>
              </a:rPr>
              <a:t>asymmetric-key cryptography is based on personal secrecy.</a:t>
            </a:r>
          </a:p>
        </p:txBody>
      </p:sp>
      <p:sp>
        <p:nvSpPr>
          <p:cNvPr id="6154" name="Line 11"/>
          <p:cNvSpPr>
            <a:spLocks noChangeShapeType="1"/>
          </p:cNvSpPr>
          <p:nvPr/>
        </p:nvSpPr>
        <p:spPr bwMode="auto">
          <a:xfrm>
            <a:off x="533400" y="5518150"/>
            <a:ext cx="8153400" cy="0"/>
          </a:xfrm>
          <a:prstGeom prst="line">
            <a:avLst/>
          </a:prstGeom>
          <a:noFill/>
          <a:ln w="76200">
            <a:solidFill>
              <a:srgbClr val="009900"/>
            </a:solidFill>
            <a:round/>
            <a:headEnd/>
            <a:tailEnd/>
          </a:ln>
        </p:spPr>
        <p:txBody>
          <a:bodyPr/>
          <a:lstStyle/>
          <a:p>
            <a:endParaRPr lang="en-US"/>
          </a:p>
        </p:txBody>
      </p:sp>
    </p:spTree>
    <p:extLst>
      <p:ext uri="{BB962C8B-B14F-4D97-AF65-F5344CB8AC3E}">
        <p14:creationId xmlns:p14="http://schemas.microsoft.com/office/powerpoint/2010/main" val="31396824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1"/>
          <p:cNvSpPr>
            <a:spLocks noGrp="1"/>
          </p:cNvSpPr>
          <p:nvPr>
            <p:ph type="sldNum" sz="quarter" idx="10"/>
          </p:nvPr>
        </p:nvSpPr>
        <p:spPr>
          <a:noFill/>
        </p:spPr>
        <p:txBody>
          <a:bodyPr/>
          <a:lstStyle/>
          <a:p>
            <a:fld id="{495CA684-2353-4548-9719-67C349325A66}" type="slidenum">
              <a:rPr lang="en-US" altLang="zh-CN" smtClean="0"/>
              <a:pPr/>
              <a:t>7</a:t>
            </a:fld>
            <a:endParaRPr lang="en-US" altLang="zh-CN" dirty="0"/>
          </a:p>
        </p:txBody>
      </p:sp>
      <p:sp>
        <p:nvSpPr>
          <p:cNvPr id="10250" name="Rectangle 9"/>
          <p:cNvSpPr>
            <a:spLocks noChangeArrowheads="1"/>
          </p:cNvSpPr>
          <p:nvPr/>
        </p:nvSpPr>
        <p:spPr bwMode="auto">
          <a:xfrm>
            <a:off x="228600" y="2438400"/>
            <a:ext cx="8686800" cy="1200329"/>
          </a:xfrm>
          <a:prstGeom prst="rect">
            <a:avLst/>
          </a:prstGeom>
          <a:solidFill>
            <a:schemeClr val="bg1"/>
          </a:solidFill>
          <a:ln w="38100">
            <a:solidFill>
              <a:schemeClr val="hlink"/>
            </a:solidFill>
            <a:miter lim="800000"/>
            <a:headEnd/>
            <a:tailEnd/>
          </a:ln>
        </p:spPr>
        <p:txBody>
          <a:bodyPr>
            <a:spAutoFit/>
          </a:bodyPr>
          <a:lstStyle/>
          <a:p>
            <a:pPr algn="just"/>
            <a:r>
              <a:rPr lang="en-US" altLang="zh-CN" sz="2400" dirty="0">
                <a:latin typeface="Tw Cen MT" panose="020B0602020104020603" pitchFamily="34" charset="0"/>
                <a:ea typeface="SimSun" pitchFamily="2" charset="-122"/>
                <a:cs typeface="Times New Roman" pitchFamily="18" charset="0"/>
              </a:rPr>
              <a:t>There is a very important fact that is sometimes misunderstood: The advent of asymmetric-key cryptography does not eliminate the need for symmetric-key cryptography. </a:t>
            </a:r>
          </a:p>
        </p:txBody>
      </p:sp>
      <p:sp>
        <p:nvSpPr>
          <p:cNvPr id="10251" name="Text Box 10"/>
          <p:cNvSpPr txBox="1">
            <a:spLocks noChangeArrowheads="1"/>
          </p:cNvSpPr>
          <p:nvPr/>
        </p:nvSpPr>
        <p:spPr bwMode="auto">
          <a:xfrm>
            <a:off x="2831892" y="353203"/>
            <a:ext cx="2879634" cy="646331"/>
          </a:xfrm>
          <a:prstGeom prst="rect">
            <a:avLst/>
          </a:prstGeom>
          <a:noFill/>
          <a:ln w="9525">
            <a:noFill/>
            <a:miter lim="800000"/>
            <a:headEnd/>
            <a:tailEnd/>
          </a:ln>
        </p:spPr>
        <p:txBody>
          <a:bodyPr wrap="none">
            <a:spAutoFit/>
          </a:bodyPr>
          <a:lstStyle/>
          <a:p>
            <a:r>
              <a:rPr lang="en-US" altLang="zh-CN" dirty="0" smtClean="0">
                <a:solidFill>
                  <a:schemeClr val="hlink"/>
                </a:solidFill>
                <a:latin typeface="Times New Roman" pitchFamily="18" charset="0"/>
                <a:ea typeface="SimSun" pitchFamily="2" charset="-122"/>
                <a:cs typeface="Times New Roman" pitchFamily="18" charset="0"/>
              </a:rPr>
              <a:t> </a:t>
            </a:r>
            <a:r>
              <a:rPr lang="en-US" altLang="zh-CN" sz="3600" b="1" dirty="0">
                <a:solidFill>
                  <a:srgbClr val="FF0000"/>
                </a:solidFill>
                <a:latin typeface="Tw Cen MT" panose="020B0602020104020603" pitchFamily="34" charset="0"/>
                <a:ea typeface="SimSun" pitchFamily="2" charset="-122"/>
                <a:cs typeface="Times New Roman" pitchFamily="18" charset="0"/>
              </a:rPr>
              <a:t>Need for Both</a:t>
            </a:r>
          </a:p>
        </p:txBody>
      </p:sp>
    </p:spTree>
    <p:extLst>
      <p:ext uri="{BB962C8B-B14F-4D97-AF65-F5344CB8AC3E}">
        <p14:creationId xmlns:p14="http://schemas.microsoft.com/office/powerpoint/2010/main" val="33718322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601200" y="4587256"/>
            <a:ext cx="552450" cy="476250"/>
          </a:xfrm>
        </p:spPr>
        <p:txBody>
          <a:bodyPr/>
          <a:lstStyle/>
          <a:p>
            <a:pPr>
              <a:defRPr/>
            </a:pPr>
            <a:fld id="{CD1AD4A7-0882-4109-99AA-A63B3268F595}" type="slidenum">
              <a:rPr lang="en-US" smtClean="0"/>
              <a:pPr>
                <a:defRPr/>
              </a:pPr>
              <a:t>8</a:t>
            </a:fld>
            <a:endParaRPr lang="en-US" dirty="0"/>
          </a:p>
        </p:txBody>
      </p:sp>
      <p:sp>
        <p:nvSpPr>
          <p:cNvPr id="3" name="Rectangle 2"/>
          <p:cNvSpPr/>
          <p:nvPr/>
        </p:nvSpPr>
        <p:spPr>
          <a:xfrm>
            <a:off x="533400" y="1828800"/>
            <a:ext cx="8191500" cy="3077766"/>
          </a:xfrm>
          <a:prstGeom prst="rect">
            <a:avLst/>
          </a:prstGeom>
        </p:spPr>
        <p:txBody>
          <a:bodyPr wrap="square">
            <a:spAutoFit/>
          </a:bodyPr>
          <a:lstStyle/>
          <a:p>
            <a:pPr marL="342900" indent="-342900">
              <a:spcAft>
                <a:spcPts val="1200"/>
              </a:spcAft>
              <a:buFont typeface="Arial" pitchFamily="34" charset="0"/>
              <a:buChar char="•"/>
            </a:pPr>
            <a:r>
              <a:rPr lang="en-US" sz="2400" dirty="0" smtClean="0">
                <a:solidFill>
                  <a:srgbClr val="000000"/>
                </a:solidFill>
                <a:latin typeface="Tw Cen MT" panose="020B0602020104020603" pitchFamily="34" charset="0"/>
                <a:cs typeface="Times New Roman" pitchFamily="18" charset="0"/>
              </a:rPr>
              <a:t>Invented </a:t>
            </a:r>
            <a:r>
              <a:rPr lang="en-US" sz="2400" dirty="0">
                <a:solidFill>
                  <a:srgbClr val="000000"/>
                </a:solidFill>
                <a:latin typeface="Tw Cen MT" panose="020B0602020104020603" pitchFamily="34" charset="0"/>
                <a:cs typeface="Times New Roman" pitchFamily="18" charset="0"/>
              </a:rPr>
              <a:t>in 1975 by </a:t>
            </a:r>
            <a:r>
              <a:rPr lang="en-US" sz="2400" dirty="0" err="1">
                <a:solidFill>
                  <a:srgbClr val="000000"/>
                </a:solidFill>
                <a:latin typeface="Tw Cen MT" panose="020B0602020104020603" pitchFamily="34" charset="0"/>
                <a:cs typeface="Times New Roman" pitchFamily="18" charset="0"/>
              </a:rPr>
              <a:t>Diffie</a:t>
            </a:r>
            <a:r>
              <a:rPr lang="en-US" sz="2400" dirty="0">
                <a:solidFill>
                  <a:srgbClr val="000000"/>
                </a:solidFill>
                <a:latin typeface="Tw Cen MT" panose="020B0602020104020603" pitchFamily="34" charset="0"/>
                <a:cs typeface="Times New Roman" pitchFamily="18" charset="0"/>
              </a:rPr>
              <a:t> and Hellman at Stanford</a:t>
            </a:r>
          </a:p>
          <a:p>
            <a:pPr marL="342900" indent="-342900">
              <a:spcAft>
                <a:spcPts val="1200"/>
              </a:spcAft>
              <a:buFont typeface="Arial" pitchFamily="34" charset="0"/>
              <a:buChar char="•"/>
            </a:pPr>
            <a:r>
              <a:rPr lang="en-US" sz="2400" dirty="0" err="1" smtClean="0">
                <a:solidFill>
                  <a:srgbClr val="000000"/>
                </a:solidFill>
                <a:latin typeface="Tw Cen MT" panose="020B0602020104020603" pitchFamily="34" charset="0"/>
                <a:cs typeface="Times New Roman" pitchFamily="18" charset="0"/>
              </a:rPr>
              <a:t>Encrypted_Message</a:t>
            </a:r>
            <a:r>
              <a:rPr lang="en-US" sz="2400" dirty="0" smtClean="0">
                <a:solidFill>
                  <a:srgbClr val="000000"/>
                </a:solidFill>
                <a:latin typeface="Tw Cen MT" panose="020B0602020104020603" pitchFamily="34" charset="0"/>
                <a:cs typeface="Times New Roman" pitchFamily="18" charset="0"/>
              </a:rPr>
              <a:t> </a:t>
            </a:r>
            <a:r>
              <a:rPr lang="en-US" sz="2400" dirty="0">
                <a:solidFill>
                  <a:srgbClr val="000000"/>
                </a:solidFill>
                <a:latin typeface="Tw Cen MT" panose="020B0602020104020603" pitchFamily="34" charset="0"/>
                <a:cs typeface="Times New Roman" pitchFamily="18" charset="0"/>
              </a:rPr>
              <a:t>= </a:t>
            </a:r>
            <a:r>
              <a:rPr lang="en-US" sz="2400" dirty="0" smtClean="0">
                <a:solidFill>
                  <a:srgbClr val="000000"/>
                </a:solidFill>
                <a:latin typeface="Tw Cen MT" panose="020B0602020104020603" pitchFamily="34" charset="0"/>
                <a:cs typeface="Times New Roman" pitchFamily="18" charset="0"/>
              </a:rPr>
              <a:t>Encrypt (</a:t>
            </a:r>
            <a:r>
              <a:rPr lang="en-US" sz="2400" dirty="0">
                <a:solidFill>
                  <a:srgbClr val="000000"/>
                </a:solidFill>
                <a:latin typeface="Tw Cen MT" panose="020B0602020104020603" pitchFamily="34" charset="0"/>
                <a:cs typeface="Times New Roman" pitchFamily="18" charset="0"/>
              </a:rPr>
              <a:t>Key1, Message)</a:t>
            </a:r>
          </a:p>
          <a:p>
            <a:pPr marL="342900" indent="-342900">
              <a:spcAft>
                <a:spcPts val="1200"/>
              </a:spcAft>
              <a:buFont typeface="Arial" pitchFamily="34" charset="0"/>
              <a:buChar char="•"/>
            </a:pPr>
            <a:r>
              <a:rPr lang="en-US" sz="2400" dirty="0" smtClean="0">
                <a:solidFill>
                  <a:srgbClr val="000000"/>
                </a:solidFill>
                <a:latin typeface="Tw Cen MT" panose="020B0602020104020603" pitchFamily="34" charset="0"/>
                <a:cs typeface="Times New Roman" pitchFamily="18" charset="0"/>
              </a:rPr>
              <a:t>Message </a:t>
            </a:r>
            <a:r>
              <a:rPr lang="en-US" sz="2400" dirty="0">
                <a:solidFill>
                  <a:srgbClr val="000000"/>
                </a:solidFill>
                <a:latin typeface="Tw Cen MT" panose="020B0602020104020603" pitchFamily="34" charset="0"/>
                <a:cs typeface="Times New Roman" pitchFamily="18" charset="0"/>
              </a:rPr>
              <a:t>= </a:t>
            </a:r>
            <a:r>
              <a:rPr lang="en-US" sz="2400" dirty="0" smtClean="0">
                <a:solidFill>
                  <a:srgbClr val="000000"/>
                </a:solidFill>
                <a:latin typeface="Tw Cen MT" panose="020B0602020104020603" pitchFamily="34" charset="0"/>
                <a:cs typeface="Times New Roman" pitchFamily="18" charset="0"/>
              </a:rPr>
              <a:t>Decrypt (Key2</a:t>
            </a:r>
            <a:r>
              <a:rPr lang="en-US" sz="2400" dirty="0">
                <a:solidFill>
                  <a:srgbClr val="000000"/>
                </a:solidFill>
                <a:latin typeface="Tw Cen MT" panose="020B0602020104020603" pitchFamily="34" charset="0"/>
                <a:cs typeface="Times New Roman" pitchFamily="18" charset="0"/>
              </a:rPr>
              <a:t>, </a:t>
            </a:r>
            <a:r>
              <a:rPr lang="en-US" sz="2400" dirty="0" err="1" smtClean="0">
                <a:solidFill>
                  <a:srgbClr val="000000"/>
                </a:solidFill>
                <a:latin typeface="Tw Cen MT" panose="020B0602020104020603" pitchFamily="34" charset="0"/>
                <a:cs typeface="Times New Roman" pitchFamily="18" charset="0"/>
              </a:rPr>
              <a:t>Encrypted_Message</a:t>
            </a:r>
            <a:r>
              <a:rPr lang="en-US" sz="2400" dirty="0" smtClean="0">
                <a:solidFill>
                  <a:srgbClr val="000000"/>
                </a:solidFill>
                <a:latin typeface="Tw Cen MT" panose="020B0602020104020603" pitchFamily="34" charset="0"/>
                <a:cs typeface="Times New Roman" pitchFamily="18" charset="0"/>
              </a:rPr>
              <a:t>)</a:t>
            </a:r>
          </a:p>
          <a:p>
            <a:pPr marL="342900" indent="-342900">
              <a:spcAft>
                <a:spcPts val="1200"/>
              </a:spcAft>
              <a:buFont typeface="Arial" pitchFamily="34" charset="0"/>
              <a:buChar char="•"/>
            </a:pPr>
            <a:r>
              <a:rPr lang="en-US" sz="2400" dirty="0" smtClean="0">
                <a:latin typeface="Tw Cen MT" panose="020B0602020104020603" pitchFamily="34" charset="0"/>
                <a:cs typeface="Times New Roman" pitchFamily="18" charset="0"/>
              </a:rPr>
              <a:t>Keys </a:t>
            </a:r>
            <a:r>
              <a:rPr lang="en-US" sz="2400" dirty="0">
                <a:latin typeface="Tw Cen MT" panose="020B0602020104020603" pitchFamily="34" charset="0"/>
                <a:cs typeface="Times New Roman" pitchFamily="18" charset="0"/>
              </a:rPr>
              <a:t>are </a:t>
            </a:r>
            <a:r>
              <a:rPr lang="en-US" sz="2400" b="1" dirty="0" smtClean="0">
                <a:solidFill>
                  <a:srgbClr val="0000CC"/>
                </a:solidFill>
                <a:latin typeface="Tw Cen MT" panose="020B0602020104020603" pitchFamily="34" charset="0"/>
                <a:cs typeface="Times New Roman" pitchFamily="18" charset="0"/>
              </a:rPr>
              <a:t>interchangeable</a:t>
            </a:r>
            <a:endParaRPr lang="en-US" sz="2400" dirty="0" smtClean="0">
              <a:solidFill>
                <a:srgbClr val="0000CC"/>
              </a:solidFill>
              <a:latin typeface="Tw Cen MT" panose="020B0602020104020603" pitchFamily="34" charset="0"/>
              <a:cs typeface="Times New Roman" pitchFamily="18" charset="0"/>
            </a:endParaRPr>
          </a:p>
          <a:p>
            <a:pPr marL="342900" indent="-342900">
              <a:spcAft>
                <a:spcPts val="1200"/>
              </a:spcAft>
              <a:buFont typeface="Arial" pitchFamily="34" charset="0"/>
              <a:buChar char="•"/>
            </a:pPr>
            <a:r>
              <a:rPr lang="en-US" sz="2400" dirty="0" smtClean="0">
                <a:latin typeface="Tw Cen MT" panose="020B0602020104020603" pitchFamily="34" charset="0"/>
                <a:cs typeface="Times New Roman" pitchFamily="18" charset="0"/>
              </a:rPr>
              <a:t>One </a:t>
            </a:r>
            <a:r>
              <a:rPr lang="en-US" sz="2400" dirty="0">
                <a:latin typeface="Tw Cen MT" panose="020B0602020104020603" pitchFamily="34" charset="0"/>
                <a:cs typeface="Times New Roman" pitchFamily="18" charset="0"/>
              </a:rPr>
              <a:t>key is made </a:t>
            </a:r>
            <a:r>
              <a:rPr lang="en-US" sz="2400" b="1" dirty="0">
                <a:latin typeface="Tw Cen MT" panose="020B0602020104020603" pitchFamily="34" charset="0"/>
                <a:cs typeface="Times New Roman" pitchFamily="18" charset="0"/>
              </a:rPr>
              <a:t>public </a:t>
            </a:r>
            <a:r>
              <a:rPr lang="en-US" sz="2400" dirty="0">
                <a:latin typeface="Tw Cen MT" panose="020B0602020104020603" pitchFamily="34" charset="0"/>
                <a:cs typeface="Times New Roman" pitchFamily="18" charset="0"/>
              </a:rPr>
              <a:t>while the other is kept </a:t>
            </a:r>
            <a:r>
              <a:rPr lang="en-US" sz="2400" b="1" dirty="0">
                <a:solidFill>
                  <a:srgbClr val="0000CC"/>
                </a:solidFill>
                <a:latin typeface="Tw Cen MT" panose="020B0602020104020603" pitchFamily="34" charset="0"/>
                <a:cs typeface="Times New Roman" pitchFamily="18" charset="0"/>
              </a:rPr>
              <a:t>private</a:t>
            </a:r>
          </a:p>
          <a:p>
            <a:pPr marL="342900" indent="-342900">
              <a:spcAft>
                <a:spcPts val="1200"/>
              </a:spcAft>
              <a:buFont typeface="Arial" pitchFamily="34" charset="0"/>
              <a:buChar char="•"/>
            </a:pPr>
            <a:r>
              <a:rPr lang="en-US" sz="2400" dirty="0" smtClean="0">
                <a:latin typeface="Tw Cen MT" panose="020B0602020104020603" pitchFamily="34" charset="0"/>
                <a:cs typeface="Times New Roman" pitchFamily="18" charset="0"/>
              </a:rPr>
              <a:t>Sender </a:t>
            </a:r>
            <a:r>
              <a:rPr lang="en-US" sz="2400" dirty="0">
                <a:latin typeface="Tw Cen MT" panose="020B0602020104020603" pitchFamily="34" charset="0"/>
                <a:cs typeface="Times New Roman" pitchFamily="18" charset="0"/>
              </a:rPr>
              <a:t>knows only public key of the receiver </a:t>
            </a:r>
            <a:r>
              <a:rPr lang="en-US" sz="2400" dirty="0" smtClean="0">
                <a:latin typeface="Tw Cen MT" panose="020B0602020104020603" pitchFamily="34" charset="0"/>
                <a:cs typeface="Times New Roman" pitchFamily="18" charset="0"/>
              </a:rPr>
              <a:t>=&gt;</a:t>
            </a:r>
            <a:r>
              <a:rPr lang="en-US" sz="2400" b="1" dirty="0" smtClean="0">
                <a:solidFill>
                  <a:srgbClr val="0000CC"/>
                </a:solidFill>
                <a:latin typeface="Tw Cen MT" panose="020B0602020104020603" pitchFamily="34" charset="0"/>
                <a:cs typeface="Times New Roman" pitchFamily="18" charset="0"/>
              </a:rPr>
              <a:t>Asymmetric</a:t>
            </a:r>
            <a:endParaRPr lang="en-US" sz="2400" dirty="0">
              <a:solidFill>
                <a:srgbClr val="0000CC"/>
              </a:solidFill>
              <a:latin typeface="Tw Cen MT" panose="020B0602020104020603" pitchFamily="34" charset="0"/>
              <a:cs typeface="Times New Roman" pitchFamily="18" charset="0"/>
            </a:endParaRPr>
          </a:p>
        </p:txBody>
      </p:sp>
      <p:sp>
        <p:nvSpPr>
          <p:cNvPr id="61" name="Rectangle 60"/>
          <p:cNvSpPr/>
          <p:nvPr/>
        </p:nvSpPr>
        <p:spPr>
          <a:xfrm>
            <a:off x="2057400" y="609600"/>
            <a:ext cx="4976491" cy="646331"/>
          </a:xfrm>
          <a:prstGeom prst="rect">
            <a:avLst/>
          </a:prstGeom>
        </p:spPr>
        <p:txBody>
          <a:bodyPr wrap="none">
            <a:spAutoFit/>
          </a:bodyPr>
          <a:lstStyle/>
          <a:p>
            <a:r>
              <a:rPr lang="en-US" sz="3600" b="1" dirty="0">
                <a:solidFill>
                  <a:srgbClr val="FF0000"/>
                </a:solidFill>
                <a:latin typeface="Tw Cen MT" panose="020B0602020104020603" pitchFamily="34" charset="0"/>
              </a:rPr>
              <a:t>Public Key </a:t>
            </a:r>
            <a:r>
              <a:rPr lang="en-US" sz="3600" b="1" dirty="0" smtClean="0">
                <a:solidFill>
                  <a:srgbClr val="FF0000"/>
                </a:solidFill>
                <a:latin typeface="Tw Cen MT" panose="020B0602020104020603" pitchFamily="34" charset="0"/>
              </a:rPr>
              <a:t>Cryptography</a:t>
            </a:r>
            <a:endParaRPr lang="en-US" sz="3600" dirty="0">
              <a:solidFill>
                <a:srgbClr val="FF0000"/>
              </a:solidFill>
              <a:latin typeface="Tw Cen MT" panose="020B0602020104020603" pitchFamily="34" charset="0"/>
            </a:endParaRPr>
          </a:p>
        </p:txBody>
      </p:sp>
    </p:spTree>
    <p:extLst>
      <p:ext uri="{BB962C8B-B14F-4D97-AF65-F5344CB8AC3E}">
        <p14:creationId xmlns:p14="http://schemas.microsoft.com/office/powerpoint/2010/main" val="41579395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601200" y="4587256"/>
            <a:ext cx="552450" cy="476250"/>
          </a:xfrm>
        </p:spPr>
        <p:txBody>
          <a:bodyPr/>
          <a:lstStyle/>
          <a:p>
            <a:pPr>
              <a:defRPr/>
            </a:pPr>
            <a:fld id="{CD1AD4A7-0882-4109-99AA-A63B3268F595}" type="slidenum">
              <a:rPr lang="en-US" smtClean="0"/>
              <a:pPr>
                <a:defRPr/>
              </a:pPr>
              <a:t>9</a:t>
            </a:fld>
            <a:endParaRPr lang="en-US" dirty="0"/>
          </a:p>
        </p:txBody>
      </p:sp>
      <p:sp>
        <p:nvSpPr>
          <p:cNvPr id="61" name="Rectangle 60"/>
          <p:cNvSpPr/>
          <p:nvPr/>
        </p:nvSpPr>
        <p:spPr>
          <a:xfrm>
            <a:off x="2133600" y="609600"/>
            <a:ext cx="4976491" cy="646331"/>
          </a:xfrm>
          <a:prstGeom prst="rect">
            <a:avLst/>
          </a:prstGeom>
        </p:spPr>
        <p:txBody>
          <a:bodyPr wrap="none">
            <a:spAutoFit/>
          </a:bodyPr>
          <a:lstStyle/>
          <a:p>
            <a:r>
              <a:rPr lang="en-US" sz="3600" b="1" dirty="0">
                <a:solidFill>
                  <a:srgbClr val="FF0000"/>
                </a:solidFill>
                <a:latin typeface="Tw Cen MT" panose="020B0602020104020603" pitchFamily="34" charset="0"/>
              </a:rPr>
              <a:t>Public Key </a:t>
            </a:r>
            <a:r>
              <a:rPr lang="en-US" sz="3600" b="1" dirty="0" smtClean="0">
                <a:solidFill>
                  <a:srgbClr val="FF0000"/>
                </a:solidFill>
                <a:latin typeface="Tw Cen MT" panose="020B0602020104020603" pitchFamily="34" charset="0"/>
              </a:rPr>
              <a:t>Cryptography</a:t>
            </a:r>
            <a:endParaRPr lang="en-US" sz="3600" dirty="0">
              <a:solidFill>
                <a:srgbClr val="FF0000"/>
              </a:solidFill>
              <a:latin typeface="Tw Cen MT" panose="020B0602020104020603" pitchFamily="34" charset="0"/>
            </a:endParaRPr>
          </a:p>
        </p:txBody>
      </p:sp>
      <p:grpSp>
        <p:nvGrpSpPr>
          <p:cNvPr id="5" name="Group 4"/>
          <p:cNvGrpSpPr/>
          <p:nvPr/>
        </p:nvGrpSpPr>
        <p:grpSpPr>
          <a:xfrm>
            <a:off x="990600" y="1905000"/>
            <a:ext cx="7113614" cy="2916642"/>
            <a:chOff x="819351" y="3486065"/>
            <a:chExt cx="7113614" cy="2916642"/>
          </a:xfrm>
        </p:grpSpPr>
        <p:grpSp>
          <p:nvGrpSpPr>
            <p:cNvPr id="6" name="Group 5"/>
            <p:cNvGrpSpPr/>
            <p:nvPr/>
          </p:nvGrpSpPr>
          <p:grpSpPr>
            <a:xfrm>
              <a:off x="861080" y="5237742"/>
              <a:ext cx="7071885" cy="1164965"/>
              <a:chOff x="873977" y="5237742"/>
              <a:chExt cx="7339884" cy="1164965"/>
            </a:xfrm>
          </p:grpSpPr>
          <p:cxnSp>
            <p:nvCxnSpPr>
              <p:cNvPr id="17" name="Straight Connector 16"/>
              <p:cNvCxnSpPr/>
              <p:nvPr/>
            </p:nvCxnSpPr>
            <p:spPr bwMode="auto">
              <a:xfrm>
                <a:off x="2025650" y="6273363"/>
                <a:ext cx="1485900" cy="0"/>
              </a:xfrm>
              <a:prstGeom prst="line">
                <a:avLst/>
              </a:prstGeom>
              <a:solidFill>
                <a:schemeClr val="accent1"/>
              </a:solidFill>
              <a:ln w="31750" cap="flat" cmpd="sng" algn="ctr">
                <a:solidFill>
                  <a:schemeClr val="tx1"/>
                </a:solidFill>
                <a:prstDash val="solid"/>
                <a:round/>
                <a:headEnd type="none" w="med" len="med"/>
                <a:tailEnd type="arrow" w="med" len="med"/>
              </a:ln>
              <a:effectLst/>
            </p:spPr>
          </p:cxnSp>
          <p:sp>
            <p:nvSpPr>
              <p:cNvPr id="18" name="TextBox 17"/>
              <p:cNvSpPr txBox="1"/>
              <p:nvPr/>
            </p:nvSpPr>
            <p:spPr>
              <a:xfrm>
                <a:off x="873977" y="6123687"/>
                <a:ext cx="1388231" cy="276999"/>
              </a:xfrm>
              <a:prstGeom prst="rect">
                <a:avLst/>
              </a:prstGeom>
              <a:noFill/>
            </p:spPr>
            <p:txBody>
              <a:bodyPr wrap="square" lIns="0" tIns="0" rIns="0" bIns="0" rtlCol="0">
                <a:spAutoFit/>
              </a:bodyPr>
              <a:lstStyle/>
              <a:p>
                <a:r>
                  <a:rPr lang="en-US" dirty="0" smtClean="0"/>
                  <a:t> </a:t>
                </a:r>
                <a:r>
                  <a:rPr lang="en-US" dirty="0"/>
                  <a:t>P</a:t>
                </a:r>
                <a:r>
                  <a:rPr lang="en-US" dirty="0" smtClean="0"/>
                  <a:t>lain text</a:t>
                </a:r>
                <a:endParaRPr lang="en-US" dirty="0"/>
              </a:p>
            </p:txBody>
          </p:sp>
          <p:cxnSp>
            <p:nvCxnSpPr>
              <p:cNvPr id="19" name="Straight Connector 18"/>
              <p:cNvCxnSpPr/>
              <p:nvPr/>
            </p:nvCxnSpPr>
            <p:spPr bwMode="auto">
              <a:xfrm>
                <a:off x="2723408" y="5627189"/>
                <a:ext cx="0" cy="533400"/>
              </a:xfrm>
              <a:prstGeom prst="line">
                <a:avLst/>
              </a:prstGeom>
              <a:solidFill>
                <a:schemeClr val="accent1"/>
              </a:solidFill>
              <a:ln w="31750" cap="flat" cmpd="sng" algn="ctr">
                <a:solidFill>
                  <a:schemeClr val="tx1"/>
                </a:solidFill>
                <a:prstDash val="solid"/>
                <a:round/>
                <a:headEnd type="none" w="med" len="med"/>
                <a:tailEnd type="arrow" w="med" len="med"/>
              </a:ln>
              <a:effectLst/>
            </p:spPr>
          </p:cxnSp>
          <p:sp>
            <p:nvSpPr>
              <p:cNvPr id="20" name="TextBox 19"/>
              <p:cNvSpPr txBox="1"/>
              <p:nvPr/>
            </p:nvSpPr>
            <p:spPr>
              <a:xfrm>
                <a:off x="2296336" y="5237742"/>
                <a:ext cx="914400" cy="276999"/>
              </a:xfrm>
              <a:prstGeom prst="rect">
                <a:avLst/>
              </a:prstGeom>
              <a:noFill/>
            </p:spPr>
            <p:txBody>
              <a:bodyPr wrap="square" lIns="0" tIns="0" rIns="0" bIns="0" rtlCol="0">
                <a:spAutoFit/>
              </a:bodyPr>
              <a:lstStyle/>
              <a:p>
                <a:r>
                  <a:rPr lang="en-US" dirty="0" smtClean="0"/>
                  <a:t> Key2</a:t>
                </a:r>
                <a:endParaRPr lang="en-US" dirty="0"/>
              </a:p>
            </p:txBody>
          </p:sp>
          <p:sp>
            <p:nvSpPr>
              <p:cNvPr id="21" name="TextBox 20"/>
              <p:cNvSpPr txBox="1"/>
              <p:nvPr/>
            </p:nvSpPr>
            <p:spPr>
              <a:xfrm>
                <a:off x="3772505" y="6125708"/>
                <a:ext cx="1389886" cy="276999"/>
              </a:xfrm>
              <a:prstGeom prst="rect">
                <a:avLst/>
              </a:prstGeom>
              <a:noFill/>
            </p:spPr>
            <p:txBody>
              <a:bodyPr wrap="square" lIns="0" tIns="0" rIns="0" bIns="0" rtlCol="0">
                <a:spAutoFit/>
              </a:bodyPr>
              <a:lstStyle/>
              <a:p>
                <a:r>
                  <a:rPr lang="en-US" dirty="0" smtClean="0"/>
                  <a:t> Cipher text</a:t>
                </a:r>
                <a:endParaRPr lang="en-US" dirty="0"/>
              </a:p>
            </p:txBody>
          </p:sp>
          <p:cxnSp>
            <p:nvCxnSpPr>
              <p:cNvPr id="22" name="Straight Connector 21"/>
              <p:cNvCxnSpPr/>
              <p:nvPr/>
            </p:nvCxnSpPr>
            <p:spPr bwMode="auto">
              <a:xfrm>
                <a:off x="5293267" y="6238429"/>
                <a:ext cx="1513328" cy="0"/>
              </a:xfrm>
              <a:prstGeom prst="line">
                <a:avLst/>
              </a:prstGeom>
              <a:solidFill>
                <a:schemeClr val="accent1"/>
              </a:solidFill>
              <a:ln w="31750" cap="flat" cmpd="sng" algn="ctr">
                <a:solidFill>
                  <a:schemeClr val="tx1"/>
                </a:solidFill>
                <a:prstDash val="solid"/>
                <a:round/>
                <a:headEnd type="none" w="med" len="med"/>
                <a:tailEnd type="arrow" w="med" len="med"/>
              </a:ln>
              <a:effectLst/>
            </p:spPr>
          </p:cxnSp>
          <p:cxnSp>
            <p:nvCxnSpPr>
              <p:cNvPr id="23" name="Straight Connector 22"/>
              <p:cNvCxnSpPr/>
              <p:nvPr/>
            </p:nvCxnSpPr>
            <p:spPr bwMode="auto">
              <a:xfrm>
                <a:off x="6022631" y="5592560"/>
                <a:ext cx="0" cy="533400"/>
              </a:xfrm>
              <a:prstGeom prst="line">
                <a:avLst/>
              </a:prstGeom>
              <a:solidFill>
                <a:schemeClr val="accent1"/>
              </a:solidFill>
              <a:ln w="31750" cap="flat" cmpd="sng" algn="ctr">
                <a:solidFill>
                  <a:schemeClr val="tx1"/>
                </a:solidFill>
                <a:prstDash val="solid"/>
                <a:round/>
                <a:headEnd type="none" w="med" len="med"/>
                <a:tailEnd type="arrow" w="med" len="med"/>
              </a:ln>
              <a:effectLst/>
            </p:spPr>
          </p:cxnSp>
          <p:sp>
            <p:nvSpPr>
              <p:cNvPr id="24" name="TextBox 23"/>
              <p:cNvSpPr txBox="1"/>
              <p:nvPr/>
            </p:nvSpPr>
            <p:spPr>
              <a:xfrm>
                <a:off x="5640752" y="5243670"/>
                <a:ext cx="783281" cy="276999"/>
              </a:xfrm>
              <a:prstGeom prst="rect">
                <a:avLst/>
              </a:prstGeom>
              <a:noFill/>
            </p:spPr>
            <p:txBody>
              <a:bodyPr wrap="square" lIns="0" tIns="0" rIns="0" bIns="0" rtlCol="0">
                <a:spAutoFit/>
              </a:bodyPr>
              <a:lstStyle/>
              <a:p>
                <a:r>
                  <a:rPr lang="en-US" dirty="0" smtClean="0"/>
                  <a:t> Key1 </a:t>
                </a:r>
                <a:endParaRPr lang="en-US" dirty="0"/>
              </a:p>
            </p:txBody>
          </p:sp>
          <p:sp>
            <p:nvSpPr>
              <p:cNvPr id="25" name="TextBox 24"/>
              <p:cNvSpPr txBox="1"/>
              <p:nvPr/>
            </p:nvSpPr>
            <p:spPr>
              <a:xfrm>
                <a:off x="6952673" y="6089422"/>
                <a:ext cx="1261188" cy="285539"/>
              </a:xfrm>
              <a:prstGeom prst="rect">
                <a:avLst/>
              </a:prstGeom>
              <a:noFill/>
            </p:spPr>
            <p:txBody>
              <a:bodyPr wrap="square" lIns="0" tIns="0" rIns="0" bIns="0" rtlCol="0">
                <a:spAutoFit/>
              </a:bodyPr>
              <a:lstStyle/>
              <a:p>
                <a:r>
                  <a:rPr lang="en-US" dirty="0" smtClean="0"/>
                  <a:t> </a:t>
                </a:r>
                <a:r>
                  <a:rPr lang="en-US" dirty="0"/>
                  <a:t>P</a:t>
                </a:r>
                <a:r>
                  <a:rPr lang="en-US" dirty="0" smtClean="0"/>
                  <a:t>lain text</a:t>
                </a:r>
                <a:endParaRPr lang="en-US" dirty="0"/>
              </a:p>
            </p:txBody>
          </p:sp>
        </p:grpSp>
        <p:grpSp>
          <p:nvGrpSpPr>
            <p:cNvPr id="7" name="Group 6"/>
            <p:cNvGrpSpPr/>
            <p:nvPr/>
          </p:nvGrpSpPr>
          <p:grpSpPr>
            <a:xfrm>
              <a:off x="819351" y="3486065"/>
              <a:ext cx="7071885" cy="1164965"/>
              <a:chOff x="873977" y="5237742"/>
              <a:chExt cx="7339884" cy="1164965"/>
            </a:xfrm>
          </p:grpSpPr>
          <p:cxnSp>
            <p:nvCxnSpPr>
              <p:cNvPr id="8" name="Straight Connector 7"/>
              <p:cNvCxnSpPr/>
              <p:nvPr/>
            </p:nvCxnSpPr>
            <p:spPr bwMode="auto">
              <a:xfrm>
                <a:off x="2025650" y="6273363"/>
                <a:ext cx="1485900" cy="0"/>
              </a:xfrm>
              <a:prstGeom prst="line">
                <a:avLst/>
              </a:prstGeom>
              <a:solidFill>
                <a:schemeClr val="accent1"/>
              </a:solidFill>
              <a:ln w="31750" cap="flat" cmpd="sng" algn="ctr">
                <a:solidFill>
                  <a:schemeClr val="tx1"/>
                </a:solidFill>
                <a:prstDash val="solid"/>
                <a:round/>
                <a:headEnd type="none" w="med" len="med"/>
                <a:tailEnd type="arrow" w="med" len="med"/>
              </a:ln>
              <a:effectLst/>
            </p:spPr>
          </p:cxnSp>
          <p:sp>
            <p:nvSpPr>
              <p:cNvPr id="9" name="TextBox 8"/>
              <p:cNvSpPr txBox="1"/>
              <p:nvPr/>
            </p:nvSpPr>
            <p:spPr>
              <a:xfrm>
                <a:off x="873977" y="6123687"/>
                <a:ext cx="1388231" cy="276999"/>
              </a:xfrm>
              <a:prstGeom prst="rect">
                <a:avLst/>
              </a:prstGeom>
              <a:noFill/>
            </p:spPr>
            <p:txBody>
              <a:bodyPr wrap="square" lIns="0" tIns="0" rIns="0" bIns="0" rtlCol="0">
                <a:spAutoFit/>
              </a:bodyPr>
              <a:lstStyle/>
              <a:p>
                <a:r>
                  <a:rPr lang="en-US" dirty="0" smtClean="0"/>
                  <a:t> </a:t>
                </a:r>
                <a:r>
                  <a:rPr lang="en-US" dirty="0"/>
                  <a:t>P</a:t>
                </a:r>
                <a:r>
                  <a:rPr lang="en-US" dirty="0" smtClean="0"/>
                  <a:t>lain text</a:t>
                </a:r>
                <a:endParaRPr lang="en-US" dirty="0"/>
              </a:p>
            </p:txBody>
          </p:sp>
          <p:cxnSp>
            <p:nvCxnSpPr>
              <p:cNvPr id="10" name="Straight Connector 9"/>
              <p:cNvCxnSpPr/>
              <p:nvPr/>
            </p:nvCxnSpPr>
            <p:spPr bwMode="auto">
              <a:xfrm>
                <a:off x="2723408" y="5627189"/>
                <a:ext cx="0" cy="533400"/>
              </a:xfrm>
              <a:prstGeom prst="line">
                <a:avLst/>
              </a:prstGeom>
              <a:solidFill>
                <a:schemeClr val="accent1"/>
              </a:solidFill>
              <a:ln w="31750" cap="flat" cmpd="sng" algn="ctr">
                <a:solidFill>
                  <a:schemeClr val="tx1"/>
                </a:solidFill>
                <a:prstDash val="solid"/>
                <a:round/>
                <a:headEnd type="none" w="med" len="med"/>
                <a:tailEnd type="arrow" w="med" len="med"/>
              </a:ln>
              <a:effectLst/>
            </p:spPr>
          </p:cxnSp>
          <p:sp>
            <p:nvSpPr>
              <p:cNvPr id="11" name="TextBox 10"/>
              <p:cNvSpPr txBox="1"/>
              <p:nvPr/>
            </p:nvSpPr>
            <p:spPr>
              <a:xfrm>
                <a:off x="2326464" y="5237742"/>
                <a:ext cx="914400" cy="276999"/>
              </a:xfrm>
              <a:prstGeom prst="rect">
                <a:avLst/>
              </a:prstGeom>
              <a:noFill/>
            </p:spPr>
            <p:txBody>
              <a:bodyPr wrap="square" lIns="0" tIns="0" rIns="0" bIns="0" rtlCol="0">
                <a:spAutoFit/>
              </a:bodyPr>
              <a:lstStyle/>
              <a:p>
                <a:r>
                  <a:rPr lang="en-US" dirty="0" smtClean="0"/>
                  <a:t> Key1</a:t>
                </a:r>
                <a:endParaRPr lang="en-US" dirty="0"/>
              </a:p>
            </p:txBody>
          </p:sp>
          <p:sp>
            <p:nvSpPr>
              <p:cNvPr id="12" name="TextBox 11"/>
              <p:cNvSpPr txBox="1"/>
              <p:nvPr/>
            </p:nvSpPr>
            <p:spPr>
              <a:xfrm>
                <a:off x="3772505" y="6125708"/>
                <a:ext cx="1389886" cy="276999"/>
              </a:xfrm>
              <a:prstGeom prst="rect">
                <a:avLst/>
              </a:prstGeom>
              <a:noFill/>
            </p:spPr>
            <p:txBody>
              <a:bodyPr wrap="square" lIns="0" tIns="0" rIns="0" bIns="0" rtlCol="0">
                <a:spAutoFit/>
              </a:bodyPr>
              <a:lstStyle/>
              <a:p>
                <a:r>
                  <a:rPr lang="en-US" dirty="0" smtClean="0"/>
                  <a:t> Cipher text</a:t>
                </a:r>
                <a:endParaRPr lang="en-US" dirty="0"/>
              </a:p>
            </p:txBody>
          </p:sp>
          <p:cxnSp>
            <p:nvCxnSpPr>
              <p:cNvPr id="13" name="Straight Connector 12"/>
              <p:cNvCxnSpPr/>
              <p:nvPr/>
            </p:nvCxnSpPr>
            <p:spPr bwMode="auto">
              <a:xfrm>
                <a:off x="5293267" y="6238429"/>
                <a:ext cx="1513328" cy="0"/>
              </a:xfrm>
              <a:prstGeom prst="line">
                <a:avLst/>
              </a:prstGeom>
              <a:solidFill>
                <a:schemeClr val="accent1"/>
              </a:solidFill>
              <a:ln w="31750" cap="flat" cmpd="sng" algn="ctr">
                <a:solidFill>
                  <a:schemeClr val="tx1"/>
                </a:solidFill>
                <a:prstDash val="solid"/>
                <a:round/>
                <a:headEnd type="none" w="med" len="med"/>
                <a:tailEnd type="arrow" w="med" len="med"/>
              </a:ln>
              <a:effectLst/>
            </p:spPr>
          </p:cxnSp>
          <p:cxnSp>
            <p:nvCxnSpPr>
              <p:cNvPr id="14" name="Straight Connector 13"/>
              <p:cNvCxnSpPr/>
              <p:nvPr/>
            </p:nvCxnSpPr>
            <p:spPr bwMode="auto">
              <a:xfrm>
                <a:off x="6022631" y="5592560"/>
                <a:ext cx="0" cy="533400"/>
              </a:xfrm>
              <a:prstGeom prst="line">
                <a:avLst/>
              </a:prstGeom>
              <a:solidFill>
                <a:schemeClr val="accent1"/>
              </a:solidFill>
              <a:ln w="31750" cap="flat" cmpd="sng" algn="ctr">
                <a:solidFill>
                  <a:schemeClr val="tx1"/>
                </a:solidFill>
                <a:prstDash val="solid"/>
                <a:round/>
                <a:headEnd type="none" w="med" len="med"/>
                <a:tailEnd type="arrow" w="med" len="med"/>
              </a:ln>
              <a:effectLst/>
            </p:spPr>
          </p:cxnSp>
          <p:sp>
            <p:nvSpPr>
              <p:cNvPr id="15" name="TextBox 14"/>
              <p:cNvSpPr txBox="1"/>
              <p:nvPr/>
            </p:nvSpPr>
            <p:spPr>
              <a:xfrm>
                <a:off x="5640752" y="5243670"/>
                <a:ext cx="783281" cy="276999"/>
              </a:xfrm>
              <a:prstGeom prst="rect">
                <a:avLst/>
              </a:prstGeom>
              <a:noFill/>
            </p:spPr>
            <p:txBody>
              <a:bodyPr wrap="square" lIns="0" tIns="0" rIns="0" bIns="0" rtlCol="0">
                <a:spAutoFit/>
              </a:bodyPr>
              <a:lstStyle/>
              <a:p>
                <a:r>
                  <a:rPr lang="en-US" dirty="0" smtClean="0"/>
                  <a:t> Key2 </a:t>
                </a:r>
                <a:endParaRPr lang="en-US" dirty="0"/>
              </a:p>
            </p:txBody>
          </p:sp>
          <p:sp>
            <p:nvSpPr>
              <p:cNvPr id="16" name="TextBox 15"/>
              <p:cNvSpPr txBox="1"/>
              <p:nvPr/>
            </p:nvSpPr>
            <p:spPr>
              <a:xfrm>
                <a:off x="6952673" y="6089422"/>
                <a:ext cx="1261188" cy="285539"/>
              </a:xfrm>
              <a:prstGeom prst="rect">
                <a:avLst/>
              </a:prstGeom>
              <a:noFill/>
            </p:spPr>
            <p:txBody>
              <a:bodyPr wrap="square" lIns="0" tIns="0" rIns="0" bIns="0" rtlCol="0">
                <a:spAutoFit/>
              </a:bodyPr>
              <a:lstStyle/>
              <a:p>
                <a:r>
                  <a:rPr lang="en-US" dirty="0" smtClean="0"/>
                  <a:t> </a:t>
                </a:r>
                <a:r>
                  <a:rPr lang="en-US" dirty="0"/>
                  <a:t>P</a:t>
                </a:r>
                <a:r>
                  <a:rPr lang="en-US" dirty="0" smtClean="0"/>
                  <a:t>lain text</a:t>
                </a:r>
                <a:endParaRPr lang="en-US" dirty="0"/>
              </a:p>
            </p:txBody>
          </p:sp>
        </p:grpSp>
      </p:grpSp>
    </p:spTree>
    <p:extLst>
      <p:ext uri="{BB962C8B-B14F-4D97-AF65-F5344CB8AC3E}">
        <p14:creationId xmlns:p14="http://schemas.microsoft.com/office/powerpoint/2010/main" val="11022814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601200" y="4587256"/>
            <a:ext cx="552450" cy="476250"/>
          </a:xfrm>
        </p:spPr>
        <p:txBody>
          <a:bodyPr/>
          <a:lstStyle/>
          <a:p>
            <a:pPr>
              <a:defRPr/>
            </a:pPr>
            <a:fld id="{CD1AD4A7-0882-4109-99AA-A63B3268F595}" type="slidenum">
              <a:rPr lang="en-US" smtClean="0"/>
              <a:pPr>
                <a:defRPr/>
              </a:pPr>
              <a:t>10</a:t>
            </a:fld>
            <a:endParaRPr lang="en-US" dirty="0"/>
          </a:p>
        </p:txBody>
      </p:sp>
      <p:sp>
        <p:nvSpPr>
          <p:cNvPr id="61" name="Rectangle 60"/>
          <p:cNvSpPr/>
          <p:nvPr/>
        </p:nvSpPr>
        <p:spPr>
          <a:xfrm>
            <a:off x="2209800" y="609600"/>
            <a:ext cx="5337102" cy="646331"/>
          </a:xfrm>
          <a:prstGeom prst="rect">
            <a:avLst/>
          </a:prstGeom>
        </p:spPr>
        <p:txBody>
          <a:bodyPr wrap="none">
            <a:spAutoFit/>
          </a:bodyPr>
          <a:lstStyle/>
          <a:p>
            <a:r>
              <a:rPr lang="en-US" sz="3600" b="1" dirty="0" smtClean="0">
                <a:solidFill>
                  <a:srgbClr val="FF0000"/>
                </a:solidFill>
                <a:latin typeface="Tw Cen MT" panose="020B0602020104020603" pitchFamily="34" charset="0"/>
              </a:rPr>
              <a:t>Encryption with Public Key</a:t>
            </a:r>
            <a:endParaRPr lang="en-US" sz="3600" dirty="0">
              <a:solidFill>
                <a:srgbClr val="FF0000"/>
              </a:solidFill>
              <a:latin typeface="Tw Cen MT" panose="020B0602020104020603" pitchFamily="34" charset="0"/>
            </a:endParaRPr>
          </a:p>
        </p:txBody>
      </p:sp>
      <p:pic>
        <p:nvPicPr>
          <p:cNvPr id="26" name="Picture 25"/>
          <p:cNvPicPr>
            <a:picLocks noChangeAspect="1"/>
          </p:cNvPicPr>
          <p:nvPr/>
        </p:nvPicPr>
        <p:blipFill>
          <a:blip r:embed="rId3"/>
          <a:stretch>
            <a:fillRect/>
          </a:stretch>
        </p:blipFill>
        <p:spPr>
          <a:xfrm>
            <a:off x="609600" y="1676400"/>
            <a:ext cx="7915275" cy="4505325"/>
          </a:xfrm>
          <a:prstGeom prst="rect">
            <a:avLst/>
          </a:prstGeom>
        </p:spPr>
      </p:pic>
    </p:spTree>
    <p:extLst>
      <p:ext uri="{BB962C8B-B14F-4D97-AF65-F5344CB8AC3E}">
        <p14:creationId xmlns:p14="http://schemas.microsoft.com/office/powerpoint/2010/main" val="34025056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601200" y="4587256"/>
            <a:ext cx="552450" cy="476250"/>
          </a:xfrm>
        </p:spPr>
        <p:txBody>
          <a:bodyPr/>
          <a:lstStyle/>
          <a:p>
            <a:pPr>
              <a:defRPr/>
            </a:pPr>
            <a:fld id="{CD1AD4A7-0882-4109-99AA-A63B3268F595}" type="slidenum">
              <a:rPr lang="en-US" smtClean="0"/>
              <a:pPr>
                <a:defRPr/>
              </a:pPr>
              <a:t>11</a:t>
            </a:fld>
            <a:endParaRPr lang="en-US" dirty="0"/>
          </a:p>
        </p:txBody>
      </p:sp>
      <p:sp>
        <p:nvSpPr>
          <p:cNvPr id="61" name="Rectangle 60"/>
          <p:cNvSpPr/>
          <p:nvPr/>
        </p:nvSpPr>
        <p:spPr>
          <a:xfrm>
            <a:off x="1828800" y="533400"/>
            <a:ext cx="5519781" cy="646331"/>
          </a:xfrm>
          <a:prstGeom prst="rect">
            <a:avLst/>
          </a:prstGeom>
        </p:spPr>
        <p:txBody>
          <a:bodyPr wrap="none">
            <a:spAutoFit/>
          </a:bodyPr>
          <a:lstStyle/>
          <a:p>
            <a:r>
              <a:rPr lang="en-US" sz="3600" b="1" dirty="0" smtClean="0">
                <a:solidFill>
                  <a:srgbClr val="FF0000"/>
                </a:solidFill>
                <a:latin typeface="Tw Cen MT" panose="020B0602020104020603" pitchFamily="34" charset="0"/>
              </a:rPr>
              <a:t>Encryption with Private Key</a:t>
            </a:r>
            <a:endParaRPr lang="en-US" sz="3600" dirty="0">
              <a:solidFill>
                <a:srgbClr val="FF0000"/>
              </a:solidFill>
              <a:latin typeface="Tw Cen MT" panose="020B0602020104020603" pitchFamily="34" charset="0"/>
            </a:endParaRPr>
          </a:p>
        </p:txBody>
      </p:sp>
      <p:pic>
        <p:nvPicPr>
          <p:cNvPr id="5" name="Picture 4"/>
          <p:cNvPicPr>
            <a:picLocks noChangeAspect="1"/>
          </p:cNvPicPr>
          <p:nvPr/>
        </p:nvPicPr>
        <p:blipFill>
          <a:blip r:embed="rId3"/>
          <a:stretch>
            <a:fillRect/>
          </a:stretch>
        </p:blipFill>
        <p:spPr>
          <a:xfrm>
            <a:off x="990600" y="1600200"/>
            <a:ext cx="7620000" cy="4524375"/>
          </a:xfrm>
          <a:prstGeom prst="rect">
            <a:avLst/>
          </a:prstGeom>
        </p:spPr>
      </p:pic>
    </p:spTree>
    <p:extLst>
      <p:ext uri="{BB962C8B-B14F-4D97-AF65-F5344CB8AC3E}">
        <p14:creationId xmlns:p14="http://schemas.microsoft.com/office/powerpoint/2010/main" val="42927578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AU" altLang="zh-TW" b="1" dirty="0">
                <a:solidFill>
                  <a:srgbClr val="FF0000"/>
                </a:solidFill>
                <a:latin typeface="Tw Cen MT" panose="020B0602020104020603" pitchFamily="34" charset="0"/>
                <a:ea typeface="新細明體" panose="02020500000000000000" pitchFamily="18" charset="-120"/>
              </a:rPr>
              <a:t>Why Public-Key Cryptography?</a:t>
            </a:r>
          </a:p>
        </p:txBody>
      </p:sp>
      <p:sp>
        <p:nvSpPr>
          <p:cNvPr id="53251" name="Rectangle 3"/>
          <p:cNvSpPr>
            <a:spLocks noGrp="1" noChangeArrowheads="1"/>
          </p:cNvSpPr>
          <p:nvPr>
            <p:ph type="body" idx="1"/>
          </p:nvPr>
        </p:nvSpPr>
        <p:spPr>
          <a:xfrm>
            <a:off x="457200" y="1905000"/>
            <a:ext cx="8229600" cy="2590800"/>
          </a:xfrm>
        </p:spPr>
        <p:txBody>
          <a:bodyPr/>
          <a:lstStyle/>
          <a:p>
            <a:r>
              <a:rPr lang="en-US" dirty="0" smtClean="0">
                <a:latin typeface="Tw Cen MT" panose="020B0602020104020603" pitchFamily="34" charset="0"/>
              </a:rPr>
              <a:t>Developed </a:t>
            </a:r>
            <a:r>
              <a:rPr lang="en-US" dirty="0">
                <a:latin typeface="Tw Cen MT" panose="020B0602020104020603" pitchFamily="34" charset="0"/>
              </a:rPr>
              <a:t>to address two key issues:</a:t>
            </a:r>
          </a:p>
          <a:p>
            <a:pPr lvl="1"/>
            <a:r>
              <a:rPr lang="en-US" sz="2400" b="1" dirty="0">
                <a:latin typeface="Tw Cen MT" panose="020B0602020104020603" pitchFamily="34" charset="0"/>
              </a:rPr>
              <a:t>key distribution</a:t>
            </a:r>
            <a:r>
              <a:rPr lang="en-US" sz="2400" dirty="0">
                <a:latin typeface="Tw Cen MT" panose="020B0602020104020603" pitchFamily="34" charset="0"/>
              </a:rPr>
              <a:t> – how to have secure communications in general without having to trust a KDC with your key</a:t>
            </a:r>
          </a:p>
          <a:p>
            <a:pPr lvl="1"/>
            <a:r>
              <a:rPr lang="en-US" sz="2400" b="1" dirty="0">
                <a:latin typeface="Tw Cen MT" panose="020B0602020104020603" pitchFamily="34" charset="0"/>
              </a:rPr>
              <a:t>digital signatures</a:t>
            </a:r>
            <a:r>
              <a:rPr lang="en-US" sz="2400" dirty="0">
                <a:latin typeface="Tw Cen MT" panose="020B0602020104020603" pitchFamily="34" charset="0"/>
              </a:rPr>
              <a:t> – how to verify a message comes intact from the claimed sender</a:t>
            </a:r>
          </a:p>
          <a:p>
            <a:pPr lvl="1"/>
            <a:endParaRPr lang="zh-TW" altLang="en-AU" dirty="0">
              <a:ea typeface="新細明體" panose="02020500000000000000" pitchFamily="18" charset="-120"/>
            </a:endParaRPr>
          </a:p>
        </p:txBody>
      </p:sp>
    </p:spTree>
    <p:extLst>
      <p:ext uri="{BB962C8B-B14F-4D97-AF65-F5344CB8AC3E}">
        <p14:creationId xmlns:p14="http://schemas.microsoft.com/office/powerpoint/2010/main" val="20410128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0" y="0"/>
            <a:ext cx="9144000" cy="1139825"/>
          </a:xfrm>
        </p:spPr>
        <p:txBody>
          <a:bodyPr/>
          <a:lstStyle/>
          <a:p>
            <a:pPr eaLnBrk="1" hangingPunct="1">
              <a:lnSpc>
                <a:spcPts val="4500"/>
              </a:lnSpc>
              <a:defRPr/>
            </a:pPr>
            <a:r>
              <a:rPr lang="en-US" sz="3600" b="1" dirty="0" smtClean="0">
                <a:solidFill>
                  <a:srgbClr val="FF0000"/>
                </a:solidFill>
                <a:latin typeface="Tw Cen MT" panose="020B0602020104020603" pitchFamily="34" charset="0"/>
              </a:rPr>
              <a:t>Conventional and Public-Key Encryption </a:t>
            </a:r>
            <a:endParaRPr lang="en-AU" sz="3600" b="1" dirty="0" smtClean="0">
              <a:solidFill>
                <a:srgbClr val="FF0000"/>
              </a:solidFill>
              <a:latin typeface="Tw Cen MT" panose="020B0602020104020603" pitchFamily="34" charset="0"/>
            </a:endParaRPr>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914400" y="1143000"/>
            <a:ext cx="7239000" cy="5561486"/>
          </a:xfrm>
          <a:prstGeom prst="rect">
            <a:avLst/>
          </a:prstGeom>
        </p:spPr>
      </p:pic>
    </p:spTree>
    <p:extLst>
      <p:ext uri="{BB962C8B-B14F-4D97-AF65-F5344CB8AC3E}">
        <p14:creationId xmlns:p14="http://schemas.microsoft.com/office/powerpoint/2010/main" val="3962467679"/>
      </p:ext>
    </p:extLst>
  </p:cSld>
  <p:clrMapOvr>
    <a:masterClrMapping/>
  </p:clrMapOvr>
  <p:transition spd="med">
    <p:wipe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AU" altLang="zh-TW" sz="3600" b="1" dirty="0">
                <a:solidFill>
                  <a:srgbClr val="FF0000"/>
                </a:solidFill>
                <a:latin typeface="Tw Cen MT" panose="020B0602020104020603" pitchFamily="34" charset="0"/>
                <a:ea typeface="新細明體" panose="02020500000000000000" pitchFamily="18" charset="-120"/>
              </a:rPr>
              <a:t>Public-Key Characteristics</a:t>
            </a:r>
          </a:p>
        </p:txBody>
      </p:sp>
      <p:sp>
        <p:nvSpPr>
          <p:cNvPr id="55299" name="Rectangle 3"/>
          <p:cNvSpPr>
            <a:spLocks noGrp="1" noChangeArrowheads="1"/>
          </p:cNvSpPr>
          <p:nvPr>
            <p:ph type="body" idx="1"/>
          </p:nvPr>
        </p:nvSpPr>
        <p:spPr/>
        <p:txBody>
          <a:bodyPr/>
          <a:lstStyle/>
          <a:p>
            <a:r>
              <a:rPr lang="en-AU" altLang="zh-TW" dirty="0">
                <a:latin typeface="Tw Cen MT" panose="020B0602020104020603" pitchFamily="34" charset="0"/>
                <a:ea typeface="新細明體" panose="02020500000000000000" pitchFamily="18" charset="-120"/>
              </a:rPr>
              <a:t>Public-Key algorithms rely on two keys with the characteristics that it is:</a:t>
            </a:r>
          </a:p>
          <a:p>
            <a:pPr lvl="1"/>
            <a:r>
              <a:rPr lang="en-AU" altLang="zh-TW" sz="2400" dirty="0">
                <a:latin typeface="Tw Cen MT" panose="020B0602020104020603" pitchFamily="34" charset="0"/>
                <a:ea typeface="新細明體" panose="02020500000000000000" pitchFamily="18" charset="-120"/>
              </a:rPr>
              <a:t>computationally infeasible to find decryption key knowing only algorithm &amp; encryption key</a:t>
            </a:r>
          </a:p>
          <a:p>
            <a:pPr lvl="1"/>
            <a:r>
              <a:rPr lang="en-AU" altLang="zh-TW" sz="2400" dirty="0">
                <a:latin typeface="Tw Cen MT" panose="020B0602020104020603" pitchFamily="34" charset="0"/>
                <a:ea typeface="新細明體" panose="02020500000000000000" pitchFamily="18" charset="-120"/>
              </a:rPr>
              <a:t>computationally easy to en/decrypt messages when the relevant (en/decrypt) key is known</a:t>
            </a:r>
          </a:p>
          <a:p>
            <a:pPr lvl="1"/>
            <a:r>
              <a:rPr lang="en-AU" altLang="zh-TW" sz="2400" dirty="0">
                <a:latin typeface="Tw Cen MT" panose="020B0602020104020603" pitchFamily="34" charset="0"/>
                <a:ea typeface="新細明體" panose="02020500000000000000" pitchFamily="18" charset="-120"/>
              </a:rPr>
              <a:t>either of the two related keys can be used for encryption, with the other used for decryption (in some schemes)</a:t>
            </a:r>
          </a:p>
          <a:p>
            <a:pPr lvl="1"/>
            <a:endParaRPr lang="en-AU" altLang="zh-TW" dirty="0">
              <a:ea typeface="新細明體" panose="02020500000000000000" pitchFamily="18" charset="-120"/>
            </a:endParaRPr>
          </a:p>
          <a:p>
            <a:pPr lvl="1"/>
            <a:endParaRPr lang="en-AU" altLang="zh-TW" dirty="0">
              <a:ea typeface="新細明體" panose="02020500000000000000" pitchFamily="18" charset="-120"/>
            </a:endParaRPr>
          </a:p>
        </p:txBody>
      </p:sp>
    </p:spTree>
    <p:extLst>
      <p:ext uri="{BB962C8B-B14F-4D97-AF65-F5344CB8AC3E}">
        <p14:creationId xmlns:p14="http://schemas.microsoft.com/office/powerpoint/2010/main" val="10135871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AU" altLang="zh-TW" sz="3600" b="1" dirty="0" smtClean="0">
                <a:solidFill>
                  <a:srgbClr val="FF0000"/>
                </a:solidFill>
                <a:latin typeface="Tw Cen MT" panose="020B0602020104020603" pitchFamily="34" charset="0"/>
                <a:ea typeface="新細明體" panose="02020500000000000000" pitchFamily="18" charset="-120"/>
              </a:rPr>
              <a:t>Public-Key: Secrecy</a:t>
            </a:r>
            <a:endParaRPr lang="en-AU" altLang="zh-TW" sz="3600" b="1" dirty="0">
              <a:solidFill>
                <a:srgbClr val="FF0000"/>
              </a:solidFill>
              <a:latin typeface="Tw Cen MT" panose="020B0602020104020603" pitchFamily="34" charset="0"/>
              <a:ea typeface="新細明體" panose="02020500000000000000" pitchFamily="18" charset="-120"/>
            </a:endParaRPr>
          </a:p>
        </p:txBody>
      </p:sp>
      <p:pic>
        <p:nvPicPr>
          <p:cNvPr id="3" name="Picture 2"/>
          <p:cNvPicPr>
            <a:picLocks noChangeAspect="1"/>
          </p:cNvPicPr>
          <p:nvPr/>
        </p:nvPicPr>
        <p:blipFill>
          <a:blip r:embed="rId3"/>
          <a:stretch>
            <a:fillRect/>
          </a:stretch>
        </p:blipFill>
        <p:spPr>
          <a:xfrm>
            <a:off x="1066800" y="1447800"/>
            <a:ext cx="6886575" cy="4581525"/>
          </a:xfrm>
          <a:prstGeom prst="rect">
            <a:avLst/>
          </a:prstGeom>
        </p:spPr>
      </p:pic>
    </p:spTree>
    <p:extLst>
      <p:ext uri="{BB962C8B-B14F-4D97-AF65-F5344CB8AC3E}">
        <p14:creationId xmlns:p14="http://schemas.microsoft.com/office/powerpoint/2010/main" val="21223062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AU" altLang="zh-TW" sz="3600" b="1" dirty="0" smtClean="0">
                <a:solidFill>
                  <a:srgbClr val="FF0000"/>
                </a:solidFill>
                <a:latin typeface="Tw Cen MT" panose="020B0602020104020603" pitchFamily="34" charset="0"/>
                <a:ea typeface="新細明體" panose="02020500000000000000" pitchFamily="18" charset="-120"/>
              </a:rPr>
              <a:t>Public-Key: Authentication</a:t>
            </a:r>
            <a:endParaRPr lang="en-AU" altLang="zh-TW" sz="3600" b="1" dirty="0">
              <a:solidFill>
                <a:srgbClr val="FF0000"/>
              </a:solidFill>
              <a:latin typeface="Tw Cen MT" panose="020B0602020104020603" pitchFamily="34" charset="0"/>
              <a:ea typeface="新細明體" panose="02020500000000000000" pitchFamily="18" charset="-120"/>
            </a:endParaRPr>
          </a:p>
        </p:txBody>
      </p:sp>
      <p:pic>
        <p:nvPicPr>
          <p:cNvPr id="4" name="Picture 3"/>
          <p:cNvPicPr>
            <a:picLocks noChangeAspect="1"/>
          </p:cNvPicPr>
          <p:nvPr/>
        </p:nvPicPr>
        <p:blipFill>
          <a:blip r:embed="rId3"/>
          <a:stretch>
            <a:fillRect/>
          </a:stretch>
        </p:blipFill>
        <p:spPr>
          <a:xfrm>
            <a:off x="914400" y="1295400"/>
            <a:ext cx="7300912" cy="4999010"/>
          </a:xfrm>
          <a:prstGeom prst="rect">
            <a:avLst/>
          </a:prstGeom>
        </p:spPr>
      </p:pic>
    </p:spTree>
    <p:extLst>
      <p:ext uri="{BB962C8B-B14F-4D97-AF65-F5344CB8AC3E}">
        <p14:creationId xmlns:p14="http://schemas.microsoft.com/office/powerpoint/2010/main" val="32724766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AU" altLang="zh-TW" sz="3600" b="1" dirty="0" smtClean="0">
                <a:solidFill>
                  <a:srgbClr val="FF0000"/>
                </a:solidFill>
                <a:latin typeface="Tw Cen MT" panose="020B0602020104020603" pitchFamily="34" charset="0"/>
                <a:ea typeface="新細明體" panose="02020500000000000000" pitchFamily="18" charset="-120"/>
              </a:rPr>
              <a:t>Public-Key: Secrecy and Authentication</a:t>
            </a:r>
            <a:endParaRPr lang="en-AU" altLang="zh-TW" sz="3600" b="1" dirty="0">
              <a:solidFill>
                <a:srgbClr val="FF0000"/>
              </a:solidFill>
              <a:latin typeface="Tw Cen MT" panose="020B0602020104020603" pitchFamily="34" charset="0"/>
              <a:ea typeface="新細明體" panose="02020500000000000000" pitchFamily="18" charset="-120"/>
            </a:endParaRPr>
          </a:p>
        </p:txBody>
      </p:sp>
      <p:pic>
        <p:nvPicPr>
          <p:cNvPr id="2" name="Picture 1"/>
          <p:cNvPicPr>
            <a:picLocks noChangeAspect="1"/>
          </p:cNvPicPr>
          <p:nvPr/>
        </p:nvPicPr>
        <p:blipFill>
          <a:blip r:embed="rId3"/>
          <a:stretch>
            <a:fillRect/>
          </a:stretch>
        </p:blipFill>
        <p:spPr>
          <a:xfrm>
            <a:off x="1295400" y="1600200"/>
            <a:ext cx="6986587" cy="4309005"/>
          </a:xfrm>
          <a:prstGeom prst="rect">
            <a:avLst/>
          </a:prstGeom>
        </p:spPr>
      </p:pic>
    </p:spTree>
    <p:extLst>
      <p:ext uri="{BB962C8B-B14F-4D97-AF65-F5344CB8AC3E}">
        <p14:creationId xmlns:p14="http://schemas.microsoft.com/office/powerpoint/2010/main" val="5585273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AU" altLang="zh-TW" sz="3600" b="1" dirty="0">
                <a:solidFill>
                  <a:srgbClr val="FF0000"/>
                </a:solidFill>
                <a:latin typeface="Tw Cen MT" panose="020B0602020104020603" pitchFamily="34" charset="0"/>
                <a:ea typeface="新細明體" panose="02020500000000000000" pitchFamily="18" charset="-120"/>
              </a:rPr>
              <a:t>Public-Key Applications</a:t>
            </a:r>
          </a:p>
        </p:txBody>
      </p:sp>
      <p:sp>
        <p:nvSpPr>
          <p:cNvPr id="58371" name="Rectangle 3"/>
          <p:cNvSpPr>
            <a:spLocks noGrp="1" noChangeArrowheads="1"/>
          </p:cNvSpPr>
          <p:nvPr>
            <p:ph type="body" idx="1"/>
          </p:nvPr>
        </p:nvSpPr>
        <p:spPr>
          <a:xfrm>
            <a:off x="457200" y="1600201"/>
            <a:ext cx="8229600" cy="3200400"/>
          </a:xfrm>
        </p:spPr>
        <p:txBody>
          <a:bodyPr/>
          <a:lstStyle/>
          <a:p>
            <a:r>
              <a:rPr lang="en-US" dirty="0" smtClean="0">
                <a:latin typeface="Tw Cen MT" panose="020B0602020104020603" pitchFamily="34" charset="0"/>
              </a:rPr>
              <a:t>Can </a:t>
            </a:r>
            <a:r>
              <a:rPr lang="en-US" dirty="0">
                <a:latin typeface="Tw Cen MT" panose="020B0602020104020603" pitchFamily="34" charset="0"/>
              </a:rPr>
              <a:t>classify uses into 3 categories:</a:t>
            </a:r>
          </a:p>
          <a:p>
            <a:pPr lvl="1"/>
            <a:r>
              <a:rPr lang="en-US" sz="2400" b="1" dirty="0">
                <a:latin typeface="Tw Cen MT" panose="020B0602020104020603" pitchFamily="34" charset="0"/>
              </a:rPr>
              <a:t>encryption/decryption</a:t>
            </a:r>
            <a:r>
              <a:rPr lang="en-US" sz="2400" dirty="0">
                <a:latin typeface="Tw Cen MT" panose="020B0602020104020603" pitchFamily="34" charset="0"/>
              </a:rPr>
              <a:t> (provide secrecy)</a:t>
            </a:r>
          </a:p>
          <a:p>
            <a:pPr lvl="1"/>
            <a:r>
              <a:rPr lang="en-US" sz="2400" b="1" dirty="0">
                <a:latin typeface="Tw Cen MT" panose="020B0602020104020603" pitchFamily="34" charset="0"/>
              </a:rPr>
              <a:t>digital signatures</a:t>
            </a:r>
            <a:r>
              <a:rPr lang="en-US" sz="2400" dirty="0">
                <a:latin typeface="Tw Cen MT" panose="020B0602020104020603" pitchFamily="34" charset="0"/>
              </a:rPr>
              <a:t> (provide authentication)</a:t>
            </a:r>
          </a:p>
          <a:p>
            <a:pPr lvl="1"/>
            <a:r>
              <a:rPr lang="en-US" sz="2400" b="1" dirty="0">
                <a:latin typeface="Tw Cen MT" panose="020B0602020104020603" pitchFamily="34" charset="0"/>
              </a:rPr>
              <a:t>key exchange</a:t>
            </a:r>
            <a:r>
              <a:rPr lang="en-US" sz="2400" dirty="0">
                <a:latin typeface="Tw Cen MT" panose="020B0602020104020603" pitchFamily="34" charset="0"/>
              </a:rPr>
              <a:t> (of session keys)</a:t>
            </a:r>
          </a:p>
          <a:p>
            <a:r>
              <a:rPr lang="en-US" dirty="0" smtClean="0">
                <a:latin typeface="Tw Cen MT" panose="020B0602020104020603" pitchFamily="34" charset="0"/>
              </a:rPr>
              <a:t>Some </a:t>
            </a:r>
            <a:r>
              <a:rPr lang="en-US" dirty="0">
                <a:latin typeface="Tw Cen MT" panose="020B0602020104020603" pitchFamily="34" charset="0"/>
              </a:rPr>
              <a:t>algorithms are suitable for all uses, others are specific to one</a:t>
            </a:r>
            <a:endParaRPr lang="en-AU" altLang="zh-TW" dirty="0">
              <a:latin typeface="Tw Cen MT" panose="020B0602020104020603" pitchFamily="34" charset="0"/>
              <a:ea typeface="新細明體" panose="02020500000000000000" pitchFamily="18" charset="-120"/>
            </a:endParaRPr>
          </a:p>
        </p:txBody>
      </p:sp>
    </p:spTree>
    <p:extLst>
      <p:ext uri="{BB962C8B-B14F-4D97-AF65-F5344CB8AC3E}">
        <p14:creationId xmlns:p14="http://schemas.microsoft.com/office/powerpoint/2010/main" val="42926168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1"/>
          <p:cNvSpPr>
            <a:spLocks noGrp="1"/>
          </p:cNvSpPr>
          <p:nvPr>
            <p:ph type="sldNum" sz="quarter" idx="10"/>
          </p:nvPr>
        </p:nvSpPr>
        <p:spPr>
          <a:noFill/>
        </p:spPr>
        <p:txBody>
          <a:bodyPr/>
          <a:lstStyle/>
          <a:p>
            <a:fld id="{DCBBF333-57F7-4B54-B50A-95D8D220DD57}" type="slidenum">
              <a:rPr lang="en-US" altLang="zh-CN" smtClean="0"/>
              <a:pPr/>
              <a:t>19</a:t>
            </a:fld>
            <a:endParaRPr lang="en-US" altLang="zh-CN" dirty="0"/>
          </a:p>
        </p:txBody>
      </p:sp>
      <p:sp>
        <p:nvSpPr>
          <p:cNvPr id="11274" name="Rectangle 9"/>
          <p:cNvSpPr>
            <a:spLocks noChangeArrowheads="1"/>
          </p:cNvSpPr>
          <p:nvPr/>
        </p:nvSpPr>
        <p:spPr bwMode="auto">
          <a:xfrm>
            <a:off x="304800" y="1219200"/>
            <a:ext cx="8686800" cy="4616648"/>
          </a:xfrm>
          <a:prstGeom prst="rect">
            <a:avLst/>
          </a:prstGeom>
          <a:solidFill>
            <a:schemeClr val="bg1"/>
          </a:solidFill>
          <a:ln w="38100">
            <a:solidFill>
              <a:schemeClr val="hlink"/>
            </a:solidFill>
            <a:miter lim="800000"/>
            <a:headEnd/>
            <a:tailEnd/>
          </a:ln>
        </p:spPr>
        <p:txBody>
          <a:bodyPr>
            <a:spAutoFit/>
          </a:bodyPr>
          <a:lstStyle/>
          <a:p>
            <a:pPr algn="just"/>
            <a:r>
              <a:rPr lang="en-US" altLang="zh-CN" sz="2800" dirty="0">
                <a:latin typeface="Tw Cen MT" panose="020B0602020104020603" pitchFamily="34" charset="0"/>
                <a:ea typeface="SimSun" pitchFamily="2" charset="-122"/>
              </a:rPr>
              <a:t>The </a:t>
            </a:r>
            <a:r>
              <a:rPr lang="en-US" altLang="zh-CN" sz="2800" dirty="0">
                <a:solidFill>
                  <a:srgbClr val="0000CC"/>
                </a:solidFill>
                <a:latin typeface="Tw Cen MT" panose="020B0602020104020603" pitchFamily="34" charset="0"/>
                <a:ea typeface="SimSun" pitchFamily="2" charset="-122"/>
              </a:rPr>
              <a:t>main idea behind asymmetric-key cryptography </a:t>
            </a:r>
            <a:r>
              <a:rPr lang="en-US" altLang="zh-CN" sz="2800" dirty="0">
                <a:latin typeface="Tw Cen MT" panose="020B0602020104020603" pitchFamily="34" charset="0"/>
                <a:ea typeface="SimSun" pitchFamily="2" charset="-122"/>
              </a:rPr>
              <a:t>is the concept of the </a:t>
            </a:r>
            <a:r>
              <a:rPr lang="en-US" altLang="zh-CN" sz="2800" dirty="0">
                <a:solidFill>
                  <a:srgbClr val="FF0000"/>
                </a:solidFill>
                <a:latin typeface="Tw Cen MT" panose="020B0602020104020603" pitchFamily="34" charset="0"/>
                <a:ea typeface="SimSun" pitchFamily="2" charset="-122"/>
              </a:rPr>
              <a:t>trapdoor one-way function</a:t>
            </a:r>
            <a:r>
              <a:rPr lang="en-US" altLang="zh-CN" sz="2800" dirty="0" smtClean="0">
                <a:latin typeface="Tw Cen MT" panose="020B0602020104020603" pitchFamily="34" charset="0"/>
                <a:ea typeface="SimSun" pitchFamily="2" charset="-122"/>
              </a:rPr>
              <a:t>.</a:t>
            </a:r>
          </a:p>
          <a:p>
            <a:pPr algn="just"/>
            <a:endParaRPr lang="en-US" altLang="zh-CN" sz="2800" dirty="0" smtClean="0">
              <a:latin typeface="Tw Cen MT" panose="020B0602020104020603" pitchFamily="34" charset="0"/>
              <a:ea typeface="SimSun" pitchFamily="2" charset="-122"/>
            </a:endParaRPr>
          </a:p>
          <a:p>
            <a:pPr lvl="1"/>
            <a:r>
              <a:rPr lang="en-US" sz="2600" kern="0" dirty="0" smtClean="0">
                <a:latin typeface="Tw Cen MT" panose="020B0602020104020603" pitchFamily="34" charset="0"/>
              </a:rPr>
              <a:t>A </a:t>
            </a:r>
            <a:r>
              <a:rPr lang="en-US" sz="2600" b="1" kern="0" dirty="0">
                <a:solidFill>
                  <a:srgbClr val="FF0000"/>
                </a:solidFill>
                <a:latin typeface="Tw Cen MT" panose="020B0602020104020603" pitchFamily="34" charset="0"/>
              </a:rPr>
              <a:t>one-way function </a:t>
            </a:r>
            <a:r>
              <a:rPr lang="en-US" sz="2600" kern="0" dirty="0">
                <a:latin typeface="Tw Cen MT" panose="020B0602020104020603" pitchFamily="34" charset="0"/>
              </a:rPr>
              <a:t>is one that maps a domain into a range such that every function value has a unique inverse, with the condition that the calculation of the function is easy, whereas the calculation of the inverse is </a:t>
            </a:r>
            <a:r>
              <a:rPr lang="en-US" sz="2600" kern="0" dirty="0" smtClean="0">
                <a:latin typeface="Tw Cen MT" panose="020B0602020104020603" pitchFamily="34" charset="0"/>
              </a:rPr>
              <a:t>infeasible</a:t>
            </a:r>
          </a:p>
          <a:p>
            <a:pPr lvl="1"/>
            <a:endParaRPr lang="en-US" sz="2600" kern="0" dirty="0">
              <a:latin typeface="Tw Cen MT" panose="020B0602020104020603" pitchFamily="34" charset="0"/>
            </a:endParaRPr>
          </a:p>
          <a:p>
            <a:pPr lvl="2"/>
            <a:r>
              <a:rPr lang="en-US" sz="2600" kern="0" dirty="0">
                <a:latin typeface="Tw Cen MT" panose="020B0602020104020603" pitchFamily="34" charset="0"/>
              </a:rPr>
              <a:t>Y = f(X) easy  </a:t>
            </a:r>
          </a:p>
          <a:p>
            <a:pPr lvl="2"/>
            <a:r>
              <a:rPr lang="en-US" sz="2600" kern="0" dirty="0">
                <a:latin typeface="Tw Cen MT" panose="020B0602020104020603" pitchFamily="34" charset="0"/>
              </a:rPr>
              <a:t>X = f</a:t>
            </a:r>
            <a:r>
              <a:rPr lang="en-US" sz="2600" kern="0" baseline="30000" dirty="0">
                <a:latin typeface="Tw Cen MT" panose="020B0602020104020603" pitchFamily="34" charset="0"/>
              </a:rPr>
              <a:t>–1</a:t>
            </a:r>
            <a:r>
              <a:rPr lang="en-US" sz="2600" kern="0" dirty="0">
                <a:latin typeface="Tw Cen MT" panose="020B0602020104020603" pitchFamily="34" charset="0"/>
              </a:rPr>
              <a:t>(Y) infeasible</a:t>
            </a:r>
          </a:p>
          <a:p>
            <a:pPr algn="just"/>
            <a:endParaRPr lang="en-US" altLang="zh-CN" sz="2800" dirty="0">
              <a:latin typeface="Times New Roman" pitchFamily="18" charset="0"/>
              <a:ea typeface="SimSun" pitchFamily="2" charset="-122"/>
            </a:endParaRPr>
          </a:p>
        </p:txBody>
      </p:sp>
      <p:sp>
        <p:nvSpPr>
          <p:cNvPr id="8" name="Rectangle 7"/>
          <p:cNvSpPr/>
          <p:nvPr/>
        </p:nvSpPr>
        <p:spPr>
          <a:xfrm>
            <a:off x="838200" y="304800"/>
            <a:ext cx="7850995" cy="646331"/>
          </a:xfrm>
          <a:prstGeom prst="rect">
            <a:avLst/>
          </a:prstGeom>
        </p:spPr>
        <p:txBody>
          <a:bodyPr wrap="none">
            <a:spAutoFit/>
          </a:bodyPr>
          <a:lstStyle/>
          <a:p>
            <a:r>
              <a:rPr lang="en-US" sz="3600" b="1" dirty="0" smtClean="0">
                <a:solidFill>
                  <a:srgbClr val="FF0000"/>
                </a:solidFill>
                <a:latin typeface="Tw Cen MT" panose="020B0602020104020603" pitchFamily="34" charset="0"/>
              </a:rPr>
              <a:t>Public-Key Cryptography: Requirements</a:t>
            </a:r>
            <a:endParaRPr lang="en-US" sz="3600" dirty="0">
              <a:solidFill>
                <a:srgbClr val="FF0000"/>
              </a:solidFill>
              <a:latin typeface="Tw Cen MT" panose="020B0602020104020603" pitchFamily="34" charset="0"/>
            </a:endParaRPr>
          </a:p>
        </p:txBody>
      </p:sp>
    </p:spTree>
    <p:extLst>
      <p:ext uri="{BB962C8B-B14F-4D97-AF65-F5344CB8AC3E}">
        <p14:creationId xmlns:p14="http://schemas.microsoft.com/office/powerpoint/2010/main" val="34719852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228600"/>
            <a:ext cx="2319867" cy="260985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20</a:t>
            </a:fld>
            <a:endParaRPr lang="en-US" dirty="0"/>
          </a:p>
        </p:txBody>
      </p:sp>
      <p:sp>
        <p:nvSpPr>
          <p:cNvPr id="6" name="Content Placeholder 2"/>
          <p:cNvSpPr txBox="1">
            <a:spLocks/>
          </p:cNvSpPr>
          <p:nvPr/>
        </p:nvSpPr>
        <p:spPr>
          <a:xfrm>
            <a:off x="609600" y="2743200"/>
            <a:ext cx="7772400" cy="3581400"/>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US" sz="2600" kern="0" dirty="0" smtClean="0">
                <a:latin typeface="Tw Cen MT" panose="020B0602020104020603" pitchFamily="34" charset="0"/>
              </a:rPr>
              <a:t>A trap-door one-way function is a family of invertible functions </a:t>
            </a:r>
            <a:r>
              <a:rPr lang="en-US" sz="2600" kern="0" dirty="0" err="1" smtClean="0">
                <a:latin typeface="Tw Cen MT" panose="020B0602020104020603" pitchFamily="34" charset="0"/>
              </a:rPr>
              <a:t>f</a:t>
            </a:r>
            <a:r>
              <a:rPr lang="en-US" sz="2600" kern="0" baseline="-25000" dirty="0" err="1" smtClean="0">
                <a:latin typeface="Tw Cen MT" panose="020B0602020104020603" pitchFamily="34" charset="0"/>
              </a:rPr>
              <a:t>k</a:t>
            </a:r>
            <a:r>
              <a:rPr lang="en-US" sz="2600" kern="0" dirty="0" smtClean="0">
                <a:latin typeface="Tw Cen MT" panose="020B0602020104020603" pitchFamily="34" charset="0"/>
              </a:rPr>
              <a:t>, such that</a:t>
            </a:r>
          </a:p>
          <a:p>
            <a:pPr lvl="1"/>
            <a:r>
              <a:rPr lang="en-US" sz="2600" kern="0" dirty="0" smtClean="0">
                <a:latin typeface="Tw Cen MT" panose="020B0602020104020603" pitchFamily="34" charset="0"/>
              </a:rPr>
              <a:t>Y = </a:t>
            </a:r>
            <a:r>
              <a:rPr lang="en-US" sz="2600" kern="0" dirty="0" err="1" smtClean="0">
                <a:latin typeface="Tw Cen MT" panose="020B0602020104020603" pitchFamily="34" charset="0"/>
              </a:rPr>
              <a:t>f</a:t>
            </a:r>
            <a:r>
              <a:rPr lang="en-US" sz="2600" kern="0" baseline="-25000" dirty="0" err="1" smtClean="0">
                <a:latin typeface="Tw Cen MT" panose="020B0602020104020603" pitchFamily="34" charset="0"/>
                <a:cs typeface="ＭＳ Ｐゴシック" pitchFamily="-84" charset="-128"/>
              </a:rPr>
              <a:t>k</a:t>
            </a:r>
            <a:r>
              <a:rPr lang="en-US" sz="2600" kern="0" dirty="0" smtClean="0">
                <a:latin typeface="Tw Cen MT" panose="020B0602020104020603" pitchFamily="34" charset="0"/>
              </a:rPr>
              <a:t>(X) easy, if k and X are known</a:t>
            </a:r>
          </a:p>
          <a:p>
            <a:pPr lvl="1"/>
            <a:r>
              <a:rPr lang="en-US" sz="2600" kern="0" dirty="0" smtClean="0">
                <a:latin typeface="Tw Cen MT" panose="020B0602020104020603" pitchFamily="34" charset="0"/>
              </a:rPr>
              <a:t>X = </a:t>
            </a:r>
            <a:r>
              <a:rPr lang="en-US" sz="2600" kern="0" dirty="0" err="1" smtClean="0">
                <a:latin typeface="Tw Cen MT" panose="020B0602020104020603" pitchFamily="34" charset="0"/>
              </a:rPr>
              <a:t>f</a:t>
            </a:r>
            <a:r>
              <a:rPr lang="en-US" sz="2600" kern="0" baseline="-25000" dirty="0" err="1" smtClean="0">
                <a:latin typeface="Tw Cen MT" panose="020B0602020104020603" pitchFamily="34" charset="0"/>
                <a:cs typeface="ＭＳ Ｐゴシック" pitchFamily="-84" charset="-128"/>
              </a:rPr>
              <a:t>k</a:t>
            </a:r>
            <a:r>
              <a:rPr lang="en-US" sz="2600" kern="0" baseline="30000" dirty="0" smtClean="0">
                <a:latin typeface="Tw Cen MT" panose="020B0602020104020603" pitchFamily="34" charset="0"/>
              </a:rPr>
              <a:t>–1</a:t>
            </a:r>
            <a:r>
              <a:rPr lang="en-US" sz="2600" kern="0" dirty="0" smtClean="0">
                <a:latin typeface="Tw Cen MT" panose="020B0602020104020603" pitchFamily="34" charset="0"/>
              </a:rPr>
              <a:t>(Y) easy, if k and Y are known</a:t>
            </a:r>
          </a:p>
          <a:p>
            <a:pPr lvl="1"/>
            <a:r>
              <a:rPr lang="en-US" sz="2600" kern="0" dirty="0" smtClean="0">
                <a:latin typeface="Tw Cen MT" panose="020B0602020104020603" pitchFamily="34" charset="0"/>
              </a:rPr>
              <a:t>X = </a:t>
            </a:r>
            <a:r>
              <a:rPr lang="en-US" sz="2600" kern="0" dirty="0" err="1" smtClean="0">
                <a:latin typeface="Tw Cen MT" panose="020B0602020104020603" pitchFamily="34" charset="0"/>
              </a:rPr>
              <a:t>f</a:t>
            </a:r>
            <a:r>
              <a:rPr lang="en-US" sz="2600" kern="0" baseline="-25000" dirty="0" err="1" smtClean="0">
                <a:latin typeface="Tw Cen MT" panose="020B0602020104020603" pitchFamily="34" charset="0"/>
                <a:cs typeface="ＭＳ Ｐゴシック" pitchFamily="-84" charset="-128"/>
              </a:rPr>
              <a:t>k</a:t>
            </a:r>
            <a:r>
              <a:rPr lang="en-US" sz="2600" kern="0" baseline="30000" dirty="0" smtClean="0">
                <a:latin typeface="Tw Cen MT" panose="020B0602020104020603" pitchFamily="34" charset="0"/>
              </a:rPr>
              <a:t>–1</a:t>
            </a:r>
            <a:r>
              <a:rPr lang="en-US" sz="2600" kern="0" dirty="0" smtClean="0">
                <a:latin typeface="Tw Cen MT" panose="020B0602020104020603" pitchFamily="34" charset="0"/>
              </a:rPr>
              <a:t>(Y) infeasible, if Y known but k not known</a:t>
            </a:r>
          </a:p>
          <a:p>
            <a:r>
              <a:rPr lang="en-US" sz="2600" kern="0" dirty="0" smtClean="0">
                <a:latin typeface="Tw Cen MT" panose="020B0602020104020603" pitchFamily="34" charset="0"/>
              </a:rPr>
              <a:t>A practical public-key scheme depends on a suitable trap-door one-way function</a:t>
            </a:r>
          </a:p>
          <a:p>
            <a:pPr lvl="1"/>
            <a:endParaRPr lang="en-US" kern="0" dirty="0" smtClean="0"/>
          </a:p>
          <a:p>
            <a:pPr lvl="2"/>
            <a:endParaRPr lang="en-US" kern="0" dirty="0" smtClean="0"/>
          </a:p>
        </p:txBody>
      </p:sp>
      <p:sp>
        <p:nvSpPr>
          <p:cNvPr id="7" name="Text Box 10"/>
          <p:cNvSpPr txBox="1">
            <a:spLocks noChangeArrowheads="1"/>
          </p:cNvSpPr>
          <p:nvPr/>
        </p:nvSpPr>
        <p:spPr bwMode="auto">
          <a:xfrm>
            <a:off x="1752600" y="457200"/>
            <a:ext cx="4989315" cy="584775"/>
          </a:xfrm>
          <a:prstGeom prst="rect">
            <a:avLst/>
          </a:prstGeom>
          <a:noFill/>
          <a:ln w="9525">
            <a:noFill/>
            <a:miter lim="800000"/>
            <a:headEnd/>
            <a:tailEnd/>
          </a:ln>
        </p:spPr>
        <p:txBody>
          <a:bodyPr wrap="none">
            <a:spAutoFit/>
          </a:bodyPr>
          <a:lstStyle/>
          <a:p>
            <a:r>
              <a:rPr lang="en-US" altLang="zh-CN" sz="3200" b="1" dirty="0" smtClean="0">
                <a:solidFill>
                  <a:srgbClr val="FF0000"/>
                </a:solidFill>
                <a:latin typeface="Tw Cen MT" panose="020B0602020104020603" pitchFamily="34" charset="0"/>
                <a:ea typeface="SimSun" pitchFamily="2" charset="-122"/>
              </a:rPr>
              <a:t>Trapdoor </a:t>
            </a:r>
            <a:r>
              <a:rPr lang="en-US" altLang="zh-CN" sz="3200" b="1" dirty="0">
                <a:solidFill>
                  <a:srgbClr val="FF0000"/>
                </a:solidFill>
                <a:latin typeface="Tw Cen MT" panose="020B0602020104020603" pitchFamily="34" charset="0"/>
                <a:ea typeface="SimSun" pitchFamily="2" charset="-122"/>
              </a:rPr>
              <a:t>One-Way Function</a:t>
            </a:r>
          </a:p>
        </p:txBody>
      </p:sp>
    </p:spTree>
    <p:extLst>
      <p:ext uri="{BB962C8B-B14F-4D97-AF65-F5344CB8AC3E}">
        <p14:creationId xmlns:p14="http://schemas.microsoft.com/office/powerpoint/2010/main" val="3308141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21</a:t>
            </a:fld>
            <a:endParaRPr lang="en-US" dirty="0"/>
          </a:p>
        </p:txBody>
      </p:sp>
      <p:sp>
        <p:nvSpPr>
          <p:cNvPr id="3" name="Rectangle 2"/>
          <p:cNvSpPr/>
          <p:nvPr/>
        </p:nvSpPr>
        <p:spPr>
          <a:xfrm>
            <a:off x="685800" y="1447800"/>
            <a:ext cx="7924800" cy="4170372"/>
          </a:xfrm>
          <a:prstGeom prst="rect">
            <a:avLst/>
          </a:prstGeom>
        </p:spPr>
        <p:txBody>
          <a:bodyPr wrap="square">
            <a:spAutoFit/>
          </a:bodyPr>
          <a:lstStyle/>
          <a:p>
            <a:pPr marL="342900" indent="-342900" algn="just">
              <a:spcAft>
                <a:spcPts val="600"/>
              </a:spcAft>
              <a:buFont typeface="Wingdings" pitchFamily="2" charset="2"/>
              <a:buChar char="§"/>
            </a:pPr>
            <a:r>
              <a:rPr lang="en-US" sz="2400" dirty="0" smtClean="0">
                <a:latin typeface="Tw Cen MT" panose="020B0602020104020603" pitchFamily="34" charset="0"/>
                <a:cs typeface="Times New Roman" pitchFamily="18" charset="0"/>
              </a:rPr>
              <a:t>Like </a:t>
            </a:r>
            <a:r>
              <a:rPr lang="en-US" sz="2400" dirty="0">
                <a:latin typeface="Tw Cen MT" panose="020B0602020104020603" pitchFamily="34" charset="0"/>
                <a:cs typeface="Times New Roman" pitchFamily="18" charset="0"/>
              </a:rPr>
              <a:t>private key schemes brute force exhaustive search </a:t>
            </a:r>
            <a:r>
              <a:rPr lang="en-US" sz="2400" dirty="0" smtClean="0">
                <a:latin typeface="Tw Cen MT" panose="020B0602020104020603" pitchFamily="34" charset="0"/>
                <a:cs typeface="Times New Roman" pitchFamily="18" charset="0"/>
              </a:rPr>
              <a:t>attack is </a:t>
            </a:r>
            <a:r>
              <a:rPr lang="en-US" sz="2400" dirty="0">
                <a:latin typeface="Tw Cen MT" panose="020B0602020104020603" pitchFamily="34" charset="0"/>
                <a:cs typeface="Times New Roman" pitchFamily="18" charset="0"/>
              </a:rPr>
              <a:t>always theoretically possible</a:t>
            </a:r>
          </a:p>
          <a:p>
            <a:pPr marL="342900" indent="-342900" algn="just">
              <a:spcAft>
                <a:spcPts val="600"/>
              </a:spcAft>
              <a:buFont typeface="Wingdings" pitchFamily="2" charset="2"/>
              <a:buChar char="§"/>
            </a:pPr>
            <a:r>
              <a:rPr lang="en-US" sz="2400" dirty="0" smtClean="0">
                <a:latin typeface="Tw Cen MT" panose="020B0602020104020603" pitchFamily="34" charset="0"/>
                <a:cs typeface="Times New Roman" pitchFamily="18" charset="0"/>
              </a:rPr>
              <a:t>But </a:t>
            </a:r>
            <a:r>
              <a:rPr lang="en-US" sz="2400" dirty="0">
                <a:latin typeface="Tw Cen MT" panose="020B0602020104020603" pitchFamily="34" charset="0"/>
                <a:cs typeface="Times New Roman" pitchFamily="18" charset="0"/>
              </a:rPr>
              <a:t>keys used are too large </a:t>
            </a:r>
            <a:r>
              <a:rPr lang="en-US" sz="2400" dirty="0">
                <a:solidFill>
                  <a:srgbClr val="FF0000"/>
                </a:solidFill>
                <a:latin typeface="Tw Cen MT" panose="020B0602020104020603" pitchFamily="34" charset="0"/>
                <a:cs typeface="Times New Roman" pitchFamily="18" charset="0"/>
              </a:rPr>
              <a:t>(&gt;512bits</a:t>
            </a:r>
            <a:r>
              <a:rPr lang="en-US" sz="2400" dirty="0">
                <a:latin typeface="Tw Cen MT" panose="020B0602020104020603" pitchFamily="34" charset="0"/>
                <a:cs typeface="Times New Roman" pitchFamily="18" charset="0"/>
              </a:rPr>
              <a:t>)</a:t>
            </a:r>
          </a:p>
          <a:p>
            <a:pPr marL="342900" indent="-342900" algn="just">
              <a:spcAft>
                <a:spcPts val="600"/>
              </a:spcAft>
              <a:buFont typeface="Wingdings" pitchFamily="2" charset="2"/>
              <a:buChar char="§"/>
            </a:pPr>
            <a:r>
              <a:rPr lang="en-US" sz="2400" dirty="0" smtClean="0">
                <a:latin typeface="Tw Cen MT" panose="020B0602020104020603" pitchFamily="34" charset="0"/>
                <a:cs typeface="Times New Roman" pitchFamily="18" charset="0"/>
              </a:rPr>
              <a:t>Security </a:t>
            </a:r>
            <a:r>
              <a:rPr lang="en-US" sz="2400" dirty="0">
                <a:latin typeface="Tw Cen MT" panose="020B0602020104020603" pitchFamily="34" charset="0"/>
                <a:cs typeface="Times New Roman" pitchFamily="18" charset="0"/>
              </a:rPr>
              <a:t>relies on a large enough difference in </a:t>
            </a:r>
            <a:r>
              <a:rPr lang="en-US" sz="2400" dirty="0" smtClean="0">
                <a:latin typeface="Tw Cen MT" panose="020B0602020104020603" pitchFamily="34" charset="0"/>
                <a:cs typeface="Times New Roman" pitchFamily="18" charset="0"/>
              </a:rPr>
              <a:t>difficulty between </a:t>
            </a:r>
            <a:r>
              <a:rPr lang="en-US" sz="2400" dirty="0">
                <a:latin typeface="Tw Cen MT" panose="020B0602020104020603" pitchFamily="34" charset="0"/>
                <a:cs typeface="Times New Roman" pitchFamily="18" charset="0"/>
              </a:rPr>
              <a:t>easy (en/decrypt) and hard (</a:t>
            </a:r>
            <a:r>
              <a:rPr lang="en-US" sz="2400" dirty="0" err="1">
                <a:latin typeface="Tw Cen MT" panose="020B0602020104020603" pitchFamily="34" charset="0"/>
                <a:cs typeface="Times New Roman" pitchFamily="18" charset="0"/>
              </a:rPr>
              <a:t>cryptanalyse</a:t>
            </a:r>
            <a:r>
              <a:rPr lang="en-US" sz="2400" dirty="0">
                <a:latin typeface="Tw Cen MT" panose="020B0602020104020603" pitchFamily="34" charset="0"/>
                <a:cs typeface="Times New Roman" pitchFamily="18" charset="0"/>
              </a:rPr>
              <a:t>) problems</a:t>
            </a:r>
          </a:p>
          <a:p>
            <a:pPr marL="342900" indent="-342900" algn="just">
              <a:spcAft>
                <a:spcPts val="600"/>
              </a:spcAft>
              <a:buFont typeface="Wingdings" pitchFamily="2" charset="2"/>
              <a:buChar char="§"/>
            </a:pPr>
            <a:r>
              <a:rPr lang="en-US" sz="2400" dirty="0" smtClean="0">
                <a:latin typeface="Tw Cen MT" panose="020B0602020104020603" pitchFamily="34" charset="0"/>
                <a:cs typeface="Times New Roman" pitchFamily="18" charset="0"/>
              </a:rPr>
              <a:t>More </a:t>
            </a:r>
            <a:r>
              <a:rPr lang="en-US" sz="2400" dirty="0">
                <a:latin typeface="Tw Cen MT" panose="020B0602020104020603" pitchFamily="34" charset="0"/>
                <a:cs typeface="Times New Roman" pitchFamily="18" charset="0"/>
              </a:rPr>
              <a:t>generally the hard problem is known, but is made </a:t>
            </a:r>
            <a:r>
              <a:rPr lang="en-US" sz="2400" dirty="0" smtClean="0">
                <a:latin typeface="Tw Cen MT" panose="020B0602020104020603" pitchFamily="34" charset="0"/>
                <a:cs typeface="Times New Roman" pitchFamily="18" charset="0"/>
              </a:rPr>
              <a:t>hard enough </a:t>
            </a:r>
            <a:r>
              <a:rPr lang="en-US" sz="2400" dirty="0">
                <a:latin typeface="Tw Cen MT" panose="020B0602020104020603" pitchFamily="34" charset="0"/>
                <a:cs typeface="Times New Roman" pitchFamily="18" charset="0"/>
              </a:rPr>
              <a:t>to be impractical to break</a:t>
            </a:r>
          </a:p>
          <a:p>
            <a:pPr marL="342900" indent="-342900" algn="just">
              <a:spcAft>
                <a:spcPts val="600"/>
              </a:spcAft>
              <a:buFont typeface="Wingdings" pitchFamily="2" charset="2"/>
              <a:buChar char="§"/>
            </a:pPr>
            <a:r>
              <a:rPr lang="en-US" sz="2400" dirty="0" smtClean="0">
                <a:latin typeface="Tw Cen MT" panose="020B0602020104020603" pitchFamily="34" charset="0"/>
                <a:cs typeface="Times New Roman" pitchFamily="18" charset="0"/>
              </a:rPr>
              <a:t>Requires </a:t>
            </a:r>
            <a:r>
              <a:rPr lang="en-US" sz="2400" dirty="0">
                <a:latin typeface="Tw Cen MT" panose="020B0602020104020603" pitchFamily="34" charset="0"/>
                <a:cs typeface="Times New Roman" pitchFamily="18" charset="0"/>
              </a:rPr>
              <a:t>the use of very large numbers</a:t>
            </a:r>
          </a:p>
          <a:p>
            <a:pPr marL="342900" indent="-342900" algn="just">
              <a:spcAft>
                <a:spcPts val="600"/>
              </a:spcAft>
              <a:buFont typeface="Wingdings" pitchFamily="2" charset="2"/>
              <a:buChar char="§"/>
            </a:pPr>
            <a:r>
              <a:rPr lang="en-US" sz="2400" dirty="0" smtClean="0">
                <a:latin typeface="Tw Cen MT" panose="020B0602020104020603" pitchFamily="34" charset="0"/>
                <a:cs typeface="Times New Roman" pitchFamily="18" charset="0"/>
              </a:rPr>
              <a:t>Hence </a:t>
            </a:r>
            <a:r>
              <a:rPr lang="en-US" sz="2400" dirty="0">
                <a:latin typeface="Tw Cen MT" panose="020B0602020104020603" pitchFamily="34" charset="0"/>
                <a:cs typeface="Times New Roman" pitchFamily="18" charset="0"/>
              </a:rPr>
              <a:t>is slow compared to private key schemes</a:t>
            </a:r>
          </a:p>
        </p:txBody>
      </p:sp>
      <p:sp>
        <p:nvSpPr>
          <p:cNvPr id="4" name="Rectangle 3"/>
          <p:cNvSpPr/>
          <p:nvPr/>
        </p:nvSpPr>
        <p:spPr>
          <a:xfrm>
            <a:off x="1447800" y="533400"/>
            <a:ext cx="6161623" cy="646331"/>
          </a:xfrm>
          <a:prstGeom prst="rect">
            <a:avLst/>
          </a:prstGeom>
        </p:spPr>
        <p:txBody>
          <a:bodyPr wrap="none">
            <a:spAutoFit/>
          </a:bodyPr>
          <a:lstStyle/>
          <a:p>
            <a:r>
              <a:rPr lang="en-US" sz="3600" b="1" dirty="0">
                <a:solidFill>
                  <a:srgbClr val="FF0000"/>
                </a:solidFill>
                <a:latin typeface="Tw Cen MT" panose="020B0602020104020603" pitchFamily="34" charset="0"/>
              </a:rPr>
              <a:t>Security of Public Key Schemes</a:t>
            </a:r>
          </a:p>
        </p:txBody>
      </p:sp>
    </p:spTree>
    <p:extLst>
      <p:ext uri="{BB962C8B-B14F-4D97-AF65-F5344CB8AC3E}">
        <p14:creationId xmlns:p14="http://schemas.microsoft.com/office/powerpoint/2010/main" val="20874521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22</a:t>
            </a:fld>
            <a:endParaRPr lang="en-US" dirty="0"/>
          </a:p>
        </p:txBody>
      </p:sp>
      <p:sp>
        <p:nvSpPr>
          <p:cNvPr id="3" name="Rectangle 3"/>
          <p:cNvSpPr txBox="1">
            <a:spLocks noChangeArrowheads="1"/>
          </p:cNvSpPr>
          <p:nvPr/>
        </p:nvSpPr>
        <p:spPr>
          <a:xfrm>
            <a:off x="381000" y="1371600"/>
            <a:ext cx="8382000" cy="5095875"/>
          </a:xfrm>
          <a:prstGeom prst="rect">
            <a:avLst/>
          </a:prstGeom>
        </p:spPr>
        <p:txBody>
          <a:bodyPr>
            <a:no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r>
              <a:rPr lang="en-AU" kern="0" dirty="0" smtClean="0">
                <a:latin typeface="Tw Cen MT" panose="020B0602020104020603" pitchFamily="34" charset="0"/>
              </a:rPr>
              <a:t>A public-key encryption scheme is vulnerable to a brute-force attack</a:t>
            </a:r>
          </a:p>
          <a:p>
            <a:pPr lvl="1" algn="just"/>
            <a:r>
              <a:rPr lang="en-AU" sz="2400" kern="0" dirty="0" smtClean="0">
                <a:latin typeface="Tw Cen MT" panose="020B0602020104020603" pitchFamily="34" charset="0"/>
              </a:rPr>
              <a:t>Countermeasure:  </a:t>
            </a:r>
            <a:r>
              <a:rPr lang="en-AU" sz="2400" kern="0" dirty="0" smtClean="0">
                <a:solidFill>
                  <a:srgbClr val="FF0000"/>
                </a:solidFill>
                <a:latin typeface="Tw Cen MT" panose="020B0602020104020603" pitchFamily="34" charset="0"/>
              </a:rPr>
              <a:t>use large keys</a:t>
            </a:r>
          </a:p>
          <a:p>
            <a:pPr lvl="1" algn="just"/>
            <a:r>
              <a:rPr lang="en-AU" sz="2400" kern="0" dirty="0" smtClean="0">
                <a:latin typeface="Tw Cen MT" panose="020B0602020104020603" pitchFamily="34" charset="0"/>
              </a:rPr>
              <a:t>Key size must be small enough for practical encryption and decryption</a:t>
            </a:r>
          </a:p>
          <a:p>
            <a:pPr lvl="1" algn="just"/>
            <a:r>
              <a:rPr lang="en-AU" sz="2400" kern="0" dirty="0" smtClean="0">
                <a:latin typeface="Tw Cen MT" panose="020B0602020104020603" pitchFamily="34" charset="0"/>
              </a:rPr>
              <a:t>Key sizes that have been proposed result in encryption /decryption speeds that are too slow for general-purpose use</a:t>
            </a:r>
          </a:p>
          <a:p>
            <a:pPr lvl="1" algn="just"/>
            <a:r>
              <a:rPr lang="en-AU" sz="2400" kern="0" dirty="0" smtClean="0">
                <a:latin typeface="Tw Cen MT" panose="020B0602020104020603" pitchFamily="34" charset="0"/>
              </a:rPr>
              <a:t>Public-key encryption is currently confined to key management and signature applications</a:t>
            </a:r>
          </a:p>
        </p:txBody>
      </p:sp>
      <p:sp>
        <p:nvSpPr>
          <p:cNvPr id="4" name="Rectangle 3"/>
          <p:cNvSpPr/>
          <p:nvPr/>
        </p:nvSpPr>
        <p:spPr>
          <a:xfrm>
            <a:off x="2133600" y="457200"/>
            <a:ext cx="5002075" cy="646331"/>
          </a:xfrm>
          <a:prstGeom prst="rect">
            <a:avLst/>
          </a:prstGeom>
        </p:spPr>
        <p:txBody>
          <a:bodyPr wrap="none">
            <a:spAutoFit/>
          </a:bodyPr>
          <a:lstStyle/>
          <a:p>
            <a:r>
              <a:rPr lang="en-AU" sz="3600" b="1" dirty="0">
                <a:solidFill>
                  <a:srgbClr val="FF0000"/>
                </a:solidFill>
                <a:latin typeface="Tw Cen MT" panose="020B0602020104020603" pitchFamily="34" charset="0"/>
              </a:rPr>
              <a:t>Public-Key Cryptanalysis</a:t>
            </a:r>
            <a:endParaRPr lang="en-GB" sz="3600" b="1" dirty="0">
              <a:solidFill>
                <a:srgbClr val="FF0000"/>
              </a:solidFill>
              <a:latin typeface="Tw Cen MT" panose="020B0602020104020603" pitchFamily="34" charset="0"/>
            </a:endParaRPr>
          </a:p>
        </p:txBody>
      </p:sp>
    </p:spTree>
    <p:extLst>
      <p:ext uri="{BB962C8B-B14F-4D97-AF65-F5344CB8AC3E}">
        <p14:creationId xmlns:p14="http://schemas.microsoft.com/office/powerpoint/2010/main" val="33743639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23</a:t>
            </a:fld>
            <a:endParaRPr lang="en-US" dirty="0"/>
          </a:p>
        </p:txBody>
      </p:sp>
      <p:sp>
        <p:nvSpPr>
          <p:cNvPr id="3" name="Rectangle 3"/>
          <p:cNvSpPr txBox="1">
            <a:spLocks noChangeArrowheads="1"/>
          </p:cNvSpPr>
          <p:nvPr/>
        </p:nvSpPr>
        <p:spPr>
          <a:xfrm>
            <a:off x="381000" y="1600200"/>
            <a:ext cx="8382000" cy="3733800"/>
          </a:xfrm>
          <a:prstGeom prst="rect">
            <a:avLst/>
          </a:prstGeom>
        </p:spPr>
        <p:txBody>
          <a:bodyPr>
            <a:no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342900" lvl="1" indent="-342900" algn="just">
              <a:spcBef>
                <a:spcPts val="2400"/>
              </a:spcBef>
              <a:buClr>
                <a:srgbClr val="BAABE3"/>
              </a:buClr>
            </a:pPr>
            <a:r>
              <a:rPr lang="en-AU" sz="2400" kern="0" dirty="0">
                <a:latin typeface="Tw Cen MT" panose="020B0602020104020603" pitchFamily="34" charset="0"/>
                <a:cs typeface="ＭＳ Ｐゴシック" pitchFamily="-84" charset="-128"/>
              </a:rPr>
              <a:t>Another form of attack is to find some way to compute the </a:t>
            </a:r>
            <a:r>
              <a:rPr lang="en-AU" sz="2400" kern="0" dirty="0">
                <a:solidFill>
                  <a:srgbClr val="FF0000"/>
                </a:solidFill>
                <a:latin typeface="Tw Cen MT" panose="020B0602020104020603" pitchFamily="34" charset="0"/>
                <a:cs typeface="ＭＳ Ｐゴシック" pitchFamily="-84" charset="-128"/>
              </a:rPr>
              <a:t>private key </a:t>
            </a:r>
            <a:r>
              <a:rPr lang="en-AU" sz="2400" kern="0" dirty="0">
                <a:latin typeface="Tw Cen MT" panose="020B0602020104020603" pitchFamily="34" charset="0"/>
                <a:cs typeface="ＭＳ Ｐゴシック" pitchFamily="-84" charset="-128"/>
              </a:rPr>
              <a:t>given </a:t>
            </a:r>
            <a:r>
              <a:rPr lang="en-AU" sz="2400" kern="0" dirty="0">
                <a:solidFill>
                  <a:srgbClr val="FF0000"/>
                </a:solidFill>
                <a:latin typeface="Tw Cen MT" panose="020B0602020104020603" pitchFamily="34" charset="0"/>
                <a:cs typeface="ＭＳ Ｐゴシック" pitchFamily="-84" charset="-128"/>
              </a:rPr>
              <a:t>the public key</a:t>
            </a:r>
          </a:p>
          <a:p>
            <a:pPr lvl="1" algn="just"/>
            <a:r>
              <a:rPr lang="en-AU" sz="2400" kern="0" dirty="0">
                <a:latin typeface="Tw Cen MT" panose="020B0602020104020603" pitchFamily="34" charset="0"/>
              </a:rPr>
              <a:t>To date it has not been mathematically proven that this form of attack is infeasible for a particular public-key algorithm</a:t>
            </a:r>
          </a:p>
          <a:p>
            <a:pPr marL="342900" lvl="1" indent="-342900" algn="just">
              <a:spcBef>
                <a:spcPts val="2400"/>
              </a:spcBef>
              <a:buClr>
                <a:srgbClr val="BAABE3"/>
              </a:buClr>
            </a:pPr>
            <a:r>
              <a:rPr lang="en-AU" sz="2400" kern="0" dirty="0">
                <a:latin typeface="Tw Cen MT" panose="020B0602020104020603" pitchFamily="34" charset="0"/>
                <a:cs typeface="ＭＳ Ｐゴシック" pitchFamily="-84" charset="-128"/>
              </a:rPr>
              <a:t>Finally, there is a </a:t>
            </a:r>
            <a:r>
              <a:rPr lang="en-AU" sz="2400" kern="0" dirty="0">
                <a:solidFill>
                  <a:srgbClr val="FF0000"/>
                </a:solidFill>
                <a:latin typeface="Tw Cen MT" panose="020B0602020104020603" pitchFamily="34" charset="0"/>
                <a:cs typeface="ＭＳ Ｐゴシック" pitchFamily="-84" charset="-128"/>
              </a:rPr>
              <a:t>probable-message </a:t>
            </a:r>
            <a:r>
              <a:rPr lang="en-AU" sz="2400" kern="0" dirty="0">
                <a:latin typeface="Tw Cen MT" panose="020B0602020104020603" pitchFamily="34" charset="0"/>
                <a:cs typeface="ＭＳ Ｐゴシック" pitchFamily="-84" charset="-128"/>
              </a:rPr>
              <a:t>attack</a:t>
            </a:r>
          </a:p>
          <a:p>
            <a:pPr lvl="1" algn="just"/>
            <a:r>
              <a:rPr lang="en-AU" sz="2400" kern="0" dirty="0">
                <a:latin typeface="Tw Cen MT" panose="020B0602020104020603" pitchFamily="34" charset="0"/>
              </a:rPr>
              <a:t>This attack can be thwarted by appending some random                    bits to simple messages</a:t>
            </a:r>
          </a:p>
          <a:p>
            <a:pPr marL="0" lvl="1" indent="0" algn="just">
              <a:spcBef>
                <a:spcPts val="2400"/>
              </a:spcBef>
              <a:buClr>
                <a:srgbClr val="BAABE3"/>
              </a:buClr>
              <a:buNone/>
            </a:pPr>
            <a:endParaRPr lang="en-AU" sz="2400" kern="0" dirty="0" smtClean="0">
              <a:latin typeface="Tw Cen MT" panose="020B0602020104020603" pitchFamily="34" charset="0"/>
            </a:endParaRPr>
          </a:p>
          <a:p>
            <a:pPr marL="0" lvl="1" indent="0" algn="just">
              <a:spcBef>
                <a:spcPts val="2400"/>
              </a:spcBef>
              <a:buClr>
                <a:srgbClr val="BAABE3"/>
              </a:buClr>
              <a:buNone/>
            </a:pPr>
            <a:r>
              <a:rPr lang="en-GB" dirty="0" smtClean="0">
                <a:latin typeface="Tw Cen MT" panose="020B0602020104020603" pitchFamily="34" charset="0"/>
              </a:rPr>
              <a:t>The </a:t>
            </a:r>
            <a:r>
              <a:rPr lang="en-GB" dirty="0">
                <a:latin typeface="Tw Cen MT" panose="020B0602020104020603" pitchFamily="34" charset="0"/>
              </a:rPr>
              <a:t>public key is </a:t>
            </a:r>
            <a:r>
              <a:rPr lang="en-GB" dirty="0" smtClean="0">
                <a:latin typeface="Tw Cen MT" panose="020B0602020104020603" pitchFamily="34" charset="0"/>
              </a:rPr>
              <a:t>known- Encrypt </a:t>
            </a:r>
            <a:r>
              <a:rPr lang="en-GB" dirty="0">
                <a:latin typeface="Tw Cen MT" panose="020B0602020104020603" pitchFamily="34" charset="0"/>
              </a:rPr>
              <a:t>all possible </a:t>
            </a:r>
            <a:r>
              <a:rPr lang="en-GB" dirty="0" smtClean="0">
                <a:latin typeface="Tw Cen MT" panose="020B0602020104020603" pitchFamily="34" charset="0"/>
              </a:rPr>
              <a:t>messages- Try </a:t>
            </a:r>
            <a:r>
              <a:rPr lang="en-GB" dirty="0">
                <a:latin typeface="Tw Cen MT" panose="020B0602020104020603" pitchFamily="34" charset="0"/>
              </a:rPr>
              <a:t>to find a match between the </a:t>
            </a:r>
            <a:r>
              <a:rPr lang="en-GB" dirty="0" err="1">
                <a:latin typeface="Tw Cen MT" panose="020B0602020104020603" pitchFamily="34" charset="0"/>
              </a:rPr>
              <a:t>ciphertext</a:t>
            </a:r>
            <a:r>
              <a:rPr lang="en-GB" dirty="0">
                <a:latin typeface="Tw Cen MT" panose="020B0602020104020603" pitchFamily="34" charset="0"/>
              </a:rPr>
              <a:t> and one of the above encrypted messages</a:t>
            </a:r>
            <a:endParaRPr lang="en-AU" kern="0" dirty="0" smtClean="0">
              <a:latin typeface="Tw Cen MT" panose="020B0602020104020603" pitchFamily="34" charset="0"/>
            </a:endParaRPr>
          </a:p>
        </p:txBody>
      </p:sp>
      <p:sp>
        <p:nvSpPr>
          <p:cNvPr id="4" name="Rectangle 3"/>
          <p:cNvSpPr/>
          <p:nvPr/>
        </p:nvSpPr>
        <p:spPr>
          <a:xfrm>
            <a:off x="1524000" y="533400"/>
            <a:ext cx="6330964" cy="646331"/>
          </a:xfrm>
          <a:prstGeom prst="rect">
            <a:avLst/>
          </a:prstGeom>
        </p:spPr>
        <p:txBody>
          <a:bodyPr wrap="none">
            <a:spAutoFit/>
          </a:bodyPr>
          <a:lstStyle/>
          <a:p>
            <a:r>
              <a:rPr lang="en-AU" sz="3600" b="1" dirty="0">
                <a:solidFill>
                  <a:srgbClr val="FF0000"/>
                </a:solidFill>
                <a:latin typeface="Tw Cen MT" panose="020B0602020104020603" pitchFamily="34" charset="0"/>
              </a:rPr>
              <a:t>Public-Key </a:t>
            </a:r>
            <a:r>
              <a:rPr lang="en-AU" sz="3600" b="1" dirty="0" smtClean="0">
                <a:solidFill>
                  <a:srgbClr val="FF0000"/>
                </a:solidFill>
                <a:latin typeface="Tw Cen MT" panose="020B0602020104020603" pitchFamily="34" charset="0"/>
              </a:rPr>
              <a:t>Cryptanalysis (cont.)</a:t>
            </a:r>
            <a:endParaRPr lang="en-GB" sz="3600" b="1" dirty="0">
              <a:solidFill>
                <a:srgbClr val="FF0000"/>
              </a:solidFill>
              <a:latin typeface="Tw Cen MT" panose="020B0602020104020603" pitchFamily="34" charset="0"/>
            </a:endParaRPr>
          </a:p>
        </p:txBody>
      </p:sp>
      <p:sp>
        <p:nvSpPr>
          <p:cNvPr id="5" name="TextBox 4"/>
          <p:cNvSpPr txBox="1"/>
          <p:nvPr/>
        </p:nvSpPr>
        <p:spPr>
          <a:xfrm>
            <a:off x="152400" y="5029200"/>
            <a:ext cx="3429000" cy="369332"/>
          </a:xfrm>
          <a:prstGeom prst="rect">
            <a:avLst/>
          </a:prstGeom>
          <a:noFill/>
        </p:spPr>
        <p:txBody>
          <a:bodyPr wrap="square" rtlCol="0">
            <a:spAutoFit/>
          </a:bodyPr>
          <a:lstStyle/>
          <a:p>
            <a:r>
              <a:rPr lang="en-GB" dirty="0" smtClean="0">
                <a:solidFill>
                  <a:srgbClr val="FF0000"/>
                </a:solidFill>
              </a:rPr>
              <a:t>Probable message attack</a:t>
            </a:r>
            <a:endParaRPr lang="en-GB" dirty="0">
              <a:solidFill>
                <a:srgbClr val="FF0000"/>
              </a:solidFill>
            </a:endParaRPr>
          </a:p>
        </p:txBody>
      </p:sp>
    </p:spTree>
    <p:extLst>
      <p:ext uri="{BB962C8B-B14F-4D97-AF65-F5344CB8AC3E}">
        <p14:creationId xmlns:p14="http://schemas.microsoft.com/office/powerpoint/2010/main" val="1282640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p:spPr>
        <p:txBody>
          <a:bodyPr/>
          <a:lstStyle/>
          <a:p>
            <a:fld id="{B5071C0A-57AA-4DBF-BC31-03CFA7E159DF}" type="slidenum">
              <a:rPr lang="en-US" altLang="zh-CN" smtClean="0">
                <a:latin typeface="Times New Roman" pitchFamily="18" charset="0"/>
                <a:cs typeface="Times New Roman" pitchFamily="18" charset="0"/>
              </a:rPr>
              <a:pPr/>
              <a:t>24</a:t>
            </a:fld>
            <a:endParaRPr lang="en-US" altLang="zh-CN" dirty="0">
              <a:latin typeface="Times New Roman" pitchFamily="18" charset="0"/>
              <a:cs typeface="Times New Roman" pitchFamily="18" charset="0"/>
            </a:endParaRPr>
          </a:p>
        </p:txBody>
      </p:sp>
      <p:sp>
        <p:nvSpPr>
          <p:cNvPr id="858115" name="Text Box 3"/>
          <p:cNvSpPr txBox="1">
            <a:spLocks noChangeArrowheads="1"/>
          </p:cNvSpPr>
          <p:nvPr/>
        </p:nvSpPr>
        <p:spPr bwMode="auto">
          <a:xfrm>
            <a:off x="2627586" y="423056"/>
            <a:ext cx="3867982" cy="646331"/>
          </a:xfrm>
          <a:prstGeom prst="rect">
            <a:avLst/>
          </a:prstGeom>
          <a:noFill/>
          <a:ln w="9525">
            <a:noFill/>
            <a:miter lim="800000"/>
            <a:headEnd/>
            <a:tailEnd/>
          </a:ln>
          <a:effectLst/>
        </p:spPr>
        <p:txBody>
          <a:bodyPr wrap="none">
            <a:spAutoFit/>
          </a:bodyPr>
          <a:lstStyle/>
          <a:p>
            <a:pPr>
              <a:defRPr/>
            </a:pPr>
            <a:r>
              <a:rPr lang="en-US" dirty="0" smtClean="0">
                <a:latin typeface="Tw Cen MT" panose="020B0602020104020603" pitchFamily="34" charset="0"/>
              </a:rPr>
              <a:t>  </a:t>
            </a:r>
            <a:r>
              <a:rPr lang="en-US" sz="3600" b="1" dirty="0">
                <a:solidFill>
                  <a:srgbClr val="FF0000"/>
                </a:solidFill>
                <a:latin typeface="Tw Cen MT" panose="020B0602020104020603" pitchFamily="34" charset="0"/>
              </a:rPr>
              <a:t>RSA </a:t>
            </a:r>
            <a:r>
              <a:rPr lang="en-US" sz="3600" b="1" dirty="0" smtClean="0">
                <a:solidFill>
                  <a:srgbClr val="FF0000"/>
                </a:solidFill>
                <a:latin typeface="Tw Cen MT" panose="020B0602020104020603" pitchFamily="34" charset="0"/>
              </a:rPr>
              <a:t>Cryptosystem</a:t>
            </a:r>
            <a:endParaRPr lang="en-US" sz="3600" b="1" dirty="0">
              <a:solidFill>
                <a:srgbClr val="FF0000"/>
              </a:solidFill>
              <a:latin typeface="Tw Cen MT" panose="020B0602020104020603" pitchFamily="34" charset="0"/>
            </a:endParaRPr>
          </a:p>
        </p:txBody>
      </p:sp>
      <p:sp>
        <p:nvSpPr>
          <p:cNvPr id="19461"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zh-CN" altLang="zh-CN" sz="1800">
              <a:latin typeface="Times New Roman" pitchFamily="18" charset="0"/>
              <a:ea typeface="SimSun" pitchFamily="2" charset="-122"/>
              <a:cs typeface="Times New Roman" pitchFamily="18" charset="0"/>
            </a:endParaRPr>
          </a:p>
        </p:txBody>
      </p:sp>
      <p:sp>
        <p:nvSpPr>
          <p:cNvPr id="9" name="Rectangle 3"/>
          <p:cNvSpPr txBox="1">
            <a:spLocks noChangeArrowheads="1"/>
          </p:cNvSpPr>
          <p:nvPr/>
        </p:nvSpPr>
        <p:spPr>
          <a:xfrm>
            <a:off x="762000" y="1752600"/>
            <a:ext cx="7570787" cy="34194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AU" kern="0" dirty="0" smtClean="0">
                <a:latin typeface="Tw Cen MT" panose="020B0602020104020603" pitchFamily="34" charset="0"/>
              </a:rPr>
              <a:t>Developed in 1977 at MIT by Ron </a:t>
            </a:r>
            <a:r>
              <a:rPr lang="en-AU" kern="0" dirty="0" err="1" smtClean="0">
                <a:latin typeface="Tw Cen MT" panose="020B0602020104020603" pitchFamily="34" charset="0"/>
              </a:rPr>
              <a:t>Rivest</a:t>
            </a:r>
            <a:r>
              <a:rPr lang="en-AU" kern="0" dirty="0" smtClean="0">
                <a:latin typeface="Tw Cen MT" panose="020B0602020104020603" pitchFamily="34" charset="0"/>
              </a:rPr>
              <a:t>, </a:t>
            </a:r>
            <a:r>
              <a:rPr lang="en-AU" kern="0" dirty="0" err="1" smtClean="0">
                <a:latin typeface="Tw Cen MT" panose="020B0602020104020603" pitchFamily="34" charset="0"/>
              </a:rPr>
              <a:t>Adi</a:t>
            </a:r>
            <a:r>
              <a:rPr lang="en-AU" kern="0" dirty="0" smtClean="0">
                <a:latin typeface="Tw Cen MT" panose="020B0602020104020603" pitchFamily="34" charset="0"/>
              </a:rPr>
              <a:t> Shamir &amp; Len </a:t>
            </a:r>
            <a:r>
              <a:rPr lang="en-AU" kern="0" dirty="0" err="1" smtClean="0">
                <a:latin typeface="Tw Cen MT" panose="020B0602020104020603" pitchFamily="34" charset="0"/>
              </a:rPr>
              <a:t>Adleman</a:t>
            </a:r>
            <a:endParaRPr lang="en-AU" kern="0" dirty="0" smtClean="0">
              <a:latin typeface="Tw Cen MT" panose="020B0602020104020603" pitchFamily="34" charset="0"/>
            </a:endParaRPr>
          </a:p>
          <a:p>
            <a:r>
              <a:rPr lang="en-AU" kern="0" dirty="0" smtClean="0">
                <a:latin typeface="Tw Cen MT" panose="020B0602020104020603" pitchFamily="34" charset="0"/>
              </a:rPr>
              <a:t>Most widely used general-purpose approach to public-key encryption</a:t>
            </a:r>
          </a:p>
          <a:p>
            <a:r>
              <a:rPr lang="en-AU" kern="0" dirty="0" smtClean="0">
                <a:latin typeface="Tw Cen MT" panose="020B0602020104020603" pitchFamily="34" charset="0"/>
              </a:rPr>
              <a:t>Is a cipher in which the plaintext and </a:t>
            </a:r>
            <a:r>
              <a:rPr lang="en-AU" kern="0" dirty="0" err="1" smtClean="0">
                <a:latin typeface="Tw Cen MT" panose="020B0602020104020603" pitchFamily="34" charset="0"/>
              </a:rPr>
              <a:t>ciphertext</a:t>
            </a:r>
            <a:r>
              <a:rPr lang="en-AU" kern="0" dirty="0" smtClean="0">
                <a:latin typeface="Tw Cen MT" panose="020B0602020104020603" pitchFamily="34" charset="0"/>
              </a:rPr>
              <a:t> are integers between 0 and </a:t>
            </a:r>
            <a:r>
              <a:rPr lang="en-AU" i="1" kern="0" dirty="0" smtClean="0">
                <a:latin typeface="Tw Cen MT" panose="020B0602020104020603" pitchFamily="34" charset="0"/>
              </a:rPr>
              <a:t>n – </a:t>
            </a:r>
            <a:r>
              <a:rPr lang="en-AU" kern="0" dirty="0" smtClean="0">
                <a:latin typeface="Tw Cen MT" panose="020B0602020104020603" pitchFamily="34" charset="0"/>
              </a:rPr>
              <a:t>1 for some </a:t>
            </a:r>
            <a:r>
              <a:rPr lang="en-AU" i="1" kern="0" dirty="0" smtClean="0">
                <a:latin typeface="Tw Cen MT" panose="020B0602020104020603" pitchFamily="34" charset="0"/>
              </a:rPr>
              <a:t>n</a:t>
            </a:r>
          </a:p>
          <a:p>
            <a:pPr lvl="1"/>
            <a:r>
              <a:rPr lang="en-AU" sz="2400" kern="0" dirty="0" smtClean="0">
                <a:latin typeface="Tw Cen MT" panose="020B0602020104020603" pitchFamily="34" charset="0"/>
              </a:rPr>
              <a:t>A typical size for </a:t>
            </a:r>
            <a:r>
              <a:rPr lang="en-AU" sz="2400" i="1" kern="0" dirty="0" smtClean="0">
                <a:latin typeface="Tw Cen MT" panose="020B0602020104020603" pitchFamily="34" charset="0"/>
              </a:rPr>
              <a:t>n </a:t>
            </a:r>
            <a:r>
              <a:rPr lang="en-AU" sz="2400" kern="0" dirty="0" smtClean="0">
                <a:latin typeface="Tw Cen MT" panose="020B0602020104020603" pitchFamily="34" charset="0"/>
              </a:rPr>
              <a:t>is 1024 bits, or 309 decimal digits</a:t>
            </a:r>
            <a:endParaRPr lang="en-AU" sz="2400" kern="0" dirty="0">
              <a:latin typeface="Tw Cen MT" panose="020B0602020104020603" pitchFamily="34" charset="0"/>
            </a:endParaRPr>
          </a:p>
        </p:txBody>
      </p:sp>
    </p:spTree>
    <p:extLst>
      <p:ext uri="{BB962C8B-B14F-4D97-AF65-F5344CB8AC3E}">
        <p14:creationId xmlns:p14="http://schemas.microsoft.com/office/powerpoint/2010/main" val="29414835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p:spPr>
        <p:txBody>
          <a:bodyPr/>
          <a:lstStyle/>
          <a:p>
            <a:fld id="{B5071C0A-57AA-4DBF-BC31-03CFA7E159DF}" type="slidenum">
              <a:rPr lang="en-US" altLang="zh-CN" smtClean="0">
                <a:latin typeface="Times New Roman" pitchFamily="18" charset="0"/>
                <a:cs typeface="Times New Roman" pitchFamily="18" charset="0"/>
              </a:rPr>
              <a:pPr/>
              <a:t>25</a:t>
            </a:fld>
            <a:endParaRPr lang="en-US" altLang="zh-CN" dirty="0">
              <a:latin typeface="Times New Roman" pitchFamily="18" charset="0"/>
              <a:cs typeface="Times New Roman" pitchFamily="18" charset="0"/>
            </a:endParaRPr>
          </a:p>
        </p:txBody>
      </p:sp>
      <p:sp>
        <p:nvSpPr>
          <p:cNvPr id="858115" name="Text Box 3"/>
          <p:cNvSpPr txBox="1">
            <a:spLocks noChangeArrowheads="1"/>
          </p:cNvSpPr>
          <p:nvPr/>
        </p:nvSpPr>
        <p:spPr bwMode="auto">
          <a:xfrm>
            <a:off x="2627586" y="423056"/>
            <a:ext cx="3164649" cy="646331"/>
          </a:xfrm>
          <a:prstGeom prst="rect">
            <a:avLst/>
          </a:prstGeom>
          <a:noFill/>
          <a:ln w="9525">
            <a:noFill/>
            <a:miter lim="800000"/>
            <a:headEnd/>
            <a:tailEnd/>
          </a:ln>
          <a:effectLst/>
        </p:spPr>
        <p:txBody>
          <a:bodyPr wrap="none">
            <a:spAutoFit/>
          </a:bodyPr>
          <a:lstStyle/>
          <a:p>
            <a:pPr>
              <a:defRPr/>
            </a:pPr>
            <a:r>
              <a:rPr lang="en-US" dirty="0" smtClean="0">
                <a:latin typeface="Tw Cen MT" panose="020B0602020104020603" pitchFamily="34" charset="0"/>
              </a:rPr>
              <a:t>  </a:t>
            </a:r>
            <a:r>
              <a:rPr lang="en-US" sz="3600" b="1" dirty="0">
                <a:solidFill>
                  <a:srgbClr val="FF0000"/>
                </a:solidFill>
                <a:latin typeface="Tw Cen MT" panose="020B0602020104020603" pitchFamily="34" charset="0"/>
              </a:rPr>
              <a:t>RSA </a:t>
            </a:r>
            <a:r>
              <a:rPr lang="en-US" sz="3600" b="1" dirty="0" smtClean="0">
                <a:solidFill>
                  <a:srgbClr val="FF0000"/>
                </a:solidFill>
                <a:latin typeface="Tw Cen MT" panose="020B0602020104020603" pitchFamily="34" charset="0"/>
              </a:rPr>
              <a:t>Algorithm</a:t>
            </a:r>
            <a:endParaRPr lang="en-US" sz="3600" b="1" dirty="0">
              <a:solidFill>
                <a:srgbClr val="FF0000"/>
              </a:solidFill>
              <a:latin typeface="Tw Cen MT" panose="020B0602020104020603" pitchFamily="34" charset="0"/>
            </a:endParaRPr>
          </a:p>
        </p:txBody>
      </p:sp>
      <p:sp>
        <p:nvSpPr>
          <p:cNvPr id="19461"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zh-CN" altLang="zh-CN" sz="1800">
              <a:latin typeface="Times New Roman" pitchFamily="18" charset="0"/>
              <a:ea typeface="SimSun" pitchFamily="2" charset="-122"/>
              <a:cs typeface="Times New Roman" pitchFamily="18" charset="0"/>
            </a:endParaRPr>
          </a:p>
        </p:txBody>
      </p:sp>
      <p:sp>
        <p:nvSpPr>
          <p:cNvPr id="6" name="Rectangle 3"/>
          <p:cNvSpPr txBox="1">
            <a:spLocks noChangeArrowheads="1"/>
          </p:cNvSpPr>
          <p:nvPr/>
        </p:nvSpPr>
        <p:spPr>
          <a:xfrm>
            <a:off x="762000" y="1676400"/>
            <a:ext cx="7666037" cy="3505200"/>
          </a:xfrm>
          <a:prstGeom prst="rect">
            <a:avLst/>
          </a:prstGeom>
        </p:spPr>
        <p:txBody>
          <a:bodyPr>
            <a:normAutofit fontScale="92500" lnSpcReduction="10000"/>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spcBef>
                <a:spcPts val="0"/>
              </a:spcBef>
              <a:spcAft>
                <a:spcPts val="1200"/>
              </a:spcAft>
            </a:pPr>
            <a:r>
              <a:rPr lang="en-AU" sz="2600" kern="0" dirty="0" smtClean="0">
                <a:solidFill>
                  <a:schemeClr val="tx1"/>
                </a:solidFill>
                <a:latin typeface="Tw Cen MT" panose="020B0602020104020603" pitchFamily="34" charset="0"/>
              </a:rPr>
              <a:t>RSA makes use of an </a:t>
            </a:r>
            <a:r>
              <a:rPr lang="en-AU" sz="2600" kern="0" dirty="0" smtClean="0">
                <a:solidFill>
                  <a:srgbClr val="0000CC"/>
                </a:solidFill>
                <a:latin typeface="Tw Cen MT" panose="020B0602020104020603" pitchFamily="34" charset="0"/>
              </a:rPr>
              <a:t>expression with exponentials</a:t>
            </a:r>
          </a:p>
          <a:p>
            <a:pPr algn="just">
              <a:spcBef>
                <a:spcPts val="0"/>
              </a:spcBef>
              <a:spcAft>
                <a:spcPts val="1200"/>
              </a:spcAft>
            </a:pPr>
            <a:r>
              <a:rPr lang="en-AU" sz="2600" kern="0" dirty="0" smtClean="0">
                <a:solidFill>
                  <a:schemeClr val="tx1"/>
                </a:solidFill>
                <a:latin typeface="Tw Cen MT" panose="020B0602020104020603" pitchFamily="34" charset="0"/>
              </a:rPr>
              <a:t>Plaintext is encrypted in blocks with each block having a binary value less than some number </a:t>
            </a:r>
            <a:r>
              <a:rPr lang="en-AU" sz="2600" i="1" kern="0" dirty="0" smtClean="0">
                <a:solidFill>
                  <a:schemeClr val="tx1"/>
                </a:solidFill>
                <a:latin typeface="Tw Cen MT" panose="020B0602020104020603" pitchFamily="34" charset="0"/>
              </a:rPr>
              <a:t>n </a:t>
            </a:r>
            <a:endParaRPr lang="en-AU" sz="2600" kern="0" dirty="0" smtClean="0">
              <a:solidFill>
                <a:schemeClr val="tx1"/>
              </a:solidFill>
              <a:latin typeface="Tw Cen MT" panose="020B0602020104020603" pitchFamily="34" charset="0"/>
            </a:endParaRPr>
          </a:p>
          <a:p>
            <a:pPr algn="just">
              <a:spcBef>
                <a:spcPts val="0"/>
              </a:spcBef>
              <a:spcAft>
                <a:spcPts val="1200"/>
              </a:spcAft>
            </a:pPr>
            <a:r>
              <a:rPr lang="en-AU" sz="2600" kern="0" dirty="0" smtClean="0">
                <a:solidFill>
                  <a:schemeClr val="tx1"/>
                </a:solidFill>
                <a:latin typeface="Tw Cen MT" panose="020B0602020104020603" pitchFamily="34" charset="0"/>
              </a:rPr>
              <a:t>Encryption and decryption are of the following form, for some plaintext block </a:t>
            </a:r>
            <a:r>
              <a:rPr lang="en-AU" sz="2600" i="1" kern="0" dirty="0" smtClean="0">
                <a:solidFill>
                  <a:schemeClr val="tx1"/>
                </a:solidFill>
                <a:latin typeface="Tw Cen MT" panose="020B0602020104020603" pitchFamily="34" charset="0"/>
              </a:rPr>
              <a:t>M </a:t>
            </a:r>
            <a:r>
              <a:rPr lang="en-AU" sz="2600" kern="0" dirty="0" smtClean="0">
                <a:solidFill>
                  <a:schemeClr val="tx1"/>
                </a:solidFill>
                <a:latin typeface="Tw Cen MT" panose="020B0602020104020603" pitchFamily="34" charset="0"/>
              </a:rPr>
              <a:t>and </a:t>
            </a:r>
            <a:r>
              <a:rPr lang="en-AU" sz="2600" kern="0" dirty="0" err="1" smtClean="0">
                <a:solidFill>
                  <a:schemeClr val="tx1"/>
                </a:solidFill>
                <a:latin typeface="Tw Cen MT" panose="020B0602020104020603" pitchFamily="34" charset="0"/>
              </a:rPr>
              <a:t>ciphertext</a:t>
            </a:r>
            <a:r>
              <a:rPr lang="en-AU" sz="2600" i="1" kern="0" dirty="0" smtClean="0">
                <a:solidFill>
                  <a:schemeClr val="tx1"/>
                </a:solidFill>
                <a:latin typeface="Tw Cen MT" panose="020B0602020104020603" pitchFamily="34" charset="0"/>
              </a:rPr>
              <a:t> </a:t>
            </a:r>
            <a:r>
              <a:rPr lang="en-AU" sz="2600" kern="0" dirty="0" smtClean="0">
                <a:solidFill>
                  <a:schemeClr val="tx1"/>
                </a:solidFill>
                <a:latin typeface="Tw Cen MT" panose="020B0602020104020603" pitchFamily="34" charset="0"/>
              </a:rPr>
              <a:t>block C</a:t>
            </a:r>
          </a:p>
          <a:p>
            <a:endParaRPr lang="en-AU" sz="2600" kern="0" dirty="0" smtClean="0">
              <a:solidFill>
                <a:schemeClr val="tx1"/>
              </a:solidFill>
              <a:latin typeface="Tw Cen MT" panose="020B0602020104020603" pitchFamily="34" charset="0"/>
            </a:endParaRPr>
          </a:p>
          <a:p>
            <a:pPr>
              <a:spcBef>
                <a:spcPts val="600"/>
              </a:spcBef>
              <a:buFontTx/>
              <a:buNone/>
            </a:pPr>
            <a:r>
              <a:rPr lang="en-AU" sz="2600" i="1" kern="0" dirty="0" smtClean="0">
                <a:solidFill>
                  <a:schemeClr val="tx1"/>
                </a:solidFill>
                <a:latin typeface="Tw Cen MT" panose="020B0602020104020603" pitchFamily="34" charset="0"/>
              </a:rPr>
              <a:t>		C = M</a:t>
            </a:r>
            <a:r>
              <a:rPr lang="en-AU" sz="2600" i="1" kern="0" baseline="30000" dirty="0" smtClean="0">
                <a:solidFill>
                  <a:schemeClr val="tx1"/>
                </a:solidFill>
                <a:latin typeface="Tw Cen MT" panose="020B0602020104020603" pitchFamily="34" charset="0"/>
              </a:rPr>
              <a:t>e</a:t>
            </a:r>
            <a:r>
              <a:rPr lang="en-AU" sz="2600" i="1" kern="0" dirty="0" smtClean="0">
                <a:solidFill>
                  <a:schemeClr val="tx1"/>
                </a:solidFill>
                <a:latin typeface="Tw Cen MT" panose="020B0602020104020603" pitchFamily="34" charset="0"/>
              </a:rPr>
              <a:t> </a:t>
            </a:r>
            <a:r>
              <a:rPr lang="en-AU" sz="2600" kern="0" dirty="0" smtClean="0">
                <a:solidFill>
                  <a:schemeClr val="tx1"/>
                </a:solidFill>
                <a:latin typeface="Tw Cen MT" panose="020B0602020104020603" pitchFamily="34" charset="0"/>
              </a:rPr>
              <a:t>mod </a:t>
            </a:r>
            <a:r>
              <a:rPr lang="en-AU" sz="2600" i="1" kern="0" dirty="0" smtClean="0">
                <a:solidFill>
                  <a:schemeClr val="tx1"/>
                </a:solidFill>
                <a:latin typeface="Tw Cen MT" panose="020B0602020104020603" pitchFamily="34" charset="0"/>
              </a:rPr>
              <a:t>n</a:t>
            </a:r>
          </a:p>
          <a:p>
            <a:pPr>
              <a:spcBef>
                <a:spcPts val="600"/>
              </a:spcBef>
              <a:buFontTx/>
              <a:buNone/>
            </a:pPr>
            <a:r>
              <a:rPr lang="en-AU" sz="2600" i="1" kern="0" dirty="0" smtClean="0">
                <a:solidFill>
                  <a:schemeClr val="tx1"/>
                </a:solidFill>
                <a:latin typeface="Tw Cen MT" panose="020B0602020104020603" pitchFamily="34" charset="0"/>
              </a:rPr>
              <a:t>		M = C</a:t>
            </a:r>
            <a:r>
              <a:rPr lang="en-AU" sz="2600" i="1" kern="0" baseline="30000" dirty="0" smtClean="0">
                <a:solidFill>
                  <a:schemeClr val="tx1"/>
                </a:solidFill>
                <a:latin typeface="Tw Cen MT" panose="020B0602020104020603" pitchFamily="34" charset="0"/>
              </a:rPr>
              <a:t>d</a:t>
            </a:r>
            <a:r>
              <a:rPr lang="en-AU" sz="2600" i="1" kern="0" dirty="0" smtClean="0">
                <a:solidFill>
                  <a:schemeClr val="tx1"/>
                </a:solidFill>
                <a:latin typeface="Tw Cen MT" panose="020B0602020104020603" pitchFamily="34" charset="0"/>
              </a:rPr>
              <a:t> mod n = (M</a:t>
            </a:r>
            <a:r>
              <a:rPr lang="en-AU" sz="2600" i="1" kern="0" baseline="30000" dirty="0" smtClean="0">
                <a:solidFill>
                  <a:schemeClr val="tx1"/>
                </a:solidFill>
                <a:latin typeface="Tw Cen MT" panose="020B0602020104020603" pitchFamily="34" charset="0"/>
              </a:rPr>
              <a:t>e</a:t>
            </a:r>
            <a:r>
              <a:rPr lang="en-AU" sz="2600" i="1" kern="0" dirty="0" smtClean="0">
                <a:solidFill>
                  <a:schemeClr val="tx1"/>
                </a:solidFill>
                <a:latin typeface="Tw Cen MT" panose="020B0602020104020603" pitchFamily="34" charset="0"/>
              </a:rPr>
              <a:t>)</a:t>
            </a:r>
            <a:r>
              <a:rPr lang="en-AU" sz="2600" i="1" kern="0" baseline="30000" dirty="0" smtClean="0">
                <a:solidFill>
                  <a:schemeClr val="tx1"/>
                </a:solidFill>
                <a:latin typeface="Tw Cen MT" panose="020B0602020104020603" pitchFamily="34" charset="0"/>
              </a:rPr>
              <a:t>d</a:t>
            </a:r>
            <a:r>
              <a:rPr lang="en-AU" sz="2600" i="1" kern="0" dirty="0" smtClean="0">
                <a:solidFill>
                  <a:schemeClr val="tx1"/>
                </a:solidFill>
                <a:latin typeface="Tw Cen MT" panose="020B0602020104020603" pitchFamily="34" charset="0"/>
              </a:rPr>
              <a:t> mod n = M</a:t>
            </a:r>
            <a:r>
              <a:rPr lang="en-AU" sz="2600" i="1" kern="0" baseline="30000" dirty="0" smtClean="0">
                <a:solidFill>
                  <a:schemeClr val="tx1"/>
                </a:solidFill>
                <a:latin typeface="Tw Cen MT" panose="020B0602020104020603" pitchFamily="34" charset="0"/>
              </a:rPr>
              <a:t>ed</a:t>
            </a:r>
            <a:r>
              <a:rPr lang="en-AU" sz="2600" i="1" kern="0" dirty="0" smtClean="0">
                <a:solidFill>
                  <a:schemeClr val="tx1"/>
                </a:solidFill>
                <a:latin typeface="Tw Cen MT" panose="020B0602020104020603" pitchFamily="34" charset="0"/>
              </a:rPr>
              <a:t> mod n </a:t>
            </a:r>
          </a:p>
          <a:p>
            <a:endParaRPr lang="en-AU" sz="2811" kern="0" dirty="0" smtClean="0"/>
          </a:p>
        </p:txBody>
      </p:sp>
    </p:spTree>
    <p:extLst>
      <p:ext uri="{BB962C8B-B14F-4D97-AF65-F5344CB8AC3E}">
        <p14:creationId xmlns:p14="http://schemas.microsoft.com/office/powerpoint/2010/main" val="40849966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p:spPr>
        <p:txBody>
          <a:bodyPr/>
          <a:lstStyle/>
          <a:p>
            <a:fld id="{B5071C0A-57AA-4DBF-BC31-03CFA7E159DF}" type="slidenum">
              <a:rPr lang="en-US" altLang="zh-CN" smtClean="0">
                <a:latin typeface="Times New Roman" pitchFamily="18" charset="0"/>
                <a:cs typeface="Times New Roman" pitchFamily="18" charset="0"/>
              </a:rPr>
              <a:pPr/>
              <a:t>26</a:t>
            </a:fld>
            <a:endParaRPr lang="en-US" altLang="zh-CN" dirty="0">
              <a:latin typeface="Times New Roman" pitchFamily="18" charset="0"/>
              <a:cs typeface="Times New Roman" pitchFamily="18" charset="0"/>
            </a:endParaRPr>
          </a:p>
        </p:txBody>
      </p:sp>
      <p:sp>
        <p:nvSpPr>
          <p:cNvPr id="858115" name="Text Box 3"/>
          <p:cNvSpPr txBox="1">
            <a:spLocks noChangeArrowheads="1"/>
          </p:cNvSpPr>
          <p:nvPr/>
        </p:nvSpPr>
        <p:spPr bwMode="auto">
          <a:xfrm>
            <a:off x="2057400" y="533400"/>
            <a:ext cx="4373313" cy="646331"/>
          </a:xfrm>
          <a:prstGeom prst="rect">
            <a:avLst/>
          </a:prstGeom>
          <a:noFill/>
          <a:ln w="9525">
            <a:noFill/>
            <a:miter lim="800000"/>
            <a:headEnd/>
            <a:tailEnd/>
          </a:ln>
          <a:effectLst/>
        </p:spPr>
        <p:txBody>
          <a:bodyPr wrap="none">
            <a:spAutoFit/>
          </a:bodyPr>
          <a:lstStyle/>
          <a:p>
            <a:pPr>
              <a:defRPr/>
            </a:pPr>
            <a:r>
              <a:rPr lang="en-US" dirty="0" smtClean="0">
                <a:latin typeface="Tw Cen MT" panose="020B0602020104020603" pitchFamily="34" charset="0"/>
              </a:rPr>
              <a:t>  </a:t>
            </a:r>
            <a:r>
              <a:rPr lang="en-US" sz="3600" b="1" dirty="0">
                <a:solidFill>
                  <a:srgbClr val="FF0000"/>
                </a:solidFill>
                <a:latin typeface="Tw Cen MT" panose="020B0602020104020603" pitchFamily="34" charset="0"/>
              </a:rPr>
              <a:t>RSA </a:t>
            </a:r>
            <a:r>
              <a:rPr lang="en-US" sz="3600" b="1" dirty="0" smtClean="0">
                <a:solidFill>
                  <a:srgbClr val="FF0000"/>
                </a:solidFill>
                <a:latin typeface="Tw Cen MT" panose="020B0602020104020603" pitchFamily="34" charset="0"/>
              </a:rPr>
              <a:t>Algorithm (</a:t>
            </a:r>
            <a:r>
              <a:rPr lang="en-US" sz="3600" b="1" dirty="0" err="1" smtClean="0">
                <a:solidFill>
                  <a:srgbClr val="FF0000"/>
                </a:solidFill>
                <a:latin typeface="Tw Cen MT" panose="020B0602020104020603" pitchFamily="34" charset="0"/>
              </a:rPr>
              <a:t>cont</a:t>
            </a:r>
            <a:r>
              <a:rPr lang="en-US" sz="3600" b="1" dirty="0" smtClean="0">
                <a:solidFill>
                  <a:srgbClr val="FF0000"/>
                </a:solidFill>
                <a:latin typeface="Tw Cen MT" panose="020B0602020104020603" pitchFamily="34" charset="0"/>
              </a:rPr>
              <a:t>)</a:t>
            </a:r>
            <a:endParaRPr lang="en-US" sz="3600" b="1" dirty="0">
              <a:solidFill>
                <a:srgbClr val="FF0000"/>
              </a:solidFill>
              <a:latin typeface="Tw Cen MT" panose="020B0602020104020603" pitchFamily="34" charset="0"/>
            </a:endParaRPr>
          </a:p>
        </p:txBody>
      </p:sp>
      <p:sp>
        <p:nvSpPr>
          <p:cNvPr id="19461"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zh-CN" altLang="zh-CN" sz="1800">
              <a:latin typeface="Times New Roman" pitchFamily="18" charset="0"/>
              <a:ea typeface="SimSun" pitchFamily="2" charset="-122"/>
              <a:cs typeface="Times New Roman" pitchFamily="18" charset="0"/>
            </a:endParaRPr>
          </a:p>
        </p:txBody>
      </p:sp>
      <p:sp>
        <p:nvSpPr>
          <p:cNvPr id="6" name="Rectangle 3"/>
          <p:cNvSpPr txBox="1">
            <a:spLocks noChangeArrowheads="1"/>
          </p:cNvSpPr>
          <p:nvPr/>
        </p:nvSpPr>
        <p:spPr>
          <a:xfrm>
            <a:off x="838200" y="1905000"/>
            <a:ext cx="7666037" cy="2590800"/>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spcBef>
                <a:spcPts val="0"/>
              </a:spcBef>
              <a:spcAft>
                <a:spcPts val="1200"/>
              </a:spcAft>
            </a:pPr>
            <a:r>
              <a:rPr lang="en-AU" sz="2600" kern="0" dirty="0" smtClean="0">
                <a:solidFill>
                  <a:schemeClr val="tx1"/>
                </a:solidFill>
                <a:latin typeface="Tw Cen MT" panose="020B0602020104020603" pitchFamily="34" charset="0"/>
              </a:rPr>
              <a:t>Both sender and receiver must know the value of </a:t>
            </a:r>
            <a:r>
              <a:rPr lang="en-AU" sz="2600" i="1" kern="0" dirty="0" smtClean="0">
                <a:solidFill>
                  <a:schemeClr val="tx1"/>
                </a:solidFill>
                <a:latin typeface="Tw Cen MT" panose="020B0602020104020603" pitchFamily="34" charset="0"/>
              </a:rPr>
              <a:t>n</a:t>
            </a:r>
          </a:p>
          <a:p>
            <a:pPr algn="just">
              <a:spcBef>
                <a:spcPts val="0"/>
              </a:spcBef>
              <a:spcAft>
                <a:spcPts val="1200"/>
              </a:spcAft>
            </a:pPr>
            <a:r>
              <a:rPr lang="en-AU" sz="2600" kern="0" dirty="0" smtClean="0">
                <a:solidFill>
                  <a:schemeClr val="tx1"/>
                </a:solidFill>
                <a:latin typeface="Tw Cen MT" panose="020B0602020104020603" pitchFamily="34" charset="0"/>
              </a:rPr>
              <a:t>The sender knows the value of </a:t>
            </a:r>
            <a:r>
              <a:rPr lang="en-AU" sz="2600" i="1" kern="0" dirty="0" smtClean="0">
                <a:solidFill>
                  <a:schemeClr val="tx1"/>
                </a:solidFill>
                <a:latin typeface="Tw Cen MT" panose="020B0602020104020603" pitchFamily="34" charset="0"/>
              </a:rPr>
              <a:t>e, </a:t>
            </a:r>
            <a:r>
              <a:rPr lang="en-AU" sz="2600" kern="0" dirty="0" smtClean="0">
                <a:solidFill>
                  <a:schemeClr val="tx1"/>
                </a:solidFill>
                <a:latin typeface="Tw Cen MT" panose="020B0602020104020603" pitchFamily="34" charset="0"/>
              </a:rPr>
              <a:t>and only the receiver knows the value of </a:t>
            </a:r>
            <a:r>
              <a:rPr lang="en-AU" sz="2600" i="1" kern="0" dirty="0" smtClean="0">
                <a:solidFill>
                  <a:schemeClr val="tx1"/>
                </a:solidFill>
                <a:latin typeface="Tw Cen MT" panose="020B0602020104020603" pitchFamily="34" charset="0"/>
              </a:rPr>
              <a:t>d</a:t>
            </a:r>
          </a:p>
          <a:p>
            <a:pPr algn="just">
              <a:spcBef>
                <a:spcPts val="0"/>
              </a:spcBef>
              <a:spcAft>
                <a:spcPts val="1200"/>
              </a:spcAft>
              <a:defRPr/>
            </a:pPr>
            <a:r>
              <a:rPr lang="en-AU" sz="2600" kern="0" dirty="0" smtClean="0">
                <a:solidFill>
                  <a:schemeClr val="tx1"/>
                </a:solidFill>
                <a:latin typeface="Tw Cen MT" panose="020B0602020104020603" pitchFamily="34" charset="0"/>
              </a:rPr>
              <a:t>This is a public-key encryption algorithm with a public key of </a:t>
            </a:r>
            <a:r>
              <a:rPr lang="en-AU" sz="2600" i="1" kern="0" dirty="0" smtClean="0">
                <a:solidFill>
                  <a:schemeClr val="tx1"/>
                </a:solidFill>
                <a:latin typeface="Tw Cen MT" panose="020B0602020104020603" pitchFamily="34" charset="0"/>
              </a:rPr>
              <a:t>PU={</a:t>
            </a:r>
            <a:r>
              <a:rPr lang="en-AU" sz="2600" i="1" kern="0" dirty="0" err="1" smtClean="0">
                <a:solidFill>
                  <a:schemeClr val="tx1"/>
                </a:solidFill>
                <a:latin typeface="Tw Cen MT" panose="020B0602020104020603" pitchFamily="34" charset="0"/>
              </a:rPr>
              <a:t>e,n</a:t>
            </a:r>
            <a:r>
              <a:rPr lang="en-AU" sz="2600" i="1" kern="0" dirty="0" smtClean="0">
                <a:solidFill>
                  <a:schemeClr val="tx1"/>
                </a:solidFill>
                <a:latin typeface="Tw Cen MT" panose="020B0602020104020603" pitchFamily="34" charset="0"/>
              </a:rPr>
              <a:t>}</a:t>
            </a:r>
            <a:r>
              <a:rPr lang="en-AU" sz="2600" kern="0" dirty="0" smtClean="0">
                <a:solidFill>
                  <a:schemeClr val="tx1"/>
                </a:solidFill>
                <a:latin typeface="Tw Cen MT" panose="020B0602020104020603" pitchFamily="34" charset="0"/>
              </a:rPr>
              <a:t> and a private key of </a:t>
            </a:r>
            <a:r>
              <a:rPr lang="en-AU" sz="2600" i="1" kern="0" dirty="0" smtClean="0">
                <a:solidFill>
                  <a:schemeClr val="tx1"/>
                </a:solidFill>
                <a:latin typeface="Tw Cen MT" panose="020B0602020104020603" pitchFamily="34" charset="0"/>
              </a:rPr>
              <a:t>PR={</a:t>
            </a:r>
            <a:r>
              <a:rPr lang="en-AU" sz="2600" i="1" kern="0" dirty="0" err="1" smtClean="0">
                <a:solidFill>
                  <a:schemeClr val="tx1"/>
                </a:solidFill>
                <a:latin typeface="Tw Cen MT" panose="020B0602020104020603" pitchFamily="34" charset="0"/>
              </a:rPr>
              <a:t>d,n</a:t>
            </a:r>
            <a:r>
              <a:rPr lang="en-AU" sz="2600" i="1" kern="0" dirty="0" smtClean="0">
                <a:solidFill>
                  <a:schemeClr val="tx1"/>
                </a:solidFill>
                <a:latin typeface="Tw Cen MT" panose="020B0602020104020603" pitchFamily="34" charset="0"/>
              </a:rPr>
              <a:t>} </a:t>
            </a:r>
          </a:p>
          <a:p>
            <a:endParaRPr lang="en-AU" sz="2811" kern="0" dirty="0" smtClean="0"/>
          </a:p>
        </p:txBody>
      </p:sp>
    </p:spTree>
    <p:extLst>
      <p:ext uri="{BB962C8B-B14F-4D97-AF65-F5344CB8AC3E}">
        <p14:creationId xmlns:p14="http://schemas.microsoft.com/office/powerpoint/2010/main" val="357643205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p:spPr>
        <p:txBody>
          <a:bodyPr/>
          <a:lstStyle/>
          <a:p>
            <a:fld id="{B5071C0A-57AA-4DBF-BC31-03CFA7E159DF}" type="slidenum">
              <a:rPr lang="en-US" altLang="zh-CN" smtClean="0">
                <a:latin typeface="Times New Roman" pitchFamily="18" charset="0"/>
                <a:cs typeface="Times New Roman" pitchFamily="18" charset="0"/>
              </a:rPr>
              <a:pPr/>
              <a:t>27</a:t>
            </a:fld>
            <a:endParaRPr lang="en-US" altLang="zh-CN" dirty="0">
              <a:latin typeface="Times New Roman" pitchFamily="18" charset="0"/>
              <a:cs typeface="Times New Roman" pitchFamily="18" charset="0"/>
            </a:endParaRPr>
          </a:p>
        </p:txBody>
      </p:sp>
      <p:sp>
        <p:nvSpPr>
          <p:cNvPr id="858115" name="Text Box 3"/>
          <p:cNvSpPr txBox="1">
            <a:spLocks noChangeArrowheads="1"/>
          </p:cNvSpPr>
          <p:nvPr/>
        </p:nvSpPr>
        <p:spPr bwMode="auto">
          <a:xfrm>
            <a:off x="1600200" y="533400"/>
            <a:ext cx="5898089" cy="646331"/>
          </a:xfrm>
          <a:prstGeom prst="rect">
            <a:avLst/>
          </a:prstGeom>
          <a:noFill/>
          <a:ln w="9525">
            <a:noFill/>
            <a:miter lim="800000"/>
            <a:headEnd/>
            <a:tailEnd/>
          </a:ln>
          <a:effectLst/>
        </p:spPr>
        <p:txBody>
          <a:bodyPr wrap="none">
            <a:spAutoFit/>
          </a:bodyPr>
          <a:lstStyle/>
          <a:p>
            <a:pPr>
              <a:defRPr/>
            </a:pPr>
            <a:r>
              <a:rPr lang="en-US" dirty="0" smtClean="0">
                <a:latin typeface="Tw Cen MT" panose="020B0602020104020603" pitchFamily="34" charset="0"/>
              </a:rPr>
              <a:t>  </a:t>
            </a:r>
            <a:r>
              <a:rPr lang="en-US" sz="3600" b="1" dirty="0">
                <a:solidFill>
                  <a:srgbClr val="FF0000"/>
                </a:solidFill>
                <a:latin typeface="Tw Cen MT" panose="020B0602020104020603" pitchFamily="34" charset="0"/>
              </a:rPr>
              <a:t>RSA </a:t>
            </a:r>
            <a:r>
              <a:rPr lang="en-US" sz="3600" b="1" dirty="0" smtClean="0">
                <a:solidFill>
                  <a:srgbClr val="FF0000"/>
                </a:solidFill>
                <a:latin typeface="Tw Cen MT" panose="020B0602020104020603" pitchFamily="34" charset="0"/>
              </a:rPr>
              <a:t>Algorithm Requirements</a:t>
            </a:r>
            <a:endParaRPr lang="en-US" sz="3600" b="1" dirty="0">
              <a:solidFill>
                <a:srgbClr val="FF0000"/>
              </a:solidFill>
              <a:latin typeface="Tw Cen MT" panose="020B0602020104020603" pitchFamily="34" charset="0"/>
            </a:endParaRPr>
          </a:p>
        </p:txBody>
      </p:sp>
      <p:sp>
        <p:nvSpPr>
          <p:cNvPr id="19461"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zh-CN" altLang="zh-CN" sz="1800">
              <a:latin typeface="Times New Roman" pitchFamily="18" charset="0"/>
              <a:ea typeface="SimSun" pitchFamily="2" charset="-122"/>
              <a:cs typeface="Times New Roman" pitchFamily="18" charset="0"/>
            </a:endParaRPr>
          </a:p>
        </p:txBody>
      </p:sp>
      <p:sp>
        <p:nvSpPr>
          <p:cNvPr id="8" name="Rectangle 3"/>
          <p:cNvSpPr txBox="1">
            <a:spLocks noChangeArrowheads="1"/>
          </p:cNvSpPr>
          <p:nvPr/>
        </p:nvSpPr>
        <p:spPr>
          <a:xfrm>
            <a:off x="685800" y="1676400"/>
            <a:ext cx="7570787" cy="3581400"/>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lnSpc>
                <a:spcPct val="80000"/>
              </a:lnSpc>
            </a:pPr>
            <a:r>
              <a:rPr lang="en-US" kern="0" dirty="0" smtClean="0">
                <a:latin typeface="Tw Cen MT" panose="020B0602020104020603" pitchFamily="34" charset="0"/>
              </a:rPr>
              <a:t> For this algorithm to be satisfactory for public-key encryption, the following requirements must be met:</a:t>
            </a:r>
          </a:p>
          <a:p>
            <a:pPr algn="just">
              <a:lnSpc>
                <a:spcPct val="80000"/>
              </a:lnSpc>
            </a:pPr>
            <a:endParaRPr lang="en-US" kern="0" dirty="0" smtClean="0">
              <a:solidFill>
                <a:schemeClr val="tx1"/>
              </a:solidFill>
              <a:latin typeface="Tw Cen MT" panose="020B0602020104020603" pitchFamily="34" charset="0"/>
            </a:endParaRPr>
          </a:p>
          <a:p>
            <a:pPr algn="just">
              <a:spcBef>
                <a:spcPts val="0"/>
              </a:spcBef>
              <a:spcAft>
                <a:spcPts val="1200"/>
              </a:spcAft>
              <a:buFontTx/>
              <a:buNone/>
            </a:pP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1.  It is possible to find values of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e, d, n</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such that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M</a:t>
            </a:r>
            <a:r>
              <a:rPr lang="en-US" i="1" kern="0" baseline="30000" dirty="0" smtClean="0">
                <a:solidFill>
                  <a:schemeClr val="tx1"/>
                </a:solidFill>
                <a:latin typeface="Tw Cen MT" panose="020B0602020104020603" pitchFamily="34" charset="0"/>
                <a:ea typeface="ＭＳ Ｐゴシック" pitchFamily="-107" charset="-128"/>
                <a:cs typeface="ＭＳ Ｐゴシック" pitchFamily="-107" charset="-128"/>
              </a:rPr>
              <a:t>ed</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mod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n</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M</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for all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M</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&lt;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n</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a:t>
            </a:r>
          </a:p>
          <a:p>
            <a:pPr algn="just">
              <a:spcBef>
                <a:spcPts val="0"/>
              </a:spcBef>
              <a:spcAft>
                <a:spcPts val="1200"/>
              </a:spcAft>
              <a:buFontTx/>
              <a:buNone/>
            </a:pP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2.  It is relatively easy to calculate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M</a:t>
            </a:r>
            <a:r>
              <a:rPr lang="en-US" i="1" kern="0" baseline="30000" dirty="0" smtClean="0">
                <a:solidFill>
                  <a:schemeClr val="tx1"/>
                </a:solidFill>
                <a:latin typeface="Tw Cen MT" panose="020B0602020104020603" pitchFamily="34" charset="0"/>
                <a:ea typeface="ＭＳ Ｐゴシック" pitchFamily="-107" charset="-128"/>
                <a:cs typeface="ＭＳ Ｐゴシック" pitchFamily="-107" charset="-128"/>
              </a:rPr>
              <a:t>e</a:t>
            </a:r>
            <a:r>
              <a:rPr lang="en-US" kern="0" baseline="30000" dirty="0" smtClean="0">
                <a:solidFill>
                  <a:schemeClr val="tx1"/>
                </a:solidFill>
                <a:latin typeface="Tw Cen MT" panose="020B0602020104020603" pitchFamily="34" charset="0"/>
                <a:ea typeface="ＭＳ Ｐゴシック" pitchFamily="-107" charset="-128"/>
                <a:cs typeface="ＭＳ Ｐゴシック" pitchFamily="-107" charset="-128"/>
              </a:rPr>
              <a:t> </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mod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n</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and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C</a:t>
            </a:r>
            <a:r>
              <a:rPr lang="en-US" i="1" kern="0" baseline="30000" dirty="0" smtClean="0">
                <a:solidFill>
                  <a:schemeClr val="tx1"/>
                </a:solidFill>
                <a:latin typeface="Tw Cen MT" panose="020B0602020104020603" pitchFamily="34" charset="0"/>
                <a:ea typeface="ＭＳ Ｐゴシック" pitchFamily="-107" charset="-128"/>
                <a:cs typeface="ＭＳ Ｐゴシック" pitchFamily="-107" charset="-128"/>
              </a:rPr>
              <a:t>d</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mod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n</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for all values of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M &lt; n </a:t>
            </a:r>
          </a:p>
          <a:p>
            <a:pPr algn="just">
              <a:spcBef>
                <a:spcPts val="0"/>
              </a:spcBef>
              <a:spcAft>
                <a:spcPts val="1200"/>
              </a:spcAft>
              <a:buFontTx/>
              <a:buNone/>
            </a:pP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3.  It is infeasible to determine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d</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given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e</a:t>
            </a:r>
            <a:r>
              <a:rPr lang="en-US" kern="0" dirty="0" smtClean="0">
                <a:solidFill>
                  <a:schemeClr val="tx1"/>
                </a:solidFill>
                <a:latin typeface="Tw Cen MT" panose="020B0602020104020603" pitchFamily="34" charset="0"/>
                <a:ea typeface="ＭＳ Ｐゴシック" pitchFamily="-107" charset="-128"/>
                <a:cs typeface="ＭＳ Ｐゴシック" pitchFamily="-107" charset="-128"/>
              </a:rPr>
              <a:t>  	  	      	     and </a:t>
            </a:r>
            <a:r>
              <a:rPr lang="en-US" i="1" kern="0" dirty="0" smtClean="0">
                <a:solidFill>
                  <a:schemeClr val="tx1"/>
                </a:solidFill>
                <a:latin typeface="Tw Cen MT" panose="020B0602020104020603" pitchFamily="34" charset="0"/>
                <a:ea typeface="ＭＳ Ｐゴシック" pitchFamily="-107" charset="-128"/>
                <a:cs typeface="ＭＳ Ｐゴシック" pitchFamily="-107" charset="-128"/>
              </a:rPr>
              <a:t>n</a:t>
            </a:r>
            <a:endParaRPr lang="en-AU" i="1" kern="0" dirty="0" smtClean="0">
              <a:solidFill>
                <a:schemeClr val="tx1"/>
              </a:solidFill>
              <a:latin typeface="Tw Cen MT" panose="020B0602020104020603" pitchFamily="34" charset="0"/>
            </a:endParaRPr>
          </a:p>
          <a:p>
            <a:endParaRPr lang="en-AU" kern="0" dirty="0"/>
          </a:p>
        </p:txBody>
      </p:sp>
    </p:spTree>
    <p:extLst>
      <p:ext uri="{BB962C8B-B14F-4D97-AF65-F5344CB8AC3E}">
        <p14:creationId xmlns:p14="http://schemas.microsoft.com/office/powerpoint/2010/main" val="33222911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629400" y="6381750"/>
            <a:ext cx="2133600" cy="476250"/>
          </a:xfrm>
        </p:spPr>
        <p:txBody>
          <a:bodyPr/>
          <a:lstStyle/>
          <a:p>
            <a:pPr>
              <a:defRPr/>
            </a:pPr>
            <a:fld id="{CD1AD4A7-0882-4109-99AA-A63B3268F595}" type="slidenum">
              <a:rPr lang="en-US" smtClean="0"/>
              <a:pPr>
                <a:defRPr/>
              </a:pPr>
              <a:t>28</a:t>
            </a:fld>
            <a:endParaRPr lang="en-US" dirty="0"/>
          </a:p>
        </p:txBody>
      </p:sp>
      <p:grpSp>
        <p:nvGrpSpPr>
          <p:cNvPr id="7" name="Group 6"/>
          <p:cNvGrpSpPr/>
          <p:nvPr/>
        </p:nvGrpSpPr>
        <p:grpSpPr>
          <a:xfrm>
            <a:off x="381000" y="304800"/>
            <a:ext cx="8551985" cy="6032351"/>
            <a:chOff x="457200" y="228600"/>
            <a:chExt cx="8551985" cy="6032351"/>
          </a:xfrm>
        </p:grpSpPr>
        <p:pic>
          <p:nvPicPr>
            <p:cNvPr id="4" name="Picture 3"/>
            <p:cNvPicPr>
              <a:picLocks noChangeAspect="1"/>
            </p:cNvPicPr>
            <p:nvPr/>
          </p:nvPicPr>
          <p:blipFill>
            <a:blip r:embed="rId2"/>
            <a:stretch>
              <a:fillRect/>
            </a:stretch>
          </p:blipFill>
          <p:spPr>
            <a:xfrm>
              <a:off x="457200" y="228600"/>
              <a:ext cx="8543925" cy="3190453"/>
            </a:xfrm>
            <a:prstGeom prst="rect">
              <a:avLst/>
            </a:prstGeom>
          </p:spPr>
        </p:pic>
        <p:pic>
          <p:nvPicPr>
            <p:cNvPr id="5" name="Picture 4"/>
            <p:cNvPicPr>
              <a:picLocks noChangeAspect="1"/>
            </p:cNvPicPr>
            <p:nvPr/>
          </p:nvPicPr>
          <p:blipFill>
            <a:blip r:embed="rId3"/>
            <a:stretch>
              <a:fillRect/>
            </a:stretch>
          </p:blipFill>
          <p:spPr>
            <a:xfrm>
              <a:off x="457200" y="3505200"/>
              <a:ext cx="8548687" cy="1305084"/>
            </a:xfrm>
            <a:prstGeom prst="rect">
              <a:avLst/>
            </a:prstGeom>
          </p:spPr>
        </p:pic>
        <p:pic>
          <p:nvPicPr>
            <p:cNvPr id="6" name="Picture 5"/>
            <p:cNvPicPr>
              <a:picLocks noChangeAspect="1"/>
            </p:cNvPicPr>
            <p:nvPr/>
          </p:nvPicPr>
          <p:blipFill>
            <a:blip r:embed="rId4"/>
            <a:stretch>
              <a:fillRect/>
            </a:stretch>
          </p:blipFill>
          <p:spPr>
            <a:xfrm>
              <a:off x="457200" y="4953000"/>
              <a:ext cx="8551985" cy="1307951"/>
            </a:xfrm>
            <a:prstGeom prst="rect">
              <a:avLst/>
            </a:prstGeom>
          </p:spPr>
        </p:pic>
      </p:grpSp>
    </p:spTree>
    <p:extLst>
      <p:ext uri="{BB962C8B-B14F-4D97-AF65-F5344CB8AC3E}">
        <p14:creationId xmlns:p14="http://schemas.microsoft.com/office/powerpoint/2010/main" val="30209002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noFill/>
        </p:spPr>
        <p:txBody>
          <a:bodyPr/>
          <a:lstStyle/>
          <a:p>
            <a:fld id="{EF68B2E5-44ED-4840-B7F4-E5D29CDA428D}" type="slidenum">
              <a:rPr lang="en-US" altLang="zh-CN" smtClean="0">
                <a:latin typeface="Times New Roman" pitchFamily="18" charset="0"/>
                <a:cs typeface="Times New Roman" pitchFamily="18" charset="0"/>
              </a:rPr>
              <a:pPr/>
              <a:t>29</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3048000" y="533400"/>
            <a:ext cx="2896947" cy="646331"/>
          </a:xfrm>
          <a:prstGeom prst="rect">
            <a:avLst/>
          </a:prstGeom>
          <a:noFill/>
          <a:ln w="9525">
            <a:noFill/>
            <a:miter lim="800000"/>
            <a:headEnd/>
            <a:tailEnd/>
          </a:ln>
        </p:spPr>
        <p:txBody>
          <a:bodyPr wrap="none">
            <a:spAutoFit/>
          </a:bodyPr>
          <a:lstStyle/>
          <a:p>
            <a:r>
              <a:rPr lang="en-US" altLang="zh-CN" sz="3600" b="1" dirty="0" smtClean="0">
                <a:solidFill>
                  <a:srgbClr val="FF0000"/>
                </a:solidFill>
                <a:latin typeface="Tw Cen MT" panose="020B0602020104020603" pitchFamily="34" charset="0"/>
                <a:ea typeface="SimSun" pitchFamily="2" charset="-122"/>
                <a:cs typeface="Times New Roman" pitchFamily="18" charset="0"/>
              </a:rPr>
              <a:t>RSA: Example</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pic>
        <p:nvPicPr>
          <p:cNvPr id="2" name="Picture 1"/>
          <p:cNvPicPr>
            <a:picLocks noChangeAspect="1"/>
          </p:cNvPicPr>
          <p:nvPr/>
        </p:nvPicPr>
        <p:blipFill>
          <a:blip r:embed="rId3"/>
          <a:stretch>
            <a:fillRect/>
          </a:stretch>
        </p:blipFill>
        <p:spPr>
          <a:xfrm>
            <a:off x="514350" y="2181225"/>
            <a:ext cx="8115300" cy="2495550"/>
          </a:xfrm>
          <a:prstGeom prst="rect">
            <a:avLst/>
          </a:prstGeom>
        </p:spPr>
      </p:pic>
    </p:spTree>
    <p:extLst>
      <p:ext uri="{BB962C8B-B14F-4D97-AF65-F5344CB8AC3E}">
        <p14:creationId xmlns:p14="http://schemas.microsoft.com/office/powerpoint/2010/main" val="34982214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28600" y="457199"/>
            <a:ext cx="3276600" cy="5992565"/>
          </a:xfrm>
          <a:prstGeom prst="rect">
            <a:avLst/>
          </a:prstGeom>
        </p:spPr>
      </p:pic>
      <p:pic>
        <p:nvPicPr>
          <p:cNvPr id="5" name="Picture 4"/>
          <p:cNvPicPr>
            <a:picLocks noChangeAspect="1"/>
          </p:cNvPicPr>
          <p:nvPr/>
        </p:nvPicPr>
        <p:blipFill>
          <a:blip r:embed="rId4"/>
          <a:stretch>
            <a:fillRect/>
          </a:stretch>
        </p:blipFill>
        <p:spPr>
          <a:xfrm>
            <a:off x="4876800" y="304800"/>
            <a:ext cx="3915565" cy="5843042"/>
          </a:xfrm>
          <a:prstGeom prst="rect">
            <a:avLst/>
          </a:prstGeom>
        </p:spPr>
      </p:pic>
      <p:sp>
        <p:nvSpPr>
          <p:cNvPr id="20482" name="Slide Number Placeholder 1"/>
          <p:cNvSpPr>
            <a:spLocks noGrp="1"/>
          </p:cNvSpPr>
          <p:nvPr>
            <p:ph type="sldNum" sz="quarter" idx="10"/>
          </p:nvPr>
        </p:nvSpPr>
        <p:spPr>
          <a:xfrm>
            <a:off x="3657600" y="61722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30</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2057400" y="0"/>
            <a:ext cx="5361789" cy="523220"/>
          </a:xfrm>
          <a:prstGeom prst="rect">
            <a:avLst/>
          </a:prstGeom>
          <a:noFill/>
          <a:ln w="9525">
            <a:noFill/>
            <a:miter lim="800000"/>
            <a:headEnd/>
            <a:tailEnd/>
          </a:ln>
        </p:spPr>
        <p:txBody>
          <a:bodyPr wrap="none">
            <a:spAutoFit/>
          </a:bodyPr>
          <a:lstStyle/>
          <a:p>
            <a:r>
              <a:rPr lang="en-US" altLang="zh-CN" sz="2800" b="1" dirty="0" smtClean="0">
                <a:solidFill>
                  <a:srgbClr val="FF0000"/>
                </a:solidFill>
                <a:latin typeface="Tw Cen MT" panose="020B0602020104020603" pitchFamily="34" charset="0"/>
                <a:ea typeface="SimSun" pitchFamily="2" charset="-122"/>
                <a:cs typeface="Times New Roman" pitchFamily="18" charset="0"/>
              </a:rPr>
              <a:t>RSA: Processing of Multiple blocks</a:t>
            </a:r>
            <a:endParaRPr lang="en-US" altLang="zh-CN" sz="2800" b="1" dirty="0">
              <a:solidFill>
                <a:srgbClr val="FF0000"/>
              </a:solidFill>
              <a:latin typeface="Tw Cen MT" panose="020B0602020104020603" pitchFamily="34" charset="0"/>
              <a:ea typeface="SimSun" pitchFamily="2" charset="-122"/>
              <a:cs typeface="Times New Roman" pitchFamily="18" charset="0"/>
            </a:endParaRPr>
          </a:p>
        </p:txBody>
      </p:sp>
    </p:spTree>
    <p:extLst>
      <p:ext uri="{BB962C8B-B14F-4D97-AF65-F5344CB8AC3E}">
        <p14:creationId xmlns:p14="http://schemas.microsoft.com/office/powerpoint/2010/main" val="23136329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31</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990600" y="533400"/>
            <a:ext cx="7383368" cy="646331"/>
          </a:xfrm>
          <a:prstGeom prst="rect">
            <a:avLst/>
          </a:prstGeom>
          <a:noFill/>
          <a:ln w="9525">
            <a:noFill/>
            <a:miter lim="800000"/>
            <a:headEnd/>
            <a:tailEnd/>
          </a:ln>
        </p:spPr>
        <p:txBody>
          <a:bodyPr wrap="none">
            <a:spAutoFit/>
          </a:bodyPr>
          <a:lstStyle/>
          <a:p>
            <a:r>
              <a:rPr lang="en-US" altLang="zh-CN" sz="3600" b="1" dirty="0">
                <a:solidFill>
                  <a:srgbClr val="FF0000"/>
                </a:solidFill>
                <a:latin typeface="Tw Cen MT" panose="020B0602020104020603" pitchFamily="34" charset="0"/>
                <a:ea typeface="SimSun" pitchFamily="2" charset="-122"/>
                <a:cs typeface="Times New Roman" pitchFamily="18" charset="0"/>
              </a:rPr>
              <a:t>Exponentiation in Modular Arithmetic</a:t>
            </a:r>
          </a:p>
        </p:txBody>
      </p:sp>
      <p:sp>
        <p:nvSpPr>
          <p:cNvPr id="6" name="Rectangle 3"/>
          <p:cNvSpPr txBox="1">
            <a:spLocks noChangeArrowheads="1"/>
          </p:cNvSpPr>
          <p:nvPr/>
        </p:nvSpPr>
        <p:spPr>
          <a:xfrm>
            <a:off x="792163" y="1762125"/>
            <a:ext cx="7570787" cy="29622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spcBef>
                <a:spcPts val="0"/>
              </a:spcBef>
              <a:spcAft>
                <a:spcPts val="1200"/>
              </a:spcAft>
            </a:pPr>
            <a:r>
              <a:rPr lang="en-AU" kern="0" dirty="0" smtClean="0">
                <a:solidFill>
                  <a:schemeClr val="tx1"/>
                </a:solidFill>
                <a:latin typeface="Tw Cen MT" panose="020B0602020104020603" pitchFamily="34" charset="0"/>
              </a:rPr>
              <a:t>Both encryption and decryption in RSA involve raising an integer to an integer power, mod </a:t>
            </a:r>
            <a:r>
              <a:rPr lang="en-AU" i="1" kern="0" dirty="0" smtClean="0">
                <a:solidFill>
                  <a:schemeClr val="tx1"/>
                </a:solidFill>
                <a:latin typeface="Tw Cen MT" panose="020B0602020104020603" pitchFamily="34" charset="0"/>
              </a:rPr>
              <a:t>n</a:t>
            </a:r>
          </a:p>
          <a:p>
            <a:pPr algn="just">
              <a:spcBef>
                <a:spcPts val="0"/>
              </a:spcBef>
              <a:spcAft>
                <a:spcPts val="1200"/>
              </a:spcAft>
            </a:pPr>
            <a:r>
              <a:rPr lang="en-AU" kern="0" dirty="0" smtClean="0">
                <a:solidFill>
                  <a:schemeClr val="tx1"/>
                </a:solidFill>
                <a:latin typeface="Tw Cen MT" panose="020B0602020104020603" pitchFamily="34" charset="0"/>
              </a:rPr>
              <a:t>Can make use of a property of modular arithmetic:</a:t>
            </a:r>
          </a:p>
          <a:p>
            <a:pPr algn="just">
              <a:spcBef>
                <a:spcPts val="0"/>
              </a:spcBef>
              <a:spcAft>
                <a:spcPts val="1200"/>
              </a:spcAft>
              <a:buFontTx/>
              <a:buNone/>
            </a:pPr>
            <a:r>
              <a:rPr lang="en-AU" kern="0" dirty="0" smtClean="0">
                <a:solidFill>
                  <a:schemeClr val="tx1"/>
                </a:solidFill>
                <a:latin typeface="Tw Cen MT" panose="020B0602020104020603" pitchFamily="34" charset="0"/>
              </a:rPr>
              <a:t>	[(</a:t>
            </a:r>
            <a:r>
              <a:rPr lang="en-AU" i="1" kern="0" dirty="0" smtClean="0">
                <a:solidFill>
                  <a:schemeClr val="tx1"/>
                </a:solidFill>
                <a:latin typeface="Tw Cen MT" panose="020B0602020104020603" pitchFamily="34" charset="0"/>
              </a:rPr>
              <a:t>a </a:t>
            </a:r>
            <a:r>
              <a:rPr lang="en-AU" kern="0" dirty="0" smtClean="0">
                <a:solidFill>
                  <a:schemeClr val="tx1"/>
                </a:solidFill>
                <a:latin typeface="Tw Cen MT" panose="020B0602020104020603" pitchFamily="34" charset="0"/>
              </a:rPr>
              <a:t>mod </a:t>
            </a:r>
            <a:r>
              <a:rPr lang="en-AU" i="1" kern="0" dirty="0" smtClean="0">
                <a:solidFill>
                  <a:schemeClr val="tx1"/>
                </a:solidFill>
                <a:latin typeface="Tw Cen MT" panose="020B0602020104020603" pitchFamily="34" charset="0"/>
              </a:rPr>
              <a:t>n) x (b </a:t>
            </a:r>
            <a:r>
              <a:rPr lang="en-AU" kern="0" dirty="0" smtClean="0">
                <a:solidFill>
                  <a:schemeClr val="tx1"/>
                </a:solidFill>
                <a:latin typeface="Tw Cen MT" panose="020B0602020104020603" pitchFamily="34" charset="0"/>
              </a:rPr>
              <a:t>mod </a:t>
            </a:r>
            <a:r>
              <a:rPr lang="en-AU" i="1" kern="0" dirty="0" smtClean="0">
                <a:solidFill>
                  <a:schemeClr val="tx1"/>
                </a:solidFill>
                <a:latin typeface="Tw Cen MT" panose="020B0602020104020603" pitchFamily="34" charset="0"/>
              </a:rPr>
              <a:t>n)] </a:t>
            </a:r>
            <a:r>
              <a:rPr lang="en-AU" kern="0" dirty="0" smtClean="0">
                <a:solidFill>
                  <a:schemeClr val="tx1"/>
                </a:solidFill>
                <a:latin typeface="Tw Cen MT" panose="020B0602020104020603" pitchFamily="34" charset="0"/>
              </a:rPr>
              <a:t>mod </a:t>
            </a:r>
            <a:r>
              <a:rPr lang="en-AU" i="1" kern="0" dirty="0" smtClean="0">
                <a:solidFill>
                  <a:schemeClr val="tx1"/>
                </a:solidFill>
                <a:latin typeface="Tw Cen MT" panose="020B0602020104020603" pitchFamily="34" charset="0"/>
              </a:rPr>
              <a:t>n </a:t>
            </a:r>
            <a:r>
              <a:rPr lang="en-AU" kern="0" dirty="0" smtClean="0">
                <a:solidFill>
                  <a:schemeClr val="tx1"/>
                </a:solidFill>
                <a:latin typeface="Tw Cen MT" panose="020B0602020104020603" pitchFamily="34" charset="0"/>
              </a:rPr>
              <a:t>=(</a:t>
            </a:r>
            <a:r>
              <a:rPr lang="en-AU" i="1" kern="0" dirty="0" smtClean="0">
                <a:solidFill>
                  <a:schemeClr val="tx1"/>
                </a:solidFill>
                <a:latin typeface="Tw Cen MT" panose="020B0602020104020603" pitchFamily="34" charset="0"/>
              </a:rPr>
              <a:t>a x b) </a:t>
            </a:r>
            <a:r>
              <a:rPr lang="en-AU" kern="0" dirty="0" smtClean="0">
                <a:solidFill>
                  <a:schemeClr val="tx1"/>
                </a:solidFill>
                <a:latin typeface="Tw Cen MT" panose="020B0602020104020603" pitchFamily="34" charset="0"/>
              </a:rPr>
              <a:t>mod </a:t>
            </a:r>
            <a:r>
              <a:rPr lang="en-AU" i="1" kern="0" dirty="0" smtClean="0">
                <a:solidFill>
                  <a:schemeClr val="tx1"/>
                </a:solidFill>
                <a:latin typeface="Tw Cen MT" panose="020B0602020104020603" pitchFamily="34" charset="0"/>
              </a:rPr>
              <a:t>n</a:t>
            </a:r>
          </a:p>
          <a:p>
            <a:pPr algn="just">
              <a:spcBef>
                <a:spcPts val="0"/>
              </a:spcBef>
              <a:spcAft>
                <a:spcPts val="1200"/>
              </a:spcAft>
            </a:pPr>
            <a:r>
              <a:rPr lang="en-AU" kern="0" dirty="0" smtClean="0">
                <a:solidFill>
                  <a:schemeClr val="tx1"/>
                </a:solidFill>
                <a:latin typeface="Tw Cen MT" panose="020B0602020104020603" pitchFamily="34" charset="0"/>
              </a:rPr>
              <a:t>With RSA you are dealing with potentially large exponents so efficiency of exponentiation is a consideration</a:t>
            </a:r>
          </a:p>
          <a:p>
            <a:endParaRPr lang="en-AU" kern="0" dirty="0"/>
          </a:p>
        </p:txBody>
      </p:sp>
    </p:spTree>
    <p:extLst>
      <p:ext uri="{BB962C8B-B14F-4D97-AF65-F5344CB8AC3E}">
        <p14:creationId xmlns:p14="http://schemas.microsoft.com/office/powerpoint/2010/main" val="14742947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32</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990600" y="533400"/>
            <a:ext cx="7383368" cy="646331"/>
          </a:xfrm>
          <a:prstGeom prst="rect">
            <a:avLst/>
          </a:prstGeom>
          <a:noFill/>
          <a:ln w="9525">
            <a:noFill/>
            <a:miter lim="800000"/>
            <a:headEnd/>
            <a:tailEnd/>
          </a:ln>
        </p:spPr>
        <p:txBody>
          <a:bodyPr wrap="none">
            <a:spAutoFit/>
          </a:bodyPr>
          <a:lstStyle/>
          <a:p>
            <a:r>
              <a:rPr lang="en-US" altLang="zh-CN" sz="3600" b="1" dirty="0">
                <a:solidFill>
                  <a:srgbClr val="FF0000"/>
                </a:solidFill>
                <a:latin typeface="Tw Cen MT" panose="020B0602020104020603" pitchFamily="34" charset="0"/>
                <a:ea typeface="SimSun" pitchFamily="2" charset="-122"/>
                <a:cs typeface="Times New Roman" pitchFamily="18" charset="0"/>
              </a:rPr>
              <a:t>Exponentiation in Modular Arithmetic</a:t>
            </a:r>
          </a:p>
        </p:txBody>
      </p:sp>
      <p:pic>
        <p:nvPicPr>
          <p:cNvPr id="2" name="Picture 1"/>
          <p:cNvPicPr>
            <a:picLocks noChangeAspect="1"/>
          </p:cNvPicPr>
          <p:nvPr/>
        </p:nvPicPr>
        <p:blipFill>
          <a:blip r:embed="rId3"/>
          <a:stretch>
            <a:fillRect/>
          </a:stretch>
        </p:blipFill>
        <p:spPr>
          <a:xfrm>
            <a:off x="3048000" y="1371600"/>
            <a:ext cx="1866900" cy="695325"/>
          </a:xfrm>
          <a:prstGeom prst="rect">
            <a:avLst/>
          </a:prstGeom>
        </p:spPr>
      </p:pic>
      <p:pic>
        <p:nvPicPr>
          <p:cNvPr id="3" name="Picture 2"/>
          <p:cNvPicPr>
            <a:picLocks noChangeAspect="1"/>
          </p:cNvPicPr>
          <p:nvPr/>
        </p:nvPicPr>
        <p:blipFill>
          <a:blip r:embed="rId4"/>
          <a:stretch>
            <a:fillRect/>
          </a:stretch>
        </p:blipFill>
        <p:spPr>
          <a:xfrm>
            <a:off x="381000" y="2438400"/>
            <a:ext cx="8515350" cy="534203"/>
          </a:xfrm>
          <a:prstGeom prst="rect">
            <a:avLst/>
          </a:prstGeom>
        </p:spPr>
      </p:pic>
      <p:pic>
        <p:nvPicPr>
          <p:cNvPr id="4" name="Picture 3"/>
          <p:cNvPicPr>
            <a:picLocks noChangeAspect="1"/>
          </p:cNvPicPr>
          <p:nvPr/>
        </p:nvPicPr>
        <p:blipFill>
          <a:blip r:embed="rId5"/>
          <a:stretch>
            <a:fillRect/>
          </a:stretch>
        </p:blipFill>
        <p:spPr>
          <a:xfrm>
            <a:off x="2743200" y="3200400"/>
            <a:ext cx="2190750" cy="1133475"/>
          </a:xfrm>
          <a:prstGeom prst="rect">
            <a:avLst/>
          </a:prstGeom>
        </p:spPr>
      </p:pic>
      <p:pic>
        <p:nvPicPr>
          <p:cNvPr id="5" name="Picture 4"/>
          <p:cNvPicPr>
            <a:picLocks noChangeAspect="1"/>
          </p:cNvPicPr>
          <p:nvPr/>
        </p:nvPicPr>
        <p:blipFill>
          <a:blip r:embed="rId6"/>
          <a:stretch>
            <a:fillRect/>
          </a:stretch>
        </p:blipFill>
        <p:spPr>
          <a:xfrm>
            <a:off x="2209800" y="4724400"/>
            <a:ext cx="4638675" cy="1866900"/>
          </a:xfrm>
          <a:prstGeom prst="rect">
            <a:avLst/>
          </a:prstGeom>
        </p:spPr>
      </p:pic>
      <p:pic>
        <p:nvPicPr>
          <p:cNvPr id="7" name="Picture 6"/>
          <p:cNvPicPr>
            <a:picLocks noChangeAspect="1"/>
          </p:cNvPicPr>
          <p:nvPr/>
        </p:nvPicPr>
        <p:blipFill>
          <a:blip r:embed="rId7"/>
          <a:stretch>
            <a:fillRect/>
          </a:stretch>
        </p:blipFill>
        <p:spPr>
          <a:xfrm>
            <a:off x="381000" y="4267200"/>
            <a:ext cx="2133600" cy="542925"/>
          </a:xfrm>
          <a:prstGeom prst="rect">
            <a:avLst/>
          </a:prstGeom>
        </p:spPr>
      </p:pic>
    </p:spTree>
    <p:extLst>
      <p:ext uri="{BB962C8B-B14F-4D97-AF65-F5344CB8AC3E}">
        <p14:creationId xmlns:p14="http://schemas.microsoft.com/office/powerpoint/2010/main" val="14177608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33</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1143000" y="381000"/>
            <a:ext cx="6782562" cy="646331"/>
          </a:xfrm>
          <a:prstGeom prst="rect">
            <a:avLst/>
          </a:prstGeom>
          <a:noFill/>
          <a:ln w="9525">
            <a:noFill/>
            <a:miter lim="800000"/>
            <a:headEnd/>
            <a:tailEnd/>
          </a:ln>
        </p:spPr>
        <p:txBody>
          <a:bodyPr wrap="none">
            <a:spAutoFit/>
          </a:bodyPr>
          <a:lstStyle/>
          <a:p>
            <a:r>
              <a:rPr lang="en-GB" sz="3600" b="1" dirty="0">
                <a:solidFill>
                  <a:srgbClr val="FF0000"/>
                </a:solidFill>
                <a:latin typeface="Tw Cen MT" panose="020B0602020104020603" pitchFamily="34" charset="0"/>
              </a:rPr>
              <a:t>Algorithm for Computing </a:t>
            </a:r>
            <a:r>
              <a:rPr lang="en-GB" sz="3600" b="1" i="1" dirty="0" err="1">
                <a:solidFill>
                  <a:srgbClr val="FF0000"/>
                </a:solidFill>
                <a:latin typeface="Tw Cen MT" panose="020B0602020104020603" pitchFamily="34" charset="0"/>
              </a:rPr>
              <a:t>a</a:t>
            </a:r>
            <a:r>
              <a:rPr lang="en-GB" sz="3600" b="1" i="1" baseline="30000" dirty="0" err="1">
                <a:solidFill>
                  <a:srgbClr val="FF0000"/>
                </a:solidFill>
                <a:latin typeface="Tw Cen MT" panose="020B0602020104020603" pitchFamily="34" charset="0"/>
              </a:rPr>
              <a:t>b</a:t>
            </a:r>
            <a:r>
              <a:rPr lang="en-GB" sz="3600" b="1" i="1" dirty="0">
                <a:solidFill>
                  <a:srgbClr val="FF0000"/>
                </a:solidFill>
                <a:latin typeface="Tw Cen MT" panose="020B0602020104020603" pitchFamily="34" charset="0"/>
              </a:rPr>
              <a:t> </a:t>
            </a:r>
            <a:r>
              <a:rPr lang="en-GB" sz="3600" b="1" dirty="0">
                <a:solidFill>
                  <a:srgbClr val="FF0000"/>
                </a:solidFill>
                <a:latin typeface="Tw Cen MT" panose="020B0602020104020603" pitchFamily="34" charset="0"/>
              </a:rPr>
              <a:t>mod </a:t>
            </a:r>
            <a:r>
              <a:rPr lang="en-GB" sz="3600" b="1" i="1" dirty="0">
                <a:solidFill>
                  <a:srgbClr val="FF0000"/>
                </a:solidFill>
                <a:latin typeface="Tw Cen MT" panose="020B0602020104020603" pitchFamily="34" charset="0"/>
              </a:rPr>
              <a:t>n</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pic>
        <p:nvPicPr>
          <p:cNvPr id="6" name="Picture 5"/>
          <p:cNvPicPr>
            <a:picLocks noChangeAspect="1"/>
          </p:cNvPicPr>
          <p:nvPr/>
        </p:nvPicPr>
        <p:blipFill>
          <a:blip r:embed="rId3"/>
          <a:stretch>
            <a:fillRect/>
          </a:stretch>
        </p:blipFill>
        <p:spPr>
          <a:xfrm>
            <a:off x="762000" y="1295400"/>
            <a:ext cx="7853362" cy="980819"/>
          </a:xfrm>
          <a:prstGeom prst="rect">
            <a:avLst/>
          </a:prstGeom>
        </p:spPr>
      </p:pic>
      <p:pic>
        <p:nvPicPr>
          <p:cNvPr id="8" name="Picture 7"/>
          <p:cNvPicPr>
            <a:picLocks noChangeAspect="1"/>
          </p:cNvPicPr>
          <p:nvPr/>
        </p:nvPicPr>
        <p:blipFill>
          <a:blip r:embed="rId4"/>
          <a:stretch>
            <a:fillRect/>
          </a:stretch>
        </p:blipFill>
        <p:spPr>
          <a:xfrm>
            <a:off x="3657600" y="2362200"/>
            <a:ext cx="4819650" cy="3857625"/>
          </a:xfrm>
          <a:prstGeom prst="rect">
            <a:avLst/>
          </a:prstGeom>
        </p:spPr>
      </p:pic>
      <p:sp>
        <p:nvSpPr>
          <p:cNvPr id="9" name="Rectangle 8"/>
          <p:cNvSpPr/>
          <p:nvPr/>
        </p:nvSpPr>
        <p:spPr>
          <a:xfrm>
            <a:off x="304800" y="3200400"/>
            <a:ext cx="3124200" cy="1754326"/>
          </a:xfrm>
          <a:prstGeom prst="rect">
            <a:avLst/>
          </a:prstGeom>
        </p:spPr>
        <p:txBody>
          <a:bodyPr wrap="square">
            <a:spAutoFit/>
          </a:bodyPr>
          <a:lstStyle/>
          <a:p>
            <a:r>
              <a:rPr lang="en-GB" dirty="0">
                <a:latin typeface="Tw Cen MT" panose="020B0602020104020603" pitchFamily="34" charset="0"/>
              </a:rPr>
              <a:t>Note that</a:t>
            </a:r>
          </a:p>
          <a:p>
            <a:r>
              <a:rPr lang="en-GB" dirty="0">
                <a:latin typeface="Tw Cen MT" panose="020B0602020104020603" pitchFamily="34" charset="0"/>
              </a:rPr>
              <a:t>the variable </a:t>
            </a:r>
            <a:r>
              <a:rPr lang="en-GB" i="1" dirty="0">
                <a:latin typeface="Tw Cen MT" panose="020B0602020104020603" pitchFamily="34" charset="0"/>
              </a:rPr>
              <a:t>c </a:t>
            </a:r>
            <a:r>
              <a:rPr lang="en-GB" dirty="0">
                <a:latin typeface="Tw Cen MT" panose="020B0602020104020603" pitchFamily="34" charset="0"/>
              </a:rPr>
              <a:t>is not needed; it is included for explanatory purposes. The final value</a:t>
            </a:r>
          </a:p>
          <a:p>
            <a:r>
              <a:rPr lang="en-GB" dirty="0">
                <a:latin typeface="Tw Cen MT" panose="020B0602020104020603" pitchFamily="34" charset="0"/>
              </a:rPr>
              <a:t>of </a:t>
            </a:r>
            <a:r>
              <a:rPr lang="en-GB" i="1" dirty="0">
                <a:latin typeface="Tw Cen MT" panose="020B0602020104020603" pitchFamily="34" charset="0"/>
              </a:rPr>
              <a:t>c </a:t>
            </a:r>
            <a:r>
              <a:rPr lang="en-GB" dirty="0">
                <a:latin typeface="Tw Cen MT" panose="020B0602020104020603" pitchFamily="34" charset="0"/>
              </a:rPr>
              <a:t>is the value of the exponent.</a:t>
            </a:r>
          </a:p>
        </p:txBody>
      </p:sp>
      <p:pic>
        <p:nvPicPr>
          <p:cNvPr id="11" name="Picture 10"/>
          <p:cNvPicPr>
            <a:picLocks noChangeAspect="1"/>
          </p:cNvPicPr>
          <p:nvPr/>
        </p:nvPicPr>
        <p:blipFill>
          <a:blip r:embed="rId5"/>
          <a:stretch>
            <a:fillRect/>
          </a:stretch>
        </p:blipFill>
        <p:spPr>
          <a:xfrm>
            <a:off x="533400" y="5257800"/>
            <a:ext cx="2514600" cy="306542"/>
          </a:xfrm>
          <a:prstGeom prst="rect">
            <a:avLst/>
          </a:prstGeom>
        </p:spPr>
      </p:pic>
    </p:spTree>
    <p:extLst>
      <p:ext uri="{BB962C8B-B14F-4D97-AF65-F5344CB8AC3E}">
        <p14:creationId xmlns:p14="http://schemas.microsoft.com/office/powerpoint/2010/main" val="26720696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34</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1143000" y="381000"/>
            <a:ext cx="6782562" cy="646331"/>
          </a:xfrm>
          <a:prstGeom prst="rect">
            <a:avLst/>
          </a:prstGeom>
          <a:noFill/>
          <a:ln w="9525">
            <a:noFill/>
            <a:miter lim="800000"/>
            <a:headEnd/>
            <a:tailEnd/>
          </a:ln>
        </p:spPr>
        <p:txBody>
          <a:bodyPr wrap="none">
            <a:spAutoFit/>
          </a:bodyPr>
          <a:lstStyle/>
          <a:p>
            <a:r>
              <a:rPr lang="en-GB" sz="3600" b="1" dirty="0">
                <a:solidFill>
                  <a:srgbClr val="FF0000"/>
                </a:solidFill>
                <a:latin typeface="Tw Cen MT" panose="020B0602020104020603" pitchFamily="34" charset="0"/>
              </a:rPr>
              <a:t>Algorithm for Computing </a:t>
            </a:r>
            <a:r>
              <a:rPr lang="en-GB" sz="3600" b="1" i="1" dirty="0" err="1">
                <a:solidFill>
                  <a:srgbClr val="FF0000"/>
                </a:solidFill>
                <a:latin typeface="Tw Cen MT" panose="020B0602020104020603" pitchFamily="34" charset="0"/>
              </a:rPr>
              <a:t>a</a:t>
            </a:r>
            <a:r>
              <a:rPr lang="en-GB" sz="3600" b="1" i="1" baseline="30000" dirty="0" err="1">
                <a:solidFill>
                  <a:srgbClr val="FF0000"/>
                </a:solidFill>
                <a:latin typeface="Tw Cen MT" panose="020B0602020104020603" pitchFamily="34" charset="0"/>
              </a:rPr>
              <a:t>b</a:t>
            </a:r>
            <a:r>
              <a:rPr lang="en-GB" sz="3600" b="1" i="1" dirty="0">
                <a:solidFill>
                  <a:srgbClr val="FF0000"/>
                </a:solidFill>
                <a:latin typeface="Tw Cen MT" panose="020B0602020104020603" pitchFamily="34" charset="0"/>
              </a:rPr>
              <a:t> </a:t>
            </a:r>
            <a:r>
              <a:rPr lang="en-GB" sz="3600" b="1" dirty="0">
                <a:solidFill>
                  <a:srgbClr val="FF0000"/>
                </a:solidFill>
                <a:latin typeface="Tw Cen MT" panose="020B0602020104020603" pitchFamily="34" charset="0"/>
              </a:rPr>
              <a:t>mod </a:t>
            </a:r>
            <a:r>
              <a:rPr lang="en-GB" sz="3600" b="1" i="1" dirty="0">
                <a:solidFill>
                  <a:srgbClr val="FF0000"/>
                </a:solidFill>
                <a:latin typeface="Tw Cen MT" panose="020B0602020104020603" pitchFamily="34" charset="0"/>
              </a:rPr>
              <a:t>n</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pic>
        <p:nvPicPr>
          <p:cNvPr id="2" name="Picture 1"/>
          <p:cNvPicPr>
            <a:picLocks noChangeAspect="1"/>
          </p:cNvPicPr>
          <p:nvPr/>
        </p:nvPicPr>
        <p:blipFill>
          <a:blip r:embed="rId3"/>
          <a:stretch>
            <a:fillRect/>
          </a:stretch>
        </p:blipFill>
        <p:spPr>
          <a:xfrm>
            <a:off x="609600" y="2133600"/>
            <a:ext cx="8001000" cy="1232038"/>
          </a:xfrm>
          <a:prstGeom prst="rect">
            <a:avLst/>
          </a:prstGeom>
        </p:spPr>
      </p:pic>
      <p:grpSp>
        <p:nvGrpSpPr>
          <p:cNvPr id="5" name="Group 4"/>
          <p:cNvGrpSpPr/>
          <p:nvPr/>
        </p:nvGrpSpPr>
        <p:grpSpPr>
          <a:xfrm>
            <a:off x="533400" y="3962400"/>
            <a:ext cx="8305800" cy="657225"/>
            <a:chOff x="533400" y="3886200"/>
            <a:chExt cx="8305800" cy="657225"/>
          </a:xfrm>
        </p:grpSpPr>
        <p:pic>
          <p:nvPicPr>
            <p:cNvPr id="3" name="Picture 2"/>
            <p:cNvPicPr>
              <a:picLocks noChangeAspect="1"/>
            </p:cNvPicPr>
            <p:nvPr/>
          </p:nvPicPr>
          <p:blipFill>
            <a:blip r:embed="rId4"/>
            <a:stretch>
              <a:fillRect/>
            </a:stretch>
          </p:blipFill>
          <p:spPr>
            <a:xfrm>
              <a:off x="533400" y="3886200"/>
              <a:ext cx="8305800" cy="339359"/>
            </a:xfrm>
            <a:prstGeom prst="rect">
              <a:avLst/>
            </a:prstGeom>
          </p:spPr>
        </p:pic>
        <p:pic>
          <p:nvPicPr>
            <p:cNvPr id="4" name="Picture 3"/>
            <p:cNvPicPr>
              <a:picLocks noChangeAspect="1"/>
            </p:cNvPicPr>
            <p:nvPr/>
          </p:nvPicPr>
          <p:blipFill>
            <a:blip r:embed="rId5"/>
            <a:stretch>
              <a:fillRect/>
            </a:stretch>
          </p:blipFill>
          <p:spPr>
            <a:xfrm>
              <a:off x="533400" y="4191000"/>
              <a:ext cx="4295775" cy="352425"/>
            </a:xfrm>
            <a:prstGeom prst="rect">
              <a:avLst/>
            </a:prstGeom>
          </p:spPr>
        </p:pic>
      </p:grpSp>
    </p:spTree>
    <p:extLst>
      <p:ext uri="{BB962C8B-B14F-4D97-AF65-F5344CB8AC3E}">
        <p14:creationId xmlns:p14="http://schemas.microsoft.com/office/powerpoint/2010/main" val="16637274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35</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838200" y="381000"/>
            <a:ext cx="7868821" cy="646331"/>
          </a:xfrm>
          <a:prstGeom prst="rect">
            <a:avLst/>
          </a:prstGeom>
          <a:noFill/>
          <a:ln w="9525">
            <a:noFill/>
            <a:miter lim="800000"/>
            <a:headEnd/>
            <a:tailEnd/>
          </a:ln>
        </p:spPr>
        <p:txBody>
          <a:bodyPr wrap="none">
            <a:spAutoFit/>
          </a:bodyPr>
          <a:lstStyle/>
          <a:p>
            <a:r>
              <a:rPr lang="en-GB" altLang="zh-CN" sz="3600" b="1" dirty="0">
                <a:solidFill>
                  <a:srgbClr val="FF0000"/>
                </a:solidFill>
                <a:latin typeface="Tw Cen MT" panose="020B0602020104020603" pitchFamily="34" charset="0"/>
                <a:ea typeface="SimSun" pitchFamily="2" charset="-122"/>
                <a:cs typeface="Times New Roman" pitchFamily="18" charset="0"/>
              </a:rPr>
              <a:t>Efficient Operation Using the Public Key</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r>
              <a:rPr lang="en-US" kern="0" dirty="0" smtClean="0">
                <a:latin typeface="Tw Cen MT" panose="020B0602020104020603" pitchFamily="34" charset="0"/>
              </a:rPr>
              <a:t>To speed up the operation of the RSA algorithm using the public key, a specific choice of </a:t>
            </a:r>
            <a:r>
              <a:rPr lang="en-US" i="1" kern="0" dirty="0" smtClean="0">
                <a:latin typeface="Tw Cen MT" panose="020B0602020104020603" pitchFamily="34" charset="0"/>
              </a:rPr>
              <a:t>e </a:t>
            </a:r>
            <a:r>
              <a:rPr lang="en-US" kern="0" dirty="0" smtClean="0">
                <a:latin typeface="Tw Cen MT" panose="020B0602020104020603" pitchFamily="34" charset="0"/>
              </a:rPr>
              <a:t>is usually made</a:t>
            </a:r>
          </a:p>
          <a:p>
            <a:pPr algn="just"/>
            <a:r>
              <a:rPr lang="en-US" kern="0" dirty="0" smtClean="0">
                <a:latin typeface="Tw Cen MT" panose="020B0602020104020603" pitchFamily="34" charset="0"/>
              </a:rPr>
              <a:t>The most common choice is 65537 (2</a:t>
            </a:r>
            <a:r>
              <a:rPr lang="en-US" kern="0" baseline="30000" dirty="0" smtClean="0">
                <a:latin typeface="Tw Cen MT" panose="020B0602020104020603" pitchFamily="34" charset="0"/>
              </a:rPr>
              <a:t>16</a:t>
            </a:r>
            <a:r>
              <a:rPr lang="en-US" kern="0" dirty="0" smtClean="0">
                <a:latin typeface="Tw Cen MT" panose="020B0602020104020603" pitchFamily="34" charset="0"/>
              </a:rPr>
              <a:t> + 1)</a:t>
            </a:r>
          </a:p>
          <a:p>
            <a:pPr lvl="1" algn="just"/>
            <a:r>
              <a:rPr lang="en-US" sz="2400" kern="0" dirty="0" smtClean="0">
                <a:latin typeface="Tw Cen MT" panose="020B0602020104020603" pitchFamily="34" charset="0"/>
              </a:rPr>
              <a:t>Two other popular choices are </a:t>
            </a:r>
            <a:r>
              <a:rPr lang="en-US" sz="2400" i="1" kern="0" dirty="0" smtClean="0">
                <a:latin typeface="Tw Cen MT" panose="020B0602020104020603" pitchFamily="34" charset="0"/>
              </a:rPr>
              <a:t>e</a:t>
            </a:r>
            <a:r>
              <a:rPr lang="en-US" sz="2400" kern="0" dirty="0" smtClean="0">
                <a:latin typeface="Tw Cen MT" panose="020B0602020104020603" pitchFamily="34" charset="0"/>
              </a:rPr>
              <a:t>=3 and </a:t>
            </a:r>
            <a:r>
              <a:rPr lang="en-US" sz="2400" i="1" kern="0" dirty="0" smtClean="0">
                <a:latin typeface="Tw Cen MT" panose="020B0602020104020603" pitchFamily="34" charset="0"/>
              </a:rPr>
              <a:t>e</a:t>
            </a:r>
            <a:r>
              <a:rPr lang="en-US" sz="2400" kern="0" dirty="0" smtClean="0">
                <a:latin typeface="Tw Cen MT" panose="020B0602020104020603" pitchFamily="34" charset="0"/>
              </a:rPr>
              <a:t>=17</a:t>
            </a:r>
          </a:p>
          <a:p>
            <a:pPr lvl="1" algn="just"/>
            <a:r>
              <a:rPr lang="en-US" sz="2400" kern="0" dirty="0" smtClean="0">
                <a:latin typeface="Tw Cen MT" panose="020B0602020104020603" pitchFamily="34" charset="0"/>
              </a:rPr>
              <a:t>Each of these choices has only two 1 bits, so the number of multiplications required to perform exponentiation is minimized</a:t>
            </a:r>
          </a:p>
          <a:p>
            <a:pPr lvl="1" algn="just"/>
            <a:r>
              <a:rPr lang="en-US" sz="2400" kern="0" dirty="0" smtClean="0">
                <a:latin typeface="Tw Cen MT" panose="020B0602020104020603" pitchFamily="34" charset="0"/>
              </a:rPr>
              <a:t>With a very small public key, such as </a:t>
            </a:r>
            <a:r>
              <a:rPr lang="en-US" sz="2400" i="1" kern="0" dirty="0" smtClean="0">
                <a:latin typeface="Tw Cen MT" panose="020B0602020104020603" pitchFamily="34" charset="0"/>
              </a:rPr>
              <a:t>e </a:t>
            </a:r>
            <a:r>
              <a:rPr lang="en-US" sz="2400" kern="0" dirty="0" smtClean="0">
                <a:latin typeface="Tw Cen MT" panose="020B0602020104020603" pitchFamily="34" charset="0"/>
              </a:rPr>
              <a:t>= 3, RSA becomes vulnerable to a simple attack</a:t>
            </a:r>
            <a:endParaRPr lang="en-US" sz="2400" kern="0" dirty="0">
              <a:latin typeface="Tw Cen MT" panose="020B0602020104020603" pitchFamily="34" charset="0"/>
            </a:endParaRPr>
          </a:p>
        </p:txBody>
      </p:sp>
    </p:spTree>
    <p:extLst>
      <p:ext uri="{BB962C8B-B14F-4D97-AF65-F5344CB8AC3E}">
        <p14:creationId xmlns:p14="http://schemas.microsoft.com/office/powerpoint/2010/main" val="34441864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36</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2971800" y="457200"/>
            <a:ext cx="3187155" cy="646331"/>
          </a:xfrm>
          <a:prstGeom prst="rect">
            <a:avLst/>
          </a:prstGeom>
          <a:noFill/>
          <a:ln w="9525">
            <a:noFill/>
            <a:miter lim="800000"/>
            <a:headEnd/>
            <a:tailEnd/>
          </a:ln>
        </p:spPr>
        <p:txBody>
          <a:bodyPr wrap="none">
            <a:spAutoFit/>
          </a:bodyPr>
          <a:lstStyle/>
          <a:p>
            <a:r>
              <a:rPr lang="en-US" altLang="zh-CN" sz="3600" b="1" dirty="0" smtClean="0">
                <a:solidFill>
                  <a:srgbClr val="FF0000"/>
                </a:solidFill>
                <a:latin typeface="Tw Cen MT" panose="020B0602020104020603" pitchFamily="34" charset="0"/>
                <a:ea typeface="SimSun" pitchFamily="2" charset="-122"/>
                <a:cs typeface="Times New Roman" pitchFamily="18" charset="0"/>
              </a:rPr>
              <a:t>Key Generation</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6" name="Rectangle 3"/>
          <p:cNvSpPr txBox="1">
            <a:spLocks noChangeArrowheads="1"/>
          </p:cNvSpPr>
          <p:nvPr/>
        </p:nvSpPr>
        <p:spPr>
          <a:xfrm>
            <a:off x="381000" y="1752600"/>
            <a:ext cx="3870960" cy="4303713"/>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US" kern="0" dirty="0" smtClean="0">
                <a:latin typeface="Tw Cen MT" panose="020B0602020104020603" pitchFamily="34" charset="0"/>
              </a:rPr>
              <a:t>Before the application of the public-key cryptosystem each participant must generate a pair of keys:</a:t>
            </a:r>
          </a:p>
          <a:p>
            <a:pPr lvl="1"/>
            <a:r>
              <a:rPr lang="en-US" sz="2400" kern="0" dirty="0" smtClean="0">
                <a:latin typeface="Tw Cen MT" panose="020B0602020104020603" pitchFamily="34" charset="0"/>
              </a:rPr>
              <a:t>Determine two prime numbers </a:t>
            </a:r>
            <a:r>
              <a:rPr lang="en-AU" sz="2400" i="1" kern="0" dirty="0" smtClean="0">
                <a:latin typeface="Tw Cen MT" panose="020B0602020104020603" pitchFamily="34" charset="0"/>
              </a:rPr>
              <a:t>p</a:t>
            </a:r>
            <a:r>
              <a:rPr lang="en-AU" sz="2400" kern="0" dirty="0" smtClean="0">
                <a:latin typeface="Tw Cen MT" panose="020B0602020104020603" pitchFamily="34" charset="0"/>
              </a:rPr>
              <a:t> and </a:t>
            </a:r>
            <a:r>
              <a:rPr lang="en-AU" sz="2400" i="1" kern="0" dirty="0" smtClean="0">
                <a:latin typeface="Tw Cen MT" panose="020B0602020104020603" pitchFamily="34" charset="0"/>
              </a:rPr>
              <a:t>q</a:t>
            </a:r>
            <a:r>
              <a:rPr lang="en-AU" sz="2400" kern="0" dirty="0" smtClean="0">
                <a:latin typeface="Tw Cen MT" panose="020B0602020104020603" pitchFamily="34" charset="0"/>
              </a:rPr>
              <a:t> </a:t>
            </a:r>
          </a:p>
          <a:p>
            <a:pPr lvl="1"/>
            <a:r>
              <a:rPr lang="en-US" sz="2400" kern="0" dirty="0" smtClean="0">
                <a:latin typeface="Tw Cen MT" panose="020B0602020104020603" pitchFamily="34" charset="0"/>
              </a:rPr>
              <a:t>Select either </a:t>
            </a:r>
            <a:r>
              <a:rPr lang="en-US" sz="2400" i="1" kern="0" dirty="0" smtClean="0">
                <a:latin typeface="Tw Cen MT" panose="020B0602020104020603" pitchFamily="34" charset="0"/>
              </a:rPr>
              <a:t>e</a:t>
            </a:r>
            <a:r>
              <a:rPr lang="en-US" sz="2400" kern="0" dirty="0" smtClean="0">
                <a:latin typeface="Tw Cen MT" panose="020B0602020104020603" pitchFamily="34" charset="0"/>
              </a:rPr>
              <a:t> or </a:t>
            </a:r>
            <a:r>
              <a:rPr lang="en-US" sz="2400" i="1" kern="0" dirty="0" smtClean="0">
                <a:latin typeface="Tw Cen MT" panose="020B0602020104020603" pitchFamily="34" charset="0"/>
              </a:rPr>
              <a:t>d</a:t>
            </a:r>
            <a:r>
              <a:rPr lang="en-US" sz="2400" kern="0" dirty="0" smtClean="0">
                <a:latin typeface="Tw Cen MT" panose="020B0602020104020603" pitchFamily="34" charset="0"/>
              </a:rPr>
              <a:t> and calculate the other</a:t>
            </a:r>
          </a:p>
        </p:txBody>
      </p:sp>
      <p:sp>
        <p:nvSpPr>
          <p:cNvPr id="7" name="Content Placeholder 3"/>
          <p:cNvSpPr txBox="1">
            <a:spLocks/>
          </p:cNvSpPr>
          <p:nvPr/>
        </p:nvSpPr>
        <p:spPr>
          <a:xfrm>
            <a:off x="4495800" y="1752601"/>
            <a:ext cx="4191000" cy="3276600"/>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AU" kern="0" dirty="0" smtClean="0">
                <a:latin typeface="Tw Cen MT" panose="020B0602020104020603" pitchFamily="34" charset="0"/>
              </a:rPr>
              <a:t>Because the value of </a:t>
            </a:r>
            <a:r>
              <a:rPr lang="en-AU" i="1" kern="0" dirty="0" smtClean="0">
                <a:latin typeface="Tw Cen MT" panose="020B0602020104020603" pitchFamily="34" charset="0"/>
              </a:rPr>
              <a:t>n = </a:t>
            </a:r>
            <a:r>
              <a:rPr lang="en-AU" i="1" kern="0" dirty="0" err="1" smtClean="0">
                <a:latin typeface="Tw Cen MT" panose="020B0602020104020603" pitchFamily="34" charset="0"/>
              </a:rPr>
              <a:t>pq</a:t>
            </a:r>
            <a:r>
              <a:rPr lang="en-AU" i="1" kern="0" dirty="0" smtClean="0">
                <a:latin typeface="Tw Cen MT" panose="020B0602020104020603" pitchFamily="34" charset="0"/>
              </a:rPr>
              <a:t> </a:t>
            </a:r>
            <a:r>
              <a:rPr lang="en-AU" kern="0" dirty="0" smtClean="0">
                <a:latin typeface="Tw Cen MT" panose="020B0602020104020603" pitchFamily="34" charset="0"/>
              </a:rPr>
              <a:t>will be known to any potential adversary, primes must be chosen from a sufficiently large set</a:t>
            </a:r>
          </a:p>
          <a:p>
            <a:pPr lvl="1"/>
            <a:r>
              <a:rPr lang="en-AU" sz="2400" kern="0" dirty="0" smtClean="0">
                <a:latin typeface="Tw Cen MT" panose="020B0602020104020603" pitchFamily="34" charset="0"/>
              </a:rPr>
              <a:t>The method used for </a:t>
            </a:r>
            <a:r>
              <a:rPr lang="en-AU" sz="2400" kern="0" dirty="0" smtClean="0">
                <a:solidFill>
                  <a:srgbClr val="FF0000"/>
                </a:solidFill>
                <a:latin typeface="Tw Cen MT" panose="020B0602020104020603" pitchFamily="34" charset="0"/>
              </a:rPr>
              <a:t>finding large primes</a:t>
            </a:r>
            <a:r>
              <a:rPr lang="en-AU" sz="2400" kern="0" dirty="0" smtClean="0">
                <a:latin typeface="Tw Cen MT" panose="020B0602020104020603" pitchFamily="34" charset="0"/>
              </a:rPr>
              <a:t> must be reasonably efficient</a:t>
            </a:r>
          </a:p>
          <a:p>
            <a:endParaRPr lang="en-US" kern="0" dirty="0"/>
          </a:p>
        </p:txBody>
      </p:sp>
    </p:spTree>
    <p:extLst>
      <p:ext uri="{BB962C8B-B14F-4D97-AF65-F5344CB8AC3E}">
        <p14:creationId xmlns:p14="http://schemas.microsoft.com/office/powerpoint/2010/main" val="42792016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37</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1066800" y="457200"/>
            <a:ext cx="7499104" cy="646331"/>
          </a:xfrm>
          <a:prstGeom prst="rect">
            <a:avLst/>
          </a:prstGeom>
          <a:noFill/>
          <a:ln w="9525">
            <a:noFill/>
            <a:miter lim="800000"/>
            <a:headEnd/>
            <a:tailEnd/>
          </a:ln>
        </p:spPr>
        <p:txBody>
          <a:bodyPr wrap="none">
            <a:spAutoFit/>
          </a:bodyPr>
          <a:lstStyle/>
          <a:p>
            <a:r>
              <a:rPr lang="en-GB" altLang="zh-CN" sz="3600" b="1" dirty="0">
                <a:solidFill>
                  <a:srgbClr val="FF0000"/>
                </a:solidFill>
                <a:latin typeface="Tw Cen MT" panose="020B0602020104020603" pitchFamily="34" charset="0"/>
                <a:ea typeface="SimSun" pitchFamily="2" charset="-122"/>
                <a:cs typeface="Times New Roman" pitchFamily="18" charset="0"/>
              </a:rPr>
              <a:t>Procedure for Picking a Prime Number</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7" name="Content Placeholder 3"/>
          <p:cNvSpPr txBox="1">
            <a:spLocks/>
          </p:cNvSpPr>
          <p:nvPr/>
        </p:nvSpPr>
        <p:spPr>
          <a:xfrm>
            <a:off x="914400" y="1752600"/>
            <a:ext cx="7543800" cy="3276600"/>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457200" indent="-457200" algn="just">
              <a:buFont typeface="+mj-lt"/>
              <a:buAutoNum type="arabicPeriod"/>
            </a:pPr>
            <a:r>
              <a:rPr lang="en-GB" kern="0" dirty="0" smtClean="0">
                <a:solidFill>
                  <a:schemeClr val="tx1"/>
                </a:solidFill>
                <a:latin typeface="Tw Cen MT" panose="020B0602020104020603" pitchFamily="34" charset="0"/>
              </a:rPr>
              <a:t>Pick </a:t>
            </a:r>
            <a:r>
              <a:rPr lang="en-GB" kern="0" dirty="0">
                <a:solidFill>
                  <a:schemeClr val="tx1"/>
                </a:solidFill>
                <a:latin typeface="Tw Cen MT" panose="020B0602020104020603" pitchFamily="34" charset="0"/>
              </a:rPr>
              <a:t>an </a:t>
            </a:r>
            <a:r>
              <a:rPr lang="en-GB" kern="0" dirty="0">
                <a:solidFill>
                  <a:srgbClr val="FF0000"/>
                </a:solidFill>
                <a:latin typeface="Tw Cen MT" panose="020B0602020104020603" pitchFamily="34" charset="0"/>
              </a:rPr>
              <a:t>odd integer n at random</a:t>
            </a:r>
          </a:p>
          <a:p>
            <a:pPr marL="457200" indent="-457200" algn="just">
              <a:buFont typeface="+mj-lt"/>
              <a:buAutoNum type="arabicPeriod"/>
            </a:pPr>
            <a:r>
              <a:rPr lang="en-GB" kern="0" dirty="0">
                <a:solidFill>
                  <a:schemeClr val="tx1"/>
                </a:solidFill>
                <a:latin typeface="Tw Cen MT" panose="020B0602020104020603" pitchFamily="34" charset="0"/>
              </a:rPr>
              <a:t>Pick an integer </a:t>
            </a:r>
            <a:r>
              <a:rPr lang="en-GB" kern="0" dirty="0">
                <a:solidFill>
                  <a:srgbClr val="FF0000"/>
                </a:solidFill>
                <a:latin typeface="Tw Cen MT" panose="020B0602020104020603" pitchFamily="34" charset="0"/>
              </a:rPr>
              <a:t>a &lt; n at random</a:t>
            </a:r>
          </a:p>
          <a:p>
            <a:pPr marL="457200" indent="-457200" algn="just">
              <a:buFont typeface="+mj-lt"/>
              <a:buAutoNum type="arabicPeriod"/>
            </a:pPr>
            <a:r>
              <a:rPr lang="en-GB" kern="0" dirty="0">
                <a:solidFill>
                  <a:schemeClr val="tx1"/>
                </a:solidFill>
                <a:latin typeface="Tw Cen MT" panose="020B0602020104020603" pitchFamily="34" charset="0"/>
              </a:rPr>
              <a:t>Perform the probabilistic </a:t>
            </a:r>
            <a:r>
              <a:rPr lang="en-GB" kern="0" dirty="0" err="1">
                <a:solidFill>
                  <a:schemeClr val="tx1"/>
                </a:solidFill>
                <a:latin typeface="Tw Cen MT" panose="020B0602020104020603" pitchFamily="34" charset="0"/>
              </a:rPr>
              <a:t>primality</a:t>
            </a:r>
            <a:r>
              <a:rPr lang="en-GB" kern="0" dirty="0">
                <a:solidFill>
                  <a:schemeClr val="tx1"/>
                </a:solidFill>
                <a:latin typeface="Tw Cen MT" panose="020B0602020104020603" pitchFamily="34" charset="0"/>
              </a:rPr>
              <a:t> </a:t>
            </a:r>
            <a:r>
              <a:rPr lang="en-GB" kern="0" dirty="0" smtClean="0">
                <a:solidFill>
                  <a:schemeClr val="tx1"/>
                </a:solidFill>
                <a:latin typeface="Tw Cen MT" panose="020B0602020104020603" pitchFamily="34" charset="0"/>
              </a:rPr>
              <a:t>test with </a:t>
            </a:r>
            <a:r>
              <a:rPr lang="en-GB" kern="0" dirty="0">
                <a:solidFill>
                  <a:srgbClr val="FF0000"/>
                </a:solidFill>
                <a:latin typeface="Tw Cen MT" panose="020B0602020104020603" pitchFamily="34" charset="0"/>
              </a:rPr>
              <a:t>a</a:t>
            </a:r>
            <a:r>
              <a:rPr lang="en-GB" kern="0" dirty="0">
                <a:solidFill>
                  <a:schemeClr val="tx1"/>
                </a:solidFill>
                <a:latin typeface="Tw Cen MT" panose="020B0602020104020603" pitchFamily="34" charset="0"/>
              </a:rPr>
              <a:t> as a parameter.  If </a:t>
            </a:r>
            <a:r>
              <a:rPr lang="en-GB" kern="0" dirty="0">
                <a:solidFill>
                  <a:srgbClr val="FF0000"/>
                </a:solidFill>
                <a:latin typeface="Tw Cen MT" panose="020B0602020104020603" pitchFamily="34" charset="0"/>
              </a:rPr>
              <a:t>n</a:t>
            </a:r>
            <a:r>
              <a:rPr lang="en-GB" kern="0" dirty="0">
                <a:solidFill>
                  <a:schemeClr val="tx1"/>
                </a:solidFill>
                <a:latin typeface="Tw Cen MT" panose="020B0602020104020603" pitchFamily="34" charset="0"/>
              </a:rPr>
              <a:t> fails the test, reject the value n and go to step 1</a:t>
            </a:r>
          </a:p>
          <a:p>
            <a:pPr marL="457200" indent="-457200" algn="just">
              <a:buFont typeface="+mj-lt"/>
              <a:buAutoNum type="arabicPeriod"/>
            </a:pPr>
            <a:r>
              <a:rPr lang="en-GB" kern="0" dirty="0">
                <a:solidFill>
                  <a:schemeClr val="tx1"/>
                </a:solidFill>
                <a:latin typeface="Tw Cen MT" panose="020B0602020104020603" pitchFamily="34" charset="0"/>
              </a:rPr>
              <a:t>If n has passed a sufficient number of tests, accept n; otherwise, go to step 2</a:t>
            </a:r>
          </a:p>
          <a:p>
            <a:pPr marL="0" indent="0">
              <a:buNone/>
            </a:pPr>
            <a:endParaRPr lang="en-US" kern="0" dirty="0"/>
          </a:p>
        </p:txBody>
      </p:sp>
    </p:spTree>
    <p:extLst>
      <p:ext uri="{BB962C8B-B14F-4D97-AF65-F5344CB8AC3E}">
        <p14:creationId xmlns:p14="http://schemas.microsoft.com/office/powerpoint/2010/main" val="56721197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38</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2971800" y="457200"/>
            <a:ext cx="3161635" cy="646331"/>
          </a:xfrm>
          <a:prstGeom prst="rect">
            <a:avLst/>
          </a:prstGeom>
          <a:noFill/>
          <a:ln w="9525">
            <a:noFill/>
            <a:miter lim="800000"/>
            <a:headEnd/>
            <a:tailEnd/>
          </a:ln>
        </p:spPr>
        <p:txBody>
          <a:bodyPr wrap="none">
            <a:spAutoFit/>
          </a:bodyPr>
          <a:lstStyle/>
          <a:p>
            <a:r>
              <a:rPr lang="en-GB" altLang="zh-CN" sz="3600" b="1" dirty="0" smtClean="0">
                <a:solidFill>
                  <a:srgbClr val="FF0000"/>
                </a:solidFill>
                <a:latin typeface="Tw Cen MT" panose="020B0602020104020603" pitchFamily="34" charset="0"/>
                <a:ea typeface="SimSun" pitchFamily="2" charset="-122"/>
                <a:cs typeface="Times New Roman" pitchFamily="18" charset="0"/>
              </a:rPr>
              <a:t>Security of RSA</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graphicFrame>
        <p:nvGraphicFramePr>
          <p:cNvPr id="6" name="Content Placeholder 3"/>
          <p:cNvGraphicFramePr>
            <a:graphicFrameLocks/>
          </p:cNvGraphicFramePr>
          <p:nvPr/>
        </p:nvGraphicFramePr>
        <p:xfrm>
          <a:off x="381000" y="1447800"/>
          <a:ext cx="8458200"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117255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39</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2667000" y="609600"/>
            <a:ext cx="3664786" cy="646331"/>
          </a:xfrm>
          <a:prstGeom prst="rect">
            <a:avLst/>
          </a:prstGeom>
          <a:noFill/>
          <a:ln w="9525">
            <a:noFill/>
            <a:miter lim="800000"/>
            <a:headEnd/>
            <a:tailEnd/>
          </a:ln>
        </p:spPr>
        <p:txBody>
          <a:bodyPr wrap="none">
            <a:spAutoFit/>
          </a:bodyPr>
          <a:lstStyle/>
          <a:p>
            <a:r>
              <a:rPr lang="en-GB" altLang="zh-CN" sz="3600" b="1" dirty="0" smtClean="0">
                <a:solidFill>
                  <a:srgbClr val="FF0000"/>
                </a:solidFill>
                <a:latin typeface="Tw Cen MT" panose="020B0602020104020603" pitchFamily="34" charset="0"/>
                <a:ea typeface="SimSun" pitchFamily="2" charset="-122"/>
                <a:cs typeface="Times New Roman" pitchFamily="18" charset="0"/>
              </a:rPr>
              <a:t>Factoring Problem</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7" name="Rectangle 3"/>
          <p:cNvSpPr txBox="1">
            <a:spLocks noChangeArrowheads="1"/>
          </p:cNvSpPr>
          <p:nvPr/>
        </p:nvSpPr>
        <p:spPr>
          <a:xfrm>
            <a:off x="792163" y="1762125"/>
            <a:ext cx="7570787" cy="45624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US" kern="0" dirty="0" smtClean="0">
                <a:latin typeface="Tw Cen MT" panose="020B0602020104020603" pitchFamily="34" charset="0"/>
              </a:rPr>
              <a:t>We can identify three approaches to attacking RSA mathematically:</a:t>
            </a:r>
          </a:p>
          <a:p>
            <a:pPr lvl="1"/>
            <a:r>
              <a:rPr lang="en-US" sz="2400" kern="0" dirty="0" smtClean="0">
                <a:latin typeface="Tw Cen MT" panose="020B0602020104020603" pitchFamily="34" charset="0"/>
              </a:rPr>
              <a:t>Factor </a:t>
            </a:r>
            <a:r>
              <a:rPr lang="en-AU" sz="2400" i="1" kern="0" dirty="0" smtClean="0">
                <a:latin typeface="Tw Cen MT" panose="020B0602020104020603" pitchFamily="34" charset="0"/>
              </a:rPr>
              <a:t>n</a:t>
            </a:r>
            <a:r>
              <a:rPr lang="en-AU" sz="2400" kern="0" dirty="0" smtClean="0">
                <a:latin typeface="Tw Cen MT" panose="020B0602020104020603" pitchFamily="34" charset="0"/>
              </a:rPr>
              <a:t> into its two prime factors. This enables calculation of ø(</a:t>
            </a:r>
            <a:r>
              <a:rPr lang="en-AU" sz="2400" i="1" kern="0" dirty="0" smtClean="0">
                <a:latin typeface="Tw Cen MT" panose="020B0602020104020603" pitchFamily="34" charset="0"/>
              </a:rPr>
              <a:t>n</a:t>
            </a:r>
            <a:r>
              <a:rPr lang="en-AU" sz="2400" kern="0" dirty="0" smtClean="0">
                <a:latin typeface="Tw Cen MT" panose="020B0602020104020603" pitchFamily="34" charset="0"/>
              </a:rPr>
              <a:t>) = (</a:t>
            </a:r>
            <a:r>
              <a:rPr lang="en-AU" sz="2400" i="1" kern="0" dirty="0" smtClean="0">
                <a:latin typeface="Tw Cen MT" panose="020B0602020104020603" pitchFamily="34" charset="0"/>
              </a:rPr>
              <a:t>p – 1) x (q</a:t>
            </a:r>
            <a:r>
              <a:rPr lang="en-AU" sz="2400" kern="0" dirty="0" smtClean="0">
                <a:latin typeface="Tw Cen MT" panose="020B0602020104020603" pitchFamily="34" charset="0"/>
              </a:rPr>
              <a:t> – 1), which in turn enables determination of </a:t>
            </a:r>
            <a:r>
              <a:rPr lang="en-AU" sz="2400" i="1" kern="0" dirty="0" smtClean="0">
                <a:latin typeface="Tw Cen MT" panose="020B0602020104020603" pitchFamily="34" charset="0"/>
              </a:rPr>
              <a:t>d = e</a:t>
            </a:r>
            <a:r>
              <a:rPr lang="en-AU" sz="2400" i="1" kern="0" baseline="30000" dirty="0" smtClean="0">
                <a:latin typeface="Tw Cen MT" panose="020B0602020104020603" pitchFamily="34" charset="0"/>
              </a:rPr>
              <a:t>-1</a:t>
            </a:r>
            <a:r>
              <a:rPr lang="en-AU" sz="2400" i="1" kern="0" dirty="0" smtClean="0">
                <a:latin typeface="Tw Cen MT" panose="020B0602020104020603" pitchFamily="34" charset="0"/>
              </a:rPr>
              <a:t> (mod </a:t>
            </a:r>
            <a:r>
              <a:rPr lang="en-AU" sz="2400" kern="0" dirty="0" smtClean="0">
                <a:latin typeface="Tw Cen MT" panose="020B0602020104020603" pitchFamily="34" charset="0"/>
              </a:rPr>
              <a:t>ø(n))</a:t>
            </a:r>
          </a:p>
          <a:p>
            <a:pPr lvl="1"/>
            <a:r>
              <a:rPr lang="en-US" sz="2400" kern="0" dirty="0" smtClean="0">
                <a:latin typeface="Tw Cen MT" panose="020B0602020104020603" pitchFamily="34" charset="0"/>
              </a:rPr>
              <a:t>Determine </a:t>
            </a:r>
            <a:r>
              <a:rPr lang="en-AU" sz="2400" kern="0" dirty="0" smtClean="0">
                <a:latin typeface="Tw Cen MT" panose="020B0602020104020603" pitchFamily="34" charset="0"/>
              </a:rPr>
              <a:t>ø(n)</a:t>
            </a:r>
            <a:r>
              <a:rPr lang="en-US" sz="2400" kern="0" dirty="0" smtClean="0">
                <a:latin typeface="Tw Cen MT" panose="020B0602020104020603" pitchFamily="34" charset="0"/>
              </a:rPr>
              <a:t> directly without first determining </a:t>
            </a:r>
            <a:r>
              <a:rPr lang="en-US" sz="2400" i="1" kern="0" dirty="0" smtClean="0">
                <a:latin typeface="Tw Cen MT" panose="020B0602020104020603" pitchFamily="34" charset="0"/>
              </a:rPr>
              <a:t>p </a:t>
            </a:r>
            <a:r>
              <a:rPr lang="en-US" sz="2400" kern="0" dirty="0" smtClean="0">
                <a:latin typeface="Tw Cen MT" panose="020B0602020104020603" pitchFamily="34" charset="0"/>
              </a:rPr>
              <a:t>and </a:t>
            </a:r>
            <a:r>
              <a:rPr lang="en-US" sz="2400" i="1" kern="0" dirty="0" smtClean="0">
                <a:latin typeface="Tw Cen MT" panose="020B0602020104020603" pitchFamily="34" charset="0"/>
              </a:rPr>
              <a:t>q. </a:t>
            </a:r>
            <a:r>
              <a:rPr lang="en-US" sz="2400" kern="0" dirty="0" smtClean="0">
                <a:latin typeface="Tw Cen MT" panose="020B0602020104020603" pitchFamily="34" charset="0"/>
              </a:rPr>
              <a:t>Again this </a:t>
            </a:r>
            <a:r>
              <a:rPr lang="en-AU" sz="2400" kern="0" dirty="0" smtClean="0">
                <a:latin typeface="Tw Cen MT" panose="020B0602020104020603" pitchFamily="34" charset="0"/>
              </a:rPr>
              <a:t>enables determination of </a:t>
            </a:r>
            <a:r>
              <a:rPr lang="en-AU" sz="2400" i="1" kern="0" dirty="0" smtClean="0">
                <a:latin typeface="Tw Cen MT" panose="020B0602020104020603" pitchFamily="34" charset="0"/>
              </a:rPr>
              <a:t>d = e</a:t>
            </a:r>
            <a:r>
              <a:rPr lang="en-AU" sz="2400" i="1" kern="0" baseline="30000" dirty="0" smtClean="0">
                <a:latin typeface="Tw Cen MT" panose="020B0602020104020603" pitchFamily="34" charset="0"/>
              </a:rPr>
              <a:t>-1</a:t>
            </a:r>
            <a:r>
              <a:rPr lang="en-AU" sz="2400" i="1" kern="0" dirty="0" smtClean="0">
                <a:latin typeface="Tw Cen MT" panose="020B0602020104020603" pitchFamily="34" charset="0"/>
              </a:rPr>
              <a:t> (mod </a:t>
            </a:r>
            <a:r>
              <a:rPr lang="en-AU" sz="2400" kern="0" dirty="0" smtClean="0">
                <a:latin typeface="Tw Cen MT" panose="020B0602020104020603" pitchFamily="34" charset="0"/>
              </a:rPr>
              <a:t>ø(n))</a:t>
            </a:r>
            <a:endParaRPr lang="en-US" sz="2400" kern="0" dirty="0" smtClean="0">
              <a:latin typeface="Tw Cen MT" panose="020B0602020104020603" pitchFamily="34" charset="0"/>
            </a:endParaRPr>
          </a:p>
          <a:p>
            <a:pPr lvl="1"/>
            <a:r>
              <a:rPr lang="en-US" sz="2400" kern="0" dirty="0" smtClean="0">
                <a:latin typeface="Tw Cen MT" panose="020B0602020104020603" pitchFamily="34" charset="0"/>
              </a:rPr>
              <a:t>Determine </a:t>
            </a:r>
            <a:r>
              <a:rPr lang="en-US" sz="2400" i="1" kern="0" dirty="0" smtClean="0">
                <a:latin typeface="Tw Cen MT" panose="020B0602020104020603" pitchFamily="34" charset="0"/>
              </a:rPr>
              <a:t>d</a:t>
            </a:r>
            <a:r>
              <a:rPr lang="en-US" sz="2400" kern="0" dirty="0" smtClean="0">
                <a:latin typeface="Tw Cen MT" panose="020B0602020104020603" pitchFamily="34" charset="0"/>
              </a:rPr>
              <a:t> directly without first determining </a:t>
            </a:r>
            <a:r>
              <a:rPr lang="en-AU" sz="2400" kern="0" dirty="0" smtClean="0">
                <a:latin typeface="Tw Cen MT" panose="020B0602020104020603" pitchFamily="34" charset="0"/>
              </a:rPr>
              <a:t>ø(n)</a:t>
            </a:r>
            <a:endParaRPr lang="en-US" sz="2400" kern="0" dirty="0" smtClean="0">
              <a:latin typeface="Tw Cen MT" panose="020B0602020104020603" pitchFamily="34" charset="0"/>
            </a:endParaRPr>
          </a:p>
        </p:txBody>
      </p:sp>
    </p:spTree>
    <p:extLst>
      <p:ext uri="{BB962C8B-B14F-4D97-AF65-F5344CB8AC3E}">
        <p14:creationId xmlns:p14="http://schemas.microsoft.com/office/powerpoint/2010/main" val="13217182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40</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1828800" y="457200"/>
            <a:ext cx="5860130" cy="646331"/>
          </a:xfrm>
          <a:prstGeom prst="rect">
            <a:avLst/>
          </a:prstGeom>
          <a:noFill/>
          <a:ln w="9525">
            <a:noFill/>
            <a:miter lim="800000"/>
            <a:headEnd/>
            <a:tailEnd/>
          </a:ln>
        </p:spPr>
        <p:txBody>
          <a:bodyPr wrap="none">
            <a:spAutoFit/>
          </a:bodyPr>
          <a:lstStyle/>
          <a:p>
            <a:r>
              <a:rPr lang="en-GB" altLang="zh-CN" sz="3600" b="1" dirty="0" smtClean="0">
                <a:solidFill>
                  <a:srgbClr val="FF0000"/>
                </a:solidFill>
                <a:latin typeface="Tw Cen MT" panose="020B0602020104020603" pitchFamily="34" charset="0"/>
                <a:ea typeface="SimSun" pitchFamily="2" charset="-122"/>
                <a:cs typeface="Times New Roman" pitchFamily="18" charset="0"/>
              </a:rPr>
              <a:t>Progress in RSA Factorization</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pic>
        <p:nvPicPr>
          <p:cNvPr id="3" name="Picture 2"/>
          <p:cNvPicPr>
            <a:picLocks noChangeAspect="1"/>
          </p:cNvPicPr>
          <p:nvPr/>
        </p:nvPicPr>
        <p:blipFill>
          <a:blip r:embed="rId3"/>
          <a:stretch>
            <a:fillRect/>
          </a:stretch>
        </p:blipFill>
        <p:spPr>
          <a:xfrm>
            <a:off x="457200" y="1447800"/>
            <a:ext cx="7791450" cy="3962400"/>
          </a:xfrm>
          <a:prstGeom prst="rect">
            <a:avLst/>
          </a:prstGeom>
        </p:spPr>
      </p:pic>
    </p:spTree>
    <p:extLst>
      <p:ext uri="{BB962C8B-B14F-4D97-AF65-F5344CB8AC3E}">
        <p14:creationId xmlns:p14="http://schemas.microsoft.com/office/powerpoint/2010/main" val="33654190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41</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1905000" y="304800"/>
            <a:ext cx="5593070" cy="646331"/>
          </a:xfrm>
          <a:prstGeom prst="rect">
            <a:avLst/>
          </a:prstGeom>
          <a:noFill/>
          <a:ln w="9525">
            <a:noFill/>
            <a:miter lim="800000"/>
            <a:headEnd/>
            <a:tailEnd/>
          </a:ln>
        </p:spPr>
        <p:txBody>
          <a:bodyPr wrap="none">
            <a:spAutoFit/>
          </a:bodyPr>
          <a:lstStyle/>
          <a:p>
            <a:r>
              <a:rPr lang="en-GB" altLang="zh-CN" sz="3600" b="1" dirty="0" smtClean="0">
                <a:solidFill>
                  <a:srgbClr val="FF0000"/>
                </a:solidFill>
                <a:latin typeface="Tw Cen MT" panose="020B0602020104020603" pitchFamily="34" charset="0"/>
                <a:ea typeface="SimSun" pitchFamily="2" charset="-122"/>
                <a:cs typeface="Times New Roman" pitchFamily="18" charset="0"/>
              </a:rPr>
              <a:t>MIPS Years needed to Factor</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pic>
        <p:nvPicPr>
          <p:cNvPr id="2" name="Picture 1"/>
          <p:cNvPicPr>
            <a:picLocks noChangeAspect="1"/>
          </p:cNvPicPr>
          <p:nvPr/>
        </p:nvPicPr>
        <p:blipFill>
          <a:blip r:embed="rId3"/>
          <a:stretch>
            <a:fillRect/>
          </a:stretch>
        </p:blipFill>
        <p:spPr>
          <a:xfrm>
            <a:off x="2133600" y="1066800"/>
            <a:ext cx="5562600" cy="5575242"/>
          </a:xfrm>
          <a:prstGeom prst="rect">
            <a:avLst/>
          </a:prstGeom>
        </p:spPr>
      </p:pic>
    </p:spTree>
    <p:extLst>
      <p:ext uri="{BB962C8B-B14F-4D97-AF65-F5344CB8AC3E}">
        <p14:creationId xmlns:p14="http://schemas.microsoft.com/office/powerpoint/2010/main" val="4666204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42</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2743200" y="533400"/>
            <a:ext cx="2832827" cy="646331"/>
          </a:xfrm>
          <a:prstGeom prst="rect">
            <a:avLst/>
          </a:prstGeom>
          <a:noFill/>
          <a:ln w="9525">
            <a:noFill/>
            <a:miter lim="800000"/>
            <a:headEnd/>
            <a:tailEnd/>
          </a:ln>
        </p:spPr>
        <p:txBody>
          <a:bodyPr wrap="none">
            <a:spAutoFit/>
          </a:bodyPr>
          <a:lstStyle/>
          <a:p>
            <a:r>
              <a:rPr lang="en-US" altLang="zh-CN" sz="3600" b="1" dirty="0" smtClean="0">
                <a:solidFill>
                  <a:srgbClr val="FF0000"/>
                </a:solidFill>
                <a:latin typeface="Tw Cen MT" panose="020B0602020104020603" pitchFamily="34" charset="0"/>
                <a:ea typeface="SimSun" pitchFamily="2" charset="-122"/>
                <a:cs typeface="Times New Roman" pitchFamily="18" charset="0"/>
              </a:rPr>
              <a:t>Timing Attack</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6" name="Rectangle 3"/>
          <p:cNvSpPr txBox="1">
            <a:spLocks noChangeArrowheads="1"/>
          </p:cNvSpPr>
          <p:nvPr/>
        </p:nvSpPr>
        <p:spPr>
          <a:xfrm>
            <a:off x="762000" y="1676400"/>
            <a:ext cx="7570787" cy="4791075"/>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US" kern="0" dirty="0" smtClean="0">
                <a:latin typeface="Tw Cen MT" panose="020B0602020104020603" pitchFamily="34" charset="0"/>
              </a:rPr>
              <a:t>Paul Kocher, a cryptographic consultant, demonstrated that a snooper can determine a private key by keeping track of how long a computer takes to decipher messages</a:t>
            </a:r>
          </a:p>
          <a:p>
            <a:r>
              <a:rPr lang="en-US" kern="0" dirty="0" smtClean="0">
                <a:latin typeface="Tw Cen MT" panose="020B0602020104020603" pitchFamily="34" charset="0"/>
              </a:rPr>
              <a:t>Are applicable not just to RSA but to other public-key cryptography systems</a:t>
            </a:r>
          </a:p>
          <a:p>
            <a:r>
              <a:rPr lang="en-US" kern="0" dirty="0" smtClean="0">
                <a:latin typeface="Tw Cen MT" panose="020B0602020104020603" pitchFamily="34" charset="0"/>
              </a:rPr>
              <a:t>Are alarming for two reasons:</a:t>
            </a:r>
          </a:p>
          <a:p>
            <a:pPr lvl="1"/>
            <a:r>
              <a:rPr lang="en-US" kern="0" dirty="0" smtClean="0">
                <a:latin typeface="Tw Cen MT" panose="020B0602020104020603" pitchFamily="34" charset="0"/>
              </a:rPr>
              <a:t>It comes from a completely unexpected direction</a:t>
            </a:r>
          </a:p>
          <a:p>
            <a:pPr lvl="1"/>
            <a:r>
              <a:rPr lang="en-US" kern="0" dirty="0" smtClean="0">
                <a:latin typeface="Tw Cen MT" panose="020B0602020104020603" pitchFamily="34" charset="0"/>
              </a:rPr>
              <a:t>It is a </a:t>
            </a:r>
            <a:r>
              <a:rPr lang="en-US" kern="0" dirty="0" err="1" smtClean="0">
                <a:latin typeface="Tw Cen MT" panose="020B0602020104020603" pitchFamily="34" charset="0"/>
              </a:rPr>
              <a:t>ciphertext</a:t>
            </a:r>
            <a:r>
              <a:rPr lang="en-US" kern="0" dirty="0" smtClean="0">
                <a:latin typeface="Tw Cen MT" panose="020B0602020104020603" pitchFamily="34" charset="0"/>
              </a:rPr>
              <a:t>-only attack</a:t>
            </a:r>
            <a:endParaRPr lang="en-AU" kern="0" dirty="0">
              <a:latin typeface="Tw Cen MT" panose="020B0602020104020603" pitchFamily="34" charset="0"/>
            </a:endParaRPr>
          </a:p>
        </p:txBody>
      </p:sp>
    </p:spTree>
    <p:extLst>
      <p:ext uri="{BB962C8B-B14F-4D97-AF65-F5344CB8AC3E}">
        <p14:creationId xmlns:p14="http://schemas.microsoft.com/office/powerpoint/2010/main" val="402049758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43</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2743200" y="533400"/>
            <a:ext cx="3643562" cy="646331"/>
          </a:xfrm>
          <a:prstGeom prst="rect">
            <a:avLst/>
          </a:prstGeom>
          <a:noFill/>
          <a:ln w="9525">
            <a:noFill/>
            <a:miter lim="800000"/>
            <a:headEnd/>
            <a:tailEnd/>
          </a:ln>
        </p:spPr>
        <p:txBody>
          <a:bodyPr wrap="none">
            <a:spAutoFit/>
          </a:bodyPr>
          <a:lstStyle/>
          <a:p>
            <a:r>
              <a:rPr lang="en-US" altLang="zh-CN" sz="3600" b="1" dirty="0" smtClean="0">
                <a:solidFill>
                  <a:srgbClr val="FF0000"/>
                </a:solidFill>
                <a:latin typeface="Tw Cen MT" panose="020B0602020104020603" pitchFamily="34" charset="0"/>
                <a:ea typeface="SimSun" pitchFamily="2" charset="-122"/>
                <a:cs typeface="Times New Roman" pitchFamily="18" charset="0"/>
              </a:rPr>
              <a:t>Counter Measures</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graphicFrame>
        <p:nvGraphicFramePr>
          <p:cNvPr id="7" name="Content Placeholder 4"/>
          <p:cNvGraphicFramePr>
            <a:graphicFrameLocks/>
          </p:cNvGraphicFramePr>
          <p:nvPr/>
        </p:nvGraphicFramePr>
        <p:xfrm>
          <a:off x="762000" y="1676400"/>
          <a:ext cx="7570787" cy="4791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27521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44</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2743200" y="533400"/>
            <a:ext cx="3743332" cy="646331"/>
          </a:xfrm>
          <a:prstGeom prst="rect">
            <a:avLst/>
          </a:prstGeom>
          <a:noFill/>
          <a:ln w="9525">
            <a:noFill/>
            <a:miter lim="800000"/>
            <a:headEnd/>
            <a:tailEnd/>
          </a:ln>
        </p:spPr>
        <p:txBody>
          <a:bodyPr wrap="none">
            <a:spAutoFit/>
          </a:bodyPr>
          <a:lstStyle/>
          <a:p>
            <a:r>
              <a:rPr lang="en-US" altLang="zh-CN" sz="3600" b="1" dirty="0" smtClean="0">
                <a:solidFill>
                  <a:srgbClr val="FF0000"/>
                </a:solidFill>
                <a:latin typeface="Tw Cen MT" panose="020B0602020104020603" pitchFamily="34" charset="0"/>
                <a:ea typeface="SimSun" pitchFamily="2" charset="-122"/>
                <a:cs typeface="Times New Roman" pitchFamily="18" charset="0"/>
              </a:rPr>
              <a:t>Fault-based Attack</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6" name="Content Placeholder 4"/>
          <p:cNvSpPr txBox="1">
            <a:spLocks/>
          </p:cNvSpPr>
          <p:nvPr/>
        </p:nvSpPr>
        <p:spPr>
          <a:xfrm>
            <a:off x="762000" y="1447800"/>
            <a:ext cx="7570787" cy="4714875"/>
          </a:xfrm>
          <a:prstGeom prst="rect">
            <a:avLst/>
          </a:prstGeom>
        </p:spPr>
        <p:txBody>
          <a:bodyPr>
            <a:normAutofit lnSpcReduction="10000"/>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US" kern="0" dirty="0" smtClean="0">
                <a:latin typeface="Tw Cen MT" panose="020B0602020104020603" pitchFamily="34" charset="0"/>
              </a:rPr>
              <a:t>An attack on a processor that is generating RSA digital signatures</a:t>
            </a:r>
          </a:p>
          <a:p>
            <a:pPr lvl="1"/>
            <a:r>
              <a:rPr lang="en-US" kern="0" dirty="0" smtClean="0">
                <a:latin typeface="Tw Cen MT" panose="020B0602020104020603" pitchFamily="34" charset="0"/>
              </a:rPr>
              <a:t>Induces faults in the signature computation </a:t>
            </a:r>
            <a:r>
              <a:rPr lang="en-US" kern="0" dirty="0" smtClean="0">
                <a:solidFill>
                  <a:srgbClr val="FF0000"/>
                </a:solidFill>
                <a:latin typeface="Tw Cen MT" panose="020B0602020104020603" pitchFamily="34" charset="0"/>
              </a:rPr>
              <a:t>by reducing the power to the processor</a:t>
            </a:r>
          </a:p>
          <a:p>
            <a:pPr lvl="1"/>
            <a:r>
              <a:rPr lang="en-US" kern="0" dirty="0" smtClean="0">
                <a:solidFill>
                  <a:srgbClr val="FF0000"/>
                </a:solidFill>
                <a:latin typeface="Tw Cen MT" panose="020B0602020104020603" pitchFamily="34" charset="0"/>
              </a:rPr>
              <a:t>The faults cause the software to produce invalid signatures </a:t>
            </a:r>
            <a:r>
              <a:rPr lang="en-US" kern="0" dirty="0" smtClean="0">
                <a:latin typeface="Tw Cen MT" panose="020B0602020104020603" pitchFamily="34" charset="0"/>
              </a:rPr>
              <a:t>which can then be analyzed by the attacker to recover the private key</a:t>
            </a:r>
          </a:p>
          <a:p>
            <a:r>
              <a:rPr lang="en-US" kern="0" dirty="0" smtClean="0">
                <a:latin typeface="Tw Cen MT" panose="020B0602020104020603" pitchFamily="34" charset="0"/>
              </a:rPr>
              <a:t>The attack algorithm involves inducing single-bit errors and observing the results</a:t>
            </a:r>
          </a:p>
          <a:p>
            <a:r>
              <a:rPr lang="en-US" kern="0" dirty="0" smtClean="0">
                <a:latin typeface="Tw Cen MT" panose="020B0602020104020603" pitchFamily="34" charset="0"/>
              </a:rPr>
              <a:t>While worthy of consideration, this attack does not appear to be a serious threat to RSA</a:t>
            </a:r>
          </a:p>
          <a:p>
            <a:pPr lvl="1"/>
            <a:r>
              <a:rPr lang="en-US" kern="0" dirty="0" smtClean="0">
                <a:latin typeface="Tw Cen MT" panose="020B0602020104020603" pitchFamily="34" charset="0"/>
              </a:rPr>
              <a:t>It requires that the attacker have physical access to the target machine and is able to directly control the input power to the processor</a:t>
            </a:r>
            <a:endParaRPr lang="en-US" kern="0" dirty="0">
              <a:latin typeface="Tw Cen MT" panose="020B0602020104020603" pitchFamily="34" charset="0"/>
            </a:endParaRPr>
          </a:p>
        </p:txBody>
      </p:sp>
    </p:spTree>
    <p:extLst>
      <p:ext uri="{BB962C8B-B14F-4D97-AF65-F5344CB8AC3E}">
        <p14:creationId xmlns:p14="http://schemas.microsoft.com/office/powerpoint/2010/main" val="353128103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45</a:t>
            </a:fld>
            <a:endParaRPr lang="en-US" altLang="zh-CN" dirty="0">
              <a:latin typeface="Times New Roman" pitchFamily="18" charset="0"/>
              <a:cs typeface="Times New Roman" pitchFamily="18" charset="0"/>
            </a:endParaRPr>
          </a:p>
        </p:txBody>
      </p:sp>
      <p:sp>
        <p:nvSpPr>
          <p:cNvPr id="20490" name="Text Box 10"/>
          <p:cNvSpPr txBox="1">
            <a:spLocks noChangeArrowheads="1"/>
          </p:cNvSpPr>
          <p:nvPr/>
        </p:nvSpPr>
        <p:spPr bwMode="auto">
          <a:xfrm>
            <a:off x="1981200" y="533400"/>
            <a:ext cx="5212837" cy="646331"/>
          </a:xfrm>
          <a:prstGeom prst="rect">
            <a:avLst/>
          </a:prstGeom>
          <a:noFill/>
          <a:ln w="9525">
            <a:noFill/>
            <a:miter lim="800000"/>
            <a:headEnd/>
            <a:tailEnd/>
          </a:ln>
        </p:spPr>
        <p:txBody>
          <a:bodyPr wrap="none">
            <a:spAutoFit/>
          </a:bodyPr>
          <a:lstStyle/>
          <a:p>
            <a:r>
              <a:rPr lang="en-US" altLang="zh-CN" sz="3600" b="1" dirty="0" smtClean="0">
                <a:solidFill>
                  <a:srgbClr val="FF0000"/>
                </a:solidFill>
                <a:latin typeface="Tw Cen MT" panose="020B0602020104020603" pitchFamily="34" charset="0"/>
                <a:ea typeface="SimSun" pitchFamily="2" charset="-122"/>
                <a:cs typeface="Times New Roman" pitchFamily="18" charset="0"/>
              </a:rPr>
              <a:t>Chosen </a:t>
            </a:r>
            <a:r>
              <a:rPr lang="en-US" altLang="zh-CN" sz="3600" b="1" dirty="0" err="1" smtClean="0">
                <a:solidFill>
                  <a:srgbClr val="FF0000"/>
                </a:solidFill>
                <a:latin typeface="Tw Cen MT" panose="020B0602020104020603" pitchFamily="34" charset="0"/>
                <a:ea typeface="SimSun" pitchFamily="2" charset="-122"/>
                <a:cs typeface="Times New Roman" pitchFamily="18" charset="0"/>
              </a:rPr>
              <a:t>CipherText</a:t>
            </a:r>
            <a:r>
              <a:rPr lang="en-US" altLang="zh-CN" sz="3600" b="1" dirty="0" smtClean="0">
                <a:solidFill>
                  <a:srgbClr val="FF0000"/>
                </a:solidFill>
                <a:latin typeface="Tw Cen MT" panose="020B0602020104020603" pitchFamily="34" charset="0"/>
                <a:ea typeface="SimSun" pitchFamily="2" charset="-122"/>
                <a:cs typeface="Times New Roman" pitchFamily="18" charset="0"/>
              </a:rPr>
              <a:t> Attack</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7" name="Rectangle 3"/>
          <p:cNvSpPr txBox="1">
            <a:spLocks noChangeArrowheads="1"/>
          </p:cNvSpPr>
          <p:nvPr/>
        </p:nvSpPr>
        <p:spPr>
          <a:xfrm>
            <a:off x="762000" y="1447800"/>
            <a:ext cx="7772400" cy="4943475"/>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US" kern="0" dirty="0" smtClean="0">
                <a:latin typeface="Tw Cen MT" panose="020B0602020104020603" pitchFamily="34" charset="0"/>
              </a:rPr>
              <a:t>The adversary chooses a number of </a:t>
            </a:r>
            <a:r>
              <a:rPr lang="en-US" kern="0" dirty="0" err="1" smtClean="0">
                <a:latin typeface="Tw Cen MT" panose="020B0602020104020603" pitchFamily="34" charset="0"/>
              </a:rPr>
              <a:t>ciphertexts</a:t>
            </a:r>
            <a:r>
              <a:rPr lang="en-US" kern="0" dirty="0" smtClean="0">
                <a:latin typeface="Tw Cen MT" panose="020B0602020104020603" pitchFamily="34" charset="0"/>
              </a:rPr>
              <a:t> and is then given the corresponding plaintexts, decrypted with the target’s private key</a:t>
            </a:r>
          </a:p>
          <a:p>
            <a:pPr lvl="1"/>
            <a:r>
              <a:rPr lang="en-US" kern="0" dirty="0" smtClean="0">
                <a:latin typeface="Tw Cen MT" panose="020B0602020104020603" pitchFamily="34" charset="0"/>
              </a:rPr>
              <a:t>Thus the adversary could select a plaintext, encrypt it with the </a:t>
            </a:r>
            <a:r>
              <a:rPr lang="en-US" kern="0" dirty="0" smtClean="0">
                <a:solidFill>
                  <a:srgbClr val="FF0000"/>
                </a:solidFill>
                <a:latin typeface="Tw Cen MT" panose="020B0602020104020603" pitchFamily="34" charset="0"/>
              </a:rPr>
              <a:t>target’s public key</a:t>
            </a:r>
            <a:r>
              <a:rPr lang="en-US" kern="0" dirty="0" smtClean="0">
                <a:latin typeface="Tw Cen MT" panose="020B0602020104020603" pitchFamily="34" charset="0"/>
              </a:rPr>
              <a:t>, and then be able to get the plaintext back by having it </a:t>
            </a:r>
            <a:r>
              <a:rPr lang="en-US" kern="0" dirty="0" smtClean="0">
                <a:solidFill>
                  <a:srgbClr val="FF0000"/>
                </a:solidFill>
                <a:latin typeface="Tw Cen MT" panose="020B0602020104020603" pitchFamily="34" charset="0"/>
              </a:rPr>
              <a:t>decrypted with the private key</a:t>
            </a:r>
          </a:p>
          <a:p>
            <a:pPr lvl="1"/>
            <a:r>
              <a:rPr lang="en-US" kern="0" dirty="0" smtClean="0">
                <a:latin typeface="Tw Cen MT" panose="020B0602020104020603" pitchFamily="34" charset="0"/>
              </a:rPr>
              <a:t>The adversary </a:t>
            </a:r>
            <a:r>
              <a:rPr lang="en-US" kern="0" dirty="0" smtClean="0">
                <a:solidFill>
                  <a:srgbClr val="FF0000"/>
                </a:solidFill>
                <a:latin typeface="Tw Cen MT" panose="020B0602020104020603" pitchFamily="34" charset="0"/>
              </a:rPr>
              <a:t>exploits properties of RSA </a:t>
            </a:r>
            <a:r>
              <a:rPr lang="en-US" kern="0" dirty="0" smtClean="0">
                <a:latin typeface="Tw Cen MT" panose="020B0602020104020603" pitchFamily="34" charset="0"/>
              </a:rPr>
              <a:t>and selects blocks of data that, when processed using the target’s private key, yield information needed for cryptanalysis</a:t>
            </a:r>
          </a:p>
        </p:txBody>
      </p:sp>
    </p:spTree>
    <p:extLst>
      <p:ext uri="{BB962C8B-B14F-4D97-AF65-F5344CB8AC3E}">
        <p14:creationId xmlns:p14="http://schemas.microsoft.com/office/powerpoint/2010/main" val="108280166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46</a:t>
            </a:fld>
            <a:endParaRPr lang="en-US" altLang="zh-CN" dirty="0">
              <a:latin typeface="Times New Roman" pitchFamily="18" charset="0"/>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7" name="Rectangle 3"/>
          <p:cNvSpPr txBox="1">
            <a:spLocks noChangeArrowheads="1"/>
          </p:cNvSpPr>
          <p:nvPr/>
        </p:nvSpPr>
        <p:spPr>
          <a:xfrm>
            <a:off x="838200" y="1752600"/>
            <a:ext cx="7772400" cy="2667000"/>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342900" lvl="1" indent="-342900" algn="just">
              <a:buFontTx/>
              <a:buChar char="•"/>
            </a:pPr>
            <a:r>
              <a:rPr lang="en-US" sz="2824" kern="0" dirty="0">
                <a:latin typeface="Tw Cen MT" panose="020B0602020104020603" pitchFamily="34" charset="0"/>
                <a:cs typeface="ＭＳ Ｐゴシック" pitchFamily="-84" charset="-128"/>
              </a:rPr>
              <a:t>To counter such attacks, RSA Security Inc. recommends modifying the plaintext using a procedure known as </a:t>
            </a:r>
            <a:r>
              <a:rPr lang="en-US" sz="2824" i="1" kern="0" dirty="0">
                <a:latin typeface="Tw Cen MT" panose="020B0602020104020603" pitchFamily="34" charset="0"/>
                <a:cs typeface="ＭＳ Ｐゴシック" pitchFamily="-84" charset="-128"/>
              </a:rPr>
              <a:t>optimal asymmetric encryption padding</a:t>
            </a:r>
            <a:r>
              <a:rPr lang="en-US" sz="2824" kern="0" dirty="0">
                <a:latin typeface="Tw Cen MT" panose="020B0602020104020603" pitchFamily="34" charset="0"/>
                <a:cs typeface="ＭＳ Ｐゴシック" pitchFamily="-84" charset="-128"/>
              </a:rPr>
              <a:t> </a:t>
            </a:r>
            <a:r>
              <a:rPr lang="en-US" sz="2824" kern="0" dirty="0">
                <a:solidFill>
                  <a:srgbClr val="FF0000"/>
                </a:solidFill>
                <a:latin typeface="Tw Cen MT" panose="020B0602020104020603" pitchFamily="34" charset="0"/>
                <a:cs typeface="ＭＳ Ｐゴシック" pitchFamily="-84" charset="-128"/>
              </a:rPr>
              <a:t>(OAEP)</a:t>
            </a:r>
          </a:p>
          <a:p>
            <a:pPr algn="just"/>
            <a:endParaRPr lang="en-US" kern="0" dirty="0" smtClean="0">
              <a:latin typeface="Tw Cen MT" panose="020B0602020104020603" pitchFamily="34" charset="0"/>
            </a:endParaRPr>
          </a:p>
        </p:txBody>
      </p:sp>
      <p:sp>
        <p:nvSpPr>
          <p:cNvPr id="6" name="Text Box 10"/>
          <p:cNvSpPr txBox="1">
            <a:spLocks noChangeArrowheads="1"/>
          </p:cNvSpPr>
          <p:nvPr/>
        </p:nvSpPr>
        <p:spPr bwMode="auto">
          <a:xfrm>
            <a:off x="1981200" y="533400"/>
            <a:ext cx="5212837" cy="646331"/>
          </a:xfrm>
          <a:prstGeom prst="rect">
            <a:avLst/>
          </a:prstGeom>
          <a:noFill/>
          <a:ln w="9525">
            <a:noFill/>
            <a:miter lim="800000"/>
            <a:headEnd/>
            <a:tailEnd/>
          </a:ln>
        </p:spPr>
        <p:txBody>
          <a:bodyPr wrap="none">
            <a:spAutoFit/>
          </a:bodyPr>
          <a:lstStyle/>
          <a:p>
            <a:r>
              <a:rPr lang="en-US" altLang="zh-CN" sz="3600" b="1" dirty="0" smtClean="0">
                <a:solidFill>
                  <a:srgbClr val="FF0000"/>
                </a:solidFill>
                <a:latin typeface="Tw Cen MT" panose="020B0602020104020603" pitchFamily="34" charset="0"/>
                <a:ea typeface="SimSun" pitchFamily="2" charset="-122"/>
                <a:cs typeface="Times New Roman" pitchFamily="18" charset="0"/>
              </a:rPr>
              <a:t>Chosen </a:t>
            </a:r>
            <a:r>
              <a:rPr lang="en-US" altLang="zh-CN" sz="3600" b="1" dirty="0" err="1" smtClean="0">
                <a:solidFill>
                  <a:srgbClr val="FF0000"/>
                </a:solidFill>
                <a:latin typeface="Tw Cen MT" panose="020B0602020104020603" pitchFamily="34" charset="0"/>
                <a:ea typeface="SimSun" pitchFamily="2" charset="-122"/>
                <a:cs typeface="Times New Roman" pitchFamily="18" charset="0"/>
              </a:rPr>
              <a:t>CipherText</a:t>
            </a:r>
            <a:r>
              <a:rPr lang="en-US" altLang="zh-CN" sz="3600" b="1" dirty="0" smtClean="0">
                <a:solidFill>
                  <a:srgbClr val="FF0000"/>
                </a:solidFill>
                <a:latin typeface="Tw Cen MT" panose="020B0602020104020603" pitchFamily="34" charset="0"/>
                <a:ea typeface="SimSun" pitchFamily="2" charset="-122"/>
                <a:cs typeface="Times New Roman" pitchFamily="18" charset="0"/>
              </a:rPr>
              <a:t> Attack</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Tree>
    <p:extLst>
      <p:ext uri="{BB962C8B-B14F-4D97-AF65-F5344CB8AC3E}">
        <p14:creationId xmlns:p14="http://schemas.microsoft.com/office/powerpoint/2010/main" val="6177570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solidFill>
                  <a:srgbClr val="FF0000"/>
                </a:solidFill>
                <a:latin typeface="Tw Cen MT" panose="020B0602020104020603" pitchFamily="34" charset="0"/>
              </a:rPr>
              <a:t>Attacks on RSA</a:t>
            </a:r>
            <a:endParaRPr lang="en-US" sz="3600" b="1" dirty="0">
              <a:solidFill>
                <a:srgbClr val="FF0000"/>
              </a:solidFill>
              <a:latin typeface="Tw Cen MT" panose="020B0602020104020603" pitchFamily="34" charset="0"/>
            </a:endParaRPr>
          </a:p>
        </p:txBody>
      </p:sp>
      <p:sp>
        <p:nvSpPr>
          <p:cNvPr id="3" name="Slide Number Placeholder 2"/>
          <p:cNvSpPr>
            <a:spLocks noGrp="1"/>
          </p:cNvSpPr>
          <p:nvPr>
            <p:ph type="sldNum" sz="quarter" idx="12"/>
          </p:nvPr>
        </p:nvSpPr>
        <p:spPr/>
        <p:txBody>
          <a:bodyPr/>
          <a:lstStyle/>
          <a:p>
            <a:pPr>
              <a:defRPr/>
            </a:pPr>
            <a:fld id="{1C0370D3-2A0E-430D-9AB5-2A1EC2291BB5}" type="slidenum">
              <a:rPr lang="en-US" smtClean="0"/>
              <a:pPr>
                <a:defRPr/>
              </a:pPr>
              <a:t>47</a:t>
            </a:fld>
            <a:endParaRPr lang="en-US" dirty="0"/>
          </a:p>
        </p:txBody>
      </p:sp>
      <p:sp>
        <p:nvSpPr>
          <p:cNvPr id="4" name="TextBox 3"/>
          <p:cNvSpPr txBox="1"/>
          <p:nvPr/>
        </p:nvSpPr>
        <p:spPr>
          <a:xfrm>
            <a:off x="457200" y="1143000"/>
            <a:ext cx="8153400" cy="1569660"/>
          </a:xfrm>
          <a:prstGeom prst="rect">
            <a:avLst/>
          </a:prstGeom>
          <a:noFill/>
        </p:spPr>
        <p:txBody>
          <a:bodyPr wrap="square" rtlCol="0">
            <a:spAutoFit/>
          </a:bodyPr>
          <a:lstStyle/>
          <a:p>
            <a:pPr algn="just"/>
            <a:r>
              <a:rPr lang="en-US" sz="2400" dirty="0" smtClean="0">
                <a:latin typeface="Tw Cen MT" panose="020B0602020104020603" pitchFamily="34" charset="0"/>
              </a:rPr>
              <a:t>Attack </a:t>
            </a:r>
            <a:r>
              <a:rPr lang="en-US" sz="2400" dirty="0" err="1" smtClean="0">
                <a:latin typeface="Tw Cen MT" panose="020B0602020104020603" pitchFamily="34" charset="0"/>
              </a:rPr>
              <a:t>bsed</a:t>
            </a:r>
            <a:r>
              <a:rPr lang="en-US" sz="2400" dirty="0" smtClean="0">
                <a:latin typeface="Tw Cen MT" panose="020B0602020104020603" pitchFamily="34" charset="0"/>
              </a:rPr>
              <a:t> on the multiplicative property of RSA. Let Alice creates </a:t>
            </a:r>
            <a:r>
              <a:rPr lang="en-US" sz="2400" dirty="0" smtClean="0">
                <a:solidFill>
                  <a:srgbClr val="00B0F0"/>
                </a:solidFill>
                <a:latin typeface="Tw Cen MT" panose="020B0602020104020603" pitchFamily="34" charset="0"/>
              </a:rPr>
              <a:t>C=</a:t>
            </a:r>
            <a:r>
              <a:rPr lang="en-US" sz="2400" dirty="0" err="1" smtClean="0">
                <a:solidFill>
                  <a:srgbClr val="00B0F0"/>
                </a:solidFill>
                <a:latin typeface="Tw Cen MT" panose="020B0602020104020603" pitchFamily="34" charset="0"/>
              </a:rPr>
              <a:t>P</a:t>
            </a:r>
            <a:r>
              <a:rPr lang="en-US" sz="2400" baseline="30000" dirty="0" err="1" smtClean="0">
                <a:solidFill>
                  <a:srgbClr val="00B0F0"/>
                </a:solidFill>
                <a:latin typeface="Tw Cen MT" panose="020B0602020104020603" pitchFamily="34" charset="0"/>
              </a:rPr>
              <a:t>e</a:t>
            </a:r>
            <a:r>
              <a:rPr lang="en-US" sz="2400" dirty="0" smtClean="0">
                <a:solidFill>
                  <a:srgbClr val="00B0F0"/>
                </a:solidFill>
                <a:latin typeface="Tw Cen MT" panose="020B0602020104020603" pitchFamily="34" charset="0"/>
              </a:rPr>
              <a:t> mod n </a:t>
            </a:r>
            <a:r>
              <a:rPr lang="en-US" sz="2400" dirty="0" smtClean="0">
                <a:latin typeface="Tw Cen MT" panose="020B0602020104020603" pitchFamily="34" charset="0"/>
              </a:rPr>
              <a:t>and sends it to Bob. </a:t>
            </a:r>
            <a:r>
              <a:rPr lang="en-US" sz="2400" dirty="0" smtClean="0">
                <a:solidFill>
                  <a:srgbClr val="C00000"/>
                </a:solidFill>
                <a:latin typeface="Tw Cen MT" panose="020B0602020104020603" pitchFamily="34" charset="0"/>
              </a:rPr>
              <a:t>Bob will decrypt an arbitrary </a:t>
            </a:r>
            <a:r>
              <a:rPr lang="en-US" sz="2400" dirty="0" err="1" smtClean="0">
                <a:solidFill>
                  <a:srgbClr val="C00000"/>
                </a:solidFill>
                <a:latin typeface="Tw Cen MT" panose="020B0602020104020603" pitchFamily="34" charset="0"/>
              </a:rPr>
              <a:t>ciphertext</a:t>
            </a:r>
            <a:r>
              <a:rPr lang="en-US" sz="2400" dirty="0" smtClean="0">
                <a:solidFill>
                  <a:srgbClr val="C00000"/>
                </a:solidFill>
                <a:latin typeface="Tw Cen MT" panose="020B0602020104020603" pitchFamily="34" charset="0"/>
              </a:rPr>
              <a:t> for Eve other than C</a:t>
            </a:r>
            <a:r>
              <a:rPr lang="en-US" sz="2400" dirty="0" smtClean="0">
                <a:latin typeface="Tw Cen MT" panose="020B0602020104020603" pitchFamily="34" charset="0"/>
              </a:rPr>
              <a:t>. Eve intercepts C and  do following steps to get P</a:t>
            </a:r>
            <a:endParaRPr lang="en-US" sz="2400" dirty="0">
              <a:latin typeface="Tw Cen MT" panose="020B0602020104020603" pitchFamily="34" charset="0"/>
            </a:endParaRPr>
          </a:p>
        </p:txBody>
      </p:sp>
      <p:sp>
        <p:nvSpPr>
          <p:cNvPr id="5" name="Rectangle 4"/>
          <p:cNvSpPr/>
          <p:nvPr/>
        </p:nvSpPr>
        <p:spPr>
          <a:xfrm>
            <a:off x="762000" y="2895600"/>
            <a:ext cx="7696200" cy="3648884"/>
          </a:xfrm>
          <a:prstGeom prst="rect">
            <a:avLst/>
          </a:prstGeom>
        </p:spPr>
        <p:txBody>
          <a:bodyPr wrap="square">
            <a:spAutoFit/>
          </a:bodyPr>
          <a:lstStyle/>
          <a:p>
            <a:pPr marL="342900" marR="0" lvl="0" indent="-342900">
              <a:lnSpc>
                <a:spcPct val="107000"/>
              </a:lnSpc>
              <a:spcBef>
                <a:spcPts val="0"/>
              </a:spcBef>
              <a:spcAft>
                <a:spcPts val="0"/>
              </a:spcAft>
              <a:buFont typeface="+mj-lt"/>
              <a:buAutoNum type="alphaLcPeriod"/>
            </a:pPr>
            <a:r>
              <a:rPr lang="en-GB" sz="2400" dirty="0">
                <a:latin typeface="Tw Cen MT" panose="020B0602020104020603" pitchFamily="34" charset="0"/>
                <a:ea typeface="Calibri" panose="020F0502020204030204" pitchFamily="34" charset="0"/>
                <a:cs typeface="Times New Roman" panose="02020603050405020304" pitchFamily="18" charset="0"/>
              </a:rPr>
              <a:t>Eve </a:t>
            </a:r>
            <a:r>
              <a:rPr lang="en-GB" sz="2400" dirty="0" smtClean="0">
                <a:latin typeface="Tw Cen MT" panose="020B0602020104020603" pitchFamily="34" charset="0"/>
                <a:ea typeface="Calibri" panose="020F0502020204030204" pitchFamily="34" charset="0"/>
                <a:cs typeface="Times New Roman" panose="02020603050405020304" pitchFamily="18" charset="0"/>
              </a:rPr>
              <a:t>chooses </a:t>
            </a:r>
            <a:r>
              <a:rPr lang="en-GB" sz="2400" dirty="0">
                <a:latin typeface="Tw Cen MT" panose="020B0602020104020603" pitchFamily="34" charset="0"/>
                <a:ea typeface="Calibri" panose="020F0502020204030204" pitchFamily="34" charset="0"/>
                <a:cs typeface="Times New Roman" panose="02020603050405020304" pitchFamily="18" charset="0"/>
              </a:rPr>
              <a:t>a random integer X in Z</a:t>
            </a:r>
            <a:r>
              <a:rPr lang="en-GB" sz="2400" baseline="-25000" dirty="0">
                <a:latin typeface="Tw Cen MT" panose="020B0602020104020603" pitchFamily="34" charset="0"/>
                <a:ea typeface="Calibri" panose="020F0502020204030204" pitchFamily="34" charset="0"/>
                <a:cs typeface="Times New Roman" panose="02020603050405020304" pitchFamily="18" charset="0"/>
              </a:rPr>
              <a:t>n</a:t>
            </a:r>
            <a:r>
              <a:rPr lang="en-GB" sz="2400" dirty="0">
                <a:latin typeface="Tw Cen MT" panose="020B0602020104020603" pitchFamily="34" charset="0"/>
                <a:ea typeface="Calibri" panose="020F0502020204030204" pitchFamily="34" charset="0"/>
                <a:cs typeface="Times New Roman" panose="02020603050405020304" pitchFamily="18" charset="0"/>
              </a:rPr>
              <a: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eriod"/>
            </a:pPr>
            <a:r>
              <a:rPr lang="en-GB" sz="2400" dirty="0">
                <a:latin typeface="Tw Cen MT" panose="020B0602020104020603" pitchFamily="34" charset="0"/>
                <a:ea typeface="Calibri" panose="020F0502020204030204" pitchFamily="34" charset="0"/>
                <a:cs typeface="Times New Roman" panose="02020603050405020304" pitchFamily="18" charset="0"/>
              </a:rPr>
              <a:t>Eve calculates Y=</a:t>
            </a:r>
            <a:r>
              <a:rPr lang="en-GB" sz="2400" dirty="0" err="1">
                <a:latin typeface="Tw Cen MT" panose="020B0602020104020603" pitchFamily="34" charset="0"/>
                <a:ea typeface="Calibri" panose="020F0502020204030204" pitchFamily="34" charset="0"/>
                <a:cs typeface="Times New Roman" panose="02020603050405020304" pitchFamily="18" charset="0"/>
              </a:rPr>
              <a:t>C×X</a:t>
            </a:r>
            <a:r>
              <a:rPr lang="en-GB" sz="2400" baseline="30000" dirty="0" err="1">
                <a:latin typeface="Tw Cen MT" panose="020B0602020104020603" pitchFamily="34" charset="0"/>
                <a:ea typeface="Calibri" panose="020F0502020204030204" pitchFamily="34" charset="0"/>
                <a:cs typeface="Times New Roman" panose="02020603050405020304" pitchFamily="18" charset="0"/>
              </a:rPr>
              <a:t>e</a:t>
            </a:r>
            <a:r>
              <a:rPr lang="en-GB" sz="2400" dirty="0">
                <a:latin typeface="Tw Cen MT" panose="020B0602020104020603" pitchFamily="34" charset="0"/>
                <a:ea typeface="Calibri" panose="020F0502020204030204" pitchFamily="34" charset="0"/>
                <a:cs typeface="Times New Roman" panose="02020603050405020304" pitchFamily="18" charset="0"/>
              </a:rPr>
              <a:t> mod 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eriod"/>
            </a:pPr>
            <a:r>
              <a:rPr lang="en-GB" sz="2400" dirty="0">
                <a:latin typeface="Tw Cen MT" panose="020B0602020104020603" pitchFamily="34" charset="0"/>
                <a:ea typeface="Calibri" panose="020F0502020204030204" pitchFamily="34" charset="0"/>
                <a:cs typeface="Times New Roman" panose="02020603050405020304" pitchFamily="18" charset="0"/>
              </a:rPr>
              <a:t>Eve sends Y to Bob for decryption and get Z= </a:t>
            </a:r>
            <a:r>
              <a:rPr lang="en-GB" sz="2400" dirty="0" err="1">
                <a:latin typeface="Tw Cen MT" panose="020B0602020104020603" pitchFamily="34" charset="0"/>
                <a:ea typeface="Calibri" panose="020F0502020204030204" pitchFamily="34" charset="0"/>
                <a:cs typeface="Times New Roman" panose="02020603050405020304" pitchFamily="18" charset="0"/>
              </a:rPr>
              <a:t>Y</a:t>
            </a:r>
            <a:r>
              <a:rPr lang="en-GB" sz="2400" baseline="30000" dirty="0" err="1">
                <a:latin typeface="Tw Cen MT" panose="020B0602020104020603" pitchFamily="34" charset="0"/>
                <a:ea typeface="Calibri" panose="020F0502020204030204" pitchFamily="34" charset="0"/>
                <a:cs typeface="Times New Roman" panose="02020603050405020304" pitchFamily="18" charset="0"/>
              </a:rPr>
              <a:t>d</a:t>
            </a:r>
            <a:r>
              <a:rPr lang="en-GB" sz="2400" dirty="0">
                <a:latin typeface="Tw Cen MT" panose="020B0602020104020603" pitchFamily="34" charset="0"/>
                <a:ea typeface="Calibri" panose="020F0502020204030204" pitchFamily="34" charset="0"/>
                <a:cs typeface="Times New Roman" panose="02020603050405020304" pitchFamily="18" charset="0"/>
              </a:rPr>
              <a:t> mod n; This step is an instance of a chosen-</a:t>
            </a:r>
            <a:r>
              <a:rPr lang="en-GB" sz="2400" dirty="0" err="1">
                <a:latin typeface="Tw Cen MT" panose="020B0602020104020603" pitchFamily="34" charset="0"/>
                <a:ea typeface="Calibri" panose="020F0502020204030204" pitchFamily="34" charset="0"/>
                <a:cs typeface="Times New Roman" panose="02020603050405020304" pitchFamily="18" charset="0"/>
              </a:rPr>
              <a:t>ciphertext</a:t>
            </a:r>
            <a:r>
              <a:rPr lang="en-GB" sz="2400" dirty="0">
                <a:latin typeface="Tw Cen MT" panose="020B0602020104020603" pitchFamily="34" charset="0"/>
                <a:ea typeface="Calibri" panose="020F0502020204030204" pitchFamily="34" charset="0"/>
                <a:cs typeface="Times New Roman" panose="02020603050405020304" pitchFamily="18" charset="0"/>
              </a:rPr>
              <a:t> attack.</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eriod"/>
            </a:pPr>
            <a:r>
              <a:rPr lang="en-GB" sz="2400" dirty="0">
                <a:latin typeface="Tw Cen MT" panose="020B0602020104020603" pitchFamily="34" charset="0"/>
                <a:ea typeface="Calibri" panose="020F0502020204030204" pitchFamily="34" charset="0"/>
                <a:cs typeface="Times New Roman" panose="02020603050405020304" pitchFamily="18" charset="0"/>
              </a:rPr>
              <a:t>Eve can easily find P because</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GB" sz="2400" dirty="0">
                <a:latin typeface="Tw Cen MT" panose="020B0602020104020603" pitchFamily="34" charset="0"/>
                <a:ea typeface="Calibri" panose="020F0502020204030204" pitchFamily="34" charset="0"/>
                <a:cs typeface="Times New Roman" panose="02020603050405020304" pitchFamily="18" charset="0"/>
              </a:rPr>
              <a:t>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GB" sz="2400" dirty="0">
                <a:latin typeface="Tw Cen MT" panose="020B0602020104020603" pitchFamily="34" charset="0"/>
                <a:ea typeface="Calibri" panose="020F0502020204030204" pitchFamily="34" charset="0"/>
                <a:cs typeface="Times New Roman" panose="02020603050405020304" pitchFamily="18" charset="0"/>
              </a:rPr>
              <a:t>Z= </a:t>
            </a:r>
            <a:r>
              <a:rPr lang="en-GB" sz="2400" dirty="0" err="1">
                <a:latin typeface="Tw Cen MT" panose="020B0602020104020603" pitchFamily="34" charset="0"/>
                <a:ea typeface="Calibri" panose="020F0502020204030204" pitchFamily="34" charset="0"/>
                <a:cs typeface="Times New Roman" panose="02020603050405020304" pitchFamily="18" charset="0"/>
              </a:rPr>
              <a:t>Y</a:t>
            </a:r>
            <a:r>
              <a:rPr lang="en-GB" sz="2400" baseline="30000" dirty="0" err="1">
                <a:latin typeface="Tw Cen MT" panose="020B0602020104020603" pitchFamily="34" charset="0"/>
                <a:ea typeface="Calibri" panose="020F0502020204030204" pitchFamily="34" charset="0"/>
                <a:cs typeface="Times New Roman" panose="02020603050405020304" pitchFamily="18" charset="0"/>
              </a:rPr>
              <a:t>d</a:t>
            </a:r>
            <a:r>
              <a:rPr lang="en-GB" sz="2400" dirty="0">
                <a:latin typeface="Tw Cen MT" panose="020B0602020104020603" pitchFamily="34" charset="0"/>
                <a:ea typeface="Calibri" panose="020F0502020204030204" pitchFamily="34" charset="0"/>
                <a:cs typeface="Times New Roman" panose="02020603050405020304" pitchFamily="18" charset="0"/>
              </a:rPr>
              <a:t> mod n=(C× </a:t>
            </a:r>
            <a:r>
              <a:rPr lang="en-GB" sz="2400" dirty="0" err="1">
                <a:latin typeface="Tw Cen MT" panose="020B0602020104020603" pitchFamily="34" charset="0"/>
                <a:ea typeface="Calibri" panose="020F0502020204030204" pitchFamily="34" charset="0"/>
                <a:cs typeface="Times New Roman" panose="02020603050405020304" pitchFamily="18" charset="0"/>
              </a:rPr>
              <a:t>X</a:t>
            </a:r>
            <a:r>
              <a:rPr lang="en-GB" sz="2400" baseline="30000" dirty="0" err="1">
                <a:latin typeface="Tw Cen MT" panose="020B0602020104020603" pitchFamily="34" charset="0"/>
                <a:ea typeface="Calibri" panose="020F0502020204030204" pitchFamily="34" charset="0"/>
                <a:cs typeface="Times New Roman" panose="02020603050405020304" pitchFamily="18" charset="0"/>
              </a:rPr>
              <a:t>e</a:t>
            </a:r>
            <a:r>
              <a:rPr lang="en-GB" sz="2400" dirty="0">
                <a:latin typeface="Tw Cen MT" panose="020B0602020104020603" pitchFamily="34" charset="0"/>
                <a:ea typeface="Calibri" panose="020F0502020204030204" pitchFamily="34" charset="0"/>
                <a:cs typeface="Times New Roman" panose="02020603050405020304" pitchFamily="18" charset="0"/>
              </a:rPr>
              <a:t> </a:t>
            </a:r>
            <a:r>
              <a:rPr lang="en-GB" sz="2400" dirty="0" smtClean="0">
                <a:latin typeface="Tw Cen MT" panose="020B0602020104020603" pitchFamily="34" charset="0"/>
                <a:ea typeface="Calibri" panose="020F0502020204030204" pitchFamily="34" charset="0"/>
                <a:cs typeface="Times New Roman" panose="02020603050405020304" pitchFamily="18" charset="0"/>
              </a:rPr>
              <a:t>)</a:t>
            </a:r>
            <a:r>
              <a:rPr lang="en-GB" sz="2400" baseline="30000" dirty="0" smtClean="0">
                <a:latin typeface="Tw Cen MT" panose="020B0602020104020603" pitchFamily="34" charset="0"/>
                <a:ea typeface="Calibri" panose="020F0502020204030204" pitchFamily="34" charset="0"/>
                <a:cs typeface="Times New Roman" panose="02020603050405020304" pitchFamily="18" charset="0"/>
              </a:rPr>
              <a:t>d  </a:t>
            </a:r>
            <a:r>
              <a:rPr lang="en-GB" sz="2400" dirty="0">
                <a:latin typeface="Tw Cen MT" panose="020B0602020104020603" pitchFamily="34" charset="0"/>
                <a:ea typeface="Calibri" panose="020F0502020204030204" pitchFamily="34" charset="0"/>
                <a:cs typeface="Times New Roman" panose="02020603050405020304" pitchFamily="18" charset="0"/>
              </a:rPr>
              <a:t>mod 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GB" sz="2400" dirty="0">
                <a:latin typeface="Tw Cen MT" panose="020B0602020104020603" pitchFamily="34" charset="0"/>
                <a:ea typeface="Calibri" panose="020F0502020204030204" pitchFamily="34" charset="0"/>
                <a:cs typeface="Times New Roman" panose="02020603050405020304" pitchFamily="18" charset="0"/>
              </a:rPr>
              <a:t>=( C</a:t>
            </a:r>
            <a:r>
              <a:rPr lang="en-GB" sz="2400" baseline="30000" dirty="0">
                <a:latin typeface="Tw Cen MT" panose="020B0602020104020603" pitchFamily="34" charset="0"/>
                <a:ea typeface="Calibri" panose="020F0502020204030204" pitchFamily="34" charset="0"/>
                <a:cs typeface="Times New Roman" panose="02020603050405020304" pitchFamily="18" charset="0"/>
              </a:rPr>
              <a:t>d</a:t>
            </a:r>
            <a:r>
              <a:rPr lang="en-GB" sz="2400" dirty="0">
                <a:latin typeface="Tw Cen MT" panose="020B0602020104020603" pitchFamily="34" charset="0"/>
                <a:ea typeface="Calibri" panose="020F0502020204030204" pitchFamily="34" charset="0"/>
                <a:cs typeface="Times New Roman" panose="02020603050405020304" pitchFamily="18" charset="0"/>
              </a:rPr>
              <a:t> × </a:t>
            </a:r>
            <a:r>
              <a:rPr lang="en-GB" sz="2400" dirty="0" err="1">
                <a:latin typeface="Tw Cen MT" panose="020B0602020104020603" pitchFamily="34" charset="0"/>
                <a:ea typeface="Calibri" panose="020F0502020204030204" pitchFamily="34" charset="0"/>
                <a:cs typeface="Times New Roman" panose="02020603050405020304" pitchFamily="18" charset="0"/>
              </a:rPr>
              <a:t>X</a:t>
            </a:r>
            <a:r>
              <a:rPr lang="en-GB" sz="2400" baseline="30000" dirty="0" err="1">
                <a:latin typeface="Tw Cen MT" panose="020B0602020104020603" pitchFamily="34" charset="0"/>
                <a:ea typeface="Calibri" panose="020F0502020204030204" pitchFamily="34" charset="0"/>
                <a:cs typeface="Times New Roman" panose="02020603050405020304" pitchFamily="18" charset="0"/>
              </a:rPr>
              <a:t>ed</a:t>
            </a:r>
            <a:r>
              <a:rPr lang="en-GB" sz="2400" dirty="0">
                <a:latin typeface="Tw Cen MT" panose="020B0602020104020603" pitchFamily="34" charset="0"/>
                <a:ea typeface="Calibri" panose="020F0502020204030204" pitchFamily="34" charset="0"/>
                <a:cs typeface="Times New Roman" panose="02020603050405020304" pitchFamily="18" charset="0"/>
              </a:rPr>
              <a:t> ) mod n=( C</a:t>
            </a:r>
            <a:r>
              <a:rPr lang="en-GB" sz="2400" baseline="30000" dirty="0">
                <a:latin typeface="Tw Cen MT" panose="020B0602020104020603" pitchFamily="34" charset="0"/>
                <a:ea typeface="Calibri" panose="020F0502020204030204" pitchFamily="34" charset="0"/>
                <a:cs typeface="Times New Roman" panose="02020603050405020304" pitchFamily="18" charset="0"/>
              </a:rPr>
              <a:t>d</a:t>
            </a:r>
            <a:r>
              <a:rPr lang="en-GB" sz="2400" dirty="0">
                <a:latin typeface="Tw Cen MT" panose="020B0602020104020603" pitchFamily="34" charset="0"/>
                <a:ea typeface="Calibri" panose="020F0502020204030204" pitchFamily="34" charset="0"/>
                <a:cs typeface="Times New Roman" panose="02020603050405020304" pitchFamily="18" charset="0"/>
              </a:rPr>
              <a:t> ×X) mod 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GB" sz="2400" dirty="0">
                <a:latin typeface="Tw Cen MT" panose="020B0602020104020603" pitchFamily="34" charset="0"/>
                <a:ea typeface="Calibri" panose="020F0502020204030204" pitchFamily="34" charset="0"/>
                <a:cs typeface="Times New Roman" panose="02020603050405020304" pitchFamily="18" charset="0"/>
              </a:rPr>
              <a:t>=(P × X) mod n </a:t>
            </a:r>
            <a:r>
              <a:rPr lang="en-GB" sz="2400" dirty="0">
                <a:latin typeface="Arial" panose="020B0604020202020204" pitchFamily="34" charset="0"/>
                <a:ea typeface="Calibri" panose="020F0502020204030204" pitchFamily="34" charset="0"/>
                <a:cs typeface="Times New Roman" panose="02020603050405020304" pitchFamily="18" charset="0"/>
              </a:rPr>
              <a:t>→</a:t>
            </a:r>
            <a:r>
              <a:rPr lang="en-GB" sz="2400" dirty="0">
                <a:latin typeface="Tw Cen MT" panose="020B0602020104020603" pitchFamily="34" charset="0"/>
                <a:ea typeface="Calibri" panose="020F0502020204030204" pitchFamily="34" charset="0"/>
                <a:cs typeface="Times New Roman" panose="02020603050405020304" pitchFamily="18" charset="0"/>
              </a:rPr>
              <a:t> P=Z</a:t>
            </a:r>
            <a:r>
              <a:rPr lang="en-GB" sz="2400" dirty="0">
                <a:latin typeface="Tw Cen MT" panose="020B0602020104020603" pitchFamily="34" charset="0"/>
                <a:ea typeface="Calibri" panose="020F0502020204030204" pitchFamily="34" charset="0"/>
                <a:cs typeface="Tw Cen MT" panose="020B0602020104020603" pitchFamily="34" charset="0"/>
              </a:rPr>
              <a:t>×</a:t>
            </a:r>
            <a:r>
              <a:rPr lang="en-GB" sz="2400" dirty="0">
                <a:latin typeface="Tw Cen MT" panose="020B0602020104020603" pitchFamily="34" charset="0"/>
                <a:ea typeface="Calibri" panose="020F0502020204030204" pitchFamily="34" charset="0"/>
                <a:cs typeface="Times New Roman" panose="02020603050405020304" pitchFamily="18" charset="0"/>
              </a:rPr>
              <a:t>X</a:t>
            </a:r>
            <a:r>
              <a:rPr lang="en-GB" sz="2400" baseline="30000" dirty="0">
                <a:latin typeface="Tw Cen MT" panose="020B0602020104020603" pitchFamily="34" charset="0"/>
                <a:ea typeface="Calibri" panose="020F0502020204030204" pitchFamily="34" charset="0"/>
                <a:cs typeface="Times New Roman" panose="02020603050405020304" pitchFamily="18" charset="0"/>
              </a:rPr>
              <a:t>-1</a:t>
            </a:r>
            <a:r>
              <a:rPr lang="en-GB" sz="2400" dirty="0">
                <a:latin typeface="Tw Cen MT" panose="020B0602020104020603" pitchFamily="34" charset="0"/>
                <a:ea typeface="Calibri" panose="020F0502020204030204" pitchFamily="34" charset="0"/>
                <a:cs typeface="Times New Roman" panose="02020603050405020304" pitchFamily="18" charset="0"/>
              </a:rPr>
              <a:t> mod n</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8881247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533400" y="59436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48</a:t>
            </a:fld>
            <a:endParaRPr lang="en-US" altLang="zh-CN" dirty="0">
              <a:latin typeface="Times New Roman" pitchFamily="18" charset="0"/>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6" name="Text Box 10"/>
          <p:cNvSpPr txBox="1">
            <a:spLocks noChangeArrowheads="1"/>
          </p:cNvSpPr>
          <p:nvPr/>
        </p:nvSpPr>
        <p:spPr bwMode="auto">
          <a:xfrm>
            <a:off x="24618" y="152400"/>
            <a:ext cx="8585982" cy="584775"/>
          </a:xfrm>
          <a:prstGeom prst="rect">
            <a:avLst/>
          </a:prstGeom>
          <a:noFill/>
          <a:ln w="9525">
            <a:noFill/>
            <a:miter lim="800000"/>
            <a:headEnd/>
            <a:tailEnd/>
          </a:ln>
        </p:spPr>
        <p:txBody>
          <a:bodyPr wrap="square">
            <a:spAutoFit/>
          </a:bodyPr>
          <a:lstStyle/>
          <a:p>
            <a:r>
              <a:rPr lang="en-GB" altLang="zh-CN" sz="3200" b="1" dirty="0" smtClean="0">
                <a:solidFill>
                  <a:srgbClr val="FF0000"/>
                </a:solidFill>
                <a:latin typeface="Tw Cen MT" panose="020B0602020104020603" pitchFamily="34" charset="0"/>
                <a:ea typeface="SimSun" pitchFamily="2" charset="-122"/>
                <a:cs typeface="Times New Roman" pitchFamily="18" charset="0"/>
              </a:rPr>
              <a:t>Optimal </a:t>
            </a:r>
            <a:r>
              <a:rPr lang="en-GB" altLang="zh-CN" sz="3200" b="1" dirty="0">
                <a:solidFill>
                  <a:srgbClr val="FF0000"/>
                </a:solidFill>
                <a:latin typeface="Tw Cen MT" panose="020B0602020104020603" pitchFamily="34" charset="0"/>
                <a:ea typeface="SimSun" pitchFamily="2" charset="-122"/>
                <a:cs typeface="Times New Roman" pitchFamily="18" charset="0"/>
              </a:rPr>
              <a:t>Asymmetric Encryption Padding (OAEP)</a:t>
            </a:r>
            <a:endParaRPr lang="en-US" altLang="zh-CN" sz="3200" b="1" dirty="0">
              <a:solidFill>
                <a:srgbClr val="FF0000"/>
              </a:solidFill>
              <a:latin typeface="Tw Cen MT" panose="020B0602020104020603" pitchFamily="34" charset="0"/>
              <a:ea typeface="SimSun" pitchFamily="2" charset="-122"/>
              <a:cs typeface="Times New Roman" pitchFamily="18" charset="0"/>
            </a:endParaRPr>
          </a:p>
        </p:txBody>
      </p:sp>
      <p:pic>
        <p:nvPicPr>
          <p:cNvPr id="3" name="Picture 2"/>
          <p:cNvPicPr>
            <a:picLocks noChangeAspect="1"/>
          </p:cNvPicPr>
          <p:nvPr/>
        </p:nvPicPr>
        <p:blipFill>
          <a:blip r:embed="rId3"/>
          <a:stretch>
            <a:fillRect/>
          </a:stretch>
        </p:blipFill>
        <p:spPr>
          <a:xfrm>
            <a:off x="1143000" y="838200"/>
            <a:ext cx="6781800" cy="5641130"/>
          </a:xfrm>
          <a:prstGeom prst="rect">
            <a:avLst/>
          </a:prstGeom>
        </p:spPr>
      </p:pic>
    </p:spTree>
    <p:extLst>
      <p:ext uri="{BB962C8B-B14F-4D97-AF65-F5344CB8AC3E}">
        <p14:creationId xmlns:p14="http://schemas.microsoft.com/office/powerpoint/2010/main" val="28716208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p:cNvSpPr>
            <a:spLocks noGrp="1"/>
          </p:cNvSpPr>
          <p:nvPr>
            <p:ph type="sldNum" sz="quarter" idx="10"/>
          </p:nvPr>
        </p:nvSpPr>
        <p:spPr>
          <a:noFill/>
        </p:spPr>
        <p:txBody>
          <a:bodyPr/>
          <a:lstStyle/>
          <a:p>
            <a:fld id="{3DA6280D-DA22-4424-8585-7380E6CA8E0D}" type="slidenum">
              <a:rPr lang="en-US" altLang="zh-CN" smtClean="0"/>
              <a:pPr/>
              <a:t>49</a:t>
            </a:fld>
            <a:endParaRPr lang="en-US" altLang="zh-CN" dirty="0"/>
          </a:p>
        </p:txBody>
      </p:sp>
      <p:sp>
        <p:nvSpPr>
          <p:cNvPr id="26634" name="Rectangle 9"/>
          <p:cNvSpPr>
            <a:spLocks noChangeArrowheads="1"/>
          </p:cNvSpPr>
          <p:nvPr/>
        </p:nvSpPr>
        <p:spPr bwMode="auto">
          <a:xfrm>
            <a:off x="228600" y="838200"/>
            <a:ext cx="8686800" cy="519113"/>
          </a:xfrm>
          <a:prstGeom prst="rect">
            <a:avLst/>
          </a:prstGeom>
          <a:solidFill>
            <a:schemeClr val="bg1"/>
          </a:solidFill>
          <a:ln w="9525">
            <a:noFill/>
            <a:miter lim="800000"/>
            <a:headEnd/>
            <a:tailEnd/>
          </a:ln>
        </p:spPr>
        <p:txBody>
          <a:bodyPr>
            <a:spAutoFit/>
          </a:bodyPr>
          <a:lstStyle/>
          <a:p>
            <a:pPr algn="just"/>
            <a:r>
              <a:rPr lang="en-US" altLang="zh-CN" sz="2800" dirty="0">
                <a:solidFill>
                  <a:srgbClr val="0000CC"/>
                </a:solidFill>
                <a:latin typeface="Tw Cen MT" panose="020B0602020104020603" pitchFamily="34" charset="0"/>
                <a:ea typeface="SimSun" pitchFamily="2" charset="-122"/>
              </a:rPr>
              <a:t>Proof of RSA</a:t>
            </a:r>
          </a:p>
        </p:txBody>
      </p:sp>
      <p:sp>
        <p:nvSpPr>
          <p:cNvPr id="26635" name="Text Box 10"/>
          <p:cNvSpPr txBox="1">
            <a:spLocks noChangeArrowheads="1"/>
          </p:cNvSpPr>
          <p:nvPr/>
        </p:nvSpPr>
        <p:spPr bwMode="auto">
          <a:xfrm>
            <a:off x="312902" y="253425"/>
            <a:ext cx="1872629" cy="584775"/>
          </a:xfrm>
          <a:prstGeom prst="rect">
            <a:avLst/>
          </a:prstGeom>
          <a:noFill/>
          <a:ln w="9525">
            <a:noFill/>
            <a:miter lim="800000"/>
            <a:headEnd/>
            <a:tailEnd/>
          </a:ln>
        </p:spPr>
        <p:txBody>
          <a:bodyPr wrap="none">
            <a:spAutoFit/>
          </a:bodyPr>
          <a:lstStyle/>
          <a:p>
            <a:r>
              <a:rPr lang="en-US" altLang="zh-CN" dirty="0" smtClean="0">
                <a:latin typeface="Tw Cen MT" panose="020B0602020104020603" pitchFamily="34" charset="0"/>
                <a:ea typeface="SimSun" pitchFamily="2" charset="-122"/>
              </a:rPr>
              <a:t> </a:t>
            </a:r>
            <a:r>
              <a:rPr lang="en-US" altLang="zh-CN" sz="3200" dirty="0">
                <a:solidFill>
                  <a:srgbClr val="FF0000"/>
                </a:solidFill>
                <a:latin typeface="Tw Cen MT" panose="020B0602020104020603" pitchFamily="34" charset="0"/>
                <a:ea typeface="SimSun" pitchFamily="2" charset="-122"/>
              </a:rPr>
              <a:t>Continued</a:t>
            </a:r>
          </a:p>
        </p:txBody>
      </p:sp>
      <p:pic>
        <p:nvPicPr>
          <p:cNvPr id="26636" name="Picture 11"/>
          <p:cNvPicPr>
            <a:picLocks noChangeAspect="1" noChangeArrowheads="1"/>
          </p:cNvPicPr>
          <p:nvPr/>
        </p:nvPicPr>
        <p:blipFill>
          <a:blip r:embed="rId3"/>
          <a:srcRect/>
          <a:stretch>
            <a:fillRect/>
          </a:stretch>
        </p:blipFill>
        <p:spPr bwMode="auto">
          <a:xfrm>
            <a:off x="228600" y="2286000"/>
            <a:ext cx="8775700" cy="503237"/>
          </a:xfrm>
          <a:prstGeom prst="rect">
            <a:avLst/>
          </a:prstGeom>
          <a:noFill/>
          <a:ln w="38100">
            <a:solidFill>
              <a:schemeClr val="hlink"/>
            </a:solidFill>
            <a:miter lim="800000"/>
            <a:headEnd/>
            <a:tailEnd/>
          </a:ln>
        </p:spPr>
      </p:pic>
      <p:pic>
        <p:nvPicPr>
          <p:cNvPr id="26637" name="Picture 12"/>
          <p:cNvPicPr>
            <a:picLocks noChangeAspect="1" noChangeArrowheads="1"/>
          </p:cNvPicPr>
          <p:nvPr/>
        </p:nvPicPr>
        <p:blipFill>
          <a:blip r:embed="rId4"/>
          <a:srcRect/>
          <a:stretch>
            <a:fillRect/>
          </a:stretch>
        </p:blipFill>
        <p:spPr bwMode="auto">
          <a:xfrm>
            <a:off x="336550" y="3725863"/>
            <a:ext cx="8556625" cy="1303337"/>
          </a:xfrm>
          <a:prstGeom prst="rect">
            <a:avLst/>
          </a:prstGeom>
          <a:noFill/>
          <a:ln w="38100">
            <a:solidFill>
              <a:schemeClr val="hlink"/>
            </a:solidFill>
            <a:miter lim="800000"/>
            <a:headEnd/>
            <a:tailEnd/>
          </a:ln>
        </p:spPr>
      </p:pic>
    </p:spTree>
    <p:extLst>
      <p:ext uri="{BB962C8B-B14F-4D97-AF65-F5344CB8AC3E}">
        <p14:creationId xmlns:p14="http://schemas.microsoft.com/office/powerpoint/2010/main" val="29868142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p:cNvSpPr>
            <a:spLocks noGrp="1"/>
          </p:cNvSpPr>
          <p:nvPr>
            <p:ph type="sldNum" sz="quarter" idx="10"/>
          </p:nvPr>
        </p:nvSpPr>
        <p:spPr>
          <a:noFill/>
        </p:spPr>
        <p:txBody>
          <a:bodyPr/>
          <a:lstStyle/>
          <a:p>
            <a:fld id="{4CC308A9-2A8C-4DC8-85EC-030F9C1FE9BA}" type="slidenum">
              <a:rPr lang="en-US" altLang="zh-CN" smtClean="0">
                <a:latin typeface="Times New Roman" pitchFamily="18" charset="0"/>
                <a:cs typeface="Times New Roman" pitchFamily="18" charset="0"/>
              </a:rPr>
              <a:pPr/>
              <a:t>50</a:t>
            </a:fld>
            <a:endParaRPr lang="en-US" altLang="zh-CN" dirty="0">
              <a:latin typeface="Times New Roman" pitchFamily="18" charset="0"/>
              <a:cs typeface="Times New Roman" pitchFamily="18" charset="0"/>
            </a:endParaRPr>
          </a:p>
        </p:txBody>
      </p:sp>
      <p:sp>
        <p:nvSpPr>
          <p:cNvPr id="27658" name="Text Box 10"/>
          <p:cNvSpPr txBox="1">
            <a:spLocks noChangeArrowheads="1"/>
          </p:cNvSpPr>
          <p:nvPr/>
        </p:nvSpPr>
        <p:spPr bwMode="auto">
          <a:xfrm>
            <a:off x="2667000" y="182781"/>
            <a:ext cx="4330609" cy="584775"/>
          </a:xfrm>
          <a:prstGeom prst="rect">
            <a:avLst/>
          </a:prstGeom>
          <a:noFill/>
          <a:ln w="9525">
            <a:noFill/>
            <a:miter lim="800000"/>
            <a:headEnd/>
            <a:tailEnd/>
          </a:ln>
        </p:spPr>
        <p:txBody>
          <a:bodyPr wrap="none">
            <a:spAutoFit/>
          </a:bodyPr>
          <a:lstStyle/>
          <a:p>
            <a:r>
              <a:rPr lang="en-US" altLang="zh-CN" sz="3200" dirty="0" smtClean="0">
                <a:solidFill>
                  <a:srgbClr val="FF0000"/>
                </a:solidFill>
                <a:latin typeface="Tw Cen MT" panose="020B0602020104020603" pitchFamily="34" charset="0"/>
                <a:ea typeface="SimSun" pitchFamily="2" charset="-122"/>
                <a:cs typeface="Times New Roman" pitchFamily="18" charset="0"/>
              </a:rPr>
              <a:t> </a:t>
            </a:r>
            <a:r>
              <a:rPr lang="en-US" altLang="zh-CN" sz="3200" b="1" dirty="0">
                <a:solidFill>
                  <a:srgbClr val="FF0000"/>
                </a:solidFill>
                <a:latin typeface="Tw Cen MT" panose="020B0602020104020603" pitchFamily="34" charset="0"/>
                <a:ea typeface="SimSun" pitchFamily="2" charset="-122"/>
                <a:cs typeface="Times New Roman" pitchFamily="18" charset="0"/>
              </a:rPr>
              <a:t>Some Trivial Examples</a:t>
            </a:r>
          </a:p>
        </p:txBody>
      </p:sp>
      <p:sp>
        <p:nvSpPr>
          <p:cNvPr id="27659" name="Text Box 11"/>
          <p:cNvSpPr txBox="1">
            <a:spLocks noChangeArrowheads="1"/>
          </p:cNvSpPr>
          <p:nvPr/>
        </p:nvSpPr>
        <p:spPr bwMode="auto">
          <a:xfrm>
            <a:off x="552097" y="681335"/>
            <a:ext cx="1353256" cy="461665"/>
          </a:xfrm>
          <a:prstGeom prst="rect">
            <a:avLst/>
          </a:prstGeom>
          <a:solidFill>
            <a:srgbClr val="0000FF"/>
          </a:solidFill>
          <a:ln w="9525">
            <a:noFill/>
            <a:miter lim="800000"/>
            <a:headEnd/>
            <a:tailEnd/>
          </a:ln>
        </p:spPr>
        <p:txBody>
          <a:bodyPr wrap="none">
            <a:spAutoFit/>
          </a:bodyPr>
          <a:lstStyle/>
          <a:p>
            <a:r>
              <a:rPr lang="en-US" altLang="zh-CN" sz="2400" dirty="0">
                <a:solidFill>
                  <a:schemeClr val="bg1"/>
                </a:solidFill>
                <a:latin typeface="Tw Cen MT" panose="020B0602020104020603" pitchFamily="34" charset="0"/>
                <a:ea typeface="SimSun" pitchFamily="2" charset="-122"/>
                <a:cs typeface="Times New Roman" pitchFamily="18" charset="0"/>
              </a:rPr>
              <a:t>Example </a:t>
            </a:r>
            <a:endParaRPr lang="en-US" altLang="zh-CN" sz="2000" dirty="0">
              <a:solidFill>
                <a:schemeClr val="bg1"/>
              </a:solidFill>
              <a:latin typeface="Tw Cen MT" panose="020B0602020104020603" pitchFamily="34" charset="0"/>
              <a:ea typeface="SimSun" pitchFamily="2" charset="-122"/>
              <a:cs typeface="Times New Roman" pitchFamily="18" charset="0"/>
            </a:endParaRPr>
          </a:p>
        </p:txBody>
      </p:sp>
      <p:sp>
        <p:nvSpPr>
          <p:cNvPr id="27660" name="Rectangle 12"/>
          <p:cNvSpPr>
            <a:spLocks noChangeArrowheads="1"/>
          </p:cNvSpPr>
          <p:nvPr/>
        </p:nvSpPr>
        <p:spPr bwMode="auto">
          <a:xfrm>
            <a:off x="228600" y="1143000"/>
            <a:ext cx="8686800" cy="2308324"/>
          </a:xfrm>
          <a:prstGeom prst="rect">
            <a:avLst/>
          </a:prstGeom>
          <a:solidFill>
            <a:schemeClr val="bg1"/>
          </a:solidFill>
          <a:ln w="9525">
            <a:noFill/>
            <a:miter lim="800000"/>
            <a:headEnd/>
            <a:tailEnd/>
          </a:ln>
        </p:spPr>
        <p:txBody>
          <a:bodyPr>
            <a:spAutoFit/>
          </a:bodyPr>
          <a:lstStyle/>
          <a:p>
            <a:pPr algn="just"/>
            <a:r>
              <a:rPr lang="en-US" altLang="zh-CN" sz="2400" b="0">
                <a:latin typeface="Tw Cen MT" panose="020B0602020104020603" pitchFamily="34" charset="0"/>
                <a:ea typeface="SimSun" pitchFamily="2" charset="-122"/>
                <a:cs typeface="Times New Roman" pitchFamily="18" charset="0"/>
              </a:rPr>
              <a:t>Bob chooses 7 and 11 as p and q and calculates n = 77. The value of f(n) = (7 − 1)(11 − 1) or 60. Now he chooses two exponents, e and d, from Z</a:t>
            </a:r>
            <a:r>
              <a:rPr lang="en-US" altLang="zh-CN" sz="2400" b="0" baseline="-25000">
                <a:latin typeface="Tw Cen MT" panose="020B0602020104020603" pitchFamily="34" charset="0"/>
                <a:ea typeface="SimSun" pitchFamily="2" charset="-122"/>
                <a:cs typeface="Times New Roman" pitchFamily="18" charset="0"/>
              </a:rPr>
              <a:t>60</a:t>
            </a:r>
            <a:r>
              <a:rPr lang="en-US" altLang="zh-CN" sz="2400" b="0">
                <a:latin typeface="Tw Cen MT" panose="020B0602020104020603" pitchFamily="34" charset="0"/>
                <a:ea typeface="SimSun" pitchFamily="2" charset="-122"/>
                <a:cs typeface="Times New Roman" pitchFamily="18" charset="0"/>
              </a:rPr>
              <a:t>∗. If he chooses e to be 13, then d is 37. Note that e × d mod 60 = 1 (they are inverses of each Now imagine that Alice wants to send the plaintext 5 to Bob. She uses the public exponent 13 to encrypt 5.</a:t>
            </a:r>
          </a:p>
        </p:txBody>
      </p:sp>
      <p:pic>
        <p:nvPicPr>
          <p:cNvPr id="27661" name="Picture 13"/>
          <p:cNvPicPr>
            <a:picLocks noChangeAspect="1" noChangeArrowheads="1"/>
          </p:cNvPicPr>
          <p:nvPr/>
        </p:nvPicPr>
        <p:blipFill>
          <a:blip r:embed="rId3"/>
          <a:srcRect/>
          <a:stretch>
            <a:fillRect/>
          </a:stretch>
        </p:blipFill>
        <p:spPr bwMode="auto">
          <a:xfrm>
            <a:off x="285750" y="3657600"/>
            <a:ext cx="8172450" cy="411163"/>
          </a:xfrm>
          <a:prstGeom prst="rect">
            <a:avLst/>
          </a:prstGeom>
          <a:noFill/>
          <a:ln w="9525">
            <a:noFill/>
            <a:miter lim="800000"/>
            <a:headEnd/>
            <a:tailEnd/>
          </a:ln>
        </p:spPr>
      </p:pic>
      <p:sp>
        <p:nvSpPr>
          <p:cNvPr id="27662" name="Rectangle 14"/>
          <p:cNvSpPr>
            <a:spLocks noChangeArrowheads="1"/>
          </p:cNvSpPr>
          <p:nvPr/>
        </p:nvSpPr>
        <p:spPr bwMode="auto">
          <a:xfrm>
            <a:off x="152400" y="4267200"/>
            <a:ext cx="8686800" cy="830997"/>
          </a:xfrm>
          <a:prstGeom prst="rect">
            <a:avLst/>
          </a:prstGeom>
          <a:solidFill>
            <a:schemeClr val="bg1"/>
          </a:solidFill>
          <a:ln w="9525">
            <a:noFill/>
            <a:miter lim="800000"/>
            <a:headEnd/>
            <a:tailEnd/>
          </a:ln>
        </p:spPr>
        <p:txBody>
          <a:bodyPr>
            <a:spAutoFit/>
          </a:bodyPr>
          <a:lstStyle/>
          <a:p>
            <a:pPr algn="just"/>
            <a:r>
              <a:rPr lang="en-US" altLang="zh-CN" sz="2400" b="0">
                <a:latin typeface="Tw Cen MT" panose="020B0602020104020603" pitchFamily="34" charset="0"/>
                <a:ea typeface="SimSun" pitchFamily="2" charset="-122"/>
                <a:cs typeface="Times New Roman" pitchFamily="18" charset="0"/>
              </a:rPr>
              <a:t>Bob receives the ciphertext 26 and uses the private key 37 to decipher the ciphertext:</a:t>
            </a:r>
          </a:p>
        </p:txBody>
      </p:sp>
      <p:pic>
        <p:nvPicPr>
          <p:cNvPr id="27663" name="Picture 15"/>
          <p:cNvPicPr>
            <a:picLocks noChangeAspect="1" noChangeArrowheads="1"/>
          </p:cNvPicPr>
          <p:nvPr/>
        </p:nvPicPr>
        <p:blipFill>
          <a:blip r:embed="rId4"/>
          <a:srcRect/>
          <a:stretch>
            <a:fillRect/>
          </a:stretch>
        </p:blipFill>
        <p:spPr bwMode="auto">
          <a:xfrm>
            <a:off x="200025" y="5541963"/>
            <a:ext cx="8181975" cy="334962"/>
          </a:xfrm>
          <a:prstGeom prst="rect">
            <a:avLst/>
          </a:prstGeom>
          <a:noFill/>
          <a:ln w="9525">
            <a:noFill/>
            <a:miter lim="800000"/>
            <a:headEnd/>
            <a:tailEnd/>
          </a:ln>
        </p:spPr>
      </p:pic>
    </p:spTree>
    <p:extLst>
      <p:ext uri="{BB962C8B-B14F-4D97-AF65-F5344CB8AC3E}">
        <p14:creationId xmlns:p14="http://schemas.microsoft.com/office/powerpoint/2010/main" val="90473695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p:cNvSpPr>
            <a:spLocks noGrp="1"/>
          </p:cNvSpPr>
          <p:nvPr>
            <p:ph type="sldNum" sz="quarter" idx="10"/>
          </p:nvPr>
        </p:nvSpPr>
        <p:spPr>
          <a:xfrm>
            <a:off x="492686" y="6172200"/>
            <a:ext cx="2133600" cy="476250"/>
          </a:xfrm>
          <a:noFill/>
        </p:spPr>
        <p:txBody>
          <a:bodyPr/>
          <a:lstStyle/>
          <a:p>
            <a:fld id="{79F88ABE-F69E-41D3-8F4F-5A2AF2CE3B1A}" type="slidenum">
              <a:rPr lang="en-US" altLang="zh-CN" smtClean="0">
                <a:latin typeface="Times New Roman" pitchFamily="18" charset="0"/>
                <a:cs typeface="Times New Roman" pitchFamily="18" charset="0"/>
              </a:rPr>
              <a:pPr/>
              <a:t>51</a:t>
            </a:fld>
            <a:endParaRPr lang="en-US" altLang="zh-CN" dirty="0">
              <a:latin typeface="Times New Roman" pitchFamily="18" charset="0"/>
              <a:cs typeface="Times New Roman" pitchFamily="18" charset="0"/>
            </a:endParaRPr>
          </a:p>
        </p:txBody>
      </p:sp>
      <p:sp>
        <p:nvSpPr>
          <p:cNvPr id="28682" name="Text Box 9"/>
          <p:cNvSpPr txBox="1">
            <a:spLocks noChangeArrowheads="1"/>
          </p:cNvSpPr>
          <p:nvPr/>
        </p:nvSpPr>
        <p:spPr bwMode="auto">
          <a:xfrm>
            <a:off x="2457991" y="230832"/>
            <a:ext cx="4228017" cy="584775"/>
          </a:xfrm>
          <a:prstGeom prst="rect">
            <a:avLst/>
          </a:prstGeom>
          <a:noFill/>
          <a:ln w="9525">
            <a:noFill/>
            <a:miter lim="800000"/>
            <a:headEnd/>
            <a:tailEnd/>
          </a:ln>
        </p:spPr>
        <p:txBody>
          <a:bodyPr wrap="none">
            <a:spAutoFit/>
          </a:bodyPr>
          <a:lstStyle/>
          <a:p>
            <a:r>
              <a:rPr lang="en-US" altLang="zh-CN" sz="3200" b="1" dirty="0" smtClean="0">
                <a:solidFill>
                  <a:srgbClr val="FF0000"/>
                </a:solidFill>
                <a:latin typeface="Tw Cen MT" panose="020B0602020104020603" pitchFamily="34" charset="0"/>
                <a:ea typeface="SimSun" pitchFamily="2" charset="-122"/>
                <a:cs typeface="Times New Roman" pitchFamily="18" charset="0"/>
              </a:rPr>
              <a:t>Some </a:t>
            </a:r>
            <a:r>
              <a:rPr lang="en-US" altLang="zh-CN" sz="3200" b="1" dirty="0">
                <a:solidFill>
                  <a:srgbClr val="FF0000"/>
                </a:solidFill>
                <a:latin typeface="Tw Cen MT" panose="020B0602020104020603" pitchFamily="34" charset="0"/>
                <a:ea typeface="SimSun" pitchFamily="2" charset="-122"/>
                <a:cs typeface="Times New Roman" pitchFamily="18" charset="0"/>
              </a:rPr>
              <a:t>Trivial Examples</a:t>
            </a:r>
          </a:p>
        </p:txBody>
      </p:sp>
      <p:sp>
        <p:nvSpPr>
          <p:cNvPr id="28683" name="Text Box 10"/>
          <p:cNvSpPr txBox="1">
            <a:spLocks noChangeArrowheads="1"/>
          </p:cNvSpPr>
          <p:nvPr/>
        </p:nvSpPr>
        <p:spPr bwMode="auto">
          <a:xfrm>
            <a:off x="249836" y="584775"/>
            <a:ext cx="1353256" cy="461665"/>
          </a:xfrm>
          <a:prstGeom prst="rect">
            <a:avLst/>
          </a:prstGeom>
          <a:solidFill>
            <a:srgbClr val="0000FF"/>
          </a:solidFill>
          <a:ln w="9525">
            <a:noFill/>
            <a:miter lim="800000"/>
            <a:headEnd/>
            <a:tailEnd/>
          </a:ln>
        </p:spPr>
        <p:txBody>
          <a:bodyPr wrap="none">
            <a:spAutoFit/>
          </a:bodyPr>
          <a:lstStyle/>
          <a:p>
            <a:r>
              <a:rPr lang="en-US" altLang="zh-CN" sz="2400" dirty="0">
                <a:solidFill>
                  <a:schemeClr val="bg1"/>
                </a:solidFill>
                <a:latin typeface="Tw Cen MT" panose="020B0602020104020603" pitchFamily="34" charset="0"/>
                <a:ea typeface="SimSun" pitchFamily="2" charset="-122"/>
                <a:cs typeface="Times New Roman" pitchFamily="18" charset="0"/>
              </a:rPr>
              <a:t>Example </a:t>
            </a:r>
            <a:endParaRPr lang="en-US" altLang="zh-CN" sz="2000" dirty="0">
              <a:solidFill>
                <a:schemeClr val="bg1"/>
              </a:solidFill>
              <a:latin typeface="Tw Cen MT" panose="020B0602020104020603" pitchFamily="34" charset="0"/>
              <a:ea typeface="SimSun" pitchFamily="2" charset="-122"/>
              <a:cs typeface="Times New Roman" pitchFamily="18" charset="0"/>
            </a:endParaRPr>
          </a:p>
        </p:txBody>
      </p:sp>
      <p:sp>
        <p:nvSpPr>
          <p:cNvPr id="28684" name="Rectangle 13"/>
          <p:cNvSpPr>
            <a:spLocks noChangeArrowheads="1"/>
          </p:cNvSpPr>
          <p:nvPr/>
        </p:nvSpPr>
        <p:spPr bwMode="auto">
          <a:xfrm>
            <a:off x="152400" y="4114800"/>
            <a:ext cx="8686800" cy="830997"/>
          </a:xfrm>
          <a:prstGeom prst="rect">
            <a:avLst/>
          </a:prstGeom>
          <a:solidFill>
            <a:schemeClr val="bg1"/>
          </a:solidFill>
          <a:ln w="9525">
            <a:noFill/>
            <a:miter lim="800000"/>
            <a:headEnd/>
            <a:tailEnd/>
          </a:ln>
        </p:spPr>
        <p:txBody>
          <a:bodyPr>
            <a:spAutoFit/>
          </a:bodyPr>
          <a:lstStyle/>
          <a:p>
            <a:pPr algn="just"/>
            <a:r>
              <a:rPr lang="en-US" altLang="zh-CN" sz="2400" b="0" dirty="0">
                <a:latin typeface="Tw Cen MT" panose="020B0602020104020603" pitchFamily="34" charset="0"/>
                <a:ea typeface="SimSun" pitchFamily="2" charset="-122"/>
                <a:cs typeface="Times New Roman" pitchFamily="18" charset="0"/>
              </a:rPr>
              <a:t>Bob receives the </a:t>
            </a:r>
            <a:r>
              <a:rPr lang="en-US" altLang="zh-CN" sz="2400" b="0" dirty="0" err="1">
                <a:latin typeface="Tw Cen MT" panose="020B0602020104020603" pitchFamily="34" charset="0"/>
                <a:ea typeface="SimSun" pitchFamily="2" charset="-122"/>
                <a:cs typeface="Times New Roman" pitchFamily="18" charset="0"/>
              </a:rPr>
              <a:t>ciphertext</a:t>
            </a:r>
            <a:r>
              <a:rPr lang="en-US" altLang="zh-CN" sz="2400" b="0" dirty="0">
                <a:latin typeface="Tw Cen MT" panose="020B0602020104020603" pitchFamily="34" charset="0"/>
                <a:ea typeface="SimSun" pitchFamily="2" charset="-122"/>
                <a:cs typeface="Times New Roman" pitchFamily="18" charset="0"/>
              </a:rPr>
              <a:t> 28 and uses his private key 37 to decipher the </a:t>
            </a:r>
            <a:r>
              <a:rPr lang="en-US" altLang="zh-CN" sz="2400" b="0" dirty="0" err="1">
                <a:latin typeface="Tw Cen MT" panose="020B0602020104020603" pitchFamily="34" charset="0"/>
                <a:ea typeface="SimSun" pitchFamily="2" charset="-122"/>
                <a:cs typeface="Times New Roman" pitchFamily="18" charset="0"/>
              </a:rPr>
              <a:t>ciphertext</a:t>
            </a:r>
            <a:r>
              <a:rPr lang="en-US" altLang="zh-CN" sz="2400" b="0" dirty="0">
                <a:latin typeface="Tw Cen MT" panose="020B0602020104020603" pitchFamily="34" charset="0"/>
                <a:ea typeface="SimSun" pitchFamily="2" charset="-122"/>
                <a:cs typeface="Times New Roman" pitchFamily="18" charset="0"/>
              </a:rPr>
              <a:t>:</a:t>
            </a:r>
          </a:p>
        </p:txBody>
      </p:sp>
      <p:sp>
        <p:nvSpPr>
          <p:cNvPr id="28685" name="Rectangle 15"/>
          <p:cNvSpPr>
            <a:spLocks noChangeArrowheads="1"/>
          </p:cNvSpPr>
          <p:nvPr/>
        </p:nvSpPr>
        <p:spPr bwMode="auto">
          <a:xfrm>
            <a:off x="227351" y="1371600"/>
            <a:ext cx="8686800" cy="1200329"/>
          </a:xfrm>
          <a:prstGeom prst="rect">
            <a:avLst/>
          </a:prstGeom>
          <a:solidFill>
            <a:schemeClr val="bg1"/>
          </a:solidFill>
          <a:ln w="9525">
            <a:noFill/>
            <a:miter lim="800000"/>
            <a:headEnd/>
            <a:tailEnd/>
          </a:ln>
        </p:spPr>
        <p:txBody>
          <a:bodyPr>
            <a:spAutoFit/>
          </a:bodyPr>
          <a:lstStyle/>
          <a:p>
            <a:pPr algn="just"/>
            <a:r>
              <a:rPr lang="en-US" altLang="zh-CN" sz="2400" b="0" dirty="0">
                <a:latin typeface="Tw Cen MT" panose="020B0602020104020603" pitchFamily="34" charset="0"/>
                <a:ea typeface="SimSun" pitchFamily="2" charset="-122"/>
                <a:cs typeface="Times New Roman" pitchFamily="18" charset="0"/>
              </a:rPr>
              <a:t>Now assume that another person, John, wants to send a message to Bob. John can use the same public key announced by Bob (probably on his website), 13; John’s plaintext is 63. John calculates the following:</a:t>
            </a:r>
          </a:p>
        </p:txBody>
      </p:sp>
      <p:pic>
        <p:nvPicPr>
          <p:cNvPr id="28686" name="Picture 16"/>
          <p:cNvPicPr>
            <a:picLocks noChangeAspect="1" noChangeArrowheads="1"/>
          </p:cNvPicPr>
          <p:nvPr/>
        </p:nvPicPr>
        <p:blipFill>
          <a:blip r:embed="rId3"/>
          <a:srcRect/>
          <a:stretch>
            <a:fillRect/>
          </a:stretch>
        </p:blipFill>
        <p:spPr bwMode="auto">
          <a:xfrm>
            <a:off x="474663" y="3357316"/>
            <a:ext cx="7678737" cy="388937"/>
          </a:xfrm>
          <a:prstGeom prst="rect">
            <a:avLst/>
          </a:prstGeom>
          <a:noFill/>
          <a:ln w="9525">
            <a:noFill/>
            <a:miter lim="800000"/>
            <a:headEnd/>
            <a:tailEnd/>
          </a:ln>
        </p:spPr>
      </p:pic>
      <p:pic>
        <p:nvPicPr>
          <p:cNvPr id="28687" name="Picture 17"/>
          <p:cNvPicPr>
            <a:picLocks noChangeAspect="1" noChangeArrowheads="1"/>
          </p:cNvPicPr>
          <p:nvPr/>
        </p:nvPicPr>
        <p:blipFill>
          <a:blip r:embed="rId4"/>
          <a:srcRect/>
          <a:stretch>
            <a:fillRect/>
          </a:stretch>
        </p:blipFill>
        <p:spPr bwMode="auto">
          <a:xfrm>
            <a:off x="456406" y="5375326"/>
            <a:ext cx="7715250" cy="423863"/>
          </a:xfrm>
          <a:prstGeom prst="rect">
            <a:avLst/>
          </a:prstGeom>
          <a:noFill/>
          <a:ln w="9525">
            <a:noFill/>
            <a:miter lim="800000"/>
            <a:headEnd/>
            <a:tailEnd/>
          </a:ln>
        </p:spPr>
      </p:pic>
    </p:spTree>
    <p:extLst>
      <p:ext uri="{BB962C8B-B14F-4D97-AF65-F5344CB8AC3E}">
        <p14:creationId xmlns:p14="http://schemas.microsoft.com/office/powerpoint/2010/main" val="29788229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p:cNvSpPr>
            <a:spLocks noGrp="1"/>
          </p:cNvSpPr>
          <p:nvPr>
            <p:ph type="sldNum" sz="quarter" idx="10"/>
          </p:nvPr>
        </p:nvSpPr>
        <p:spPr>
          <a:noFill/>
        </p:spPr>
        <p:txBody>
          <a:bodyPr/>
          <a:lstStyle/>
          <a:p>
            <a:fld id="{D6081731-A1CD-4AD0-994B-D28771D04A35}" type="slidenum">
              <a:rPr lang="en-US" altLang="zh-CN" smtClean="0">
                <a:latin typeface="Times New Roman" pitchFamily="18" charset="0"/>
                <a:cs typeface="Times New Roman" pitchFamily="18" charset="0"/>
              </a:rPr>
              <a:pPr/>
              <a:t>52</a:t>
            </a:fld>
            <a:endParaRPr lang="en-US" altLang="zh-CN" dirty="0">
              <a:latin typeface="Times New Roman" pitchFamily="18" charset="0"/>
              <a:cs typeface="Times New Roman" pitchFamily="18" charset="0"/>
            </a:endParaRPr>
          </a:p>
        </p:txBody>
      </p:sp>
      <p:sp>
        <p:nvSpPr>
          <p:cNvPr id="29706" name="Text Box 9"/>
          <p:cNvSpPr txBox="1">
            <a:spLocks noChangeArrowheads="1"/>
          </p:cNvSpPr>
          <p:nvPr/>
        </p:nvSpPr>
        <p:spPr bwMode="auto">
          <a:xfrm>
            <a:off x="2819400" y="241012"/>
            <a:ext cx="4285725" cy="584775"/>
          </a:xfrm>
          <a:prstGeom prst="rect">
            <a:avLst/>
          </a:prstGeom>
          <a:noFill/>
          <a:ln w="9525">
            <a:noFill/>
            <a:miter lim="800000"/>
            <a:headEnd/>
            <a:tailEnd/>
          </a:ln>
        </p:spPr>
        <p:txBody>
          <a:bodyPr wrap="none">
            <a:spAutoFit/>
          </a:bodyPr>
          <a:lstStyle/>
          <a:p>
            <a:r>
              <a:rPr lang="en-US" altLang="zh-CN" i="1" dirty="0" smtClean="0">
                <a:solidFill>
                  <a:schemeClr val="hlink"/>
                </a:solidFill>
                <a:latin typeface="Tw Cen MT" panose="020B0602020104020603" pitchFamily="34" charset="0"/>
                <a:ea typeface="SimSun" pitchFamily="2" charset="-122"/>
                <a:cs typeface="Times New Roman" pitchFamily="18" charset="0"/>
              </a:rPr>
              <a:t> </a:t>
            </a:r>
            <a:r>
              <a:rPr lang="en-US" altLang="zh-CN" sz="3200" b="1" dirty="0">
                <a:solidFill>
                  <a:srgbClr val="FF0000"/>
                </a:solidFill>
                <a:latin typeface="Tw Cen MT" panose="020B0602020104020603" pitchFamily="34" charset="0"/>
                <a:ea typeface="SimSun" pitchFamily="2" charset="-122"/>
                <a:cs typeface="Times New Roman" pitchFamily="18" charset="0"/>
              </a:rPr>
              <a:t>Some Trivial Examples</a:t>
            </a:r>
          </a:p>
        </p:txBody>
      </p:sp>
      <p:sp>
        <p:nvSpPr>
          <p:cNvPr id="29707" name="Text Box 10"/>
          <p:cNvSpPr txBox="1">
            <a:spLocks noChangeArrowheads="1"/>
          </p:cNvSpPr>
          <p:nvPr/>
        </p:nvSpPr>
        <p:spPr bwMode="auto">
          <a:xfrm>
            <a:off x="426685" y="533400"/>
            <a:ext cx="1353256" cy="461665"/>
          </a:xfrm>
          <a:prstGeom prst="rect">
            <a:avLst/>
          </a:prstGeom>
          <a:solidFill>
            <a:srgbClr val="0000FF"/>
          </a:solidFill>
          <a:ln w="9525">
            <a:noFill/>
            <a:miter lim="800000"/>
            <a:headEnd/>
            <a:tailEnd/>
          </a:ln>
        </p:spPr>
        <p:txBody>
          <a:bodyPr wrap="none">
            <a:spAutoFit/>
          </a:bodyPr>
          <a:lstStyle/>
          <a:p>
            <a:r>
              <a:rPr lang="en-US" altLang="zh-CN" sz="2400" dirty="0">
                <a:solidFill>
                  <a:schemeClr val="bg1"/>
                </a:solidFill>
                <a:latin typeface="Tw Cen MT" panose="020B0602020104020603" pitchFamily="34" charset="0"/>
                <a:ea typeface="SimSun" pitchFamily="2" charset="-122"/>
                <a:cs typeface="Times New Roman" pitchFamily="18" charset="0"/>
              </a:rPr>
              <a:t>Example </a:t>
            </a:r>
            <a:endParaRPr lang="en-US" altLang="zh-CN" sz="2000" i="1" dirty="0">
              <a:solidFill>
                <a:schemeClr val="bg1"/>
              </a:solidFill>
              <a:latin typeface="Tw Cen MT" panose="020B0602020104020603" pitchFamily="34" charset="0"/>
              <a:ea typeface="SimSun" pitchFamily="2" charset="-122"/>
              <a:cs typeface="Times New Roman" pitchFamily="18" charset="0"/>
            </a:endParaRPr>
          </a:p>
        </p:txBody>
      </p:sp>
      <p:sp>
        <p:nvSpPr>
          <p:cNvPr id="29708" name="Rectangle 11"/>
          <p:cNvSpPr>
            <a:spLocks noChangeArrowheads="1"/>
          </p:cNvSpPr>
          <p:nvPr/>
        </p:nvSpPr>
        <p:spPr bwMode="auto">
          <a:xfrm>
            <a:off x="152400" y="3629025"/>
            <a:ext cx="8686800" cy="1938992"/>
          </a:xfrm>
          <a:prstGeom prst="rect">
            <a:avLst/>
          </a:prstGeom>
          <a:solidFill>
            <a:schemeClr val="bg1"/>
          </a:solidFill>
          <a:ln w="9525">
            <a:noFill/>
            <a:miter lim="800000"/>
            <a:headEnd/>
            <a:tailEnd/>
          </a:ln>
        </p:spPr>
        <p:txBody>
          <a:bodyPr>
            <a:spAutoFit/>
          </a:bodyPr>
          <a:lstStyle/>
          <a:p>
            <a:pPr algn="just"/>
            <a:r>
              <a:rPr lang="en-US" altLang="zh-CN" sz="2400" b="0">
                <a:latin typeface="Tw Cen MT" panose="020B0602020104020603" pitchFamily="34" charset="0"/>
                <a:ea typeface="SimSun" pitchFamily="2" charset="-122"/>
                <a:cs typeface="Times New Roman" pitchFamily="18" charset="0"/>
              </a:rPr>
              <a:t>Suppose Ted wants to send the message “NO” to Jennifer. He changes each character to a number (from 00 to 25), with each character coded as two digits. He then concatenates the two coded characters and gets a four-digit number. The plaintext is 1314. Figure 10.7 shows the process.</a:t>
            </a:r>
          </a:p>
        </p:txBody>
      </p:sp>
      <p:sp>
        <p:nvSpPr>
          <p:cNvPr id="29709" name="Rectangle 12"/>
          <p:cNvSpPr>
            <a:spLocks noChangeArrowheads="1"/>
          </p:cNvSpPr>
          <p:nvPr/>
        </p:nvSpPr>
        <p:spPr bwMode="auto">
          <a:xfrm>
            <a:off x="228600" y="1143000"/>
            <a:ext cx="8686800" cy="1938992"/>
          </a:xfrm>
          <a:prstGeom prst="rect">
            <a:avLst/>
          </a:prstGeom>
          <a:solidFill>
            <a:schemeClr val="bg1"/>
          </a:solidFill>
          <a:ln w="9525">
            <a:noFill/>
            <a:miter lim="800000"/>
            <a:headEnd/>
            <a:tailEnd/>
          </a:ln>
        </p:spPr>
        <p:txBody>
          <a:bodyPr>
            <a:spAutoFit/>
          </a:bodyPr>
          <a:lstStyle/>
          <a:p>
            <a:pPr algn="just"/>
            <a:r>
              <a:rPr lang="en-US" altLang="zh-CN" sz="2400" b="0">
                <a:latin typeface="Tw Cen MT" panose="020B0602020104020603" pitchFamily="34" charset="0"/>
                <a:ea typeface="SimSun" pitchFamily="2" charset="-122"/>
                <a:cs typeface="Times New Roman" pitchFamily="18" charset="0"/>
              </a:rPr>
              <a:t>Jennifer creates a pair of keys for herself. She chooses </a:t>
            </a:r>
            <a:r>
              <a:rPr lang="en-US" altLang="zh-CN" sz="2400" b="0" i="1">
                <a:latin typeface="Tw Cen MT" panose="020B0602020104020603" pitchFamily="34" charset="0"/>
                <a:ea typeface="SimSun" pitchFamily="2" charset="-122"/>
                <a:cs typeface="Times New Roman" pitchFamily="18" charset="0"/>
              </a:rPr>
              <a:t>p</a:t>
            </a:r>
            <a:r>
              <a:rPr lang="en-US" altLang="zh-CN" sz="2400" b="0">
                <a:latin typeface="Tw Cen MT" panose="020B0602020104020603" pitchFamily="34" charset="0"/>
                <a:ea typeface="SimSun" pitchFamily="2" charset="-122"/>
                <a:cs typeface="Times New Roman" pitchFamily="18" charset="0"/>
              </a:rPr>
              <a:t> = 397 and </a:t>
            </a:r>
            <a:r>
              <a:rPr lang="en-US" altLang="zh-CN" sz="2400" b="0" i="1">
                <a:latin typeface="Tw Cen MT" panose="020B0602020104020603" pitchFamily="34" charset="0"/>
                <a:ea typeface="SimSun" pitchFamily="2" charset="-122"/>
                <a:cs typeface="Times New Roman" pitchFamily="18" charset="0"/>
              </a:rPr>
              <a:t>q</a:t>
            </a:r>
            <a:r>
              <a:rPr lang="en-US" altLang="zh-CN" sz="2400" b="0">
                <a:latin typeface="Tw Cen MT" panose="020B0602020104020603" pitchFamily="34" charset="0"/>
                <a:ea typeface="SimSun" pitchFamily="2" charset="-122"/>
                <a:cs typeface="Times New Roman" pitchFamily="18" charset="0"/>
              </a:rPr>
              <a:t> = 401. She calculates </a:t>
            </a:r>
            <a:br>
              <a:rPr lang="en-US" altLang="zh-CN" sz="2400" b="0">
                <a:latin typeface="Tw Cen MT" panose="020B0602020104020603" pitchFamily="34" charset="0"/>
                <a:ea typeface="SimSun" pitchFamily="2" charset="-122"/>
                <a:cs typeface="Times New Roman" pitchFamily="18" charset="0"/>
              </a:rPr>
            </a:br>
            <a:r>
              <a:rPr lang="en-US" altLang="zh-CN" sz="2400" b="0" i="1">
                <a:latin typeface="Tw Cen MT" panose="020B0602020104020603" pitchFamily="34" charset="0"/>
                <a:ea typeface="SimSun" pitchFamily="2" charset="-122"/>
                <a:cs typeface="Times New Roman" pitchFamily="18" charset="0"/>
              </a:rPr>
              <a:t>n</a:t>
            </a:r>
            <a:r>
              <a:rPr lang="en-US" altLang="zh-CN" sz="2400" b="0">
                <a:latin typeface="Tw Cen MT" panose="020B0602020104020603" pitchFamily="34" charset="0"/>
                <a:ea typeface="SimSun" pitchFamily="2" charset="-122"/>
                <a:cs typeface="Times New Roman" pitchFamily="18" charset="0"/>
              </a:rPr>
              <a:t> = 159197. She then calculates f(n) = 158400. She then chooses e = 343 and d = 12007. Show how Ted can send a message to Jennifer if he knows </a:t>
            </a:r>
            <a:r>
              <a:rPr lang="en-US" altLang="zh-CN" sz="2400" b="0" i="1">
                <a:latin typeface="Tw Cen MT" panose="020B0602020104020603" pitchFamily="34" charset="0"/>
                <a:ea typeface="SimSun" pitchFamily="2" charset="-122"/>
                <a:cs typeface="Times New Roman" pitchFamily="18" charset="0"/>
              </a:rPr>
              <a:t>e</a:t>
            </a:r>
            <a:r>
              <a:rPr lang="en-US" altLang="zh-CN" sz="2400" b="0">
                <a:latin typeface="Tw Cen MT" panose="020B0602020104020603" pitchFamily="34" charset="0"/>
                <a:ea typeface="SimSun" pitchFamily="2" charset="-122"/>
                <a:cs typeface="Times New Roman" pitchFamily="18" charset="0"/>
              </a:rPr>
              <a:t> and </a:t>
            </a:r>
            <a:r>
              <a:rPr lang="en-US" altLang="zh-CN" sz="2400" b="0" i="1">
                <a:latin typeface="Tw Cen MT" panose="020B0602020104020603" pitchFamily="34" charset="0"/>
                <a:ea typeface="SimSun" pitchFamily="2" charset="-122"/>
                <a:cs typeface="Times New Roman" pitchFamily="18" charset="0"/>
              </a:rPr>
              <a:t>n</a:t>
            </a:r>
            <a:r>
              <a:rPr lang="en-US" altLang="zh-CN" sz="2400" b="0">
                <a:latin typeface="Tw Cen MT" panose="020B0602020104020603" pitchFamily="34" charset="0"/>
                <a:ea typeface="SimSun" pitchFamily="2" charset="-122"/>
                <a:cs typeface="Times New Roman" pitchFamily="18" charset="0"/>
              </a:rPr>
              <a:t>.</a:t>
            </a:r>
          </a:p>
        </p:txBody>
      </p:sp>
    </p:spTree>
    <p:extLst>
      <p:ext uri="{BB962C8B-B14F-4D97-AF65-F5344CB8AC3E}">
        <p14:creationId xmlns:p14="http://schemas.microsoft.com/office/powerpoint/2010/main" val="392252569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p:cNvSpPr>
            <a:spLocks noGrp="1"/>
          </p:cNvSpPr>
          <p:nvPr>
            <p:ph type="sldNum" sz="quarter" idx="10"/>
          </p:nvPr>
        </p:nvSpPr>
        <p:spPr>
          <a:noFill/>
        </p:spPr>
        <p:txBody>
          <a:bodyPr/>
          <a:lstStyle/>
          <a:p>
            <a:fld id="{1E10A4B6-ABD7-4AC4-890E-9C208392B206}" type="slidenum">
              <a:rPr lang="en-US" altLang="zh-CN" smtClean="0"/>
              <a:pPr/>
              <a:t>53</a:t>
            </a:fld>
            <a:endParaRPr lang="en-US" altLang="zh-CN" dirty="0"/>
          </a:p>
        </p:txBody>
      </p:sp>
      <p:sp>
        <p:nvSpPr>
          <p:cNvPr id="30730" name="Text Box 10"/>
          <p:cNvSpPr txBox="1">
            <a:spLocks noChangeArrowheads="1"/>
          </p:cNvSpPr>
          <p:nvPr/>
        </p:nvSpPr>
        <p:spPr bwMode="auto">
          <a:xfrm>
            <a:off x="609600" y="228600"/>
            <a:ext cx="2202847" cy="646331"/>
          </a:xfrm>
          <a:prstGeom prst="rect">
            <a:avLst/>
          </a:prstGeom>
          <a:noFill/>
          <a:ln w="9525">
            <a:noFill/>
            <a:miter lim="800000"/>
            <a:headEnd/>
            <a:tailEnd/>
          </a:ln>
        </p:spPr>
        <p:txBody>
          <a:bodyPr wrap="none">
            <a:spAutoFit/>
          </a:bodyPr>
          <a:lstStyle/>
          <a:p>
            <a:r>
              <a:rPr lang="en-US" altLang="zh-CN" b="1" dirty="0" smtClean="0">
                <a:latin typeface="Tw Cen MT" panose="020B0602020104020603" pitchFamily="34" charset="0"/>
                <a:ea typeface="SimSun" pitchFamily="2" charset="-122"/>
              </a:rPr>
              <a:t> </a:t>
            </a:r>
            <a:r>
              <a:rPr lang="en-US" altLang="zh-CN" sz="3600" b="1" dirty="0">
                <a:solidFill>
                  <a:srgbClr val="FF0000"/>
                </a:solidFill>
                <a:latin typeface="Tw Cen MT" panose="020B0602020104020603" pitchFamily="34" charset="0"/>
                <a:ea typeface="SimSun" pitchFamily="2" charset="-122"/>
              </a:rPr>
              <a:t>Continued</a:t>
            </a:r>
          </a:p>
        </p:txBody>
      </p:sp>
      <p:sp>
        <p:nvSpPr>
          <p:cNvPr id="30731" name="Text Box 11"/>
          <p:cNvSpPr txBox="1">
            <a:spLocks noChangeArrowheads="1"/>
          </p:cNvSpPr>
          <p:nvPr/>
        </p:nvSpPr>
        <p:spPr bwMode="auto">
          <a:xfrm>
            <a:off x="1676400" y="1968708"/>
            <a:ext cx="5128327" cy="461665"/>
          </a:xfrm>
          <a:prstGeom prst="rect">
            <a:avLst/>
          </a:prstGeom>
          <a:noFill/>
          <a:ln w="9525">
            <a:noFill/>
            <a:miter lim="800000"/>
            <a:headEnd/>
            <a:tailEnd/>
          </a:ln>
        </p:spPr>
        <p:txBody>
          <a:bodyPr wrap="none">
            <a:spAutoFit/>
          </a:bodyPr>
          <a:lstStyle/>
          <a:p>
            <a:r>
              <a:rPr lang="en-US" altLang="zh-CN" sz="2400" dirty="0">
                <a:solidFill>
                  <a:srgbClr val="0000FF"/>
                </a:solidFill>
                <a:latin typeface="Tw Cen MT" panose="020B0602020104020603" pitchFamily="34" charset="0"/>
                <a:ea typeface="SimSun" pitchFamily="2" charset="-122"/>
              </a:rPr>
              <a:t>Figure </a:t>
            </a:r>
            <a:r>
              <a:rPr lang="en-US" altLang="zh-CN" sz="2400" dirty="0" smtClean="0">
                <a:solidFill>
                  <a:schemeClr val="folHlink"/>
                </a:solidFill>
                <a:latin typeface="Tw Cen MT" panose="020B0602020104020603" pitchFamily="34" charset="0"/>
                <a:ea typeface="SimSun" pitchFamily="2" charset="-122"/>
              </a:rPr>
              <a:t>  </a:t>
            </a:r>
            <a:r>
              <a:rPr lang="en-US" altLang="zh-CN" sz="2000" dirty="0">
                <a:latin typeface="Tw Cen MT" panose="020B0602020104020603" pitchFamily="34" charset="0"/>
                <a:ea typeface="SimSun" pitchFamily="2" charset="-122"/>
              </a:rPr>
              <a:t>Encryption and decryption in Example </a:t>
            </a:r>
          </a:p>
        </p:txBody>
      </p:sp>
      <p:pic>
        <p:nvPicPr>
          <p:cNvPr id="30732" name="Picture 12"/>
          <p:cNvPicPr>
            <a:picLocks noChangeAspect="1" noChangeArrowheads="1"/>
          </p:cNvPicPr>
          <p:nvPr/>
        </p:nvPicPr>
        <p:blipFill>
          <a:blip r:embed="rId3"/>
          <a:srcRect/>
          <a:stretch>
            <a:fillRect/>
          </a:stretch>
        </p:blipFill>
        <p:spPr bwMode="auto">
          <a:xfrm>
            <a:off x="152400" y="2732088"/>
            <a:ext cx="8775700" cy="2220912"/>
          </a:xfrm>
          <a:prstGeom prst="rect">
            <a:avLst/>
          </a:prstGeom>
          <a:noFill/>
          <a:ln w="9525">
            <a:noFill/>
            <a:miter lim="800000"/>
            <a:headEnd/>
            <a:tailEnd/>
          </a:ln>
        </p:spPr>
      </p:pic>
    </p:spTree>
    <p:extLst>
      <p:ext uri="{BB962C8B-B14F-4D97-AF65-F5344CB8AC3E}">
        <p14:creationId xmlns:p14="http://schemas.microsoft.com/office/powerpoint/2010/main" val="49931439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w Cen MT" panose="020B0602020104020603" pitchFamily="34" charset="0"/>
              </a:rPr>
              <a:t>Attacks on RSA</a:t>
            </a:r>
            <a:endParaRPr lang="en-US" b="1" dirty="0">
              <a:solidFill>
                <a:srgbClr val="FF0000"/>
              </a:solidFill>
              <a:latin typeface="Tw Cen MT" panose="020B0602020104020603" pitchFamily="34" charset="0"/>
            </a:endParaRPr>
          </a:p>
        </p:txBody>
      </p:sp>
      <p:sp>
        <p:nvSpPr>
          <p:cNvPr id="3" name="Slide Number Placeholder 2"/>
          <p:cNvSpPr>
            <a:spLocks noGrp="1"/>
          </p:cNvSpPr>
          <p:nvPr>
            <p:ph type="sldNum" sz="quarter" idx="12"/>
          </p:nvPr>
        </p:nvSpPr>
        <p:spPr/>
        <p:txBody>
          <a:bodyPr/>
          <a:lstStyle/>
          <a:p>
            <a:pPr>
              <a:defRPr/>
            </a:pPr>
            <a:fld id="{1C0370D3-2A0E-430D-9AB5-2A1EC2291BB5}" type="slidenum">
              <a:rPr lang="en-US" smtClean="0"/>
              <a:pPr>
                <a:defRPr/>
              </a:pPr>
              <a:t>54</a:t>
            </a:fld>
            <a:endParaRPr lang="en-US" dirty="0"/>
          </a:p>
        </p:txBody>
      </p:sp>
      <p:pic>
        <p:nvPicPr>
          <p:cNvPr id="2050" name="Picture 2"/>
          <p:cNvPicPr>
            <a:picLocks noChangeAspect="1" noChangeArrowheads="1"/>
          </p:cNvPicPr>
          <p:nvPr/>
        </p:nvPicPr>
        <p:blipFill>
          <a:blip r:embed="rId2">
            <a:biLevel thresh="75000"/>
            <a:extLst>
              <a:ext uri="{BEBA8EAE-BF5A-486C-A8C5-ECC9F3942E4B}">
                <a14:imgProps xmlns:a14="http://schemas.microsoft.com/office/drawing/2010/main">
                  <a14:imgLayer r:embed="rId3">
                    <a14:imgEffect>
                      <a14:saturation sat="200000"/>
                    </a14:imgEffect>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360876" y="3333750"/>
            <a:ext cx="8783124" cy="2838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57200" y="1295400"/>
            <a:ext cx="8153400" cy="1569660"/>
          </a:xfrm>
          <a:prstGeom prst="rect">
            <a:avLst/>
          </a:prstGeom>
          <a:noFill/>
        </p:spPr>
        <p:txBody>
          <a:bodyPr wrap="square" rtlCol="0">
            <a:spAutoFit/>
          </a:bodyPr>
          <a:lstStyle/>
          <a:p>
            <a:pPr algn="just"/>
            <a:r>
              <a:rPr lang="en-US" sz="2400" dirty="0" smtClean="0">
                <a:latin typeface="Tw Cen MT" panose="020B0602020104020603" pitchFamily="34" charset="0"/>
              </a:rPr>
              <a:t>Attack </a:t>
            </a:r>
            <a:r>
              <a:rPr lang="en-US" sz="2400" dirty="0" err="1" smtClean="0">
                <a:latin typeface="Tw Cen MT" panose="020B0602020104020603" pitchFamily="34" charset="0"/>
              </a:rPr>
              <a:t>bsed</a:t>
            </a:r>
            <a:r>
              <a:rPr lang="en-US" sz="2400" dirty="0" smtClean="0">
                <a:latin typeface="Tw Cen MT" panose="020B0602020104020603" pitchFamily="34" charset="0"/>
              </a:rPr>
              <a:t> on the multiplicative property of RSA. Let Alice creates </a:t>
            </a:r>
            <a:r>
              <a:rPr lang="en-US" sz="2400" dirty="0" smtClean="0">
                <a:solidFill>
                  <a:srgbClr val="00B0F0"/>
                </a:solidFill>
                <a:latin typeface="Tw Cen MT" panose="020B0602020104020603" pitchFamily="34" charset="0"/>
              </a:rPr>
              <a:t>C=</a:t>
            </a:r>
            <a:r>
              <a:rPr lang="en-US" sz="2400" dirty="0" err="1" smtClean="0">
                <a:solidFill>
                  <a:srgbClr val="00B0F0"/>
                </a:solidFill>
                <a:latin typeface="Tw Cen MT" panose="020B0602020104020603" pitchFamily="34" charset="0"/>
              </a:rPr>
              <a:t>P</a:t>
            </a:r>
            <a:r>
              <a:rPr lang="en-US" sz="2400" baseline="30000" dirty="0" err="1" smtClean="0">
                <a:solidFill>
                  <a:srgbClr val="00B0F0"/>
                </a:solidFill>
                <a:latin typeface="Tw Cen MT" panose="020B0602020104020603" pitchFamily="34" charset="0"/>
              </a:rPr>
              <a:t>e</a:t>
            </a:r>
            <a:r>
              <a:rPr lang="en-US" sz="2400" dirty="0" smtClean="0">
                <a:solidFill>
                  <a:srgbClr val="00B0F0"/>
                </a:solidFill>
                <a:latin typeface="Tw Cen MT" panose="020B0602020104020603" pitchFamily="34" charset="0"/>
              </a:rPr>
              <a:t> mod n </a:t>
            </a:r>
            <a:r>
              <a:rPr lang="en-US" sz="2400" dirty="0" smtClean="0">
                <a:latin typeface="Tw Cen MT" panose="020B0602020104020603" pitchFamily="34" charset="0"/>
              </a:rPr>
              <a:t>and sends it to Bob. </a:t>
            </a:r>
            <a:r>
              <a:rPr lang="en-US" sz="2400" dirty="0" smtClean="0">
                <a:solidFill>
                  <a:srgbClr val="C00000"/>
                </a:solidFill>
                <a:latin typeface="Tw Cen MT" panose="020B0602020104020603" pitchFamily="34" charset="0"/>
              </a:rPr>
              <a:t>Bob will decrypt an arbitrary </a:t>
            </a:r>
            <a:r>
              <a:rPr lang="en-US" sz="2400" dirty="0" err="1" smtClean="0">
                <a:solidFill>
                  <a:srgbClr val="C00000"/>
                </a:solidFill>
                <a:latin typeface="Tw Cen MT" panose="020B0602020104020603" pitchFamily="34" charset="0"/>
              </a:rPr>
              <a:t>ciphertext</a:t>
            </a:r>
            <a:r>
              <a:rPr lang="en-US" sz="2400" dirty="0" smtClean="0">
                <a:solidFill>
                  <a:srgbClr val="C00000"/>
                </a:solidFill>
                <a:latin typeface="Tw Cen MT" panose="020B0602020104020603" pitchFamily="34" charset="0"/>
              </a:rPr>
              <a:t> for Eve other than C</a:t>
            </a:r>
            <a:r>
              <a:rPr lang="en-US" sz="2400" dirty="0" smtClean="0">
                <a:latin typeface="Tw Cen MT" panose="020B0602020104020603" pitchFamily="34" charset="0"/>
              </a:rPr>
              <a:t>. Eve intercepts C and  do following steps to get P</a:t>
            </a:r>
            <a:endParaRPr lang="en-US" sz="2400" dirty="0">
              <a:latin typeface="Tw Cen MT" panose="020B0602020104020603" pitchFamily="34" charset="0"/>
            </a:endParaRPr>
          </a:p>
        </p:txBody>
      </p:sp>
    </p:spTree>
    <p:extLst>
      <p:ext uri="{BB962C8B-B14F-4D97-AF65-F5344CB8AC3E}">
        <p14:creationId xmlns:p14="http://schemas.microsoft.com/office/powerpoint/2010/main" val="179617952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AU" b="1" dirty="0">
                <a:solidFill>
                  <a:srgbClr val="FF0000"/>
                </a:solidFill>
                <a:latin typeface="Tw Cen MT" panose="020B0602020104020603" pitchFamily="34" charset="0"/>
                <a:cs typeface="Times New Roman" pitchFamily="18" charset="0"/>
              </a:rPr>
              <a:t>Miller-Rabin </a:t>
            </a:r>
            <a:r>
              <a:rPr lang="en-AU" b="1" dirty="0" smtClean="0">
                <a:solidFill>
                  <a:srgbClr val="FF0000"/>
                </a:solidFill>
                <a:latin typeface="Tw Cen MT" panose="020B0602020104020603" pitchFamily="34" charset="0"/>
                <a:cs typeface="Times New Roman" pitchFamily="18" charset="0"/>
              </a:rPr>
              <a:t>Algorithm for </a:t>
            </a:r>
            <a:r>
              <a:rPr lang="en-AU" b="1" dirty="0" err="1" smtClean="0">
                <a:solidFill>
                  <a:srgbClr val="FF0000"/>
                </a:solidFill>
                <a:latin typeface="Tw Cen MT" panose="020B0602020104020603" pitchFamily="34" charset="0"/>
                <a:cs typeface="Times New Roman" pitchFamily="18" charset="0"/>
              </a:rPr>
              <a:t>Primality</a:t>
            </a:r>
            <a:r>
              <a:rPr lang="en-AU" b="1" dirty="0" smtClean="0">
                <a:solidFill>
                  <a:srgbClr val="FF0000"/>
                </a:solidFill>
                <a:latin typeface="Tw Cen MT" panose="020B0602020104020603" pitchFamily="34" charset="0"/>
                <a:cs typeface="Times New Roman" pitchFamily="18" charset="0"/>
              </a:rPr>
              <a:t> Test</a:t>
            </a:r>
          </a:p>
        </p:txBody>
      </p:sp>
      <p:pic>
        <p:nvPicPr>
          <p:cNvPr id="4" name="Picture 3"/>
          <p:cNvPicPr>
            <a:picLocks noChangeAspect="1"/>
          </p:cNvPicPr>
          <p:nvPr/>
        </p:nvPicPr>
        <p:blipFill>
          <a:blip r:embed="rId3"/>
          <a:stretch>
            <a:fillRect/>
          </a:stretch>
        </p:blipFill>
        <p:spPr>
          <a:xfrm>
            <a:off x="533400" y="3048000"/>
            <a:ext cx="8302145" cy="2819400"/>
          </a:xfrm>
          <a:prstGeom prst="rect">
            <a:avLst/>
          </a:prstGeom>
        </p:spPr>
      </p:pic>
      <p:sp>
        <p:nvSpPr>
          <p:cNvPr id="5" name="Rectangle 4"/>
          <p:cNvSpPr/>
          <p:nvPr/>
        </p:nvSpPr>
        <p:spPr>
          <a:xfrm>
            <a:off x="533400" y="1295400"/>
            <a:ext cx="8305800" cy="1200329"/>
          </a:xfrm>
          <a:prstGeom prst="rect">
            <a:avLst/>
          </a:prstGeom>
        </p:spPr>
        <p:txBody>
          <a:bodyPr wrap="square">
            <a:spAutoFit/>
          </a:bodyPr>
          <a:lstStyle/>
          <a:p>
            <a:pPr algn="just"/>
            <a:r>
              <a:rPr lang="en-GB" sz="2400" dirty="0">
                <a:latin typeface="Tw Cen MT" panose="020B0602020104020603" pitchFamily="34" charset="0"/>
              </a:rPr>
              <a:t>The </a:t>
            </a:r>
            <a:r>
              <a:rPr lang="en-GB" sz="2400" dirty="0" smtClean="0">
                <a:latin typeface="Tw Cen MT" panose="020B0602020104020603" pitchFamily="34" charset="0"/>
              </a:rPr>
              <a:t>procedure TEST </a:t>
            </a:r>
            <a:r>
              <a:rPr lang="en-GB" sz="2400" dirty="0">
                <a:latin typeface="Tw Cen MT" panose="020B0602020104020603" pitchFamily="34" charset="0"/>
              </a:rPr>
              <a:t>takes a candidate integer n as input and returns the result </a:t>
            </a:r>
            <a:r>
              <a:rPr lang="en-GB" sz="2400" dirty="0" smtClean="0">
                <a:solidFill>
                  <a:srgbClr val="FF0000"/>
                </a:solidFill>
                <a:latin typeface="Tw Cen MT" panose="020B0602020104020603" pitchFamily="34" charset="0"/>
              </a:rPr>
              <a:t>composite</a:t>
            </a:r>
            <a:r>
              <a:rPr lang="en-GB" sz="2400" dirty="0" smtClean="0">
                <a:latin typeface="Tw Cen MT" panose="020B0602020104020603" pitchFamily="34" charset="0"/>
              </a:rPr>
              <a:t> if </a:t>
            </a:r>
            <a:r>
              <a:rPr lang="en-GB" sz="2400" dirty="0">
                <a:latin typeface="Tw Cen MT" panose="020B0602020104020603" pitchFamily="34" charset="0"/>
              </a:rPr>
              <a:t>n is definitely </a:t>
            </a:r>
            <a:r>
              <a:rPr lang="en-GB" sz="2400" dirty="0">
                <a:solidFill>
                  <a:srgbClr val="FF0000"/>
                </a:solidFill>
                <a:latin typeface="Tw Cen MT" panose="020B0602020104020603" pitchFamily="34" charset="0"/>
              </a:rPr>
              <a:t>not a prime</a:t>
            </a:r>
            <a:r>
              <a:rPr lang="en-GB" sz="2400" dirty="0">
                <a:latin typeface="Tw Cen MT" panose="020B0602020104020603" pitchFamily="34" charset="0"/>
              </a:rPr>
              <a:t>, and the result </a:t>
            </a:r>
            <a:r>
              <a:rPr lang="en-GB" sz="2400" dirty="0">
                <a:solidFill>
                  <a:srgbClr val="0000CC"/>
                </a:solidFill>
                <a:latin typeface="Tw Cen MT" panose="020B0602020104020603" pitchFamily="34" charset="0"/>
              </a:rPr>
              <a:t>inconclusive</a:t>
            </a:r>
            <a:r>
              <a:rPr lang="en-GB" sz="2400" dirty="0">
                <a:latin typeface="Tw Cen MT" panose="020B0602020104020603" pitchFamily="34" charset="0"/>
              </a:rPr>
              <a:t> if </a:t>
            </a:r>
            <a:r>
              <a:rPr lang="en-GB" sz="2400" dirty="0">
                <a:solidFill>
                  <a:srgbClr val="0000CC"/>
                </a:solidFill>
                <a:latin typeface="Tw Cen MT" panose="020B0602020104020603" pitchFamily="34" charset="0"/>
              </a:rPr>
              <a:t>n may or may </a:t>
            </a:r>
            <a:r>
              <a:rPr lang="en-GB" sz="2400" dirty="0" smtClean="0">
                <a:solidFill>
                  <a:srgbClr val="0000CC"/>
                </a:solidFill>
                <a:latin typeface="Tw Cen MT" panose="020B0602020104020603" pitchFamily="34" charset="0"/>
              </a:rPr>
              <a:t>not be </a:t>
            </a:r>
            <a:r>
              <a:rPr lang="en-GB" sz="2400" dirty="0">
                <a:solidFill>
                  <a:srgbClr val="0000CC"/>
                </a:solidFill>
                <a:latin typeface="Tw Cen MT" panose="020B0602020104020603" pitchFamily="34" charset="0"/>
              </a:rPr>
              <a:t>a prime.</a:t>
            </a:r>
          </a:p>
        </p:txBody>
      </p:sp>
    </p:spTree>
    <p:extLst>
      <p:ext uri="{BB962C8B-B14F-4D97-AF65-F5344CB8AC3E}">
        <p14:creationId xmlns:p14="http://schemas.microsoft.com/office/powerpoint/2010/main" val="218700348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AU" b="1" dirty="0">
                <a:solidFill>
                  <a:srgbClr val="FF0000"/>
                </a:solidFill>
                <a:latin typeface="Tw Cen MT" panose="020B0602020104020603" pitchFamily="34" charset="0"/>
                <a:cs typeface="Times New Roman" pitchFamily="18" charset="0"/>
              </a:rPr>
              <a:t>Miller-Rabin </a:t>
            </a:r>
            <a:r>
              <a:rPr lang="en-AU" b="1" dirty="0" smtClean="0">
                <a:solidFill>
                  <a:srgbClr val="FF0000"/>
                </a:solidFill>
                <a:latin typeface="Tw Cen MT" panose="020B0602020104020603" pitchFamily="34" charset="0"/>
                <a:cs typeface="Times New Roman" pitchFamily="18" charset="0"/>
              </a:rPr>
              <a:t>Algorithm for </a:t>
            </a:r>
            <a:r>
              <a:rPr lang="en-AU" b="1" dirty="0" err="1" smtClean="0">
                <a:solidFill>
                  <a:srgbClr val="FF0000"/>
                </a:solidFill>
                <a:latin typeface="Tw Cen MT" panose="020B0602020104020603" pitchFamily="34" charset="0"/>
                <a:cs typeface="Times New Roman" pitchFamily="18" charset="0"/>
              </a:rPr>
              <a:t>Primality</a:t>
            </a:r>
            <a:r>
              <a:rPr lang="en-AU" b="1" dirty="0" smtClean="0">
                <a:solidFill>
                  <a:srgbClr val="FF0000"/>
                </a:solidFill>
                <a:latin typeface="Tw Cen MT" panose="020B0602020104020603" pitchFamily="34" charset="0"/>
                <a:cs typeface="Times New Roman" pitchFamily="18" charset="0"/>
              </a:rPr>
              <a:t> Test</a:t>
            </a:r>
          </a:p>
        </p:txBody>
      </p:sp>
      <p:pic>
        <p:nvPicPr>
          <p:cNvPr id="2" name="Picture 1"/>
          <p:cNvPicPr>
            <a:picLocks noChangeAspect="1"/>
          </p:cNvPicPr>
          <p:nvPr/>
        </p:nvPicPr>
        <p:blipFill>
          <a:blip r:embed="rId3"/>
          <a:stretch>
            <a:fillRect/>
          </a:stretch>
        </p:blipFill>
        <p:spPr>
          <a:xfrm>
            <a:off x="2895600" y="1371600"/>
            <a:ext cx="3695700" cy="5029200"/>
          </a:xfrm>
          <a:prstGeom prst="rect">
            <a:avLst/>
          </a:prstGeom>
        </p:spPr>
      </p:pic>
    </p:spTree>
    <p:extLst>
      <p:ext uri="{BB962C8B-B14F-4D97-AF65-F5344CB8AC3E}">
        <p14:creationId xmlns:p14="http://schemas.microsoft.com/office/powerpoint/2010/main" val="378163156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AU" b="1" dirty="0">
                <a:solidFill>
                  <a:srgbClr val="FF0000"/>
                </a:solidFill>
                <a:latin typeface="Tw Cen MT" panose="020B0602020104020603" pitchFamily="34" charset="0"/>
                <a:cs typeface="Times New Roman" pitchFamily="18" charset="0"/>
              </a:rPr>
              <a:t>Miller-Rabin </a:t>
            </a:r>
            <a:r>
              <a:rPr lang="en-AU" b="1" dirty="0" smtClean="0">
                <a:solidFill>
                  <a:srgbClr val="FF0000"/>
                </a:solidFill>
                <a:latin typeface="Tw Cen MT" panose="020B0602020104020603" pitchFamily="34" charset="0"/>
                <a:cs typeface="Times New Roman" pitchFamily="18" charset="0"/>
              </a:rPr>
              <a:t>Algorithm for </a:t>
            </a:r>
            <a:r>
              <a:rPr lang="en-AU" b="1" dirty="0" err="1" smtClean="0">
                <a:solidFill>
                  <a:srgbClr val="FF0000"/>
                </a:solidFill>
                <a:latin typeface="Tw Cen MT" panose="020B0602020104020603" pitchFamily="34" charset="0"/>
                <a:cs typeface="Times New Roman" pitchFamily="18" charset="0"/>
              </a:rPr>
              <a:t>Primality</a:t>
            </a:r>
            <a:r>
              <a:rPr lang="en-AU" b="1" dirty="0" smtClean="0">
                <a:solidFill>
                  <a:srgbClr val="FF0000"/>
                </a:solidFill>
                <a:latin typeface="Tw Cen MT" panose="020B0602020104020603" pitchFamily="34" charset="0"/>
                <a:cs typeface="Times New Roman" pitchFamily="18" charset="0"/>
              </a:rPr>
              <a:t> Test</a:t>
            </a:r>
          </a:p>
        </p:txBody>
      </p:sp>
      <p:pic>
        <p:nvPicPr>
          <p:cNvPr id="3" name="Picture 2"/>
          <p:cNvPicPr>
            <a:picLocks noChangeAspect="1"/>
          </p:cNvPicPr>
          <p:nvPr/>
        </p:nvPicPr>
        <p:blipFill>
          <a:blip r:embed="rId3"/>
          <a:stretch>
            <a:fillRect/>
          </a:stretch>
        </p:blipFill>
        <p:spPr>
          <a:xfrm>
            <a:off x="1143000" y="1371600"/>
            <a:ext cx="7172325" cy="4419600"/>
          </a:xfrm>
          <a:prstGeom prst="rect">
            <a:avLst/>
          </a:prstGeom>
        </p:spPr>
      </p:pic>
    </p:spTree>
    <p:extLst>
      <p:ext uri="{BB962C8B-B14F-4D97-AF65-F5344CB8AC3E}">
        <p14:creationId xmlns:p14="http://schemas.microsoft.com/office/powerpoint/2010/main" val="42263917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58</a:t>
            </a:fld>
            <a:endParaRPr lang="en-US" dirty="0">
              <a:latin typeface="Tw Cen MT" panose="020B0602020104020603" pitchFamily="34" charset="0"/>
            </a:endParaRPr>
          </a:p>
        </p:txBody>
      </p:sp>
      <p:sp>
        <p:nvSpPr>
          <p:cNvPr id="947203" name="Text Box 3"/>
          <p:cNvSpPr txBox="1">
            <a:spLocks noChangeArrowheads="1"/>
          </p:cNvSpPr>
          <p:nvPr/>
        </p:nvSpPr>
        <p:spPr bwMode="auto">
          <a:xfrm>
            <a:off x="1066800" y="5334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sp>
        <p:nvSpPr>
          <p:cNvPr id="947205" name="Rectangle 5"/>
          <p:cNvSpPr>
            <a:spLocks noChangeArrowheads="1"/>
          </p:cNvSpPr>
          <p:nvPr/>
        </p:nvSpPr>
        <p:spPr bwMode="auto">
          <a:xfrm>
            <a:off x="304800" y="15240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dirty="0">
                <a:latin typeface="Tw Cen MT" panose="020B0602020104020603" pitchFamily="34" charset="0"/>
              </a:rPr>
              <a:t>The Chinese remainder theorem (CRT) is used to solve a set of congruent equations with one variable but different moduli, which are relatively prime, as shown</a:t>
            </a:r>
          </a:p>
          <a:p>
            <a:pPr algn="just" eaLnBrk="1" hangingPunct="1"/>
            <a:r>
              <a:rPr lang="en-US" sz="2800" dirty="0">
                <a:latin typeface="Tw Cen MT" panose="020B0602020104020603" pitchFamily="34" charset="0"/>
              </a:rPr>
              <a:t>below:</a:t>
            </a:r>
          </a:p>
        </p:txBody>
      </p:sp>
      <p:pic>
        <p:nvPicPr>
          <p:cNvPr id="94720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276600"/>
            <a:ext cx="4095750" cy="24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4780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59</a:t>
            </a:fld>
            <a:endParaRPr lang="en-US" dirty="0">
              <a:latin typeface="Tw Cen MT" panose="020B0602020104020603" pitchFamily="34" charset="0"/>
            </a:endParaRPr>
          </a:p>
        </p:txBody>
      </p:sp>
      <p:sp>
        <p:nvSpPr>
          <p:cNvPr id="947203" name="Text Box 3"/>
          <p:cNvSpPr txBox="1">
            <a:spLocks noChangeArrowheads="1"/>
          </p:cNvSpPr>
          <p:nvPr/>
        </p:nvSpPr>
        <p:spPr bwMode="auto">
          <a:xfrm>
            <a:off x="1143000" y="4572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sp>
        <p:nvSpPr>
          <p:cNvPr id="8" name="Rectangle 8"/>
          <p:cNvSpPr>
            <a:spLocks noChangeArrowheads="1"/>
          </p:cNvSpPr>
          <p:nvPr/>
        </p:nvSpPr>
        <p:spPr bwMode="auto">
          <a:xfrm>
            <a:off x="76200" y="1856730"/>
            <a:ext cx="8839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dirty="0">
                <a:latin typeface="Tw Cen MT" panose="020B0602020104020603" pitchFamily="34" charset="0"/>
              </a:rPr>
              <a:t>The following is an example of a set of equations with different moduli:</a:t>
            </a:r>
          </a:p>
        </p:txBody>
      </p:sp>
      <p:sp>
        <p:nvSpPr>
          <p:cNvPr id="9" name="Text Box 9"/>
          <p:cNvSpPr txBox="1">
            <a:spLocks noChangeArrowheads="1"/>
          </p:cNvSpPr>
          <p:nvPr/>
        </p:nvSpPr>
        <p:spPr bwMode="auto">
          <a:xfrm>
            <a:off x="228600" y="1143000"/>
            <a:ext cx="1324402"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bg1"/>
                </a:solidFill>
                <a:latin typeface="Tw Cen MT" panose="020B0602020104020603" pitchFamily="34" charset="0"/>
              </a:rPr>
              <a:t>Example </a:t>
            </a:r>
            <a:endParaRPr lang="en-US" sz="2000" i="1" dirty="0">
              <a:solidFill>
                <a:schemeClr val="bg1"/>
              </a:solidFill>
              <a:latin typeface="Tw Cen MT" panose="020B0602020104020603" pitchFamily="34" charset="0"/>
            </a:endParaRPr>
          </a:p>
        </p:txBody>
      </p:sp>
      <p:sp>
        <p:nvSpPr>
          <p:cNvPr id="10" name="Rectangle 10"/>
          <p:cNvSpPr>
            <a:spLocks noChangeArrowheads="1"/>
          </p:cNvSpPr>
          <p:nvPr/>
        </p:nvSpPr>
        <p:spPr bwMode="auto">
          <a:xfrm>
            <a:off x="228600" y="4306283"/>
            <a:ext cx="8839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dirty="0">
                <a:latin typeface="Tw Cen MT" panose="020B0602020104020603" pitchFamily="34" charset="0"/>
              </a:rPr>
              <a:t>The solution to this set of equations is given in the next section; for the moment, note that the answer to this set of equations is x = 23. This value satisfies all equations: 23 ≡ 2 (mod 3), 23 ≡ 3 (mod 5), and 23 ≡ 2 (mod 7).</a:t>
            </a:r>
          </a:p>
        </p:txBody>
      </p:sp>
      <p:pic>
        <p:nvPicPr>
          <p:cNvPr id="1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8463" y="2514600"/>
            <a:ext cx="32670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938519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60</a:t>
            </a:fld>
            <a:endParaRPr lang="en-US" dirty="0">
              <a:latin typeface="Tw Cen MT" panose="020B0602020104020603" pitchFamily="34" charset="0"/>
            </a:endParaRPr>
          </a:p>
        </p:txBody>
      </p:sp>
      <p:sp>
        <p:nvSpPr>
          <p:cNvPr id="947203" name="Text Box 3"/>
          <p:cNvSpPr txBox="1">
            <a:spLocks noChangeArrowheads="1"/>
          </p:cNvSpPr>
          <p:nvPr/>
        </p:nvSpPr>
        <p:spPr bwMode="auto">
          <a:xfrm>
            <a:off x="1219200" y="5334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sp>
        <p:nvSpPr>
          <p:cNvPr id="12" name="Rectangle 5"/>
          <p:cNvSpPr>
            <a:spLocks noChangeArrowheads="1"/>
          </p:cNvSpPr>
          <p:nvPr/>
        </p:nvSpPr>
        <p:spPr bwMode="auto">
          <a:xfrm>
            <a:off x="76200" y="1552467"/>
            <a:ext cx="88392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dirty="0">
                <a:solidFill>
                  <a:schemeClr val="folHlink"/>
                </a:solidFill>
                <a:latin typeface="Tw Cen MT" panose="020B0602020104020603" pitchFamily="34" charset="0"/>
              </a:rPr>
              <a:t>Solution To Chinese Remainder Theorem</a:t>
            </a:r>
          </a:p>
          <a:p>
            <a:pPr algn="just" eaLnBrk="1" hangingPunct="1"/>
            <a:endParaRPr lang="en-US" sz="2400" dirty="0">
              <a:latin typeface="Tw Cen MT" panose="020B0602020104020603" pitchFamily="34" charset="0"/>
            </a:endParaRPr>
          </a:p>
          <a:p>
            <a:pPr algn="just" eaLnBrk="1" hangingPunct="1"/>
            <a:r>
              <a:rPr lang="en-US" sz="2400" dirty="0">
                <a:latin typeface="Tw Cen MT" panose="020B0602020104020603" pitchFamily="34" charset="0"/>
              </a:rPr>
              <a:t>       1. Find M = m</a:t>
            </a:r>
            <a:r>
              <a:rPr lang="en-US" sz="2400" baseline="-25000" dirty="0">
                <a:latin typeface="Tw Cen MT" panose="020B0602020104020603" pitchFamily="34" charset="0"/>
              </a:rPr>
              <a:t>1</a:t>
            </a:r>
            <a:r>
              <a:rPr lang="en-US" sz="2400" dirty="0">
                <a:latin typeface="Tw Cen MT" panose="020B0602020104020603" pitchFamily="34" charset="0"/>
              </a:rPr>
              <a:t> × m</a:t>
            </a:r>
            <a:r>
              <a:rPr lang="en-US" sz="2400" baseline="-25000" dirty="0">
                <a:latin typeface="Tw Cen MT" panose="020B0602020104020603" pitchFamily="34" charset="0"/>
              </a:rPr>
              <a:t>2</a:t>
            </a:r>
            <a:r>
              <a:rPr lang="en-US" sz="2400" dirty="0">
                <a:latin typeface="Tw Cen MT" panose="020B0602020104020603" pitchFamily="34" charset="0"/>
              </a:rPr>
              <a:t> × … × m</a:t>
            </a:r>
            <a:r>
              <a:rPr lang="en-US" sz="2400" baseline="-25000" dirty="0">
                <a:latin typeface="Tw Cen MT" panose="020B0602020104020603" pitchFamily="34" charset="0"/>
              </a:rPr>
              <a:t>k</a:t>
            </a:r>
            <a:r>
              <a:rPr lang="en-US" sz="2400" dirty="0">
                <a:latin typeface="Tw Cen MT" panose="020B0602020104020603" pitchFamily="34" charset="0"/>
              </a:rPr>
              <a:t>. This is the common modulus.</a:t>
            </a:r>
          </a:p>
          <a:p>
            <a:pPr algn="just" eaLnBrk="1" hangingPunct="1"/>
            <a:r>
              <a:rPr lang="en-US" sz="2400" dirty="0">
                <a:latin typeface="Tw Cen MT" panose="020B0602020104020603" pitchFamily="34" charset="0"/>
              </a:rPr>
              <a:t>       2. Find M</a:t>
            </a:r>
            <a:r>
              <a:rPr lang="en-US" sz="2400" baseline="-25000" dirty="0">
                <a:latin typeface="Tw Cen MT" panose="020B0602020104020603" pitchFamily="34" charset="0"/>
              </a:rPr>
              <a:t>1</a:t>
            </a:r>
            <a:r>
              <a:rPr lang="en-US" sz="2400" dirty="0">
                <a:latin typeface="Tw Cen MT" panose="020B0602020104020603" pitchFamily="34" charset="0"/>
              </a:rPr>
              <a:t> = M/m</a:t>
            </a:r>
            <a:r>
              <a:rPr lang="en-US" sz="2400" baseline="-25000" dirty="0">
                <a:latin typeface="Tw Cen MT" panose="020B0602020104020603" pitchFamily="34" charset="0"/>
              </a:rPr>
              <a:t>1</a:t>
            </a:r>
            <a:r>
              <a:rPr lang="en-US" sz="2400" dirty="0">
                <a:latin typeface="Tw Cen MT" panose="020B0602020104020603" pitchFamily="34" charset="0"/>
              </a:rPr>
              <a:t>, M</a:t>
            </a:r>
            <a:r>
              <a:rPr lang="en-US" sz="2400" baseline="-25000" dirty="0">
                <a:latin typeface="Tw Cen MT" panose="020B0602020104020603" pitchFamily="34" charset="0"/>
              </a:rPr>
              <a:t>2</a:t>
            </a:r>
            <a:r>
              <a:rPr lang="en-US" sz="2400" dirty="0">
                <a:latin typeface="Tw Cen MT" panose="020B0602020104020603" pitchFamily="34" charset="0"/>
              </a:rPr>
              <a:t> = M/m</a:t>
            </a:r>
            <a:r>
              <a:rPr lang="en-US" sz="2400" baseline="-25000" dirty="0">
                <a:latin typeface="Tw Cen MT" panose="020B0602020104020603" pitchFamily="34" charset="0"/>
              </a:rPr>
              <a:t>2</a:t>
            </a:r>
            <a:r>
              <a:rPr lang="en-US" sz="2400" dirty="0">
                <a:latin typeface="Tw Cen MT" panose="020B0602020104020603" pitchFamily="34" charset="0"/>
              </a:rPr>
              <a:t>, …, M</a:t>
            </a:r>
            <a:r>
              <a:rPr lang="en-US" sz="2400" baseline="-25000" dirty="0">
                <a:latin typeface="Tw Cen MT" panose="020B0602020104020603" pitchFamily="34" charset="0"/>
              </a:rPr>
              <a:t>k</a:t>
            </a:r>
            <a:r>
              <a:rPr lang="en-US" sz="2400" dirty="0">
                <a:latin typeface="Tw Cen MT" panose="020B0602020104020603" pitchFamily="34" charset="0"/>
              </a:rPr>
              <a:t> = M/m</a:t>
            </a:r>
            <a:r>
              <a:rPr lang="en-US" sz="2400" baseline="-25000" dirty="0">
                <a:latin typeface="Tw Cen MT" panose="020B0602020104020603" pitchFamily="34" charset="0"/>
              </a:rPr>
              <a:t>k</a:t>
            </a:r>
            <a:r>
              <a:rPr lang="en-US" sz="2400" dirty="0">
                <a:latin typeface="Tw Cen MT" panose="020B0602020104020603" pitchFamily="34" charset="0"/>
              </a:rPr>
              <a:t>.</a:t>
            </a:r>
          </a:p>
          <a:p>
            <a:pPr algn="just" eaLnBrk="1" hangingPunct="1"/>
            <a:r>
              <a:rPr lang="en-US" sz="2400" dirty="0">
                <a:latin typeface="Tw Cen MT" panose="020B0602020104020603" pitchFamily="34" charset="0"/>
              </a:rPr>
              <a:t>       3. Find the multiplicative inverse of M</a:t>
            </a:r>
            <a:r>
              <a:rPr lang="en-US" sz="2400" baseline="-25000" dirty="0">
                <a:latin typeface="Tw Cen MT" panose="020B0602020104020603" pitchFamily="34" charset="0"/>
              </a:rPr>
              <a:t>1</a:t>
            </a:r>
            <a:r>
              <a:rPr lang="en-US" sz="2400" dirty="0">
                <a:latin typeface="Tw Cen MT" panose="020B0602020104020603" pitchFamily="34" charset="0"/>
              </a:rPr>
              <a:t>, M</a:t>
            </a:r>
            <a:r>
              <a:rPr lang="en-US" sz="2400" baseline="-25000" dirty="0">
                <a:latin typeface="Tw Cen MT" panose="020B0602020104020603" pitchFamily="34" charset="0"/>
              </a:rPr>
              <a:t>2</a:t>
            </a:r>
            <a:r>
              <a:rPr lang="en-US" sz="2400" dirty="0">
                <a:latin typeface="Tw Cen MT" panose="020B0602020104020603" pitchFamily="34" charset="0"/>
              </a:rPr>
              <a:t>, …, M</a:t>
            </a:r>
            <a:r>
              <a:rPr lang="en-US" sz="2400" baseline="-25000" dirty="0">
                <a:latin typeface="Tw Cen MT" panose="020B0602020104020603" pitchFamily="34" charset="0"/>
              </a:rPr>
              <a:t>k</a:t>
            </a:r>
            <a:r>
              <a:rPr lang="en-US" sz="2400" dirty="0">
                <a:latin typeface="Tw Cen MT" panose="020B0602020104020603" pitchFamily="34" charset="0"/>
              </a:rPr>
              <a:t> using the</a:t>
            </a:r>
            <a:br>
              <a:rPr lang="en-US" sz="2400" dirty="0">
                <a:latin typeface="Tw Cen MT" panose="020B0602020104020603" pitchFamily="34" charset="0"/>
              </a:rPr>
            </a:br>
            <a:r>
              <a:rPr lang="en-US" sz="2400" dirty="0">
                <a:latin typeface="Tw Cen MT" panose="020B0602020104020603" pitchFamily="34" charset="0"/>
              </a:rPr>
              <a:t>           corresponding moduli (m</a:t>
            </a:r>
            <a:r>
              <a:rPr lang="en-US" sz="2400" baseline="-25000" dirty="0">
                <a:latin typeface="Tw Cen MT" panose="020B0602020104020603" pitchFamily="34" charset="0"/>
              </a:rPr>
              <a:t>1</a:t>
            </a:r>
            <a:r>
              <a:rPr lang="en-US" sz="2400" dirty="0">
                <a:latin typeface="Tw Cen MT" panose="020B0602020104020603" pitchFamily="34" charset="0"/>
              </a:rPr>
              <a:t>, m</a:t>
            </a:r>
            <a:r>
              <a:rPr lang="en-US" sz="2400" baseline="-25000" dirty="0">
                <a:latin typeface="Tw Cen MT" panose="020B0602020104020603" pitchFamily="34" charset="0"/>
              </a:rPr>
              <a:t>2</a:t>
            </a:r>
            <a:r>
              <a:rPr lang="en-US" sz="2400" dirty="0">
                <a:latin typeface="Tw Cen MT" panose="020B0602020104020603" pitchFamily="34" charset="0"/>
              </a:rPr>
              <a:t>, …, </a:t>
            </a:r>
            <a:r>
              <a:rPr lang="en-US" sz="2400" dirty="0" err="1">
                <a:latin typeface="Tw Cen MT" panose="020B0602020104020603" pitchFamily="34" charset="0"/>
              </a:rPr>
              <a:t>m</a:t>
            </a:r>
            <a:r>
              <a:rPr lang="en-US" sz="2400" baseline="-25000" dirty="0" err="1">
                <a:latin typeface="Tw Cen MT" panose="020B0602020104020603" pitchFamily="34" charset="0"/>
              </a:rPr>
              <a:t>k</a:t>
            </a:r>
            <a:r>
              <a:rPr lang="en-US" sz="2400" dirty="0">
                <a:latin typeface="Tw Cen MT" panose="020B0602020104020603" pitchFamily="34" charset="0"/>
              </a:rPr>
              <a:t>). Call the inverses</a:t>
            </a:r>
            <a:br>
              <a:rPr lang="en-US" sz="2400" dirty="0">
                <a:latin typeface="Tw Cen MT" panose="020B0602020104020603" pitchFamily="34" charset="0"/>
              </a:rPr>
            </a:br>
            <a:r>
              <a:rPr lang="en-US" sz="2400" dirty="0">
                <a:latin typeface="Tw Cen MT" panose="020B0602020104020603" pitchFamily="34" charset="0"/>
              </a:rPr>
              <a:t>          M</a:t>
            </a:r>
            <a:r>
              <a:rPr lang="en-US" sz="2400" baseline="-25000" dirty="0">
                <a:latin typeface="Tw Cen MT" panose="020B0602020104020603" pitchFamily="34" charset="0"/>
              </a:rPr>
              <a:t>1</a:t>
            </a:r>
            <a:r>
              <a:rPr lang="en-US" sz="2400" baseline="30000" dirty="0">
                <a:latin typeface="Tw Cen MT" panose="020B0602020104020603" pitchFamily="34" charset="0"/>
              </a:rPr>
              <a:t>−1</a:t>
            </a:r>
            <a:r>
              <a:rPr lang="en-US" sz="2400" dirty="0">
                <a:latin typeface="Tw Cen MT" panose="020B0602020104020603" pitchFamily="34" charset="0"/>
              </a:rPr>
              <a:t>, M</a:t>
            </a:r>
            <a:r>
              <a:rPr lang="en-US" sz="2400" baseline="-25000" dirty="0">
                <a:latin typeface="Tw Cen MT" panose="020B0602020104020603" pitchFamily="34" charset="0"/>
              </a:rPr>
              <a:t>2</a:t>
            </a:r>
            <a:r>
              <a:rPr lang="en-US" sz="2400" baseline="30000" dirty="0">
                <a:latin typeface="Tw Cen MT" panose="020B0602020104020603" pitchFamily="34" charset="0"/>
              </a:rPr>
              <a:t>−1</a:t>
            </a:r>
            <a:r>
              <a:rPr lang="en-US" sz="2400" dirty="0">
                <a:latin typeface="Tw Cen MT" panose="020B0602020104020603" pitchFamily="34" charset="0"/>
              </a:rPr>
              <a:t>, …, M</a:t>
            </a:r>
            <a:r>
              <a:rPr lang="en-US" sz="2400" baseline="-25000" dirty="0">
                <a:latin typeface="Tw Cen MT" panose="020B0602020104020603" pitchFamily="34" charset="0"/>
              </a:rPr>
              <a:t>k</a:t>
            </a:r>
            <a:r>
              <a:rPr lang="en-US" sz="2400" dirty="0">
                <a:latin typeface="Tw Cen MT" panose="020B0602020104020603" pitchFamily="34" charset="0"/>
              </a:rPr>
              <a:t> </a:t>
            </a:r>
            <a:r>
              <a:rPr lang="en-US" sz="2400" baseline="30000" dirty="0">
                <a:latin typeface="Tw Cen MT" panose="020B0602020104020603" pitchFamily="34" charset="0"/>
              </a:rPr>
              <a:t>−1</a:t>
            </a:r>
            <a:r>
              <a:rPr lang="en-US" sz="2400" dirty="0">
                <a:latin typeface="Tw Cen MT" panose="020B0602020104020603" pitchFamily="34" charset="0"/>
              </a:rPr>
              <a:t>.</a:t>
            </a:r>
          </a:p>
          <a:p>
            <a:pPr algn="just" eaLnBrk="1" hangingPunct="1"/>
            <a:r>
              <a:rPr lang="en-US" sz="2400" dirty="0">
                <a:latin typeface="Tw Cen MT" panose="020B0602020104020603" pitchFamily="34" charset="0"/>
              </a:rPr>
              <a:t>       4. The solution to the simultaneous equations is</a:t>
            </a:r>
          </a:p>
        </p:txBody>
      </p:sp>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838200" y="5105400"/>
            <a:ext cx="7658100" cy="561975"/>
          </a:xfrm>
          <a:prstGeom prst="rect">
            <a:avLst/>
          </a:prstGeom>
        </p:spPr>
      </p:pic>
    </p:spTree>
    <p:extLst>
      <p:ext uri="{BB962C8B-B14F-4D97-AF65-F5344CB8AC3E}">
        <p14:creationId xmlns:p14="http://schemas.microsoft.com/office/powerpoint/2010/main" val="161778802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61</a:t>
            </a:fld>
            <a:endParaRPr lang="en-US" dirty="0">
              <a:latin typeface="Tw Cen MT" panose="020B0602020104020603" pitchFamily="34" charset="0"/>
            </a:endParaRPr>
          </a:p>
        </p:txBody>
      </p:sp>
      <p:sp>
        <p:nvSpPr>
          <p:cNvPr id="947203" name="Text Box 3"/>
          <p:cNvSpPr txBox="1">
            <a:spLocks noChangeArrowheads="1"/>
          </p:cNvSpPr>
          <p:nvPr/>
        </p:nvSpPr>
        <p:spPr bwMode="auto">
          <a:xfrm>
            <a:off x="914400" y="3048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sp>
        <p:nvSpPr>
          <p:cNvPr id="8" name="Rectangle 5"/>
          <p:cNvSpPr>
            <a:spLocks noChangeArrowheads="1"/>
          </p:cNvSpPr>
          <p:nvPr/>
        </p:nvSpPr>
        <p:spPr bwMode="auto">
          <a:xfrm>
            <a:off x="76200" y="16764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a:latin typeface="Tw Cen MT" panose="020B0602020104020603" pitchFamily="34" charset="0"/>
              </a:rPr>
              <a:t>Find the solution to the simultaneous equations:</a:t>
            </a:r>
          </a:p>
        </p:txBody>
      </p:sp>
      <p:sp>
        <p:nvSpPr>
          <p:cNvPr id="9" name="Text Box 6"/>
          <p:cNvSpPr txBox="1">
            <a:spLocks noChangeArrowheads="1"/>
          </p:cNvSpPr>
          <p:nvPr/>
        </p:nvSpPr>
        <p:spPr bwMode="auto">
          <a:xfrm>
            <a:off x="152400" y="1066800"/>
            <a:ext cx="1324402"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bg1"/>
                </a:solidFill>
                <a:latin typeface="Tw Cen MT" panose="020B0602020104020603" pitchFamily="34" charset="0"/>
              </a:rPr>
              <a:t>Example </a:t>
            </a:r>
            <a:endParaRPr lang="en-US" sz="2000" i="1" dirty="0">
              <a:solidFill>
                <a:schemeClr val="bg1"/>
              </a:solidFill>
              <a:latin typeface="Tw Cen MT" panose="020B0602020104020603" pitchFamily="34" charset="0"/>
            </a:endParaRPr>
          </a:p>
        </p:txBody>
      </p:sp>
      <p:sp>
        <p:nvSpPr>
          <p:cNvPr id="10" name="Rectangle 7"/>
          <p:cNvSpPr>
            <a:spLocks noChangeArrowheads="1"/>
          </p:cNvSpPr>
          <p:nvPr/>
        </p:nvSpPr>
        <p:spPr bwMode="auto">
          <a:xfrm>
            <a:off x="228600" y="2540963"/>
            <a:ext cx="88392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dirty="0">
                <a:solidFill>
                  <a:schemeClr val="hlink"/>
                </a:solidFill>
                <a:latin typeface="Tw Cen MT" panose="020B0602020104020603" pitchFamily="34" charset="0"/>
              </a:rPr>
              <a:t>Solution</a:t>
            </a:r>
            <a:r>
              <a:rPr lang="en-US" sz="2400" dirty="0">
                <a:latin typeface="Tw Cen MT" panose="020B0602020104020603" pitchFamily="34" charset="0"/>
              </a:rPr>
              <a:t/>
            </a:r>
            <a:br>
              <a:rPr lang="en-US" sz="2400" dirty="0">
                <a:latin typeface="Tw Cen MT" panose="020B0602020104020603" pitchFamily="34" charset="0"/>
              </a:rPr>
            </a:br>
            <a:r>
              <a:rPr lang="en-US" sz="2400" dirty="0">
                <a:latin typeface="Tw Cen MT" panose="020B0602020104020603" pitchFamily="34" charset="0"/>
              </a:rPr>
              <a:t>We follow the four steps.</a:t>
            </a:r>
          </a:p>
          <a:p>
            <a:pPr algn="just" eaLnBrk="1" hangingPunct="1"/>
            <a:endParaRPr lang="en-US" sz="2400" dirty="0">
              <a:latin typeface="Tw Cen MT" panose="020B0602020104020603" pitchFamily="34" charset="0"/>
            </a:endParaRPr>
          </a:p>
          <a:p>
            <a:pPr algn="just" eaLnBrk="1" hangingPunct="1"/>
            <a:r>
              <a:rPr lang="en-US" sz="2400" dirty="0">
                <a:latin typeface="Tw Cen MT" panose="020B0602020104020603" pitchFamily="34" charset="0"/>
              </a:rPr>
              <a:t>   </a:t>
            </a:r>
            <a:r>
              <a:rPr lang="en-US" sz="2000" dirty="0">
                <a:latin typeface="Tw Cen MT" panose="020B0602020104020603" pitchFamily="34" charset="0"/>
              </a:rPr>
              <a:t>1. M = 3 × 5 × 7 = 105</a:t>
            </a:r>
          </a:p>
          <a:p>
            <a:pPr algn="just" eaLnBrk="1" hangingPunct="1"/>
            <a:endParaRPr lang="en-US" sz="2000" dirty="0">
              <a:latin typeface="Tw Cen MT" panose="020B0602020104020603" pitchFamily="34" charset="0"/>
            </a:endParaRPr>
          </a:p>
          <a:p>
            <a:pPr algn="just" eaLnBrk="1" hangingPunct="1"/>
            <a:r>
              <a:rPr lang="en-US" sz="2000" dirty="0">
                <a:latin typeface="Tw Cen MT" panose="020B0602020104020603" pitchFamily="34" charset="0"/>
              </a:rPr>
              <a:t>   2. M</a:t>
            </a:r>
            <a:r>
              <a:rPr lang="en-US" sz="2000" baseline="-25000" dirty="0">
                <a:latin typeface="Tw Cen MT" panose="020B0602020104020603" pitchFamily="34" charset="0"/>
              </a:rPr>
              <a:t>1</a:t>
            </a:r>
            <a:r>
              <a:rPr lang="en-US" sz="2000" dirty="0">
                <a:latin typeface="Tw Cen MT" panose="020B0602020104020603" pitchFamily="34" charset="0"/>
              </a:rPr>
              <a:t> = 105 / 3 = 35, M</a:t>
            </a:r>
            <a:r>
              <a:rPr lang="en-US" sz="2000" baseline="-25000" dirty="0">
                <a:latin typeface="Tw Cen MT" panose="020B0602020104020603" pitchFamily="34" charset="0"/>
              </a:rPr>
              <a:t>2</a:t>
            </a:r>
            <a:r>
              <a:rPr lang="en-US" sz="2000" dirty="0">
                <a:latin typeface="Tw Cen MT" panose="020B0602020104020603" pitchFamily="34" charset="0"/>
              </a:rPr>
              <a:t> = 105 / 5 = 21, M</a:t>
            </a:r>
            <a:r>
              <a:rPr lang="en-US" sz="2000" baseline="-25000" dirty="0">
                <a:latin typeface="Tw Cen MT" panose="020B0602020104020603" pitchFamily="34" charset="0"/>
              </a:rPr>
              <a:t>3</a:t>
            </a:r>
            <a:r>
              <a:rPr lang="en-US" sz="2000" dirty="0">
                <a:latin typeface="Tw Cen MT" panose="020B0602020104020603" pitchFamily="34" charset="0"/>
              </a:rPr>
              <a:t> = 105 / 7 = 15</a:t>
            </a:r>
          </a:p>
          <a:p>
            <a:pPr algn="just" eaLnBrk="1" hangingPunct="1"/>
            <a:endParaRPr lang="en-US" sz="2000" dirty="0">
              <a:latin typeface="Tw Cen MT" panose="020B0602020104020603" pitchFamily="34" charset="0"/>
            </a:endParaRPr>
          </a:p>
          <a:p>
            <a:pPr algn="just" eaLnBrk="1" hangingPunct="1"/>
            <a:r>
              <a:rPr lang="en-US" sz="2000" dirty="0">
                <a:latin typeface="Tw Cen MT" panose="020B0602020104020603" pitchFamily="34" charset="0"/>
              </a:rPr>
              <a:t>   3. The inverses are M</a:t>
            </a:r>
            <a:r>
              <a:rPr lang="en-US" sz="2000" baseline="-25000" dirty="0">
                <a:latin typeface="Tw Cen MT" panose="020B0602020104020603" pitchFamily="34" charset="0"/>
              </a:rPr>
              <a:t>1</a:t>
            </a:r>
            <a:r>
              <a:rPr lang="en-US" sz="2000" baseline="30000" dirty="0">
                <a:latin typeface="Tw Cen MT" panose="020B0602020104020603" pitchFamily="34" charset="0"/>
              </a:rPr>
              <a:t>−1</a:t>
            </a:r>
            <a:r>
              <a:rPr lang="en-US" sz="2000" dirty="0">
                <a:latin typeface="Tw Cen MT" panose="020B0602020104020603" pitchFamily="34" charset="0"/>
              </a:rPr>
              <a:t> = 2, M</a:t>
            </a:r>
            <a:r>
              <a:rPr lang="en-US" sz="2000" baseline="-25000" dirty="0">
                <a:latin typeface="Tw Cen MT" panose="020B0602020104020603" pitchFamily="34" charset="0"/>
              </a:rPr>
              <a:t>2</a:t>
            </a:r>
            <a:r>
              <a:rPr lang="en-US" sz="2000" baseline="30000" dirty="0">
                <a:latin typeface="Tw Cen MT" panose="020B0602020104020603" pitchFamily="34" charset="0"/>
              </a:rPr>
              <a:t>−1</a:t>
            </a:r>
            <a:r>
              <a:rPr lang="en-US" sz="2000" dirty="0">
                <a:latin typeface="Tw Cen MT" panose="020B0602020104020603" pitchFamily="34" charset="0"/>
              </a:rPr>
              <a:t> = 1, M</a:t>
            </a:r>
            <a:r>
              <a:rPr lang="en-US" sz="2000" baseline="-25000" dirty="0">
                <a:latin typeface="Tw Cen MT" panose="020B0602020104020603" pitchFamily="34" charset="0"/>
              </a:rPr>
              <a:t>3</a:t>
            </a:r>
            <a:r>
              <a:rPr lang="en-US" sz="2000" dirty="0">
                <a:latin typeface="Tw Cen MT" panose="020B0602020104020603" pitchFamily="34" charset="0"/>
              </a:rPr>
              <a:t> </a:t>
            </a:r>
            <a:r>
              <a:rPr lang="en-US" sz="2000" baseline="30000" dirty="0">
                <a:latin typeface="Tw Cen MT" panose="020B0602020104020603" pitchFamily="34" charset="0"/>
              </a:rPr>
              <a:t>−1</a:t>
            </a:r>
            <a:r>
              <a:rPr lang="en-US" sz="2000" dirty="0">
                <a:latin typeface="Tw Cen MT" panose="020B0602020104020603" pitchFamily="34" charset="0"/>
              </a:rPr>
              <a:t> = 1</a:t>
            </a:r>
          </a:p>
          <a:p>
            <a:pPr algn="just" eaLnBrk="1" hangingPunct="1"/>
            <a:endParaRPr lang="en-US" sz="2000" dirty="0">
              <a:latin typeface="Tw Cen MT" panose="020B0602020104020603" pitchFamily="34" charset="0"/>
            </a:endParaRPr>
          </a:p>
          <a:p>
            <a:pPr algn="just" eaLnBrk="1" hangingPunct="1"/>
            <a:r>
              <a:rPr lang="en-US" sz="2000" dirty="0">
                <a:latin typeface="Tw Cen MT" panose="020B0602020104020603" pitchFamily="34" charset="0"/>
              </a:rPr>
              <a:t>   4. x = (2 × 35 × 2 + 3 × 21 × 1 + 2 × 15 × 1) mod 105 = 23 mod </a:t>
            </a:r>
            <a:r>
              <a:rPr lang="en-US" sz="2400" dirty="0">
                <a:latin typeface="Tw Cen MT" panose="020B0602020104020603" pitchFamily="34" charset="0"/>
              </a:rPr>
              <a:t>105</a:t>
            </a:r>
          </a:p>
        </p:txBody>
      </p:sp>
      <p:pic>
        <p:nvPicPr>
          <p:cNvPr id="11"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447800"/>
            <a:ext cx="2614613"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66972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62</a:t>
            </a:fld>
            <a:endParaRPr lang="en-US" dirty="0">
              <a:latin typeface="Tw Cen MT" panose="020B0602020104020603" pitchFamily="34" charset="0"/>
            </a:endParaRPr>
          </a:p>
        </p:txBody>
      </p:sp>
      <p:sp>
        <p:nvSpPr>
          <p:cNvPr id="947203" name="Text Box 3"/>
          <p:cNvSpPr txBox="1">
            <a:spLocks noChangeArrowheads="1"/>
          </p:cNvSpPr>
          <p:nvPr/>
        </p:nvSpPr>
        <p:spPr bwMode="auto">
          <a:xfrm>
            <a:off x="1143000" y="3810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sp>
        <p:nvSpPr>
          <p:cNvPr id="12" name="Rectangle 5"/>
          <p:cNvSpPr>
            <a:spLocks noChangeArrowheads="1"/>
          </p:cNvSpPr>
          <p:nvPr/>
        </p:nvSpPr>
        <p:spPr bwMode="auto">
          <a:xfrm>
            <a:off x="76200" y="1489502"/>
            <a:ext cx="8839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a:latin typeface="Tw Cen MT" panose="020B0602020104020603" pitchFamily="34" charset="0"/>
              </a:rPr>
              <a:t>Find an integer that has a remainder of 3 when divided by 7 and 13, but is divisible by 12.</a:t>
            </a:r>
          </a:p>
        </p:txBody>
      </p:sp>
      <p:sp>
        <p:nvSpPr>
          <p:cNvPr id="13" name="Text Box 6"/>
          <p:cNvSpPr txBox="1">
            <a:spLocks noChangeArrowheads="1"/>
          </p:cNvSpPr>
          <p:nvPr/>
        </p:nvSpPr>
        <p:spPr bwMode="auto">
          <a:xfrm>
            <a:off x="152400" y="1066800"/>
            <a:ext cx="1239442"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smtClean="0">
                <a:solidFill>
                  <a:schemeClr val="bg1"/>
                </a:solidFill>
                <a:latin typeface="Tw Cen MT" panose="020B0602020104020603" pitchFamily="34" charset="0"/>
              </a:rPr>
              <a:t>Example</a:t>
            </a:r>
            <a:endParaRPr lang="en-US" sz="2000" i="1" dirty="0">
              <a:solidFill>
                <a:schemeClr val="bg1"/>
              </a:solidFill>
              <a:latin typeface="Tw Cen MT" panose="020B0602020104020603" pitchFamily="34" charset="0"/>
            </a:endParaRPr>
          </a:p>
        </p:txBody>
      </p:sp>
      <p:sp>
        <p:nvSpPr>
          <p:cNvPr id="14" name="Rectangle 7"/>
          <p:cNvSpPr>
            <a:spLocks noChangeArrowheads="1"/>
          </p:cNvSpPr>
          <p:nvPr/>
        </p:nvSpPr>
        <p:spPr bwMode="auto">
          <a:xfrm>
            <a:off x="228600" y="2431961"/>
            <a:ext cx="8839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a:solidFill>
                  <a:schemeClr val="hlink"/>
                </a:solidFill>
                <a:latin typeface="Tw Cen MT" panose="020B0602020104020603" pitchFamily="34" charset="0"/>
              </a:rPr>
              <a:t>Solution</a:t>
            </a:r>
            <a:r>
              <a:rPr lang="en-US" sz="2400">
                <a:latin typeface="Tw Cen MT" panose="020B0602020104020603" pitchFamily="34" charset="0"/>
              </a:rPr>
              <a:t/>
            </a:r>
            <a:br>
              <a:rPr lang="en-US" sz="2400">
                <a:latin typeface="Tw Cen MT" panose="020B0602020104020603" pitchFamily="34" charset="0"/>
              </a:rPr>
            </a:br>
            <a:r>
              <a:rPr lang="en-US" sz="2400">
                <a:latin typeface="Tw Cen MT" panose="020B0602020104020603" pitchFamily="34" charset="0"/>
              </a:rPr>
              <a:t>This is a CRT problem. We can form three equations and solve them to find the value of x.</a:t>
            </a:r>
          </a:p>
        </p:txBody>
      </p:sp>
      <p:pic>
        <p:nvPicPr>
          <p:cNvPr id="1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5188" y="3729038"/>
            <a:ext cx="2332037" cy="137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0"/>
          <p:cNvSpPr>
            <a:spLocks noChangeArrowheads="1"/>
          </p:cNvSpPr>
          <p:nvPr/>
        </p:nvSpPr>
        <p:spPr bwMode="auto">
          <a:xfrm>
            <a:off x="228600" y="5313274"/>
            <a:ext cx="8839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a:latin typeface="Tw Cen MT" panose="020B0602020104020603" pitchFamily="34" charset="0"/>
              </a:rPr>
              <a:t>If we follow the four steps, we find x = 276. We can check that </a:t>
            </a:r>
            <a:br>
              <a:rPr lang="en-US" sz="2400">
                <a:latin typeface="Tw Cen MT" panose="020B0602020104020603" pitchFamily="34" charset="0"/>
              </a:rPr>
            </a:br>
            <a:r>
              <a:rPr lang="en-US" sz="2400">
                <a:latin typeface="Tw Cen MT" panose="020B0602020104020603" pitchFamily="34" charset="0"/>
              </a:rPr>
              <a:t>276 = 3 mod 7, 276 = 3 mod 13 and 276 is divisible by 12 (the quotient is 23 and the remainder is zero).</a:t>
            </a:r>
          </a:p>
        </p:txBody>
      </p:sp>
    </p:spTree>
    <p:extLst>
      <p:ext uri="{BB962C8B-B14F-4D97-AF65-F5344CB8AC3E}">
        <p14:creationId xmlns:p14="http://schemas.microsoft.com/office/powerpoint/2010/main" val="138902580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63</a:t>
            </a:fld>
            <a:endParaRPr lang="en-US" dirty="0">
              <a:latin typeface="Tw Cen MT" panose="020B0602020104020603" pitchFamily="34" charset="0"/>
            </a:endParaRPr>
          </a:p>
        </p:txBody>
      </p:sp>
      <p:sp>
        <p:nvSpPr>
          <p:cNvPr id="947203" name="Text Box 3"/>
          <p:cNvSpPr txBox="1">
            <a:spLocks noChangeArrowheads="1"/>
          </p:cNvSpPr>
          <p:nvPr/>
        </p:nvSpPr>
        <p:spPr bwMode="auto">
          <a:xfrm>
            <a:off x="1066800" y="6096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grpSp>
        <p:nvGrpSpPr>
          <p:cNvPr id="5" name="Group 4"/>
          <p:cNvGrpSpPr/>
          <p:nvPr/>
        </p:nvGrpSpPr>
        <p:grpSpPr>
          <a:xfrm>
            <a:off x="990600" y="1600200"/>
            <a:ext cx="7239000" cy="2255460"/>
            <a:chOff x="1066800" y="1676400"/>
            <a:chExt cx="7239000" cy="2255460"/>
          </a:xfrm>
        </p:grpSpPr>
        <p:sp>
          <p:nvSpPr>
            <p:cNvPr id="2" name="Rectangle 1"/>
            <p:cNvSpPr/>
            <p:nvPr/>
          </p:nvSpPr>
          <p:spPr>
            <a:xfrm>
              <a:off x="1066800" y="1676400"/>
              <a:ext cx="3318537" cy="523220"/>
            </a:xfrm>
            <a:prstGeom prst="rect">
              <a:avLst/>
            </a:prstGeom>
          </p:spPr>
          <p:txBody>
            <a:bodyPr wrap="none">
              <a:spAutoFit/>
            </a:bodyPr>
            <a:lstStyle/>
            <a:p>
              <a:pPr marL="457200" indent="-457200">
                <a:buFont typeface="Arial" panose="020B0604020202020204" pitchFamily="34" charset="0"/>
                <a:buChar char="•"/>
              </a:pPr>
              <a:r>
                <a:rPr lang="en-GB" sz="2800" dirty="0">
                  <a:latin typeface="Tw Cen MT" panose="020B0602020104020603" pitchFamily="34" charset="0"/>
                </a:rPr>
                <a:t>mod M = m</a:t>
              </a:r>
              <a:r>
                <a:rPr lang="en-GB" sz="2800" baseline="-25000" dirty="0">
                  <a:latin typeface="Tw Cen MT" panose="020B0602020104020603" pitchFamily="34" charset="0"/>
                </a:rPr>
                <a:t>1</a:t>
              </a:r>
              <a:r>
                <a:rPr lang="en-GB" sz="2800" dirty="0">
                  <a:latin typeface="Tw Cen MT" panose="020B0602020104020603" pitchFamily="34" charset="0"/>
                </a:rPr>
                <a:t>m</a:t>
              </a:r>
              <a:r>
                <a:rPr lang="en-GB" sz="2800" baseline="-25000" dirty="0">
                  <a:latin typeface="Tw Cen MT" panose="020B0602020104020603" pitchFamily="34" charset="0"/>
                </a:rPr>
                <a:t>2</a:t>
              </a:r>
              <a:r>
                <a:rPr lang="en-GB" sz="2800" dirty="0">
                  <a:latin typeface="Tw Cen MT" panose="020B0602020104020603" pitchFamily="34" charset="0"/>
                </a:rPr>
                <a:t>..m</a:t>
              </a:r>
              <a:r>
                <a:rPr lang="en-GB" sz="2800" baseline="-25000" dirty="0">
                  <a:latin typeface="Tw Cen MT" panose="020B0602020104020603" pitchFamily="34" charset="0"/>
                </a:rPr>
                <a:t>k</a:t>
              </a:r>
            </a:p>
          </p:txBody>
        </p:sp>
        <p:sp>
          <p:nvSpPr>
            <p:cNvPr id="3" name="Rectangle 2"/>
            <p:cNvSpPr/>
            <p:nvPr/>
          </p:nvSpPr>
          <p:spPr>
            <a:xfrm>
              <a:off x="1066800" y="2362200"/>
              <a:ext cx="7239000" cy="1569660"/>
            </a:xfrm>
            <a:prstGeom prst="rect">
              <a:avLst/>
            </a:prstGeom>
          </p:spPr>
          <p:txBody>
            <a:bodyPr wrap="square">
              <a:spAutoFit/>
            </a:bodyPr>
            <a:lstStyle/>
            <a:p>
              <a:pPr marL="342900" indent="-342900">
                <a:buFont typeface="Arial" panose="020B0604020202020204" pitchFamily="34" charset="0"/>
                <a:buChar char="•"/>
              </a:pPr>
              <a:r>
                <a:rPr lang="en-GB" sz="2400" dirty="0">
                  <a:latin typeface="Tw Cen MT" panose="020B0602020104020603" pitchFamily="34" charset="0"/>
                </a:rPr>
                <a:t>Chinese Remainder theorem lets us work in each moduli </a:t>
              </a:r>
              <a:r>
                <a:rPr lang="en-GB" sz="2400" dirty="0" smtClean="0">
                  <a:latin typeface="Tw Cen MT" panose="020B0602020104020603" pitchFamily="34" charset="0"/>
                </a:rPr>
                <a:t>m</a:t>
              </a:r>
              <a:r>
                <a:rPr lang="en-GB" sz="2400" baseline="-25000" dirty="0" smtClean="0">
                  <a:latin typeface="Tw Cen MT" panose="020B0602020104020603" pitchFamily="34" charset="0"/>
                </a:rPr>
                <a:t>i  </a:t>
              </a:r>
              <a:r>
                <a:rPr lang="en-GB" sz="2400" dirty="0" smtClean="0">
                  <a:latin typeface="Tw Cen MT" panose="020B0602020104020603" pitchFamily="34" charset="0"/>
                </a:rPr>
                <a:t>separately</a:t>
              </a:r>
            </a:p>
            <a:p>
              <a:pPr marL="342900" indent="-342900">
                <a:buFont typeface="Arial" panose="020B0604020202020204" pitchFamily="34" charset="0"/>
                <a:buChar char="•"/>
              </a:pPr>
              <a:r>
                <a:rPr lang="en-GB" sz="2400" dirty="0" smtClean="0">
                  <a:latin typeface="Tw Cen MT" panose="020B0602020104020603" pitchFamily="34" charset="0"/>
                </a:rPr>
                <a:t>Since computational cost is proportional to size, this is faster</a:t>
              </a:r>
              <a:endParaRPr lang="en-GB" sz="2400" dirty="0">
                <a:latin typeface="Tw Cen MT" panose="020B0602020104020603" pitchFamily="34" charset="0"/>
              </a:endParaRPr>
            </a:p>
          </p:txBody>
        </p:sp>
      </p:grpSp>
      <p:pic>
        <p:nvPicPr>
          <p:cNvPr id="6" name="Picture 5"/>
          <p:cNvPicPr>
            <a:picLocks noChangeAspect="1"/>
          </p:cNvPicPr>
          <p:nvPr/>
        </p:nvPicPr>
        <p:blipFill>
          <a:blip r:embed="rId3"/>
          <a:stretch>
            <a:fillRect/>
          </a:stretch>
        </p:blipFill>
        <p:spPr>
          <a:xfrm>
            <a:off x="1143000" y="4038600"/>
            <a:ext cx="7286625" cy="990600"/>
          </a:xfrm>
          <a:prstGeom prst="rect">
            <a:avLst/>
          </a:prstGeom>
        </p:spPr>
      </p:pic>
    </p:spTree>
    <p:extLst>
      <p:ext uri="{BB962C8B-B14F-4D97-AF65-F5344CB8AC3E}">
        <p14:creationId xmlns:p14="http://schemas.microsoft.com/office/powerpoint/2010/main" val="32913326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64</a:t>
            </a:fld>
            <a:endParaRPr lang="en-US" dirty="0">
              <a:latin typeface="Tw Cen MT" panose="020B0602020104020603" pitchFamily="34" charset="0"/>
            </a:endParaRPr>
          </a:p>
        </p:txBody>
      </p:sp>
      <p:sp>
        <p:nvSpPr>
          <p:cNvPr id="947203" name="Text Box 3"/>
          <p:cNvSpPr txBox="1">
            <a:spLocks noChangeArrowheads="1"/>
          </p:cNvSpPr>
          <p:nvPr/>
        </p:nvSpPr>
        <p:spPr bwMode="auto">
          <a:xfrm>
            <a:off x="914400" y="5334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pic>
        <p:nvPicPr>
          <p:cNvPr id="8" name="Picture 7"/>
          <p:cNvPicPr>
            <a:picLocks noChangeAspect="1"/>
          </p:cNvPicPr>
          <p:nvPr/>
        </p:nvPicPr>
        <p:blipFill>
          <a:blip r:embed="rId3"/>
          <a:stretch>
            <a:fillRect/>
          </a:stretch>
        </p:blipFill>
        <p:spPr>
          <a:xfrm>
            <a:off x="304800" y="3886200"/>
            <a:ext cx="8696325" cy="2409825"/>
          </a:xfrm>
          <a:prstGeom prst="rect">
            <a:avLst/>
          </a:prstGeom>
        </p:spPr>
      </p:pic>
      <p:pic>
        <p:nvPicPr>
          <p:cNvPr id="6" name="Picture 5"/>
          <p:cNvPicPr>
            <a:picLocks noChangeAspect="1"/>
          </p:cNvPicPr>
          <p:nvPr/>
        </p:nvPicPr>
        <p:blipFill>
          <a:blip r:embed="rId4"/>
          <a:stretch>
            <a:fillRect/>
          </a:stretch>
        </p:blipFill>
        <p:spPr>
          <a:xfrm>
            <a:off x="5486400" y="2362200"/>
            <a:ext cx="3038475" cy="1762125"/>
          </a:xfrm>
          <a:prstGeom prst="rect">
            <a:avLst/>
          </a:prstGeom>
        </p:spPr>
      </p:pic>
      <p:pic>
        <p:nvPicPr>
          <p:cNvPr id="9" name="Picture 8"/>
          <p:cNvPicPr>
            <a:picLocks noChangeAspect="1"/>
          </p:cNvPicPr>
          <p:nvPr/>
        </p:nvPicPr>
        <p:blipFill>
          <a:blip r:embed="rId5"/>
          <a:stretch>
            <a:fillRect/>
          </a:stretch>
        </p:blipFill>
        <p:spPr>
          <a:xfrm>
            <a:off x="762000" y="1219200"/>
            <a:ext cx="7286625" cy="990600"/>
          </a:xfrm>
          <a:prstGeom prst="rect">
            <a:avLst/>
          </a:prstGeom>
        </p:spPr>
      </p:pic>
    </p:spTree>
    <p:extLst>
      <p:ext uri="{BB962C8B-B14F-4D97-AF65-F5344CB8AC3E}">
        <p14:creationId xmlns:p14="http://schemas.microsoft.com/office/powerpoint/2010/main" val="305306509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65</a:t>
            </a:fld>
            <a:endParaRPr lang="en-US" dirty="0">
              <a:latin typeface="Tw Cen MT" panose="020B0602020104020603" pitchFamily="34" charset="0"/>
            </a:endParaRPr>
          </a:p>
        </p:txBody>
      </p:sp>
      <p:sp>
        <p:nvSpPr>
          <p:cNvPr id="947203" name="Text Box 3"/>
          <p:cNvSpPr txBox="1">
            <a:spLocks noChangeArrowheads="1"/>
          </p:cNvSpPr>
          <p:nvPr/>
        </p:nvSpPr>
        <p:spPr bwMode="auto">
          <a:xfrm>
            <a:off x="1143000" y="4572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pic>
        <p:nvPicPr>
          <p:cNvPr id="2" name="Picture 1"/>
          <p:cNvPicPr>
            <a:picLocks noChangeAspect="1"/>
          </p:cNvPicPr>
          <p:nvPr/>
        </p:nvPicPr>
        <p:blipFill>
          <a:blip r:embed="rId3"/>
          <a:stretch>
            <a:fillRect/>
          </a:stretch>
        </p:blipFill>
        <p:spPr>
          <a:xfrm>
            <a:off x="762000" y="1447800"/>
            <a:ext cx="8028094" cy="2238375"/>
          </a:xfrm>
          <a:prstGeom prst="rect">
            <a:avLst/>
          </a:prstGeom>
        </p:spPr>
      </p:pic>
      <p:pic>
        <p:nvPicPr>
          <p:cNvPr id="3" name="Picture 2"/>
          <p:cNvPicPr>
            <a:picLocks noChangeAspect="1"/>
          </p:cNvPicPr>
          <p:nvPr/>
        </p:nvPicPr>
        <p:blipFill>
          <a:blip r:embed="rId4"/>
          <a:stretch>
            <a:fillRect/>
          </a:stretch>
        </p:blipFill>
        <p:spPr>
          <a:xfrm>
            <a:off x="1524000" y="3962400"/>
            <a:ext cx="5924550" cy="1457325"/>
          </a:xfrm>
          <a:prstGeom prst="rect">
            <a:avLst/>
          </a:prstGeom>
        </p:spPr>
      </p:pic>
    </p:spTree>
    <p:extLst>
      <p:ext uri="{BB962C8B-B14F-4D97-AF65-F5344CB8AC3E}">
        <p14:creationId xmlns:p14="http://schemas.microsoft.com/office/powerpoint/2010/main" val="402792749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66</a:t>
            </a:fld>
            <a:endParaRPr lang="en-US" dirty="0">
              <a:latin typeface="Tw Cen MT" panose="020B0602020104020603" pitchFamily="34" charset="0"/>
            </a:endParaRPr>
          </a:p>
        </p:txBody>
      </p:sp>
      <p:sp>
        <p:nvSpPr>
          <p:cNvPr id="947203" name="Text Box 3"/>
          <p:cNvSpPr txBox="1">
            <a:spLocks noChangeArrowheads="1"/>
          </p:cNvSpPr>
          <p:nvPr/>
        </p:nvSpPr>
        <p:spPr bwMode="auto">
          <a:xfrm>
            <a:off x="1600200" y="228600"/>
            <a:ext cx="72622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smtClean="0">
                <a:solidFill>
                  <a:srgbClr val="FF0000"/>
                </a:solidFill>
                <a:latin typeface="Tw Cen MT" panose="020B0602020104020603" pitchFamily="34" charset="0"/>
              </a:rPr>
              <a:t>  Chinese Remainder Theorem (cont.)</a:t>
            </a:r>
            <a:endParaRPr lang="en-US" sz="3600" b="1" dirty="0">
              <a:solidFill>
                <a:srgbClr val="FF0000"/>
              </a:solidFill>
              <a:latin typeface="Tw Cen MT" panose="020B0602020104020603" pitchFamily="34" charset="0"/>
            </a:endParaRP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pic>
        <p:nvPicPr>
          <p:cNvPr id="4" name="Picture 3"/>
          <p:cNvPicPr>
            <a:picLocks noChangeAspect="1"/>
          </p:cNvPicPr>
          <p:nvPr/>
        </p:nvPicPr>
        <p:blipFill>
          <a:blip r:embed="rId3"/>
          <a:stretch>
            <a:fillRect/>
          </a:stretch>
        </p:blipFill>
        <p:spPr>
          <a:xfrm>
            <a:off x="579853" y="1219200"/>
            <a:ext cx="8562975" cy="5019675"/>
          </a:xfrm>
          <a:prstGeom prst="rect">
            <a:avLst/>
          </a:prstGeom>
        </p:spPr>
      </p:pic>
    </p:spTree>
    <p:extLst>
      <p:ext uri="{BB962C8B-B14F-4D97-AF65-F5344CB8AC3E}">
        <p14:creationId xmlns:p14="http://schemas.microsoft.com/office/powerpoint/2010/main" val="364309701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67</a:t>
            </a:fld>
            <a:endParaRPr lang="en-US" dirty="0">
              <a:latin typeface="Tw Cen MT" panose="020B0602020104020603" pitchFamily="34" charset="0"/>
            </a:endParaRPr>
          </a:p>
        </p:txBody>
      </p:sp>
      <p:sp>
        <p:nvSpPr>
          <p:cNvPr id="947203" name="Text Box 3"/>
          <p:cNvSpPr txBox="1">
            <a:spLocks noChangeArrowheads="1"/>
          </p:cNvSpPr>
          <p:nvPr/>
        </p:nvSpPr>
        <p:spPr bwMode="auto">
          <a:xfrm>
            <a:off x="1600200" y="228600"/>
            <a:ext cx="48915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a:solidFill>
                  <a:srgbClr val="FF0000"/>
                </a:solidFill>
                <a:latin typeface="Tw Cen MT" panose="020B0602020104020603" pitchFamily="34" charset="0"/>
              </a:rPr>
              <a:t>  Fermat's Little Theorem</a:t>
            </a: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grpSp>
        <p:nvGrpSpPr>
          <p:cNvPr id="6" name="Group 5"/>
          <p:cNvGrpSpPr/>
          <p:nvPr/>
        </p:nvGrpSpPr>
        <p:grpSpPr>
          <a:xfrm>
            <a:off x="914400" y="1143000"/>
            <a:ext cx="6315075" cy="2314575"/>
            <a:chOff x="533400" y="1371600"/>
            <a:chExt cx="6315075" cy="2314575"/>
          </a:xfrm>
        </p:grpSpPr>
        <p:pic>
          <p:nvPicPr>
            <p:cNvPr id="2" name="Picture 1"/>
            <p:cNvPicPr>
              <a:picLocks noChangeAspect="1"/>
            </p:cNvPicPr>
            <p:nvPr/>
          </p:nvPicPr>
          <p:blipFill>
            <a:blip r:embed="rId3"/>
            <a:stretch>
              <a:fillRect/>
            </a:stretch>
          </p:blipFill>
          <p:spPr>
            <a:xfrm>
              <a:off x="533400" y="1371600"/>
              <a:ext cx="6315075" cy="1428750"/>
            </a:xfrm>
            <a:prstGeom prst="rect">
              <a:avLst/>
            </a:prstGeom>
          </p:spPr>
        </p:pic>
        <p:pic>
          <p:nvPicPr>
            <p:cNvPr id="3" name="Picture 2"/>
            <p:cNvPicPr>
              <a:picLocks noChangeAspect="1"/>
            </p:cNvPicPr>
            <p:nvPr/>
          </p:nvPicPr>
          <p:blipFill>
            <a:blip r:embed="rId4"/>
            <a:stretch>
              <a:fillRect/>
            </a:stretch>
          </p:blipFill>
          <p:spPr>
            <a:xfrm>
              <a:off x="3657600" y="3048000"/>
              <a:ext cx="2305050" cy="561975"/>
            </a:xfrm>
            <a:prstGeom prst="rect">
              <a:avLst/>
            </a:prstGeom>
          </p:spPr>
        </p:pic>
        <p:pic>
          <p:nvPicPr>
            <p:cNvPr id="5" name="Picture 4"/>
            <p:cNvPicPr>
              <a:picLocks noChangeAspect="1"/>
            </p:cNvPicPr>
            <p:nvPr/>
          </p:nvPicPr>
          <p:blipFill>
            <a:blip r:embed="rId5"/>
            <a:stretch>
              <a:fillRect/>
            </a:stretch>
          </p:blipFill>
          <p:spPr>
            <a:xfrm>
              <a:off x="2286000" y="3200400"/>
              <a:ext cx="476250" cy="485775"/>
            </a:xfrm>
            <a:prstGeom prst="rect">
              <a:avLst/>
            </a:prstGeom>
          </p:spPr>
        </p:pic>
      </p:grpSp>
      <p:pic>
        <p:nvPicPr>
          <p:cNvPr id="8" name="Picture 7"/>
          <p:cNvPicPr>
            <a:picLocks noChangeAspect="1"/>
          </p:cNvPicPr>
          <p:nvPr/>
        </p:nvPicPr>
        <p:blipFill>
          <a:blip r:embed="rId6"/>
          <a:stretch>
            <a:fillRect/>
          </a:stretch>
        </p:blipFill>
        <p:spPr>
          <a:xfrm>
            <a:off x="1066800" y="3657600"/>
            <a:ext cx="2514600" cy="2486025"/>
          </a:xfrm>
          <a:prstGeom prst="rect">
            <a:avLst/>
          </a:prstGeom>
        </p:spPr>
      </p:pic>
      <p:cxnSp>
        <p:nvCxnSpPr>
          <p:cNvPr id="9" name="Straight Connector 8"/>
          <p:cNvCxnSpPr/>
          <p:nvPr/>
        </p:nvCxnSpPr>
        <p:spPr bwMode="auto">
          <a:xfrm>
            <a:off x="2209800" y="1524000"/>
            <a:ext cx="198120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280097785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1AED7707-A5B1-472A-89F6-D46B1A6BFFF1}" type="slidenum">
              <a:rPr lang="en-US" smtClean="0">
                <a:latin typeface="Tw Cen MT" panose="020B0602020104020603" pitchFamily="34" charset="0"/>
              </a:rPr>
              <a:pPr/>
              <a:t>68</a:t>
            </a:fld>
            <a:endParaRPr lang="en-US" dirty="0">
              <a:latin typeface="Tw Cen MT" panose="020B0602020104020603" pitchFamily="34" charset="0"/>
            </a:endParaRPr>
          </a:p>
        </p:txBody>
      </p:sp>
      <p:sp>
        <p:nvSpPr>
          <p:cNvPr id="947203" name="Text Box 3"/>
          <p:cNvSpPr txBox="1">
            <a:spLocks noChangeArrowheads="1"/>
          </p:cNvSpPr>
          <p:nvPr/>
        </p:nvSpPr>
        <p:spPr bwMode="auto">
          <a:xfrm>
            <a:off x="2743200" y="381000"/>
            <a:ext cx="3486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a:solidFill>
                  <a:srgbClr val="FF0000"/>
                </a:solidFill>
                <a:latin typeface="Tw Cen MT" panose="020B0602020104020603" pitchFamily="34" charset="0"/>
              </a:rPr>
              <a:t>  Euler's Theorem</a:t>
            </a:r>
          </a:p>
        </p:txBody>
      </p:sp>
      <p:sp>
        <p:nvSpPr>
          <p:cNvPr id="94720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w Cen MT" panose="020B0602020104020603" pitchFamily="34" charset="0"/>
            </a:endParaRPr>
          </a:p>
        </p:txBody>
      </p:sp>
      <p:pic>
        <p:nvPicPr>
          <p:cNvPr id="4" name="Picture 3"/>
          <p:cNvPicPr>
            <a:picLocks noChangeAspect="1"/>
          </p:cNvPicPr>
          <p:nvPr/>
        </p:nvPicPr>
        <p:blipFill>
          <a:blip r:embed="rId3"/>
          <a:stretch>
            <a:fillRect/>
          </a:stretch>
        </p:blipFill>
        <p:spPr>
          <a:xfrm>
            <a:off x="685800" y="1295400"/>
            <a:ext cx="5943600" cy="495300"/>
          </a:xfrm>
          <a:prstGeom prst="rect">
            <a:avLst/>
          </a:prstGeom>
        </p:spPr>
      </p:pic>
      <p:pic>
        <p:nvPicPr>
          <p:cNvPr id="9" name="Picture 8"/>
          <p:cNvPicPr>
            <a:picLocks noChangeAspect="1"/>
          </p:cNvPicPr>
          <p:nvPr/>
        </p:nvPicPr>
        <p:blipFill>
          <a:blip r:embed="rId4"/>
          <a:stretch>
            <a:fillRect/>
          </a:stretch>
        </p:blipFill>
        <p:spPr>
          <a:xfrm>
            <a:off x="1828800" y="2057400"/>
            <a:ext cx="5124450" cy="1009650"/>
          </a:xfrm>
          <a:prstGeom prst="rect">
            <a:avLst/>
          </a:prstGeom>
        </p:spPr>
      </p:pic>
      <p:pic>
        <p:nvPicPr>
          <p:cNvPr id="10" name="Picture 9"/>
          <p:cNvPicPr>
            <a:picLocks noChangeAspect="1"/>
          </p:cNvPicPr>
          <p:nvPr/>
        </p:nvPicPr>
        <p:blipFill>
          <a:blip r:embed="rId5"/>
          <a:stretch>
            <a:fillRect/>
          </a:stretch>
        </p:blipFill>
        <p:spPr>
          <a:xfrm>
            <a:off x="990600" y="3124200"/>
            <a:ext cx="5172075" cy="2476500"/>
          </a:xfrm>
          <a:prstGeom prst="rect">
            <a:avLst/>
          </a:prstGeom>
        </p:spPr>
      </p:pic>
      <p:pic>
        <p:nvPicPr>
          <p:cNvPr id="11" name="Picture 10"/>
          <p:cNvPicPr>
            <a:picLocks noChangeAspect="1"/>
          </p:cNvPicPr>
          <p:nvPr/>
        </p:nvPicPr>
        <p:blipFill>
          <a:blip r:embed="rId6"/>
          <a:stretch>
            <a:fillRect/>
          </a:stretch>
        </p:blipFill>
        <p:spPr>
          <a:xfrm>
            <a:off x="1905000" y="5943600"/>
            <a:ext cx="4591050" cy="523875"/>
          </a:xfrm>
          <a:prstGeom prst="rect">
            <a:avLst/>
          </a:prstGeom>
        </p:spPr>
      </p:pic>
    </p:spTree>
    <p:extLst>
      <p:ext uri="{BB962C8B-B14F-4D97-AF65-F5344CB8AC3E}">
        <p14:creationId xmlns:p14="http://schemas.microsoft.com/office/powerpoint/2010/main" val="207775390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fld id="{9869E540-A311-4645-8657-E7EDA055E3E5}" type="slidenum">
              <a:rPr lang="en-US" sz="2400" smtClean="0">
                <a:solidFill>
                  <a:schemeClr val="bg2"/>
                </a:solidFill>
                <a:latin typeface="Tw Cen MT" panose="020B0602020104020603" pitchFamily="34" charset="0"/>
              </a:rPr>
              <a:pPr algn="just"/>
              <a:t>69</a:t>
            </a:fld>
            <a:endParaRPr lang="en-US" sz="2400" dirty="0">
              <a:solidFill>
                <a:schemeClr val="bg2"/>
              </a:solidFill>
              <a:latin typeface="Tw Cen MT" panose="020B0602020104020603" pitchFamily="34" charset="0"/>
            </a:endParaRPr>
          </a:p>
        </p:txBody>
      </p:sp>
      <p:sp>
        <p:nvSpPr>
          <p:cNvPr id="859138"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a:defRPr/>
            </a:pPr>
            <a:endParaRPr lang="en-US" sz="2400">
              <a:effectLst>
                <a:outerShdw blurRad="38100" dist="38100" dir="2700000" algn="tl">
                  <a:srgbClr val="FFFFFF"/>
                </a:outerShdw>
              </a:effectLst>
              <a:latin typeface="Tw Cen MT" panose="020B0602020104020603" pitchFamily="34" charset="0"/>
            </a:endParaRPr>
          </a:p>
        </p:txBody>
      </p:sp>
      <p:sp>
        <p:nvSpPr>
          <p:cNvPr id="859139" name="Text Box 3"/>
          <p:cNvSpPr txBox="1">
            <a:spLocks noChangeArrowheads="1"/>
          </p:cNvSpPr>
          <p:nvPr/>
        </p:nvSpPr>
        <p:spPr bwMode="auto">
          <a:xfrm>
            <a:off x="304800" y="304800"/>
            <a:ext cx="44535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a:defRPr/>
            </a:pPr>
            <a:r>
              <a:rPr lang="en-US" sz="3600" dirty="0" smtClean="0">
                <a:effectLst>
                  <a:outerShdw blurRad="38100" dist="38100" dir="2700000" algn="tl">
                    <a:srgbClr val="C0C0C0"/>
                  </a:outerShdw>
                </a:effectLst>
                <a:latin typeface="Tw Cen MT" panose="020B0602020104020603" pitchFamily="34" charset="0"/>
              </a:rPr>
              <a:t>RABIN </a:t>
            </a:r>
            <a:r>
              <a:rPr lang="en-US" sz="3600" dirty="0">
                <a:effectLst>
                  <a:outerShdw blurRad="38100" dist="38100" dir="2700000" algn="tl">
                    <a:srgbClr val="C0C0C0"/>
                  </a:outerShdw>
                </a:effectLst>
                <a:latin typeface="Tw Cen MT" panose="020B0602020104020603" pitchFamily="34" charset="0"/>
              </a:rPr>
              <a:t>CRYPTOSYSTEM</a:t>
            </a:r>
          </a:p>
        </p:txBody>
      </p:sp>
      <p:sp>
        <p:nvSpPr>
          <p:cNvPr id="38917" name="Text Box 4"/>
          <p:cNvSpPr txBox="1">
            <a:spLocks noChangeArrowheads="1"/>
          </p:cNvSpPr>
          <p:nvPr/>
        </p:nvSpPr>
        <p:spPr bwMode="auto">
          <a:xfrm>
            <a:off x="8229600" y="6400800"/>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endParaRPr lang="en-US" sz="2400">
              <a:latin typeface="Tw Cen MT" panose="020B0602020104020603" pitchFamily="34" charset="0"/>
            </a:endParaRPr>
          </a:p>
        </p:txBody>
      </p:sp>
      <p:sp>
        <p:nvSpPr>
          <p:cNvPr id="859141" name="Rectangle 5"/>
          <p:cNvSpPr>
            <a:spLocks noChangeArrowheads="1"/>
          </p:cNvSpPr>
          <p:nvPr/>
        </p:nvSpPr>
        <p:spPr bwMode="auto">
          <a:xfrm>
            <a:off x="228600" y="1957854"/>
            <a:ext cx="8229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sz="2400" i="1" dirty="0">
                <a:effectLst>
                  <a:outerShdw blurRad="38100" dist="38100" dir="2700000" algn="tl">
                    <a:srgbClr val="C0C0C0"/>
                  </a:outerShdw>
                </a:effectLst>
                <a:latin typeface="Tw Cen MT" panose="020B0602020104020603" pitchFamily="34" charset="0"/>
              </a:rPr>
              <a:t>The Rabin cryptosystem can be thought of as an RSA cryptosystem in which the value of e and d are fixed. The encryption is C ≡ P</a:t>
            </a:r>
            <a:r>
              <a:rPr lang="en-US" sz="2400" i="1" baseline="30000" dirty="0">
                <a:effectLst>
                  <a:outerShdw blurRad="38100" dist="38100" dir="2700000" algn="tl">
                    <a:srgbClr val="C0C0C0"/>
                  </a:outerShdw>
                </a:effectLst>
                <a:latin typeface="Tw Cen MT" panose="020B0602020104020603" pitchFamily="34" charset="0"/>
              </a:rPr>
              <a:t>2</a:t>
            </a:r>
            <a:r>
              <a:rPr lang="en-US" sz="2400" i="1" dirty="0">
                <a:effectLst>
                  <a:outerShdw blurRad="38100" dist="38100" dir="2700000" algn="tl">
                    <a:srgbClr val="C0C0C0"/>
                  </a:outerShdw>
                </a:effectLst>
                <a:latin typeface="Tw Cen MT" panose="020B0602020104020603" pitchFamily="34" charset="0"/>
              </a:rPr>
              <a:t> (mod n) and the decryption is P ≡ C</a:t>
            </a:r>
            <a:r>
              <a:rPr lang="en-US" sz="2400" i="1" baseline="30000" dirty="0">
                <a:effectLst>
                  <a:outerShdw blurRad="38100" dist="38100" dir="2700000" algn="tl">
                    <a:srgbClr val="C0C0C0"/>
                  </a:outerShdw>
                </a:effectLst>
                <a:latin typeface="Tw Cen MT" panose="020B0602020104020603" pitchFamily="34" charset="0"/>
              </a:rPr>
              <a:t>1/2</a:t>
            </a:r>
            <a:r>
              <a:rPr lang="en-US" sz="2400" i="1" dirty="0">
                <a:effectLst>
                  <a:outerShdw blurRad="38100" dist="38100" dir="2700000" algn="tl">
                    <a:srgbClr val="C0C0C0"/>
                  </a:outerShdw>
                </a:effectLst>
                <a:latin typeface="Tw Cen MT" panose="020B0602020104020603" pitchFamily="34" charset="0"/>
              </a:rPr>
              <a:t> (mod n).</a:t>
            </a:r>
          </a:p>
          <a:p>
            <a:pPr algn="just" eaLnBrk="1" hangingPunct="1">
              <a:defRPr/>
            </a:pPr>
            <a:endParaRPr lang="en-US" sz="2400" i="1" dirty="0">
              <a:effectLst>
                <a:outerShdw blurRad="38100" dist="38100" dir="2700000" algn="tl">
                  <a:srgbClr val="C0C0C0"/>
                </a:outerShdw>
              </a:effectLst>
              <a:latin typeface="Tw Cen MT" panose="020B0602020104020603" pitchFamily="34" charset="0"/>
            </a:endParaRPr>
          </a:p>
          <a:p>
            <a:pPr algn="just" eaLnBrk="1" hangingPunct="1">
              <a:defRPr/>
            </a:pPr>
            <a:endParaRPr lang="en-US" sz="2400" i="1" dirty="0">
              <a:effectLst>
                <a:outerShdw blurRad="38100" dist="38100" dir="2700000" algn="tl">
                  <a:srgbClr val="C0C0C0"/>
                </a:outerShdw>
              </a:effectLst>
              <a:latin typeface="Tw Cen MT" panose="020B0602020104020603" pitchFamily="34" charset="0"/>
            </a:endParaRPr>
          </a:p>
        </p:txBody>
      </p:sp>
      <p:sp>
        <p:nvSpPr>
          <p:cNvPr id="38919" name="Rectangle 6"/>
          <p:cNvSpPr>
            <a:spLocks noChangeArrowheads="1"/>
          </p:cNvSpPr>
          <p:nvPr/>
        </p:nvSpPr>
        <p:spPr bwMode="auto">
          <a:xfrm>
            <a:off x="381000" y="5334000"/>
            <a:ext cx="6705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buClr>
                <a:schemeClr val="tx1"/>
              </a:buClr>
              <a:buSzPct val="117000"/>
              <a:buFont typeface="Wingdings" panose="05000000000000000000" pitchFamily="2" charset="2"/>
              <a:buNone/>
            </a:pPr>
            <a:r>
              <a:rPr lang="en-US" sz="2400" dirty="0" smtClean="0">
                <a:solidFill>
                  <a:schemeClr val="hlink"/>
                </a:solidFill>
                <a:latin typeface="Tw Cen MT" panose="020B0602020104020603" pitchFamily="34" charset="0"/>
              </a:rPr>
              <a:t>1</a:t>
            </a:r>
            <a:r>
              <a:rPr lang="en-US" sz="2400" dirty="0">
                <a:solidFill>
                  <a:srgbClr val="0033CC"/>
                </a:solidFill>
                <a:latin typeface="Tw Cen MT" panose="020B0602020104020603" pitchFamily="34" charset="0"/>
              </a:rPr>
              <a:t>	Procedure</a:t>
            </a:r>
          </a:p>
          <a:p>
            <a:pPr algn="just">
              <a:buClr>
                <a:schemeClr val="tx1"/>
              </a:buClr>
              <a:buSzPct val="117000"/>
              <a:buFont typeface="Wingdings" panose="05000000000000000000" pitchFamily="2" charset="2"/>
              <a:buNone/>
            </a:pPr>
            <a:r>
              <a:rPr lang="en-US" sz="2400" dirty="0" smtClean="0">
                <a:solidFill>
                  <a:schemeClr val="hlink"/>
                </a:solidFill>
                <a:latin typeface="Tw Cen MT" panose="020B0602020104020603" pitchFamily="34" charset="0"/>
              </a:rPr>
              <a:t>2</a:t>
            </a:r>
            <a:r>
              <a:rPr lang="en-US" sz="2400" dirty="0">
                <a:solidFill>
                  <a:srgbClr val="0033CC"/>
                </a:solidFill>
                <a:latin typeface="Tw Cen MT" panose="020B0602020104020603" pitchFamily="34" charset="0"/>
              </a:rPr>
              <a:t>	Security of the Rabin System</a:t>
            </a:r>
          </a:p>
        </p:txBody>
      </p:sp>
      <p:sp>
        <p:nvSpPr>
          <p:cNvPr id="859143" name="Text Box 7"/>
          <p:cNvSpPr txBox="1">
            <a:spLocks noChangeArrowheads="1"/>
          </p:cNvSpPr>
          <p:nvPr/>
        </p:nvSpPr>
        <p:spPr bwMode="auto">
          <a:xfrm>
            <a:off x="381000" y="4267200"/>
            <a:ext cx="10624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a:defRPr/>
            </a:pPr>
            <a:r>
              <a:rPr lang="en-US" sz="2400" i="1" u="sng" dirty="0">
                <a:solidFill>
                  <a:schemeClr val="hlink"/>
                </a:solidFill>
                <a:effectLst>
                  <a:outerShdw blurRad="38100" dist="38100" dir="2700000" algn="tl">
                    <a:srgbClr val="C0C0C0"/>
                  </a:outerShdw>
                </a:effectLst>
                <a:latin typeface="Tw Cen MT" panose="020B0602020104020603" pitchFamily="34" charset="0"/>
              </a:rPr>
              <a:t>Topics </a:t>
            </a:r>
            <a:r>
              <a:rPr lang="en-US" sz="2400" i="1" u="sng" dirty="0" smtClean="0">
                <a:solidFill>
                  <a:schemeClr val="hlink"/>
                </a:solidFill>
                <a:effectLst>
                  <a:outerShdw blurRad="38100" dist="38100" dir="2700000" algn="tl">
                    <a:srgbClr val="C0C0C0"/>
                  </a:outerShdw>
                </a:effectLst>
                <a:latin typeface="Tw Cen MT" panose="020B0602020104020603" pitchFamily="34" charset="0"/>
              </a:rPr>
              <a:t>:</a:t>
            </a:r>
            <a:endParaRPr lang="en-US" sz="2400" i="1" u="sng" dirty="0">
              <a:solidFill>
                <a:schemeClr val="hlink"/>
              </a:solidFill>
              <a:effectLst>
                <a:outerShdw blurRad="38100" dist="38100" dir="2700000" algn="tl">
                  <a:srgbClr val="C0C0C0"/>
                </a:outerShdw>
              </a:effectLst>
              <a:latin typeface="Tw Cen MT" panose="020B0602020104020603" pitchFamily="34" charset="0"/>
            </a:endParaRPr>
          </a:p>
        </p:txBody>
      </p:sp>
    </p:spTree>
    <p:extLst>
      <p:ext uri="{BB962C8B-B14F-4D97-AF65-F5344CB8AC3E}">
        <p14:creationId xmlns:p14="http://schemas.microsoft.com/office/powerpoint/2010/main" val="204518854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017760D8-DCCE-4F07-9D6E-772E128209C1}" type="slidenum">
              <a:rPr lang="en-US" sz="2400" smtClean="0">
                <a:solidFill>
                  <a:schemeClr val="bg2"/>
                </a:solidFill>
                <a:latin typeface="Tw Cen MT" panose="020B0602020104020603" pitchFamily="34" charset="0"/>
              </a:rPr>
              <a:pPr/>
              <a:t>70</a:t>
            </a:fld>
            <a:endParaRPr lang="en-US" sz="2400" dirty="0">
              <a:solidFill>
                <a:schemeClr val="bg2"/>
              </a:solidFill>
              <a:latin typeface="Tw Cen MT" panose="020B0602020104020603" pitchFamily="34" charset="0"/>
            </a:endParaRPr>
          </a:p>
        </p:txBody>
      </p:sp>
      <p:sp>
        <p:nvSpPr>
          <p:cNvPr id="1428482" name="Rectangle 2"/>
          <p:cNvSpPr>
            <a:spLocks noChangeArrowheads="1"/>
          </p:cNvSpPr>
          <p:nvPr/>
        </p:nvSpPr>
        <p:spPr bwMode="auto">
          <a:xfrm>
            <a:off x="0" y="-228600"/>
            <a:ext cx="9144000" cy="7620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sz="2400">
              <a:effectLst>
                <a:outerShdw blurRad="38100" dist="38100" dir="2700000" algn="tl">
                  <a:srgbClr val="FFFFFF"/>
                </a:outerShdw>
              </a:effectLst>
              <a:latin typeface="Tw Cen MT" panose="020B0602020104020603" pitchFamily="34" charset="0"/>
            </a:endParaRPr>
          </a:p>
        </p:txBody>
      </p:sp>
      <p:sp>
        <p:nvSpPr>
          <p:cNvPr id="1428483" name="Text Box 3"/>
          <p:cNvSpPr txBox="1">
            <a:spLocks noChangeArrowheads="1"/>
          </p:cNvSpPr>
          <p:nvPr/>
        </p:nvSpPr>
        <p:spPr bwMode="auto">
          <a:xfrm>
            <a:off x="228600" y="-152400"/>
            <a:ext cx="20970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2400" dirty="0" smtClean="0">
                <a:effectLst>
                  <a:outerShdw blurRad="38100" dist="38100" dir="2700000" algn="tl">
                    <a:srgbClr val="C0C0C0"/>
                  </a:outerShdw>
                </a:effectLst>
                <a:latin typeface="Tw Cen MT" panose="020B0602020104020603" pitchFamily="34" charset="0"/>
              </a:rPr>
              <a:t> </a:t>
            </a:r>
            <a:r>
              <a:rPr lang="en-US" sz="3600" dirty="0">
                <a:effectLst>
                  <a:outerShdw blurRad="38100" dist="38100" dir="2700000" algn="tl">
                    <a:srgbClr val="C0C0C0"/>
                  </a:outerShdw>
                </a:effectLst>
                <a:latin typeface="Tw Cen MT" panose="020B0602020104020603" pitchFamily="34" charset="0"/>
              </a:rPr>
              <a:t>Continued</a:t>
            </a:r>
          </a:p>
        </p:txBody>
      </p:sp>
      <p:sp>
        <p:nvSpPr>
          <p:cNvPr id="39941" name="Text Box 4"/>
          <p:cNvSpPr txBox="1">
            <a:spLocks noChangeArrowheads="1"/>
          </p:cNvSpPr>
          <p:nvPr/>
        </p:nvSpPr>
        <p:spPr bwMode="auto">
          <a:xfrm>
            <a:off x="8229600" y="6400800"/>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endParaRPr lang="en-US" sz="2400">
              <a:latin typeface="Tw Cen MT" panose="020B0602020104020603" pitchFamily="34" charset="0"/>
            </a:endParaRPr>
          </a:p>
        </p:txBody>
      </p:sp>
      <p:sp>
        <p:nvSpPr>
          <p:cNvPr id="39942" name="Text Box 8"/>
          <p:cNvSpPr txBox="1">
            <a:spLocks noChangeArrowheads="1"/>
          </p:cNvSpPr>
          <p:nvPr/>
        </p:nvSpPr>
        <p:spPr bwMode="auto">
          <a:xfrm>
            <a:off x="2557463" y="1219200"/>
            <a:ext cx="3503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sz="2400" dirty="0">
                <a:solidFill>
                  <a:schemeClr val="folHlink"/>
                </a:solidFill>
                <a:latin typeface="Tw Cen MT" panose="020B0602020104020603" pitchFamily="34" charset="0"/>
              </a:rPr>
              <a:t>Figure </a:t>
            </a:r>
            <a:r>
              <a:rPr lang="en-US" sz="2400" dirty="0" smtClean="0">
                <a:solidFill>
                  <a:schemeClr val="folHlink"/>
                </a:solidFill>
                <a:latin typeface="Tw Cen MT" panose="020B0602020104020603" pitchFamily="34" charset="0"/>
              </a:rPr>
              <a:t>  </a:t>
            </a:r>
            <a:r>
              <a:rPr lang="en-US" sz="2400" i="1" dirty="0">
                <a:latin typeface="Tw Cen MT" panose="020B0602020104020603" pitchFamily="34" charset="0"/>
              </a:rPr>
              <a:t>Rabin cryptosystem</a:t>
            </a:r>
          </a:p>
        </p:txBody>
      </p:sp>
      <p:pic>
        <p:nvPicPr>
          <p:cNvPr id="3994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95400"/>
            <a:ext cx="8666162" cy="477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837510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017760D8-DCCE-4F07-9D6E-772E128209C1}" type="slidenum">
              <a:rPr lang="en-US" sz="2400" smtClean="0">
                <a:solidFill>
                  <a:schemeClr val="bg2"/>
                </a:solidFill>
                <a:latin typeface="Tw Cen MT" panose="020B0602020104020603" pitchFamily="34" charset="0"/>
              </a:rPr>
              <a:pPr/>
              <a:t>71</a:t>
            </a:fld>
            <a:endParaRPr lang="en-US" sz="2400" dirty="0">
              <a:solidFill>
                <a:schemeClr val="bg2"/>
              </a:solidFill>
              <a:latin typeface="Tw Cen MT" panose="020B0602020104020603" pitchFamily="34" charset="0"/>
            </a:endParaRPr>
          </a:p>
        </p:txBody>
      </p:sp>
      <p:sp>
        <p:nvSpPr>
          <p:cNvPr id="1428482" name="Rectangle 2"/>
          <p:cNvSpPr>
            <a:spLocks noChangeArrowheads="1"/>
          </p:cNvSpPr>
          <p:nvPr/>
        </p:nvSpPr>
        <p:spPr bwMode="auto">
          <a:xfrm>
            <a:off x="0" y="-228600"/>
            <a:ext cx="9144000" cy="7620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sz="2400">
              <a:effectLst>
                <a:outerShdw blurRad="38100" dist="38100" dir="2700000" algn="tl">
                  <a:srgbClr val="FFFFFF"/>
                </a:outerShdw>
              </a:effectLst>
              <a:latin typeface="Tw Cen MT" panose="020B0602020104020603" pitchFamily="34" charset="0"/>
            </a:endParaRPr>
          </a:p>
        </p:txBody>
      </p:sp>
      <p:sp>
        <p:nvSpPr>
          <p:cNvPr id="1428483" name="Text Box 3"/>
          <p:cNvSpPr txBox="1">
            <a:spLocks noChangeArrowheads="1"/>
          </p:cNvSpPr>
          <p:nvPr/>
        </p:nvSpPr>
        <p:spPr bwMode="auto">
          <a:xfrm>
            <a:off x="228600" y="-152400"/>
            <a:ext cx="20970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2400" dirty="0" smtClean="0">
                <a:effectLst>
                  <a:outerShdw blurRad="38100" dist="38100" dir="2700000" algn="tl">
                    <a:srgbClr val="C0C0C0"/>
                  </a:outerShdw>
                </a:effectLst>
                <a:latin typeface="Tw Cen MT" panose="020B0602020104020603" pitchFamily="34" charset="0"/>
              </a:rPr>
              <a:t> </a:t>
            </a:r>
            <a:r>
              <a:rPr lang="en-US" sz="3600" dirty="0">
                <a:effectLst>
                  <a:outerShdw blurRad="38100" dist="38100" dir="2700000" algn="tl">
                    <a:srgbClr val="C0C0C0"/>
                  </a:outerShdw>
                </a:effectLst>
                <a:latin typeface="Tw Cen MT" panose="020B0602020104020603" pitchFamily="34" charset="0"/>
              </a:rPr>
              <a:t>Continued</a:t>
            </a:r>
          </a:p>
        </p:txBody>
      </p:sp>
      <p:sp>
        <p:nvSpPr>
          <p:cNvPr id="39941" name="Text Box 4"/>
          <p:cNvSpPr txBox="1">
            <a:spLocks noChangeArrowheads="1"/>
          </p:cNvSpPr>
          <p:nvPr/>
        </p:nvSpPr>
        <p:spPr bwMode="auto">
          <a:xfrm>
            <a:off x="8229600" y="6400800"/>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endParaRPr lang="en-US" sz="2400">
              <a:latin typeface="Tw Cen MT" panose="020B0602020104020603" pitchFamily="34" charset="0"/>
            </a:endParaRPr>
          </a:p>
        </p:txBody>
      </p:sp>
      <p:pic>
        <p:nvPicPr>
          <p:cNvPr id="2" name="Picture 1"/>
          <p:cNvPicPr>
            <a:picLocks noChangeAspect="1"/>
          </p:cNvPicPr>
          <p:nvPr/>
        </p:nvPicPr>
        <p:blipFill>
          <a:blip r:embed="rId3"/>
          <a:stretch>
            <a:fillRect/>
          </a:stretch>
        </p:blipFill>
        <p:spPr>
          <a:xfrm>
            <a:off x="357187" y="1933575"/>
            <a:ext cx="8429625" cy="2990850"/>
          </a:xfrm>
          <a:prstGeom prst="rect">
            <a:avLst/>
          </a:prstGeom>
        </p:spPr>
      </p:pic>
    </p:spTree>
    <p:extLst>
      <p:ext uri="{BB962C8B-B14F-4D97-AF65-F5344CB8AC3E}">
        <p14:creationId xmlns:p14="http://schemas.microsoft.com/office/powerpoint/2010/main" val="7995977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CECDA02A-D29E-4B72-8AFC-C2132DDCFA91}" type="slidenum">
              <a:rPr lang="en-US" sz="1400" smtClean="0">
                <a:solidFill>
                  <a:schemeClr val="bg2"/>
                </a:solidFill>
                <a:latin typeface="Arial" panose="020B0604020202020204" pitchFamily="34" charset="0"/>
              </a:rPr>
              <a:pPr/>
              <a:t>72</a:t>
            </a:fld>
            <a:endParaRPr lang="en-US" sz="1400" dirty="0">
              <a:solidFill>
                <a:schemeClr val="bg2"/>
              </a:solidFill>
              <a:latin typeface="Arial" panose="020B0604020202020204" pitchFamily="34" charset="0"/>
            </a:endParaRPr>
          </a:p>
        </p:txBody>
      </p:sp>
      <p:sp>
        <p:nvSpPr>
          <p:cNvPr id="41994" name="Rectangle 9"/>
          <p:cNvSpPr>
            <a:spLocks noChangeArrowheads="1"/>
          </p:cNvSpPr>
          <p:nvPr/>
        </p:nvSpPr>
        <p:spPr bwMode="auto">
          <a:xfrm>
            <a:off x="228600" y="11430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r>
              <a:rPr lang="en-US" sz="2800" i="1">
                <a:solidFill>
                  <a:schemeClr val="folHlink"/>
                </a:solidFill>
                <a:latin typeface="Times New Roman" panose="02020603050405020304" pitchFamily="18" charset="0"/>
              </a:rPr>
              <a:t>Encryption</a:t>
            </a:r>
            <a:endParaRPr lang="en-US" sz="2800" i="1">
              <a:latin typeface="Times New Roman" panose="02020603050405020304" pitchFamily="18" charset="0"/>
            </a:endParaRPr>
          </a:p>
        </p:txBody>
      </p:sp>
      <p:sp>
        <p:nvSpPr>
          <p:cNvPr id="41995" name="Text Box 10"/>
          <p:cNvSpPr txBox="1">
            <a:spLocks noChangeArrowheads="1"/>
          </p:cNvSpPr>
          <p:nvPr/>
        </p:nvSpPr>
        <p:spPr bwMode="auto">
          <a:xfrm>
            <a:off x="533400" y="304800"/>
            <a:ext cx="19207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sz="2800" i="1" dirty="0" smtClean="0">
                <a:latin typeface="Times New Roman" panose="02020603050405020304" pitchFamily="18" charset="0"/>
              </a:rPr>
              <a:t>  </a:t>
            </a:r>
            <a:r>
              <a:rPr lang="en-US" sz="2800" i="1" dirty="0">
                <a:latin typeface="Times New Roman" panose="02020603050405020304" pitchFamily="18" charset="0"/>
              </a:rPr>
              <a:t>Continued</a:t>
            </a:r>
          </a:p>
        </p:txBody>
      </p:sp>
      <p:pic>
        <p:nvPicPr>
          <p:cNvPr id="2" name="Picture 1"/>
          <p:cNvPicPr>
            <a:picLocks noChangeAspect="1"/>
          </p:cNvPicPr>
          <p:nvPr/>
        </p:nvPicPr>
        <p:blipFill>
          <a:blip r:embed="rId3"/>
          <a:stretch>
            <a:fillRect/>
          </a:stretch>
        </p:blipFill>
        <p:spPr>
          <a:xfrm>
            <a:off x="338137" y="2376487"/>
            <a:ext cx="8467725" cy="2105025"/>
          </a:xfrm>
          <a:prstGeom prst="rect">
            <a:avLst/>
          </a:prstGeom>
        </p:spPr>
      </p:pic>
    </p:spTree>
    <p:extLst>
      <p:ext uri="{BB962C8B-B14F-4D97-AF65-F5344CB8AC3E}">
        <p14:creationId xmlns:p14="http://schemas.microsoft.com/office/powerpoint/2010/main" val="286141390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p:cNvSpPr>
            <a:spLocks noGrp="1"/>
          </p:cNvSpPr>
          <p:nvPr>
            <p:ph type="sldNum" sz="quarter" idx="10"/>
          </p:nvPr>
        </p:nvSpPr>
        <p:spPr>
          <a:xfrm>
            <a:off x="533400" y="5940425"/>
            <a:ext cx="2133600" cy="476250"/>
          </a:xfrm>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sz="1200">
                <a:solidFill>
                  <a:schemeClr val="bg2"/>
                </a:solidFill>
                <a:latin typeface="Arial" panose="020B0604020202020204" pitchFamily="34" charset="0"/>
              </a:rPr>
              <a:t>10.</a:t>
            </a:r>
            <a:fld id="{F5AFE101-19DC-4215-B220-598C629198F9}" type="slidenum">
              <a:rPr lang="en-US" sz="1200">
                <a:solidFill>
                  <a:schemeClr val="bg2"/>
                </a:solidFill>
                <a:latin typeface="Arial" panose="020B0604020202020204" pitchFamily="34" charset="0"/>
              </a:rPr>
              <a:pPr/>
              <a:t>73</a:t>
            </a:fld>
            <a:endParaRPr lang="en-US" sz="1200">
              <a:solidFill>
                <a:schemeClr val="bg2"/>
              </a:solidFill>
              <a:latin typeface="Arial" panose="020B0604020202020204" pitchFamily="34" charset="0"/>
            </a:endParaRPr>
          </a:p>
        </p:txBody>
      </p:sp>
      <p:sp>
        <p:nvSpPr>
          <p:cNvPr id="43018" name="Rectangle 9"/>
          <p:cNvSpPr>
            <a:spLocks noChangeArrowheads="1"/>
          </p:cNvSpPr>
          <p:nvPr/>
        </p:nvSpPr>
        <p:spPr bwMode="auto">
          <a:xfrm>
            <a:off x="1219200" y="609600"/>
            <a:ext cx="4114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r>
              <a:rPr lang="en-US" sz="2800" i="1">
                <a:solidFill>
                  <a:schemeClr val="folHlink"/>
                </a:solidFill>
                <a:latin typeface="Times New Roman" panose="02020603050405020304" pitchFamily="18" charset="0"/>
              </a:rPr>
              <a:t>Decryption</a:t>
            </a:r>
            <a:endParaRPr lang="en-US" sz="2800" i="1">
              <a:latin typeface="Times New Roman" panose="02020603050405020304" pitchFamily="18" charset="0"/>
            </a:endParaRPr>
          </a:p>
        </p:txBody>
      </p:sp>
      <p:sp>
        <p:nvSpPr>
          <p:cNvPr id="43019" name="Text Box 10"/>
          <p:cNvSpPr txBox="1">
            <a:spLocks noChangeArrowheads="1"/>
          </p:cNvSpPr>
          <p:nvPr/>
        </p:nvSpPr>
        <p:spPr bwMode="auto">
          <a:xfrm>
            <a:off x="1143000" y="0"/>
            <a:ext cx="2167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i="1" dirty="0" smtClean="0">
                <a:latin typeface="Times New Roman" panose="02020603050405020304" pitchFamily="18" charset="0"/>
              </a:rPr>
              <a:t>  </a:t>
            </a:r>
            <a:r>
              <a:rPr lang="en-US" i="1" dirty="0">
                <a:latin typeface="Times New Roman" panose="02020603050405020304" pitchFamily="18" charset="0"/>
              </a:rPr>
              <a:t>Continued</a:t>
            </a:r>
          </a:p>
        </p:txBody>
      </p:sp>
      <p:sp>
        <p:nvSpPr>
          <p:cNvPr id="43021" name="Line 12"/>
          <p:cNvSpPr>
            <a:spLocks noChangeShapeType="1"/>
          </p:cNvSpPr>
          <p:nvPr/>
        </p:nvSpPr>
        <p:spPr bwMode="auto">
          <a:xfrm>
            <a:off x="533400"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3022" name="Line 13"/>
          <p:cNvSpPr>
            <a:spLocks noChangeShapeType="1"/>
          </p:cNvSpPr>
          <p:nvPr/>
        </p:nvSpPr>
        <p:spPr bwMode="auto">
          <a:xfrm>
            <a:off x="534988" y="6400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3023" name="Rectangle 14"/>
          <p:cNvSpPr>
            <a:spLocks noChangeArrowheads="1"/>
          </p:cNvSpPr>
          <p:nvPr/>
        </p:nvSpPr>
        <p:spPr bwMode="auto">
          <a:xfrm>
            <a:off x="571500" y="5349875"/>
            <a:ext cx="8077200" cy="9461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ctr"/>
            <a:r>
              <a:rPr lang="en-US" sz="2800">
                <a:latin typeface="Times New Roman" panose="02020603050405020304" pitchFamily="18" charset="0"/>
              </a:rPr>
              <a:t>The Rabin cryptosystem is not deterministic: Decryption creates four plaintexts.</a:t>
            </a:r>
          </a:p>
        </p:txBody>
      </p:sp>
      <p:pic>
        <p:nvPicPr>
          <p:cNvPr id="2" name="Picture 1"/>
          <p:cNvPicPr>
            <a:picLocks noChangeAspect="1"/>
          </p:cNvPicPr>
          <p:nvPr/>
        </p:nvPicPr>
        <p:blipFill>
          <a:blip r:embed="rId3"/>
          <a:stretch>
            <a:fillRect/>
          </a:stretch>
        </p:blipFill>
        <p:spPr>
          <a:xfrm>
            <a:off x="609600" y="1447800"/>
            <a:ext cx="7886700" cy="3686175"/>
          </a:xfrm>
          <a:prstGeom prst="rect">
            <a:avLst/>
          </a:prstGeom>
        </p:spPr>
      </p:pic>
    </p:spTree>
    <p:extLst>
      <p:ext uri="{BB962C8B-B14F-4D97-AF65-F5344CB8AC3E}">
        <p14:creationId xmlns:p14="http://schemas.microsoft.com/office/powerpoint/2010/main" val="43873147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49D9EC04-DEB2-4DF0-9BD7-5A9D41D6CA53}" type="slidenum">
              <a:rPr lang="en-US" sz="1200" smtClean="0">
                <a:solidFill>
                  <a:schemeClr val="bg2"/>
                </a:solidFill>
                <a:latin typeface="Arial" panose="020B0604020202020204" pitchFamily="34" charset="0"/>
              </a:rPr>
              <a:pPr/>
              <a:t>74</a:t>
            </a:fld>
            <a:endParaRPr lang="en-US" sz="1200" dirty="0">
              <a:solidFill>
                <a:schemeClr val="bg2"/>
              </a:solidFill>
              <a:latin typeface="Arial" panose="020B0604020202020204" pitchFamily="34" charset="0"/>
            </a:endParaRPr>
          </a:p>
        </p:txBody>
      </p:sp>
      <p:sp>
        <p:nvSpPr>
          <p:cNvPr id="44042" name="Text Box 9"/>
          <p:cNvSpPr txBox="1">
            <a:spLocks noChangeArrowheads="1"/>
          </p:cNvSpPr>
          <p:nvPr/>
        </p:nvSpPr>
        <p:spPr bwMode="auto">
          <a:xfrm>
            <a:off x="1143000" y="0"/>
            <a:ext cx="2167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i="1" dirty="0" smtClean="0">
                <a:solidFill>
                  <a:schemeClr val="folHlink"/>
                </a:solidFill>
                <a:latin typeface="Times New Roman" panose="02020603050405020304" pitchFamily="18" charset="0"/>
              </a:rPr>
              <a:t>  </a:t>
            </a:r>
            <a:r>
              <a:rPr lang="en-US" i="1" dirty="0">
                <a:solidFill>
                  <a:schemeClr val="folHlink"/>
                </a:solidFill>
                <a:latin typeface="Times New Roman" panose="02020603050405020304" pitchFamily="18" charset="0"/>
              </a:rPr>
              <a:t>Continued</a:t>
            </a:r>
          </a:p>
        </p:txBody>
      </p:sp>
      <p:sp>
        <p:nvSpPr>
          <p:cNvPr id="44043" name="Text Box 10"/>
          <p:cNvSpPr txBox="1">
            <a:spLocks noChangeArrowheads="1"/>
          </p:cNvSpPr>
          <p:nvPr/>
        </p:nvSpPr>
        <p:spPr bwMode="auto">
          <a:xfrm>
            <a:off x="457200" y="685800"/>
            <a:ext cx="1423788"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sz="2400" dirty="0">
                <a:solidFill>
                  <a:schemeClr val="bg1"/>
                </a:solidFill>
                <a:latin typeface="Times New Roman" panose="02020603050405020304" pitchFamily="18" charset="0"/>
              </a:rPr>
              <a:t>Example </a:t>
            </a:r>
            <a:endParaRPr lang="en-US" sz="2000" i="1" dirty="0">
              <a:solidFill>
                <a:schemeClr val="bg1"/>
              </a:solidFill>
              <a:latin typeface="Times New Roman" panose="02020603050405020304" pitchFamily="18" charset="0"/>
            </a:endParaRPr>
          </a:p>
        </p:txBody>
      </p:sp>
      <p:sp>
        <p:nvSpPr>
          <p:cNvPr id="44044" name="Rectangle 12"/>
          <p:cNvSpPr>
            <a:spLocks noChangeArrowheads="1"/>
          </p:cNvSpPr>
          <p:nvPr/>
        </p:nvSpPr>
        <p:spPr bwMode="auto">
          <a:xfrm>
            <a:off x="228600" y="1143000"/>
            <a:ext cx="8686800" cy="4473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nSpc>
                <a:spcPct val="150000"/>
              </a:lnSpc>
            </a:pPr>
            <a:r>
              <a:rPr lang="en-US" sz="2400">
                <a:latin typeface="Times New Roman" panose="02020603050405020304" pitchFamily="18" charset="0"/>
              </a:rPr>
              <a:t>Here is a very trivial example to show the idea.</a:t>
            </a:r>
          </a:p>
          <a:p>
            <a:pPr>
              <a:lnSpc>
                <a:spcPct val="150000"/>
              </a:lnSpc>
              <a:buFontTx/>
              <a:buAutoNum type="arabicPeriod"/>
            </a:pPr>
            <a:r>
              <a:rPr lang="en-US" sz="2400">
                <a:latin typeface="Times New Roman" panose="02020603050405020304" pitchFamily="18" charset="0"/>
              </a:rPr>
              <a:t>Bob selects </a:t>
            </a:r>
            <a:r>
              <a:rPr lang="en-US" sz="2400" i="1">
                <a:latin typeface="Times New Roman" panose="02020603050405020304" pitchFamily="18" charset="0"/>
              </a:rPr>
              <a:t>p</a:t>
            </a:r>
            <a:r>
              <a:rPr lang="en-US" sz="2400">
                <a:latin typeface="Times New Roman" panose="02020603050405020304" pitchFamily="18" charset="0"/>
              </a:rPr>
              <a:t> = 23 and </a:t>
            </a:r>
            <a:r>
              <a:rPr lang="en-US" sz="2400" i="1">
                <a:latin typeface="Times New Roman" panose="02020603050405020304" pitchFamily="18" charset="0"/>
              </a:rPr>
              <a:t>q</a:t>
            </a:r>
            <a:r>
              <a:rPr lang="en-US" sz="2400">
                <a:latin typeface="Times New Roman" panose="02020603050405020304" pitchFamily="18" charset="0"/>
              </a:rPr>
              <a:t> = 7. Note that both are</a:t>
            </a:r>
            <a:br>
              <a:rPr lang="en-US" sz="2400">
                <a:latin typeface="Times New Roman" panose="02020603050405020304" pitchFamily="18" charset="0"/>
              </a:rPr>
            </a:br>
            <a:r>
              <a:rPr lang="en-US" sz="2400">
                <a:latin typeface="Times New Roman" panose="02020603050405020304" pitchFamily="18" charset="0"/>
              </a:rPr>
              <a:t>congruent to 3 mod 4.</a:t>
            </a:r>
          </a:p>
          <a:p>
            <a:pPr>
              <a:lnSpc>
                <a:spcPct val="150000"/>
              </a:lnSpc>
              <a:buFontTx/>
              <a:buAutoNum type="arabicPeriod"/>
            </a:pPr>
            <a:r>
              <a:rPr lang="en-US" sz="2400">
                <a:latin typeface="Times New Roman" panose="02020603050405020304" pitchFamily="18" charset="0"/>
              </a:rPr>
              <a:t>Bob calculates </a:t>
            </a:r>
            <a:r>
              <a:rPr lang="en-US" sz="2400" i="1">
                <a:latin typeface="Times New Roman" panose="02020603050405020304" pitchFamily="18" charset="0"/>
              </a:rPr>
              <a:t>n</a:t>
            </a:r>
            <a:r>
              <a:rPr lang="en-US" sz="2400">
                <a:latin typeface="Times New Roman" panose="02020603050405020304" pitchFamily="18" charset="0"/>
              </a:rPr>
              <a:t> = </a:t>
            </a:r>
            <a:r>
              <a:rPr lang="en-US" sz="2400" i="1">
                <a:latin typeface="Times New Roman" panose="02020603050405020304" pitchFamily="18" charset="0"/>
              </a:rPr>
              <a:t>p</a:t>
            </a:r>
            <a:r>
              <a:rPr lang="en-US" sz="2400">
                <a:latin typeface="Times New Roman" panose="02020603050405020304" pitchFamily="18" charset="0"/>
              </a:rPr>
              <a:t> × </a:t>
            </a:r>
            <a:r>
              <a:rPr lang="en-US" sz="2400" i="1">
                <a:latin typeface="Times New Roman" panose="02020603050405020304" pitchFamily="18" charset="0"/>
              </a:rPr>
              <a:t>q</a:t>
            </a:r>
            <a:r>
              <a:rPr lang="en-US" sz="2400">
                <a:latin typeface="Times New Roman" panose="02020603050405020304" pitchFamily="18" charset="0"/>
              </a:rPr>
              <a:t> = 161.</a:t>
            </a:r>
          </a:p>
          <a:p>
            <a:pPr>
              <a:lnSpc>
                <a:spcPct val="150000"/>
              </a:lnSpc>
              <a:buFontTx/>
              <a:buAutoNum type="arabicPeriod"/>
            </a:pPr>
            <a:r>
              <a:rPr lang="en-US" sz="2400">
                <a:latin typeface="Times New Roman" panose="02020603050405020304" pitchFamily="18" charset="0"/>
              </a:rPr>
              <a:t>Bob announces </a:t>
            </a:r>
            <a:r>
              <a:rPr lang="en-US" sz="2400" i="1">
                <a:latin typeface="Times New Roman" panose="02020603050405020304" pitchFamily="18" charset="0"/>
              </a:rPr>
              <a:t>n</a:t>
            </a:r>
            <a:r>
              <a:rPr lang="en-US" sz="2400">
                <a:latin typeface="Times New Roman" panose="02020603050405020304" pitchFamily="18" charset="0"/>
              </a:rPr>
              <a:t> publicly; he keeps </a:t>
            </a:r>
            <a:r>
              <a:rPr lang="en-US" sz="2400" i="1">
                <a:latin typeface="Times New Roman" panose="02020603050405020304" pitchFamily="18" charset="0"/>
              </a:rPr>
              <a:t>p</a:t>
            </a:r>
            <a:r>
              <a:rPr lang="en-US" sz="2400">
                <a:latin typeface="Times New Roman" panose="02020603050405020304" pitchFamily="18" charset="0"/>
              </a:rPr>
              <a:t> and </a:t>
            </a:r>
            <a:r>
              <a:rPr lang="en-US" sz="2400" i="1">
                <a:latin typeface="Times New Roman" panose="02020603050405020304" pitchFamily="18" charset="0"/>
              </a:rPr>
              <a:t>q</a:t>
            </a:r>
            <a:r>
              <a:rPr lang="en-US" sz="2400">
                <a:latin typeface="Times New Roman" panose="02020603050405020304" pitchFamily="18" charset="0"/>
              </a:rPr>
              <a:t> private.</a:t>
            </a:r>
          </a:p>
          <a:p>
            <a:pPr>
              <a:lnSpc>
                <a:spcPct val="150000"/>
              </a:lnSpc>
              <a:buFontTx/>
              <a:buAutoNum type="arabicPeriod"/>
            </a:pPr>
            <a:r>
              <a:rPr lang="en-US" sz="2400">
                <a:latin typeface="Times New Roman" panose="02020603050405020304" pitchFamily="18" charset="0"/>
              </a:rPr>
              <a:t>Alice wants to send the plaintext </a:t>
            </a:r>
            <a:r>
              <a:rPr lang="en-US" sz="2400" i="1">
                <a:latin typeface="Times New Roman" panose="02020603050405020304" pitchFamily="18" charset="0"/>
              </a:rPr>
              <a:t>P</a:t>
            </a:r>
            <a:r>
              <a:rPr lang="en-US" sz="2400">
                <a:latin typeface="Times New Roman" panose="02020603050405020304" pitchFamily="18" charset="0"/>
              </a:rPr>
              <a:t> = 24. Note that 161 and 24 are relatively prime; 24 is in Z</a:t>
            </a:r>
            <a:r>
              <a:rPr lang="en-US" sz="2400" baseline="-25000">
                <a:latin typeface="Times New Roman" panose="02020603050405020304" pitchFamily="18" charset="0"/>
              </a:rPr>
              <a:t>161</a:t>
            </a:r>
            <a:r>
              <a:rPr lang="en-US" sz="2400">
                <a:latin typeface="Times New Roman" panose="02020603050405020304" pitchFamily="18" charset="0"/>
              </a:rPr>
              <a:t>*. She calculates C = 24</a:t>
            </a:r>
            <a:r>
              <a:rPr lang="en-US" sz="2400" baseline="30000">
                <a:latin typeface="Times New Roman" panose="02020603050405020304" pitchFamily="18" charset="0"/>
              </a:rPr>
              <a:t>2</a:t>
            </a:r>
            <a:r>
              <a:rPr lang="en-US" sz="2400">
                <a:latin typeface="Times New Roman" panose="02020603050405020304" pitchFamily="18" charset="0"/>
              </a:rPr>
              <a:t> = 93 mod 161, and sends the ciphertext 93 to Bob.</a:t>
            </a:r>
          </a:p>
        </p:txBody>
      </p:sp>
    </p:spTree>
    <p:extLst>
      <p:ext uri="{BB962C8B-B14F-4D97-AF65-F5344CB8AC3E}">
        <p14:creationId xmlns:p14="http://schemas.microsoft.com/office/powerpoint/2010/main" val="11706332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4F99E41F-ECEA-491E-81A3-3C715C770F20}" type="slidenum">
              <a:rPr lang="en-US" sz="1200" smtClean="0">
                <a:solidFill>
                  <a:schemeClr val="bg2"/>
                </a:solidFill>
                <a:latin typeface="Arial" panose="020B0604020202020204" pitchFamily="34" charset="0"/>
              </a:rPr>
              <a:pPr/>
              <a:t>75</a:t>
            </a:fld>
            <a:endParaRPr lang="en-US" sz="1200" dirty="0">
              <a:solidFill>
                <a:schemeClr val="bg2"/>
              </a:solidFill>
              <a:latin typeface="Arial" panose="020B0604020202020204" pitchFamily="34" charset="0"/>
            </a:endParaRPr>
          </a:p>
        </p:txBody>
      </p:sp>
      <p:sp>
        <p:nvSpPr>
          <p:cNvPr id="45066" name="Text Box 9"/>
          <p:cNvSpPr txBox="1">
            <a:spLocks noChangeArrowheads="1"/>
          </p:cNvSpPr>
          <p:nvPr/>
        </p:nvSpPr>
        <p:spPr bwMode="auto">
          <a:xfrm>
            <a:off x="1143000" y="0"/>
            <a:ext cx="206498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i="1" dirty="0" smtClean="0">
                <a:solidFill>
                  <a:schemeClr val="folHlink"/>
                </a:solidFill>
                <a:latin typeface="Times New Roman" panose="02020603050405020304" pitchFamily="18" charset="0"/>
              </a:rPr>
              <a:t> </a:t>
            </a:r>
            <a:r>
              <a:rPr lang="en-US" i="1" dirty="0">
                <a:solidFill>
                  <a:schemeClr val="folHlink"/>
                </a:solidFill>
                <a:latin typeface="Times New Roman" panose="02020603050405020304" pitchFamily="18" charset="0"/>
              </a:rPr>
              <a:t>Continued</a:t>
            </a:r>
          </a:p>
        </p:txBody>
      </p:sp>
      <p:sp>
        <p:nvSpPr>
          <p:cNvPr id="45067" name="Text Box 10"/>
          <p:cNvSpPr txBox="1">
            <a:spLocks noChangeArrowheads="1"/>
          </p:cNvSpPr>
          <p:nvPr/>
        </p:nvSpPr>
        <p:spPr bwMode="auto">
          <a:xfrm>
            <a:off x="609600" y="609600"/>
            <a:ext cx="1423788"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sz="2400" dirty="0">
                <a:solidFill>
                  <a:schemeClr val="bg1"/>
                </a:solidFill>
                <a:latin typeface="Times New Roman" panose="02020603050405020304" pitchFamily="18" charset="0"/>
              </a:rPr>
              <a:t>Example </a:t>
            </a:r>
            <a:endParaRPr lang="en-US" sz="2000" i="1" dirty="0">
              <a:solidFill>
                <a:schemeClr val="bg1"/>
              </a:solidFill>
              <a:latin typeface="Times New Roman" panose="02020603050405020304" pitchFamily="18" charset="0"/>
            </a:endParaRPr>
          </a:p>
        </p:txBody>
      </p:sp>
      <p:sp>
        <p:nvSpPr>
          <p:cNvPr id="45068" name="Rectangle 11"/>
          <p:cNvSpPr>
            <a:spLocks noChangeArrowheads="1"/>
          </p:cNvSpPr>
          <p:nvPr/>
        </p:nvSpPr>
        <p:spPr bwMode="auto">
          <a:xfrm>
            <a:off x="228600" y="1143000"/>
            <a:ext cx="8686800" cy="420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nSpc>
                <a:spcPct val="125000"/>
              </a:lnSpc>
              <a:buFontTx/>
              <a:buAutoNum type="arabicPeriod" startAt="5"/>
            </a:pPr>
            <a:r>
              <a:rPr lang="en-US" sz="2400">
                <a:latin typeface="Times New Roman" panose="02020603050405020304" pitchFamily="18" charset="0"/>
              </a:rPr>
              <a:t>Bob receives 93 and calculates four values:</a:t>
            </a:r>
            <a:br>
              <a:rPr lang="en-US" sz="2400">
                <a:latin typeface="Times New Roman" panose="02020603050405020304" pitchFamily="18" charset="0"/>
              </a:rPr>
            </a:br>
            <a:r>
              <a:rPr lang="en-US" sz="2400">
                <a:latin typeface="Times New Roman" panose="02020603050405020304" pitchFamily="18" charset="0"/>
              </a:rPr>
              <a:t>a</a:t>
            </a:r>
            <a:r>
              <a:rPr lang="en-US" sz="2400" baseline="-25000">
                <a:latin typeface="Times New Roman" panose="02020603050405020304" pitchFamily="18" charset="0"/>
              </a:rPr>
              <a:t>1</a:t>
            </a:r>
            <a:r>
              <a:rPr lang="en-US" sz="2400">
                <a:latin typeface="Times New Roman" panose="02020603050405020304" pitchFamily="18" charset="0"/>
              </a:rPr>
              <a:t> = +(93 </a:t>
            </a:r>
            <a:r>
              <a:rPr lang="en-US" sz="2400" baseline="30000">
                <a:latin typeface="Times New Roman" panose="02020603050405020304" pitchFamily="18" charset="0"/>
              </a:rPr>
              <a:t>(23+1)/4</a:t>
            </a:r>
            <a:r>
              <a:rPr lang="en-US" sz="2400">
                <a:latin typeface="Times New Roman" panose="02020603050405020304" pitchFamily="18" charset="0"/>
              </a:rPr>
              <a:t>) mod 23 = 1 mod 23</a:t>
            </a:r>
            <a:br>
              <a:rPr lang="en-US" sz="2400">
                <a:latin typeface="Times New Roman" panose="02020603050405020304" pitchFamily="18" charset="0"/>
              </a:rPr>
            </a:br>
            <a:r>
              <a:rPr lang="en-US" sz="2400">
                <a:latin typeface="Times New Roman" panose="02020603050405020304" pitchFamily="18" charset="0"/>
              </a:rPr>
              <a:t>a</a:t>
            </a:r>
            <a:r>
              <a:rPr lang="en-US" sz="2400" baseline="-25000">
                <a:latin typeface="Times New Roman" panose="02020603050405020304" pitchFamily="18" charset="0"/>
              </a:rPr>
              <a:t>2</a:t>
            </a:r>
            <a:r>
              <a:rPr lang="en-US" sz="2400">
                <a:latin typeface="Times New Roman" panose="02020603050405020304" pitchFamily="18" charset="0"/>
              </a:rPr>
              <a:t> = −(93 </a:t>
            </a:r>
            <a:r>
              <a:rPr lang="en-US" sz="2400" baseline="30000">
                <a:latin typeface="Times New Roman" panose="02020603050405020304" pitchFamily="18" charset="0"/>
              </a:rPr>
              <a:t>(23+1)/4</a:t>
            </a:r>
            <a:r>
              <a:rPr lang="en-US" sz="2400">
                <a:latin typeface="Times New Roman" panose="02020603050405020304" pitchFamily="18" charset="0"/>
              </a:rPr>
              <a:t>) mod 23 = 22 mod 23</a:t>
            </a:r>
            <a:br>
              <a:rPr lang="en-US" sz="2400">
                <a:latin typeface="Times New Roman" panose="02020603050405020304" pitchFamily="18" charset="0"/>
              </a:rPr>
            </a:br>
            <a:r>
              <a:rPr lang="en-US" sz="2400">
                <a:latin typeface="Times New Roman" panose="02020603050405020304" pitchFamily="18" charset="0"/>
              </a:rPr>
              <a:t>b</a:t>
            </a:r>
            <a:r>
              <a:rPr lang="en-US" sz="2400" baseline="-25000">
                <a:latin typeface="Times New Roman" panose="02020603050405020304" pitchFamily="18" charset="0"/>
              </a:rPr>
              <a:t>1</a:t>
            </a:r>
            <a:r>
              <a:rPr lang="en-US" sz="2400">
                <a:latin typeface="Times New Roman" panose="02020603050405020304" pitchFamily="18" charset="0"/>
              </a:rPr>
              <a:t> = +(93 </a:t>
            </a:r>
            <a:r>
              <a:rPr lang="en-US" sz="2400" baseline="30000">
                <a:latin typeface="Times New Roman" panose="02020603050405020304" pitchFamily="18" charset="0"/>
              </a:rPr>
              <a:t>(7+1)/4</a:t>
            </a:r>
            <a:r>
              <a:rPr lang="en-US" sz="2400">
                <a:latin typeface="Times New Roman" panose="02020603050405020304" pitchFamily="18" charset="0"/>
              </a:rPr>
              <a:t>) mod 7 = 4 mod 7</a:t>
            </a:r>
            <a:br>
              <a:rPr lang="en-US" sz="2400">
                <a:latin typeface="Times New Roman" panose="02020603050405020304" pitchFamily="18" charset="0"/>
              </a:rPr>
            </a:br>
            <a:r>
              <a:rPr lang="en-US" sz="2400">
                <a:latin typeface="Times New Roman" panose="02020603050405020304" pitchFamily="18" charset="0"/>
              </a:rPr>
              <a:t>b</a:t>
            </a:r>
            <a:r>
              <a:rPr lang="en-US" sz="2400" baseline="-25000">
                <a:latin typeface="Times New Roman" panose="02020603050405020304" pitchFamily="18" charset="0"/>
              </a:rPr>
              <a:t>2</a:t>
            </a:r>
            <a:r>
              <a:rPr lang="en-US" sz="2400">
                <a:latin typeface="Times New Roman" panose="02020603050405020304" pitchFamily="18" charset="0"/>
              </a:rPr>
              <a:t> = −(93 </a:t>
            </a:r>
            <a:r>
              <a:rPr lang="en-US" sz="2400" baseline="30000">
                <a:latin typeface="Times New Roman" panose="02020603050405020304" pitchFamily="18" charset="0"/>
              </a:rPr>
              <a:t>(7+1)/4</a:t>
            </a:r>
            <a:r>
              <a:rPr lang="en-US" sz="2400">
                <a:latin typeface="Times New Roman" panose="02020603050405020304" pitchFamily="18" charset="0"/>
              </a:rPr>
              <a:t>) mod 7 = 3 mod 7</a:t>
            </a:r>
          </a:p>
          <a:p>
            <a:pPr>
              <a:lnSpc>
                <a:spcPct val="125000"/>
              </a:lnSpc>
              <a:buFontTx/>
              <a:buAutoNum type="arabicPeriod" startAt="5"/>
            </a:pPr>
            <a:r>
              <a:rPr lang="en-US" sz="2400">
                <a:latin typeface="Times New Roman" panose="02020603050405020304" pitchFamily="18" charset="0"/>
              </a:rPr>
              <a:t>Bob takes four possible answers, (a</a:t>
            </a:r>
            <a:r>
              <a:rPr lang="en-US" sz="2400" baseline="-25000">
                <a:latin typeface="Times New Roman" panose="02020603050405020304" pitchFamily="18" charset="0"/>
              </a:rPr>
              <a:t>1</a:t>
            </a:r>
            <a:r>
              <a:rPr lang="en-US" sz="2400">
                <a:latin typeface="Times New Roman" panose="02020603050405020304" pitchFamily="18" charset="0"/>
              </a:rPr>
              <a:t>, b</a:t>
            </a:r>
            <a:r>
              <a:rPr lang="en-US" sz="2400" baseline="-25000">
                <a:latin typeface="Times New Roman" panose="02020603050405020304" pitchFamily="18" charset="0"/>
              </a:rPr>
              <a:t>1</a:t>
            </a:r>
            <a:r>
              <a:rPr lang="en-US" sz="2400">
                <a:latin typeface="Times New Roman" panose="02020603050405020304" pitchFamily="18" charset="0"/>
              </a:rPr>
              <a:t>), (a</a:t>
            </a:r>
            <a:r>
              <a:rPr lang="en-US" sz="2400" baseline="-25000">
                <a:latin typeface="Times New Roman" panose="02020603050405020304" pitchFamily="18" charset="0"/>
              </a:rPr>
              <a:t>1</a:t>
            </a:r>
            <a:r>
              <a:rPr lang="en-US" sz="2400">
                <a:latin typeface="Times New Roman" panose="02020603050405020304" pitchFamily="18" charset="0"/>
              </a:rPr>
              <a:t>, b</a:t>
            </a:r>
            <a:r>
              <a:rPr lang="en-US" sz="2400" baseline="-25000">
                <a:latin typeface="Times New Roman" panose="02020603050405020304" pitchFamily="18" charset="0"/>
              </a:rPr>
              <a:t>2</a:t>
            </a:r>
            <a:r>
              <a:rPr lang="en-US" sz="2400">
                <a:latin typeface="Times New Roman" panose="02020603050405020304" pitchFamily="18" charset="0"/>
              </a:rPr>
              <a:t>), (a</a:t>
            </a:r>
            <a:r>
              <a:rPr lang="en-US" sz="2400" baseline="-25000">
                <a:latin typeface="Times New Roman" panose="02020603050405020304" pitchFamily="18" charset="0"/>
              </a:rPr>
              <a:t>2</a:t>
            </a:r>
            <a:r>
              <a:rPr lang="en-US" sz="2400">
                <a:latin typeface="Times New Roman" panose="02020603050405020304" pitchFamily="18" charset="0"/>
              </a:rPr>
              <a:t>, b</a:t>
            </a:r>
            <a:r>
              <a:rPr lang="en-US" sz="2400" baseline="-25000">
                <a:latin typeface="Times New Roman" panose="02020603050405020304" pitchFamily="18" charset="0"/>
              </a:rPr>
              <a:t>1</a:t>
            </a:r>
            <a:r>
              <a:rPr lang="en-US" sz="2400">
                <a:latin typeface="Times New Roman" panose="02020603050405020304" pitchFamily="18" charset="0"/>
              </a:rPr>
              <a:t>), and (a</a:t>
            </a:r>
            <a:r>
              <a:rPr lang="en-US" sz="2400" baseline="-25000">
                <a:latin typeface="Times New Roman" panose="02020603050405020304" pitchFamily="18" charset="0"/>
              </a:rPr>
              <a:t>2</a:t>
            </a:r>
            <a:r>
              <a:rPr lang="en-US" sz="2400">
                <a:latin typeface="Times New Roman" panose="02020603050405020304" pitchFamily="18" charset="0"/>
              </a:rPr>
              <a:t>, b</a:t>
            </a:r>
            <a:r>
              <a:rPr lang="en-US" sz="2400" baseline="-25000">
                <a:latin typeface="Times New Roman" panose="02020603050405020304" pitchFamily="18" charset="0"/>
              </a:rPr>
              <a:t>2</a:t>
            </a:r>
            <a:r>
              <a:rPr lang="en-US" sz="2400">
                <a:latin typeface="Times New Roman" panose="02020603050405020304" pitchFamily="18" charset="0"/>
              </a:rPr>
              <a:t>), and uses the Chinese remainder theorem to find four possible plaintexts: 116, </a:t>
            </a:r>
            <a:r>
              <a:rPr lang="en-US" sz="2400">
                <a:solidFill>
                  <a:schemeClr val="hlink"/>
                </a:solidFill>
                <a:latin typeface="Times New Roman" panose="02020603050405020304" pitchFamily="18" charset="0"/>
              </a:rPr>
              <a:t>24</a:t>
            </a:r>
            <a:r>
              <a:rPr lang="en-US" sz="2400">
                <a:latin typeface="Times New Roman" panose="02020603050405020304" pitchFamily="18" charset="0"/>
              </a:rPr>
              <a:t>, 137, and 45. Note that only the second answer is Alice’s plaintext.</a:t>
            </a:r>
          </a:p>
        </p:txBody>
      </p:sp>
    </p:spTree>
    <p:extLst>
      <p:ext uri="{BB962C8B-B14F-4D97-AF65-F5344CB8AC3E}">
        <p14:creationId xmlns:p14="http://schemas.microsoft.com/office/powerpoint/2010/main" val="6108539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AU" b="1" dirty="0" err="1" smtClean="0">
                <a:solidFill>
                  <a:srgbClr val="FF0000"/>
                </a:solidFill>
                <a:latin typeface="Tw Cen MT" panose="020B0602020104020603" pitchFamily="34" charset="0"/>
                <a:cs typeface="Times New Roman" pitchFamily="18" charset="0"/>
              </a:rPr>
              <a:t>Diffie</a:t>
            </a:r>
            <a:r>
              <a:rPr lang="en-AU" b="1" dirty="0" smtClean="0">
                <a:solidFill>
                  <a:srgbClr val="FF0000"/>
                </a:solidFill>
                <a:latin typeface="Tw Cen MT" panose="020B0602020104020603" pitchFamily="34" charset="0"/>
                <a:cs typeface="Times New Roman" pitchFamily="18" charset="0"/>
              </a:rPr>
              <a:t>-Hellman Key Exchange</a:t>
            </a:r>
          </a:p>
        </p:txBody>
      </p:sp>
      <p:sp>
        <p:nvSpPr>
          <p:cNvPr id="23555" name="Rectangle 3"/>
          <p:cNvSpPr>
            <a:spLocks noGrp="1" noChangeArrowheads="1"/>
          </p:cNvSpPr>
          <p:nvPr>
            <p:ph type="body" idx="1"/>
          </p:nvPr>
        </p:nvSpPr>
        <p:spPr>
          <a:xfrm>
            <a:off x="381000" y="1752600"/>
            <a:ext cx="8229600" cy="3429000"/>
          </a:xfrm>
        </p:spPr>
        <p:txBody>
          <a:bodyPr/>
          <a:lstStyle/>
          <a:p>
            <a:pPr eaLnBrk="1" hangingPunct="1">
              <a:buFontTx/>
              <a:buBlip>
                <a:blip r:embed="rId3"/>
              </a:buBlip>
            </a:pPr>
            <a:r>
              <a:rPr lang="en-AU" altLang="zh-TW" dirty="0">
                <a:latin typeface="Tw Cen MT" panose="020B0602020104020603" pitchFamily="34" charset="0"/>
                <a:cs typeface="Times New Roman" pitchFamily="18" charset="0"/>
              </a:rPr>
              <a:t>F</a:t>
            </a:r>
            <a:r>
              <a:rPr lang="en-AU" altLang="zh-TW" dirty="0" smtClean="0">
                <a:latin typeface="Tw Cen MT" panose="020B0602020104020603" pitchFamily="34" charset="0"/>
                <a:cs typeface="Times New Roman" pitchFamily="18" charset="0"/>
              </a:rPr>
              <a:t>irst public-key type scheme proposed </a:t>
            </a:r>
          </a:p>
          <a:p>
            <a:pPr eaLnBrk="1" hangingPunct="1">
              <a:buFontTx/>
              <a:buBlip>
                <a:blip r:embed="rId3"/>
              </a:buBlip>
            </a:pPr>
            <a:r>
              <a:rPr lang="en-AU" altLang="zh-TW" dirty="0">
                <a:latin typeface="Tw Cen MT" panose="020B0602020104020603" pitchFamily="34" charset="0"/>
                <a:cs typeface="Times New Roman" pitchFamily="18" charset="0"/>
              </a:rPr>
              <a:t>B</a:t>
            </a:r>
            <a:r>
              <a:rPr lang="en-AU" altLang="zh-TW" dirty="0" smtClean="0">
                <a:latin typeface="Tw Cen MT" panose="020B0602020104020603" pitchFamily="34" charset="0"/>
                <a:cs typeface="Times New Roman" pitchFamily="18" charset="0"/>
              </a:rPr>
              <a:t>y </a:t>
            </a:r>
            <a:r>
              <a:rPr lang="en-AU" altLang="zh-TW" dirty="0" err="1" smtClean="0">
                <a:latin typeface="Tw Cen MT" panose="020B0602020104020603" pitchFamily="34" charset="0"/>
                <a:cs typeface="Times New Roman" pitchFamily="18" charset="0"/>
              </a:rPr>
              <a:t>Diffie</a:t>
            </a:r>
            <a:r>
              <a:rPr lang="en-AU" altLang="zh-TW" dirty="0" smtClean="0">
                <a:latin typeface="Tw Cen MT" panose="020B0602020104020603" pitchFamily="34" charset="0"/>
                <a:cs typeface="Times New Roman" pitchFamily="18" charset="0"/>
              </a:rPr>
              <a:t> &amp; Hellman in 1976 along with the exposition of public key concepts</a:t>
            </a:r>
          </a:p>
          <a:p>
            <a:pPr lvl="1" eaLnBrk="1" hangingPunct="1">
              <a:buFontTx/>
              <a:buBlip>
                <a:blip r:embed="rId4"/>
              </a:buBlip>
            </a:pPr>
            <a:r>
              <a:rPr lang="en-AU" altLang="zh-TW" sz="2400" dirty="0" smtClean="0">
                <a:latin typeface="Tw Cen MT" panose="020B0602020104020603" pitchFamily="34" charset="0"/>
                <a:cs typeface="Times New Roman" pitchFamily="18" charset="0"/>
              </a:rPr>
              <a:t>note: now know that </a:t>
            </a:r>
            <a:r>
              <a:rPr lang="en-US" sz="2400" dirty="0" smtClean="0">
                <a:latin typeface="Tw Cen MT" panose="020B0602020104020603" pitchFamily="34" charset="0"/>
                <a:cs typeface="Times New Roman" pitchFamily="18" charset="0"/>
              </a:rPr>
              <a:t>Williamson</a:t>
            </a:r>
            <a:r>
              <a:rPr lang="en-AU" altLang="zh-TW" sz="2400" dirty="0" smtClean="0">
                <a:latin typeface="Tw Cen MT" panose="020B0602020104020603" pitchFamily="34" charset="0"/>
                <a:cs typeface="Times New Roman" pitchFamily="18" charset="0"/>
              </a:rPr>
              <a:t> (UK CESG) secretly proposed the concept in 1970 </a:t>
            </a:r>
          </a:p>
          <a:p>
            <a:pPr eaLnBrk="1" hangingPunct="1">
              <a:buFontTx/>
              <a:buBlip>
                <a:blip r:embed="rId3"/>
              </a:buBlip>
            </a:pPr>
            <a:r>
              <a:rPr lang="en-AU" altLang="zh-TW" dirty="0">
                <a:latin typeface="Tw Cen MT" panose="020B0602020104020603" pitchFamily="34" charset="0"/>
                <a:cs typeface="Times New Roman" pitchFamily="18" charset="0"/>
              </a:rPr>
              <a:t>I</a:t>
            </a:r>
            <a:r>
              <a:rPr lang="en-AU" altLang="zh-TW" dirty="0" smtClean="0">
                <a:latin typeface="Tw Cen MT" panose="020B0602020104020603" pitchFamily="34" charset="0"/>
                <a:cs typeface="Times New Roman" pitchFamily="18" charset="0"/>
              </a:rPr>
              <a:t>s a practical method for </a:t>
            </a:r>
            <a:r>
              <a:rPr lang="en-AU" altLang="zh-TW" dirty="0" smtClean="0">
                <a:solidFill>
                  <a:srgbClr val="FF0000"/>
                </a:solidFill>
                <a:latin typeface="Tw Cen MT" panose="020B0602020104020603" pitchFamily="34" charset="0"/>
                <a:cs typeface="Times New Roman" pitchFamily="18" charset="0"/>
              </a:rPr>
              <a:t>public exchange of a secret key</a:t>
            </a:r>
          </a:p>
          <a:p>
            <a:pPr eaLnBrk="1" hangingPunct="1">
              <a:buFontTx/>
              <a:buBlip>
                <a:blip r:embed="rId3"/>
              </a:buBlip>
            </a:pPr>
            <a:r>
              <a:rPr lang="en-US" dirty="0">
                <a:latin typeface="Tw Cen MT" panose="020B0602020104020603" pitchFamily="34" charset="0"/>
                <a:cs typeface="Times New Roman" pitchFamily="18" charset="0"/>
              </a:rPr>
              <a:t>U</a:t>
            </a:r>
            <a:r>
              <a:rPr lang="en-US" dirty="0" smtClean="0">
                <a:latin typeface="Tw Cen MT" panose="020B0602020104020603" pitchFamily="34" charset="0"/>
                <a:cs typeface="Times New Roman" pitchFamily="18" charset="0"/>
              </a:rPr>
              <a:t>sed in a number of commercial products</a:t>
            </a:r>
            <a:endParaRPr lang="en-AU" altLang="zh-TW" dirty="0" smtClean="0">
              <a:latin typeface="Tw Cen MT" panose="020B0602020104020603" pitchFamily="34" charset="0"/>
              <a:cs typeface="Times New Roman" pitchFamily="18" charset="0"/>
            </a:endParaRPr>
          </a:p>
        </p:txBody>
      </p:sp>
    </p:spTree>
    <p:extLst>
      <p:ext uri="{BB962C8B-B14F-4D97-AF65-F5344CB8AC3E}">
        <p14:creationId xmlns:p14="http://schemas.microsoft.com/office/powerpoint/2010/main" val="74389169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77</a:t>
            </a:fld>
            <a:endParaRPr lang="en-US" dirty="0"/>
          </a:p>
        </p:txBody>
      </p:sp>
      <p:sp>
        <p:nvSpPr>
          <p:cNvPr id="4" name="Rectangle 2"/>
          <p:cNvSpPr txBox="1">
            <a:spLocks noChangeArrowheads="1"/>
          </p:cNvSpPr>
          <p:nvPr/>
        </p:nvSpPr>
        <p:spPr>
          <a:xfrm>
            <a:off x="457200" y="274638"/>
            <a:ext cx="8229600" cy="1143000"/>
          </a:xfrm>
          <a:prstGeom prst="rect">
            <a:avLst/>
          </a:prstGeom>
        </p:spPr>
        <p:txBody>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AU" b="1" dirty="0" err="1" smtClean="0">
                <a:solidFill>
                  <a:srgbClr val="FF0000"/>
                </a:solidFill>
                <a:latin typeface="Tw Cen MT" panose="020B0602020104020603" pitchFamily="34" charset="0"/>
                <a:cs typeface="Times New Roman" pitchFamily="18" charset="0"/>
              </a:rPr>
              <a:t>Diffie</a:t>
            </a:r>
            <a:r>
              <a:rPr lang="en-AU" b="1" dirty="0" smtClean="0">
                <a:solidFill>
                  <a:srgbClr val="FF0000"/>
                </a:solidFill>
                <a:latin typeface="Tw Cen MT" panose="020B0602020104020603" pitchFamily="34" charset="0"/>
                <a:cs typeface="Times New Roman" pitchFamily="18" charset="0"/>
              </a:rPr>
              <a:t>-Hellman Key Exchange</a:t>
            </a:r>
          </a:p>
        </p:txBody>
      </p:sp>
      <p:pic>
        <p:nvPicPr>
          <p:cNvPr id="3" name="Picture 2"/>
          <p:cNvPicPr>
            <a:picLocks noChangeAspect="1"/>
          </p:cNvPicPr>
          <p:nvPr/>
        </p:nvPicPr>
        <p:blipFill>
          <a:blip r:embed="rId2"/>
          <a:stretch>
            <a:fillRect/>
          </a:stretch>
        </p:blipFill>
        <p:spPr>
          <a:xfrm>
            <a:off x="566737" y="1104900"/>
            <a:ext cx="8010525" cy="4648200"/>
          </a:xfrm>
          <a:prstGeom prst="rect">
            <a:avLst/>
          </a:prstGeom>
        </p:spPr>
      </p:pic>
    </p:spTree>
    <p:extLst>
      <p:ext uri="{BB962C8B-B14F-4D97-AF65-F5344CB8AC3E}">
        <p14:creationId xmlns:p14="http://schemas.microsoft.com/office/powerpoint/2010/main" val="58434679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78</a:t>
            </a:fld>
            <a:endParaRPr lang="en-US" dirty="0"/>
          </a:p>
        </p:txBody>
      </p:sp>
      <p:sp>
        <p:nvSpPr>
          <p:cNvPr id="4" name="Rectangle 2"/>
          <p:cNvSpPr txBox="1">
            <a:spLocks noChangeArrowheads="1"/>
          </p:cNvSpPr>
          <p:nvPr/>
        </p:nvSpPr>
        <p:spPr>
          <a:xfrm>
            <a:off x="457200" y="274638"/>
            <a:ext cx="8229600" cy="1143000"/>
          </a:xfrm>
          <a:prstGeom prst="rect">
            <a:avLst/>
          </a:prstGeom>
        </p:spPr>
        <p:txBody>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AU" b="1" dirty="0" err="1" smtClean="0">
                <a:solidFill>
                  <a:srgbClr val="FF0000"/>
                </a:solidFill>
                <a:latin typeface="Tw Cen MT" panose="020B0602020104020603" pitchFamily="34" charset="0"/>
                <a:cs typeface="Times New Roman" pitchFamily="18" charset="0"/>
              </a:rPr>
              <a:t>Diffie</a:t>
            </a:r>
            <a:r>
              <a:rPr lang="en-AU" b="1" dirty="0" smtClean="0">
                <a:solidFill>
                  <a:srgbClr val="FF0000"/>
                </a:solidFill>
                <a:latin typeface="Tw Cen MT" panose="020B0602020104020603" pitchFamily="34" charset="0"/>
                <a:cs typeface="Times New Roman" pitchFamily="18" charset="0"/>
              </a:rPr>
              <a:t>-Hellman Key Exchange</a:t>
            </a:r>
          </a:p>
        </p:txBody>
      </p:sp>
      <p:pic>
        <p:nvPicPr>
          <p:cNvPr id="2052" name="Picture 4" descr="Primitive Roots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71600"/>
            <a:ext cx="7857065"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55318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79</a:t>
            </a:fld>
            <a:endParaRPr lang="en-US"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24000" y="1828800"/>
            <a:ext cx="5638800" cy="3086100"/>
          </a:xfrm>
          <a:prstGeom prst="rect">
            <a:avLst/>
          </a:prstGeom>
        </p:spPr>
      </p:pic>
      <p:sp>
        <p:nvSpPr>
          <p:cNvPr id="5" name="Rectangle 2"/>
          <p:cNvSpPr txBox="1">
            <a:spLocks noChangeArrowheads="1"/>
          </p:cNvSpPr>
          <p:nvPr/>
        </p:nvSpPr>
        <p:spPr>
          <a:xfrm>
            <a:off x="381000" y="533400"/>
            <a:ext cx="8229600" cy="1143000"/>
          </a:xfrm>
          <a:prstGeom prst="rect">
            <a:avLst/>
          </a:prstGeom>
        </p:spPr>
        <p:txBody>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AU" b="1" dirty="0" err="1" smtClean="0">
                <a:solidFill>
                  <a:srgbClr val="FF0000"/>
                </a:solidFill>
                <a:latin typeface="Tw Cen MT" panose="020B0602020104020603" pitchFamily="34" charset="0"/>
                <a:cs typeface="Times New Roman" pitchFamily="18" charset="0"/>
              </a:rPr>
              <a:t>Diffie</a:t>
            </a:r>
            <a:r>
              <a:rPr lang="en-AU" b="1" dirty="0" smtClean="0">
                <a:solidFill>
                  <a:srgbClr val="FF0000"/>
                </a:solidFill>
                <a:latin typeface="Tw Cen MT" panose="020B0602020104020603" pitchFamily="34" charset="0"/>
                <a:cs typeface="Times New Roman" pitchFamily="18" charset="0"/>
              </a:rPr>
              <a:t>-Hellman Key Exchange (cont.)</a:t>
            </a:r>
          </a:p>
        </p:txBody>
      </p:sp>
    </p:spTree>
    <p:extLst>
      <p:ext uri="{BB962C8B-B14F-4D97-AF65-F5344CB8AC3E}">
        <p14:creationId xmlns:p14="http://schemas.microsoft.com/office/powerpoint/2010/main" val="245015317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80</a:t>
            </a:fld>
            <a:endParaRPr lang="en-US" dirty="0"/>
          </a:p>
        </p:txBody>
      </p:sp>
      <p:pic>
        <p:nvPicPr>
          <p:cNvPr id="512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33875" y="1371600"/>
            <a:ext cx="7900525" cy="4586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2"/>
          <p:cNvSpPr txBox="1">
            <a:spLocks noChangeArrowheads="1"/>
          </p:cNvSpPr>
          <p:nvPr/>
        </p:nvSpPr>
        <p:spPr>
          <a:xfrm>
            <a:off x="457200" y="457200"/>
            <a:ext cx="8229600" cy="571500"/>
          </a:xfrm>
          <a:prstGeom prst="rect">
            <a:avLst/>
          </a:prstGeom>
        </p:spPr>
        <p:txBody>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AU" b="1" dirty="0" smtClean="0">
                <a:solidFill>
                  <a:srgbClr val="FF0000"/>
                </a:solidFill>
                <a:latin typeface="Tw Cen MT" panose="020B0602020104020603" pitchFamily="34" charset="0"/>
                <a:cs typeface="Times New Roman" pitchFamily="18" charset="0"/>
              </a:rPr>
              <a:t>Man-in-the-Middle Attack </a:t>
            </a:r>
          </a:p>
        </p:txBody>
      </p:sp>
    </p:spTree>
    <p:extLst>
      <p:ext uri="{BB962C8B-B14F-4D97-AF65-F5344CB8AC3E}">
        <p14:creationId xmlns:p14="http://schemas.microsoft.com/office/powerpoint/2010/main" val="120431060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10AA7AD9-96C7-4667-8ED4-69036565F7D3}" type="slidenum">
              <a:rPr lang="en-US" sz="1200" smtClean="0">
                <a:solidFill>
                  <a:schemeClr val="bg2"/>
                </a:solidFill>
                <a:latin typeface="Arial" panose="020B0604020202020204" pitchFamily="34" charset="0"/>
              </a:rPr>
              <a:pPr/>
              <a:t>81</a:t>
            </a:fld>
            <a:endParaRPr lang="en-US" sz="1200" dirty="0">
              <a:solidFill>
                <a:schemeClr val="bg2"/>
              </a:solidFill>
              <a:latin typeface="Arial" panose="020B0604020202020204" pitchFamily="34" charset="0"/>
            </a:endParaRPr>
          </a:p>
        </p:txBody>
      </p:sp>
      <p:sp>
        <p:nvSpPr>
          <p:cNvPr id="1057794"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effectLst>
                <a:outerShdw blurRad="38100" dist="38100" dir="2700000" algn="tl">
                  <a:srgbClr val="FFFFFF"/>
                </a:outerShdw>
              </a:effectLst>
              <a:latin typeface="Times New Roman" pitchFamily="18" charset="0"/>
            </a:endParaRPr>
          </a:p>
        </p:txBody>
      </p:sp>
      <p:sp>
        <p:nvSpPr>
          <p:cNvPr id="1057795" name="Text Box 3"/>
          <p:cNvSpPr txBox="1">
            <a:spLocks noChangeArrowheads="1"/>
          </p:cNvSpPr>
          <p:nvPr/>
        </p:nvSpPr>
        <p:spPr bwMode="auto">
          <a:xfrm>
            <a:off x="228600" y="406400"/>
            <a:ext cx="64944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3600" dirty="0" smtClean="0">
                <a:effectLst>
                  <a:outerShdw blurRad="38100" dist="38100" dir="2700000" algn="tl">
                    <a:srgbClr val="C0C0C0"/>
                  </a:outerShdw>
                </a:effectLst>
                <a:latin typeface="Times" pitchFamily="18" charset="0"/>
              </a:rPr>
              <a:t>   </a:t>
            </a:r>
            <a:r>
              <a:rPr lang="en-US" sz="3600" dirty="0">
                <a:effectLst>
                  <a:outerShdw blurRad="38100" dist="38100" dir="2700000" algn="tl">
                    <a:srgbClr val="C0C0C0"/>
                  </a:outerShdw>
                </a:effectLst>
                <a:latin typeface="Times" pitchFamily="18" charset="0"/>
              </a:rPr>
              <a:t>ELGAMAL CRYPTOSYSTEM</a:t>
            </a:r>
          </a:p>
        </p:txBody>
      </p:sp>
      <p:sp>
        <p:nvSpPr>
          <p:cNvPr id="46085"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endParaRPr lang="en-US" sz="1800">
              <a:latin typeface="Times New Roman" panose="02020603050405020304" pitchFamily="18" charset="0"/>
            </a:endParaRPr>
          </a:p>
        </p:txBody>
      </p:sp>
      <p:sp>
        <p:nvSpPr>
          <p:cNvPr id="1057797" name="Rectangle 5"/>
          <p:cNvSpPr>
            <a:spLocks noChangeArrowheads="1"/>
          </p:cNvSpPr>
          <p:nvPr/>
        </p:nvSpPr>
        <p:spPr bwMode="auto">
          <a:xfrm>
            <a:off x="304800" y="1524000"/>
            <a:ext cx="8229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sz="2800" i="1" dirty="0">
                <a:effectLst>
                  <a:outerShdw blurRad="38100" dist="38100" dir="2700000" algn="tl">
                    <a:srgbClr val="C0C0C0"/>
                  </a:outerShdw>
                </a:effectLst>
                <a:latin typeface="Times New Roman" pitchFamily="18" charset="0"/>
              </a:rPr>
              <a:t>Besides RSA and Rabin, another public-key cryptosystem is </a:t>
            </a:r>
            <a:r>
              <a:rPr lang="en-US" sz="2800" i="1" dirty="0" err="1">
                <a:effectLst>
                  <a:outerShdw blurRad="38100" dist="38100" dir="2700000" algn="tl">
                    <a:srgbClr val="C0C0C0"/>
                  </a:outerShdw>
                </a:effectLst>
                <a:latin typeface="Times New Roman" pitchFamily="18" charset="0"/>
              </a:rPr>
              <a:t>ElGamal</a:t>
            </a:r>
            <a:r>
              <a:rPr lang="en-US" sz="2800" i="1" dirty="0">
                <a:effectLst>
                  <a:outerShdw blurRad="38100" dist="38100" dir="2700000" algn="tl">
                    <a:srgbClr val="C0C0C0"/>
                  </a:outerShdw>
                </a:effectLst>
                <a:latin typeface="Times New Roman" pitchFamily="18" charset="0"/>
              </a:rPr>
              <a:t>. </a:t>
            </a:r>
            <a:r>
              <a:rPr lang="en-US" sz="2800" i="1" dirty="0" err="1">
                <a:effectLst>
                  <a:outerShdw blurRad="38100" dist="38100" dir="2700000" algn="tl">
                    <a:srgbClr val="C0C0C0"/>
                  </a:outerShdw>
                </a:effectLst>
                <a:latin typeface="Times New Roman" pitchFamily="18" charset="0"/>
              </a:rPr>
              <a:t>ElGamal</a:t>
            </a:r>
            <a:r>
              <a:rPr lang="en-US" sz="2800" i="1" dirty="0">
                <a:effectLst>
                  <a:outerShdw blurRad="38100" dist="38100" dir="2700000" algn="tl">
                    <a:srgbClr val="C0C0C0"/>
                  </a:outerShdw>
                </a:effectLst>
                <a:latin typeface="Times New Roman" pitchFamily="18" charset="0"/>
              </a:rPr>
              <a:t> is based on the discrete logarithm </a:t>
            </a:r>
            <a:r>
              <a:rPr lang="en-US" sz="2800" i="1" dirty="0" smtClean="0">
                <a:effectLst>
                  <a:outerShdw blurRad="38100" dist="38100" dir="2700000" algn="tl">
                    <a:srgbClr val="C0C0C0"/>
                  </a:outerShdw>
                </a:effectLst>
                <a:latin typeface="Times New Roman" pitchFamily="18" charset="0"/>
              </a:rPr>
              <a:t>problem.</a:t>
            </a:r>
            <a:endParaRPr lang="en-US" sz="2800" i="1" dirty="0">
              <a:effectLst>
                <a:outerShdw blurRad="38100" dist="38100" dir="2700000" algn="tl">
                  <a:srgbClr val="C0C0C0"/>
                </a:outerShdw>
              </a:effectLst>
              <a:latin typeface="Times New Roman" pitchFamily="18" charset="0"/>
            </a:endParaRPr>
          </a:p>
        </p:txBody>
      </p:sp>
    </p:spTree>
    <p:extLst>
      <p:ext uri="{BB962C8B-B14F-4D97-AF65-F5344CB8AC3E}">
        <p14:creationId xmlns:p14="http://schemas.microsoft.com/office/powerpoint/2010/main" val="118836955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65965829-74F6-4692-B085-DBC680CF769C}" type="slidenum">
              <a:rPr lang="en-US" sz="1200" smtClean="0">
                <a:solidFill>
                  <a:schemeClr val="bg2"/>
                </a:solidFill>
                <a:latin typeface="Arial" panose="020B0604020202020204" pitchFamily="34" charset="0"/>
              </a:rPr>
              <a:pPr/>
              <a:t>82</a:t>
            </a:fld>
            <a:endParaRPr lang="en-US" sz="1200" dirty="0">
              <a:solidFill>
                <a:schemeClr val="bg2"/>
              </a:solidFill>
              <a:latin typeface="Arial" panose="020B0604020202020204" pitchFamily="34" charset="0"/>
            </a:endParaRPr>
          </a:p>
        </p:txBody>
      </p:sp>
      <p:sp>
        <p:nvSpPr>
          <p:cNvPr id="47114" name="Rectangle 9"/>
          <p:cNvSpPr>
            <a:spLocks noChangeArrowheads="1"/>
          </p:cNvSpPr>
          <p:nvPr/>
        </p:nvSpPr>
        <p:spPr bwMode="auto">
          <a:xfrm>
            <a:off x="228600" y="6858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endParaRPr lang="en-US" sz="2800" i="1">
              <a:latin typeface="Times New Roman" panose="02020603050405020304" pitchFamily="18" charset="0"/>
            </a:endParaRPr>
          </a:p>
        </p:txBody>
      </p:sp>
      <p:sp>
        <p:nvSpPr>
          <p:cNvPr id="47115" name="Text Box 10"/>
          <p:cNvSpPr txBox="1">
            <a:spLocks noChangeArrowheads="1"/>
          </p:cNvSpPr>
          <p:nvPr/>
        </p:nvSpPr>
        <p:spPr bwMode="auto">
          <a:xfrm>
            <a:off x="1143000" y="0"/>
            <a:ext cx="19415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i="1" dirty="0">
                <a:solidFill>
                  <a:schemeClr val="hlink"/>
                </a:solidFill>
                <a:latin typeface="Times New Roman" panose="02020603050405020304" pitchFamily="18" charset="0"/>
              </a:rPr>
              <a:t>P</a:t>
            </a:r>
            <a:r>
              <a:rPr lang="en-US" i="1" dirty="0" smtClean="0">
                <a:solidFill>
                  <a:schemeClr val="hlink"/>
                </a:solidFill>
                <a:latin typeface="Times New Roman" panose="02020603050405020304" pitchFamily="18" charset="0"/>
              </a:rPr>
              <a:t>rocedure</a:t>
            </a:r>
            <a:endParaRPr lang="en-US" i="1" dirty="0">
              <a:solidFill>
                <a:schemeClr val="hlink"/>
              </a:solidFill>
              <a:latin typeface="Times New Roman" panose="02020603050405020304" pitchFamily="18" charset="0"/>
            </a:endParaRPr>
          </a:p>
        </p:txBody>
      </p:sp>
      <p:pic>
        <p:nvPicPr>
          <p:cNvPr id="4711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371600"/>
            <a:ext cx="8483600" cy="441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7" name="Text Box 11"/>
          <p:cNvSpPr txBox="1">
            <a:spLocks noChangeArrowheads="1"/>
          </p:cNvSpPr>
          <p:nvPr/>
        </p:nvSpPr>
        <p:spPr bwMode="auto">
          <a:xfrm>
            <a:off x="762000" y="1066800"/>
            <a:ext cx="69758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sz="2400" dirty="0">
                <a:solidFill>
                  <a:schemeClr val="folHlink"/>
                </a:solidFill>
                <a:latin typeface="Times New Roman" panose="02020603050405020304" pitchFamily="18" charset="0"/>
              </a:rPr>
              <a:t>Figure </a:t>
            </a:r>
            <a:r>
              <a:rPr lang="en-US" sz="2000" i="1" dirty="0" smtClean="0">
                <a:latin typeface="Times New Roman" panose="02020603050405020304" pitchFamily="18" charset="0"/>
              </a:rPr>
              <a:t>Key </a:t>
            </a:r>
            <a:r>
              <a:rPr lang="en-US" sz="2000" i="1" dirty="0">
                <a:latin typeface="Times New Roman" panose="02020603050405020304" pitchFamily="18" charset="0"/>
              </a:rPr>
              <a:t>generation, encryption, and decryption in </a:t>
            </a:r>
            <a:r>
              <a:rPr lang="en-US" sz="2000" i="1" dirty="0" err="1">
                <a:latin typeface="Times New Roman" panose="02020603050405020304" pitchFamily="18" charset="0"/>
              </a:rPr>
              <a:t>ElGamal</a:t>
            </a:r>
            <a:endParaRPr lang="en-US" sz="2000" i="1" dirty="0">
              <a:latin typeface="Times New Roman" panose="02020603050405020304" pitchFamily="18" charset="0"/>
            </a:endParaRPr>
          </a:p>
        </p:txBody>
      </p:sp>
    </p:spTree>
    <p:extLst>
      <p:ext uri="{BB962C8B-B14F-4D97-AF65-F5344CB8AC3E}">
        <p14:creationId xmlns:p14="http://schemas.microsoft.com/office/powerpoint/2010/main" val="72337921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p:cNvSpPr>
            <a:spLocks noGrp="1"/>
          </p:cNvSpPr>
          <p:nvPr>
            <p:ph type="sldNum" sz="quarter" idx="10"/>
          </p:nvPr>
        </p:nvSpPr>
        <p:spPr>
          <a:xfrm>
            <a:off x="533400" y="6371240"/>
            <a:ext cx="2133600" cy="476250"/>
          </a:xfrm>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5368B757-5097-49D5-B293-3C080B7907E3}" type="slidenum">
              <a:rPr lang="en-US" sz="1200" smtClean="0">
                <a:solidFill>
                  <a:schemeClr val="bg2"/>
                </a:solidFill>
                <a:latin typeface="Arial" panose="020B0604020202020204" pitchFamily="34" charset="0"/>
              </a:rPr>
              <a:pPr/>
              <a:t>83</a:t>
            </a:fld>
            <a:endParaRPr lang="en-US" sz="1200" dirty="0">
              <a:solidFill>
                <a:schemeClr val="bg2"/>
              </a:solidFill>
              <a:latin typeface="Arial" panose="020B0604020202020204" pitchFamily="34" charset="0"/>
            </a:endParaRPr>
          </a:p>
        </p:txBody>
      </p:sp>
      <p:sp>
        <p:nvSpPr>
          <p:cNvPr id="51210" name="Text Box 9"/>
          <p:cNvSpPr txBox="1">
            <a:spLocks noChangeArrowheads="1"/>
          </p:cNvSpPr>
          <p:nvPr/>
        </p:nvSpPr>
        <p:spPr bwMode="auto">
          <a:xfrm>
            <a:off x="1143000" y="0"/>
            <a:ext cx="21675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i="1" dirty="0" smtClean="0">
                <a:latin typeface="Times New Roman" panose="02020603050405020304" pitchFamily="18" charset="0"/>
              </a:rPr>
              <a:t>  </a:t>
            </a:r>
            <a:r>
              <a:rPr lang="en-US" i="1" dirty="0">
                <a:latin typeface="Times New Roman" panose="02020603050405020304" pitchFamily="18" charset="0"/>
              </a:rPr>
              <a:t>Continued</a:t>
            </a:r>
          </a:p>
        </p:txBody>
      </p:sp>
      <p:sp>
        <p:nvSpPr>
          <p:cNvPr id="51211" name="Text Box 10"/>
          <p:cNvSpPr txBox="1">
            <a:spLocks noChangeArrowheads="1"/>
          </p:cNvSpPr>
          <p:nvPr/>
        </p:nvSpPr>
        <p:spPr bwMode="auto">
          <a:xfrm>
            <a:off x="1103313" y="533400"/>
            <a:ext cx="1423788"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r>
              <a:rPr lang="en-US" sz="2400" dirty="0">
                <a:solidFill>
                  <a:schemeClr val="bg1"/>
                </a:solidFill>
                <a:latin typeface="Times New Roman" panose="02020603050405020304" pitchFamily="18" charset="0"/>
              </a:rPr>
              <a:t>Example </a:t>
            </a:r>
            <a:endParaRPr lang="en-US" sz="2000" i="1" dirty="0">
              <a:solidFill>
                <a:schemeClr val="bg1"/>
              </a:solidFill>
              <a:latin typeface="Times New Roman" panose="02020603050405020304" pitchFamily="18" charset="0"/>
            </a:endParaRPr>
          </a:p>
        </p:txBody>
      </p:sp>
      <p:sp>
        <p:nvSpPr>
          <p:cNvPr id="51212" name="Rectangle 12"/>
          <p:cNvSpPr>
            <a:spLocks noChangeArrowheads="1"/>
          </p:cNvSpPr>
          <p:nvPr/>
        </p:nvSpPr>
        <p:spPr bwMode="auto">
          <a:xfrm>
            <a:off x="228600" y="1143000"/>
            <a:ext cx="8686800" cy="1800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r>
              <a:rPr lang="en-US" sz="2800" i="1">
                <a:latin typeface="Times New Roman" panose="02020603050405020304" pitchFamily="18" charset="0"/>
              </a:rPr>
              <a:t>Here is a trivial example. Bob chooses p = 11 and e</a:t>
            </a:r>
            <a:r>
              <a:rPr lang="en-US" sz="2800" i="1" baseline="-25000">
                <a:latin typeface="Times New Roman" panose="02020603050405020304" pitchFamily="18" charset="0"/>
              </a:rPr>
              <a:t>1</a:t>
            </a:r>
            <a:r>
              <a:rPr lang="en-US" sz="2800" i="1">
                <a:latin typeface="Times New Roman" panose="02020603050405020304" pitchFamily="18" charset="0"/>
              </a:rPr>
              <a:t> = 2. </a:t>
            </a:r>
            <a:br>
              <a:rPr lang="en-US" sz="2800" i="1">
                <a:latin typeface="Times New Roman" panose="02020603050405020304" pitchFamily="18" charset="0"/>
              </a:rPr>
            </a:br>
            <a:r>
              <a:rPr lang="en-US" sz="2800" i="1">
                <a:latin typeface="Times New Roman" panose="02020603050405020304" pitchFamily="18" charset="0"/>
              </a:rPr>
              <a:t>and d = 3  e</a:t>
            </a:r>
            <a:r>
              <a:rPr lang="en-US" sz="2800" i="1" baseline="-25000">
                <a:latin typeface="Times New Roman" panose="02020603050405020304" pitchFamily="18" charset="0"/>
              </a:rPr>
              <a:t>2</a:t>
            </a:r>
            <a:r>
              <a:rPr lang="en-US" sz="2800" i="1">
                <a:latin typeface="Times New Roman" panose="02020603050405020304" pitchFamily="18" charset="0"/>
              </a:rPr>
              <a:t> = e</a:t>
            </a:r>
            <a:r>
              <a:rPr lang="en-US" sz="2800" i="1" baseline="-25000">
                <a:latin typeface="Times New Roman" panose="02020603050405020304" pitchFamily="18" charset="0"/>
              </a:rPr>
              <a:t>1</a:t>
            </a:r>
            <a:r>
              <a:rPr lang="en-US" sz="2800" i="1" baseline="30000">
                <a:latin typeface="Times New Roman" panose="02020603050405020304" pitchFamily="18" charset="0"/>
              </a:rPr>
              <a:t>d</a:t>
            </a:r>
            <a:r>
              <a:rPr lang="en-US" sz="2800" i="1">
                <a:latin typeface="Times New Roman" panose="02020603050405020304" pitchFamily="18" charset="0"/>
              </a:rPr>
              <a:t> = 8. So the public keys are (2, 8, 11) and the private key is 3. Alice chooses r = 4 and calculates C1 and C2 for the plaintext 7.</a:t>
            </a:r>
          </a:p>
        </p:txBody>
      </p:sp>
      <p:pic>
        <p:nvPicPr>
          <p:cNvPr id="5121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3048000"/>
            <a:ext cx="7694613"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14" name="Rectangle 14"/>
          <p:cNvSpPr>
            <a:spLocks noChangeArrowheads="1"/>
          </p:cNvSpPr>
          <p:nvPr/>
        </p:nvSpPr>
        <p:spPr bwMode="auto">
          <a:xfrm>
            <a:off x="228600" y="49530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r>
              <a:rPr lang="en-US" sz="2800" i="1">
                <a:latin typeface="Times New Roman" panose="02020603050405020304" pitchFamily="18" charset="0"/>
              </a:rPr>
              <a:t>Bob receives the ciphertexts (5 and 6) and calculates the plaintext.</a:t>
            </a:r>
          </a:p>
        </p:txBody>
      </p:sp>
      <p:pic>
        <p:nvPicPr>
          <p:cNvPr id="3" name="Picture 2"/>
          <p:cNvPicPr>
            <a:picLocks noChangeAspect="1"/>
          </p:cNvPicPr>
          <p:nvPr/>
        </p:nvPicPr>
        <p:blipFill>
          <a:blip r:embed="rId4"/>
          <a:stretch>
            <a:fillRect/>
          </a:stretch>
        </p:blipFill>
        <p:spPr>
          <a:xfrm>
            <a:off x="914400" y="5715000"/>
            <a:ext cx="8039100" cy="619125"/>
          </a:xfrm>
          <a:prstGeom prst="rect">
            <a:avLst/>
          </a:prstGeom>
        </p:spPr>
      </p:pic>
    </p:spTree>
    <p:extLst>
      <p:ext uri="{BB962C8B-B14F-4D97-AF65-F5344CB8AC3E}">
        <p14:creationId xmlns:p14="http://schemas.microsoft.com/office/powerpoint/2010/main" val="119161247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84</a:t>
            </a:fld>
            <a:endParaRPr lang="en-US" dirty="0"/>
          </a:p>
        </p:txBody>
      </p:sp>
      <p:sp>
        <p:nvSpPr>
          <p:cNvPr id="3" name="TextBox 2"/>
          <p:cNvSpPr txBox="1"/>
          <p:nvPr/>
        </p:nvSpPr>
        <p:spPr>
          <a:xfrm>
            <a:off x="2743200" y="2819400"/>
            <a:ext cx="4114800" cy="707886"/>
          </a:xfrm>
          <a:prstGeom prst="rect">
            <a:avLst/>
          </a:prstGeom>
          <a:noFill/>
        </p:spPr>
        <p:txBody>
          <a:bodyPr wrap="square" rtlCol="0">
            <a:spAutoFit/>
          </a:bodyPr>
          <a:lstStyle/>
          <a:p>
            <a:r>
              <a:rPr lang="en-US" sz="4000" b="1" dirty="0" smtClean="0">
                <a:solidFill>
                  <a:srgbClr val="FF0000"/>
                </a:solidFill>
                <a:latin typeface="Tw Cen MT" panose="020B0602020104020603" pitchFamily="34" charset="0"/>
                <a:cs typeface="Times New Roman" pitchFamily="18" charset="0"/>
              </a:rPr>
              <a:t>Digital Signature</a:t>
            </a:r>
            <a:endParaRPr lang="en-US" sz="4000" b="1" dirty="0">
              <a:solidFill>
                <a:srgbClr val="FF0000"/>
              </a:solidFill>
              <a:latin typeface="Tw Cen MT" panose="020B0602020104020603" pitchFamily="34" charset="0"/>
              <a:cs typeface="Times New Roman" pitchFamily="18" charset="0"/>
            </a:endParaRPr>
          </a:p>
        </p:txBody>
      </p:sp>
    </p:spTree>
    <p:extLst>
      <p:ext uri="{BB962C8B-B14F-4D97-AF65-F5344CB8AC3E}">
        <p14:creationId xmlns:p14="http://schemas.microsoft.com/office/powerpoint/2010/main" val="236690465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fld id="{727E1BAB-119C-4B6A-98EC-912E40C41D03}" type="slidenum">
              <a:rPr lang="en-US" smtClean="0"/>
              <a:pPr/>
              <a:t>85</a:t>
            </a:fld>
            <a:endParaRPr lang="en-US" dirty="0"/>
          </a:p>
        </p:txBody>
      </p:sp>
      <p:sp>
        <p:nvSpPr>
          <p:cNvPr id="56525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effectLst>
                <a:outerShdw blurRad="38100" dist="38100" dir="2700000" algn="tl">
                  <a:srgbClr val="FFFFFF"/>
                </a:outerShdw>
              </a:effectLst>
              <a:latin typeface="Tw Cen MT" panose="020B0602020104020603" pitchFamily="34" charset="0"/>
            </a:endParaRPr>
          </a:p>
        </p:txBody>
      </p:sp>
      <p:sp>
        <p:nvSpPr>
          <p:cNvPr id="565251" name="Text Box 3"/>
          <p:cNvSpPr txBox="1">
            <a:spLocks noChangeArrowheads="1"/>
          </p:cNvSpPr>
          <p:nvPr/>
        </p:nvSpPr>
        <p:spPr bwMode="auto">
          <a:xfrm>
            <a:off x="228600" y="404813"/>
            <a:ext cx="2404954"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smtClean="0">
                <a:effectLst>
                  <a:outerShdw blurRad="38100" dist="38100" dir="2700000" algn="tl">
                    <a:srgbClr val="C0C0C0"/>
                  </a:outerShdw>
                </a:effectLst>
                <a:latin typeface="Tw Cen MT" panose="020B0602020104020603" pitchFamily="34" charset="0"/>
              </a:rPr>
              <a:t>  </a:t>
            </a:r>
            <a:r>
              <a:rPr lang="en-US" sz="2800" dirty="0">
                <a:latin typeface="Tw Cen MT" panose="020B0602020104020603" pitchFamily="34" charset="0"/>
              </a:rPr>
              <a:t>COMPARISON</a:t>
            </a:r>
            <a:endParaRPr lang="en-US" sz="2800" b="0" dirty="0">
              <a:latin typeface="Tw Cen MT" panose="020B0602020104020603" pitchFamily="34" charset="0"/>
            </a:endParaRPr>
          </a:p>
          <a:p>
            <a:endParaRPr lang="en-US" b="0" dirty="0">
              <a:latin typeface="Tw Cen MT" panose="020B0602020104020603" pitchFamily="34" charset="0"/>
            </a:endParaRPr>
          </a:p>
          <a:p>
            <a:endParaRPr lang="en-US" b="0" dirty="0">
              <a:latin typeface="Tw Cen MT" panose="020B0602020104020603" pitchFamily="34" charset="0"/>
            </a:endParaRPr>
          </a:p>
          <a:p>
            <a:endParaRPr lang="en-US" dirty="0">
              <a:effectLst>
                <a:outerShdw blurRad="38100" dist="38100" dir="2700000" algn="tl">
                  <a:srgbClr val="C0C0C0"/>
                </a:outerShdw>
              </a:effectLst>
              <a:latin typeface="Tw Cen MT" panose="020B0602020104020603" pitchFamily="34" charset="0"/>
            </a:endParaRPr>
          </a:p>
        </p:txBody>
      </p:sp>
      <p:sp>
        <p:nvSpPr>
          <p:cNvPr id="565252"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imes New Roman" pitchFamily="18" charset="0"/>
            </a:endParaRPr>
          </a:p>
        </p:txBody>
      </p:sp>
      <p:sp>
        <p:nvSpPr>
          <p:cNvPr id="565253" name="Rectangle 5"/>
          <p:cNvSpPr>
            <a:spLocks noChangeArrowheads="1"/>
          </p:cNvSpPr>
          <p:nvPr/>
        </p:nvSpPr>
        <p:spPr bwMode="auto">
          <a:xfrm>
            <a:off x="304800" y="1752600"/>
            <a:ext cx="822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i="1">
                <a:effectLst>
                  <a:outerShdw blurRad="38100" dist="38100" dir="2700000" algn="tl">
                    <a:srgbClr val="C0C0C0"/>
                  </a:outerShdw>
                </a:effectLst>
                <a:latin typeface="Tw Cen MT" panose="020B0602020104020603" pitchFamily="34" charset="0"/>
              </a:rPr>
              <a:t>Let us begin by looking at the differences between conventional signatures and digital signatures.</a:t>
            </a:r>
          </a:p>
        </p:txBody>
      </p:sp>
      <p:sp>
        <p:nvSpPr>
          <p:cNvPr id="565277" name="Rectangle 29"/>
          <p:cNvSpPr>
            <a:spLocks noChangeArrowheads="1"/>
          </p:cNvSpPr>
          <p:nvPr/>
        </p:nvSpPr>
        <p:spPr bwMode="auto">
          <a:xfrm>
            <a:off x="457200" y="4314220"/>
            <a:ext cx="670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sz="2400" dirty="0" smtClean="0">
                <a:solidFill>
                  <a:srgbClr val="0033CC"/>
                </a:solidFill>
                <a:latin typeface="Tw Cen MT" panose="020B0602020104020603" pitchFamily="34" charset="0"/>
              </a:rPr>
              <a:t>Inclusion </a:t>
            </a:r>
            <a:endParaRPr lang="en-US" sz="2400" dirty="0">
              <a:solidFill>
                <a:srgbClr val="0033CC"/>
              </a:solidFill>
              <a:latin typeface="Tw Cen MT" panose="020B0602020104020603" pitchFamily="34" charset="0"/>
            </a:endParaRPr>
          </a:p>
          <a:p>
            <a:pPr>
              <a:buClr>
                <a:schemeClr val="tx1"/>
              </a:buClr>
              <a:buSzPct val="117000"/>
              <a:buFont typeface="Wingdings" pitchFamily="2" charset="2"/>
              <a:buNone/>
            </a:pPr>
            <a:r>
              <a:rPr lang="en-US" sz="2400" dirty="0" smtClean="0">
                <a:solidFill>
                  <a:srgbClr val="0033CC"/>
                </a:solidFill>
                <a:latin typeface="Tw Cen MT" panose="020B0602020104020603" pitchFamily="34" charset="0"/>
              </a:rPr>
              <a:t>Verification </a:t>
            </a:r>
            <a:r>
              <a:rPr lang="en-US" sz="2400" dirty="0">
                <a:solidFill>
                  <a:srgbClr val="0033CC"/>
                </a:solidFill>
                <a:latin typeface="Tw Cen MT" panose="020B0602020104020603" pitchFamily="34" charset="0"/>
              </a:rPr>
              <a:t>Method </a:t>
            </a:r>
          </a:p>
          <a:p>
            <a:pPr>
              <a:buClr>
                <a:schemeClr val="tx1"/>
              </a:buClr>
              <a:buSzPct val="117000"/>
              <a:buFont typeface="Wingdings" pitchFamily="2" charset="2"/>
              <a:buNone/>
            </a:pPr>
            <a:r>
              <a:rPr lang="en-US" sz="2400" dirty="0" smtClean="0">
                <a:solidFill>
                  <a:srgbClr val="0033CC"/>
                </a:solidFill>
                <a:latin typeface="Tw Cen MT" panose="020B0602020104020603" pitchFamily="34" charset="0"/>
              </a:rPr>
              <a:t>Relationship </a:t>
            </a:r>
            <a:endParaRPr lang="en-US" sz="2400" dirty="0">
              <a:solidFill>
                <a:srgbClr val="0033CC"/>
              </a:solidFill>
              <a:latin typeface="Tw Cen MT" panose="020B0602020104020603" pitchFamily="34" charset="0"/>
            </a:endParaRPr>
          </a:p>
          <a:p>
            <a:pPr>
              <a:buClr>
                <a:schemeClr val="tx1"/>
              </a:buClr>
              <a:buSzPct val="117000"/>
              <a:buFont typeface="Wingdings" pitchFamily="2" charset="2"/>
              <a:buNone/>
            </a:pPr>
            <a:r>
              <a:rPr lang="en-US" sz="2400" dirty="0" smtClean="0">
                <a:solidFill>
                  <a:srgbClr val="0033CC"/>
                </a:solidFill>
                <a:latin typeface="Tw Cen MT" panose="020B0602020104020603" pitchFamily="34" charset="0"/>
              </a:rPr>
              <a:t>Duplicity </a:t>
            </a:r>
            <a:endParaRPr lang="en-US" sz="2400" dirty="0">
              <a:solidFill>
                <a:srgbClr val="0033CC"/>
              </a:solidFill>
              <a:latin typeface="Tw Cen MT" panose="020B0602020104020603" pitchFamily="34" charset="0"/>
            </a:endParaRPr>
          </a:p>
        </p:txBody>
      </p:sp>
      <p:sp>
        <p:nvSpPr>
          <p:cNvPr id="565278" name="Text Box 30"/>
          <p:cNvSpPr txBox="1">
            <a:spLocks noChangeArrowheads="1"/>
          </p:cNvSpPr>
          <p:nvPr/>
        </p:nvSpPr>
        <p:spPr bwMode="auto">
          <a:xfrm>
            <a:off x="395910" y="3200400"/>
            <a:ext cx="43754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i="1" u="sng" dirty="0">
                <a:solidFill>
                  <a:schemeClr val="hlink"/>
                </a:solidFill>
                <a:effectLst>
                  <a:outerShdw blurRad="38100" dist="38100" dir="2700000" algn="tl">
                    <a:srgbClr val="C0C0C0"/>
                  </a:outerShdw>
                </a:effectLst>
                <a:latin typeface="Tw Cen MT" panose="020B0602020104020603" pitchFamily="34" charset="0"/>
              </a:rPr>
              <a:t>Topics discussed in this section:</a:t>
            </a:r>
          </a:p>
        </p:txBody>
      </p:sp>
    </p:spTree>
    <p:extLst>
      <p:ext uri="{BB962C8B-B14F-4D97-AF65-F5344CB8AC3E}">
        <p14:creationId xmlns:p14="http://schemas.microsoft.com/office/powerpoint/2010/main" val="43243029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fld id="{55CBC8B1-13FE-4021-B421-2E7CE5DA3B80}" type="slidenum">
              <a:rPr lang="en-US" smtClean="0"/>
              <a:pPr/>
              <a:t>86</a:t>
            </a:fld>
            <a:endParaRPr lang="en-US" dirty="0"/>
          </a:p>
        </p:txBody>
      </p:sp>
      <p:sp>
        <p:nvSpPr>
          <p:cNvPr id="961545" name="Rectangle 9"/>
          <p:cNvSpPr>
            <a:spLocks noChangeArrowheads="1"/>
          </p:cNvSpPr>
          <p:nvPr/>
        </p:nvSpPr>
        <p:spPr bwMode="auto">
          <a:xfrm>
            <a:off x="228600" y="16002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latin typeface="Tw Cen MT" panose="020B0602020104020603" pitchFamily="34" charset="0"/>
              </a:rPr>
              <a:t>A conventional signature is included in the document; it is part of the document. But when we sign a document digitally, we send </a:t>
            </a:r>
            <a:r>
              <a:rPr lang="en-US" sz="2800" dirty="0">
                <a:solidFill>
                  <a:srgbClr val="FF0000"/>
                </a:solidFill>
                <a:latin typeface="Tw Cen MT" panose="020B0602020104020603" pitchFamily="34" charset="0"/>
              </a:rPr>
              <a:t>the signature as a separate document.</a:t>
            </a:r>
          </a:p>
        </p:txBody>
      </p:sp>
      <p:sp>
        <p:nvSpPr>
          <p:cNvPr id="961546" name="Text Box 10"/>
          <p:cNvSpPr txBox="1">
            <a:spLocks noChangeArrowheads="1"/>
          </p:cNvSpPr>
          <p:nvPr/>
        </p:nvSpPr>
        <p:spPr bwMode="auto">
          <a:xfrm>
            <a:off x="457200" y="762000"/>
            <a:ext cx="19213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smtClean="0">
                <a:solidFill>
                  <a:schemeClr val="hlink"/>
                </a:solidFill>
                <a:latin typeface="Tw Cen MT" panose="020B0602020104020603" pitchFamily="34" charset="0"/>
              </a:rPr>
              <a:t> </a:t>
            </a:r>
            <a:r>
              <a:rPr lang="en-US" sz="4000" dirty="0" smtClean="0">
                <a:solidFill>
                  <a:schemeClr val="hlink"/>
                </a:solidFill>
                <a:latin typeface="Tw Cen MT" panose="020B0602020104020603" pitchFamily="34" charset="0"/>
              </a:rPr>
              <a:t>Inclusion</a:t>
            </a:r>
            <a:endParaRPr lang="en-US" sz="4000" dirty="0">
              <a:solidFill>
                <a:schemeClr val="hlink"/>
              </a:solidFill>
              <a:latin typeface="Tw Cen MT" panose="020B0602020104020603" pitchFamily="34" charset="0"/>
            </a:endParaRPr>
          </a:p>
        </p:txBody>
      </p:sp>
    </p:spTree>
    <p:extLst>
      <p:ext uri="{BB962C8B-B14F-4D97-AF65-F5344CB8AC3E}">
        <p14:creationId xmlns:p14="http://schemas.microsoft.com/office/powerpoint/2010/main" val="183804135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fld id="{00D0A3CE-93EA-49B6-B008-8DF4A47085A7}" type="slidenum">
              <a:rPr lang="en-US" smtClean="0"/>
              <a:pPr/>
              <a:t>87</a:t>
            </a:fld>
            <a:endParaRPr lang="en-US" dirty="0"/>
          </a:p>
        </p:txBody>
      </p:sp>
      <p:sp>
        <p:nvSpPr>
          <p:cNvPr id="963593" name="Rectangle 9"/>
          <p:cNvSpPr>
            <a:spLocks noChangeArrowheads="1"/>
          </p:cNvSpPr>
          <p:nvPr/>
        </p:nvSpPr>
        <p:spPr bwMode="auto">
          <a:xfrm>
            <a:off x="228600" y="1447800"/>
            <a:ext cx="8686800" cy="230832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400" dirty="0">
                <a:latin typeface="Tw Cen MT" panose="020B0602020104020603" pitchFamily="34" charset="0"/>
              </a:rPr>
              <a:t>For a conventional signature, when the recipient receives a document, </a:t>
            </a:r>
            <a:r>
              <a:rPr lang="en-US" sz="2400" dirty="0" smtClean="0">
                <a:latin typeface="Tw Cen MT" panose="020B0602020104020603" pitchFamily="34" charset="0"/>
              </a:rPr>
              <a:t>he/she </a:t>
            </a:r>
            <a:r>
              <a:rPr lang="en-US" sz="2400" dirty="0">
                <a:latin typeface="Tw Cen MT" panose="020B0602020104020603" pitchFamily="34" charset="0"/>
              </a:rPr>
              <a:t>compares the signature on the document </a:t>
            </a:r>
            <a:r>
              <a:rPr lang="en-US" sz="2400" dirty="0">
                <a:solidFill>
                  <a:srgbClr val="FF0000"/>
                </a:solidFill>
                <a:latin typeface="Tw Cen MT" panose="020B0602020104020603" pitchFamily="34" charset="0"/>
              </a:rPr>
              <a:t>with the signature on file.</a:t>
            </a:r>
            <a:r>
              <a:rPr lang="en-US" sz="2400" dirty="0">
                <a:latin typeface="Tw Cen MT" panose="020B0602020104020603" pitchFamily="34" charset="0"/>
              </a:rPr>
              <a:t> For a digital signature, the recipient receives the message and the signature. The recipient needs to </a:t>
            </a:r>
            <a:r>
              <a:rPr lang="en-US" sz="2400" dirty="0">
                <a:solidFill>
                  <a:srgbClr val="FF0000"/>
                </a:solidFill>
                <a:latin typeface="Tw Cen MT" panose="020B0602020104020603" pitchFamily="34" charset="0"/>
              </a:rPr>
              <a:t>apply a verification technique to </a:t>
            </a:r>
            <a:r>
              <a:rPr lang="en-US" sz="2400" dirty="0">
                <a:latin typeface="Tw Cen MT" panose="020B0602020104020603" pitchFamily="34" charset="0"/>
              </a:rPr>
              <a:t>the combination of the message and the signature to verify the authenticity.</a:t>
            </a:r>
          </a:p>
        </p:txBody>
      </p:sp>
      <p:sp>
        <p:nvSpPr>
          <p:cNvPr id="963594" name="Text Box 10"/>
          <p:cNvSpPr txBox="1">
            <a:spLocks noChangeArrowheads="1"/>
          </p:cNvSpPr>
          <p:nvPr/>
        </p:nvSpPr>
        <p:spPr bwMode="auto">
          <a:xfrm>
            <a:off x="838200" y="381000"/>
            <a:ext cx="37941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dirty="0" smtClean="0">
                <a:solidFill>
                  <a:schemeClr val="hlink"/>
                </a:solidFill>
                <a:latin typeface="Tw Cen MT" panose="020B0602020104020603" pitchFamily="34" charset="0"/>
              </a:rPr>
              <a:t>Verification </a:t>
            </a:r>
            <a:r>
              <a:rPr lang="en-US" sz="3600" dirty="0">
                <a:solidFill>
                  <a:schemeClr val="hlink"/>
                </a:solidFill>
                <a:latin typeface="Tw Cen MT" panose="020B0602020104020603" pitchFamily="34" charset="0"/>
              </a:rPr>
              <a:t>Method</a:t>
            </a:r>
          </a:p>
        </p:txBody>
      </p:sp>
    </p:spTree>
    <p:extLst>
      <p:ext uri="{BB962C8B-B14F-4D97-AF65-F5344CB8AC3E}">
        <p14:creationId xmlns:p14="http://schemas.microsoft.com/office/powerpoint/2010/main" val="378540225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fld id="{858622AB-F767-41DE-8106-E78D5273DE1F}" type="slidenum">
              <a:rPr lang="en-US" smtClean="0"/>
              <a:pPr/>
              <a:t>88</a:t>
            </a:fld>
            <a:endParaRPr lang="en-US" dirty="0"/>
          </a:p>
        </p:txBody>
      </p:sp>
      <p:sp>
        <p:nvSpPr>
          <p:cNvPr id="965641" name="Rectangle 9"/>
          <p:cNvSpPr>
            <a:spLocks noChangeArrowheads="1"/>
          </p:cNvSpPr>
          <p:nvPr/>
        </p:nvSpPr>
        <p:spPr bwMode="auto">
          <a:xfrm>
            <a:off x="228600" y="1600200"/>
            <a:ext cx="8686800" cy="22467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latin typeface="Tw Cen MT" panose="020B0602020104020603" pitchFamily="34" charset="0"/>
              </a:rPr>
              <a:t>For a conventional signature, there is normally a </a:t>
            </a:r>
            <a:r>
              <a:rPr lang="en-US" sz="2800" dirty="0">
                <a:solidFill>
                  <a:srgbClr val="FF0000"/>
                </a:solidFill>
                <a:latin typeface="Tw Cen MT" panose="020B0602020104020603" pitchFamily="34" charset="0"/>
              </a:rPr>
              <a:t>one-to-many relationship between a signature and </a:t>
            </a:r>
            <a:r>
              <a:rPr lang="en-US" sz="2800" dirty="0" smtClean="0">
                <a:solidFill>
                  <a:srgbClr val="FF0000"/>
                </a:solidFill>
                <a:latin typeface="Tw Cen MT" panose="020B0602020104020603" pitchFamily="34" charset="0"/>
              </a:rPr>
              <a:t>documents (same signature to many documents). </a:t>
            </a:r>
            <a:r>
              <a:rPr lang="en-US" sz="2800" dirty="0">
                <a:latin typeface="Tw Cen MT" panose="020B0602020104020603" pitchFamily="34" charset="0"/>
              </a:rPr>
              <a:t>For a digital signature, there is a </a:t>
            </a:r>
            <a:r>
              <a:rPr lang="en-US" sz="2800" dirty="0">
                <a:solidFill>
                  <a:srgbClr val="FF0000"/>
                </a:solidFill>
                <a:latin typeface="Tw Cen MT" panose="020B0602020104020603" pitchFamily="34" charset="0"/>
              </a:rPr>
              <a:t>one-to-one</a:t>
            </a:r>
            <a:r>
              <a:rPr lang="en-US" sz="2800" dirty="0">
                <a:latin typeface="Tw Cen MT" panose="020B0602020104020603" pitchFamily="34" charset="0"/>
              </a:rPr>
              <a:t> relationship between a signature and a message. </a:t>
            </a:r>
          </a:p>
        </p:txBody>
      </p:sp>
      <p:sp>
        <p:nvSpPr>
          <p:cNvPr id="965642" name="Text Box 10"/>
          <p:cNvSpPr txBox="1">
            <a:spLocks noChangeArrowheads="1"/>
          </p:cNvSpPr>
          <p:nvPr/>
        </p:nvSpPr>
        <p:spPr bwMode="auto">
          <a:xfrm>
            <a:off x="685800" y="826532"/>
            <a:ext cx="24728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dirty="0" smtClean="0">
                <a:solidFill>
                  <a:schemeClr val="hlink"/>
                </a:solidFill>
                <a:latin typeface="Tw Cen MT" panose="020B0602020104020603" pitchFamily="34" charset="0"/>
              </a:rPr>
              <a:t> </a:t>
            </a:r>
            <a:r>
              <a:rPr lang="en-US" sz="3600" dirty="0">
                <a:solidFill>
                  <a:schemeClr val="hlink"/>
                </a:solidFill>
                <a:latin typeface="Tw Cen MT" panose="020B0602020104020603" pitchFamily="34" charset="0"/>
              </a:rPr>
              <a:t>Relationship</a:t>
            </a:r>
          </a:p>
        </p:txBody>
      </p:sp>
    </p:spTree>
    <p:extLst>
      <p:ext uri="{BB962C8B-B14F-4D97-AF65-F5344CB8AC3E}">
        <p14:creationId xmlns:p14="http://schemas.microsoft.com/office/powerpoint/2010/main" val="79904074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dirty="0" smtClean="0"/>
              <a:t>50</a:t>
            </a:r>
            <a:endParaRPr lang="en-US" dirty="0"/>
          </a:p>
        </p:txBody>
      </p:sp>
      <p:sp>
        <p:nvSpPr>
          <p:cNvPr id="967689" name="Rectangle 9"/>
          <p:cNvSpPr>
            <a:spLocks noChangeArrowheads="1"/>
          </p:cNvSpPr>
          <p:nvPr/>
        </p:nvSpPr>
        <p:spPr bwMode="auto">
          <a:xfrm>
            <a:off x="304800" y="2209800"/>
            <a:ext cx="8382000" cy="1569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400" dirty="0">
                <a:latin typeface="Tw Cen MT" panose="020B0602020104020603" pitchFamily="34" charset="0"/>
              </a:rPr>
              <a:t>In conventional signature, a copy of the signed document can be distinguished from the original one on file. In digital signature, there is no such distinction unless there is a factor of time on the document. </a:t>
            </a:r>
          </a:p>
        </p:txBody>
      </p:sp>
      <p:sp>
        <p:nvSpPr>
          <p:cNvPr id="967690" name="Text Box 10"/>
          <p:cNvSpPr txBox="1">
            <a:spLocks noChangeArrowheads="1"/>
          </p:cNvSpPr>
          <p:nvPr/>
        </p:nvSpPr>
        <p:spPr bwMode="auto">
          <a:xfrm>
            <a:off x="533400" y="685800"/>
            <a:ext cx="20104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dirty="0" smtClean="0">
                <a:solidFill>
                  <a:schemeClr val="hlink"/>
                </a:solidFill>
                <a:latin typeface="Tw Cen MT" panose="020B0602020104020603" pitchFamily="34" charset="0"/>
              </a:rPr>
              <a:t>  </a:t>
            </a:r>
            <a:r>
              <a:rPr lang="en-US" sz="3600" dirty="0">
                <a:solidFill>
                  <a:schemeClr val="hlink"/>
                </a:solidFill>
                <a:latin typeface="Tw Cen MT" panose="020B0602020104020603" pitchFamily="34" charset="0"/>
              </a:rPr>
              <a:t>Duplicity</a:t>
            </a:r>
          </a:p>
        </p:txBody>
      </p:sp>
    </p:spTree>
    <p:extLst>
      <p:ext uri="{BB962C8B-B14F-4D97-AF65-F5344CB8AC3E}">
        <p14:creationId xmlns:p14="http://schemas.microsoft.com/office/powerpoint/2010/main" val="84034309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fld id="{3FC8B945-BBAB-49A3-8522-30FA1FCDA335}" type="slidenum">
              <a:rPr lang="en-US" smtClean="0"/>
              <a:pPr/>
              <a:t>90</a:t>
            </a:fld>
            <a:endParaRPr lang="en-US" dirty="0"/>
          </a:p>
        </p:txBody>
      </p:sp>
      <p:sp>
        <p:nvSpPr>
          <p:cNvPr id="94310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effectLst>
                <a:outerShdw blurRad="38100" dist="38100" dir="2700000" algn="tl">
                  <a:srgbClr val="FFFFFF"/>
                </a:outerShdw>
              </a:effectLst>
              <a:latin typeface="Tw Cen MT" panose="020B0602020104020603" pitchFamily="34" charset="0"/>
            </a:endParaRPr>
          </a:p>
        </p:txBody>
      </p:sp>
      <p:sp>
        <p:nvSpPr>
          <p:cNvPr id="943107" name="Text Box 3"/>
          <p:cNvSpPr txBox="1">
            <a:spLocks noChangeArrowheads="1"/>
          </p:cNvSpPr>
          <p:nvPr/>
        </p:nvSpPr>
        <p:spPr bwMode="auto">
          <a:xfrm>
            <a:off x="228600" y="404813"/>
            <a:ext cx="213712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smtClean="0">
                <a:effectLst>
                  <a:outerShdw blurRad="38100" dist="38100" dir="2700000" algn="tl">
                    <a:srgbClr val="C0C0C0"/>
                  </a:outerShdw>
                </a:effectLst>
                <a:latin typeface="Tw Cen MT" panose="020B0602020104020603" pitchFamily="34" charset="0"/>
              </a:rPr>
              <a:t>   </a:t>
            </a:r>
            <a:r>
              <a:rPr lang="en-US" sz="3600" dirty="0">
                <a:latin typeface="Tw Cen MT" panose="020B0602020104020603" pitchFamily="34" charset="0"/>
              </a:rPr>
              <a:t>PROCESS</a:t>
            </a:r>
            <a:endParaRPr lang="en-US" sz="3600" b="0" dirty="0">
              <a:latin typeface="Tw Cen MT" panose="020B0602020104020603" pitchFamily="34" charset="0"/>
            </a:endParaRPr>
          </a:p>
          <a:p>
            <a:endParaRPr lang="en-US" dirty="0">
              <a:effectLst>
                <a:outerShdw blurRad="38100" dist="38100" dir="2700000" algn="tl">
                  <a:srgbClr val="C0C0C0"/>
                </a:outerShdw>
              </a:effectLst>
              <a:latin typeface="Tw Cen MT" panose="020B0602020104020603" pitchFamily="34" charset="0"/>
            </a:endParaRPr>
          </a:p>
        </p:txBody>
      </p:sp>
      <p:sp>
        <p:nvSpPr>
          <p:cNvPr id="943108"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imes New Roman" pitchFamily="18" charset="0"/>
            </a:endParaRPr>
          </a:p>
        </p:txBody>
      </p:sp>
      <p:sp>
        <p:nvSpPr>
          <p:cNvPr id="943109" name="Rectangle 5"/>
          <p:cNvSpPr>
            <a:spLocks noChangeArrowheads="1"/>
          </p:cNvSpPr>
          <p:nvPr/>
        </p:nvSpPr>
        <p:spPr bwMode="auto">
          <a:xfrm>
            <a:off x="76200" y="1692503"/>
            <a:ext cx="88392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800" dirty="0">
                <a:latin typeface="Tw Cen MT" panose="020B0602020104020603" pitchFamily="34" charset="0"/>
              </a:rPr>
              <a:t>Figure </a:t>
            </a:r>
            <a:r>
              <a:rPr lang="en-US" sz="2800" dirty="0" smtClean="0">
                <a:latin typeface="Tw Cen MT" panose="020B0602020104020603" pitchFamily="34" charset="0"/>
              </a:rPr>
              <a:t>in the next slide </a:t>
            </a:r>
            <a:r>
              <a:rPr lang="en-US" sz="2800" dirty="0">
                <a:latin typeface="Tw Cen MT" panose="020B0602020104020603" pitchFamily="34" charset="0"/>
              </a:rPr>
              <a:t>shows the digital signature process. The sender uses a signing algorithm to sign the message. The message and the signature are sent to the receiver. The receiver receives the message and the signature and applies the verifying algorithm to the combination. If the result is true, the message is accepted; otherwise, it is rejected.</a:t>
            </a:r>
          </a:p>
        </p:txBody>
      </p:sp>
      <p:sp>
        <p:nvSpPr>
          <p:cNvPr id="943110" name="Rectangle 6"/>
          <p:cNvSpPr>
            <a:spLocks noChangeArrowheads="1"/>
          </p:cNvSpPr>
          <p:nvPr/>
        </p:nvSpPr>
        <p:spPr bwMode="auto">
          <a:xfrm>
            <a:off x="323850" y="5184120"/>
            <a:ext cx="6705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sz="2400" dirty="0" smtClean="0">
                <a:solidFill>
                  <a:srgbClr val="0033CC"/>
                </a:solidFill>
                <a:latin typeface="Tw Cen MT" panose="020B0602020104020603" pitchFamily="34" charset="0"/>
              </a:rPr>
              <a:t>Need </a:t>
            </a:r>
            <a:r>
              <a:rPr lang="en-US" sz="2400" dirty="0">
                <a:solidFill>
                  <a:srgbClr val="0033CC"/>
                </a:solidFill>
                <a:latin typeface="Tw Cen MT" panose="020B0602020104020603" pitchFamily="34" charset="0"/>
              </a:rPr>
              <a:t>for Keys</a:t>
            </a:r>
          </a:p>
          <a:p>
            <a:pPr>
              <a:buClr>
                <a:schemeClr val="tx1"/>
              </a:buClr>
              <a:buSzPct val="117000"/>
              <a:buFont typeface="Wingdings" pitchFamily="2" charset="2"/>
              <a:buNone/>
            </a:pPr>
            <a:r>
              <a:rPr lang="en-US" sz="2400" dirty="0" smtClean="0">
                <a:solidFill>
                  <a:srgbClr val="0033CC"/>
                </a:solidFill>
                <a:latin typeface="Tw Cen MT" panose="020B0602020104020603" pitchFamily="34" charset="0"/>
              </a:rPr>
              <a:t>Signing </a:t>
            </a:r>
            <a:r>
              <a:rPr lang="en-US" sz="2400" dirty="0">
                <a:solidFill>
                  <a:srgbClr val="0033CC"/>
                </a:solidFill>
                <a:latin typeface="Tw Cen MT" panose="020B0602020104020603" pitchFamily="34" charset="0"/>
              </a:rPr>
              <a:t>the Digest</a:t>
            </a:r>
          </a:p>
        </p:txBody>
      </p:sp>
      <p:sp>
        <p:nvSpPr>
          <p:cNvPr id="943111" name="Text Box 7"/>
          <p:cNvSpPr txBox="1">
            <a:spLocks noChangeArrowheads="1"/>
          </p:cNvSpPr>
          <p:nvPr/>
        </p:nvSpPr>
        <p:spPr bwMode="auto">
          <a:xfrm>
            <a:off x="609600" y="4648200"/>
            <a:ext cx="11273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u="sng" dirty="0">
                <a:solidFill>
                  <a:schemeClr val="hlink"/>
                </a:solidFill>
                <a:latin typeface="Tw Cen MT" panose="020B0602020104020603" pitchFamily="34" charset="0"/>
              </a:rPr>
              <a:t>Topics </a:t>
            </a:r>
          </a:p>
        </p:txBody>
      </p:sp>
    </p:spTree>
    <p:extLst>
      <p:ext uri="{BB962C8B-B14F-4D97-AF65-F5344CB8AC3E}">
        <p14:creationId xmlns:p14="http://schemas.microsoft.com/office/powerpoint/2010/main" val="263360175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F569A210-6D0A-452C-B409-19EBE7775B9F}" type="slidenum">
              <a:rPr lang="en-US" smtClean="0"/>
              <a:pPr/>
              <a:t>91</a:t>
            </a:fld>
            <a:endParaRPr lang="en-US" dirty="0"/>
          </a:p>
        </p:txBody>
      </p:sp>
      <p:sp>
        <p:nvSpPr>
          <p:cNvPr id="1039362" name="Rectangle 2"/>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effectLst>
                <a:outerShdw blurRad="38100" dist="38100" dir="2700000" algn="tl">
                  <a:srgbClr val="FFFFFF"/>
                </a:outerShdw>
              </a:effectLst>
              <a:latin typeface="Times New Roman" pitchFamily="18" charset="0"/>
            </a:endParaRPr>
          </a:p>
        </p:txBody>
      </p:sp>
      <p:sp>
        <p:nvSpPr>
          <p:cNvPr id="1039363" name="Text Box 3"/>
          <p:cNvSpPr txBox="1">
            <a:spLocks noChangeArrowheads="1"/>
          </p:cNvSpPr>
          <p:nvPr/>
        </p:nvSpPr>
        <p:spPr bwMode="auto">
          <a:xfrm>
            <a:off x="304800" y="0"/>
            <a:ext cx="3810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3600" dirty="0" smtClean="0">
                <a:latin typeface="Tw Cen MT" panose="020B0602020104020603" pitchFamily="34" charset="0"/>
              </a:rPr>
              <a:t>Continued</a:t>
            </a:r>
            <a:endParaRPr lang="en-US" sz="3600" b="0" dirty="0">
              <a:latin typeface="Tw Cen MT" panose="020B0602020104020603" pitchFamily="34" charset="0"/>
            </a:endParaRPr>
          </a:p>
          <a:p>
            <a:endParaRPr lang="en-US" dirty="0">
              <a:effectLst>
                <a:outerShdw blurRad="38100" dist="38100" dir="2700000" algn="tl">
                  <a:srgbClr val="C0C0C0"/>
                </a:outerShdw>
              </a:effectLst>
              <a:latin typeface="Times" pitchFamily="18" charset="0"/>
            </a:endParaRPr>
          </a:p>
        </p:txBody>
      </p:sp>
      <p:sp>
        <p:nvSpPr>
          <p:cNvPr id="103936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imes New Roman" pitchFamily="18" charset="0"/>
            </a:endParaRPr>
          </a:p>
        </p:txBody>
      </p:sp>
      <p:sp>
        <p:nvSpPr>
          <p:cNvPr id="1039368" name="Text Box 8"/>
          <p:cNvSpPr txBox="1">
            <a:spLocks noChangeArrowheads="1"/>
          </p:cNvSpPr>
          <p:nvPr/>
        </p:nvSpPr>
        <p:spPr bwMode="auto">
          <a:xfrm>
            <a:off x="2036763" y="1939925"/>
            <a:ext cx="40382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anose="020B0602020104020603" pitchFamily="34" charset="0"/>
              </a:rPr>
              <a:t>Figure </a:t>
            </a:r>
            <a:r>
              <a:rPr lang="en-US" sz="2400" dirty="0" smtClean="0">
                <a:solidFill>
                  <a:schemeClr val="folHlink"/>
                </a:solidFill>
                <a:latin typeface="Tw Cen MT" panose="020B0602020104020603" pitchFamily="34" charset="0"/>
              </a:rPr>
              <a:t> </a:t>
            </a:r>
            <a:r>
              <a:rPr lang="en-US" sz="2400" i="1" dirty="0">
                <a:latin typeface="Tw Cen MT" panose="020B0602020104020603" pitchFamily="34" charset="0"/>
              </a:rPr>
              <a:t>Digital signature process</a:t>
            </a:r>
          </a:p>
        </p:txBody>
      </p:sp>
      <p:pic>
        <p:nvPicPr>
          <p:cNvPr id="103936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625725"/>
            <a:ext cx="7605713" cy="240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734939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
          <p:cNvSpPr>
            <a:spLocks noGrp="1"/>
          </p:cNvSpPr>
          <p:nvPr>
            <p:ph type="sldNum" sz="quarter" idx="10"/>
          </p:nvPr>
        </p:nvSpPr>
        <p:spPr/>
        <p:txBody>
          <a:bodyPr/>
          <a:lstStyle/>
          <a:p>
            <a:fld id="{6804F4FC-9B20-4A75-BCDB-FEAA165DF500}" type="slidenum">
              <a:rPr lang="en-US" smtClean="0"/>
              <a:pPr/>
              <a:t>92</a:t>
            </a:fld>
            <a:endParaRPr lang="en-US" dirty="0"/>
          </a:p>
        </p:txBody>
      </p:sp>
      <p:sp>
        <p:nvSpPr>
          <p:cNvPr id="969738" name="Text Box 10"/>
          <p:cNvSpPr txBox="1">
            <a:spLocks noChangeArrowheads="1"/>
          </p:cNvSpPr>
          <p:nvPr/>
        </p:nvSpPr>
        <p:spPr bwMode="auto">
          <a:xfrm>
            <a:off x="1066800" y="152400"/>
            <a:ext cx="267271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smtClean="0">
                <a:solidFill>
                  <a:schemeClr val="hlink"/>
                </a:solidFill>
                <a:latin typeface="Tw Cen MT" panose="020B0602020104020603" pitchFamily="34" charset="0"/>
              </a:rPr>
              <a:t>  </a:t>
            </a:r>
            <a:r>
              <a:rPr lang="en-US" sz="3200" dirty="0">
                <a:solidFill>
                  <a:schemeClr val="hlink"/>
                </a:solidFill>
                <a:latin typeface="Tw Cen MT" panose="020B0602020104020603" pitchFamily="34" charset="0"/>
              </a:rPr>
              <a:t>Need for Keys</a:t>
            </a:r>
          </a:p>
        </p:txBody>
      </p:sp>
      <p:sp>
        <p:nvSpPr>
          <p:cNvPr id="969739" name="Text Box 11"/>
          <p:cNvSpPr txBox="1">
            <a:spLocks noChangeArrowheads="1"/>
          </p:cNvSpPr>
          <p:nvPr/>
        </p:nvSpPr>
        <p:spPr bwMode="auto">
          <a:xfrm>
            <a:off x="841375" y="1143000"/>
            <a:ext cx="54395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anose="020B0602020104020603" pitchFamily="34" charset="0"/>
              </a:rPr>
              <a:t>Figure </a:t>
            </a:r>
            <a:r>
              <a:rPr lang="en-US" sz="2000" dirty="0" smtClean="0">
                <a:latin typeface="Tw Cen MT" panose="020B0602020104020603" pitchFamily="34" charset="0"/>
              </a:rPr>
              <a:t>Adding </a:t>
            </a:r>
            <a:r>
              <a:rPr lang="en-US" sz="2000" dirty="0">
                <a:latin typeface="Tw Cen MT" panose="020B0602020104020603" pitchFamily="34" charset="0"/>
              </a:rPr>
              <a:t>key to the digital signature process</a:t>
            </a:r>
          </a:p>
        </p:txBody>
      </p:sp>
      <p:sp>
        <p:nvSpPr>
          <p:cNvPr id="969740" name="Line 12"/>
          <p:cNvSpPr>
            <a:spLocks noChangeShapeType="1"/>
          </p:cNvSpPr>
          <p:nvPr/>
        </p:nvSpPr>
        <p:spPr bwMode="auto">
          <a:xfrm>
            <a:off x="477838" y="4632325"/>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Tw Cen MT" panose="020B0602020104020603" pitchFamily="34" charset="0"/>
            </a:endParaRPr>
          </a:p>
        </p:txBody>
      </p:sp>
      <p:sp>
        <p:nvSpPr>
          <p:cNvPr id="969741" name="Line 13"/>
          <p:cNvSpPr>
            <a:spLocks noChangeShapeType="1"/>
          </p:cNvSpPr>
          <p:nvPr/>
        </p:nvSpPr>
        <p:spPr bwMode="auto">
          <a:xfrm>
            <a:off x="479426" y="6080125"/>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Tw Cen MT" panose="020B0602020104020603" pitchFamily="34" charset="0"/>
            </a:endParaRPr>
          </a:p>
        </p:txBody>
      </p:sp>
      <p:sp>
        <p:nvSpPr>
          <p:cNvPr id="969742" name="Rectangle 14"/>
          <p:cNvSpPr>
            <a:spLocks noChangeArrowheads="1"/>
          </p:cNvSpPr>
          <p:nvPr/>
        </p:nvSpPr>
        <p:spPr bwMode="auto">
          <a:xfrm>
            <a:off x="515938" y="4648200"/>
            <a:ext cx="8077200" cy="13731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800">
                <a:latin typeface="Tw Cen MT" panose="020B0602020104020603" pitchFamily="34" charset="0"/>
              </a:rPr>
              <a:t>A digital signature needs a public-key system.</a:t>
            </a:r>
          </a:p>
          <a:p>
            <a:pPr algn="ctr"/>
            <a:r>
              <a:rPr lang="en-US" sz="2800">
                <a:latin typeface="Tw Cen MT" panose="020B0602020104020603" pitchFamily="34" charset="0"/>
              </a:rPr>
              <a:t>The signer signs with her private key; the verifier verifies with the signer’s public key.</a:t>
            </a:r>
          </a:p>
        </p:txBody>
      </p:sp>
      <p:pic>
        <p:nvPicPr>
          <p:cNvPr id="969746"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88" y="1676400"/>
            <a:ext cx="7605712" cy="242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216801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10"/>
          </p:nvPr>
        </p:nvSpPr>
        <p:spPr/>
        <p:txBody>
          <a:bodyPr/>
          <a:lstStyle/>
          <a:p>
            <a:fld id="{03CEEDBA-8189-4570-A24F-A7B19620594F}" type="slidenum">
              <a:rPr lang="en-US" smtClean="0"/>
              <a:pPr/>
              <a:t>93</a:t>
            </a:fld>
            <a:endParaRPr lang="en-US" dirty="0"/>
          </a:p>
        </p:txBody>
      </p:sp>
      <p:sp>
        <p:nvSpPr>
          <p:cNvPr id="971785" name="Rectangle 9"/>
          <p:cNvSpPr>
            <a:spLocks noChangeArrowheads="1"/>
          </p:cNvSpPr>
          <p:nvPr/>
        </p:nvSpPr>
        <p:spPr bwMode="auto">
          <a:xfrm>
            <a:off x="228600" y="11430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endParaRPr lang="en-US" sz="2800" i="1">
              <a:latin typeface="Times New Roman" pitchFamily="18" charset="0"/>
            </a:endParaRPr>
          </a:p>
        </p:txBody>
      </p:sp>
      <p:sp>
        <p:nvSpPr>
          <p:cNvPr id="971786" name="Text Box 10"/>
          <p:cNvSpPr txBox="1">
            <a:spLocks noChangeArrowheads="1"/>
          </p:cNvSpPr>
          <p:nvPr/>
        </p:nvSpPr>
        <p:spPr bwMode="auto">
          <a:xfrm>
            <a:off x="533400" y="533400"/>
            <a:ext cx="36535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smtClean="0">
                <a:solidFill>
                  <a:schemeClr val="hlink"/>
                </a:solidFill>
                <a:latin typeface="Tw Cen MT" panose="020B0602020104020603" pitchFamily="34" charset="0"/>
              </a:rPr>
              <a:t> </a:t>
            </a:r>
            <a:r>
              <a:rPr lang="en-US" sz="3600" dirty="0">
                <a:solidFill>
                  <a:schemeClr val="hlink"/>
                </a:solidFill>
                <a:latin typeface="Tw Cen MT" panose="020B0602020104020603" pitchFamily="34" charset="0"/>
              </a:rPr>
              <a:t>Signing the Digest</a:t>
            </a:r>
          </a:p>
        </p:txBody>
      </p:sp>
      <p:sp>
        <p:nvSpPr>
          <p:cNvPr id="971787" name="Text Box 11"/>
          <p:cNvSpPr txBox="1">
            <a:spLocks noChangeArrowheads="1"/>
          </p:cNvSpPr>
          <p:nvPr/>
        </p:nvSpPr>
        <p:spPr bwMode="auto">
          <a:xfrm>
            <a:off x="2643188" y="1905000"/>
            <a:ext cx="33829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anose="020B0602020104020603" pitchFamily="34" charset="0"/>
              </a:rPr>
              <a:t>Figure </a:t>
            </a:r>
            <a:r>
              <a:rPr lang="en-US" sz="2400" dirty="0" smtClean="0">
                <a:solidFill>
                  <a:schemeClr val="folHlink"/>
                </a:solidFill>
                <a:latin typeface="Tw Cen MT" panose="020B0602020104020603" pitchFamily="34" charset="0"/>
              </a:rPr>
              <a:t>  </a:t>
            </a:r>
            <a:r>
              <a:rPr lang="en-US" sz="2400" dirty="0">
                <a:latin typeface="Tw Cen MT" panose="020B0602020104020603" pitchFamily="34" charset="0"/>
              </a:rPr>
              <a:t>Signing the digest</a:t>
            </a:r>
          </a:p>
        </p:txBody>
      </p:sp>
      <p:pic>
        <p:nvPicPr>
          <p:cNvPr id="97178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2655888"/>
            <a:ext cx="8510587" cy="275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930543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94</a:t>
            </a:fld>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7848600" cy="5214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360416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95</a:t>
            </a:fld>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14400"/>
            <a:ext cx="6800850"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968098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96</a:t>
            </a:fld>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 y="533400"/>
            <a:ext cx="7239000" cy="5642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050026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fld id="{784DBEC1-7AE1-46B9-BC7A-125309C9B924}" type="slidenum">
              <a:rPr lang="en-US" smtClean="0"/>
              <a:pPr/>
              <a:t>97</a:t>
            </a:fld>
            <a:endParaRPr lang="en-US" dirty="0"/>
          </a:p>
        </p:txBody>
      </p:sp>
      <p:sp>
        <p:nvSpPr>
          <p:cNvPr id="945154"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effectLst>
                <a:outerShdw blurRad="38100" dist="38100" dir="2700000" algn="tl">
                  <a:srgbClr val="FFFFFF"/>
                </a:outerShdw>
              </a:effectLst>
              <a:latin typeface="Tw Cen MT" panose="020B0602020104020603" pitchFamily="34" charset="0"/>
            </a:endParaRPr>
          </a:p>
        </p:txBody>
      </p:sp>
      <p:sp>
        <p:nvSpPr>
          <p:cNvPr id="945155" name="Text Box 3"/>
          <p:cNvSpPr txBox="1">
            <a:spLocks noChangeArrowheads="1"/>
          </p:cNvSpPr>
          <p:nvPr/>
        </p:nvSpPr>
        <p:spPr bwMode="auto">
          <a:xfrm>
            <a:off x="228600" y="404813"/>
            <a:ext cx="212308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smtClean="0">
                <a:effectLst>
                  <a:outerShdw blurRad="38100" dist="38100" dir="2700000" algn="tl">
                    <a:srgbClr val="C0C0C0"/>
                  </a:outerShdw>
                </a:effectLst>
                <a:latin typeface="Tw Cen MT" panose="020B0602020104020603" pitchFamily="34" charset="0"/>
              </a:rPr>
              <a:t>   </a:t>
            </a:r>
            <a:r>
              <a:rPr lang="en-US" sz="3600" dirty="0">
                <a:latin typeface="Tw Cen MT" panose="020B0602020104020603" pitchFamily="34" charset="0"/>
              </a:rPr>
              <a:t>SERVICES</a:t>
            </a:r>
            <a:endParaRPr lang="en-US" sz="3600" b="0" dirty="0">
              <a:latin typeface="Tw Cen MT" panose="020B0602020104020603" pitchFamily="34" charset="0"/>
            </a:endParaRPr>
          </a:p>
          <a:p>
            <a:endParaRPr lang="en-US" dirty="0">
              <a:effectLst>
                <a:outerShdw blurRad="38100" dist="38100" dir="2700000" algn="tl">
                  <a:srgbClr val="C0C0C0"/>
                </a:outerShdw>
              </a:effectLst>
              <a:latin typeface="Tw Cen MT" panose="020B0602020104020603" pitchFamily="34" charset="0"/>
            </a:endParaRPr>
          </a:p>
        </p:txBody>
      </p:sp>
      <p:sp>
        <p:nvSpPr>
          <p:cNvPr id="945156"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imes New Roman" panose="02020603050405020304" pitchFamily="18" charset="0"/>
            </a:endParaRPr>
          </a:p>
        </p:txBody>
      </p:sp>
      <p:sp>
        <p:nvSpPr>
          <p:cNvPr id="945157" name="Rectangle 5"/>
          <p:cNvSpPr>
            <a:spLocks noChangeArrowheads="1"/>
          </p:cNvSpPr>
          <p:nvPr/>
        </p:nvSpPr>
        <p:spPr bwMode="auto">
          <a:xfrm>
            <a:off x="304800" y="1664265"/>
            <a:ext cx="8229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i="1" dirty="0">
                <a:latin typeface="Tw Cen MT" panose="020B0602020104020603" pitchFamily="34" charset="0"/>
              </a:rPr>
              <a:t>We discussed several security services  </a:t>
            </a:r>
            <a:r>
              <a:rPr lang="en-US" sz="2800" i="1" dirty="0" smtClean="0">
                <a:latin typeface="Tw Cen MT" panose="020B0602020104020603" pitchFamily="34" charset="0"/>
              </a:rPr>
              <a:t>including </a:t>
            </a:r>
            <a:r>
              <a:rPr lang="en-US" sz="2800" i="1" dirty="0">
                <a:latin typeface="Tw Cen MT" panose="020B0602020104020603" pitchFamily="34" charset="0"/>
              </a:rPr>
              <a:t>message confidentiality, message authentication, message integrity, and nonrepudiation. A digital signature can directly provide the last three; for message confidentiality we still need encryption/decryption.</a:t>
            </a:r>
          </a:p>
        </p:txBody>
      </p:sp>
      <p:sp>
        <p:nvSpPr>
          <p:cNvPr id="945158" name="Rectangle 6"/>
          <p:cNvSpPr>
            <a:spLocks noChangeArrowheads="1"/>
          </p:cNvSpPr>
          <p:nvPr/>
        </p:nvSpPr>
        <p:spPr bwMode="auto">
          <a:xfrm>
            <a:off x="152400" y="4679950"/>
            <a:ext cx="670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sz="2400" dirty="0" smtClean="0">
                <a:solidFill>
                  <a:srgbClr val="0033CC"/>
                </a:solidFill>
                <a:latin typeface="Tw Cen MT" panose="020B0602020104020603" pitchFamily="34" charset="0"/>
              </a:rPr>
              <a:t>Message Authentication</a:t>
            </a:r>
          </a:p>
          <a:p>
            <a:pPr>
              <a:buClr>
                <a:schemeClr val="tx1"/>
              </a:buClr>
              <a:buSzPct val="117000"/>
              <a:buFont typeface="Wingdings" panose="05000000000000000000" pitchFamily="2" charset="2"/>
              <a:buNone/>
            </a:pPr>
            <a:r>
              <a:rPr lang="en-US" sz="2400" dirty="0" smtClean="0">
                <a:solidFill>
                  <a:srgbClr val="0033CC"/>
                </a:solidFill>
                <a:latin typeface="Tw Cen MT" panose="020B0602020104020603" pitchFamily="34" charset="0"/>
              </a:rPr>
              <a:t>Message </a:t>
            </a:r>
            <a:r>
              <a:rPr lang="en-US" sz="2400" dirty="0">
                <a:solidFill>
                  <a:srgbClr val="0033CC"/>
                </a:solidFill>
                <a:latin typeface="Tw Cen MT" panose="020B0602020104020603" pitchFamily="34" charset="0"/>
              </a:rPr>
              <a:t>Integrity</a:t>
            </a:r>
          </a:p>
          <a:p>
            <a:pPr>
              <a:buClr>
                <a:schemeClr val="tx1"/>
              </a:buClr>
              <a:buSzPct val="117000"/>
              <a:buFont typeface="Wingdings" panose="05000000000000000000" pitchFamily="2" charset="2"/>
              <a:buNone/>
            </a:pPr>
            <a:r>
              <a:rPr lang="en-US" sz="2400" dirty="0" smtClean="0">
                <a:solidFill>
                  <a:srgbClr val="0033CC"/>
                </a:solidFill>
                <a:latin typeface="Tw Cen MT" panose="020B0602020104020603" pitchFamily="34" charset="0"/>
              </a:rPr>
              <a:t>Nonrepudiation</a:t>
            </a:r>
            <a:endParaRPr lang="en-US" sz="2400" dirty="0">
              <a:solidFill>
                <a:srgbClr val="0033CC"/>
              </a:solidFill>
              <a:latin typeface="Tw Cen MT" panose="020B0602020104020603" pitchFamily="34" charset="0"/>
            </a:endParaRPr>
          </a:p>
          <a:p>
            <a:pPr>
              <a:buClr>
                <a:schemeClr val="tx1"/>
              </a:buClr>
              <a:buSzPct val="117000"/>
              <a:buFont typeface="Wingdings" panose="05000000000000000000" pitchFamily="2" charset="2"/>
              <a:buNone/>
            </a:pPr>
            <a:r>
              <a:rPr lang="en-US" sz="2400" dirty="0" smtClean="0">
                <a:solidFill>
                  <a:srgbClr val="0033CC"/>
                </a:solidFill>
                <a:latin typeface="Tw Cen MT" panose="020B0602020104020603" pitchFamily="34" charset="0"/>
              </a:rPr>
              <a:t>Confidentiality</a:t>
            </a:r>
            <a:endParaRPr lang="en-US" sz="2400" dirty="0">
              <a:solidFill>
                <a:srgbClr val="0033CC"/>
              </a:solidFill>
              <a:latin typeface="Tw Cen MT" panose="020B0602020104020603" pitchFamily="34" charset="0"/>
            </a:endParaRPr>
          </a:p>
        </p:txBody>
      </p:sp>
      <p:sp>
        <p:nvSpPr>
          <p:cNvPr id="945159" name="Text Box 7"/>
          <p:cNvSpPr txBox="1">
            <a:spLocks noChangeArrowheads="1"/>
          </p:cNvSpPr>
          <p:nvPr/>
        </p:nvSpPr>
        <p:spPr bwMode="auto">
          <a:xfrm>
            <a:off x="304800" y="4114800"/>
            <a:ext cx="10123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i="1" u="sng" dirty="0" smtClean="0">
                <a:solidFill>
                  <a:schemeClr val="hlink"/>
                </a:solidFill>
                <a:effectLst>
                  <a:outerShdw blurRad="38100" dist="38100" dir="2700000" algn="tl">
                    <a:srgbClr val="C0C0C0"/>
                  </a:outerShdw>
                </a:effectLst>
                <a:latin typeface="Tw Cen MT" panose="020B0602020104020603" pitchFamily="34" charset="0"/>
              </a:rPr>
              <a:t>Topics</a:t>
            </a:r>
            <a:endParaRPr lang="en-US" sz="2800" i="1" u="sng" dirty="0">
              <a:solidFill>
                <a:schemeClr val="hlink"/>
              </a:solidFill>
              <a:effectLst>
                <a:outerShdw blurRad="38100" dist="38100" dir="2700000" algn="tl">
                  <a:srgbClr val="C0C0C0"/>
                </a:outerShdw>
              </a:effectLst>
              <a:latin typeface="Tw Cen MT" panose="020B0602020104020603" pitchFamily="34" charset="0"/>
            </a:endParaRPr>
          </a:p>
        </p:txBody>
      </p:sp>
    </p:spTree>
    <p:extLst>
      <p:ext uri="{BB962C8B-B14F-4D97-AF65-F5344CB8AC3E}">
        <p14:creationId xmlns:p14="http://schemas.microsoft.com/office/powerpoint/2010/main" val="69007935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
          <p:cNvSpPr>
            <a:spLocks noGrp="1"/>
          </p:cNvSpPr>
          <p:nvPr>
            <p:ph type="sldNum" sz="quarter" idx="10"/>
          </p:nvPr>
        </p:nvSpPr>
        <p:spPr/>
        <p:txBody>
          <a:bodyPr/>
          <a:lstStyle/>
          <a:p>
            <a:fld id="{EE836C49-4069-4D48-B9C9-AE0FF6D493AF}" type="slidenum">
              <a:rPr lang="en-US" smtClean="0"/>
              <a:pPr/>
              <a:t>98</a:t>
            </a:fld>
            <a:endParaRPr lang="en-US" dirty="0"/>
          </a:p>
        </p:txBody>
      </p:sp>
      <p:sp>
        <p:nvSpPr>
          <p:cNvPr id="973833" name="Rectangle 9"/>
          <p:cNvSpPr>
            <a:spLocks noChangeArrowheads="1"/>
          </p:cNvSpPr>
          <p:nvPr/>
        </p:nvSpPr>
        <p:spPr bwMode="auto">
          <a:xfrm>
            <a:off x="304800" y="1524000"/>
            <a:ext cx="8418786" cy="9541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i="1" dirty="0">
                <a:latin typeface="Tw Cen MT" panose="020B0602020104020603" pitchFamily="34" charset="0"/>
              </a:rPr>
              <a:t>A secure digital signature scheme, like a secure conventional signature can provide message authentication.</a:t>
            </a:r>
          </a:p>
        </p:txBody>
      </p:sp>
      <p:sp>
        <p:nvSpPr>
          <p:cNvPr id="973834" name="Text Box 10"/>
          <p:cNvSpPr txBox="1">
            <a:spLocks noChangeArrowheads="1"/>
          </p:cNvSpPr>
          <p:nvPr/>
        </p:nvSpPr>
        <p:spPr bwMode="auto">
          <a:xfrm>
            <a:off x="609600" y="457200"/>
            <a:ext cx="44434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smtClean="0">
                <a:solidFill>
                  <a:schemeClr val="hlink"/>
                </a:solidFill>
                <a:latin typeface="Tw Cen MT" panose="020B0602020104020603" pitchFamily="34" charset="0"/>
              </a:rPr>
              <a:t> </a:t>
            </a:r>
            <a:r>
              <a:rPr lang="en-US" sz="3600" i="1" dirty="0">
                <a:solidFill>
                  <a:schemeClr val="hlink"/>
                </a:solidFill>
                <a:latin typeface="Tw Cen MT" panose="020B0602020104020603" pitchFamily="34" charset="0"/>
              </a:rPr>
              <a:t>Message Authentication</a:t>
            </a:r>
          </a:p>
        </p:txBody>
      </p:sp>
      <p:sp>
        <p:nvSpPr>
          <p:cNvPr id="973835" name="Line 11"/>
          <p:cNvSpPr>
            <a:spLocks noChangeShapeType="1"/>
          </p:cNvSpPr>
          <p:nvPr/>
        </p:nvSpPr>
        <p:spPr bwMode="auto">
          <a:xfrm>
            <a:off x="457200" y="3505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w Cen MT" panose="020B0602020104020603" pitchFamily="34" charset="0"/>
            </a:endParaRPr>
          </a:p>
        </p:txBody>
      </p:sp>
      <p:sp>
        <p:nvSpPr>
          <p:cNvPr id="973836" name="Line 12"/>
          <p:cNvSpPr>
            <a:spLocks noChangeShapeType="1"/>
          </p:cNvSpPr>
          <p:nvPr/>
        </p:nvSpPr>
        <p:spPr bwMode="auto">
          <a:xfrm>
            <a:off x="428298" y="4114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w Cen MT" panose="020B0602020104020603" pitchFamily="34" charset="0"/>
            </a:endParaRPr>
          </a:p>
        </p:txBody>
      </p:sp>
      <p:sp>
        <p:nvSpPr>
          <p:cNvPr id="973837" name="Rectangle 13"/>
          <p:cNvSpPr>
            <a:spLocks noChangeArrowheads="1"/>
          </p:cNvSpPr>
          <p:nvPr/>
        </p:nvSpPr>
        <p:spPr bwMode="auto">
          <a:xfrm>
            <a:off x="495300" y="3554413"/>
            <a:ext cx="8077200" cy="52322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800">
                <a:latin typeface="Tw Cen MT" panose="020B0602020104020603" pitchFamily="34" charset="0"/>
              </a:rPr>
              <a:t>A digital signature provides message authentication.</a:t>
            </a:r>
          </a:p>
        </p:txBody>
      </p:sp>
    </p:spTree>
    <p:extLst>
      <p:ext uri="{BB962C8B-B14F-4D97-AF65-F5344CB8AC3E}">
        <p14:creationId xmlns:p14="http://schemas.microsoft.com/office/powerpoint/2010/main" val="59626327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
          <p:cNvSpPr>
            <a:spLocks noGrp="1"/>
          </p:cNvSpPr>
          <p:nvPr>
            <p:ph type="sldNum" sz="quarter" idx="10"/>
          </p:nvPr>
        </p:nvSpPr>
        <p:spPr/>
        <p:txBody>
          <a:bodyPr/>
          <a:lstStyle/>
          <a:p>
            <a:fld id="{E0E75893-EF60-4363-8366-0A43DF3BAC05}" type="slidenum">
              <a:rPr lang="en-US" smtClean="0"/>
              <a:pPr/>
              <a:t>99</a:t>
            </a:fld>
            <a:endParaRPr lang="en-US" dirty="0"/>
          </a:p>
        </p:txBody>
      </p:sp>
      <p:sp>
        <p:nvSpPr>
          <p:cNvPr id="975881" name="Rectangle 9"/>
          <p:cNvSpPr>
            <a:spLocks noChangeArrowheads="1"/>
          </p:cNvSpPr>
          <p:nvPr/>
        </p:nvSpPr>
        <p:spPr bwMode="auto">
          <a:xfrm>
            <a:off x="228600" y="1143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i="1">
                <a:latin typeface="Tw Cen MT" panose="020B0602020104020603" pitchFamily="34" charset="0"/>
              </a:rPr>
              <a:t>The integrity of the message is preserved even if we sign the whole message because we cannot get the same signature if the message is changed. </a:t>
            </a:r>
          </a:p>
        </p:txBody>
      </p:sp>
      <p:sp>
        <p:nvSpPr>
          <p:cNvPr id="975882" name="Text Box 10"/>
          <p:cNvSpPr txBox="1">
            <a:spLocks noChangeArrowheads="1"/>
          </p:cNvSpPr>
          <p:nvPr/>
        </p:nvSpPr>
        <p:spPr bwMode="auto">
          <a:xfrm>
            <a:off x="381000" y="533400"/>
            <a:ext cx="29955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dirty="0" smtClean="0">
                <a:solidFill>
                  <a:schemeClr val="hlink"/>
                </a:solidFill>
                <a:latin typeface="Tw Cen MT" panose="020B0602020104020603" pitchFamily="34" charset="0"/>
              </a:rPr>
              <a:t>Message </a:t>
            </a:r>
            <a:r>
              <a:rPr lang="en-US" sz="3200" i="1" dirty="0">
                <a:solidFill>
                  <a:schemeClr val="hlink"/>
                </a:solidFill>
                <a:latin typeface="Tw Cen MT" panose="020B0602020104020603" pitchFamily="34" charset="0"/>
              </a:rPr>
              <a:t>Integrity</a:t>
            </a:r>
          </a:p>
        </p:txBody>
      </p:sp>
      <p:sp>
        <p:nvSpPr>
          <p:cNvPr id="975883" name="Line 11"/>
          <p:cNvSpPr>
            <a:spLocks noChangeShapeType="1"/>
          </p:cNvSpPr>
          <p:nvPr/>
        </p:nvSpPr>
        <p:spPr bwMode="auto">
          <a:xfrm>
            <a:off x="457200"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w Cen MT" panose="020B0602020104020603" pitchFamily="34" charset="0"/>
            </a:endParaRPr>
          </a:p>
        </p:txBody>
      </p:sp>
      <p:sp>
        <p:nvSpPr>
          <p:cNvPr id="975884" name="Line 12"/>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w Cen MT" panose="020B0602020104020603" pitchFamily="34" charset="0"/>
            </a:endParaRPr>
          </a:p>
        </p:txBody>
      </p:sp>
      <p:sp>
        <p:nvSpPr>
          <p:cNvPr id="975885" name="Rectangle 13"/>
          <p:cNvSpPr>
            <a:spLocks noChangeArrowheads="1"/>
          </p:cNvSpPr>
          <p:nvPr/>
        </p:nvSpPr>
        <p:spPr bwMode="auto">
          <a:xfrm>
            <a:off x="495300" y="4316413"/>
            <a:ext cx="8077200" cy="519112"/>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800">
                <a:latin typeface="Tw Cen MT" panose="020B0602020104020603" pitchFamily="34" charset="0"/>
              </a:rPr>
              <a:t>A digital signature provides message integrity.</a:t>
            </a:r>
          </a:p>
        </p:txBody>
      </p:sp>
    </p:spTree>
    <p:extLst>
      <p:ext uri="{BB962C8B-B14F-4D97-AF65-F5344CB8AC3E}">
        <p14:creationId xmlns:p14="http://schemas.microsoft.com/office/powerpoint/2010/main" val="150115747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
          <p:cNvSpPr>
            <a:spLocks noGrp="1"/>
          </p:cNvSpPr>
          <p:nvPr>
            <p:ph type="sldNum" sz="quarter" idx="10"/>
          </p:nvPr>
        </p:nvSpPr>
        <p:spPr>
          <a:xfrm>
            <a:off x="609600" y="6418536"/>
            <a:ext cx="2133600" cy="476250"/>
          </a:xfrm>
        </p:spPr>
        <p:txBody>
          <a:bodyPr/>
          <a:lstStyle/>
          <a:p>
            <a:r>
              <a:rPr lang="en-US" dirty="0" smtClean="0">
                <a:latin typeface="Tw Cen MT" panose="020B0602020104020603" pitchFamily="34" charset="0"/>
              </a:rPr>
              <a:t>99</a:t>
            </a:r>
            <a:endParaRPr lang="en-US" dirty="0">
              <a:latin typeface="Tw Cen MT" panose="020B0602020104020603" pitchFamily="34" charset="0"/>
            </a:endParaRPr>
          </a:p>
        </p:txBody>
      </p:sp>
      <p:sp>
        <p:nvSpPr>
          <p:cNvPr id="977930" name="Text Box 10"/>
          <p:cNvSpPr txBox="1">
            <a:spLocks noChangeArrowheads="1"/>
          </p:cNvSpPr>
          <p:nvPr/>
        </p:nvSpPr>
        <p:spPr bwMode="auto">
          <a:xfrm>
            <a:off x="838200" y="304800"/>
            <a:ext cx="319792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i="1" dirty="0" smtClean="0">
                <a:solidFill>
                  <a:schemeClr val="hlink"/>
                </a:solidFill>
                <a:latin typeface="Tw Cen MT" panose="020B0602020104020603" pitchFamily="34" charset="0"/>
              </a:rPr>
              <a:t>  </a:t>
            </a:r>
            <a:r>
              <a:rPr lang="en-US" sz="3600" i="1" dirty="0">
                <a:solidFill>
                  <a:schemeClr val="hlink"/>
                </a:solidFill>
                <a:latin typeface="Tw Cen MT" panose="020B0602020104020603" pitchFamily="34" charset="0"/>
              </a:rPr>
              <a:t>Nonrepudiation</a:t>
            </a:r>
          </a:p>
        </p:txBody>
      </p:sp>
      <p:sp>
        <p:nvSpPr>
          <p:cNvPr id="977937" name="Text Box 17"/>
          <p:cNvSpPr txBox="1">
            <a:spLocks noChangeArrowheads="1"/>
          </p:cNvSpPr>
          <p:nvPr/>
        </p:nvSpPr>
        <p:spPr bwMode="auto">
          <a:xfrm>
            <a:off x="1755775" y="914400"/>
            <a:ext cx="51662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smtClean="0">
                <a:solidFill>
                  <a:schemeClr val="folHlink"/>
                </a:solidFill>
                <a:latin typeface="Tw Cen MT" panose="020B0602020104020603" pitchFamily="34" charset="0"/>
              </a:rPr>
              <a:t>Figure  </a:t>
            </a:r>
            <a:r>
              <a:rPr lang="en-US" sz="2000" i="1" dirty="0">
                <a:latin typeface="Tw Cen MT" panose="020B0602020104020603" pitchFamily="34" charset="0"/>
              </a:rPr>
              <a:t>Using a trusted center for nonrepudiation</a:t>
            </a:r>
          </a:p>
        </p:txBody>
      </p:sp>
      <p:pic>
        <p:nvPicPr>
          <p:cNvPr id="977938"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1443038"/>
            <a:ext cx="6856413" cy="3878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77939" name="Line 19"/>
          <p:cNvSpPr>
            <a:spLocks noChangeShapeType="1"/>
          </p:cNvSpPr>
          <p:nvPr/>
        </p:nvSpPr>
        <p:spPr bwMode="auto">
          <a:xfrm>
            <a:off x="457200" y="5562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w Cen MT" panose="020B0602020104020603" pitchFamily="34" charset="0"/>
            </a:endParaRPr>
          </a:p>
        </p:txBody>
      </p:sp>
      <p:sp>
        <p:nvSpPr>
          <p:cNvPr id="977940" name="Line 20"/>
          <p:cNvSpPr>
            <a:spLocks noChangeShapeType="1"/>
          </p:cNvSpPr>
          <p:nvPr/>
        </p:nvSpPr>
        <p:spPr bwMode="auto">
          <a:xfrm>
            <a:off x="457200" y="6156434"/>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w Cen MT" panose="020B0602020104020603" pitchFamily="34" charset="0"/>
            </a:endParaRPr>
          </a:p>
        </p:txBody>
      </p:sp>
      <p:sp>
        <p:nvSpPr>
          <p:cNvPr id="977941" name="Rectangle 21"/>
          <p:cNvSpPr>
            <a:spLocks noChangeArrowheads="1"/>
          </p:cNvSpPr>
          <p:nvPr/>
        </p:nvSpPr>
        <p:spPr bwMode="auto">
          <a:xfrm>
            <a:off x="495300" y="5611813"/>
            <a:ext cx="8077200" cy="52322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800">
                <a:latin typeface="Tw Cen MT" panose="020B0602020104020603" pitchFamily="34" charset="0"/>
              </a:rPr>
              <a:t>Nonrepudiation can be provided using a trusted party.</a:t>
            </a:r>
          </a:p>
        </p:txBody>
      </p:sp>
    </p:spTree>
    <p:extLst>
      <p:ext uri="{BB962C8B-B14F-4D97-AF65-F5344CB8AC3E}">
        <p14:creationId xmlns:p14="http://schemas.microsoft.com/office/powerpoint/2010/main" val="235258651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
          <p:cNvSpPr>
            <a:spLocks noGrp="1"/>
          </p:cNvSpPr>
          <p:nvPr>
            <p:ph type="sldNum" sz="quarter" idx="10"/>
          </p:nvPr>
        </p:nvSpPr>
        <p:spPr>
          <a:xfrm>
            <a:off x="762000" y="6248400"/>
            <a:ext cx="2133600" cy="476250"/>
          </a:xfrm>
        </p:spPr>
        <p:txBody>
          <a:bodyPr/>
          <a:lstStyle/>
          <a:p>
            <a:fld id="{0C3908CE-27B7-4DF1-BD6F-6C08FD7F2659}" type="slidenum">
              <a:rPr lang="en-US" smtClean="0">
                <a:latin typeface="Tw Cen MT" panose="020B0602020104020603" pitchFamily="34" charset="0"/>
              </a:rPr>
              <a:pPr/>
              <a:t>101</a:t>
            </a:fld>
            <a:endParaRPr lang="en-US" dirty="0">
              <a:latin typeface="Tw Cen MT" panose="020B0602020104020603" pitchFamily="34" charset="0"/>
            </a:endParaRPr>
          </a:p>
        </p:txBody>
      </p:sp>
      <p:sp>
        <p:nvSpPr>
          <p:cNvPr id="979978" name="Text Box 10"/>
          <p:cNvSpPr txBox="1">
            <a:spLocks noChangeArrowheads="1"/>
          </p:cNvSpPr>
          <p:nvPr/>
        </p:nvSpPr>
        <p:spPr bwMode="auto">
          <a:xfrm>
            <a:off x="685800" y="152400"/>
            <a:ext cx="28360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smtClean="0">
                <a:solidFill>
                  <a:schemeClr val="hlink"/>
                </a:solidFill>
                <a:latin typeface="Tw Cen MT" panose="020B0602020104020603" pitchFamily="34" charset="0"/>
              </a:rPr>
              <a:t> </a:t>
            </a:r>
            <a:r>
              <a:rPr lang="en-US" sz="3600" i="1" dirty="0">
                <a:solidFill>
                  <a:schemeClr val="hlink"/>
                </a:solidFill>
                <a:latin typeface="Tw Cen MT" panose="020B0602020104020603" pitchFamily="34" charset="0"/>
              </a:rPr>
              <a:t>Confidentiality</a:t>
            </a:r>
          </a:p>
        </p:txBody>
      </p:sp>
      <p:sp>
        <p:nvSpPr>
          <p:cNvPr id="979979" name="Line 11"/>
          <p:cNvSpPr>
            <a:spLocks noChangeShapeType="1"/>
          </p:cNvSpPr>
          <p:nvPr/>
        </p:nvSpPr>
        <p:spPr bwMode="auto">
          <a:xfrm>
            <a:off x="609600" y="4572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w Cen MT" panose="020B0602020104020603" pitchFamily="34" charset="0"/>
            </a:endParaRPr>
          </a:p>
        </p:txBody>
      </p:sp>
      <p:sp>
        <p:nvSpPr>
          <p:cNvPr id="979980" name="Line 12"/>
          <p:cNvSpPr>
            <a:spLocks noChangeShapeType="1"/>
          </p:cNvSpPr>
          <p:nvPr/>
        </p:nvSpPr>
        <p:spPr bwMode="auto">
          <a:xfrm>
            <a:off x="611188" y="6019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w Cen MT" panose="020B0602020104020603" pitchFamily="34" charset="0"/>
            </a:endParaRPr>
          </a:p>
        </p:txBody>
      </p:sp>
      <p:sp>
        <p:nvSpPr>
          <p:cNvPr id="979981" name="Rectangle 13"/>
          <p:cNvSpPr>
            <a:spLocks noChangeArrowheads="1"/>
          </p:cNvSpPr>
          <p:nvPr/>
        </p:nvSpPr>
        <p:spPr bwMode="auto">
          <a:xfrm>
            <a:off x="647700" y="4621213"/>
            <a:ext cx="8077200" cy="1373187"/>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800">
                <a:latin typeface="Tw Cen MT" panose="020B0602020104020603" pitchFamily="34" charset="0"/>
              </a:rPr>
              <a:t>A digital signature does not provide privacy.</a:t>
            </a:r>
          </a:p>
          <a:p>
            <a:pPr algn="ctr"/>
            <a:r>
              <a:rPr lang="en-US" sz="2800">
                <a:latin typeface="Tw Cen MT" panose="020B0602020104020603" pitchFamily="34" charset="0"/>
              </a:rPr>
              <a:t>If there is a need for privacy, another layer of encryption/decryption must be applied.</a:t>
            </a:r>
          </a:p>
        </p:txBody>
      </p:sp>
      <p:sp>
        <p:nvSpPr>
          <p:cNvPr id="979985" name="Text Box 17"/>
          <p:cNvSpPr txBox="1">
            <a:spLocks noChangeArrowheads="1"/>
          </p:cNvSpPr>
          <p:nvPr/>
        </p:nvSpPr>
        <p:spPr bwMode="auto">
          <a:xfrm>
            <a:off x="762000" y="914400"/>
            <a:ext cx="65262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anose="020B0602020104020603" pitchFamily="34" charset="0"/>
              </a:rPr>
              <a:t>Figure </a:t>
            </a:r>
            <a:r>
              <a:rPr lang="en-US" sz="2400" dirty="0" smtClean="0">
                <a:solidFill>
                  <a:schemeClr val="folHlink"/>
                </a:solidFill>
                <a:latin typeface="Tw Cen MT" panose="020B0602020104020603" pitchFamily="34" charset="0"/>
              </a:rPr>
              <a:t>  </a:t>
            </a:r>
            <a:r>
              <a:rPr lang="en-US" sz="2000" i="1" dirty="0">
                <a:latin typeface="Tw Cen MT" panose="020B0602020104020603" pitchFamily="34" charset="0"/>
              </a:rPr>
              <a:t>Adding confidentiality to a digital signature scheme</a:t>
            </a:r>
          </a:p>
        </p:txBody>
      </p:sp>
      <p:pic>
        <p:nvPicPr>
          <p:cNvPr id="979986"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371600"/>
            <a:ext cx="6499225" cy="305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183539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fld id="{2BFD6610-5BFA-4F61-954A-7675DEF3A368}" type="slidenum">
              <a:rPr lang="en-US" smtClean="0"/>
              <a:pPr/>
              <a:t>102</a:t>
            </a:fld>
            <a:endParaRPr lang="en-US" dirty="0"/>
          </a:p>
        </p:txBody>
      </p:sp>
      <p:sp>
        <p:nvSpPr>
          <p:cNvPr id="94925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effectLst>
                <a:outerShdw blurRad="38100" dist="38100" dir="2700000" algn="tl">
                  <a:srgbClr val="FFFFFF"/>
                </a:outerShdw>
              </a:effectLst>
              <a:latin typeface="Tw Cen MT" panose="020B0602020104020603" pitchFamily="34" charset="0"/>
            </a:endParaRPr>
          </a:p>
        </p:txBody>
      </p:sp>
      <p:sp>
        <p:nvSpPr>
          <p:cNvPr id="949251" name="Text Box 3"/>
          <p:cNvSpPr txBox="1">
            <a:spLocks noChangeArrowheads="1"/>
          </p:cNvSpPr>
          <p:nvPr/>
        </p:nvSpPr>
        <p:spPr bwMode="auto">
          <a:xfrm>
            <a:off x="228600" y="404813"/>
            <a:ext cx="4803494"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smtClean="0">
                <a:effectLst>
                  <a:outerShdw blurRad="38100" dist="38100" dir="2700000" algn="tl">
                    <a:srgbClr val="C0C0C0"/>
                  </a:outerShdw>
                </a:effectLst>
                <a:latin typeface="Tw Cen MT" panose="020B0602020104020603" pitchFamily="34" charset="0"/>
              </a:rPr>
              <a:t>  </a:t>
            </a:r>
            <a:r>
              <a:rPr lang="en-US" sz="2800" dirty="0">
                <a:latin typeface="Tw Cen MT" panose="020B0602020104020603" pitchFamily="34" charset="0"/>
              </a:rPr>
              <a:t>DIGITAL SIGNATURE SCHEMES</a:t>
            </a:r>
            <a:endParaRPr lang="en-US" sz="2800" b="0" dirty="0">
              <a:latin typeface="Tw Cen MT" panose="020B0602020104020603" pitchFamily="34" charset="0"/>
            </a:endParaRPr>
          </a:p>
          <a:p>
            <a:endParaRPr lang="en-US" dirty="0">
              <a:effectLst>
                <a:outerShdw blurRad="38100" dist="38100" dir="2700000" algn="tl">
                  <a:srgbClr val="C0C0C0"/>
                </a:outerShdw>
              </a:effectLst>
              <a:latin typeface="Tw Cen MT" panose="020B0602020104020603" pitchFamily="34" charset="0"/>
            </a:endParaRPr>
          </a:p>
        </p:txBody>
      </p:sp>
      <p:sp>
        <p:nvSpPr>
          <p:cNvPr id="949252"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imes New Roman" pitchFamily="18" charset="0"/>
            </a:endParaRPr>
          </a:p>
        </p:txBody>
      </p:sp>
      <p:sp>
        <p:nvSpPr>
          <p:cNvPr id="949253" name="Rectangle 5"/>
          <p:cNvSpPr>
            <a:spLocks noChangeArrowheads="1"/>
          </p:cNvSpPr>
          <p:nvPr/>
        </p:nvSpPr>
        <p:spPr bwMode="auto">
          <a:xfrm>
            <a:off x="152400" y="1518096"/>
            <a:ext cx="82296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dirty="0">
                <a:latin typeface="Tw Cen MT" panose="020B0602020104020603" pitchFamily="34" charset="0"/>
              </a:rPr>
              <a:t>Several digital signature schemes have evolved during the last few decades. Some of them have been implemented. </a:t>
            </a:r>
          </a:p>
        </p:txBody>
      </p:sp>
      <p:sp>
        <p:nvSpPr>
          <p:cNvPr id="949254" name="Rectangle 6"/>
          <p:cNvSpPr>
            <a:spLocks noChangeArrowheads="1"/>
          </p:cNvSpPr>
          <p:nvPr/>
        </p:nvSpPr>
        <p:spPr bwMode="auto">
          <a:xfrm>
            <a:off x="646199" y="4038600"/>
            <a:ext cx="670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tx1"/>
              </a:buClr>
              <a:buSzPct val="117000"/>
              <a:buFont typeface="+mj-lt"/>
              <a:buAutoNum type="arabicPeriod"/>
            </a:pPr>
            <a:r>
              <a:rPr lang="en-US" sz="2400" dirty="0" smtClean="0">
                <a:solidFill>
                  <a:srgbClr val="0033CC"/>
                </a:solidFill>
                <a:latin typeface="Tw Cen MT" panose="020B0602020104020603" pitchFamily="34" charset="0"/>
              </a:rPr>
              <a:t>RSA </a:t>
            </a:r>
            <a:r>
              <a:rPr lang="en-US" sz="2400" dirty="0">
                <a:solidFill>
                  <a:srgbClr val="0033CC"/>
                </a:solidFill>
                <a:latin typeface="Tw Cen MT" panose="020B0602020104020603" pitchFamily="34" charset="0"/>
              </a:rPr>
              <a:t>Digital Signature Scheme</a:t>
            </a:r>
          </a:p>
          <a:p>
            <a:pPr marL="457200" indent="-457200">
              <a:buClr>
                <a:schemeClr val="tx1"/>
              </a:buClr>
              <a:buSzPct val="117000"/>
              <a:buFont typeface="+mj-lt"/>
              <a:buAutoNum type="arabicPeriod"/>
            </a:pPr>
            <a:r>
              <a:rPr lang="en-US" sz="2400" dirty="0" err="1" smtClean="0">
                <a:solidFill>
                  <a:srgbClr val="0033CC"/>
                </a:solidFill>
                <a:latin typeface="Tw Cen MT" panose="020B0602020104020603" pitchFamily="34" charset="0"/>
              </a:rPr>
              <a:t>ElGamal</a:t>
            </a:r>
            <a:r>
              <a:rPr lang="en-US" sz="2400" dirty="0" smtClean="0">
                <a:solidFill>
                  <a:srgbClr val="0033CC"/>
                </a:solidFill>
                <a:latin typeface="Tw Cen MT" panose="020B0602020104020603" pitchFamily="34" charset="0"/>
              </a:rPr>
              <a:t> </a:t>
            </a:r>
            <a:r>
              <a:rPr lang="en-US" sz="2400" dirty="0">
                <a:solidFill>
                  <a:srgbClr val="0033CC"/>
                </a:solidFill>
                <a:latin typeface="Tw Cen MT" panose="020B0602020104020603" pitchFamily="34" charset="0"/>
              </a:rPr>
              <a:t>Digital Signature Scheme</a:t>
            </a:r>
          </a:p>
          <a:p>
            <a:pPr marL="457200" indent="-457200">
              <a:buClr>
                <a:schemeClr val="tx1"/>
              </a:buClr>
              <a:buSzPct val="117000"/>
              <a:buFont typeface="+mj-lt"/>
              <a:buAutoNum type="arabicPeriod"/>
            </a:pPr>
            <a:r>
              <a:rPr lang="en-US" sz="2400" dirty="0" err="1" smtClean="0">
                <a:solidFill>
                  <a:srgbClr val="0033CC"/>
                </a:solidFill>
                <a:latin typeface="Tw Cen MT" panose="020B0602020104020603" pitchFamily="34" charset="0"/>
              </a:rPr>
              <a:t>Schnorr</a:t>
            </a:r>
            <a:r>
              <a:rPr lang="en-US" sz="2400" dirty="0" smtClean="0">
                <a:solidFill>
                  <a:srgbClr val="0033CC"/>
                </a:solidFill>
                <a:latin typeface="Tw Cen MT" panose="020B0602020104020603" pitchFamily="34" charset="0"/>
              </a:rPr>
              <a:t> </a:t>
            </a:r>
            <a:r>
              <a:rPr lang="en-US" sz="2400" dirty="0">
                <a:solidFill>
                  <a:srgbClr val="0033CC"/>
                </a:solidFill>
                <a:latin typeface="Tw Cen MT" panose="020B0602020104020603" pitchFamily="34" charset="0"/>
              </a:rPr>
              <a:t>Digital Signature Scheme</a:t>
            </a:r>
          </a:p>
          <a:p>
            <a:pPr marL="457200" indent="-457200">
              <a:buClr>
                <a:schemeClr val="tx1"/>
              </a:buClr>
              <a:buSzPct val="117000"/>
              <a:buFont typeface="+mj-lt"/>
              <a:buAutoNum type="arabicPeriod"/>
            </a:pPr>
            <a:r>
              <a:rPr lang="en-US" sz="2400" dirty="0" smtClean="0">
                <a:solidFill>
                  <a:srgbClr val="0033CC"/>
                </a:solidFill>
                <a:latin typeface="Tw Cen MT" panose="020B0602020104020603" pitchFamily="34" charset="0"/>
              </a:rPr>
              <a:t>Digital </a:t>
            </a:r>
            <a:r>
              <a:rPr lang="en-US" sz="2400" dirty="0">
                <a:solidFill>
                  <a:srgbClr val="0033CC"/>
                </a:solidFill>
                <a:latin typeface="Tw Cen MT" panose="020B0602020104020603" pitchFamily="34" charset="0"/>
              </a:rPr>
              <a:t>Signature Standard (DSS</a:t>
            </a:r>
            <a:r>
              <a:rPr lang="en-US" sz="2400" dirty="0" smtClean="0">
                <a:solidFill>
                  <a:srgbClr val="0033CC"/>
                </a:solidFill>
                <a:latin typeface="Tw Cen MT" panose="020B0602020104020603" pitchFamily="34" charset="0"/>
              </a:rPr>
              <a:t>)</a:t>
            </a:r>
            <a:endParaRPr lang="en-US" sz="2400" dirty="0">
              <a:solidFill>
                <a:srgbClr val="0033CC"/>
              </a:solidFill>
              <a:latin typeface="Tw Cen MT" panose="020B0602020104020603" pitchFamily="34" charset="0"/>
            </a:endParaRPr>
          </a:p>
        </p:txBody>
      </p:sp>
      <p:sp>
        <p:nvSpPr>
          <p:cNvPr id="949255" name="Text Box 7"/>
          <p:cNvSpPr txBox="1">
            <a:spLocks noChangeArrowheads="1"/>
          </p:cNvSpPr>
          <p:nvPr/>
        </p:nvSpPr>
        <p:spPr bwMode="auto">
          <a:xfrm>
            <a:off x="609600" y="3276600"/>
            <a:ext cx="11273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u="sng" dirty="0">
                <a:solidFill>
                  <a:schemeClr val="hlink"/>
                </a:solidFill>
                <a:latin typeface="Tw Cen MT" panose="020B0602020104020603" pitchFamily="34" charset="0"/>
              </a:rPr>
              <a:t>Topics </a:t>
            </a:r>
          </a:p>
        </p:txBody>
      </p:sp>
    </p:spTree>
    <p:extLst>
      <p:ext uri="{BB962C8B-B14F-4D97-AF65-F5344CB8AC3E}">
        <p14:creationId xmlns:p14="http://schemas.microsoft.com/office/powerpoint/2010/main" val="36899250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10"/>
          </p:nvPr>
        </p:nvSpPr>
        <p:spPr/>
        <p:txBody>
          <a:bodyPr/>
          <a:lstStyle/>
          <a:p>
            <a:fld id="{B35BC025-DD1A-43C4-A3AF-87F99DBE8985}" type="slidenum">
              <a:rPr lang="en-US" smtClean="0"/>
              <a:pPr/>
              <a:t>103</a:t>
            </a:fld>
            <a:endParaRPr lang="en-US" dirty="0"/>
          </a:p>
        </p:txBody>
      </p:sp>
      <p:sp>
        <p:nvSpPr>
          <p:cNvPr id="986122" name="Text Box 10"/>
          <p:cNvSpPr txBox="1">
            <a:spLocks noChangeArrowheads="1"/>
          </p:cNvSpPr>
          <p:nvPr/>
        </p:nvSpPr>
        <p:spPr bwMode="auto">
          <a:xfrm>
            <a:off x="762000" y="533400"/>
            <a:ext cx="52954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dirty="0" smtClean="0">
                <a:solidFill>
                  <a:schemeClr val="hlink"/>
                </a:solidFill>
                <a:latin typeface="Tw Cen MT" panose="020B0602020104020603" pitchFamily="34" charset="0"/>
              </a:rPr>
              <a:t>  </a:t>
            </a:r>
            <a:r>
              <a:rPr lang="en-US" sz="3200" dirty="0">
                <a:solidFill>
                  <a:schemeClr val="hlink"/>
                </a:solidFill>
                <a:latin typeface="Tw Cen MT" panose="020B0602020104020603" pitchFamily="34" charset="0"/>
              </a:rPr>
              <a:t>RSA Digital Signature Scheme</a:t>
            </a:r>
          </a:p>
        </p:txBody>
      </p:sp>
      <p:sp>
        <p:nvSpPr>
          <p:cNvPr id="986123" name="Rectangle 11"/>
          <p:cNvSpPr>
            <a:spLocks noChangeArrowheads="1"/>
          </p:cNvSpPr>
          <p:nvPr/>
        </p:nvSpPr>
        <p:spPr bwMode="auto">
          <a:xfrm>
            <a:off x="228600" y="11430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endParaRPr lang="en-US" sz="2800">
              <a:latin typeface="Tw Cen MT" panose="020B0602020104020603" pitchFamily="34" charset="0"/>
            </a:endParaRPr>
          </a:p>
        </p:txBody>
      </p:sp>
      <p:sp>
        <p:nvSpPr>
          <p:cNvPr id="986124" name="Text Box 12"/>
          <p:cNvSpPr txBox="1">
            <a:spLocks noChangeArrowheads="1"/>
          </p:cNvSpPr>
          <p:nvPr/>
        </p:nvSpPr>
        <p:spPr bwMode="auto">
          <a:xfrm>
            <a:off x="606425" y="1676400"/>
            <a:ext cx="66605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anose="020B0602020104020603" pitchFamily="34" charset="0"/>
              </a:rPr>
              <a:t>Figure </a:t>
            </a:r>
            <a:r>
              <a:rPr lang="en-US" sz="2400" dirty="0" smtClean="0">
                <a:solidFill>
                  <a:schemeClr val="folHlink"/>
                </a:solidFill>
                <a:latin typeface="Tw Cen MT" panose="020B0602020104020603" pitchFamily="34" charset="0"/>
              </a:rPr>
              <a:t> </a:t>
            </a:r>
            <a:r>
              <a:rPr lang="en-US" sz="2000" dirty="0">
                <a:latin typeface="Tw Cen MT" panose="020B0602020104020603" pitchFamily="34" charset="0"/>
              </a:rPr>
              <a:t>General idea behind the RSA digital signature scheme</a:t>
            </a:r>
          </a:p>
        </p:txBody>
      </p:sp>
      <p:pic>
        <p:nvPicPr>
          <p:cNvPr id="98612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525" y="2773363"/>
            <a:ext cx="8372475" cy="256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961344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10"/>
          </p:nvPr>
        </p:nvSpPr>
        <p:spPr/>
        <p:txBody>
          <a:bodyPr/>
          <a:lstStyle/>
          <a:p>
            <a:fld id="{6D87D1E5-2248-4550-BA3E-891EA3BEA5AE}" type="slidenum">
              <a:rPr lang="en-US" smtClean="0"/>
              <a:pPr/>
              <a:t>104</a:t>
            </a:fld>
            <a:endParaRPr lang="en-US" dirty="0"/>
          </a:p>
        </p:txBody>
      </p:sp>
      <p:sp>
        <p:nvSpPr>
          <p:cNvPr id="1061897" name="Rectangle 9"/>
          <p:cNvSpPr>
            <a:spLocks noChangeArrowheads="1"/>
          </p:cNvSpPr>
          <p:nvPr/>
        </p:nvSpPr>
        <p:spPr bwMode="auto">
          <a:xfrm>
            <a:off x="228600" y="9906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anose="020B0602020104020603" pitchFamily="34" charset="0"/>
              </a:rPr>
              <a:t>Signing and </a:t>
            </a:r>
            <a:r>
              <a:rPr lang="en-US" sz="2800" dirty="0" smtClean="0">
                <a:solidFill>
                  <a:schemeClr val="folHlink"/>
                </a:solidFill>
                <a:latin typeface="Tw Cen MT" panose="020B0602020104020603" pitchFamily="34" charset="0"/>
              </a:rPr>
              <a:t>with Message digest</a:t>
            </a:r>
            <a:endParaRPr lang="en-US" sz="2800" dirty="0">
              <a:latin typeface="Tw Cen MT" panose="020B0602020104020603" pitchFamily="34" charset="0"/>
            </a:endParaRPr>
          </a:p>
        </p:txBody>
      </p:sp>
      <p:sp>
        <p:nvSpPr>
          <p:cNvPr id="1061898" name="Text Box 10"/>
          <p:cNvSpPr txBox="1">
            <a:spLocks noChangeArrowheads="1"/>
          </p:cNvSpPr>
          <p:nvPr/>
        </p:nvSpPr>
        <p:spPr bwMode="auto">
          <a:xfrm>
            <a:off x="762000" y="152400"/>
            <a:ext cx="18085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1" dirty="0" smtClean="0">
                <a:latin typeface="Tw Cen MT" panose="020B0602020104020603" pitchFamily="34" charset="0"/>
              </a:rPr>
              <a:t>Continued</a:t>
            </a:r>
            <a:endParaRPr lang="en-US" sz="3200" i="1" dirty="0">
              <a:latin typeface="Tw Cen MT" panose="020B0602020104020603" pitchFamily="34" charset="0"/>
            </a:endParaRPr>
          </a:p>
        </p:txBody>
      </p:sp>
      <p:pic>
        <p:nvPicPr>
          <p:cNvPr id="1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48" y="2286000"/>
            <a:ext cx="8977312" cy="333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536491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10"/>
          </p:nvPr>
        </p:nvSpPr>
        <p:spPr/>
        <p:txBody>
          <a:bodyPr/>
          <a:lstStyle/>
          <a:p>
            <a:fld id="{6D87D1E5-2248-4550-BA3E-891EA3BEA5AE}" type="slidenum">
              <a:rPr lang="en-US" smtClean="0"/>
              <a:pPr/>
              <a:t>105</a:t>
            </a:fld>
            <a:endParaRPr lang="en-US" dirty="0"/>
          </a:p>
        </p:txBody>
      </p:sp>
      <p:sp>
        <p:nvSpPr>
          <p:cNvPr id="1061897" name="Rectangle 9"/>
          <p:cNvSpPr>
            <a:spLocks noChangeArrowheads="1"/>
          </p:cNvSpPr>
          <p:nvPr/>
        </p:nvSpPr>
        <p:spPr bwMode="auto">
          <a:xfrm>
            <a:off x="228600" y="9906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err="1" smtClean="0">
                <a:solidFill>
                  <a:srgbClr val="92D050"/>
                </a:solidFill>
                <a:latin typeface="Tw Cen MT" panose="020B0602020104020603" pitchFamily="34" charset="0"/>
              </a:rPr>
              <a:t>ElGamal</a:t>
            </a:r>
            <a:r>
              <a:rPr lang="en-US" sz="2800" dirty="0" smtClean="0">
                <a:solidFill>
                  <a:srgbClr val="92D050"/>
                </a:solidFill>
                <a:latin typeface="Tw Cen MT" panose="020B0602020104020603" pitchFamily="34" charset="0"/>
              </a:rPr>
              <a:t> signature Scheme</a:t>
            </a:r>
            <a:endParaRPr lang="en-US" sz="2800" dirty="0">
              <a:solidFill>
                <a:srgbClr val="92D050"/>
              </a:solidFill>
              <a:latin typeface="Tw Cen MT" panose="020B0602020104020603" pitchFamily="34" charset="0"/>
            </a:endParaRPr>
          </a:p>
        </p:txBody>
      </p:sp>
      <p:sp>
        <p:nvSpPr>
          <p:cNvPr id="1061898" name="Text Box 10"/>
          <p:cNvSpPr txBox="1">
            <a:spLocks noChangeArrowheads="1"/>
          </p:cNvSpPr>
          <p:nvPr/>
        </p:nvSpPr>
        <p:spPr bwMode="auto">
          <a:xfrm>
            <a:off x="533400" y="304800"/>
            <a:ext cx="20120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dirty="0" smtClean="0">
                <a:latin typeface="Tw Cen MT" panose="020B0602020104020603" pitchFamily="34" charset="0"/>
              </a:rPr>
              <a:t>Continued</a:t>
            </a:r>
            <a:endParaRPr lang="en-US" sz="3600" dirty="0">
              <a:latin typeface="Tw Cen MT" panose="020B0602020104020603" pitchFamily="34" charset="0"/>
            </a:endParaRPr>
          </a:p>
        </p:txBody>
      </p:sp>
      <p:pic>
        <p:nvPicPr>
          <p:cNvPr id="1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81200"/>
            <a:ext cx="8272901" cy="328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635133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10"/>
          </p:nvPr>
        </p:nvSpPr>
        <p:spPr/>
        <p:txBody>
          <a:bodyPr/>
          <a:lstStyle/>
          <a:p>
            <a:fld id="{6D87D1E5-2248-4550-BA3E-891EA3BEA5AE}" type="slidenum">
              <a:rPr lang="en-US" smtClean="0"/>
              <a:pPr/>
              <a:t>106</a:t>
            </a:fld>
            <a:endParaRPr lang="en-US" dirty="0"/>
          </a:p>
        </p:txBody>
      </p:sp>
      <p:sp>
        <p:nvSpPr>
          <p:cNvPr id="1061897" name="Rectangle 9"/>
          <p:cNvSpPr>
            <a:spLocks noChangeArrowheads="1"/>
          </p:cNvSpPr>
          <p:nvPr/>
        </p:nvSpPr>
        <p:spPr bwMode="auto">
          <a:xfrm>
            <a:off x="228600" y="9906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err="1" smtClean="0">
                <a:solidFill>
                  <a:srgbClr val="92D050"/>
                </a:solidFill>
                <a:latin typeface="Tw Cen MT" pitchFamily="34" charset="0"/>
              </a:rPr>
              <a:t>ElGamal</a:t>
            </a:r>
            <a:r>
              <a:rPr lang="en-US" sz="2800" dirty="0" smtClean="0">
                <a:solidFill>
                  <a:srgbClr val="92D050"/>
                </a:solidFill>
                <a:latin typeface="Tw Cen MT" pitchFamily="34" charset="0"/>
              </a:rPr>
              <a:t> signature Scheme</a:t>
            </a:r>
            <a:endParaRPr lang="en-US" sz="2800" dirty="0">
              <a:solidFill>
                <a:srgbClr val="92D050"/>
              </a:solidFill>
              <a:latin typeface="Tw Cen MT" pitchFamily="34" charset="0"/>
            </a:endParaRPr>
          </a:p>
        </p:txBody>
      </p:sp>
      <p:sp>
        <p:nvSpPr>
          <p:cNvPr id="1061898" name="Text Box 10"/>
          <p:cNvSpPr txBox="1">
            <a:spLocks noChangeArrowheads="1"/>
          </p:cNvSpPr>
          <p:nvPr/>
        </p:nvSpPr>
        <p:spPr bwMode="auto">
          <a:xfrm>
            <a:off x="457200" y="228600"/>
            <a:ext cx="15648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i="1" dirty="0" smtClean="0">
                <a:latin typeface="Tw Cen MT" pitchFamily="34" charset="0"/>
              </a:rPr>
              <a:t>Continued</a:t>
            </a:r>
            <a:endParaRPr lang="en-US" sz="2800" i="1" dirty="0">
              <a:latin typeface="Tw Cen MT" pitchFamily="34" charset="0"/>
            </a:endParaRPr>
          </a:p>
        </p:txBody>
      </p:sp>
      <p:pic>
        <p:nvPicPr>
          <p:cNvPr id="1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324" y="1904999"/>
            <a:ext cx="8629650" cy="401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083669"/>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fld id="{21A21792-15A9-490C-9E9B-97ED5DC5B2D6}" type="slidenum">
              <a:rPr lang="en-US" smtClean="0"/>
              <a:pPr/>
              <a:t>107</a:t>
            </a:fld>
            <a:endParaRPr lang="en-US" dirty="0"/>
          </a:p>
        </p:txBody>
      </p:sp>
      <p:sp>
        <p:nvSpPr>
          <p:cNvPr id="990218" name="Text Box 10"/>
          <p:cNvSpPr txBox="1">
            <a:spLocks noChangeArrowheads="1"/>
          </p:cNvSpPr>
          <p:nvPr/>
        </p:nvSpPr>
        <p:spPr bwMode="auto">
          <a:xfrm>
            <a:off x="533400" y="381000"/>
            <a:ext cx="62188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smtClean="0">
                <a:solidFill>
                  <a:schemeClr val="hlink"/>
                </a:solidFill>
                <a:latin typeface="Times New Roman" pitchFamily="18" charset="0"/>
              </a:rPr>
              <a:t> </a:t>
            </a:r>
            <a:r>
              <a:rPr lang="en-US" sz="3600" i="1" dirty="0" err="1">
                <a:solidFill>
                  <a:schemeClr val="hlink"/>
                </a:solidFill>
                <a:latin typeface="Tw Cen MT" panose="020B0602020104020603" pitchFamily="34" charset="0"/>
              </a:rPr>
              <a:t>Schnorr</a:t>
            </a:r>
            <a:r>
              <a:rPr lang="en-US" sz="3600" i="1" dirty="0">
                <a:solidFill>
                  <a:schemeClr val="hlink"/>
                </a:solidFill>
                <a:latin typeface="Tw Cen MT" panose="020B0602020104020603" pitchFamily="34" charset="0"/>
              </a:rPr>
              <a:t> Digital Signature Scheme</a:t>
            </a:r>
          </a:p>
        </p:txBody>
      </p:sp>
      <p:sp>
        <p:nvSpPr>
          <p:cNvPr id="990219" name="Text Box 11"/>
          <p:cNvSpPr txBox="1">
            <a:spLocks noChangeArrowheads="1"/>
          </p:cNvSpPr>
          <p:nvPr/>
        </p:nvSpPr>
        <p:spPr bwMode="auto">
          <a:xfrm>
            <a:off x="457200" y="1295400"/>
            <a:ext cx="722678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imes New Roman" pitchFamily="18" charset="0"/>
              </a:rPr>
              <a:t>Figure </a:t>
            </a:r>
            <a:r>
              <a:rPr lang="en-US" sz="2400" dirty="0" smtClean="0">
                <a:solidFill>
                  <a:schemeClr val="folHlink"/>
                </a:solidFill>
                <a:latin typeface="Times New Roman" pitchFamily="18" charset="0"/>
              </a:rPr>
              <a:t>  </a:t>
            </a:r>
            <a:r>
              <a:rPr lang="en-US" sz="2000" i="1" dirty="0">
                <a:latin typeface="Times New Roman" pitchFamily="18" charset="0"/>
              </a:rPr>
              <a:t>General idea behind the </a:t>
            </a:r>
            <a:r>
              <a:rPr lang="en-US" sz="2000" i="1" dirty="0" err="1">
                <a:latin typeface="Times New Roman" pitchFamily="18" charset="0"/>
              </a:rPr>
              <a:t>Schnorr</a:t>
            </a:r>
            <a:r>
              <a:rPr lang="en-US" sz="2000" i="1" dirty="0">
                <a:latin typeface="Times New Roman" pitchFamily="18" charset="0"/>
              </a:rPr>
              <a:t> digital signature </a:t>
            </a:r>
            <a:r>
              <a:rPr lang="en-US" sz="2000" i="1" dirty="0" smtClean="0">
                <a:latin typeface="Times New Roman" pitchFamily="18" charset="0"/>
              </a:rPr>
              <a:t>scheme.</a:t>
            </a:r>
          </a:p>
          <a:p>
            <a:pPr algn="ctr"/>
            <a:r>
              <a:rPr lang="en-US" sz="2000" i="1" dirty="0" smtClean="0">
                <a:solidFill>
                  <a:srgbClr val="FF0000"/>
                </a:solidFill>
                <a:latin typeface="Times New Roman" pitchFamily="18" charset="0"/>
              </a:rPr>
              <a:t>Based on </a:t>
            </a:r>
            <a:r>
              <a:rPr lang="en-US" sz="2000" i="1" dirty="0" err="1" smtClean="0">
                <a:solidFill>
                  <a:srgbClr val="FF0000"/>
                </a:solidFill>
                <a:latin typeface="Times New Roman" pitchFamily="18" charset="0"/>
              </a:rPr>
              <a:t>ElGamal</a:t>
            </a:r>
            <a:r>
              <a:rPr lang="en-US" sz="2000" i="1" dirty="0" smtClean="0">
                <a:solidFill>
                  <a:srgbClr val="FF0000"/>
                </a:solidFill>
                <a:latin typeface="Times New Roman" pitchFamily="18" charset="0"/>
              </a:rPr>
              <a:t>: reduce signature size</a:t>
            </a:r>
            <a:endParaRPr lang="en-US" sz="2000" i="1" dirty="0">
              <a:solidFill>
                <a:srgbClr val="FF0000"/>
              </a:solidFill>
              <a:latin typeface="Times New Roman" pitchFamily="18" charset="0"/>
            </a:endParaRPr>
          </a:p>
        </p:txBody>
      </p:sp>
      <p:pic>
        <p:nvPicPr>
          <p:cNvPr id="99022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8620125" cy="330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33555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fld id="{DC0429B2-E132-4D2C-9B79-3C97D8D1C9E0}" type="slidenum">
              <a:rPr lang="en-US" smtClean="0"/>
              <a:pPr/>
              <a:t>108</a:t>
            </a:fld>
            <a:endParaRPr lang="en-US" dirty="0"/>
          </a:p>
        </p:txBody>
      </p:sp>
      <p:sp>
        <p:nvSpPr>
          <p:cNvPr id="992266" name="Text Box 10"/>
          <p:cNvSpPr txBox="1">
            <a:spLocks noChangeArrowheads="1"/>
          </p:cNvSpPr>
          <p:nvPr/>
        </p:nvSpPr>
        <p:spPr bwMode="auto">
          <a:xfrm>
            <a:off x="609600" y="381000"/>
            <a:ext cx="67617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smtClean="0">
                <a:solidFill>
                  <a:schemeClr val="hlink"/>
                </a:solidFill>
                <a:latin typeface="Tw Cen MT" panose="020B0602020104020603" pitchFamily="34" charset="0"/>
              </a:rPr>
              <a:t>Digital </a:t>
            </a:r>
            <a:r>
              <a:rPr lang="en-US" sz="2800" dirty="0">
                <a:solidFill>
                  <a:schemeClr val="hlink"/>
                </a:solidFill>
                <a:latin typeface="Tw Cen MT" panose="020B0602020104020603" pitchFamily="34" charset="0"/>
              </a:rPr>
              <a:t>Signature Standard (DSS</a:t>
            </a:r>
            <a:r>
              <a:rPr lang="en-US" sz="2800" dirty="0" smtClean="0">
                <a:solidFill>
                  <a:schemeClr val="hlink"/>
                </a:solidFill>
                <a:latin typeface="Tw Cen MT" panose="020B0602020104020603" pitchFamily="34" charset="0"/>
              </a:rPr>
              <a:t>) (NIST 1994)</a:t>
            </a:r>
            <a:endParaRPr lang="en-US" sz="2800" dirty="0">
              <a:solidFill>
                <a:schemeClr val="hlink"/>
              </a:solidFill>
              <a:latin typeface="Tw Cen MT" panose="020B0602020104020603" pitchFamily="34" charset="0"/>
            </a:endParaRPr>
          </a:p>
        </p:txBody>
      </p:sp>
      <p:sp>
        <p:nvSpPr>
          <p:cNvPr id="992267" name="Text Box 11"/>
          <p:cNvSpPr txBox="1">
            <a:spLocks noChangeArrowheads="1"/>
          </p:cNvSpPr>
          <p:nvPr/>
        </p:nvSpPr>
        <p:spPr bwMode="auto">
          <a:xfrm>
            <a:off x="990600" y="1068529"/>
            <a:ext cx="696498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chemeClr val="folHlink"/>
                </a:solidFill>
                <a:latin typeface="Times New Roman" pitchFamily="18" charset="0"/>
              </a:rPr>
              <a:t>Figure </a:t>
            </a:r>
            <a:r>
              <a:rPr lang="en-US" sz="2800" dirty="0" smtClean="0">
                <a:solidFill>
                  <a:schemeClr val="folHlink"/>
                </a:solidFill>
                <a:latin typeface="Times New Roman" pitchFamily="18" charset="0"/>
              </a:rPr>
              <a:t>  </a:t>
            </a:r>
            <a:r>
              <a:rPr lang="en-US" sz="2800" i="1" dirty="0">
                <a:latin typeface="Times New Roman" pitchFamily="18" charset="0"/>
              </a:rPr>
              <a:t>General idea behind DSS </a:t>
            </a:r>
            <a:r>
              <a:rPr lang="en-US" sz="2800" i="1" dirty="0" smtClean="0">
                <a:latin typeface="Times New Roman" pitchFamily="18" charset="0"/>
              </a:rPr>
              <a:t>scheme</a:t>
            </a:r>
          </a:p>
          <a:p>
            <a:r>
              <a:rPr lang="en-US" sz="2400" i="1" dirty="0">
                <a:solidFill>
                  <a:srgbClr val="FF0000"/>
                </a:solidFill>
                <a:latin typeface="Times New Roman" pitchFamily="18" charset="0"/>
              </a:rPr>
              <a:t>Based on </a:t>
            </a:r>
            <a:r>
              <a:rPr lang="en-US" sz="2400" i="1" dirty="0" err="1" smtClean="0">
                <a:solidFill>
                  <a:srgbClr val="FF0000"/>
                </a:solidFill>
                <a:latin typeface="Times New Roman" pitchFamily="18" charset="0"/>
              </a:rPr>
              <a:t>ElGamal</a:t>
            </a:r>
            <a:r>
              <a:rPr lang="en-US" sz="2400" i="1" dirty="0" smtClean="0">
                <a:solidFill>
                  <a:srgbClr val="FF0000"/>
                </a:solidFill>
                <a:latin typeface="Times New Roman" pitchFamily="18" charset="0"/>
              </a:rPr>
              <a:t> and </a:t>
            </a:r>
            <a:r>
              <a:rPr lang="en-US" sz="2400" i="1" dirty="0" err="1">
                <a:solidFill>
                  <a:srgbClr val="FF0000"/>
                </a:solidFill>
                <a:latin typeface="Times New Roman" pitchFamily="18" charset="0"/>
              </a:rPr>
              <a:t>S</a:t>
            </a:r>
            <a:r>
              <a:rPr lang="en-US" sz="2400" i="1" dirty="0" err="1" smtClean="0">
                <a:solidFill>
                  <a:srgbClr val="FF0000"/>
                </a:solidFill>
                <a:latin typeface="Times New Roman" pitchFamily="18" charset="0"/>
              </a:rPr>
              <a:t>chnorr</a:t>
            </a:r>
            <a:r>
              <a:rPr lang="en-US" sz="2400" i="1" dirty="0" smtClean="0">
                <a:solidFill>
                  <a:srgbClr val="FF0000"/>
                </a:solidFill>
                <a:latin typeface="Times New Roman" pitchFamily="18" charset="0"/>
              </a:rPr>
              <a:t> : </a:t>
            </a:r>
            <a:r>
              <a:rPr lang="en-US" sz="2400" i="1" dirty="0">
                <a:solidFill>
                  <a:srgbClr val="FF0000"/>
                </a:solidFill>
                <a:latin typeface="Times New Roman" pitchFamily="18" charset="0"/>
              </a:rPr>
              <a:t>reduce signature size</a:t>
            </a:r>
          </a:p>
          <a:p>
            <a:endParaRPr lang="en-US" sz="2800" i="1" dirty="0">
              <a:latin typeface="Times New Roman" pitchFamily="18" charset="0"/>
            </a:endParaRPr>
          </a:p>
        </p:txBody>
      </p:sp>
      <p:pic>
        <p:nvPicPr>
          <p:cNvPr id="99226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362200"/>
            <a:ext cx="8620125" cy="324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216435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fld id="{67E20090-16E7-451F-8B0E-DBF7A12959D0}" type="slidenum">
              <a:rPr lang="en-US" smtClean="0"/>
              <a:pPr/>
              <a:t>109</a:t>
            </a:fld>
            <a:endParaRPr lang="en-US" dirty="0"/>
          </a:p>
        </p:txBody>
      </p:sp>
      <p:sp>
        <p:nvSpPr>
          <p:cNvPr id="1149961" name="Rectangle 9"/>
          <p:cNvSpPr>
            <a:spLocks noChangeArrowheads="1"/>
          </p:cNvSpPr>
          <p:nvPr/>
        </p:nvSpPr>
        <p:spPr bwMode="auto">
          <a:xfrm>
            <a:off x="438807" y="1752600"/>
            <a:ext cx="8458200" cy="3508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dirty="0">
                <a:solidFill>
                  <a:schemeClr val="folHlink"/>
                </a:solidFill>
                <a:latin typeface="Tw Cen MT" pitchFamily="34" charset="0"/>
              </a:rPr>
              <a:t>DSS Versus RSA</a:t>
            </a:r>
          </a:p>
          <a:p>
            <a:pPr algn="just"/>
            <a:r>
              <a:rPr lang="en-US" sz="2800" dirty="0">
                <a:latin typeface="Tw Cen MT" pitchFamily="34" charset="0"/>
              </a:rPr>
              <a:t>Computation of DSS signatures is faster than computation of RSA signatures when using the same p.</a:t>
            </a:r>
          </a:p>
          <a:p>
            <a:pPr algn="just"/>
            <a:endParaRPr lang="en-US" sz="2800" dirty="0">
              <a:latin typeface="Tw Cen MT" pitchFamily="34" charset="0"/>
            </a:endParaRPr>
          </a:p>
          <a:p>
            <a:pPr algn="just"/>
            <a:endParaRPr lang="en-US" sz="2800" dirty="0">
              <a:latin typeface="Tw Cen MT" pitchFamily="34" charset="0"/>
            </a:endParaRPr>
          </a:p>
          <a:p>
            <a:pPr algn="just"/>
            <a:r>
              <a:rPr lang="en-US" sz="2800" dirty="0">
                <a:solidFill>
                  <a:schemeClr val="folHlink"/>
                </a:solidFill>
                <a:latin typeface="Tw Cen MT" pitchFamily="34" charset="0"/>
              </a:rPr>
              <a:t>DSS Versus </a:t>
            </a:r>
            <a:r>
              <a:rPr lang="en-US" sz="2800" dirty="0" err="1">
                <a:solidFill>
                  <a:schemeClr val="folHlink"/>
                </a:solidFill>
                <a:latin typeface="Tw Cen MT" pitchFamily="34" charset="0"/>
              </a:rPr>
              <a:t>ElGamal</a:t>
            </a:r>
            <a:endParaRPr lang="en-US" sz="2800" dirty="0">
              <a:solidFill>
                <a:schemeClr val="folHlink"/>
              </a:solidFill>
              <a:latin typeface="Tw Cen MT" pitchFamily="34" charset="0"/>
            </a:endParaRPr>
          </a:p>
          <a:p>
            <a:pPr algn="just"/>
            <a:r>
              <a:rPr lang="en-US" sz="2800" dirty="0">
                <a:latin typeface="Tw Cen MT" pitchFamily="34" charset="0"/>
              </a:rPr>
              <a:t>DSS signatures are smaller than </a:t>
            </a:r>
            <a:r>
              <a:rPr lang="en-US" sz="2800" dirty="0" err="1">
                <a:latin typeface="Tw Cen MT" pitchFamily="34" charset="0"/>
              </a:rPr>
              <a:t>ElGamal</a:t>
            </a:r>
            <a:r>
              <a:rPr lang="en-US" sz="2800" dirty="0">
                <a:latin typeface="Tw Cen MT" pitchFamily="34" charset="0"/>
              </a:rPr>
              <a:t> signatures because q is smaller than p.</a:t>
            </a:r>
          </a:p>
        </p:txBody>
      </p:sp>
      <p:sp>
        <p:nvSpPr>
          <p:cNvPr id="1149962" name="Text Box 10"/>
          <p:cNvSpPr txBox="1">
            <a:spLocks noChangeArrowheads="1"/>
          </p:cNvSpPr>
          <p:nvPr/>
        </p:nvSpPr>
        <p:spPr bwMode="auto">
          <a:xfrm>
            <a:off x="457200" y="161835"/>
            <a:ext cx="20824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600" dirty="0" smtClean="0">
                <a:latin typeface="Tw Cen MT" pitchFamily="34" charset="0"/>
              </a:rPr>
              <a:t> </a:t>
            </a:r>
            <a:r>
              <a:rPr lang="en-US" sz="3600" dirty="0">
                <a:latin typeface="Tw Cen MT" pitchFamily="34" charset="0"/>
              </a:rPr>
              <a:t>Continued</a:t>
            </a:r>
          </a:p>
        </p:txBody>
      </p:sp>
    </p:spTree>
    <p:extLst>
      <p:ext uri="{BB962C8B-B14F-4D97-AF65-F5344CB8AC3E}">
        <p14:creationId xmlns:p14="http://schemas.microsoft.com/office/powerpoint/2010/main" val="282545956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xfrm>
            <a:off x="1066800" y="6019800"/>
            <a:ext cx="762000" cy="476250"/>
          </a:xfrm>
          <a:noFill/>
        </p:spPr>
        <p:txBody>
          <a:bodyPr/>
          <a:lstStyle/>
          <a:p>
            <a:fld id="{EF68B2E5-44ED-4840-B7F4-E5D29CDA428D}" type="slidenum">
              <a:rPr lang="en-US" altLang="zh-CN" smtClean="0">
                <a:latin typeface="Times New Roman" pitchFamily="18" charset="0"/>
                <a:cs typeface="Times New Roman" pitchFamily="18" charset="0"/>
              </a:rPr>
              <a:pPr/>
              <a:t>110</a:t>
            </a:fld>
            <a:endParaRPr lang="en-US" altLang="zh-CN" dirty="0">
              <a:latin typeface="Times New Roman" pitchFamily="18" charset="0"/>
              <a:cs typeface="Times New Roman" pitchFamily="18" charset="0"/>
            </a:endParaRPr>
          </a:p>
        </p:txBody>
      </p:sp>
      <p:sp>
        <p:nvSpPr>
          <p:cNvPr id="8" name="Rectangle 3"/>
          <p:cNvSpPr txBox="1">
            <a:spLocks noChangeArrowheads="1"/>
          </p:cNvSpPr>
          <p:nvPr/>
        </p:nvSpPr>
        <p:spPr>
          <a:xfrm>
            <a:off x="609600" y="1447800"/>
            <a:ext cx="8001000" cy="4638675"/>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endParaRPr lang="en-US" sz="2400" kern="0" dirty="0">
              <a:latin typeface="Tw Cen MT" panose="020B0602020104020603" pitchFamily="34" charset="0"/>
            </a:endParaRPr>
          </a:p>
        </p:txBody>
      </p:sp>
      <p:sp>
        <p:nvSpPr>
          <p:cNvPr id="6" name="Text Box 10"/>
          <p:cNvSpPr txBox="1">
            <a:spLocks noChangeArrowheads="1"/>
          </p:cNvSpPr>
          <p:nvPr/>
        </p:nvSpPr>
        <p:spPr bwMode="auto">
          <a:xfrm>
            <a:off x="3505200" y="457200"/>
            <a:ext cx="2209800" cy="646331"/>
          </a:xfrm>
          <a:prstGeom prst="rect">
            <a:avLst/>
          </a:prstGeom>
          <a:noFill/>
          <a:ln w="9525">
            <a:noFill/>
            <a:miter lim="800000"/>
            <a:headEnd/>
            <a:tailEnd/>
          </a:ln>
        </p:spPr>
        <p:txBody>
          <a:bodyPr wrap="square">
            <a:spAutoFit/>
          </a:bodyPr>
          <a:lstStyle/>
          <a:p>
            <a:r>
              <a:rPr lang="en-GB" altLang="zh-CN" sz="3600" b="1" dirty="0" smtClean="0">
                <a:solidFill>
                  <a:srgbClr val="FF0000"/>
                </a:solidFill>
                <a:latin typeface="Tw Cen MT" panose="020B0602020104020603" pitchFamily="34" charset="0"/>
                <a:ea typeface="SimSun" pitchFamily="2" charset="-122"/>
                <a:cs typeface="Times New Roman" pitchFamily="18" charset="0"/>
              </a:rPr>
              <a:t>Summary</a:t>
            </a:r>
            <a:endParaRPr lang="en-US" altLang="zh-CN" sz="3600" b="1" dirty="0">
              <a:solidFill>
                <a:srgbClr val="FF0000"/>
              </a:solidFill>
              <a:latin typeface="Tw Cen MT" panose="020B0602020104020603" pitchFamily="34" charset="0"/>
              <a:ea typeface="SimSun" pitchFamily="2" charset="-122"/>
              <a:cs typeface="Times New Roman" pitchFamily="18" charset="0"/>
            </a:endParaRPr>
          </a:p>
        </p:txBody>
      </p:sp>
      <p:sp>
        <p:nvSpPr>
          <p:cNvPr id="7" name="Rectangle 3"/>
          <p:cNvSpPr txBox="1">
            <a:spLocks noChangeArrowheads="1"/>
          </p:cNvSpPr>
          <p:nvPr/>
        </p:nvSpPr>
        <p:spPr>
          <a:xfrm>
            <a:off x="762000" y="1752600"/>
            <a:ext cx="3565525" cy="3276600"/>
          </a:xfrm>
          <a:prstGeom prst="rect">
            <a:avLst/>
          </a:prstGeom>
        </p:spPr>
        <p:txBody>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r>
              <a:rPr lang="en-US" kern="0" dirty="0" smtClean="0">
                <a:latin typeface="Tw Cen MT" panose="020B0602020104020603" pitchFamily="34" charset="0"/>
              </a:rPr>
              <a:t>Public-key cryptosystems</a:t>
            </a:r>
          </a:p>
          <a:p>
            <a:r>
              <a:rPr lang="en-US" kern="0" dirty="0" smtClean="0">
                <a:latin typeface="Tw Cen MT" panose="020B0602020104020603" pitchFamily="34" charset="0"/>
              </a:rPr>
              <a:t>Applications for public-key cryptosystems</a:t>
            </a:r>
          </a:p>
          <a:p>
            <a:r>
              <a:rPr lang="en-US" kern="0" dirty="0" smtClean="0">
                <a:latin typeface="Tw Cen MT" panose="020B0602020104020603" pitchFamily="34" charset="0"/>
              </a:rPr>
              <a:t>Requirements for public-key cryptography</a:t>
            </a:r>
          </a:p>
          <a:p>
            <a:r>
              <a:rPr lang="en-US" kern="0" dirty="0" smtClean="0">
                <a:latin typeface="Tw Cen MT" panose="020B0602020104020603" pitchFamily="34" charset="0"/>
              </a:rPr>
              <a:t>Public-key cryptanalysis</a:t>
            </a:r>
            <a:endParaRPr lang="en-AU" kern="0" dirty="0" smtClean="0">
              <a:latin typeface="Tw Cen MT" panose="020B0602020104020603" pitchFamily="34" charset="0"/>
            </a:endParaRPr>
          </a:p>
        </p:txBody>
      </p:sp>
      <p:sp>
        <p:nvSpPr>
          <p:cNvPr id="9" name="Content Placeholder 11"/>
          <p:cNvSpPr txBox="1">
            <a:spLocks/>
          </p:cNvSpPr>
          <p:nvPr/>
        </p:nvSpPr>
        <p:spPr>
          <a:xfrm>
            <a:off x="4876800" y="1752600"/>
            <a:ext cx="3565525" cy="2743200"/>
          </a:xfrm>
          <a:prstGeom prst="rect">
            <a:avLst/>
          </a:prstGeom>
        </p:spPr>
        <p:txBody>
          <a:bodyPr rtlCol="0"/>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fontAlgn="auto">
              <a:spcAft>
                <a:spcPts val="0"/>
              </a:spcAft>
              <a:buClr>
                <a:schemeClr val="accent1">
                  <a:lumMod val="60000"/>
                  <a:lumOff val="40000"/>
                </a:schemeClr>
              </a:buClr>
              <a:buFont typeface="Candara" pitchFamily="34" charset="0"/>
              <a:buChar char="•"/>
              <a:defRPr/>
            </a:pPr>
            <a:r>
              <a:rPr lang="en-US" kern="0" dirty="0" smtClean="0">
                <a:latin typeface="Tw Cen MT" panose="020B0602020104020603" pitchFamily="34" charset="0"/>
              </a:rPr>
              <a:t>The RSA algorithm</a:t>
            </a:r>
          </a:p>
          <a:p>
            <a:pPr lvl="1" fontAlgn="auto">
              <a:spcAft>
                <a:spcPts val="0"/>
              </a:spcAft>
              <a:buClr>
                <a:schemeClr val="accent1">
                  <a:lumMod val="60000"/>
                  <a:lumOff val="40000"/>
                </a:schemeClr>
              </a:buClr>
              <a:buFont typeface="Candara" pitchFamily="34" charset="0"/>
              <a:buChar char="•"/>
              <a:defRPr/>
            </a:pPr>
            <a:r>
              <a:rPr lang="en-US" sz="2400" kern="0" dirty="0" smtClean="0">
                <a:latin typeface="Tw Cen MT" panose="020B0602020104020603" pitchFamily="34" charset="0"/>
              </a:rPr>
              <a:t>Description of the algorithm</a:t>
            </a:r>
          </a:p>
          <a:p>
            <a:pPr lvl="1" fontAlgn="auto">
              <a:spcAft>
                <a:spcPts val="0"/>
              </a:spcAft>
              <a:buClr>
                <a:schemeClr val="accent1">
                  <a:lumMod val="60000"/>
                  <a:lumOff val="40000"/>
                </a:schemeClr>
              </a:buClr>
              <a:buFont typeface="Candara" pitchFamily="34" charset="0"/>
              <a:buChar char="•"/>
              <a:defRPr/>
            </a:pPr>
            <a:r>
              <a:rPr lang="en-US" sz="2400" kern="0" dirty="0" smtClean="0">
                <a:latin typeface="Tw Cen MT" panose="020B0602020104020603" pitchFamily="34" charset="0"/>
              </a:rPr>
              <a:t>Computational aspects</a:t>
            </a:r>
          </a:p>
          <a:p>
            <a:pPr lvl="1" fontAlgn="auto">
              <a:spcAft>
                <a:spcPts val="0"/>
              </a:spcAft>
              <a:buClr>
                <a:schemeClr val="accent1">
                  <a:lumMod val="60000"/>
                  <a:lumOff val="40000"/>
                </a:schemeClr>
              </a:buClr>
              <a:buFont typeface="Candara" pitchFamily="34" charset="0"/>
              <a:buChar char="•"/>
              <a:defRPr/>
            </a:pPr>
            <a:r>
              <a:rPr lang="en-US" sz="2400" kern="0" dirty="0" smtClean="0">
                <a:latin typeface="Tw Cen MT" panose="020B0602020104020603" pitchFamily="34" charset="0"/>
              </a:rPr>
              <a:t>Security of RSA</a:t>
            </a:r>
          </a:p>
        </p:txBody>
      </p:sp>
    </p:spTree>
    <p:extLst>
      <p:ext uri="{BB962C8B-B14F-4D97-AF65-F5344CB8AC3E}">
        <p14:creationId xmlns:p14="http://schemas.microsoft.com/office/powerpoint/2010/main" val="3448070929"/>
      </p:ext>
    </p:extLst>
  </p:cSld>
  <p:clrMapOvr>
    <a:masterClrMapping/>
  </p:clrMapOvr>
  <p:timing>
    <p:tnLst>
      <p:par>
        <p:cTn id="1" dur="indefinite" restart="never" nodeType="tmRoot"/>
      </p:par>
    </p:tnLst>
  </p:timing>
</p:sld>
</file>

<file path=ppt/theme/theme1.xml><?xml version="1.0" encoding="utf-8"?>
<a:theme xmlns:a="http://schemas.openxmlformats.org/drawingml/2006/main" name="CCNA">
  <a:themeElements>
    <a:clrScheme name="CiscoAcadem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iscoAcadem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73025" tIns="36512" rIns="73025" bIns="36512"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73025" tIns="36512" rIns="73025" bIns="36512"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iscoAcadem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iscoAcademy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iscoAcademy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iscoAcademy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iscoAcademy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iscoAcademy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iscoAcademy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iscoAcademy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iscoAcademy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iscoAcademy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iscoAcademy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iscoAcademy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CCNA</Template>
  <TotalTime>13577</TotalTime>
  <Words>5994</Words>
  <Application>Microsoft Office PowerPoint</Application>
  <PresentationFormat>On-screen Show (4:3)</PresentationFormat>
  <Paragraphs>699</Paragraphs>
  <Slides>110</Slides>
  <Notes>93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110</vt:i4>
      </vt:variant>
    </vt:vector>
  </HeadingPairs>
  <TitlesOfParts>
    <vt:vector size="122" baseType="lpstr">
      <vt:lpstr>ＭＳ Ｐゴシック</vt:lpstr>
      <vt:lpstr>新細明體</vt:lpstr>
      <vt:lpstr>SimSun</vt:lpstr>
      <vt:lpstr>SimSun</vt:lpstr>
      <vt:lpstr>Arial</vt:lpstr>
      <vt:lpstr>Calibri</vt:lpstr>
      <vt:lpstr>Candara</vt:lpstr>
      <vt:lpstr>Times</vt:lpstr>
      <vt:lpstr>Times New Roman</vt:lpstr>
      <vt:lpstr>Tw Cen MT</vt:lpstr>
      <vt:lpstr>Wingdings</vt:lpstr>
      <vt:lpstr>CCNA</vt:lpstr>
      <vt:lpstr>Public-Key Cryptography</vt:lpstr>
      <vt:lpstr>PowerPoint Presentation</vt:lpstr>
      <vt:lpstr>Misconceptions Concerning  Public-Key Encryption</vt:lpstr>
      <vt:lpstr>Principles of Public-Key Cryptosystems</vt:lpstr>
      <vt:lpstr>Public-Key Cryptosystems</vt:lpstr>
      <vt:lpstr>PowerPoint Presentation</vt:lpstr>
      <vt:lpstr>PowerPoint Presentation</vt:lpstr>
      <vt:lpstr>PowerPoint Presentation</vt:lpstr>
      <vt:lpstr>PowerPoint Presentation</vt:lpstr>
      <vt:lpstr>PowerPoint Presentation</vt:lpstr>
      <vt:lpstr>PowerPoint Presentation</vt:lpstr>
      <vt:lpstr>Why Public-Key Cryptography?</vt:lpstr>
      <vt:lpstr>Conventional and Public-Key Encryption </vt:lpstr>
      <vt:lpstr>Public-Key Characteristics</vt:lpstr>
      <vt:lpstr>Public-Key: Secrecy</vt:lpstr>
      <vt:lpstr>Public-Key: Authentication</vt:lpstr>
      <vt:lpstr>Public-Key: Secrecy and Authentication</vt:lpstr>
      <vt:lpstr>Public-Key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Attacks on RSA</vt:lpstr>
      <vt:lpstr>PowerPoint Presentation</vt:lpstr>
      <vt:lpstr>PowerPoint Presentation</vt:lpstr>
      <vt:lpstr>PowerPoint Presentation</vt:lpstr>
      <vt:lpstr>PowerPoint Presentation</vt:lpstr>
      <vt:lpstr>PowerPoint Presentation</vt:lpstr>
      <vt:lpstr>PowerPoint Presentation</vt:lpstr>
      <vt:lpstr>Attacks on RSA</vt:lpstr>
      <vt:lpstr>Miller-Rabin Algorithm for Primality Test</vt:lpstr>
      <vt:lpstr>Miller-Rabin Algorithm for Primality Test</vt:lpstr>
      <vt:lpstr>Miller-Rabin Algorithm for Primality Test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Diffie-Hellman Key Exchange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Packet Tracer</dc:title>
  <dc:creator>Kenneth M. Chipps Ph.D.</dc:creator>
  <cp:lastModifiedBy>USER</cp:lastModifiedBy>
  <cp:revision>340</cp:revision>
  <dcterms:created xsi:type="dcterms:W3CDTF">2006-12-01T18:00:48Z</dcterms:created>
  <dcterms:modified xsi:type="dcterms:W3CDTF">2021-02-24T18:53:08Z</dcterms:modified>
</cp:coreProperties>
</file>