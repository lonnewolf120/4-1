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66"/>
  </p:notesMasterIdLst>
  <p:sldIdLst>
    <p:sldId id="271" r:id="rId2"/>
    <p:sldId id="394" r:id="rId3"/>
    <p:sldId id="357" r:id="rId4"/>
    <p:sldId id="326" r:id="rId5"/>
    <p:sldId id="327" r:id="rId6"/>
    <p:sldId id="328" r:id="rId7"/>
    <p:sldId id="329" r:id="rId8"/>
    <p:sldId id="331" r:id="rId9"/>
    <p:sldId id="273" r:id="rId10"/>
    <p:sldId id="275" r:id="rId11"/>
    <p:sldId id="276" r:id="rId12"/>
    <p:sldId id="487" r:id="rId13"/>
    <p:sldId id="332" r:id="rId14"/>
    <p:sldId id="493" r:id="rId15"/>
    <p:sldId id="333" r:id="rId16"/>
    <p:sldId id="334" r:id="rId17"/>
    <p:sldId id="409" r:id="rId18"/>
    <p:sldId id="410" r:id="rId19"/>
    <p:sldId id="411" r:id="rId20"/>
    <p:sldId id="404" r:id="rId21"/>
    <p:sldId id="405" r:id="rId22"/>
    <p:sldId id="406" r:id="rId23"/>
    <p:sldId id="407" r:id="rId24"/>
    <p:sldId id="408" r:id="rId25"/>
    <p:sldId id="412" r:id="rId26"/>
    <p:sldId id="500" r:id="rId27"/>
    <p:sldId id="380" r:id="rId28"/>
    <p:sldId id="337" r:id="rId29"/>
    <p:sldId id="382" r:id="rId30"/>
    <p:sldId id="413" r:id="rId31"/>
    <p:sldId id="414" r:id="rId32"/>
    <p:sldId id="502" r:id="rId33"/>
    <p:sldId id="415" r:id="rId34"/>
    <p:sldId id="418" r:id="rId35"/>
    <p:sldId id="339" r:id="rId36"/>
    <p:sldId id="416" r:id="rId37"/>
    <p:sldId id="417" r:id="rId38"/>
    <p:sldId id="419" r:id="rId39"/>
    <p:sldId id="421" r:id="rId40"/>
    <p:sldId id="340" r:id="rId41"/>
    <p:sldId id="494" r:id="rId42"/>
    <p:sldId id="495" r:id="rId43"/>
    <p:sldId id="498" r:id="rId44"/>
    <p:sldId id="342" r:id="rId45"/>
    <p:sldId id="383" r:id="rId46"/>
    <p:sldId id="422" r:id="rId47"/>
    <p:sldId id="343" r:id="rId48"/>
    <p:sldId id="536" r:id="rId49"/>
    <p:sldId id="432" r:id="rId50"/>
    <p:sldId id="363" r:id="rId51"/>
    <p:sldId id="496" r:id="rId52"/>
    <p:sldId id="385" r:id="rId53"/>
    <p:sldId id="423" r:id="rId54"/>
    <p:sldId id="424" r:id="rId55"/>
    <p:sldId id="425" r:id="rId56"/>
    <p:sldId id="426" r:id="rId57"/>
    <p:sldId id="427" r:id="rId58"/>
    <p:sldId id="501" r:id="rId59"/>
    <p:sldId id="499" r:id="rId60"/>
    <p:sldId id="439" r:id="rId61"/>
    <p:sldId id="430" r:id="rId62"/>
    <p:sldId id="431" r:id="rId63"/>
    <p:sldId id="458" r:id="rId64"/>
    <p:sldId id="386" r:id="rId65"/>
    <p:sldId id="345" r:id="rId66"/>
    <p:sldId id="503" r:id="rId67"/>
    <p:sldId id="504" r:id="rId68"/>
    <p:sldId id="446" r:id="rId69"/>
    <p:sldId id="433" r:id="rId70"/>
    <p:sldId id="505" r:id="rId71"/>
    <p:sldId id="506" r:id="rId72"/>
    <p:sldId id="507" r:id="rId73"/>
    <p:sldId id="450" r:id="rId74"/>
    <p:sldId id="515" r:id="rId75"/>
    <p:sldId id="451" r:id="rId76"/>
    <p:sldId id="516" r:id="rId77"/>
    <p:sldId id="447" r:id="rId78"/>
    <p:sldId id="448" r:id="rId79"/>
    <p:sldId id="449" r:id="rId80"/>
    <p:sldId id="435" r:id="rId81"/>
    <p:sldId id="440" r:id="rId82"/>
    <p:sldId id="441" r:id="rId83"/>
    <p:sldId id="442" r:id="rId84"/>
    <p:sldId id="443" r:id="rId85"/>
    <p:sldId id="444" r:id="rId86"/>
    <p:sldId id="445" r:id="rId87"/>
    <p:sldId id="459" r:id="rId88"/>
    <p:sldId id="453" r:id="rId89"/>
    <p:sldId id="454" r:id="rId90"/>
    <p:sldId id="455" r:id="rId91"/>
    <p:sldId id="456" r:id="rId92"/>
    <p:sldId id="397" r:id="rId93"/>
    <p:sldId id="517" r:id="rId94"/>
    <p:sldId id="518" r:id="rId95"/>
    <p:sldId id="519" r:id="rId96"/>
    <p:sldId id="520" r:id="rId97"/>
    <p:sldId id="521" r:id="rId98"/>
    <p:sldId id="522" r:id="rId99"/>
    <p:sldId id="523" r:id="rId100"/>
    <p:sldId id="399" r:id="rId101"/>
    <p:sldId id="508" r:id="rId102"/>
    <p:sldId id="509" r:id="rId103"/>
    <p:sldId id="400" r:id="rId104"/>
    <p:sldId id="401" r:id="rId105"/>
    <p:sldId id="402" r:id="rId106"/>
    <p:sldId id="457" r:id="rId107"/>
    <p:sldId id="460" r:id="rId108"/>
    <p:sldId id="461" r:id="rId109"/>
    <p:sldId id="462" r:id="rId110"/>
    <p:sldId id="463" r:id="rId111"/>
    <p:sldId id="464" r:id="rId112"/>
    <p:sldId id="465" r:id="rId113"/>
    <p:sldId id="489" r:id="rId114"/>
    <p:sldId id="466" r:id="rId115"/>
    <p:sldId id="490" r:id="rId116"/>
    <p:sldId id="491" r:id="rId117"/>
    <p:sldId id="492" r:id="rId118"/>
    <p:sldId id="388" r:id="rId119"/>
    <p:sldId id="389" r:id="rId120"/>
    <p:sldId id="390" r:id="rId121"/>
    <p:sldId id="467" r:id="rId122"/>
    <p:sldId id="468" r:id="rId123"/>
    <p:sldId id="469" r:id="rId124"/>
    <p:sldId id="470" r:id="rId125"/>
    <p:sldId id="471" r:id="rId126"/>
    <p:sldId id="472" r:id="rId127"/>
    <p:sldId id="473" r:id="rId128"/>
    <p:sldId id="474" r:id="rId129"/>
    <p:sldId id="475" r:id="rId130"/>
    <p:sldId id="476" r:id="rId131"/>
    <p:sldId id="477" r:id="rId132"/>
    <p:sldId id="478" r:id="rId133"/>
    <p:sldId id="479" r:id="rId134"/>
    <p:sldId id="480" r:id="rId135"/>
    <p:sldId id="481" r:id="rId136"/>
    <p:sldId id="482" r:id="rId137"/>
    <p:sldId id="483" r:id="rId138"/>
    <p:sldId id="484" r:id="rId139"/>
    <p:sldId id="485" r:id="rId140"/>
    <p:sldId id="486" r:id="rId141"/>
    <p:sldId id="392" r:id="rId142"/>
    <p:sldId id="371" r:id="rId143"/>
    <p:sldId id="372" r:id="rId144"/>
    <p:sldId id="373" r:id="rId145"/>
    <p:sldId id="510" r:id="rId146"/>
    <p:sldId id="511" r:id="rId147"/>
    <p:sldId id="512" r:id="rId148"/>
    <p:sldId id="513" r:id="rId149"/>
    <p:sldId id="514" r:id="rId150"/>
    <p:sldId id="377" r:id="rId151"/>
    <p:sldId id="355" r:id="rId152"/>
    <p:sldId id="356" r:id="rId153"/>
    <p:sldId id="524" r:id="rId154"/>
    <p:sldId id="525" r:id="rId155"/>
    <p:sldId id="526" r:id="rId156"/>
    <p:sldId id="527" r:id="rId157"/>
    <p:sldId id="531" r:id="rId158"/>
    <p:sldId id="528" r:id="rId159"/>
    <p:sldId id="529" r:id="rId160"/>
    <p:sldId id="532" r:id="rId161"/>
    <p:sldId id="534" r:id="rId162"/>
    <p:sldId id="535" r:id="rId163"/>
    <p:sldId id="533" r:id="rId164"/>
    <p:sldId id="398" r:id="rId165"/>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pitchFamily="34" charset="0"/>
        <a:ea typeface="PMingLiU" pitchFamily="18" charset="-120"/>
        <a:cs typeface="+mn-cs"/>
      </a:defRPr>
    </a:lvl1pPr>
    <a:lvl2pPr marL="457200" algn="l" rtl="0" fontAlgn="base">
      <a:spcBef>
        <a:spcPct val="0"/>
      </a:spcBef>
      <a:spcAft>
        <a:spcPct val="0"/>
      </a:spcAft>
      <a:defRPr kumimoji="1" kern="1200">
        <a:solidFill>
          <a:schemeClr val="tx1"/>
        </a:solidFill>
        <a:latin typeface="Arial" pitchFamily="34" charset="0"/>
        <a:ea typeface="PMingLiU" pitchFamily="18" charset="-120"/>
        <a:cs typeface="+mn-cs"/>
      </a:defRPr>
    </a:lvl2pPr>
    <a:lvl3pPr marL="914400" algn="l" rtl="0" fontAlgn="base">
      <a:spcBef>
        <a:spcPct val="0"/>
      </a:spcBef>
      <a:spcAft>
        <a:spcPct val="0"/>
      </a:spcAft>
      <a:defRPr kumimoji="1" kern="1200">
        <a:solidFill>
          <a:schemeClr val="tx1"/>
        </a:solidFill>
        <a:latin typeface="Arial" pitchFamily="34" charset="0"/>
        <a:ea typeface="PMingLiU" pitchFamily="18" charset="-120"/>
        <a:cs typeface="+mn-cs"/>
      </a:defRPr>
    </a:lvl3pPr>
    <a:lvl4pPr marL="1371600" algn="l" rtl="0" fontAlgn="base">
      <a:spcBef>
        <a:spcPct val="0"/>
      </a:spcBef>
      <a:spcAft>
        <a:spcPct val="0"/>
      </a:spcAft>
      <a:defRPr kumimoji="1" kern="1200">
        <a:solidFill>
          <a:schemeClr val="tx1"/>
        </a:solidFill>
        <a:latin typeface="Arial" pitchFamily="34" charset="0"/>
        <a:ea typeface="PMingLiU" pitchFamily="18" charset="-120"/>
        <a:cs typeface="+mn-cs"/>
      </a:defRPr>
    </a:lvl4pPr>
    <a:lvl5pPr marL="1828800" algn="l" rtl="0" fontAlgn="base">
      <a:spcBef>
        <a:spcPct val="0"/>
      </a:spcBef>
      <a:spcAft>
        <a:spcPct val="0"/>
      </a:spcAft>
      <a:defRPr kumimoji="1" kern="1200">
        <a:solidFill>
          <a:schemeClr val="tx1"/>
        </a:solidFill>
        <a:latin typeface="Arial" pitchFamily="34" charset="0"/>
        <a:ea typeface="PMingLiU" pitchFamily="18" charset="-120"/>
        <a:cs typeface="+mn-cs"/>
      </a:defRPr>
    </a:lvl5pPr>
    <a:lvl6pPr marL="2286000" algn="l" defTabSz="914400" rtl="0" eaLnBrk="1" latinLnBrk="0" hangingPunct="1">
      <a:defRPr kumimoji="1" kern="1200">
        <a:solidFill>
          <a:schemeClr val="tx1"/>
        </a:solidFill>
        <a:latin typeface="Arial" pitchFamily="34" charset="0"/>
        <a:ea typeface="PMingLiU" pitchFamily="18" charset="-120"/>
        <a:cs typeface="+mn-cs"/>
      </a:defRPr>
    </a:lvl6pPr>
    <a:lvl7pPr marL="2743200" algn="l" defTabSz="914400" rtl="0" eaLnBrk="1" latinLnBrk="0" hangingPunct="1">
      <a:defRPr kumimoji="1" kern="1200">
        <a:solidFill>
          <a:schemeClr val="tx1"/>
        </a:solidFill>
        <a:latin typeface="Arial" pitchFamily="34" charset="0"/>
        <a:ea typeface="PMingLiU" pitchFamily="18" charset="-120"/>
        <a:cs typeface="+mn-cs"/>
      </a:defRPr>
    </a:lvl7pPr>
    <a:lvl8pPr marL="3200400" algn="l" defTabSz="914400" rtl="0" eaLnBrk="1" latinLnBrk="0" hangingPunct="1">
      <a:defRPr kumimoji="1" kern="1200">
        <a:solidFill>
          <a:schemeClr val="tx1"/>
        </a:solidFill>
        <a:latin typeface="Arial" pitchFamily="34" charset="0"/>
        <a:ea typeface="PMingLiU" pitchFamily="18" charset="-120"/>
        <a:cs typeface="+mn-cs"/>
      </a:defRPr>
    </a:lvl8pPr>
    <a:lvl9pPr marL="3657600" algn="l" defTabSz="914400" rtl="0" eaLnBrk="1" latinLnBrk="0" hangingPunct="1">
      <a:defRPr kumimoji="1" kern="1200">
        <a:solidFill>
          <a:schemeClr val="tx1"/>
        </a:solidFill>
        <a:latin typeface="Arial" pitchFamily="34" charset="0"/>
        <a:ea typeface="PMingLiU" pitchFamily="18" charset="-120"/>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9900"/>
    <a:srgbClr val="0000FF"/>
    <a:srgbClr val="006600"/>
    <a:srgbClr val="FF0000"/>
    <a:srgbClr val="000000"/>
    <a:srgbClr val="FF3300"/>
    <a:srgbClr val="33993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5" autoAdjust="0"/>
    <p:restoredTop sz="99802" autoAdjust="0"/>
  </p:normalViewPr>
  <p:slideViewPr>
    <p:cSldViewPr>
      <p:cViewPr>
        <p:scale>
          <a:sx n="68" d="100"/>
          <a:sy n="68" d="100"/>
        </p:scale>
        <p:origin x="-1242" y="-2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新細明體" charset="-120"/>
              </a:defRPr>
            </a:lvl1pPr>
          </a:lstStyle>
          <a:p>
            <a:pPr>
              <a:defRPr/>
            </a:pPr>
            <a:endParaRPr lang="en-US" altLang="zh-TW"/>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新細明體" charset="-120"/>
              </a:defRPr>
            </a:lvl1pPr>
          </a:lstStyle>
          <a:p>
            <a:pPr>
              <a:defRPr/>
            </a:pPr>
            <a:endParaRPr lang="en-US" altLang="zh-TW"/>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smtClean="0"/>
              <a:t>按一下以編輯母片</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新細明體" charset="-120"/>
              </a:defRPr>
            </a:lvl1pPr>
          </a:lstStyle>
          <a:p>
            <a:pPr>
              <a:defRPr/>
            </a:pPr>
            <a:endParaRPr lang="en-US" altLang="zh-TW"/>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新細明體" charset="-120"/>
              </a:defRPr>
            </a:lvl1pPr>
          </a:lstStyle>
          <a:p>
            <a:pPr>
              <a:defRPr/>
            </a:pPr>
            <a:fld id="{5F44551F-7008-490D-BF9D-181D9F0F44A0}" type="slidenum">
              <a:rPr lang="en-US" altLang="zh-TW"/>
              <a:pPr>
                <a:defRPr/>
              </a:pPr>
              <a:t>‹#›</a:t>
            </a:fld>
            <a:endParaRPr lang="en-US" altLang="zh-TW"/>
          </a:p>
        </p:txBody>
      </p:sp>
    </p:spTree>
    <p:extLst>
      <p:ext uri="{BB962C8B-B14F-4D97-AF65-F5344CB8AC3E}">
        <p14:creationId xmlns:p14="http://schemas.microsoft.com/office/powerpoint/2010/main" val="24557149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CB7D7B4-4B5F-434C-83D7-FA6EF2346A7C}" type="slidenum">
              <a:rPr lang="zh-TW" altLang="en-AU" smtClean="0">
                <a:latin typeface="Arial" pitchFamily="34" charset="0"/>
                <a:ea typeface="PMingLiU" pitchFamily="18" charset="-120"/>
              </a:rPr>
              <a:pPr/>
              <a:t>1</a:t>
            </a:fld>
            <a:endParaRPr lang="en-AU" altLang="zh-TW" smtClean="0">
              <a:latin typeface="Arial" pitchFamily="34" charset="0"/>
              <a:ea typeface="PMingLiU" pitchFamily="18" charset="-120"/>
            </a:endParaRPr>
          </a:p>
        </p:txBody>
      </p:sp>
      <p:sp>
        <p:nvSpPr>
          <p:cNvPr id="83971" name="Rectangle 2"/>
          <p:cNvSpPr>
            <a:spLocks noGrp="1" noRot="1" noChangeAspect="1" noChangeArrowheads="1" noTextEdit="1"/>
          </p:cNvSpPr>
          <p:nvPr>
            <p:ph type="sldImg"/>
          </p:nvPr>
        </p:nvSpPr>
        <p:spPr>
          <a:solidFill>
            <a:srgbClr val="FFFFFF"/>
          </a:solidFill>
          <a:ln/>
        </p:spPr>
      </p:sp>
      <p:sp>
        <p:nvSpPr>
          <p:cNvPr id="83972" name="Rectangle 3"/>
          <p:cNvSpPr>
            <a:spLocks noGrp="1" noChangeArrowheads="1"/>
          </p:cNvSpPr>
          <p:nvPr>
            <p:ph type="body" idx="1"/>
          </p:nvPr>
        </p:nvSpPr>
        <p:spPr>
          <a:noFill/>
          <a:ln/>
        </p:spPr>
        <p:txBody>
          <a:bodyPr/>
          <a:lstStyle/>
          <a:p>
            <a:pPr eaLnBrk="1" hangingPunct="1"/>
            <a:endParaRPr lang="en-US" smtClean="0">
              <a:latin typeface="Arial" pitchFamily="34" charset="0"/>
              <a:ea typeface="MS PGothic" pitchFamily="34" charset="-128"/>
            </a:endParaRPr>
          </a:p>
        </p:txBody>
      </p:sp>
    </p:spTree>
    <p:extLst>
      <p:ext uri="{BB962C8B-B14F-4D97-AF65-F5344CB8AC3E}">
        <p14:creationId xmlns:p14="http://schemas.microsoft.com/office/powerpoint/2010/main" val="1111907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2D5C3F9F-4658-4F95-9389-AA1CC88EDA82}" type="slidenum">
              <a:rPr lang="zh-TW" altLang="en-AU" smtClean="0">
                <a:latin typeface="Arial" pitchFamily="34" charset="0"/>
                <a:ea typeface="PMingLiU" pitchFamily="18" charset="-120"/>
              </a:rPr>
              <a:pPr/>
              <a:t>9</a:t>
            </a:fld>
            <a:endParaRPr lang="en-AU" altLang="zh-TW" smtClean="0">
              <a:latin typeface="Arial" pitchFamily="34" charset="0"/>
              <a:ea typeface="PMingLiU" pitchFamily="18" charset="-12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r>
              <a:rPr lang="en-US" dirty="0" smtClean="0">
                <a:latin typeface="Arial" pitchFamily="34" charset="0"/>
                <a:ea typeface="MS PGothic" pitchFamily="34" charset="-128"/>
                <a:cs typeface="Arial" pitchFamily="34" charset="0"/>
              </a:rPr>
              <a:t>Symmetric encryption, also referred to as conventional encryption or single-key encryption, was the only type of encryption in use prior to the development of public-key encryption in the 1970s. It remains by far the most widely used of the two types of encryption. </a:t>
            </a:r>
            <a:r>
              <a:rPr lang="en-AU" altLang="zh-TW" dirty="0" smtClean="0">
                <a:latin typeface="Arial" pitchFamily="34" charset="0"/>
                <a:ea typeface="MS PGothic" pitchFamily="34" charset="-128"/>
                <a:cs typeface="Arial" pitchFamily="34" charset="0"/>
              </a:rPr>
              <a:t>All traditional schemes are </a:t>
            </a:r>
            <a:r>
              <a:rPr lang="en-AU" altLang="zh-TW" b="1" dirty="0" smtClean="0">
                <a:latin typeface="Arial" pitchFamily="34" charset="0"/>
                <a:ea typeface="MS PGothic" pitchFamily="34" charset="-128"/>
                <a:cs typeface="Arial" pitchFamily="34" charset="0"/>
              </a:rPr>
              <a:t>symmetric</a:t>
            </a:r>
            <a:r>
              <a:rPr lang="en-AU" altLang="zh-TW" dirty="0" smtClean="0">
                <a:latin typeface="Arial" pitchFamily="34" charset="0"/>
                <a:ea typeface="MS PGothic" pitchFamily="34" charset="-128"/>
                <a:cs typeface="Arial" pitchFamily="34" charset="0"/>
              </a:rPr>
              <a:t> / </a:t>
            </a:r>
            <a:r>
              <a:rPr lang="en-AU" altLang="zh-TW" b="1" dirty="0" smtClean="0">
                <a:latin typeface="Arial" pitchFamily="34" charset="0"/>
                <a:ea typeface="MS PGothic" pitchFamily="34" charset="-128"/>
                <a:cs typeface="Arial" pitchFamily="34" charset="0"/>
              </a:rPr>
              <a:t>single key</a:t>
            </a:r>
            <a:r>
              <a:rPr lang="en-AU" altLang="zh-TW" dirty="0" smtClean="0">
                <a:latin typeface="Arial" pitchFamily="34" charset="0"/>
                <a:ea typeface="MS PGothic" pitchFamily="34" charset="-128"/>
                <a:cs typeface="Arial" pitchFamily="34" charset="0"/>
              </a:rPr>
              <a:t> / </a:t>
            </a:r>
            <a:r>
              <a:rPr lang="en-AU" altLang="zh-TW" b="1" dirty="0" smtClean="0">
                <a:latin typeface="Arial" pitchFamily="34" charset="0"/>
                <a:ea typeface="MS PGothic" pitchFamily="34" charset="-128"/>
                <a:cs typeface="Arial" pitchFamily="34" charset="0"/>
              </a:rPr>
              <a:t>private-key</a:t>
            </a:r>
            <a:r>
              <a:rPr lang="en-AU" altLang="zh-TW" dirty="0" smtClean="0">
                <a:latin typeface="Arial" pitchFamily="34" charset="0"/>
                <a:ea typeface="MS PGothic" pitchFamily="34" charset="-128"/>
                <a:cs typeface="Arial" pitchFamily="34" charset="0"/>
              </a:rPr>
              <a:t> encryption algorithms, with a </a:t>
            </a:r>
            <a:r>
              <a:rPr lang="en-AU" altLang="zh-TW" b="1" dirty="0" smtClean="0">
                <a:latin typeface="Arial" pitchFamily="34" charset="0"/>
                <a:ea typeface="MS PGothic" pitchFamily="34" charset="-128"/>
                <a:cs typeface="Arial" pitchFamily="34" charset="0"/>
              </a:rPr>
              <a:t>single key</a:t>
            </a:r>
            <a:r>
              <a:rPr lang="en-AU" altLang="zh-TW" dirty="0" smtClean="0">
                <a:latin typeface="Arial" pitchFamily="34" charset="0"/>
                <a:ea typeface="MS PGothic" pitchFamily="34" charset="-128"/>
                <a:cs typeface="Arial" pitchFamily="34" charset="0"/>
              </a:rPr>
              <a:t>, used for both encryption and decryption. Since both sender and receiver are equivalent, either can encrypt or decrypt messages using that common key. </a:t>
            </a:r>
          </a:p>
        </p:txBody>
      </p:sp>
    </p:spTree>
    <p:extLst>
      <p:ext uri="{BB962C8B-B14F-4D97-AF65-F5344CB8AC3E}">
        <p14:creationId xmlns:p14="http://schemas.microsoft.com/office/powerpoint/2010/main" val="3189016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2FB5969D-E015-4E1C-9C4B-AD3924620CAB}" type="slidenum">
              <a:rPr lang="zh-TW" altLang="en-AU" smtClean="0">
                <a:latin typeface="Arial" pitchFamily="34" charset="0"/>
                <a:ea typeface="PMingLiU" pitchFamily="18" charset="-120"/>
              </a:rPr>
              <a:pPr/>
              <a:t>10</a:t>
            </a:fld>
            <a:endParaRPr lang="en-AU" altLang="zh-TW" smtClean="0">
              <a:latin typeface="Arial" pitchFamily="34" charset="0"/>
              <a:ea typeface="PMingLiU" pitchFamily="18" charset="-12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r>
              <a:rPr lang="en-US" smtClean="0">
                <a:latin typeface="Arial" pitchFamily="34" charset="0"/>
                <a:ea typeface="MS PGothic" pitchFamily="34" charset="-128"/>
              </a:rPr>
              <a:t>Detail the five ingredients of the symmetric cipher model, shown in Stallings Figure 2.1:</a:t>
            </a:r>
          </a:p>
          <a:p>
            <a:pPr eaLnBrk="1" hangingPunct="1">
              <a:buFontTx/>
              <a:buChar char="•"/>
            </a:pPr>
            <a:r>
              <a:rPr lang="en-US" smtClean="0">
                <a:latin typeface="Arial" pitchFamily="34" charset="0"/>
                <a:ea typeface="MS PGothic" pitchFamily="34" charset="-128"/>
              </a:rPr>
              <a:t> plaintext - original message</a:t>
            </a:r>
          </a:p>
          <a:p>
            <a:pPr eaLnBrk="1" hangingPunct="1">
              <a:buFontTx/>
              <a:buChar char="•"/>
            </a:pPr>
            <a:r>
              <a:rPr lang="en-US" smtClean="0">
                <a:latin typeface="Arial" pitchFamily="34" charset="0"/>
                <a:ea typeface="MS PGothic" pitchFamily="34" charset="-128"/>
              </a:rPr>
              <a:t> encryption algorithm – performs substitutions/transformations on plaintext</a:t>
            </a:r>
          </a:p>
          <a:p>
            <a:pPr eaLnBrk="1" hangingPunct="1">
              <a:buFontTx/>
              <a:buChar char="•"/>
            </a:pPr>
            <a:r>
              <a:rPr lang="en-US" smtClean="0">
                <a:latin typeface="Arial" pitchFamily="34" charset="0"/>
                <a:ea typeface="MS PGothic" pitchFamily="34" charset="-128"/>
              </a:rPr>
              <a:t> secret key – control exact substitutions/transformations used in encryption algorithm</a:t>
            </a:r>
          </a:p>
          <a:p>
            <a:pPr eaLnBrk="1" hangingPunct="1">
              <a:buFontTx/>
              <a:buChar char="•"/>
            </a:pPr>
            <a:r>
              <a:rPr lang="en-US" smtClean="0">
                <a:latin typeface="Arial" pitchFamily="34" charset="0"/>
                <a:ea typeface="MS PGothic" pitchFamily="34" charset="-128"/>
              </a:rPr>
              <a:t> ciphertext - scrambled message</a:t>
            </a:r>
          </a:p>
          <a:p>
            <a:pPr eaLnBrk="1" hangingPunct="1">
              <a:buFontTx/>
              <a:buChar char="•"/>
            </a:pPr>
            <a:r>
              <a:rPr lang="en-US" smtClean="0">
                <a:latin typeface="Arial" pitchFamily="34" charset="0"/>
                <a:ea typeface="MS PGothic" pitchFamily="34" charset="-128"/>
              </a:rPr>
              <a:t> decryption algorithm – inverse of encryption algorithm</a:t>
            </a:r>
            <a:endParaRPr lang="en-AU" altLang="zh-TW" smtClean="0">
              <a:latin typeface="Arial" pitchFamily="34" charset="0"/>
              <a:ea typeface="MS PGothic" pitchFamily="34" charset="-128"/>
            </a:endParaRPr>
          </a:p>
        </p:txBody>
      </p:sp>
    </p:spTree>
    <p:extLst>
      <p:ext uri="{BB962C8B-B14F-4D97-AF65-F5344CB8AC3E}">
        <p14:creationId xmlns:p14="http://schemas.microsoft.com/office/powerpoint/2010/main" val="1211279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90654429-1843-4FE7-9A05-F8F6B058CB49}" type="slidenum">
              <a:rPr lang="zh-TW" altLang="en-AU" smtClean="0">
                <a:latin typeface="Arial" pitchFamily="34" charset="0"/>
                <a:ea typeface="PMingLiU" pitchFamily="18" charset="-120"/>
              </a:rPr>
              <a:pPr/>
              <a:t>11</a:t>
            </a:fld>
            <a:endParaRPr lang="en-AU" altLang="zh-TW" smtClean="0">
              <a:latin typeface="Arial" pitchFamily="34" charset="0"/>
              <a:ea typeface="PMingLiU" pitchFamily="18" charset="-12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r>
              <a:rPr lang="en-US" smtClean="0">
                <a:latin typeface="Arial" pitchFamily="34" charset="0"/>
                <a:ea typeface="MS PGothic" pitchFamily="34" charset="-128"/>
                <a:cs typeface="Arial" pitchFamily="34" charset="0"/>
              </a:rPr>
              <a:t>There are two requirements for secure use of conventional encryption that mean we assume that it is impractical to decrypt a message on the basis of the cipher- text plus knowledge of the encryption/decryption algorithm, and hence do not need to keep the algorithm secret; rather we only need to keep the key secret. This feature of symmetric encryption is what makes it feasible for widespread use. It allows easy distribution of s/w and h/w implementations.</a:t>
            </a:r>
          </a:p>
          <a:p>
            <a:pPr eaLnBrk="1" hangingPunct="1"/>
            <a:r>
              <a:rPr lang="en-US" smtClean="0">
                <a:latin typeface="Arial" pitchFamily="34" charset="0"/>
                <a:ea typeface="MS PGothic" pitchFamily="34" charset="-128"/>
                <a:cs typeface="Arial" pitchFamily="34" charset="0"/>
              </a:rPr>
              <a:t>Can take a closer look at the essential elements of a symmetric encryption scheme: mathematically it can be considered a pair of functions with: plaintext X, ciphertext Y, key K, encryption algorithm E, decryption algorithm D. The intended receiver, in possession of the key, is able to invert the transformation. An opponent, observing Y but not having access to K or X, may attempt to recover X or K.</a:t>
            </a:r>
          </a:p>
          <a:p>
            <a:pPr eaLnBrk="1" hangingPunct="1"/>
            <a:endParaRPr lang="en-AU" altLang="zh-TW" smtClean="0">
              <a:latin typeface="Arial" pitchFamily="34" charset="0"/>
              <a:ea typeface="MS PGothic" pitchFamily="34" charset="-128"/>
              <a:cs typeface="Arial" pitchFamily="34" charset="0"/>
            </a:endParaRPr>
          </a:p>
        </p:txBody>
      </p:sp>
    </p:spTree>
    <p:extLst>
      <p:ext uri="{BB962C8B-B14F-4D97-AF65-F5344CB8AC3E}">
        <p14:creationId xmlns:p14="http://schemas.microsoft.com/office/powerpoint/2010/main" val="142502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F5848219-9744-4481-81FF-EC1ACD88A6E9}" type="slidenum">
              <a:rPr lang="zh-TW" altLang="en-AU" smtClean="0">
                <a:latin typeface="Arial" pitchFamily="34" charset="0"/>
                <a:ea typeface="PMingLiU" pitchFamily="18" charset="-120"/>
              </a:rPr>
              <a:pPr/>
              <a:t>19</a:t>
            </a:fld>
            <a:endParaRPr lang="en-AU" altLang="zh-TW" smtClean="0">
              <a:latin typeface="Arial" pitchFamily="34" charset="0"/>
              <a:ea typeface="PMingLiU" pitchFamily="18" charset="-120"/>
            </a:endParaRPr>
          </a:p>
        </p:txBody>
      </p:sp>
      <p:sp>
        <p:nvSpPr>
          <p:cNvPr id="91139" name="Rectangle 1026"/>
          <p:cNvSpPr>
            <a:spLocks noGrp="1" noRot="1" noChangeAspect="1" noChangeArrowheads="1" noTextEdit="1"/>
          </p:cNvSpPr>
          <p:nvPr>
            <p:ph type="sldImg"/>
          </p:nvPr>
        </p:nvSpPr>
        <p:spPr>
          <a:ln/>
        </p:spPr>
      </p:sp>
      <p:sp>
        <p:nvSpPr>
          <p:cNvPr id="91140" name="Rectangle 1027"/>
          <p:cNvSpPr>
            <a:spLocks noGrp="1" noChangeArrowheads="1"/>
          </p:cNvSpPr>
          <p:nvPr>
            <p:ph type="body" idx="1"/>
          </p:nvPr>
        </p:nvSpPr>
        <p:spPr>
          <a:noFill/>
          <a:ln/>
        </p:spPr>
        <p:txBody>
          <a:bodyPr/>
          <a:lstStyle/>
          <a:p>
            <a:pPr eaLnBrk="1" hangingPunct="1"/>
            <a:r>
              <a:rPr lang="en-US" smtClean="0">
                <a:latin typeface="Arial" pitchFamily="34" charset="0"/>
                <a:ea typeface="MS PGothic" pitchFamily="34" charset="-128"/>
                <a:cs typeface="Arial" pitchFamily="34" charset="0"/>
              </a:rPr>
              <a:t>A brute-force attack involves trying every possible key until an intelligible translation of the ciphertext into plaintext is obtained. On average, half of all possible keys must be tried to achieve success. Stallings Table 2.2 shows how much time is required to conduct a brute-force attack, for various common key sizes (DES is 56, AES is 128, Triple-DES is 168, plus general mono-alphabetic cipher), where either a single system or a million parallel systems, are used.</a:t>
            </a:r>
          </a:p>
        </p:txBody>
      </p:sp>
    </p:spTree>
    <p:extLst>
      <p:ext uri="{BB962C8B-B14F-4D97-AF65-F5344CB8AC3E}">
        <p14:creationId xmlns:p14="http://schemas.microsoft.com/office/powerpoint/2010/main" val="2852584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55BB005-726F-4378-AE9C-5B86FD7238B3}" type="slidenum">
              <a:rPr lang="en-US"/>
              <a:pPr/>
              <a:t>30</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897201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E0181E78-033F-43B4-9AA2-377C1A47E2F4}" type="slidenum">
              <a:rPr lang="en-US"/>
              <a:pPr/>
              <a:t>31</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43800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E0181E78-033F-43B4-9AA2-377C1A47E2F4}" type="slidenum">
              <a:rPr lang="en-US"/>
              <a:pPr/>
              <a:t>32</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57097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9CC10D2B-1696-4DA3-82C8-AA5A05950F1C}" type="slidenum">
              <a:rPr lang="en-US"/>
              <a:pPr/>
              <a:t>33</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546082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9CC10D2B-1696-4DA3-82C8-AA5A05950F1C}" type="slidenum">
              <a:rPr lang="en-US"/>
              <a:pPr/>
              <a:t>34</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88500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965AFE3-EA66-4945-8074-84558C34E085}" type="slidenum">
              <a:rPr lang="en-US"/>
              <a:pPr/>
              <a:t>38</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32318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3E76C626-7A2C-41A9-9508-E03D43C4F89B}" type="slidenum">
              <a:rPr lang="en-US"/>
              <a:pPr/>
              <a:t>39</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578358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18025691-85E7-4FDB-ACFC-0ECF40045AC8}" type="slidenum">
              <a:rPr lang="en-AU" smtClean="0">
                <a:latin typeface="Arial" pitchFamily="34" charset="0"/>
                <a:ea typeface="MS PGothic" pitchFamily="34" charset="-128"/>
              </a:rPr>
              <a:pPr/>
              <a:t>45</a:t>
            </a:fld>
            <a:endParaRPr lang="en-AU" smtClean="0">
              <a:latin typeface="Arial" pitchFamily="34" charset="0"/>
              <a:ea typeface="MS PGothic" pitchFamily="34" charset="-128"/>
            </a:endParaRPr>
          </a:p>
        </p:txBody>
      </p:sp>
      <p:sp>
        <p:nvSpPr>
          <p:cNvPr id="92163"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657C7F5-C83B-4735-940D-0E107C28439B}"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45</a:t>
            </a:fld>
            <a:endParaRPr lang="en-US" sz="1200">
              <a:solidFill>
                <a:srgbClr val="FFFFFF"/>
              </a:solidFill>
            </a:endParaRPr>
          </a:p>
        </p:txBody>
      </p:sp>
      <p:sp>
        <p:nvSpPr>
          <p:cNvPr id="92164" name="Rectangle 2"/>
          <p:cNvSpPr>
            <a:spLocks noGrp="1" noRot="1" noChangeAspect="1" noChangeArrowheads="1" noTextEdit="1"/>
          </p:cNvSpPr>
          <p:nvPr>
            <p:ph type="sldImg"/>
          </p:nvPr>
        </p:nvSpPr>
        <p:spPr>
          <a:solidFill>
            <a:srgbClr val="FFFFFF"/>
          </a:solidFill>
          <a:ln/>
        </p:spPr>
      </p:sp>
      <p:sp>
        <p:nvSpPr>
          <p:cNvPr id="92165"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mtClean="0">
                <a:latin typeface="Arial" pitchFamily="34" charset="0"/>
                <a:ea typeface="MS PGothic" pitchFamily="34" charset="-128"/>
              </a:rPr>
              <a:t>As the example shows, we don't actually need all the letters in order to understand written English text. Here vowels were removed, but they're not the only redundancy. cf written Hebrew has no vowels for same reason. Are usually familiar with "party conversations", can hear one person speaking out of hubbub of many, again because of redundancy in aural language also. This redundancy is also the reason we can compress text files, the computer can derive a more compact encoding without losing any information. Basic idea is to count the relative frequencies of letters, and note the resulting pattern. </a:t>
            </a:r>
          </a:p>
        </p:txBody>
      </p:sp>
    </p:spTree>
    <p:extLst>
      <p:ext uri="{BB962C8B-B14F-4D97-AF65-F5344CB8AC3E}">
        <p14:creationId xmlns:p14="http://schemas.microsoft.com/office/powerpoint/2010/main" val="4289036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78B7CA6B-A6C3-4FD5-8799-C31AA2FAB924}" type="slidenum">
              <a:rPr lang="en-AU" smtClean="0">
                <a:latin typeface="Arial" pitchFamily="34" charset="0"/>
                <a:ea typeface="MS PGothic" pitchFamily="34" charset="-128"/>
              </a:rPr>
              <a:pPr/>
              <a:t>52</a:t>
            </a:fld>
            <a:endParaRPr lang="en-AU" smtClean="0">
              <a:latin typeface="Arial" pitchFamily="34" charset="0"/>
              <a:ea typeface="MS PGothic" pitchFamily="34" charset="-128"/>
            </a:endParaRPr>
          </a:p>
        </p:txBody>
      </p:sp>
      <p:sp>
        <p:nvSpPr>
          <p:cNvPr id="93187"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094C2D0-7636-432B-98BA-A144A016441D}"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52</a:t>
            </a:fld>
            <a:endParaRPr lang="en-US" sz="1200">
              <a:solidFill>
                <a:srgbClr val="FFFFFF"/>
              </a:solidFill>
            </a:endParaRPr>
          </a:p>
        </p:txBody>
      </p:sp>
      <p:sp>
        <p:nvSpPr>
          <p:cNvPr id="93188" name="Rectangle 2"/>
          <p:cNvSpPr>
            <a:spLocks noGrp="1" noRot="1" noChangeAspect="1" noChangeArrowheads="1" noTextEdit="1"/>
          </p:cNvSpPr>
          <p:nvPr>
            <p:ph type="sldImg"/>
          </p:nvPr>
        </p:nvSpPr>
        <p:spPr>
          <a:solidFill>
            <a:srgbClr val="FFFFFF"/>
          </a:solidFill>
          <a:ln/>
        </p:spPr>
      </p:sp>
      <p:sp>
        <p:nvSpPr>
          <p:cNvPr id="93189"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ea typeface="MS PGothic" pitchFamily="34" charset="-128"/>
              </a:rPr>
              <a:t>Illustrate the process with this example from the text in Stallings section 2.2. Comparing letter frequency breakdown with Figure 2.5, it seems likely that cipher letters P and Z are the equivalents of plain letters e and t, but it is not certain which is which. The letters S, U, O, M, and H are all of relatively high frequency and probably correspond to plain letters from the set {a, h, i, n, o, r, s}. The letters with the lowest frequencies (namely, A, B, G, Y, I, J) are likely included in the set {b, j, k, q, v, x, z}. A powerful tool is to look at the frequency of two-letter combinations, known as digrams. A table similar to Figure 2.5 could be drawn up showing the relative frequency of digrams. The most common such digram is th. In our ciphertext, the most common digram is ZW, which appears three times. So we make the correspondence of Z with t and W with h. Then, by our earlier hypothesis, we can equate P with e. Now notice that the sequence ZWP appears in the ciphertext, and we can translate that sequence as "the." This is the most frequent trigram (three- letter combination) in English, which seems to indicate that we are on the right track. Next, notice the sequence ZWSZ in the first line. We do not know that these four letters form a complete word, but if they do, it is of the form th_t. If so, S equates with a. Only four letters have been identified, but already we have quite a bit of the message. Continued analysis of frequencies plus trial and error should easily yield a solution from this point. The complete plaintext, with spaces added between words, is shown on slide.</a:t>
            </a:r>
          </a:p>
        </p:txBody>
      </p:sp>
    </p:spTree>
    <p:extLst>
      <p:ext uri="{BB962C8B-B14F-4D97-AF65-F5344CB8AC3E}">
        <p14:creationId xmlns:p14="http://schemas.microsoft.com/office/powerpoint/2010/main" val="734425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44551F-7008-490D-BF9D-181D9F0F44A0}" type="slidenum">
              <a:rPr lang="en-US" altLang="zh-TW" smtClean="0"/>
              <a:pPr>
                <a:defRPr/>
              </a:pPr>
              <a:t>61</a:t>
            </a:fld>
            <a:endParaRPr lang="en-US" altLang="zh-TW"/>
          </a:p>
        </p:txBody>
      </p:sp>
    </p:spTree>
    <p:extLst>
      <p:ext uri="{BB962C8B-B14F-4D97-AF65-F5344CB8AC3E}">
        <p14:creationId xmlns:p14="http://schemas.microsoft.com/office/powerpoint/2010/main" val="2466148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C87C6B2D-5B95-464B-8D18-49BB8FEF93B2}" type="slidenum">
              <a:rPr lang="en-AU" smtClean="0">
                <a:latin typeface="Arial" pitchFamily="34" charset="0"/>
                <a:ea typeface="MS PGothic" pitchFamily="34" charset="-128"/>
              </a:rPr>
              <a:pPr/>
              <a:t>64</a:t>
            </a:fld>
            <a:endParaRPr lang="en-AU" smtClean="0">
              <a:latin typeface="Arial" pitchFamily="34" charset="0"/>
              <a:ea typeface="MS PGothic" pitchFamily="34" charset="-128"/>
            </a:endParaRPr>
          </a:p>
        </p:txBody>
      </p:sp>
      <p:sp>
        <p:nvSpPr>
          <p:cNvPr id="94211"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F5DAB05-0C64-42B5-9BEE-70AA56C2E2AC}"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64</a:t>
            </a:fld>
            <a:endParaRPr lang="en-US" sz="1200">
              <a:solidFill>
                <a:srgbClr val="FFFFFF"/>
              </a:solidFill>
            </a:endParaRPr>
          </a:p>
        </p:txBody>
      </p:sp>
      <p:sp>
        <p:nvSpPr>
          <p:cNvPr id="94212" name="Rectangle 2"/>
          <p:cNvSpPr>
            <a:spLocks noGrp="1" noRot="1" noChangeAspect="1" noChangeArrowheads="1" noTextEdit="1"/>
          </p:cNvSpPr>
          <p:nvPr>
            <p:ph type="sldImg"/>
          </p:nvPr>
        </p:nvSpPr>
        <p:spPr>
          <a:solidFill>
            <a:srgbClr val="FFFFFF"/>
          </a:solidFill>
          <a:ln/>
        </p:spPr>
      </p:sp>
      <p:sp>
        <p:nvSpPr>
          <p:cNvPr id="94213"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mtClean="0">
                <a:latin typeface="Arial" pitchFamily="34" charset="0"/>
                <a:ea typeface="MS PGothic" pitchFamily="34" charset="-128"/>
              </a:rPr>
              <a:t>Consider ways to reduce the "spikyness" of natural language text, since if just map one letter always to another, the frequency distribution is just shuffled. One approach is to encrypt more than one letter at once. The Playfair cipher is an example of doing this, </a:t>
            </a:r>
            <a:r>
              <a:rPr lang="en-US" smtClean="0">
                <a:latin typeface="Arial" pitchFamily="34" charset="0"/>
                <a:ea typeface="MS PGothic" pitchFamily="34" charset="-128"/>
              </a:rPr>
              <a:t>treats digrams in the plaintext as single units and translates these units into ciphertext digrams.</a:t>
            </a:r>
          </a:p>
        </p:txBody>
      </p:sp>
    </p:spTree>
    <p:extLst>
      <p:ext uri="{BB962C8B-B14F-4D97-AF65-F5344CB8AC3E}">
        <p14:creationId xmlns:p14="http://schemas.microsoft.com/office/powerpoint/2010/main" val="4276172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28185C46-081A-485B-9535-9DCEF3265031}" type="slidenum">
              <a:rPr lang="en-AU" smtClean="0">
                <a:latin typeface="Arial" pitchFamily="34" charset="0"/>
                <a:ea typeface="MS PGothic" pitchFamily="34" charset="-128"/>
              </a:rPr>
              <a:pPr/>
              <a:t>75</a:t>
            </a:fld>
            <a:endParaRPr lang="en-AU" smtClean="0">
              <a:latin typeface="Arial" pitchFamily="34" charset="0"/>
              <a:ea typeface="MS PGothic" pitchFamily="34" charset="-128"/>
            </a:endParaRPr>
          </a:p>
        </p:txBody>
      </p:sp>
      <p:sp>
        <p:nvSpPr>
          <p:cNvPr id="95235"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6CCFDD-2002-480E-A73A-5667340F5731}"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75</a:t>
            </a:fld>
            <a:endParaRPr lang="en-US" sz="1200">
              <a:solidFill>
                <a:srgbClr val="FFFFFF"/>
              </a:solidFill>
            </a:endParaRPr>
          </a:p>
        </p:txBody>
      </p:sp>
      <p:sp>
        <p:nvSpPr>
          <p:cNvPr id="95236" name="Rectangle 2"/>
          <p:cNvSpPr>
            <a:spLocks noGrp="1" noRot="1" noChangeAspect="1" noChangeArrowheads="1" noTextEdit="1"/>
          </p:cNvSpPr>
          <p:nvPr>
            <p:ph type="sldImg"/>
          </p:nvPr>
        </p:nvSpPr>
        <p:spPr>
          <a:solidFill>
            <a:srgbClr val="FFFFFF"/>
          </a:solidFill>
          <a:ln/>
        </p:spPr>
      </p:sp>
      <p:sp>
        <p:nvSpPr>
          <p:cNvPr id="95237"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The Playfair cipher is a great advance over simple monoalphabetic ciphers, since there are 26*26=676 digrams (vs 26 letters), so that identification of individual digrams is more difficult. Also,the relative frequencies of individual letters exhibit a much greater range than that of digrams, making frequency analysis much more difficult. The Playfair cipher was for a long time considered unbreakable. It was used as the standard field system by the British Army in World War I and still enjoyed considerable use by the U.S.Army and other Allied forces during World War II. Despite this level of confidence in its security, the Playfair cipher is relatively easy to break because it still leaves much of the structure of the plaintext language intact. A few hundred letters of ciphertext are generally sufficient.</a:t>
            </a:r>
          </a:p>
        </p:txBody>
      </p:sp>
    </p:spTree>
    <p:extLst>
      <p:ext uri="{BB962C8B-B14F-4D97-AF65-F5344CB8AC3E}">
        <p14:creationId xmlns:p14="http://schemas.microsoft.com/office/powerpoint/2010/main" val="3461661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57940EF-45B7-49E7-A4F4-50ADC58D3AFF}" type="slidenum">
              <a:rPr lang="en-US"/>
              <a:pPr/>
              <a:t>80</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215715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D2B9F117-964D-44D1-8C91-1E483338326F}" type="slidenum">
              <a:rPr lang="en-US" altLang="en-US"/>
              <a:pPr/>
              <a:t>93</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492249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AE963BAB-B11E-4183-A718-45313161F3E3}" type="slidenum">
              <a:rPr lang="en-US" altLang="en-US"/>
              <a:pPr/>
              <a:t>94</a:t>
            </a:fld>
            <a:endParaRPr lang="en-US"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1620078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1568B9A9-FE8F-44E5-8EDD-D69B771CD585}" type="slidenum">
              <a:rPr lang="en-US" altLang="en-US"/>
              <a:pPr/>
              <a:t>95</a:t>
            </a:fld>
            <a:endParaRPr lang="en-US"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3246588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B19628CF-E67F-4390-A33F-81FF4A82A537}" type="slidenum">
              <a:rPr lang="en-US" altLang="en-US"/>
              <a:pPr/>
              <a:t>96</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3686433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69EC5FA2-DC89-4845-94A8-A11B3244B5DE}" type="slidenum">
              <a:rPr lang="en-US" altLang="en-US"/>
              <a:pPr/>
              <a:t>97</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904475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2157AF73-5CCA-41CA-8B83-D5CEF878B55A}" type="slidenum">
              <a:rPr lang="en-US" altLang="en-US"/>
              <a:pPr/>
              <a:t>98</a:t>
            </a:fld>
            <a:endParaRPr lang="en-US"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3325013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247C654A-8460-4448-9422-A7B52DDB5C67}" type="slidenum">
              <a:rPr lang="en-US" altLang="en-US"/>
              <a:pPr/>
              <a:t>99</a:t>
            </a:fld>
            <a:endParaRPr lang="en-US" alt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w="9525"/>
        </p:spPr>
        <p:txBody>
          <a:bodyPr/>
          <a:lstStyle/>
          <a:p>
            <a:endParaRPr lang="en-US" altLang="en-US" smtClean="0"/>
          </a:p>
        </p:txBody>
      </p:sp>
    </p:spTree>
    <p:extLst>
      <p:ext uri="{BB962C8B-B14F-4D97-AF65-F5344CB8AC3E}">
        <p14:creationId xmlns:p14="http://schemas.microsoft.com/office/powerpoint/2010/main" val="3426509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D4BD0F39-E8AC-41F2-8799-AC1412F0B6F4}" type="slidenum">
              <a:rPr lang="en-AU" smtClean="0">
                <a:latin typeface="Arial" pitchFamily="34" charset="0"/>
                <a:ea typeface="MS PGothic" pitchFamily="34" charset="-128"/>
              </a:rPr>
              <a:pPr/>
              <a:t>118</a:t>
            </a:fld>
            <a:endParaRPr lang="en-AU" smtClean="0">
              <a:latin typeface="Arial" pitchFamily="34" charset="0"/>
              <a:ea typeface="MS PGothic" pitchFamily="34" charset="-128"/>
            </a:endParaRPr>
          </a:p>
        </p:txBody>
      </p:sp>
      <p:sp>
        <p:nvSpPr>
          <p:cNvPr id="96259"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65B368E-DBAF-4B58-97B5-F5D8EE7A8AE3}"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118</a:t>
            </a:fld>
            <a:endParaRPr lang="en-US" sz="1200">
              <a:solidFill>
                <a:srgbClr val="FFFFFF"/>
              </a:solidFill>
            </a:endParaRPr>
          </a:p>
        </p:txBody>
      </p:sp>
      <p:sp>
        <p:nvSpPr>
          <p:cNvPr id="96260" name="Rectangle 2"/>
          <p:cNvSpPr>
            <a:spLocks noGrp="1" noRot="1" noChangeAspect="1" noChangeArrowheads="1" noTextEdit="1"/>
          </p:cNvSpPr>
          <p:nvPr>
            <p:ph type="sldImg"/>
          </p:nvPr>
        </p:nvSpPr>
        <p:spPr>
          <a:solidFill>
            <a:srgbClr val="FFFFFF"/>
          </a:solidFill>
          <a:ln/>
        </p:spPr>
      </p:sp>
      <p:sp>
        <p:nvSpPr>
          <p:cNvPr id="96261"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mtClean="0">
                <a:latin typeface="Arial" pitchFamily="34" charset="0"/>
                <a:cs typeface="Arial" pitchFamily="34" charset="0"/>
              </a:rPr>
              <a:t>One approach to reducing the "spikyness" of natural language text is used the Playfair cipher which encrypts more than one letter at once. We now consider the other alternative, using multiple cipher alphabets in turn. This gives the attacker more work, since many alphabets need to be guessed and because the frequency distribution is more complex, since the same plaintext letter could be replaced by several ciphertext letters, depending on which alphabet is used. </a:t>
            </a:r>
            <a:r>
              <a:rPr lang="en-US" smtClean="0">
                <a:latin typeface="Arial" pitchFamily="34" charset="0"/>
                <a:cs typeface="Arial" pitchFamily="34" charset="0"/>
              </a:rPr>
              <a:t>The general name for this approach is a polyalphabetic substitution cipher. All these techniques have the following features in common: </a:t>
            </a:r>
          </a:p>
          <a:p>
            <a:pPr eaLnBrk="1" hangingPunct="1">
              <a:spcBef>
                <a:spcPts val="450"/>
              </a:spcBef>
              <a:buFont typeface="Times New Roman" pitchFamily="18" charset="0"/>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 A set of related monoalphabetic substitution rules is used. </a:t>
            </a:r>
          </a:p>
          <a:p>
            <a:pPr eaLnBrk="1" hangingPunct="1">
              <a:spcBef>
                <a:spcPts val="450"/>
              </a:spcBef>
              <a:buFont typeface="Times New Roman" pitchFamily="18" charset="0"/>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 A key determines which particular rule is chosen for a given transformation. </a:t>
            </a:r>
          </a:p>
        </p:txBody>
      </p:sp>
    </p:spTree>
    <p:extLst>
      <p:ext uri="{BB962C8B-B14F-4D97-AF65-F5344CB8AC3E}">
        <p14:creationId xmlns:p14="http://schemas.microsoft.com/office/powerpoint/2010/main" val="2885860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DFE2F3C5-F19A-44CD-82EC-F94D75B2D39F}" type="slidenum">
              <a:rPr lang="en-AU" smtClean="0">
                <a:latin typeface="Arial" pitchFamily="34" charset="0"/>
                <a:ea typeface="MS PGothic" pitchFamily="34" charset="-128"/>
              </a:rPr>
              <a:pPr/>
              <a:t>119</a:t>
            </a:fld>
            <a:endParaRPr lang="en-AU" smtClean="0">
              <a:latin typeface="Arial" pitchFamily="34" charset="0"/>
              <a:ea typeface="MS PGothic" pitchFamily="34" charset="-128"/>
            </a:endParaRPr>
          </a:p>
        </p:txBody>
      </p:sp>
      <p:sp>
        <p:nvSpPr>
          <p:cNvPr id="97283"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4CAF84A-5A6A-4BFB-AE37-A7CC02E1D1D6}"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119</a:t>
            </a:fld>
            <a:endParaRPr lang="en-US" sz="1200">
              <a:solidFill>
                <a:srgbClr val="FFFFFF"/>
              </a:solidFill>
            </a:endParaRPr>
          </a:p>
        </p:txBody>
      </p:sp>
      <p:sp>
        <p:nvSpPr>
          <p:cNvPr id="97284" name="Rectangle 2"/>
          <p:cNvSpPr>
            <a:spLocks noGrp="1" noRot="1" noChangeAspect="1" noChangeArrowheads="1" noTextEdit="1"/>
          </p:cNvSpPr>
          <p:nvPr>
            <p:ph type="sldImg"/>
          </p:nvPr>
        </p:nvSpPr>
        <p:spPr>
          <a:solidFill>
            <a:srgbClr val="FFFFFF"/>
          </a:solidFill>
          <a:ln/>
        </p:spPr>
      </p:sp>
      <p:sp>
        <p:nvSpPr>
          <p:cNvPr id="97285" name="Rectangle 3"/>
          <p:cNvSpPr>
            <a:spLocks noGrp="1" noChangeArrowheads="1"/>
          </p:cNvSpPr>
          <p:nvPr>
            <p:ph type="body" idx="1"/>
          </p:nvPr>
        </p:nvSpPr>
        <p:spPr>
          <a:noFill/>
          <a:ln/>
        </p:spPr>
        <p:txBody>
          <a:bodyPr wrap="none" anchor="ct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mtClean="0">
              <a:latin typeface="Arial" pitchFamily="34" charset="0"/>
              <a:cs typeface="Arial" pitchFamily="34" charset="0"/>
            </a:endParaRPr>
          </a:p>
        </p:txBody>
      </p:sp>
    </p:spTree>
    <p:extLst>
      <p:ext uri="{BB962C8B-B14F-4D97-AF65-F5344CB8AC3E}">
        <p14:creationId xmlns:p14="http://schemas.microsoft.com/office/powerpoint/2010/main" val="779141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448B3E94-5ABA-41B6-9613-654DB297D016}" type="slidenum">
              <a:rPr lang="en-AU" smtClean="0">
                <a:latin typeface="Arial" pitchFamily="34" charset="0"/>
                <a:ea typeface="MS PGothic" pitchFamily="34" charset="-128"/>
              </a:rPr>
              <a:pPr/>
              <a:t>120</a:t>
            </a:fld>
            <a:endParaRPr lang="en-AU" smtClean="0">
              <a:latin typeface="Arial" pitchFamily="34" charset="0"/>
              <a:ea typeface="MS PGothic" pitchFamily="34" charset="-128"/>
            </a:endParaRPr>
          </a:p>
        </p:txBody>
      </p:sp>
      <p:sp>
        <p:nvSpPr>
          <p:cNvPr id="98307"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3F247C2-3DE8-41D7-9A94-3340DDE64F0D}" type="slidenum">
              <a:rPr lang="en-US"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120</a:t>
            </a:fld>
            <a:endParaRPr lang="en-US" sz="1200">
              <a:solidFill>
                <a:srgbClr val="FFFFFF"/>
              </a:solidFill>
            </a:endParaRPr>
          </a:p>
        </p:txBody>
      </p:sp>
      <p:sp>
        <p:nvSpPr>
          <p:cNvPr id="98308" name="Rectangle 2"/>
          <p:cNvSpPr>
            <a:spLocks noGrp="1" noRot="1" noChangeAspect="1" noChangeArrowheads="1" noTextEdit="1"/>
          </p:cNvSpPr>
          <p:nvPr>
            <p:ph type="sldImg"/>
          </p:nvPr>
        </p:nvSpPr>
        <p:spPr>
          <a:solidFill>
            <a:srgbClr val="FFFFFF"/>
          </a:solidFill>
          <a:ln/>
        </p:spPr>
      </p:sp>
      <p:sp>
        <p:nvSpPr>
          <p:cNvPr id="98309" name="Rectangle 3"/>
          <p:cNvSpPr>
            <a:spLocks noGrp="1" noChangeArrowheads="1"/>
          </p:cNvSpPr>
          <p:nvPr>
            <p:ph type="body" idx="1"/>
          </p:nvPr>
        </p:nvSpPr>
        <p:spPr>
          <a:noFill/>
          <a:ln/>
        </p:spPr>
        <p:txBody>
          <a:bodyPr wrap="none" anchor="ct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mtClean="0">
              <a:latin typeface="Arial" pitchFamily="34" charset="0"/>
              <a:cs typeface="Arial" pitchFamily="34" charset="0"/>
            </a:endParaRPr>
          </a:p>
        </p:txBody>
      </p:sp>
    </p:spTree>
    <p:extLst>
      <p:ext uri="{BB962C8B-B14F-4D97-AF65-F5344CB8AC3E}">
        <p14:creationId xmlns:p14="http://schemas.microsoft.com/office/powerpoint/2010/main" val="3725812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726AF2BE-CA93-45D6-9D40-63FAB4AE4183}" type="slidenum">
              <a:rPr lang="en-US"/>
              <a:pPr/>
              <a:t>121</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864906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009BACDA-B3C7-4770-9840-4B253FE7645D}" type="slidenum">
              <a:rPr lang="en-US"/>
              <a:pPr/>
              <a:t>132</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5503643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98500A9E-20DD-4888-BDD7-2A03C4459C93}" type="slidenum">
              <a:rPr lang="en-US"/>
              <a:pPr/>
              <a:t>133</a:t>
            </a:fld>
            <a:endParaRPr lang="en-US"/>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3100200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DFC573C2-3C24-4FB5-8930-29D68CB835FE}" type="slidenum">
              <a:rPr lang="en-AU" smtClean="0">
                <a:latin typeface="Arial" pitchFamily="34" charset="0"/>
                <a:ea typeface="MS PGothic" pitchFamily="34" charset="-128"/>
              </a:rPr>
              <a:pPr/>
              <a:t>141</a:t>
            </a:fld>
            <a:endParaRPr lang="en-AU" smtClean="0">
              <a:latin typeface="Arial" pitchFamily="34" charset="0"/>
              <a:ea typeface="MS PGothic" pitchFamily="34" charset="-128"/>
            </a:endParaRPr>
          </a:p>
        </p:txBody>
      </p:sp>
      <p:sp>
        <p:nvSpPr>
          <p:cNvPr id="99331"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B67F86B-B589-4AF0-AD99-304FA4151E44}" type="slidenum">
              <a:rPr lang="en-AU"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141</a:t>
            </a:fld>
            <a:endParaRPr lang="en-AU" sz="1200">
              <a:solidFill>
                <a:srgbClr val="FFFFFF"/>
              </a:solidFill>
            </a:endParaRPr>
          </a:p>
        </p:txBody>
      </p:sp>
      <p:sp>
        <p:nvSpPr>
          <p:cNvPr id="99332" name="Rectangle 2"/>
          <p:cNvSpPr>
            <a:spLocks noGrp="1" noRot="1" noChangeAspect="1" noChangeArrowheads="1" noTextEdit="1"/>
          </p:cNvSpPr>
          <p:nvPr>
            <p:ph type="sldImg"/>
          </p:nvPr>
        </p:nvSpPr>
        <p:spPr>
          <a:solidFill>
            <a:srgbClr val="FFFFFF"/>
          </a:solidFill>
          <a:ln/>
        </p:spPr>
      </p:sp>
      <p:sp>
        <p:nvSpPr>
          <p:cNvPr id="99333"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Have seen that ciphers based on just substitutions or transpositions are not secure, and can be attacked because they do not sufficient obscure the underlying language structure</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So consider using several ciphers in succession to make harder.</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cs typeface="Arial" pitchFamily="34" charset="0"/>
              </a:rPr>
              <a:t>A substitution followed by a transposition is known as a Product Cipher, and makes a new much more secure cipher, and forms the bridge to modern ciphers.</a:t>
            </a:r>
          </a:p>
        </p:txBody>
      </p:sp>
    </p:spTree>
    <p:extLst>
      <p:ext uri="{BB962C8B-B14F-4D97-AF65-F5344CB8AC3E}">
        <p14:creationId xmlns:p14="http://schemas.microsoft.com/office/powerpoint/2010/main" val="2562113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5625FB6-A839-4062-88E1-600DFD2009F6}" type="slidenum">
              <a:rPr lang="en-AU" smtClean="0">
                <a:latin typeface="Arial" pitchFamily="34" charset="0"/>
                <a:ea typeface="MS PGothic" pitchFamily="34" charset="-128"/>
              </a:rPr>
              <a:pPr/>
              <a:t>164</a:t>
            </a:fld>
            <a:endParaRPr lang="en-AU" smtClean="0">
              <a:latin typeface="Arial" pitchFamily="34" charset="0"/>
              <a:ea typeface="MS PGothic" pitchFamily="34" charset="-128"/>
            </a:endParaRPr>
          </a:p>
        </p:txBody>
      </p:sp>
      <p:sp>
        <p:nvSpPr>
          <p:cNvPr id="101379"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095F9B7-1923-4A88-87B2-167CABF0C363}" type="slidenum">
              <a:rPr lang="en-AU" sz="1200">
                <a:solidFill>
                  <a:srgbClr val="FFFFFF"/>
                </a:solidFill>
              </a:rPr>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164</a:t>
            </a:fld>
            <a:endParaRPr lang="en-AU" sz="1200">
              <a:solidFill>
                <a:srgbClr val="FFFFFF"/>
              </a:solidFill>
            </a:endParaRPr>
          </a:p>
        </p:txBody>
      </p:sp>
      <p:sp>
        <p:nvSpPr>
          <p:cNvPr id="101380" name="Rectangle 2"/>
          <p:cNvSpPr>
            <a:spLocks noGrp="1" noRot="1" noChangeAspect="1" noChangeArrowheads="1" noTextEdit="1"/>
          </p:cNvSpPr>
          <p:nvPr>
            <p:ph type="sldImg"/>
          </p:nvPr>
        </p:nvSpPr>
        <p:spPr>
          <a:solidFill>
            <a:srgbClr val="FFFFFF"/>
          </a:solidFill>
          <a:ln/>
        </p:spPr>
      </p:sp>
      <p:sp>
        <p:nvSpPr>
          <p:cNvPr id="101381" name="Text Box 3"/>
          <p:cNvSpPr>
            <a:spLocks noGrp="1" noChangeArrowheads="1"/>
          </p:cNvSpPr>
          <p:nvPr>
            <p:ph type="body" idx="1"/>
          </p:nvPr>
        </p:nvSpPr>
        <p:spPr>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latin typeface="Arial" pitchFamily="34" charset="0"/>
                <a:ea typeface="MS PGothic" pitchFamily="34" charset="-128"/>
              </a:rPr>
              <a:t>Chapter 2 summary.</a:t>
            </a:r>
          </a:p>
        </p:txBody>
      </p:sp>
    </p:spTree>
    <p:extLst>
      <p:ext uri="{BB962C8B-B14F-4D97-AF65-F5344CB8AC3E}">
        <p14:creationId xmlns:p14="http://schemas.microsoft.com/office/powerpoint/2010/main" val="1386801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a:defRPr/>
            </a:pPr>
            <a:endParaRPr lang="en-US" altLang="zh-TW"/>
          </a:p>
        </p:txBody>
      </p:sp>
      <p:sp>
        <p:nvSpPr>
          <p:cNvPr id="17" name="Footer Placeholder 16"/>
          <p:cNvSpPr>
            <a:spLocks noGrp="1"/>
          </p:cNvSpPr>
          <p:nvPr>
            <p:ph type="ftr" sz="quarter" idx="11"/>
          </p:nvPr>
        </p:nvSpPr>
        <p:spPr>
          <a:xfrm>
            <a:off x="2898648" y="6355080"/>
            <a:ext cx="3474720" cy="365760"/>
          </a:xfrm>
        </p:spPr>
        <p:txBody>
          <a:bodyPr/>
          <a:lstStyle/>
          <a:p>
            <a:pPr>
              <a:defRPr/>
            </a:pPr>
            <a:endParaRPr lang="en-US" altLang="zh-TW"/>
          </a:p>
        </p:txBody>
      </p:sp>
      <p:sp>
        <p:nvSpPr>
          <p:cNvPr id="29" name="Slide Number Placeholder 28"/>
          <p:cNvSpPr>
            <a:spLocks noGrp="1"/>
          </p:cNvSpPr>
          <p:nvPr>
            <p:ph type="sldNum" sz="quarter" idx="12"/>
          </p:nvPr>
        </p:nvSpPr>
        <p:spPr>
          <a:xfrm>
            <a:off x="1216152" y="6355080"/>
            <a:ext cx="1219200" cy="365760"/>
          </a:xfrm>
        </p:spPr>
        <p:txBody>
          <a:bodyPr/>
          <a:lstStyle/>
          <a:p>
            <a:pPr>
              <a:defRPr/>
            </a:pPr>
            <a:fld id="{C1A8CA2D-C3EA-4B5D-9063-4B791553CE65}" type="slidenum">
              <a:rPr lang="en-US" altLang="zh-TW" smtClean="0"/>
              <a:pPr>
                <a:defRPr/>
              </a:pPr>
              <a:t>‹#›</a:t>
            </a:fld>
            <a:endParaRPr lang="en-US" altLang="zh-TW"/>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112118" cy="762000"/>
          </a:xfrm>
        </p:spPr>
        <p:txBody>
          <a:bodyPr>
            <a:normAutofit/>
          </a:bodyPr>
          <a:lstStyle>
            <a:lvl1pPr>
              <a:defRPr sz="2800"/>
            </a:lvl1p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2AE1BB51-D1AA-4897-85E6-C8A3B5D08B1B}" type="slidenum">
              <a:rPr lang="en-US" altLang="zh-TW" smtClean="0"/>
              <a:pPr>
                <a:defRPr/>
              </a:pPr>
              <a:t>‹#›</a:t>
            </a:fld>
            <a:endParaRPr lang="en-US" altLang="zh-TW"/>
          </a:p>
        </p:txBody>
      </p:sp>
      <p:sp>
        <p:nvSpPr>
          <p:cNvPr id="8" name="Content Placeholder 7"/>
          <p:cNvSpPr>
            <a:spLocks noGrp="1"/>
          </p:cNvSpPr>
          <p:nvPr>
            <p:ph sz="quarter" idx="1"/>
          </p:nvPr>
        </p:nvSpPr>
        <p:spPr>
          <a:xfrm>
            <a:off x="457200" y="1676400"/>
            <a:ext cx="8229600" cy="448056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pPr>
              <a:defRPr/>
            </a:pPr>
            <a:fld id="{BA10E694-4C5E-4961-ABDA-23AFCD47F61F}" type="slidenum">
              <a:rPr lang="en-US" altLang="zh-TW" smtClean="0"/>
              <a:pPr>
                <a:defRPr/>
              </a:pPr>
              <a:t>‹#›</a:t>
            </a:fld>
            <a:endParaRPr lang="en-US" altLang="zh-TW"/>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ACDF6120-F1F0-4C60-9FE9-39AC71A9C79D}" type="datetimeFigureOut">
              <a:rPr lang="en-US" smtClean="0"/>
              <a:pPr eaLnBrk="1" latinLnBrk="0" hangingPunct="1"/>
              <a:t>2/11/2022</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67F6689C-258D-4FBF-8888-B4FEEACD97DB}" type="slidenum">
              <a:rPr lang="en-US" altLang="zh-TW" smtClean="0"/>
              <a:pPr>
                <a:defRPr/>
              </a:pPr>
              <a:t>‹#›</a:t>
            </a:fld>
            <a:endParaRPr lang="en-US" altLang="zh-TW"/>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574682" y="152400"/>
            <a:ext cx="8112118" cy="990600"/>
          </a:xfrm>
          <a:prstGeom prst="rect">
            <a:avLst/>
          </a:prstGeom>
        </p:spPr>
        <p:txBody>
          <a:bodyPr vert="horz" anchor="b" anchorCtr="0">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473417" y="1828800"/>
            <a:ext cx="8229600" cy="38862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CDF6120-F1F0-4C60-9FE9-39AC71A9C79D}" type="datetimeFigureOut">
              <a:rPr lang="en-US" smtClean="0"/>
              <a:pPr eaLnBrk="1" latinLnBrk="0" hangingPunct="1"/>
              <a:t>2/11/2022</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defRPr/>
            </a:pPr>
            <a:fld id="{67F6689C-258D-4FBF-8888-B4FEEACD97DB}" type="slidenum">
              <a:rPr lang="en-US" altLang="zh-TW" smtClean="0"/>
              <a:pPr>
                <a:defRPr/>
              </a:pPr>
              <a:t>‹#›</a:t>
            </a:fld>
            <a:endParaRPr lang="en-US" altLang="zh-TW"/>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574682" y="1085850"/>
            <a:ext cx="8112118"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20" r:id="rId3"/>
    <p:sldLayoutId id="2147483721" r:id="rId4"/>
    <p:sldLayoutId id="2147483722" r:id="rId5"/>
    <p:sldLayoutId id="2147483723" r:id="rId6"/>
    <p:sldLayoutId id="2147483724" r:id="rId7"/>
    <p:sldLayoutId id="2147483726" r:id="rId8"/>
    <p:sldLayoutId id="2147483727" r:id="rId9"/>
  </p:sldLayoutIdLst>
  <p:txStyles>
    <p:titleStyle>
      <a:lvl1pPr algn="r" rtl="0" eaLnBrk="1" latinLnBrk="0" hangingPunct="1">
        <a:spcBef>
          <a:spcPct val="0"/>
        </a:spcBef>
        <a:buNone/>
        <a:defRPr kumimoji="0" sz="2800" b="0" kern="1200">
          <a:solidFill>
            <a:srgbClr val="FF0000"/>
          </a:solidFill>
          <a:latin typeface="Arial" pitchFamily="34" charset="0"/>
          <a:ea typeface="+mj-ea"/>
          <a:cs typeface="Arial" pitchFamily="34" charset="0"/>
        </a:defRPr>
      </a:lvl1pPr>
    </p:titleStyle>
    <p:bodyStyle>
      <a:lvl1pPr marL="274320" indent="-274320" algn="l" rtl="0" eaLnBrk="1" latinLnBrk="0" hangingPunct="1">
        <a:spcBef>
          <a:spcPts val="600"/>
        </a:spcBef>
        <a:buClr>
          <a:schemeClr val="accent1"/>
        </a:buClr>
        <a:buSzPct val="76000"/>
        <a:buFont typeface="Wingdings 3"/>
        <a:buChar char=""/>
        <a:defRPr kumimoji="0" sz="2000" kern="1200">
          <a:solidFill>
            <a:srgbClr val="0000FF"/>
          </a:solidFill>
          <a:latin typeface="Arial" pitchFamily="34" charset="0"/>
          <a:ea typeface="+mn-ea"/>
          <a:cs typeface="Arial" pitchFamily="34" charset="0"/>
        </a:defRPr>
      </a:lvl1pPr>
      <a:lvl2pPr marL="548640" indent="-274320" algn="l" rtl="0" eaLnBrk="1" latinLnBrk="0" hangingPunct="1">
        <a:spcBef>
          <a:spcPts val="500"/>
        </a:spcBef>
        <a:buClr>
          <a:schemeClr val="accent2"/>
        </a:buClr>
        <a:buSzPct val="76000"/>
        <a:buFont typeface="Wingdings 3"/>
        <a:buChar char=""/>
        <a:defRPr kumimoji="0" sz="2000" kern="1200">
          <a:solidFill>
            <a:srgbClr val="000000"/>
          </a:solidFill>
          <a:latin typeface="Arial" pitchFamily="34" charset="0"/>
          <a:ea typeface="+mn-ea"/>
          <a:cs typeface="Arial" pitchFamily="34" charset="0"/>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rgbClr val="000000"/>
          </a:solidFill>
          <a:latin typeface="Arial" pitchFamily="34" charset="0"/>
          <a:ea typeface="+mn-ea"/>
          <a:cs typeface="Arial"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2000" kern="1200">
          <a:solidFill>
            <a:srgbClr val="000000"/>
          </a:solidFill>
          <a:latin typeface="Arial" pitchFamily="34" charset="0"/>
          <a:ea typeface="+mn-ea"/>
          <a:cs typeface="Arial" pitchFamily="34" charset="0"/>
        </a:defRPr>
      </a:lvl4pPr>
      <a:lvl5pPr marL="1371600" indent="-228600" algn="l" rtl="0" eaLnBrk="1" latinLnBrk="0" hangingPunct="1">
        <a:spcBef>
          <a:spcPts val="300"/>
        </a:spcBef>
        <a:buClr>
          <a:schemeClr val="accent2"/>
        </a:buClr>
        <a:buSzPct val="70000"/>
        <a:buFont typeface="Wingdings"/>
        <a:buChar char=""/>
        <a:defRPr kumimoji="0" sz="2000" kern="1200">
          <a:solidFill>
            <a:srgbClr val="000000"/>
          </a:solidFill>
          <a:latin typeface="Arial" pitchFamily="34" charset="0"/>
          <a:ea typeface="+mn-ea"/>
          <a:cs typeface="Arial"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8.emf"/></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8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6.wmf"/><Relationship Id="rId4" Type="http://schemas.openxmlformats.org/officeDocument/2006/relationships/image" Target="../media/image75.wmf"/></Relationships>
</file>

<file path=ppt/slides/_rels/slide9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9.wmf"/></Relationships>
</file>

<file path=ppt/slides/_rels/slide96.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s>
</file>

<file path=ppt/slides/_rels/slide9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6.xml"/><Relationship Id="rId5" Type="http://schemas.openxmlformats.org/officeDocument/2006/relationships/image" Target="../media/image93.png"/><Relationship Id="rId4" Type="http://schemas.openxmlformats.org/officeDocument/2006/relationships/image" Target="../media/image92.png"/></Relationships>
</file>

<file path=ppt/slides/_rels/slide10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6.xml"/><Relationship Id="rId5" Type="http://schemas.openxmlformats.org/officeDocument/2006/relationships/image" Target="../media/image94.png"/><Relationship Id="rId4" Type="http://schemas.openxmlformats.org/officeDocument/2006/relationships/image" Target="../media/image93.png"/></Relationships>
</file>

<file path=ppt/slides/_rels/slide10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6.xml"/><Relationship Id="rId4" Type="http://schemas.openxmlformats.org/officeDocument/2006/relationships/image" Target="../media/image10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1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111.emf"/><Relationship Id="rId4" Type="http://schemas.openxmlformats.org/officeDocument/2006/relationships/oleObject" Target="../embeddings/oleObject2.bin"/></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112.emf"/><Relationship Id="rId4" Type="http://schemas.openxmlformats.org/officeDocument/2006/relationships/oleObject" Target="../embeddings/oleObject3.bin"/></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slideLayout" Target="../slideLayouts/slideLayout6.xml"/><Relationship Id="rId4" Type="http://schemas.openxmlformats.org/officeDocument/2006/relationships/image" Target="../media/image118.png"/></Relationships>
</file>

<file path=ppt/slides/_rels/slide12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14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47.png"/></Relationships>
</file>

<file path=ppt/slides/_rels/slide16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8.png"/><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219200" y="3962400"/>
            <a:ext cx="6858000" cy="685800"/>
          </a:xfrm>
        </p:spPr>
        <p:txBody>
          <a:bodyPr>
            <a:normAutofit/>
          </a:bodyPr>
          <a:lstStyle/>
          <a:p>
            <a:r>
              <a:rPr lang="en-US" sz="2800" dirty="0" smtClean="0">
                <a:solidFill>
                  <a:srgbClr val="0070C0"/>
                </a:solidFill>
              </a:rPr>
              <a:t>Classical Encryption Techniques</a:t>
            </a:r>
            <a:endParaRPr lang="en-AU" altLang="zh-TW" sz="2800" dirty="0" smtClean="0">
              <a:solidFill>
                <a:srgbClr val="0070C0"/>
              </a:solidFill>
            </a:endParaRPr>
          </a:p>
        </p:txBody>
      </p:sp>
      <p:sp>
        <p:nvSpPr>
          <p:cNvPr id="9219" name="Rectangle 3"/>
          <p:cNvSpPr>
            <a:spLocks noGrp="1" noChangeArrowheads="1"/>
          </p:cNvSpPr>
          <p:nvPr>
            <p:ph type="subTitle" idx="1"/>
          </p:nvPr>
        </p:nvSpPr>
        <p:spPr>
          <a:xfrm>
            <a:off x="1828800" y="5105400"/>
            <a:ext cx="6248400" cy="609600"/>
          </a:xfrm>
        </p:spPr>
        <p:txBody>
          <a:bodyPr>
            <a:normAutofit/>
          </a:bodyPr>
          <a:lstStyle/>
          <a:p>
            <a:r>
              <a:rPr lang="en-AU" altLang="zh-TW" sz="2400" dirty="0" err="1" smtClean="0">
                <a:solidFill>
                  <a:srgbClr val="FF0000"/>
                </a:solidFill>
                <a:latin typeface="Arial" pitchFamily="34" charset="0"/>
                <a:cs typeface="Arial" pitchFamily="34" charset="0"/>
              </a:rPr>
              <a:t>Dr.</a:t>
            </a:r>
            <a:r>
              <a:rPr lang="en-AU" altLang="zh-TW" sz="2400" dirty="0" smtClean="0">
                <a:solidFill>
                  <a:srgbClr val="FF0000"/>
                </a:solidFill>
                <a:latin typeface="Arial" pitchFamily="34" charset="0"/>
                <a:cs typeface="Arial" pitchFamily="34" charset="0"/>
              </a:rPr>
              <a:t> Md. </a:t>
            </a:r>
            <a:r>
              <a:rPr lang="en-AU" altLang="zh-TW" sz="2400" dirty="0" err="1" smtClean="0">
                <a:solidFill>
                  <a:srgbClr val="FF0000"/>
                </a:solidFill>
                <a:latin typeface="Arial" pitchFamily="34" charset="0"/>
                <a:cs typeface="Arial" pitchFamily="34" charset="0"/>
              </a:rPr>
              <a:t>Mahbubur</a:t>
            </a:r>
            <a:r>
              <a:rPr lang="en-AU" altLang="zh-TW" sz="2400" dirty="0" smtClean="0">
                <a:solidFill>
                  <a:srgbClr val="FF0000"/>
                </a:solidFill>
                <a:latin typeface="Arial" pitchFamily="34" charset="0"/>
                <a:cs typeface="Arial" pitchFamily="34" charset="0"/>
              </a:rPr>
              <a:t> </a:t>
            </a:r>
            <a:r>
              <a:rPr lang="en-AU" altLang="zh-TW" sz="2400" dirty="0" err="1" smtClean="0">
                <a:solidFill>
                  <a:srgbClr val="FF0000"/>
                </a:solidFill>
                <a:latin typeface="Arial" pitchFamily="34" charset="0"/>
                <a:cs typeface="Arial" pitchFamily="34" charset="0"/>
              </a:rPr>
              <a:t>Rahman</a:t>
            </a:r>
            <a:endParaRPr lang="en-AU" altLang="zh-TW" sz="2400" dirty="0" smtClean="0">
              <a:solidFill>
                <a:srgbClr val="FF0000"/>
              </a:solidFill>
              <a:latin typeface="Arial" pitchFamily="34" charset="0"/>
              <a:cs typeface="Arial" pitchFamily="34" charset="0"/>
            </a:endParaRPr>
          </a:p>
          <a:p>
            <a:endParaRPr lang="en-AU" altLang="zh-TW" sz="2800" dirty="0" smtClean="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smtClean="0"/>
              <a:t>Outline</a:t>
            </a:r>
          </a:p>
        </p:txBody>
      </p:sp>
      <p:sp>
        <p:nvSpPr>
          <p:cNvPr id="10243" name="Content Placeholder 2"/>
          <p:cNvSpPr>
            <a:spLocks noGrp="1"/>
          </p:cNvSpPr>
          <p:nvPr>
            <p:ph sz="quarter" idx="1"/>
          </p:nvPr>
        </p:nvSpPr>
        <p:spPr>
          <a:xfrm>
            <a:off x="457200" y="1524000"/>
            <a:ext cx="8229600" cy="4572000"/>
          </a:xfrm>
        </p:spPr>
        <p:txBody>
          <a:bodyPr>
            <a:normAutofit fontScale="92500" lnSpcReduction="10000"/>
          </a:bodyPr>
          <a:lstStyle/>
          <a:p>
            <a:pPr marL="514350" indent="-514350" algn="just">
              <a:spcAft>
                <a:spcPct val="50000"/>
              </a:spcAft>
              <a:buClr>
                <a:schemeClr val="tx1"/>
              </a:buClr>
              <a:buSzPct val="100000"/>
              <a:buFont typeface="+mj-lt"/>
              <a:buAutoNum type="arabicPeriod"/>
            </a:pPr>
            <a:r>
              <a:rPr lang="en-US" sz="2400" dirty="0" smtClean="0">
                <a:solidFill>
                  <a:schemeClr val="tx1"/>
                </a:solidFill>
              </a:rPr>
              <a:t>To </a:t>
            </a:r>
            <a:r>
              <a:rPr lang="en-US" sz="2400" dirty="0">
                <a:solidFill>
                  <a:schemeClr val="tx1"/>
                </a:solidFill>
              </a:rPr>
              <a:t>define the terms and the concepts of </a:t>
            </a:r>
            <a:r>
              <a:rPr lang="en-US" sz="2400" dirty="0" smtClean="0">
                <a:solidFill>
                  <a:schemeClr val="tx1"/>
                </a:solidFill>
              </a:rPr>
              <a:t>symmetric  key </a:t>
            </a:r>
            <a:r>
              <a:rPr lang="en-US" sz="2400" dirty="0">
                <a:solidFill>
                  <a:schemeClr val="tx1"/>
                </a:solidFill>
              </a:rPr>
              <a:t>ciphers</a:t>
            </a:r>
          </a:p>
          <a:p>
            <a:pPr marL="514350" indent="-514350" algn="just">
              <a:spcAft>
                <a:spcPct val="50000"/>
              </a:spcAft>
              <a:buClr>
                <a:schemeClr val="tx1"/>
              </a:buClr>
              <a:buSzPct val="100000"/>
              <a:buFont typeface="+mj-lt"/>
              <a:buAutoNum type="arabicPeriod"/>
            </a:pPr>
            <a:r>
              <a:rPr lang="en-US" sz="2400" dirty="0" smtClean="0">
                <a:solidFill>
                  <a:schemeClr val="tx1"/>
                </a:solidFill>
              </a:rPr>
              <a:t>To emphasize </a:t>
            </a:r>
            <a:r>
              <a:rPr lang="en-US" sz="2400" dirty="0">
                <a:solidFill>
                  <a:schemeClr val="tx1"/>
                </a:solidFill>
              </a:rPr>
              <a:t>the two categories of </a:t>
            </a:r>
            <a:r>
              <a:rPr lang="en-US" sz="2400" dirty="0" smtClean="0">
                <a:solidFill>
                  <a:schemeClr val="tx1"/>
                </a:solidFill>
              </a:rPr>
              <a:t>traditional ciphers</a:t>
            </a:r>
            <a:r>
              <a:rPr lang="en-US" sz="2400" dirty="0">
                <a:solidFill>
                  <a:schemeClr val="tx1"/>
                </a:solidFill>
              </a:rPr>
              <a:t>: substitution </a:t>
            </a:r>
            <a:r>
              <a:rPr lang="en-US" sz="2400" dirty="0" smtClean="0">
                <a:solidFill>
                  <a:schemeClr val="tx1"/>
                </a:solidFill>
              </a:rPr>
              <a:t> and </a:t>
            </a:r>
            <a:r>
              <a:rPr lang="en-US" sz="2400" dirty="0">
                <a:solidFill>
                  <a:schemeClr val="tx1"/>
                </a:solidFill>
              </a:rPr>
              <a:t>transposition ciphers</a:t>
            </a:r>
          </a:p>
          <a:p>
            <a:pPr marL="514350" indent="-514350" algn="just">
              <a:spcAft>
                <a:spcPct val="50000"/>
              </a:spcAft>
              <a:buClr>
                <a:schemeClr val="tx1"/>
              </a:buClr>
              <a:buSzPct val="100000"/>
              <a:buFont typeface="+mj-lt"/>
              <a:buAutoNum type="arabicPeriod"/>
            </a:pPr>
            <a:r>
              <a:rPr lang="en-US" sz="2400" dirty="0">
                <a:solidFill>
                  <a:schemeClr val="tx1"/>
                </a:solidFill>
              </a:rPr>
              <a:t>T</a:t>
            </a:r>
            <a:r>
              <a:rPr lang="en-US" sz="2400" dirty="0" smtClean="0">
                <a:solidFill>
                  <a:schemeClr val="tx1"/>
                </a:solidFill>
              </a:rPr>
              <a:t>o </a:t>
            </a:r>
            <a:r>
              <a:rPr lang="en-US" sz="2400" dirty="0">
                <a:solidFill>
                  <a:schemeClr val="tx1"/>
                </a:solidFill>
              </a:rPr>
              <a:t>describe the categories of cryptanalysis used </a:t>
            </a:r>
            <a:r>
              <a:rPr lang="en-US" sz="2400" dirty="0" smtClean="0">
                <a:solidFill>
                  <a:schemeClr val="tx1"/>
                </a:solidFill>
              </a:rPr>
              <a:t>to </a:t>
            </a:r>
            <a:r>
              <a:rPr lang="en-US" sz="2400" dirty="0">
                <a:solidFill>
                  <a:schemeClr val="tx1"/>
                </a:solidFill>
              </a:rPr>
              <a:t>break </a:t>
            </a:r>
            <a:r>
              <a:rPr lang="en-US" sz="2400" dirty="0" smtClean="0">
                <a:solidFill>
                  <a:schemeClr val="tx1"/>
                </a:solidFill>
              </a:rPr>
              <a:t>the symmetric </a:t>
            </a:r>
            <a:r>
              <a:rPr lang="en-US" sz="2400" dirty="0">
                <a:solidFill>
                  <a:schemeClr val="tx1"/>
                </a:solidFill>
              </a:rPr>
              <a:t>ciphers</a:t>
            </a:r>
          </a:p>
          <a:p>
            <a:pPr marL="514350" indent="-514350" algn="just">
              <a:spcAft>
                <a:spcPct val="50000"/>
              </a:spcAft>
              <a:buClr>
                <a:schemeClr val="tx1"/>
              </a:buClr>
              <a:buSzPct val="100000"/>
              <a:buFont typeface="+mj-lt"/>
              <a:buAutoNum type="arabicPeriod"/>
            </a:pPr>
            <a:r>
              <a:rPr lang="en-US" sz="2400" dirty="0" smtClean="0">
                <a:solidFill>
                  <a:schemeClr val="tx1"/>
                </a:solidFill>
              </a:rPr>
              <a:t>To </a:t>
            </a:r>
            <a:r>
              <a:rPr lang="en-US" sz="2400" dirty="0">
                <a:solidFill>
                  <a:schemeClr val="tx1"/>
                </a:solidFill>
              </a:rPr>
              <a:t>introduce the concepts of the stream ciphers </a:t>
            </a:r>
            <a:r>
              <a:rPr lang="en-US" sz="2400" dirty="0" smtClean="0">
                <a:solidFill>
                  <a:schemeClr val="tx1"/>
                </a:solidFill>
              </a:rPr>
              <a:t>and </a:t>
            </a:r>
            <a:r>
              <a:rPr lang="en-US" sz="2400" dirty="0">
                <a:solidFill>
                  <a:schemeClr val="tx1"/>
                </a:solidFill>
              </a:rPr>
              <a:t>block ciphers</a:t>
            </a:r>
          </a:p>
          <a:p>
            <a:pPr marL="514350" indent="-514350" algn="just">
              <a:spcAft>
                <a:spcPct val="50000"/>
              </a:spcAft>
              <a:buClr>
                <a:schemeClr val="tx1"/>
              </a:buClr>
              <a:buSzPct val="100000"/>
              <a:buFont typeface="+mj-lt"/>
              <a:buAutoNum type="arabicPeriod"/>
            </a:pPr>
            <a:r>
              <a:rPr lang="en-US" sz="2400" dirty="0" smtClean="0">
                <a:solidFill>
                  <a:schemeClr val="tx1"/>
                </a:solidFill>
              </a:rPr>
              <a:t>To </a:t>
            </a:r>
            <a:r>
              <a:rPr lang="en-US" sz="2400" dirty="0">
                <a:solidFill>
                  <a:schemeClr val="tx1"/>
                </a:solidFill>
              </a:rPr>
              <a:t>discuss some very dominant ciphers used in </a:t>
            </a:r>
            <a:r>
              <a:rPr lang="en-US" sz="2400" dirty="0" smtClean="0">
                <a:solidFill>
                  <a:schemeClr val="tx1"/>
                </a:solidFill>
              </a:rPr>
              <a:t>the </a:t>
            </a:r>
            <a:r>
              <a:rPr lang="en-US" sz="2400" dirty="0">
                <a:solidFill>
                  <a:schemeClr val="tx1"/>
                </a:solidFill>
              </a:rPr>
              <a:t>past, such as the Enigma machine</a:t>
            </a:r>
          </a:p>
          <a:p>
            <a:pPr algn="just"/>
            <a:endParaRPr lang="en-US" sz="2000" dirty="0" smtClean="0"/>
          </a:p>
          <a:p>
            <a:endParaRPr lang="en-US" sz="20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304800" y="457200"/>
            <a:ext cx="8458200" cy="639762"/>
          </a:xfrm>
        </p:spPr>
        <p:txBody>
          <a:bodyPr/>
          <a:lstStyle/>
          <a:p>
            <a:r>
              <a:rPr lang="en-US" dirty="0" smtClean="0">
                <a:latin typeface="Arial" pitchFamily="34" charset="0"/>
                <a:cs typeface="Arial" pitchFamily="34" charset="0"/>
              </a:rPr>
              <a:t>Cryptographic Algorithms</a:t>
            </a:r>
          </a:p>
        </p:txBody>
      </p:sp>
      <p:sp>
        <p:nvSpPr>
          <p:cNvPr id="11267" name="Content Placeholder 2"/>
          <p:cNvSpPr>
            <a:spLocks noGrp="1"/>
          </p:cNvSpPr>
          <p:nvPr>
            <p:ph sz="quarter" idx="1"/>
          </p:nvPr>
        </p:nvSpPr>
        <p:spPr>
          <a:xfrm>
            <a:off x="457200" y="1219200"/>
            <a:ext cx="8305800" cy="4876800"/>
          </a:xfrm>
        </p:spPr>
        <p:txBody>
          <a:bodyPr>
            <a:noAutofit/>
          </a:bodyPr>
          <a:lstStyle/>
          <a:p>
            <a:pPr algn="just"/>
            <a:r>
              <a:rPr lang="en-US" sz="2000" dirty="0" smtClean="0">
                <a:latin typeface="Arial" pitchFamily="34" charset="0"/>
                <a:cs typeface="Arial" pitchFamily="34" charset="0"/>
              </a:rPr>
              <a:t>Symmetric encryption:  </a:t>
            </a:r>
            <a:r>
              <a:rPr lang="en-US" sz="2000" dirty="0" smtClean="0">
                <a:solidFill>
                  <a:schemeClr val="tx1"/>
                </a:solidFill>
                <a:latin typeface="Arial" pitchFamily="34" charset="0"/>
                <a:cs typeface="Arial" pitchFamily="34" charset="0"/>
              </a:rPr>
              <a:t>Used to conceal the contents of blocks or streams of data of any size, including messages, files, encryption keys and passwords.</a:t>
            </a:r>
          </a:p>
          <a:p>
            <a:pPr algn="just"/>
            <a:endParaRPr lang="en-US" sz="2000" dirty="0" smtClean="0">
              <a:latin typeface="Arial" pitchFamily="34" charset="0"/>
              <a:cs typeface="Arial" pitchFamily="34" charset="0"/>
            </a:endParaRPr>
          </a:p>
          <a:p>
            <a:pPr algn="just"/>
            <a:r>
              <a:rPr lang="en-US" sz="2000" dirty="0" smtClean="0">
                <a:latin typeface="Arial" pitchFamily="34" charset="0"/>
                <a:cs typeface="Arial" pitchFamily="34" charset="0"/>
              </a:rPr>
              <a:t>Asymmetric encryption: </a:t>
            </a:r>
            <a:r>
              <a:rPr lang="en-US" sz="2000" dirty="0" smtClean="0">
                <a:solidFill>
                  <a:schemeClr val="tx1"/>
                </a:solidFill>
                <a:latin typeface="Arial" pitchFamily="34" charset="0"/>
                <a:cs typeface="Arial" pitchFamily="34" charset="0"/>
              </a:rPr>
              <a:t>Used</a:t>
            </a:r>
            <a:r>
              <a:rPr lang="en-US" sz="2000" dirty="0" smtClean="0">
                <a:latin typeface="Arial" pitchFamily="34" charset="0"/>
                <a:cs typeface="Arial" pitchFamily="34" charset="0"/>
              </a:rPr>
              <a:t> </a:t>
            </a:r>
            <a:r>
              <a:rPr lang="en-US" sz="2000" dirty="0" smtClean="0">
                <a:solidFill>
                  <a:schemeClr val="tx1"/>
                </a:solidFill>
                <a:latin typeface="Arial" pitchFamily="34" charset="0"/>
                <a:cs typeface="Arial" pitchFamily="34" charset="0"/>
              </a:rPr>
              <a:t>to conceal small blocks of data, such as encryption keys and hash function values, which are used in digital signatures.</a:t>
            </a:r>
          </a:p>
          <a:p>
            <a:pPr algn="just"/>
            <a:endParaRPr lang="en-US" sz="2000" dirty="0" smtClean="0">
              <a:latin typeface="Arial" pitchFamily="34" charset="0"/>
              <a:cs typeface="Arial" pitchFamily="34" charset="0"/>
            </a:endParaRPr>
          </a:p>
          <a:p>
            <a:pPr algn="just"/>
            <a:r>
              <a:rPr lang="en-US" sz="2000" dirty="0" smtClean="0">
                <a:latin typeface="Arial" pitchFamily="34" charset="0"/>
                <a:cs typeface="Arial" pitchFamily="34" charset="0"/>
              </a:rPr>
              <a:t>Data integrity algorithms: </a:t>
            </a:r>
            <a:r>
              <a:rPr lang="en-US" sz="2000" dirty="0" smtClean="0">
                <a:solidFill>
                  <a:schemeClr val="tx1"/>
                </a:solidFill>
                <a:latin typeface="Arial" pitchFamily="34" charset="0"/>
                <a:cs typeface="Arial" pitchFamily="34" charset="0"/>
              </a:rPr>
              <a:t>Used to protect blocks of data, such as messages, from alteration.</a:t>
            </a:r>
          </a:p>
          <a:p>
            <a:pPr algn="just"/>
            <a:endParaRPr lang="en-US" sz="2000" dirty="0" smtClean="0">
              <a:latin typeface="Arial" pitchFamily="34" charset="0"/>
              <a:cs typeface="Arial" pitchFamily="34" charset="0"/>
            </a:endParaRPr>
          </a:p>
          <a:p>
            <a:pPr algn="just"/>
            <a:r>
              <a:rPr lang="en-US" sz="2000" dirty="0" smtClean="0">
                <a:latin typeface="Arial" pitchFamily="34" charset="0"/>
                <a:cs typeface="Arial" pitchFamily="34" charset="0"/>
              </a:rPr>
              <a:t>Authentication protocols: </a:t>
            </a:r>
            <a:r>
              <a:rPr lang="en-US" sz="2000" dirty="0" smtClean="0">
                <a:solidFill>
                  <a:schemeClr val="tx1"/>
                </a:solidFill>
                <a:latin typeface="Arial" pitchFamily="34" charset="0"/>
                <a:cs typeface="Arial" pitchFamily="34" charset="0"/>
              </a:rPr>
              <a:t>These are schemes based on the use of cryptographic algorithms designed to authenticate the identity of entities</a:t>
            </a:r>
            <a:r>
              <a:rPr lang="en-US" sz="2000" dirty="0" smtClean="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81000" y="533400"/>
            <a:ext cx="8458200" cy="639763"/>
          </a:xfrm>
        </p:spPr>
        <p:txBody>
          <a:bodyPr/>
          <a:lstStyle/>
          <a:p>
            <a:r>
              <a:rPr lang="en-US" dirty="0" smtClean="0"/>
              <a:t>Encryption for Confidentiality</a:t>
            </a:r>
          </a:p>
        </p:txBody>
      </p:sp>
      <p:sp>
        <p:nvSpPr>
          <p:cNvPr id="13315" name="Content Placeholder 2"/>
          <p:cNvSpPr>
            <a:spLocks noGrp="1"/>
          </p:cNvSpPr>
          <p:nvPr>
            <p:ph sz="quarter" idx="1"/>
          </p:nvPr>
        </p:nvSpPr>
        <p:spPr>
          <a:xfrm>
            <a:off x="457200" y="1752600"/>
            <a:ext cx="8305800" cy="4191000"/>
          </a:xfrm>
        </p:spPr>
        <p:txBody>
          <a:bodyPr>
            <a:normAutofit/>
          </a:bodyPr>
          <a:lstStyle/>
          <a:p>
            <a:pPr algn="just">
              <a:buFontTx/>
              <a:buBlip>
                <a:blip r:embed="rId2"/>
              </a:buBlip>
            </a:pPr>
            <a:r>
              <a:rPr lang="en-US" dirty="0" smtClean="0"/>
              <a:t>Aim:</a:t>
            </a:r>
            <a:r>
              <a:rPr lang="en-US" dirty="0" smtClean="0">
                <a:solidFill>
                  <a:schemeClr val="tx1"/>
                </a:solidFill>
              </a:rPr>
              <a:t> assure </a:t>
            </a:r>
            <a:r>
              <a:rPr lang="en-US" dirty="0" smtClean="0">
                <a:solidFill>
                  <a:srgbClr val="FF0000"/>
                </a:solidFill>
              </a:rPr>
              <a:t>confidential</a:t>
            </a:r>
            <a:r>
              <a:rPr lang="en-US" dirty="0" smtClean="0">
                <a:solidFill>
                  <a:schemeClr val="tx1"/>
                </a:solidFill>
              </a:rPr>
              <a:t> information not made available to unauthorized individuals (</a:t>
            </a:r>
            <a:r>
              <a:rPr lang="en-US" dirty="0" smtClean="0">
                <a:solidFill>
                  <a:srgbClr val="FF0000"/>
                </a:solidFill>
              </a:rPr>
              <a:t>data confidentiality</a:t>
            </a:r>
            <a:r>
              <a:rPr lang="en-US" dirty="0" smtClean="0">
                <a:solidFill>
                  <a:schemeClr val="tx1"/>
                </a:solidFill>
              </a:rPr>
              <a:t>)</a:t>
            </a:r>
          </a:p>
          <a:p>
            <a:pPr algn="just">
              <a:buFontTx/>
              <a:buNone/>
            </a:pPr>
            <a:endParaRPr lang="en-US" dirty="0" smtClean="0">
              <a:solidFill>
                <a:schemeClr val="tx1"/>
              </a:solidFill>
            </a:endParaRPr>
          </a:p>
          <a:p>
            <a:pPr algn="just">
              <a:buFontTx/>
              <a:buBlip>
                <a:blip r:embed="rId2"/>
              </a:buBlip>
            </a:pPr>
            <a:r>
              <a:rPr lang="en-US" dirty="0" smtClean="0"/>
              <a:t>How:</a:t>
            </a:r>
            <a:r>
              <a:rPr lang="en-US" dirty="0" smtClean="0">
                <a:solidFill>
                  <a:schemeClr val="tx1"/>
                </a:solidFill>
              </a:rPr>
              <a:t> </a:t>
            </a:r>
            <a:r>
              <a:rPr lang="en-US" dirty="0" smtClean="0">
                <a:solidFill>
                  <a:srgbClr val="FF0000"/>
                </a:solidFill>
              </a:rPr>
              <a:t>encrypt</a:t>
            </a:r>
            <a:r>
              <a:rPr lang="en-US" dirty="0" smtClean="0">
                <a:solidFill>
                  <a:schemeClr val="tx1"/>
                </a:solidFill>
              </a:rPr>
              <a:t> the original data; anyone can see the encrypted data, but only </a:t>
            </a:r>
            <a:r>
              <a:rPr lang="en-US" dirty="0" smtClean="0">
                <a:solidFill>
                  <a:srgbClr val="FF0000"/>
                </a:solidFill>
              </a:rPr>
              <a:t>authorized individuals </a:t>
            </a:r>
            <a:r>
              <a:rPr lang="en-US" dirty="0" smtClean="0"/>
              <a:t>can </a:t>
            </a:r>
            <a:r>
              <a:rPr lang="en-US" dirty="0" smtClean="0">
                <a:solidFill>
                  <a:srgbClr val="FF0000"/>
                </a:solidFill>
              </a:rPr>
              <a:t>decrypt</a:t>
            </a:r>
            <a:r>
              <a:rPr lang="en-US" dirty="0" smtClean="0">
                <a:solidFill>
                  <a:schemeClr val="tx1"/>
                </a:solidFill>
              </a:rPr>
              <a:t> to see the original data</a:t>
            </a:r>
          </a:p>
          <a:p>
            <a:pPr algn="just">
              <a:buFontTx/>
              <a:buNone/>
            </a:pPr>
            <a:endParaRPr lang="en-US" dirty="0" smtClean="0">
              <a:solidFill>
                <a:schemeClr val="tx1"/>
              </a:solidFill>
            </a:endParaRPr>
          </a:p>
          <a:p>
            <a:pPr algn="just">
              <a:buFontTx/>
              <a:buBlip>
                <a:blip r:embed="rId2"/>
              </a:buBlip>
            </a:pPr>
            <a:r>
              <a:rPr lang="en-US" dirty="0" smtClean="0"/>
              <a:t>Used</a:t>
            </a:r>
            <a:r>
              <a:rPr lang="en-US" dirty="0" smtClean="0">
                <a:solidFill>
                  <a:schemeClr val="tx1"/>
                </a:solidFill>
              </a:rPr>
              <a:t> for both </a:t>
            </a:r>
            <a:r>
              <a:rPr lang="en-US" dirty="0" smtClean="0">
                <a:solidFill>
                  <a:srgbClr val="FF0000"/>
                </a:solidFill>
              </a:rPr>
              <a:t>sending</a:t>
            </a:r>
            <a:r>
              <a:rPr lang="en-US" dirty="0" smtClean="0">
                <a:solidFill>
                  <a:schemeClr val="tx1"/>
                </a:solidFill>
              </a:rPr>
              <a:t> data across network and </a:t>
            </a:r>
            <a:r>
              <a:rPr lang="en-US" dirty="0" smtClean="0">
                <a:solidFill>
                  <a:srgbClr val="FF0000"/>
                </a:solidFill>
              </a:rPr>
              <a:t>storing </a:t>
            </a:r>
            <a:r>
              <a:rPr lang="en-US" dirty="0" smtClean="0">
                <a:solidFill>
                  <a:schemeClr val="tx1"/>
                </a:solidFill>
              </a:rPr>
              <a:t>data on a computer system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67506" y="533400"/>
            <a:ext cx="8458200" cy="639763"/>
          </a:xfrm>
        </p:spPr>
        <p:txBody>
          <a:bodyPr>
            <a:normAutofit/>
          </a:bodyPr>
          <a:lstStyle/>
          <a:p>
            <a:r>
              <a:rPr lang="en-US" dirty="0" smtClean="0"/>
              <a:t>Model of Encryption for Confidentiality</a:t>
            </a:r>
          </a:p>
        </p:txBody>
      </p:sp>
      <p:pic>
        <p:nvPicPr>
          <p:cNvPr id="14339" name="Picture 3" descr="D:\Dr. Mahbub\MIST_new\Crptography\classical\crypto-generic-encryption-1a-r595.png"/>
          <p:cNvPicPr>
            <a:picLocks noChangeAspect="1" noChangeArrowheads="1"/>
          </p:cNvPicPr>
          <p:nvPr/>
        </p:nvPicPr>
        <p:blipFill>
          <a:blip r:embed="rId2"/>
          <a:srcRect/>
          <a:stretch>
            <a:fillRect/>
          </a:stretch>
        </p:blipFill>
        <p:spPr bwMode="auto">
          <a:xfrm>
            <a:off x="1828801" y="2514600"/>
            <a:ext cx="5486400" cy="274320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3400" y="533400"/>
            <a:ext cx="8305800" cy="639763"/>
          </a:xfrm>
        </p:spPr>
        <p:txBody>
          <a:bodyPr>
            <a:normAutofit/>
          </a:bodyPr>
          <a:lstStyle/>
          <a:p>
            <a:r>
              <a:rPr lang="en-US" sz="2800" dirty="0" smtClean="0"/>
              <a:t>Model of Encryption for Confidentiality</a:t>
            </a:r>
          </a:p>
        </p:txBody>
      </p:sp>
      <p:pic>
        <p:nvPicPr>
          <p:cNvPr id="15363" name="Picture 4" descr="D:\Dr. Mahbub\MIST_new\Crptography\classical\crypto-generic-encryption-1b-r595.png"/>
          <p:cNvPicPr>
            <a:picLocks noChangeAspect="1" noChangeArrowheads="1"/>
          </p:cNvPicPr>
          <p:nvPr/>
        </p:nvPicPr>
        <p:blipFill>
          <a:blip r:embed="rId2"/>
          <a:srcRect/>
          <a:stretch>
            <a:fillRect/>
          </a:stretch>
        </p:blipFill>
        <p:spPr bwMode="auto">
          <a:xfrm>
            <a:off x="1752600" y="2514599"/>
            <a:ext cx="5527343" cy="2778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381000" y="457200"/>
            <a:ext cx="8382000" cy="639763"/>
          </a:xfrm>
        </p:spPr>
        <p:txBody>
          <a:bodyPr>
            <a:normAutofit/>
          </a:bodyPr>
          <a:lstStyle/>
          <a:p>
            <a:r>
              <a:rPr lang="en-US" dirty="0" smtClean="0"/>
              <a:t>Model of Encryption for Confidentiality</a:t>
            </a:r>
          </a:p>
        </p:txBody>
      </p:sp>
      <p:pic>
        <p:nvPicPr>
          <p:cNvPr id="16387" name="Picture 2" descr="D:\Dr. Mahbub\MIST_new\Crptography\classical\crypto-generic-encryption-1c-r595.png"/>
          <p:cNvPicPr>
            <a:picLocks noChangeAspect="1" noChangeArrowheads="1"/>
          </p:cNvPicPr>
          <p:nvPr/>
        </p:nvPicPr>
        <p:blipFill>
          <a:blip r:embed="rId2"/>
          <a:srcRect/>
          <a:stretch>
            <a:fillRect/>
          </a:stretch>
        </p:blipFill>
        <p:spPr bwMode="auto">
          <a:xfrm>
            <a:off x="1828800" y="2438400"/>
            <a:ext cx="5486400" cy="27797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457200"/>
            <a:ext cx="8458200" cy="639763"/>
          </a:xfrm>
        </p:spPr>
        <p:txBody>
          <a:bodyPr/>
          <a:lstStyle/>
          <a:p>
            <a:r>
              <a:rPr lang="en-US" dirty="0" smtClean="0"/>
              <a:t>Terminology</a:t>
            </a:r>
          </a:p>
        </p:txBody>
      </p:sp>
      <p:sp>
        <p:nvSpPr>
          <p:cNvPr id="18435" name="Rectangle 3"/>
          <p:cNvSpPr>
            <a:spLocks noChangeArrowheads="1"/>
          </p:cNvSpPr>
          <p:nvPr/>
        </p:nvSpPr>
        <p:spPr bwMode="auto">
          <a:xfrm>
            <a:off x="590550" y="1181100"/>
            <a:ext cx="8229600" cy="5029200"/>
          </a:xfrm>
          <a:prstGeom prst="rect">
            <a:avLst/>
          </a:prstGeom>
          <a:noFill/>
          <a:ln w="9525">
            <a:noFill/>
            <a:miter lim="800000"/>
            <a:headEnd/>
            <a:tailEnd/>
          </a:ln>
        </p:spPr>
        <p:txBody>
          <a:bodyPr>
            <a:spAutoFit/>
          </a:bodyPr>
          <a:lstStyle/>
          <a:p>
            <a:pPr>
              <a:lnSpc>
                <a:spcPts val="3500"/>
              </a:lnSpc>
            </a:pPr>
            <a:r>
              <a:rPr lang="en-US" sz="2000" dirty="0">
                <a:solidFill>
                  <a:srgbClr val="0000FF"/>
                </a:solidFill>
                <a:latin typeface="CMSS10"/>
              </a:rPr>
              <a:t>Plaintext </a:t>
            </a:r>
            <a:r>
              <a:rPr lang="en-US" sz="2000" dirty="0">
                <a:solidFill>
                  <a:srgbClr val="3333B3"/>
                </a:solidFill>
                <a:latin typeface="CMSS10"/>
              </a:rPr>
              <a:t>	</a:t>
            </a:r>
            <a:r>
              <a:rPr lang="en-US" sz="2000" dirty="0">
                <a:solidFill>
                  <a:srgbClr val="000000"/>
                </a:solidFill>
                <a:latin typeface="CMSS10"/>
              </a:rPr>
              <a:t>original message</a:t>
            </a:r>
          </a:p>
          <a:p>
            <a:pPr>
              <a:lnSpc>
                <a:spcPts val="3500"/>
              </a:lnSpc>
            </a:pPr>
            <a:r>
              <a:rPr lang="en-US" sz="2000" dirty="0" err="1">
                <a:solidFill>
                  <a:srgbClr val="0000FF"/>
                </a:solidFill>
                <a:latin typeface="CMSS10"/>
              </a:rPr>
              <a:t>Ciphertext</a:t>
            </a:r>
            <a:r>
              <a:rPr lang="en-US" sz="2000" dirty="0">
                <a:solidFill>
                  <a:srgbClr val="0000FF"/>
                </a:solidFill>
                <a:latin typeface="CMSS10"/>
              </a:rPr>
              <a:t> </a:t>
            </a:r>
            <a:r>
              <a:rPr lang="en-US" sz="2000" dirty="0">
                <a:solidFill>
                  <a:srgbClr val="3333B3"/>
                </a:solidFill>
                <a:latin typeface="CMSS10"/>
              </a:rPr>
              <a:t>	</a:t>
            </a:r>
            <a:r>
              <a:rPr lang="en-US" sz="2000" dirty="0">
                <a:solidFill>
                  <a:srgbClr val="000000"/>
                </a:solidFill>
                <a:latin typeface="CMSS10"/>
              </a:rPr>
              <a:t>encrypted or coded message</a:t>
            </a:r>
          </a:p>
          <a:p>
            <a:pPr>
              <a:lnSpc>
                <a:spcPts val="3500"/>
              </a:lnSpc>
            </a:pPr>
            <a:r>
              <a:rPr lang="en-US" sz="2000" dirty="0">
                <a:solidFill>
                  <a:srgbClr val="0000FF"/>
                </a:solidFill>
                <a:latin typeface="CMSS10"/>
              </a:rPr>
              <a:t>Encryption </a:t>
            </a:r>
            <a:r>
              <a:rPr lang="en-US" sz="2000" dirty="0">
                <a:solidFill>
                  <a:srgbClr val="3333B3"/>
                </a:solidFill>
                <a:latin typeface="CMSS10"/>
              </a:rPr>
              <a:t>	</a:t>
            </a:r>
            <a:r>
              <a:rPr lang="en-US" sz="2000" dirty="0">
                <a:solidFill>
                  <a:srgbClr val="000000"/>
                </a:solidFill>
                <a:latin typeface="CMSS10"/>
              </a:rPr>
              <a:t>convert from plaintext to </a:t>
            </a:r>
            <a:r>
              <a:rPr lang="en-US" sz="2000" dirty="0" err="1">
                <a:solidFill>
                  <a:srgbClr val="000000"/>
                </a:solidFill>
                <a:latin typeface="CMSS10"/>
              </a:rPr>
              <a:t>ciphertext</a:t>
            </a:r>
            <a:r>
              <a:rPr lang="en-US" sz="2000" dirty="0">
                <a:solidFill>
                  <a:srgbClr val="000000"/>
                </a:solidFill>
                <a:latin typeface="CMSS10"/>
              </a:rPr>
              <a:t> (enciphering)</a:t>
            </a:r>
          </a:p>
          <a:p>
            <a:pPr>
              <a:lnSpc>
                <a:spcPts val="3500"/>
              </a:lnSpc>
            </a:pPr>
            <a:r>
              <a:rPr lang="en-US" sz="2000" dirty="0">
                <a:solidFill>
                  <a:srgbClr val="0000FF"/>
                </a:solidFill>
                <a:latin typeface="CMSS10"/>
              </a:rPr>
              <a:t>Decryption </a:t>
            </a:r>
            <a:r>
              <a:rPr lang="en-US" sz="2000" dirty="0">
                <a:solidFill>
                  <a:srgbClr val="3333B3"/>
                </a:solidFill>
                <a:latin typeface="CMSS10"/>
              </a:rPr>
              <a:t>	</a:t>
            </a:r>
            <a:r>
              <a:rPr lang="en-US" sz="2000" dirty="0">
                <a:solidFill>
                  <a:srgbClr val="000000"/>
                </a:solidFill>
                <a:latin typeface="CMSS10"/>
              </a:rPr>
              <a:t>restore the plaintext from </a:t>
            </a:r>
            <a:r>
              <a:rPr lang="en-US" sz="2000" dirty="0" err="1">
                <a:solidFill>
                  <a:srgbClr val="000000"/>
                </a:solidFill>
                <a:latin typeface="CMSS10"/>
              </a:rPr>
              <a:t>ciphertext</a:t>
            </a:r>
            <a:r>
              <a:rPr lang="en-US" sz="2000" dirty="0">
                <a:solidFill>
                  <a:srgbClr val="000000"/>
                </a:solidFill>
                <a:latin typeface="CMSS10"/>
              </a:rPr>
              <a:t> (deciphering)</a:t>
            </a:r>
          </a:p>
          <a:p>
            <a:pPr>
              <a:lnSpc>
                <a:spcPts val="3500"/>
              </a:lnSpc>
            </a:pPr>
            <a:r>
              <a:rPr lang="en-US" sz="2000" dirty="0">
                <a:solidFill>
                  <a:srgbClr val="0000FF"/>
                </a:solidFill>
                <a:latin typeface="CMSS10"/>
              </a:rPr>
              <a:t>Key </a:t>
            </a:r>
            <a:r>
              <a:rPr lang="en-US" sz="2000" dirty="0">
                <a:solidFill>
                  <a:srgbClr val="3333B3"/>
                </a:solidFill>
                <a:latin typeface="CMSS10"/>
              </a:rPr>
              <a:t>		</a:t>
            </a:r>
            <a:r>
              <a:rPr lang="en-US" sz="2000" dirty="0">
                <a:solidFill>
                  <a:srgbClr val="000000"/>
                </a:solidFill>
                <a:latin typeface="CMSS10"/>
              </a:rPr>
              <a:t>information used in cipher known only to 			sender/receiver</a:t>
            </a:r>
          </a:p>
          <a:p>
            <a:pPr>
              <a:lnSpc>
                <a:spcPts val="3500"/>
              </a:lnSpc>
            </a:pPr>
            <a:r>
              <a:rPr lang="pt-BR" sz="2000" dirty="0">
                <a:solidFill>
                  <a:srgbClr val="0000FF"/>
                </a:solidFill>
                <a:latin typeface="CMSS10"/>
              </a:rPr>
              <a:t>Cipher </a:t>
            </a:r>
            <a:r>
              <a:rPr lang="pt-BR" sz="2000" dirty="0">
                <a:solidFill>
                  <a:srgbClr val="3333B3"/>
                </a:solidFill>
                <a:latin typeface="CMSS10"/>
              </a:rPr>
              <a:t>		</a:t>
            </a:r>
            <a:r>
              <a:rPr lang="pt-BR" sz="2000" dirty="0">
                <a:solidFill>
                  <a:srgbClr val="FF0000"/>
                </a:solidFill>
                <a:latin typeface="CMSS10"/>
              </a:rPr>
              <a:t>a particular algorithm</a:t>
            </a:r>
            <a:r>
              <a:rPr lang="pt-BR" sz="2000" dirty="0">
                <a:solidFill>
                  <a:srgbClr val="000000"/>
                </a:solidFill>
                <a:latin typeface="CMSS10"/>
              </a:rPr>
              <a:t> (cryptographic system)</a:t>
            </a:r>
          </a:p>
          <a:p>
            <a:pPr>
              <a:lnSpc>
                <a:spcPts val="3500"/>
              </a:lnSpc>
            </a:pPr>
            <a:r>
              <a:rPr lang="en-US" sz="2000" dirty="0">
                <a:solidFill>
                  <a:srgbClr val="0000FF"/>
                </a:solidFill>
                <a:latin typeface="CMSS10"/>
              </a:rPr>
              <a:t>Cryptography </a:t>
            </a:r>
            <a:r>
              <a:rPr lang="en-US" sz="2000" dirty="0">
                <a:solidFill>
                  <a:srgbClr val="3333B3"/>
                </a:solidFill>
                <a:latin typeface="CMSS10"/>
              </a:rPr>
              <a:t>	</a:t>
            </a:r>
            <a:r>
              <a:rPr lang="en-US" sz="2000" dirty="0">
                <a:solidFill>
                  <a:srgbClr val="000000"/>
                </a:solidFill>
                <a:latin typeface="CMSS10"/>
              </a:rPr>
              <a:t>study of algorithms used for encryption</a:t>
            </a:r>
          </a:p>
          <a:p>
            <a:pPr>
              <a:lnSpc>
                <a:spcPts val="3500"/>
              </a:lnSpc>
            </a:pPr>
            <a:r>
              <a:rPr lang="en-US" sz="2000" dirty="0">
                <a:solidFill>
                  <a:srgbClr val="0000FF"/>
                </a:solidFill>
                <a:latin typeface="CMSS10"/>
              </a:rPr>
              <a:t>Cryptanalysis</a:t>
            </a:r>
            <a:r>
              <a:rPr lang="en-US" sz="2000" dirty="0">
                <a:solidFill>
                  <a:srgbClr val="3333B3"/>
                </a:solidFill>
                <a:latin typeface="CMSS10"/>
              </a:rPr>
              <a:t> 	</a:t>
            </a:r>
            <a:r>
              <a:rPr lang="en-US" sz="2000" dirty="0">
                <a:solidFill>
                  <a:srgbClr val="000000"/>
                </a:solidFill>
                <a:latin typeface="CMSS10"/>
              </a:rPr>
              <a:t>study of techniques for decryption without</a:t>
            </a:r>
          </a:p>
          <a:p>
            <a:pPr>
              <a:lnSpc>
                <a:spcPts val="3500"/>
              </a:lnSpc>
            </a:pPr>
            <a:r>
              <a:rPr lang="en-US" sz="2000" dirty="0">
                <a:solidFill>
                  <a:srgbClr val="000000"/>
                </a:solidFill>
                <a:latin typeface="CMSS10"/>
              </a:rPr>
              <a:t>		knowledge of plaintext</a:t>
            </a:r>
          </a:p>
          <a:p>
            <a:pPr>
              <a:lnSpc>
                <a:spcPts val="3500"/>
              </a:lnSpc>
            </a:pPr>
            <a:r>
              <a:rPr lang="en-US" sz="2000" dirty="0">
                <a:solidFill>
                  <a:srgbClr val="0000FF"/>
                </a:solidFill>
                <a:latin typeface="CMSS10"/>
              </a:rPr>
              <a:t>Cryptology </a:t>
            </a:r>
            <a:r>
              <a:rPr lang="en-US" sz="2000" dirty="0">
                <a:solidFill>
                  <a:srgbClr val="3333B3"/>
                </a:solidFill>
                <a:latin typeface="CMSS10"/>
              </a:rPr>
              <a:t>	</a:t>
            </a:r>
            <a:r>
              <a:rPr lang="en-US" sz="2000" dirty="0">
                <a:solidFill>
                  <a:srgbClr val="000000"/>
                </a:solidFill>
                <a:latin typeface="CMSS10"/>
              </a:rPr>
              <a:t>areas of cryptography and cryptanalysis</a:t>
            </a:r>
            <a:endParaRPr 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81000"/>
            <a:ext cx="8458200" cy="639763"/>
          </a:xfrm>
        </p:spPr>
        <p:txBody>
          <a:bodyPr/>
          <a:lstStyle/>
          <a:p>
            <a:pPr eaLnBrk="1" hangingPunct="1"/>
            <a:r>
              <a:rPr lang="en-US" dirty="0" smtClean="0">
                <a:ea typeface="MS PGothic" pitchFamily="34" charset="-128"/>
              </a:rPr>
              <a:t>Symmetric Encryption</a:t>
            </a:r>
            <a:endParaRPr lang="en-AU" altLang="zh-TW" dirty="0" smtClean="0">
              <a:ea typeface="MS PGothic" pitchFamily="34" charset="-128"/>
            </a:endParaRPr>
          </a:p>
        </p:txBody>
      </p:sp>
      <p:sp>
        <p:nvSpPr>
          <p:cNvPr id="19459" name="Rectangle 3"/>
          <p:cNvSpPr>
            <a:spLocks noGrp="1" noChangeArrowheads="1"/>
          </p:cNvSpPr>
          <p:nvPr>
            <p:ph sz="quarter" idx="1"/>
          </p:nvPr>
        </p:nvSpPr>
        <p:spPr>
          <a:xfrm>
            <a:off x="762000" y="1905000"/>
            <a:ext cx="7620000" cy="2209800"/>
          </a:xfrm>
        </p:spPr>
        <p:txBody>
          <a:bodyPr/>
          <a:lstStyle/>
          <a:p>
            <a:pPr eaLnBrk="1" hangingPunct="1">
              <a:buClr>
                <a:srgbClr val="0000FF"/>
              </a:buClr>
              <a:buFont typeface="Wingdings" pitchFamily="2" charset="2"/>
              <a:buChar char="q"/>
            </a:pPr>
            <a:r>
              <a:rPr lang="en-US" dirty="0" smtClean="0">
                <a:solidFill>
                  <a:schemeClr val="tx1"/>
                </a:solidFill>
                <a:ea typeface="MS PGothic" pitchFamily="34" charset="-128"/>
              </a:rPr>
              <a:t>or conventional / </a:t>
            </a:r>
            <a:r>
              <a:rPr lang="en-AU" altLang="zh-TW" dirty="0" smtClean="0">
                <a:solidFill>
                  <a:schemeClr val="tx1"/>
                </a:solidFill>
                <a:ea typeface="MS PGothic" pitchFamily="34" charset="-128"/>
              </a:rPr>
              <a:t>private-key</a:t>
            </a:r>
            <a:r>
              <a:rPr lang="en-US" dirty="0" smtClean="0">
                <a:solidFill>
                  <a:schemeClr val="tx1"/>
                </a:solidFill>
                <a:ea typeface="MS PGothic" pitchFamily="34" charset="-128"/>
              </a:rPr>
              <a:t>  / single-key</a:t>
            </a:r>
          </a:p>
          <a:p>
            <a:pPr eaLnBrk="1" hangingPunct="1">
              <a:buClr>
                <a:srgbClr val="0000FF"/>
              </a:buClr>
              <a:buFont typeface="Wingdings" pitchFamily="2" charset="2"/>
              <a:buChar char="q"/>
            </a:pPr>
            <a:r>
              <a:rPr lang="en-AU" altLang="zh-TW" dirty="0" smtClean="0">
                <a:solidFill>
                  <a:schemeClr val="tx1"/>
                </a:solidFill>
                <a:ea typeface="MS PGothic" pitchFamily="34" charset="-128"/>
              </a:rPr>
              <a:t>sender and recipient share a common key</a:t>
            </a:r>
          </a:p>
          <a:p>
            <a:pPr eaLnBrk="1" hangingPunct="1">
              <a:buClr>
                <a:srgbClr val="0000FF"/>
              </a:buClr>
              <a:buFont typeface="Wingdings" pitchFamily="2" charset="2"/>
              <a:buChar char="q"/>
            </a:pPr>
            <a:r>
              <a:rPr lang="en-AU" altLang="zh-TW" dirty="0" smtClean="0">
                <a:solidFill>
                  <a:schemeClr val="tx1"/>
                </a:solidFill>
                <a:ea typeface="MS PGothic" pitchFamily="34" charset="-128"/>
              </a:rPr>
              <a:t>all classical encryption algorithms are private-key</a:t>
            </a:r>
          </a:p>
          <a:p>
            <a:pPr eaLnBrk="1" hangingPunct="1">
              <a:buClr>
                <a:srgbClr val="0000FF"/>
              </a:buClr>
              <a:buFont typeface="Wingdings" pitchFamily="2" charset="2"/>
              <a:buChar char="q"/>
            </a:pPr>
            <a:r>
              <a:rPr lang="en-US" dirty="0" smtClean="0">
                <a:solidFill>
                  <a:schemeClr val="tx1"/>
                </a:solidFill>
                <a:ea typeface="MS PGothic" pitchFamily="34" charset="-128"/>
              </a:rPr>
              <a:t>was only type prior to invention of public-key in 1970’s</a:t>
            </a:r>
          </a:p>
          <a:p>
            <a:pPr eaLnBrk="1" hangingPunct="1">
              <a:buClr>
                <a:srgbClr val="0000FF"/>
              </a:buClr>
              <a:buFont typeface="Wingdings" pitchFamily="2" charset="2"/>
              <a:buChar char="q"/>
            </a:pPr>
            <a:r>
              <a:rPr lang="en-US" dirty="0" smtClean="0">
                <a:solidFill>
                  <a:schemeClr val="tx1"/>
                </a:solidFill>
                <a:ea typeface="MS PGothic" pitchFamily="34" charset="-128"/>
              </a:rPr>
              <a:t>and by far most widely used</a:t>
            </a:r>
            <a:endParaRPr lang="en-AU" altLang="zh-TW" dirty="0" smtClean="0">
              <a:solidFill>
                <a:schemeClr val="tx1"/>
              </a:solidFill>
              <a:ea typeface="MS PGothic" pitchFamily="34" charset="-128"/>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81000" y="457200"/>
            <a:ext cx="8458200" cy="639763"/>
          </a:xfrm>
        </p:spPr>
        <p:txBody>
          <a:bodyPr/>
          <a:lstStyle/>
          <a:p>
            <a:pPr eaLnBrk="1" hangingPunct="1"/>
            <a:r>
              <a:rPr lang="en-US" smtClean="0">
                <a:ea typeface="MS PGothic" pitchFamily="34" charset="-128"/>
              </a:rPr>
              <a:t>Symmetric Cipher Model</a:t>
            </a:r>
            <a:endParaRPr lang="en-AU" altLang="zh-TW" smtClean="0">
              <a:ea typeface="MS PGothic" pitchFamily="34" charset="-128"/>
            </a:endParaRPr>
          </a:p>
        </p:txBody>
      </p:sp>
      <p:pic>
        <p:nvPicPr>
          <p:cNvPr id="20483" name="Picture 2" descr="D:\Dr. Mahbub\MIST_new\Crptography\classical\crypto-symmetric-encryption-1-r597.png"/>
          <p:cNvPicPr>
            <a:picLocks noChangeAspect="1" noChangeArrowheads="1"/>
          </p:cNvPicPr>
          <p:nvPr/>
        </p:nvPicPr>
        <p:blipFill>
          <a:blip r:embed="rId3"/>
          <a:srcRect/>
          <a:stretch>
            <a:fillRect/>
          </a:stretch>
        </p:blipFill>
        <p:spPr bwMode="auto">
          <a:xfrm>
            <a:off x="1143000" y="2286000"/>
            <a:ext cx="6881813" cy="2257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81000" y="457200"/>
            <a:ext cx="8458200" cy="639763"/>
          </a:xfrm>
        </p:spPr>
        <p:txBody>
          <a:bodyPr/>
          <a:lstStyle/>
          <a:p>
            <a:pPr eaLnBrk="1" hangingPunct="1"/>
            <a:r>
              <a:rPr lang="en-US" dirty="0" smtClean="0">
                <a:ea typeface="MS PGothic" pitchFamily="34" charset="-128"/>
              </a:rPr>
              <a:t>Requirements and assumptions</a:t>
            </a:r>
            <a:endParaRPr lang="en-AU" altLang="zh-TW" dirty="0" smtClean="0">
              <a:ea typeface="MS PGothic" pitchFamily="34" charset="-128"/>
            </a:endParaRPr>
          </a:p>
        </p:txBody>
      </p:sp>
      <p:sp>
        <p:nvSpPr>
          <p:cNvPr id="21507" name="Rectangle 3"/>
          <p:cNvSpPr>
            <a:spLocks noGrp="1" noChangeArrowheads="1"/>
          </p:cNvSpPr>
          <p:nvPr>
            <p:ph sz="quarter" idx="1"/>
          </p:nvPr>
        </p:nvSpPr>
        <p:spPr>
          <a:xfrm>
            <a:off x="457200" y="1524000"/>
            <a:ext cx="8305800" cy="4495800"/>
          </a:xfrm>
        </p:spPr>
        <p:txBody>
          <a:bodyPr>
            <a:normAutofit/>
          </a:bodyPr>
          <a:lstStyle/>
          <a:p>
            <a:pPr eaLnBrk="1" hangingPunct="1">
              <a:lnSpc>
                <a:spcPct val="90000"/>
              </a:lnSpc>
              <a:buFontTx/>
              <a:buBlip>
                <a:blip r:embed="rId3"/>
              </a:buBlip>
            </a:pPr>
            <a:r>
              <a:rPr lang="en-US" dirty="0" smtClean="0">
                <a:ea typeface="MS PGothic" pitchFamily="34" charset="-128"/>
              </a:rPr>
              <a:t>two requirements for secure use of symmetric encryption:</a:t>
            </a:r>
          </a:p>
          <a:p>
            <a:pPr lvl="1" eaLnBrk="1" hangingPunct="1">
              <a:lnSpc>
                <a:spcPct val="90000"/>
              </a:lnSpc>
              <a:buFontTx/>
              <a:buChar char="–"/>
            </a:pPr>
            <a:r>
              <a:rPr lang="en-US" dirty="0" smtClean="0">
                <a:ea typeface="MS PGothic" pitchFamily="34" charset="-128"/>
              </a:rPr>
              <a:t>a strong encryption algorithm (</a:t>
            </a:r>
            <a:r>
              <a:rPr lang="en-US" dirty="0" smtClean="0">
                <a:solidFill>
                  <a:srgbClr val="FF0000"/>
                </a:solidFill>
                <a:ea typeface="MS PGothic" pitchFamily="34" charset="-128"/>
              </a:rPr>
              <a:t>cannot decrypt and know key</a:t>
            </a:r>
            <a:r>
              <a:rPr lang="en-US" dirty="0" smtClean="0">
                <a:ea typeface="MS PGothic" pitchFamily="34" charset="-128"/>
              </a:rPr>
              <a:t>)</a:t>
            </a:r>
          </a:p>
          <a:p>
            <a:pPr lvl="1" eaLnBrk="1" hangingPunct="1">
              <a:lnSpc>
                <a:spcPct val="90000"/>
              </a:lnSpc>
              <a:buFontTx/>
              <a:buChar char="–"/>
            </a:pPr>
            <a:r>
              <a:rPr lang="en-US" dirty="0" smtClean="0">
                <a:ea typeface="MS PGothic" pitchFamily="34" charset="-128"/>
              </a:rPr>
              <a:t>a secret key known only to sender / receiver</a:t>
            </a:r>
          </a:p>
          <a:p>
            <a:pPr lvl="1" eaLnBrk="1" hangingPunct="1">
              <a:lnSpc>
                <a:spcPct val="90000"/>
              </a:lnSpc>
              <a:buFontTx/>
              <a:buChar char="–"/>
            </a:pPr>
            <a:endParaRPr lang="en-US" dirty="0" smtClean="0">
              <a:ea typeface="MS PGothic" pitchFamily="34" charset="-128"/>
            </a:endParaRPr>
          </a:p>
          <a:p>
            <a:pPr eaLnBrk="1" hangingPunct="1">
              <a:lnSpc>
                <a:spcPct val="90000"/>
              </a:lnSpc>
              <a:buFontTx/>
              <a:buBlip>
                <a:blip r:embed="rId3"/>
              </a:buBlip>
            </a:pPr>
            <a:r>
              <a:rPr lang="en-US" dirty="0" smtClean="0">
                <a:ea typeface="MS PGothic" pitchFamily="34" charset="-128"/>
              </a:rPr>
              <a:t>mathematically have:</a:t>
            </a:r>
          </a:p>
          <a:p>
            <a:pPr lvl="1" eaLnBrk="1" hangingPunct="1">
              <a:lnSpc>
                <a:spcPct val="90000"/>
              </a:lnSpc>
              <a:buFont typeface="Wingdings" pitchFamily="2" charset="2"/>
              <a:buNone/>
            </a:pPr>
            <a:r>
              <a:rPr lang="en-US" i="1" dirty="0" smtClean="0">
                <a:ea typeface="MS PGothic" pitchFamily="34" charset="-128"/>
              </a:rPr>
              <a:t>	C </a:t>
            </a:r>
            <a:r>
              <a:rPr lang="en-US" dirty="0" smtClean="0">
                <a:ea typeface="MS PGothic" pitchFamily="34" charset="-128"/>
              </a:rPr>
              <a:t>= E(K, </a:t>
            </a:r>
            <a:r>
              <a:rPr lang="en-US" i="1" dirty="0" smtClean="0">
                <a:ea typeface="MS PGothic" pitchFamily="34" charset="-128"/>
              </a:rPr>
              <a:t>P</a:t>
            </a:r>
            <a:r>
              <a:rPr lang="en-US" dirty="0" smtClean="0">
                <a:ea typeface="MS PGothic" pitchFamily="34" charset="-128"/>
              </a:rPr>
              <a:t>)</a:t>
            </a:r>
          </a:p>
          <a:p>
            <a:pPr lvl="1" eaLnBrk="1" hangingPunct="1">
              <a:lnSpc>
                <a:spcPct val="90000"/>
              </a:lnSpc>
              <a:buFont typeface="Wingdings" pitchFamily="2" charset="2"/>
              <a:buNone/>
            </a:pPr>
            <a:r>
              <a:rPr lang="en-US" i="1" dirty="0" smtClean="0">
                <a:ea typeface="MS PGothic" pitchFamily="34" charset="-128"/>
              </a:rPr>
              <a:t>	P </a:t>
            </a:r>
            <a:r>
              <a:rPr lang="en-US" dirty="0" smtClean="0">
                <a:ea typeface="MS PGothic" pitchFamily="34" charset="-128"/>
              </a:rPr>
              <a:t>= D(K, </a:t>
            </a:r>
            <a:r>
              <a:rPr lang="en-US" i="1" dirty="0" smtClean="0">
                <a:ea typeface="MS PGothic" pitchFamily="34" charset="-128"/>
              </a:rPr>
              <a:t>C</a:t>
            </a:r>
            <a:r>
              <a:rPr lang="en-US" dirty="0" smtClean="0">
                <a:ea typeface="MS PGothic" pitchFamily="34" charset="-128"/>
              </a:rPr>
              <a:t>)</a:t>
            </a:r>
          </a:p>
          <a:p>
            <a:pPr lvl="1" eaLnBrk="1" hangingPunct="1">
              <a:lnSpc>
                <a:spcPct val="90000"/>
              </a:lnSpc>
              <a:buFont typeface="Wingdings" pitchFamily="2" charset="2"/>
              <a:buNone/>
            </a:pPr>
            <a:endParaRPr lang="en-US" dirty="0" smtClean="0">
              <a:ea typeface="MS PGothic" pitchFamily="34" charset="-128"/>
            </a:endParaRPr>
          </a:p>
          <a:p>
            <a:pPr eaLnBrk="1" hangingPunct="1">
              <a:lnSpc>
                <a:spcPct val="90000"/>
              </a:lnSpc>
              <a:buFontTx/>
              <a:buBlip>
                <a:blip r:embed="rId3"/>
              </a:buBlip>
            </a:pPr>
            <a:r>
              <a:rPr lang="en-US" dirty="0" smtClean="0">
                <a:ea typeface="MS PGothic" pitchFamily="34" charset="-128"/>
              </a:rPr>
              <a:t>Assumptions</a:t>
            </a:r>
          </a:p>
          <a:p>
            <a:pPr lvl="1" eaLnBrk="1" hangingPunct="1">
              <a:lnSpc>
                <a:spcPct val="90000"/>
              </a:lnSpc>
              <a:buFont typeface="Arial" pitchFamily="34" charset="0"/>
              <a:buChar char="•"/>
            </a:pPr>
            <a:r>
              <a:rPr lang="en-US" dirty="0" smtClean="0">
                <a:ea typeface="MS PGothic" pitchFamily="34" charset="-128"/>
              </a:rPr>
              <a:t>	 encryption algorithm is known</a:t>
            </a:r>
          </a:p>
          <a:p>
            <a:pPr lvl="1" eaLnBrk="1" hangingPunct="1">
              <a:lnSpc>
                <a:spcPct val="90000"/>
              </a:lnSpc>
              <a:buFont typeface="Arial" pitchFamily="34" charset="0"/>
              <a:buChar char="•"/>
            </a:pPr>
            <a:r>
              <a:rPr lang="en-US" dirty="0" smtClean="0">
                <a:ea typeface="MS PGothic" pitchFamily="34" charset="-128"/>
              </a:rPr>
              <a:t>	a secure channel to distribute key</a:t>
            </a:r>
            <a:endParaRPr lang="en-AU" altLang="zh-TW" dirty="0" smtClean="0">
              <a:ea typeface="MS PGothic" pitchFamily="34" charset="-128"/>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Kerckhoff’s</a:t>
            </a:r>
            <a:r>
              <a:rPr lang="en-US" dirty="0" smtClean="0"/>
              <a:t>  principle</a:t>
            </a:r>
            <a:endParaRPr lang="en-US" dirty="0"/>
          </a:p>
        </p:txBody>
      </p:sp>
      <p:sp>
        <p:nvSpPr>
          <p:cNvPr id="3" name="Rectangle 2"/>
          <p:cNvSpPr/>
          <p:nvPr/>
        </p:nvSpPr>
        <p:spPr>
          <a:xfrm>
            <a:off x="685800" y="1295400"/>
            <a:ext cx="7924800" cy="3416320"/>
          </a:xfrm>
          <a:prstGeom prst="rect">
            <a:avLst/>
          </a:prstGeom>
        </p:spPr>
        <p:txBody>
          <a:bodyPr wrap="square">
            <a:spAutoFit/>
          </a:bodyPr>
          <a:lstStyle/>
          <a:p>
            <a:pPr algn="just" eaLnBrk="1" hangingPunct="1">
              <a:lnSpc>
                <a:spcPct val="90000"/>
              </a:lnSpc>
              <a:buFontTx/>
              <a:buBlip>
                <a:blip r:embed="rId2"/>
              </a:buBlip>
            </a:pPr>
            <a:r>
              <a:rPr lang="en-US" dirty="0" smtClean="0">
                <a:ea typeface="MS PGothic" pitchFamily="34" charset="-128"/>
              </a:rPr>
              <a:t> </a:t>
            </a:r>
            <a:r>
              <a:rPr lang="en-US" sz="2000" dirty="0" smtClean="0">
                <a:ea typeface="MS PGothic" pitchFamily="34" charset="-128"/>
              </a:rPr>
              <a:t>Although it may appear that a cipher would be more secure if  we hide both the encryption/decryption algorithm and the secret key, this is not recommended. </a:t>
            </a:r>
          </a:p>
          <a:p>
            <a:pPr algn="just" eaLnBrk="1" hangingPunct="1">
              <a:lnSpc>
                <a:spcPct val="90000"/>
              </a:lnSpc>
              <a:buFontTx/>
              <a:buBlip>
                <a:blip r:embed="rId2"/>
              </a:buBlip>
            </a:pPr>
            <a:endParaRPr lang="en-US" sz="2000" dirty="0">
              <a:ea typeface="MS PGothic" pitchFamily="34" charset="-128"/>
            </a:endParaRPr>
          </a:p>
          <a:p>
            <a:pPr algn="just" eaLnBrk="1" hangingPunct="1">
              <a:lnSpc>
                <a:spcPct val="90000"/>
              </a:lnSpc>
              <a:buFontTx/>
              <a:buBlip>
                <a:blip r:embed="rId2"/>
              </a:buBlip>
            </a:pPr>
            <a:r>
              <a:rPr lang="en-US" sz="2000" dirty="0" smtClean="0">
                <a:ea typeface="MS PGothic" pitchFamily="34" charset="-128"/>
              </a:rPr>
              <a:t>Based on  </a:t>
            </a:r>
            <a:r>
              <a:rPr lang="en-US" sz="2000" dirty="0" err="1" smtClean="0">
                <a:ea typeface="MS PGothic" pitchFamily="34" charset="-128"/>
              </a:rPr>
              <a:t>Kerckhoff’s</a:t>
            </a:r>
            <a:r>
              <a:rPr lang="en-US" sz="2000" dirty="0" smtClean="0">
                <a:ea typeface="MS PGothic" pitchFamily="34" charset="-128"/>
              </a:rPr>
              <a:t>  principle, one  should </a:t>
            </a:r>
            <a:r>
              <a:rPr lang="en-US" sz="2000" dirty="0" smtClean="0">
                <a:solidFill>
                  <a:srgbClr val="FF0000"/>
                </a:solidFill>
                <a:ea typeface="MS PGothic" pitchFamily="34" charset="-128"/>
              </a:rPr>
              <a:t>always assume that the adversary , Eve, knows the encryption/decryption algorithm.</a:t>
            </a:r>
            <a:r>
              <a:rPr lang="en-US" sz="2000" dirty="0" smtClean="0">
                <a:ea typeface="MS PGothic" pitchFamily="34" charset="-128"/>
              </a:rPr>
              <a:t> </a:t>
            </a:r>
            <a:r>
              <a:rPr lang="en-US" sz="2000" dirty="0" smtClean="0">
                <a:solidFill>
                  <a:srgbClr val="3333FF"/>
                </a:solidFill>
                <a:ea typeface="MS PGothic" pitchFamily="34" charset="-128"/>
              </a:rPr>
              <a:t>The resistance  of the cipher to attack must be based only on the secrecy of key. </a:t>
            </a:r>
          </a:p>
          <a:p>
            <a:pPr algn="just" eaLnBrk="1" hangingPunct="1">
              <a:lnSpc>
                <a:spcPct val="90000"/>
              </a:lnSpc>
              <a:buFontTx/>
              <a:buBlip>
                <a:blip r:embed="rId2"/>
              </a:buBlip>
            </a:pPr>
            <a:endParaRPr lang="en-US" sz="2000" dirty="0">
              <a:ea typeface="MS PGothic" pitchFamily="34" charset="-128"/>
            </a:endParaRPr>
          </a:p>
          <a:p>
            <a:pPr algn="just" eaLnBrk="1" hangingPunct="1">
              <a:lnSpc>
                <a:spcPct val="90000"/>
              </a:lnSpc>
              <a:buFontTx/>
              <a:buBlip>
                <a:blip r:embed="rId2"/>
              </a:buBlip>
            </a:pPr>
            <a:endParaRPr lang="en-US" sz="2000" dirty="0" smtClean="0">
              <a:ea typeface="MS PGothic" pitchFamily="34" charset="-128"/>
            </a:endParaRPr>
          </a:p>
          <a:p>
            <a:pPr algn="just" eaLnBrk="1" hangingPunct="1">
              <a:lnSpc>
                <a:spcPct val="90000"/>
              </a:lnSpc>
              <a:buFontTx/>
              <a:buBlip>
                <a:blip r:embed="rId2"/>
              </a:buBlip>
            </a:pPr>
            <a:r>
              <a:rPr lang="en-US" sz="2000" dirty="0" smtClean="0">
                <a:ea typeface="MS PGothic" pitchFamily="34" charset="-128"/>
              </a:rPr>
              <a:t>In other words, </a:t>
            </a:r>
            <a:r>
              <a:rPr lang="en-US" sz="2000" dirty="0" smtClean="0">
                <a:solidFill>
                  <a:srgbClr val="FF0000"/>
                </a:solidFill>
                <a:ea typeface="MS PGothic" pitchFamily="34" charset="-128"/>
              </a:rPr>
              <a:t>guessing the key</a:t>
            </a:r>
            <a:r>
              <a:rPr lang="en-US" sz="2000" dirty="0" smtClean="0">
                <a:ea typeface="MS PGothic" pitchFamily="34" charset="-128"/>
              </a:rPr>
              <a:t>  should be so difficult  that there is no need to hide the encryption/decryption algorithm.</a:t>
            </a:r>
            <a:endParaRPr lang="en-US" sz="2000" dirty="0">
              <a:ea typeface="MS PGothic" pitchFamily="34" charset="-128"/>
            </a:endParaRPr>
          </a:p>
        </p:txBody>
      </p:sp>
    </p:spTree>
    <p:extLst>
      <p:ext uri="{BB962C8B-B14F-4D97-AF65-F5344CB8AC3E}">
        <p14:creationId xmlns:p14="http://schemas.microsoft.com/office/powerpoint/2010/main" val="41734636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81000" y="288925"/>
            <a:ext cx="8458200" cy="639763"/>
          </a:xfrm>
        </p:spPr>
        <p:txBody>
          <a:bodyPr/>
          <a:lstStyle/>
          <a:p>
            <a:r>
              <a:rPr lang="en-US" dirty="0" smtClean="0"/>
              <a:t>Characterizing Cryptographic Systems</a:t>
            </a:r>
          </a:p>
        </p:txBody>
      </p:sp>
      <p:sp>
        <p:nvSpPr>
          <p:cNvPr id="22531" name="Rectangle 3"/>
          <p:cNvSpPr>
            <a:spLocks noChangeArrowheads="1"/>
          </p:cNvSpPr>
          <p:nvPr/>
        </p:nvSpPr>
        <p:spPr bwMode="auto">
          <a:xfrm>
            <a:off x="381000" y="890588"/>
            <a:ext cx="8610600" cy="5092700"/>
          </a:xfrm>
          <a:prstGeom prst="rect">
            <a:avLst/>
          </a:prstGeom>
          <a:noFill/>
          <a:ln w="9525">
            <a:noFill/>
            <a:miter lim="800000"/>
            <a:headEnd/>
            <a:tailEnd/>
          </a:ln>
        </p:spPr>
        <p:txBody>
          <a:bodyPr>
            <a:spAutoFit/>
          </a:bodyPr>
          <a:lstStyle/>
          <a:p>
            <a:pPr algn="just">
              <a:lnSpc>
                <a:spcPts val="3500"/>
              </a:lnSpc>
            </a:pPr>
            <a:r>
              <a:rPr lang="en-US" sz="2000" dirty="0">
                <a:solidFill>
                  <a:srgbClr val="FF0000"/>
                </a:solidFill>
                <a:latin typeface="CMSS12"/>
              </a:rPr>
              <a:t>Operations used for encryption:</a:t>
            </a:r>
          </a:p>
          <a:p>
            <a:pPr algn="just">
              <a:lnSpc>
                <a:spcPts val="3500"/>
              </a:lnSpc>
            </a:pPr>
            <a:r>
              <a:rPr lang="en-US" sz="2000" dirty="0">
                <a:solidFill>
                  <a:srgbClr val="0000FF"/>
                </a:solidFill>
                <a:latin typeface="CMSS10"/>
              </a:rPr>
              <a:t>Substitution </a:t>
            </a:r>
            <a:r>
              <a:rPr lang="en-US" sz="2000" dirty="0">
                <a:solidFill>
                  <a:srgbClr val="3333B3"/>
                </a:solidFill>
                <a:latin typeface="CMSS10"/>
              </a:rPr>
              <a:t>		</a:t>
            </a:r>
            <a:r>
              <a:rPr lang="en-US" sz="2000" dirty="0">
                <a:solidFill>
                  <a:srgbClr val="000000"/>
                </a:solidFill>
                <a:latin typeface="CMSS10"/>
              </a:rPr>
              <a:t>replace one element in plaintext with another</a:t>
            </a:r>
          </a:p>
          <a:p>
            <a:pPr algn="just"/>
            <a:r>
              <a:rPr lang="en-US" sz="2000" dirty="0">
                <a:solidFill>
                  <a:srgbClr val="0000FF"/>
                </a:solidFill>
                <a:latin typeface="CMSS10"/>
              </a:rPr>
              <a:t>Transposition </a:t>
            </a:r>
            <a:r>
              <a:rPr lang="en-US" sz="2000" dirty="0">
                <a:solidFill>
                  <a:srgbClr val="3333B3"/>
                </a:solidFill>
                <a:latin typeface="CMSS10"/>
              </a:rPr>
              <a:t>		</a:t>
            </a:r>
            <a:r>
              <a:rPr lang="en-US" sz="2000" dirty="0">
                <a:solidFill>
                  <a:srgbClr val="000000"/>
                </a:solidFill>
                <a:latin typeface="CMSS10"/>
              </a:rPr>
              <a:t>re-arrange elements</a:t>
            </a:r>
          </a:p>
          <a:p>
            <a:pPr algn="just">
              <a:lnSpc>
                <a:spcPts val="3200"/>
              </a:lnSpc>
            </a:pPr>
            <a:r>
              <a:rPr lang="en-US" sz="2000" dirty="0">
                <a:solidFill>
                  <a:srgbClr val="0000FF"/>
                </a:solidFill>
                <a:latin typeface="CMSS10"/>
              </a:rPr>
              <a:t>Product systems </a:t>
            </a:r>
            <a:r>
              <a:rPr lang="en-US" sz="2000" dirty="0">
                <a:solidFill>
                  <a:srgbClr val="3333B3"/>
                </a:solidFill>
                <a:latin typeface="CMSS10"/>
              </a:rPr>
              <a:t>	</a:t>
            </a:r>
            <a:r>
              <a:rPr lang="en-US" sz="2000" dirty="0">
                <a:solidFill>
                  <a:srgbClr val="000000"/>
                </a:solidFill>
                <a:latin typeface="CMSS10"/>
              </a:rPr>
              <a:t>multiple stages of substitutions and transpositions</a:t>
            </a:r>
          </a:p>
          <a:p>
            <a:pPr algn="just">
              <a:lnSpc>
                <a:spcPts val="3200"/>
              </a:lnSpc>
            </a:pPr>
            <a:endParaRPr lang="en-US" sz="2000" dirty="0">
              <a:solidFill>
                <a:srgbClr val="FF0000"/>
              </a:solidFill>
              <a:latin typeface="CMSS12"/>
            </a:endParaRPr>
          </a:p>
          <a:p>
            <a:pPr algn="just">
              <a:lnSpc>
                <a:spcPts val="3200"/>
              </a:lnSpc>
            </a:pPr>
            <a:r>
              <a:rPr lang="en-US" sz="2000" dirty="0">
                <a:solidFill>
                  <a:srgbClr val="FF0000"/>
                </a:solidFill>
                <a:latin typeface="CMSS12"/>
              </a:rPr>
              <a:t>Number of keys used:</a:t>
            </a:r>
          </a:p>
          <a:p>
            <a:pPr algn="just"/>
            <a:r>
              <a:rPr lang="en-US" sz="2000" dirty="0">
                <a:solidFill>
                  <a:srgbClr val="0000FF"/>
                </a:solidFill>
                <a:latin typeface="CMSS10"/>
              </a:rPr>
              <a:t>Symmetric </a:t>
            </a:r>
            <a:r>
              <a:rPr lang="en-US" sz="2000" dirty="0">
                <a:solidFill>
                  <a:srgbClr val="3333B3"/>
                </a:solidFill>
                <a:latin typeface="CMSS10"/>
              </a:rPr>
              <a:t>	</a:t>
            </a:r>
            <a:r>
              <a:rPr lang="en-US" sz="2000" dirty="0">
                <a:solidFill>
                  <a:srgbClr val="000000"/>
                </a:solidFill>
                <a:latin typeface="CMSS10"/>
              </a:rPr>
              <a:t>sender/receiver use same key (single-key, secret-key, 			shared-key, conventional)</a:t>
            </a:r>
          </a:p>
          <a:p>
            <a:pPr algn="just"/>
            <a:r>
              <a:rPr lang="en-US" sz="2000" dirty="0">
                <a:solidFill>
                  <a:srgbClr val="0000FF"/>
                </a:solidFill>
                <a:latin typeface="CMSS10"/>
              </a:rPr>
              <a:t>Public-key</a:t>
            </a:r>
            <a:r>
              <a:rPr lang="en-US" sz="2000" dirty="0">
                <a:solidFill>
                  <a:srgbClr val="3333B3"/>
                </a:solidFill>
                <a:latin typeface="CMSS10"/>
              </a:rPr>
              <a:t> 	</a:t>
            </a:r>
            <a:r>
              <a:rPr lang="en-US" sz="2000" dirty="0">
                <a:solidFill>
                  <a:srgbClr val="000000"/>
                </a:solidFill>
                <a:latin typeface="CMSS10"/>
              </a:rPr>
              <a:t>sender/receiver use </a:t>
            </a:r>
            <a:r>
              <a:rPr lang="en-US" sz="2000" dirty="0" err="1">
                <a:solidFill>
                  <a:srgbClr val="000000"/>
                </a:solidFill>
                <a:latin typeface="CMSS10"/>
              </a:rPr>
              <a:t>dierent</a:t>
            </a:r>
            <a:r>
              <a:rPr lang="en-US" sz="2000" dirty="0">
                <a:solidFill>
                  <a:srgbClr val="000000"/>
                </a:solidFill>
                <a:latin typeface="CMSS10"/>
              </a:rPr>
              <a:t> keys (asymmetric)</a:t>
            </a:r>
          </a:p>
          <a:p>
            <a:pPr algn="just">
              <a:lnSpc>
                <a:spcPts val="3200"/>
              </a:lnSpc>
            </a:pPr>
            <a:endParaRPr lang="en-US" sz="2000" dirty="0">
              <a:solidFill>
                <a:srgbClr val="000000"/>
              </a:solidFill>
              <a:latin typeface="CMSS10"/>
            </a:endParaRPr>
          </a:p>
          <a:p>
            <a:pPr algn="just">
              <a:lnSpc>
                <a:spcPts val="3200"/>
              </a:lnSpc>
            </a:pPr>
            <a:r>
              <a:rPr lang="en-US" sz="2000" dirty="0">
                <a:solidFill>
                  <a:srgbClr val="FF0000"/>
                </a:solidFill>
                <a:latin typeface="CMSS12"/>
              </a:rPr>
              <a:t>Processing of plaintext:</a:t>
            </a:r>
          </a:p>
          <a:p>
            <a:pPr algn="just">
              <a:lnSpc>
                <a:spcPts val="3200"/>
              </a:lnSpc>
            </a:pPr>
            <a:r>
              <a:rPr lang="en-US" sz="2000" dirty="0">
                <a:solidFill>
                  <a:srgbClr val="0000FF"/>
                </a:solidFill>
                <a:latin typeface="CMSS10"/>
              </a:rPr>
              <a:t>Block cipher </a:t>
            </a:r>
            <a:r>
              <a:rPr lang="en-US" sz="2000" dirty="0">
                <a:solidFill>
                  <a:srgbClr val="3333B3"/>
                </a:solidFill>
                <a:latin typeface="CMSS10"/>
              </a:rPr>
              <a:t>	</a:t>
            </a:r>
            <a:r>
              <a:rPr lang="en-US" sz="2000" dirty="0">
                <a:solidFill>
                  <a:srgbClr val="000000"/>
                </a:solidFill>
                <a:latin typeface="CMSS10"/>
              </a:rPr>
              <a:t>process one block of elements at a time</a:t>
            </a:r>
          </a:p>
          <a:p>
            <a:pPr algn="just">
              <a:lnSpc>
                <a:spcPts val="3200"/>
              </a:lnSpc>
            </a:pPr>
            <a:r>
              <a:rPr lang="en-US" sz="2000" dirty="0">
                <a:solidFill>
                  <a:srgbClr val="0000FF"/>
                </a:solidFill>
                <a:latin typeface="CMSS10"/>
              </a:rPr>
              <a:t>Stream cipher </a:t>
            </a:r>
            <a:r>
              <a:rPr lang="en-US" sz="2000" dirty="0">
                <a:solidFill>
                  <a:srgbClr val="3333B3"/>
                </a:solidFill>
                <a:latin typeface="CMSS10"/>
              </a:rPr>
              <a:t>	</a:t>
            </a:r>
            <a:r>
              <a:rPr lang="en-US" sz="2000" dirty="0">
                <a:solidFill>
                  <a:srgbClr val="000000"/>
                </a:solidFill>
                <a:latin typeface="CMSS10"/>
              </a:rPr>
              <a:t>process input elements continuously</a:t>
            </a:r>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599"/>
            <a:ext cx="6248400" cy="4611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752600" y="304800"/>
            <a:ext cx="5788764" cy="646331"/>
          </a:xfrm>
          <a:prstGeom prst="rect">
            <a:avLst/>
          </a:prstGeom>
        </p:spPr>
        <p:txBody>
          <a:bodyPr wrap="none">
            <a:spAutoFit/>
          </a:bodyPr>
          <a:lstStyle/>
          <a:p>
            <a:r>
              <a:rPr lang="en-US" sz="36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Cryptography Classification</a:t>
            </a:r>
            <a:endParaRPr lang="en-US" sz="36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233137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381000" y="457200"/>
            <a:ext cx="8458200" cy="639763"/>
          </a:xfrm>
        </p:spPr>
        <p:txBody>
          <a:bodyPr>
            <a:normAutofit/>
          </a:bodyPr>
          <a:lstStyle/>
          <a:p>
            <a:r>
              <a:rPr lang="en-US" dirty="0" smtClean="0"/>
              <a:t>Symmetric Key Encryption for Confidentiality</a:t>
            </a:r>
          </a:p>
        </p:txBody>
      </p:sp>
      <p:pic>
        <p:nvPicPr>
          <p:cNvPr id="23555" name="Picture 2" descr="D:\Dr. Mahbub\MIST_new\Crptography\classical\crypto-symmetric-encryption-1-r597.png"/>
          <p:cNvPicPr>
            <a:picLocks noChangeAspect="1" noChangeArrowheads="1"/>
          </p:cNvPicPr>
          <p:nvPr/>
        </p:nvPicPr>
        <p:blipFill>
          <a:blip r:embed="rId2"/>
          <a:srcRect/>
          <a:stretch>
            <a:fillRect/>
          </a:stretch>
        </p:blipFill>
        <p:spPr bwMode="auto">
          <a:xfrm>
            <a:off x="838199" y="1430338"/>
            <a:ext cx="6881813" cy="2257425"/>
          </a:xfrm>
          <a:prstGeom prst="rect">
            <a:avLst/>
          </a:prstGeom>
          <a:noFill/>
          <a:ln w="9525">
            <a:noFill/>
            <a:miter lim="800000"/>
            <a:headEnd/>
            <a:tailEnd/>
          </a:ln>
        </p:spPr>
      </p:pic>
      <p:sp>
        <p:nvSpPr>
          <p:cNvPr id="23556" name="Rectangle 4"/>
          <p:cNvSpPr>
            <a:spLocks noChangeArrowheads="1"/>
          </p:cNvSpPr>
          <p:nvPr/>
        </p:nvSpPr>
        <p:spPr bwMode="auto">
          <a:xfrm>
            <a:off x="381000" y="3687763"/>
            <a:ext cx="8077200" cy="2452687"/>
          </a:xfrm>
          <a:prstGeom prst="rect">
            <a:avLst/>
          </a:prstGeom>
          <a:noFill/>
          <a:ln w="9525">
            <a:noFill/>
            <a:miter lim="800000"/>
            <a:headEnd/>
            <a:tailEnd/>
          </a:ln>
        </p:spPr>
        <p:txBody>
          <a:bodyPr>
            <a:spAutoFit/>
          </a:bodyPr>
          <a:lstStyle/>
          <a:p>
            <a:r>
              <a:rPr lang="en-US" sz="2000">
                <a:solidFill>
                  <a:srgbClr val="0000FF"/>
                </a:solidFill>
                <a:latin typeface="CMSS12"/>
              </a:rPr>
              <a:t>Requirements</a:t>
            </a:r>
          </a:p>
          <a:p>
            <a:pPr>
              <a:lnSpc>
                <a:spcPts val="3200"/>
              </a:lnSpc>
              <a:buFontTx/>
              <a:buBlip>
                <a:blip r:embed="rId3"/>
              </a:buBlip>
            </a:pPr>
            <a:r>
              <a:rPr lang="en-US" sz="2000">
                <a:solidFill>
                  <a:srgbClr val="000000"/>
                </a:solidFill>
                <a:latin typeface="CMSS10"/>
              </a:rPr>
              <a:t> </a:t>
            </a:r>
            <a:r>
              <a:rPr lang="en-US" sz="2000">
                <a:solidFill>
                  <a:srgbClr val="FF0000"/>
                </a:solidFill>
                <a:latin typeface="CMSS10"/>
              </a:rPr>
              <a:t>Strong encryption algorithm</a:t>
            </a:r>
            <a:r>
              <a:rPr lang="en-US" sz="2000">
                <a:solidFill>
                  <a:srgbClr val="000000"/>
                </a:solidFill>
                <a:latin typeface="CMSS10"/>
              </a:rPr>
              <a:t>: </a:t>
            </a:r>
            <a:r>
              <a:rPr lang="en-US" sz="2000">
                <a:solidFill>
                  <a:srgbClr val="0000FF"/>
                </a:solidFill>
                <a:latin typeface="CMSS10"/>
              </a:rPr>
              <a:t>given algorithm</a:t>
            </a:r>
            <a:r>
              <a:rPr lang="en-US" sz="2000">
                <a:solidFill>
                  <a:srgbClr val="000000"/>
                </a:solidFill>
                <a:latin typeface="CMSS10"/>
              </a:rPr>
              <a:t>, </a:t>
            </a:r>
            <a:r>
              <a:rPr lang="en-US" sz="2000">
                <a:solidFill>
                  <a:srgbClr val="0000FF"/>
                </a:solidFill>
                <a:latin typeface="CMSS10"/>
              </a:rPr>
              <a:t>ciphertext</a:t>
            </a:r>
            <a:r>
              <a:rPr lang="en-US" sz="2000">
                <a:solidFill>
                  <a:srgbClr val="000000"/>
                </a:solidFill>
                <a:latin typeface="CMSS10"/>
              </a:rPr>
              <a:t> and </a:t>
            </a:r>
            <a:r>
              <a:rPr lang="en-US" sz="2000">
                <a:solidFill>
                  <a:srgbClr val="0000FF"/>
                </a:solidFill>
                <a:latin typeface="CMSS10"/>
              </a:rPr>
              <a:t>known     pairs of (plaintext, ciphertext)</a:t>
            </a:r>
            <a:r>
              <a:rPr lang="en-US" sz="2000">
                <a:solidFill>
                  <a:srgbClr val="000000"/>
                </a:solidFill>
                <a:latin typeface="CMSS10"/>
              </a:rPr>
              <a:t>, attacker should be unable to  find plaintext or key</a:t>
            </a:r>
          </a:p>
          <a:p>
            <a:pPr>
              <a:lnSpc>
                <a:spcPts val="3200"/>
              </a:lnSpc>
              <a:buFontTx/>
              <a:buBlip>
                <a:blip r:embed="rId3"/>
              </a:buBlip>
            </a:pPr>
            <a:r>
              <a:rPr lang="en-US" sz="2000">
                <a:solidFill>
                  <a:srgbClr val="000000"/>
                </a:solidFill>
                <a:latin typeface="CMSS10"/>
              </a:rPr>
              <a:t> </a:t>
            </a:r>
            <a:r>
              <a:rPr lang="en-US" sz="2000">
                <a:solidFill>
                  <a:srgbClr val="FF0000"/>
                </a:solidFill>
                <a:latin typeface="CMSS10"/>
              </a:rPr>
              <a:t>Shared secret keys:</a:t>
            </a:r>
            <a:r>
              <a:rPr lang="en-US" sz="2000">
                <a:solidFill>
                  <a:srgbClr val="000000"/>
                </a:solidFill>
                <a:latin typeface="CMSS10"/>
              </a:rPr>
              <a:t> sender and receiver both have shared a secret key; no-one else knows the key</a:t>
            </a:r>
            <a:endParaRPr lang="en-US" sz="20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152400"/>
            <a:ext cx="8458200" cy="639763"/>
          </a:xfrm>
        </p:spPr>
        <p:txBody>
          <a:bodyPr/>
          <a:lstStyle/>
          <a:p>
            <a:r>
              <a:rPr lang="en-US" dirty="0" smtClean="0"/>
              <a:t>Attacks</a:t>
            </a:r>
          </a:p>
        </p:txBody>
      </p:sp>
      <p:sp>
        <p:nvSpPr>
          <p:cNvPr id="24579" name="Rectangle 3"/>
          <p:cNvSpPr>
            <a:spLocks noChangeArrowheads="1"/>
          </p:cNvSpPr>
          <p:nvPr/>
        </p:nvSpPr>
        <p:spPr bwMode="auto">
          <a:xfrm>
            <a:off x="457200" y="762000"/>
            <a:ext cx="8458200" cy="5837238"/>
          </a:xfrm>
          <a:prstGeom prst="rect">
            <a:avLst/>
          </a:prstGeom>
          <a:noFill/>
          <a:ln w="9525">
            <a:noFill/>
            <a:miter lim="800000"/>
            <a:headEnd/>
            <a:tailEnd/>
          </a:ln>
        </p:spPr>
        <p:txBody>
          <a:bodyPr>
            <a:spAutoFit/>
          </a:bodyPr>
          <a:lstStyle/>
          <a:p>
            <a:pPr>
              <a:lnSpc>
                <a:spcPts val="3200"/>
              </a:lnSpc>
            </a:pPr>
            <a:r>
              <a:rPr lang="en-US" sz="2000" dirty="0">
                <a:solidFill>
                  <a:srgbClr val="C00000"/>
                </a:solidFill>
                <a:cs typeface="Arial" pitchFamily="34" charset="0"/>
              </a:rPr>
              <a:t>Goal of the Attacker</a:t>
            </a:r>
          </a:p>
          <a:p>
            <a:pPr lvl="1">
              <a:lnSpc>
                <a:spcPts val="3200"/>
              </a:lnSpc>
              <a:buFont typeface="Arial" pitchFamily="34" charset="0"/>
              <a:buChar char="•"/>
            </a:pPr>
            <a:r>
              <a:rPr lang="en-US" sz="2000" dirty="0">
                <a:solidFill>
                  <a:srgbClr val="000000"/>
                </a:solidFill>
                <a:latin typeface="CMSS10"/>
              </a:rPr>
              <a:t>Discover the plaintext (good)</a:t>
            </a:r>
          </a:p>
          <a:p>
            <a:pPr lvl="1">
              <a:lnSpc>
                <a:spcPts val="3200"/>
              </a:lnSpc>
              <a:buFont typeface="Arial" pitchFamily="34" charset="0"/>
              <a:buChar char="•"/>
            </a:pPr>
            <a:r>
              <a:rPr lang="en-US" sz="2000" dirty="0">
                <a:solidFill>
                  <a:srgbClr val="000000"/>
                </a:solidFill>
                <a:latin typeface="CMSS10"/>
              </a:rPr>
              <a:t>Discover the key (better)</a:t>
            </a:r>
          </a:p>
          <a:p>
            <a:pPr>
              <a:lnSpc>
                <a:spcPts val="3200"/>
              </a:lnSpc>
            </a:pPr>
            <a:r>
              <a:rPr lang="en-US" sz="2000" dirty="0">
                <a:solidFill>
                  <a:srgbClr val="C00000"/>
                </a:solidFill>
                <a:latin typeface="CMSS12"/>
              </a:rPr>
              <a:t>Assumed Attacker Knowledge</a:t>
            </a:r>
          </a:p>
          <a:p>
            <a:pPr lvl="1">
              <a:lnSpc>
                <a:spcPts val="3200"/>
              </a:lnSpc>
              <a:buFont typeface="Arial" pitchFamily="34" charset="0"/>
              <a:buChar char="•"/>
            </a:pPr>
            <a:r>
              <a:rPr lang="en-US" sz="2000" dirty="0" err="1">
                <a:solidFill>
                  <a:srgbClr val="000000"/>
                </a:solidFill>
                <a:latin typeface="CMSS10"/>
              </a:rPr>
              <a:t>Ciphertext</a:t>
            </a:r>
            <a:r>
              <a:rPr lang="en-US" sz="2000" dirty="0">
                <a:solidFill>
                  <a:srgbClr val="000000"/>
                </a:solidFill>
                <a:latin typeface="CMSS10"/>
              </a:rPr>
              <a:t> (want to decrypt) </a:t>
            </a:r>
          </a:p>
          <a:p>
            <a:pPr lvl="1">
              <a:lnSpc>
                <a:spcPts val="3200"/>
              </a:lnSpc>
              <a:buFont typeface="Arial" pitchFamily="34" charset="0"/>
              <a:buChar char="•"/>
            </a:pPr>
            <a:r>
              <a:rPr lang="en-US" sz="2000" dirty="0">
                <a:solidFill>
                  <a:srgbClr val="000000"/>
                </a:solidFill>
                <a:latin typeface="CMSS10"/>
              </a:rPr>
              <a:t>Algorithm (nature of the algorithm) or general idea of the type of plaintext</a:t>
            </a:r>
          </a:p>
          <a:p>
            <a:pPr lvl="1">
              <a:lnSpc>
                <a:spcPts val="3200"/>
              </a:lnSpc>
              <a:buFont typeface="Arial" pitchFamily="34" charset="0"/>
              <a:buChar char="•"/>
            </a:pPr>
            <a:r>
              <a:rPr lang="en-US" sz="2000" dirty="0">
                <a:solidFill>
                  <a:srgbClr val="000000"/>
                </a:solidFill>
                <a:latin typeface="CMSS10"/>
              </a:rPr>
              <a:t>Other pairs of (plaintext, </a:t>
            </a:r>
            <a:r>
              <a:rPr lang="en-US" sz="2000" dirty="0" err="1">
                <a:solidFill>
                  <a:srgbClr val="000000"/>
                </a:solidFill>
                <a:latin typeface="CMSS10"/>
              </a:rPr>
              <a:t>ciphertext</a:t>
            </a:r>
            <a:r>
              <a:rPr lang="en-US" sz="2000" dirty="0">
                <a:solidFill>
                  <a:srgbClr val="000000"/>
                </a:solidFill>
                <a:latin typeface="CMSS10"/>
              </a:rPr>
              <a:t>) using </a:t>
            </a:r>
            <a:r>
              <a:rPr lang="en-US" sz="2000" dirty="0">
                <a:solidFill>
                  <a:srgbClr val="FF0000"/>
                </a:solidFill>
                <a:latin typeface="CMSS10"/>
              </a:rPr>
              <a:t>same key </a:t>
            </a:r>
            <a:r>
              <a:rPr lang="en-US" sz="2000" dirty="0">
                <a:solidFill>
                  <a:srgbClr val="000000"/>
                </a:solidFill>
                <a:latin typeface="CMSS10"/>
              </a:rPr>
              <a:t>(not  the </a:t>
            </a:r>
            <a:r>
              <a:rPr lang="en-US" sz="2000" dirty="0">
                <a:solidFill>
                  <a:srgbClr val="FF0000"/>
                </a:solidFill>
                <a:latin typeface="CMSS10"/>
              </a:rPr>
              <a:t>plaintext in question</a:t>
            </a:r>
            <a:r>
              <a:rPr lang="en-US" sz="2000" dirty="0">
                <a:solidFill>
                  <a:srgbClr val="000000"/>
                </a:solidFill>
                <a:latin typeface="CMSS10"/>
              </a:rPr>
              <a:t>)</a:t>
            </a:r>
          </a:p>
          <a:p>
            <a:pPr>
              <a:lnSpc>
                <a:spcPts val="3200"/>
              </a:lnSpc>
            </a:pPr>
            <a:r>
              <a:rPr lang="en-US" sz="2000" dirty="0">
                <a:solidFill>
                  <a:srgbClr val="C00000"/>
                </a:solidFill>
                <a:latin typeface="CMSS12"/>
              </a:rPr>
              <a:t>Attack Methods</a:t>
            </a:r>
          </a:p>
          <a:p>
            <a:pPr>
              <a:lnSpc>
                <a:spcPts val="3200"/>
              </a:lnSpc>
            </a:pPr>
            <a:r>
              <a:rPr lang="en-US" sz="2000" dirty="0">
                <a:solidFill>
                  <a:srgbClr val="3333B3"/>
                </a:solidFill>
                <a:latin typeface="CMSS10"/>
              </a:rPr>
              <a:t>Brute-force attack 	</a:t>
            </a:r>
            <a:r>
              <a:rPr lang="en-US" sz="2000" dirty="0">
                <a:solidFill>
                  <a:srgbClr val="000000"/>
                </a:solidFill>
                <a:latin typeface="CMSS10"/>
              </a:rPr>
              <a:t>Try every possible key on </a:t>
            </a:r>
            <a:r>
              <a:rPr lang="en-US" sz="2000" dirty="0" err="1">
                <a:solidFill>
                  <a:srgbClr val="000000"/>
                </a:solidFill>
                <a:latin typeface="CMSS10"/>
              </a:rPr>
              <a:t>ciphertext</a:t>
            </a:r>
            <a:endParaRPr lang="en-US" sz="2000" dirty="0">
              <a:solidFill>
                <a:srgbClr val="000000"/>
              </a:solidFill>
              <a:latin typeface="CMSS10"/>
            </a:endParaRPr>
          </a:p>
          <a:p>
            <a:pPr>
              <a:lnSpc>
                <a:spcPts val="3200"/>
              </a:lnSpc>
            </a:pPr>
            <a:r>
              <a:rPr lang="en-US" sz="2000" dirty="0">
                <a:solidFill>
                  <a:srgbClr val="3333B3"/>
                </a:solidFill>
                <a:latin typeface="CMSS10"/>
              </a:rPr>
              <a:t>Cryptanalysis 		</a:t>
            </a:r>
            <a:r>
              <a:rPr lang="en-US" sz="2000" dirty="0">
                <a:solidFill>
                  <a:srgbClr val="000000"/>
                </a:solidFill>
                <a:latin typeface="CMSS10"/>
              </a:rPr>
              <a:t>Exploit characteristics of algorithm to deduce 				plaintext or key</a:t>
            </a:r>
          </a:p>
          <a:p>
            <a:pPr>
              <a:lnSpc>
                <a:spcPts val="3200"/>
              </a:lnSpc>
            </a:pPr>
            <a:r>
              <a:rPr lang="en-US" sz="2000" dirty="0">
                <a:solidFill>
                  <a:srgbClr val="C00000"/>
                </a:solidFill>
                <a:latin typeface="CMSS10"/>
              </a:rPr>
              <a:t>Assumption:</a:t>
            </a:r>
            <a:r>
              <a:rPr lang="en-US" sz="2000" dirty="0">
                <a:solidFill>
                  <a:srgbClr val="000000"/>
                </a:solidFill>
                <a:latin typeface="CMSS10"/>
              </a:rPr>
              <a:t>  </a:t>
            </a:r>
            <a:r>
              <a:rPr lang="en-US" sz="2000" dirty="0">
                <a:solidFill>
                  <a:srgbClr val="00B050"/>
                </a:solidFill>
                <a:latin typeface="CMSS10"/>
              </a:rPr>
              <a:t>attacker can recognize correct plaintext</a:t>
            </a:r>
            <a:endParaRPr lang="en-US" sz="2000" dirty="0">
              <a:solidFill>
                <a:srgbClr val="00B05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42900" y="381000"/>
            <a:ext cx="8458200" cy="334962"/>
          </a:xfrm>
        </p:spPr>
        <p:txBody>
          <a:bodyPr>
            <a:noAutofit/>
          </a:bodyPr>
          <a:lstStyle/>
          <a:p>
            <a:r>
              <a:rPr lang="en-US" dirty="0" smtClean="0"/>
              <a:t>Attacks on Block Ciphers</a:t>
            </a:r>
          </a:p>
        </p:txBody>
      </p:sp>
      <p:sp>
        <p:nvSpPr>
          <p:cNvPr id="3" name="Content Placeholder 2"/>
          <p:cNvSpPr>
            <a:spLocks noGrp="1"/>
          </p:cNvSpPr>
          <p:nvPr>
            <p:ph sz="quarter" idx="1"/>
          </p:nvPr>
        </p:nvSpPr>
        <p:spPr>
          <a:xfrm>
            <a:off x="381000" y="762000"/>
            <a:ext cx="8458200" cy="5638800"/>
          </a:xfrm>
        </p:spPr>
        <p:txBody>
          <a:bodyPr>
            <a:normAutofit/>
          </a:bodyPr>
          <a:lstStyle/>
          <a:p>
            <a:pPr>
              <a:defRPr/>
            </a:pPr>
            <a:r>
              <a:rPr lang="en-US" dirty="0" smtClean="0"/>
              <a:t>Brute Force Attack</a:t>
            </a:r>
          </a:p>
          <a:p>
            <a:pPr>
              <a:buFontTx/>
              <a:buNone/>
              <a:defRPr/>
            </a:pPr>
            <a:r>
              <a:rPr lang="en-US" dirty="0" smtClean="0"/>
              <a:t>		</a:t>
            </a:r>
            <a:r>
              <a:rPr lang="en-US" b="1" dirty="0" smtClean="0">
                <a:solidFill>
                  <a:srgbClr val="C00000"/>
                </a:solidFill>
              </a:rPr>
              <a:t>Approach:</a:t>
            </a:r>
            <a:r>
              <a:rPr lang="en-US" dirty="0" smtClean="0">
                <a:solidFill>
                  <a:schemeClr val="accent4"/>
                </a:solidFill>
              </a:rPr>
              <a:t>  </a:t>
            </a:r>
            <a:r>
              <a:rPr lang="en-US" dirty="0" smtClean="0">
                <a:solidFill>
                  <a:schemeClr val="tx1"/>
                </a:solidFill>
              </a:rPr>
              <a:t>try all keys in key space</a:t>
            </a:r>
          </a:p>
          <a:p>
            <a:pPr>
              <a:buFontTx/>
              <a:buNone/>
              <a:defRPr/>
            </a:pPr>
            <a:r>
              <a:rPr lang="en-US" dirty="0" smtClean="0">
                <a:solidFill>
                  <a:schemeClr val="accent4"/>
                </a:solidFill>
              </a:rPr>
              <a:t>		</a:t>
            </a:r>
            <a:r>
              <a:rPr lang="en-US" b="1" dirty="0" smtClean="0">
                <a:solidFill>
                  <a:srgbClr val="C00000"/>
                </a:solidFill>
              </a:rPr>
              <a:t>Metric: </a:t>
            </a:r>
            <a:r>
              <a:rPr lang="en-US" dirty="0" smtClean="0">
                <a:solidFill>
                  <a:schemeClr val="accent4"/>
                </a:solidFill>
              </a:rPr>
              <a:t>  </a:t>
            </a:r>
            <a:r>
              <a:rPr lang="en-US" dirty="0" smtClean="0">
                <a:solidFill>
                  <a:schemeClr val="tx1"/>
                </a:solidFill>
              </a:rPr>
              <a:t>number of operations (time)</a:t>
            </a:r>
          </a:p>
          <a:p>
            <a:pPr>
              <a:buFontTx/>
              <a:buNone/>
              <a:defRPr/>
            </a:pPr>
            <a:r>
              <a:rPr lang="en-US" dirty="0" smtClean="0">
                <a:solidFill>
                  <a:schemeClr val="tx1"/>
                </a:solidFill>
              </a:rPr>
              <a:t>			   k bit key requires 2</a:t>
            </a:r>
            <a:r>
              <a:rPr lang="en-US" baseline="30000" dirty="0" smtClean="0">
                <a:solidFill>
                  <a:schemeClr val="tx1"/>
                </a:solidFill>
              </a:rPr>
              <a:t>k</a:t>
            </a:r>
            <a:r>
              <a:rPr lang="en-US" dirty="0" smtClean="0">
                <a:solidFill>
                  <a:schemeClr val="tx1"/>
                </a:solidFill>
              </a:rPr>
              <a:t> operations</a:t>
            </a:r>
          </a:p>
          <a:p>
            <a:pPr>
              <a:buFontTx/>
              <a:buNone/>
              <a:defRPr/>
            </a:pPr>
            <a:r>
              <a:rPr lang="en-US" dirty="0" smtClean="0">
                <a:solidFill>
                  <a:schemeClr val="tx1"/>
                </a:solidFill>
              </a:rPr>
              <a:t>			   Depends on key length and computer speed</a:t>
            </a:r>
          </a:p>
          <a:p>
            <a:pPr>
              <a:defRPr/>
            </a:pPr>
            <a:r>
              <a:rPr lang="en-US" dirty="0" smtClean="0"/>
              <a:t>Cryptanalysis</a:t>
            </a:r>
          </a:p>
          <a:p>
            <a:pPr>
              <a:buFontTx/>
              <a:buNone/>
              <a:defRPr/>
            </a:pPr>
            <a:r>
              <a:rPr lang="en-US" dirty="0" smtClean="0"/>
              <a:t>		</a:t>
            </a:r>
            <a:r>
              <a:rPr lang="en-US" b="1" dirty="0" smtClean="0">
                <a:solidFill>
                  <a:srgbClr val="C00000"/>
                </a:solidFill>
              </a:rPr>
              <a:t>Approach:</a:t>
            </a:r>
            <a:r>
              <a:rPr lang="en-US" dirty="0" smtClean="0">
                <a:solidFill>
                  <a:srgbClr val="C00000"/>
                </a:solidFill>
              </a:rPr>
              <a:t>  </a:t>
            </a:r>
            <a:r>
              <a:rPr lang="en-US" dirty="0" smtClean="0">
                <a:solidFill>
                  <a:schemeClr val="tx1"/>
                </a:solidFill>
              </a:rPr>
              <a:t>Find weaknesses in algorithms</a:t>
            </a:r>
          </a:p>
          <a:p>
            <a:pPr>
              <a:buFontTx/>
              <a:buNone/>
              <a:defRPr/>
            </a:pPr>
            <a:r>
              <a:rPr lang="en-US" dirty="0" smtClean="0">
                <a:solidFill>
                  <a:schemeClr val="accent4"/>
                </a:solidFill>
              </a:rPr>
              <a:t>		</a:t>
            </a:r>
            <a:r>
              <a:rPr lang="en-US" b="1" dirty="0" smtClean="0">
                <a:solidFill>
                  <a:srgbClr val="C00000"/>
                </a:solidFill>
              </a:rPr>
              <a:t>Methods:</a:t>
            </a:r>
            <a:r>
              <a:rPr lang="en-US" b="1" dirty="0" smtClean="0">
                <a:solidFill>
                  <a:schemeClr val="accent4"/>
                </a:solidFill>
              </a:rPr>
              <a:t>   </a:t>
            </a:r>
            <a:r>
              <a:rPr lang="en-US" dirty="0" smtClean="0">
                <a:solidFill>
                  <a:schemeClr val="tx1"/>
                </a:solidFill>
              </a:rPr>
              <a:t>Linear cryptanalysis, differential  cryptanalysis, 		       </a:t>
            </a:r>
            <a:r>
              <a:rPr lang="en-US" dirty="0">
                <a:solidFill>
                  <a:schemeClr val="tx1"/>
                </a:solidFill>
              </a:rPr>
              <a:t> </a:t>
            </a:r>
            <a:r>
              <a:rPr lang="en-US" dirty="0" smtClean="0">
                <a:solidFill>
                  <a:schemeClr val="tx1"/>
                </a:solidFill>
              </a:rPr>
              <a:t>            meet-in-the-middle attack,  side-channel attacks </a:t>
            </a:r>
          </a:p>
          <a:p>
            <a:pPr>
              <a:buFontTx/>
              <a:buNone/>
              <a:defRPr/>
            </a:pPr>
            <a:r>
              <a:rPr lang="en-US" dirty="0" smtClean="0"/>
              <a:t>		Metrics:</a:t>
            </a:r>
            <a:r>
              <a:rPr lang="en-US" dirty="0" smtClean="0">
                <a:solidFill>
                  <a:srgbClr val="C00000"/>
                </a:solidFill>
              </a:rPr>
              <a:t> </a:t>
            </a:r>
            <a:r>
              <a:rPr lang="en-US" dirty="0"/>
              <a:t> </a:t>
            </a:r>
            <a:r>
              <a:rPr lang="en-US" dirty="0" smtClean="0">
                <a:solidFill>
                  <a:schemeClr val="tx1"/>
                </a:solidFill>
              </a:rPr>
              <a:t>Number of operations  </a:t>
            </a:r>
            <a:endParaRPr lang="en-US" dirty="0" smtClean="0">
              <a:solidFill>
                <a:schemeClr val="tx1"/>
              </a:solidFill>
              <a:latin typeface="Times New Roman" pitchFamily="18" charset="0"/>
              <a:cs typeface="Times New Roman" pitchFamily="18" charset="0"/>
            </a:endParaRPr>
          </a:p>
          <a:p>
            <a:pPr>
              <a:buFontTx/>
              <a:buNone/>
              <a:defRPr/>
            </a:pPr>
            <a:r>
              <a:rPr lang="en-US" dirty="0" smtClean="0">
                <a:solidFill>
                  <a:schemeClr val="tx1"/>
                </a:solidFill>
              </a:rPr>
              <a:t>			Amount of memory</a:t>
            </a:r>
          </a:p>
          <a:p>
            <a:pPr>
              <a:buFontTx/>
              <a:buNone/>
              <a:defRPr/>
            </a:pPr>
            <a:r>
              <a:rPr lang="en-US" dirty="0" smtClean="0">
                <a:solidFill>
                  <a:schemeClr val="tx1"/>
                </a:solidFill>
              </a:rPr>
              <a:t>			Number of known plaintexts/</a:t>
            </a:r>
            <a:r>
              <a:rPr lang="en-US" dirty="0" err="1" smtClean="0">
                <a:solidFill>
                  <a:schemeClr val="tx1"/>
                </a:solidFill>
              </a:rPr>
              <a:t>ciphertext</a:t>
            </a:r>
            <a:r>
              <a:rPr lang="en-US" dirty="0" err="1" smtClean="0">
                <a:solidFill>
                  <a:schemeClr val="accent4"/>
                </a:solidFill>
              </a:rPr>
              <a:t>s</a:t>
            </a:r>
            <a:endParaRPr lang="en-US" dirty="0">
              <a:solidFill>
                <a:schemeClr val="accent4"/>
              </a:solidFill>
            </a:endParaRPr>
          </a:p>
        </p:txBody>
      </p:sp>
      <p:sp>
        <p:nvSpPr>
          <p:cNvPr id="25604" name="Rectangle 3"/>
          <p:cNvSpPr>
            <a:spLocks noChangeArrowheads="1"/>
          </p:cNvSpPr>
          <p:nvPr/>
        </p:nvSpPr>
        <p:spPr bwMode="auto">
          <a:xfrm>
            <a:off x="457200" y="5791200"/>
            <a:ext cx="8229600" cy="400110"/>
          </a:xfrm>
          <a:prstGeom prst="rect">
            <a:avLst/>
          </a:prstGeom>
          <a:noFill/>
          <a:ln w="9525">
            <a:noFill/>
            <a:miter lim="800000"/>
            <a:headEnd/>
            <a:tailEnd/>
          </a:ln>
        </p:spPr>
        <p:txBody>
          <a:bodyPr>
            <a:spAutoFit/>
          </a:bodyPr>
          <a:lstStyle/>
          <a:p>
            <a:r>
              <a:rPr lang="en-US" sz="2000" dirty="0">
                <a:solidFill>
                  <a:srgbClr val="FF0000"/>
                </a:solidFill>
                <a:ea typeface="MS PGothic" pitchFamily="34" charset="-128"/>
              </a:rPr>
              <a:t>I</a:t>
            </a:r>
            <a:r>
              <a:rPr lang="en-US" sz="2000" dirty="0" smtClean="0">
                <a:solidFill>
                  <a:srgbClr val="FF0000"/>
                </a:solidFill>
                <a:ea typeface="MS PGothic" pitchFamily="34" charset="-128"/>
              </a:rPr>
              <a:t>f </a:t>
            </a:r>
            <a:r>
              <a:rPr lang="en-US" sz="2000" dirty="0">
                <a:solidFill>
                  <a:srgbClr val="FF0000"/>
                </a:solidFill>
                <a:ea typeface="MS PGothic" pitchFamily="34" charset="-128"/>
              </a:rPr>
              <a:t>either succeed all key usages are compromised</a:t>
            </a:r>
            <a:endParaRPr lang="en-AU" altLang="zh-TW" sz="2000" dirty="0">
              <a:solidFill>
                <a:srgbClr val="FF0000"/>
              </a:solidFill>
              <a:ea typeface="MS PGothic" pitchFamily="34" charset="-128"/>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81000" y="457200"/>
            <a:ext cx="8458200" cy="639763"/>
          </a:xfrm>
        </p:spPr>
        <p:txBody>
          <a:bodyPr/>
          <a:lstStyle/>
          <a:p>
            <a:r>
              <a:rPr lang="en-US" dirty="0" smtClean="0"/>
              <a:t>Cryptanalysis and Brute-Force Attack</a:t>
            </a:r>
          </a:p>
        </p:txBody>
      </p:sp>
      <p:sp>
        <p:nvSpPr>
          <p:cNvPr id="28675" name="Content Placeholder 2"/>
          <p:cNvSpPr>
            <a:spLocks noGrp="1"/>
          </p:cNvSpPr>
          <p:nvPr>
            <p:ph sz="quarter" idx="1"/>
          </p:nvPr>
        </p:nvSpPr>
        <p:spPr/>
        <p:txBody>
          <a:bodyPr/>
          <a:lstStyle/>
          <a:p>
            <a:pPr algn="just">
              <a:buFontTx/>
              <a:buBlip>
                <a:blip r:embed="rId2"/>
              </a:buBlip>
            </a:pPr>
            <a:r>
              <a:rPr lang="en-US" dirty="0" smtClean="0"/>
              <a:t>Cryptanalysi</a:t>
            </a:r>
            <a:r>
              <a:rPr lang="en-US" b="1" dirty="0" smtClean="0"/>
              <a:t>s : </a:t>
            </a:r>
            <a:r>
              <a:rPr lang="en-US" dirty="0" smtClean="0">
                <a:solidFill>
                  <a:schemeClr val="tx1"/>
                </a:solidFill>
              </a:rPr>
              <a:t>Cryptanalytic attacks rely on the </a:t>
            </a:r>
            <a:r>
              <a:rPr lang="en-US" dirty="0" smtClean="0">
                <a:solidFill>
                  <a:srgbClr val="C00000"/>
                </a:solidFill>
              </a:rPr>
              <a:t>nature of the algorithm </a:t>
            </a:r>
            <a:r>
              <a:rPr lang="en-US" dirty="0" smtClean="0">
                <a:solidFill>
                  <a:schemeClr val="tx1"/>
                </a:solidFill>
              </a:rPr>
              <a:t>plus </a:t>
            </a:r>
            <a:r>
              <a:rPr lang="en-US" dirty="0" smtClean="0">
                <a:solidFill>
                  <a:srgbClr val="C00000"/>
                </a:solidFill>
              </a:rPr>
              <a:t>perhaps some knowledge of the general  </a:t>
            </a:r>
            <a:r>
              <a:rPr lang="en-US" dirty="0" err="1" smtClean="0">
                <a:solidFill>
                  <a:srgbClr val="C00000"/>
                </a:solidFill>
              </a:rPr>
              <a:t>haracteristics</a:t>
            </a:r>
            <a:r>
              <a:rPr lang="en-US" dirty="0" smtClean="0">
                <a:solidFill>
                  <a:srgbClr val="C00000"/>
                </a:solidFill>
              </a:rPr>
              <a:t> of the plaintext </a:t>
            </a:r>
            <a:r>
              <a:rPr lang="en-US" dirty="0" smtClean="0">
                <a:solidFill>
                  <a:schemeClr val="tx1"/>
                </a:solidFill>
              </a:rPr>
              <a:t>or even some sample plaintext–</a:t>
            </a:r>
            <a:r>
              <a:rPr lang="en-US" dirty="0" err="1" smtClean="0">
                <a:solidFill>
                  <a:schemeClr val="tx1"/>
                </a:solidFill>
              </a:rPr>
              <a:t>ciphertext</a:t>
            </a:r>
            <a:r>
              <a:rPr lang="en-US" dirty="0" smtClean="0">
                <a:solidFill>
                  <a:schemeClr val="tx1"/>
                </a:solidFill>
              </a:rPr>
              <a:t> pairs. </a:t>
            </a:r>
          </a:p>
          <a:p>
            <a:pPr>
              <a:buFontTx/>
              <a:buBlip>
                <a:blip r:embed="rId2"/>
              </a:buBlip>
            </a:pPr>
            <a:endParaRPr lang="en-US" dirty="0" smtClean="0">
              <a:solidFill>
                <a:schemeClr val="tx1"/>
              </a:solidFill>
            </a:endParaRPr>
          </a:p>
          <a:p>
            <a:pPr algn="just">
              <a:buFontTx/>
              <a:buBlip>
                <a:blip r:embed="rId2"/>
              </a:buBlip>
            </a:pPr>
            <a:r>
              <a:rPr lang="en-US" dirty="0" smtClean="0"/>
              <a:t>Brute-Force Attack :</a:t>
            </a:r>
            <a:r>
              <a:rPr lang="en-US" dirty="0" smtClean="0">
                <a:solidFill>
                  <a:schemeClr val="tx1"/>
                </a:solidFill>
              </a:rPr>
              <a:t>The attacker tries every possible key on a piece of </a:t>
            </a:r>
            <a:r>
              <a:rPr lang="en-US" dirty="0" err="1" smtClean="0">
                <a:solidFill>
                  <a:schemeClr val="tx1"/>
                </a:solidFill>
              </a:rPr>
              <a:t>ciphertext</a:t>
            </a:r>
            <a:r>
              <a:rPr lang="en-US" dirty="0" smtClean="0">
                <a:solidFill>
                  <a:schemeClr val="tx1"/>
                </a:solidFill>
              </a:rPr>
              <a:t> until an intelligible translation into plaintext is obtained.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458200" cy="487362"/>
          </a:xfrm>
        </p:spPr>
        <p:txBody>
          <a:bodyPr>
            <a:noAutofit/>
          </a:bodyPr>
          <a:lstStyle/>
          <a:p>
            <a:pPr eaLnBrk="1" hangingPunct="1"/>
            <a:r>
              <a:rPr lang="en-US" dirty="0" smtClean="0">
                <a:ea typeface="MS PGothic" pitchFamily="34" charset="-128"/>
              </a:rPr>
              <a:t>Brute Force  Attack</a:t>
            </a:r>
            <a:endParaRPr lang="en-AU" altLang="zh-TW" dirty="0" smtClean="0">
              <a:ea typeface="MS PGothic" pitchFamily="34" charset="-128"/>
            </a:endParaRPr>
          </a:p>
        </p:txBody>
      </p:sp>
      <p:sp>
        <p:nvSpPr>
          <p:cNvPr id="29699" name="Rectangle 3"/>
          <p:cNvSpPr>
            <a:spLocks noGrp="1" noChangeArrowheads="1"/>
          </p:cNvSpPr>
          <p:nvPr>
            <p:ph sz="quarter" idx="1"/>
          </p:nvPr>
        </p:nvSpPr>
        <p:spPr>
          <a:xfrm>
            <a:off x="457200" y="1143000"/>
            <a:ext cx="8229600" cy="1371600"/>
          </a:xfrm>
        </p:spPr>
        <p:txBody>
          <a:bodyPr/>
          <a:lstStyle/>
          <a:p>
            <a:pPr eaLnBrk="1" hangingPunct="1">
              <a:lnSpc>
                <a:spcPct val="90000"/>
              </a:lnSpc>
              <a:buFontTx/>
              <a:buBlip>
                <a:blip r:embed="rId3"/>
              </a:buBlip>
            </a:pPr>
            <a:r>
              <a:rPr lang="en-AU" altLang="zh-TW" dirty="0">
                <a:ea typeface="MS PGothic" pitchFamily="34" charset="-128"/>
              </a:rPr>
              <a:t>a</a:t>
            </a:r>
            <a:r>
              <a:rPr lang="en-AU" altLang="zh-TW" dirty="0" smtClean="0">
                <a:ea typeface="MS PGothic" pitchFamily="34" charset="-128"/>
              </a:rPr>
              <a:t>lways possible to simply try every key </a:t>
            </a:r>
          </a:p>
          <a:p>
            <a:pPr eaLnBrk="1" hangingPunct="1">
              <a:lnSpc>
                <a:spcPct val="90000"/>
              </a:lnSpc>
              <a:buFontTx/>
              <a:buBlip>
                <a:blip r:embed="rId3"/>
              </a:buBlip>
            </a:pPr>
            <a:r>
              <a:rPr lang="en-AU" altLang="zh-TW" dirty="0" smtClean="0">
                <a:ea typeface="MS PGothic" pitchFamily="34" charset="-128"/>
              </a:rPr>
              <a:t>most basic attack, proportional to key size </a:t>
            </a:r>
          </a:p>
          <a:p>
            <a:pPr eaLnBrk="1" hangingPunct="1">
              <a:lnSpc>
                <a:spcPct val="90000"/>
              </a:lnSpc>
              <a:buFontTx/>
              <a:buBlip>
                <a:blip r:embed="rId3"/>
              </a:buBlip>
            </a:pPr>
            <a:r>
              <a:rPr lang="en-AU" altLang="zh-TW" dirty="0" smtClean="0">
                <a:ea typeface="MS PGothic" pitchFamily="34" charset="-128"/>
              </a:rPr>
              <a:t>assume either know / recognise plaintext</a:t>
            </a:r>
            <a:endParaRPr lang="en-US" sz="2800" b="1" dirty="0" smtClean="0">
              <a:latin typeface="Times" pitchFamily="-107" charset="0"/>
              <a:ea typeface="MS PGothic" pitchFamily="34" charset="-128"/>
            </a:endParaRPr>
          </a:p>
          <a:p>
            <a:pPr eaLnBrk="1" hangingPunct="1">
              <a:lnSpc>
                <a:spcPct val="90000"/>
              </a:lnSpc>
              <a:buFontTx/>
              <a:buBlip>
                <a:blip r:embed="rId3"/>
              </a:buBlip>
            </a:pPr>
            <a:endParaRPr lang="en-US" sz="2800" dirty="0" smtClean="0">
              <a:latin typeface="Times" pitchFamily="-107" charset="0"/>
              <a:ea typeface="MS PGothic" pitchFamily="34" charset="-128"/>
            </a:endParaRPr>
          </a:p>
          <a:p>
            <a:pPr eaLnBrk="1" hangingPunct="1">
              <a:lnSpc>
                <a:spcPct val="90000"/>
              </a:lnSpc>
              <a:buFontTx/>
              <a:buBlip>
                <a:blip r:embed="rId3"/>
              </a:buBlip>
            </a:pPr>
            <a:endParaRPr lang="en-AU" altLang="zh-TW" sz="2800" dirty="0" smtClean="0">
              <a:ea typeface="MS PGothic" pitchFamily="34" charset="-128"/>
            </a:endParaRPr>
          </a:p>
          <a:p>
            <a:pPr eaLnBrk="1" hangingPunct="1">
              <a:lnSpc>
                <a:spcPct val="90000"/>
              </a:lnSpc>
              <a:buFont typeface="Wingdings" pitchFamily="2" charset="2"/>
              <a:buNone/>
            </a:pPr>
            <a:endParaRPr lang="en-AU" altLang="zh-TW" sz="2800" dirty="0" smtClean="0">
              <a:ea typeface="MS PGothic" pitchFamily="34" charset="-128"/>
            </a:endParaRPr>
          </a:p>
          <a:p>
            <a:pPr eaLnBrk="1" hangingPunct="1">
              <a:lnSpc>
                <a:spcPct val="90000"/>
              </a:lnSpc>
              <a:buFontTx/>
              <a:buBlip>
                <a:blip r:embed="rId3"/>
              </a:buBlip>
            </a:pPr>
            <a:endParaRPr lang="en-AU" altLang="zh-TW" sz="2800" dirty="0" smtClean="0">
              <a:ea typeface="MS PGothic" pitchFamily="34" charset="-128"/>
            </a:endParaRPr>
          </a:p>
          <a:p>
            <a:pPr eaLnBrk="1" hangingPunct="1">
              <a:lnSpc>
                <a:spcPct val="90000"/>
              </a:lnSpc>
              <a:buFontTx/>
              <a:buBlip>
                <a:blip r:embed="rId3"/>
              </a:buBlip>
            </a:pPr>
            <a:endParaRPr lang="zh-TW" altLang="en-AU" sz="2800" dirty="0" smtClean="0">
              <a:ea typeface="MS PGothic" pitchFamily="34" charset="-128"/>
            </a:endParaRPr>
          </a:p>
        </p:txBody>
      </p:sp>
      <p:pic>
        <p:nvPicPr>
          <p:cNvPr id="29700" name="Picture 2"/>
          <p:cNvPicPr>
            <a:picLocks noChangeAspect="1" noChangeArrowheads="1"/>
          </p:cNvPicPr>
          <p:nvPr/>
        </p:nvPicPr>
        <p:blipFill>
          <a:blip r:embed="rId4"/>
          <a:srcRect/>
          <a:stretch>
            <a:fillRect/>
          </a:stretch>
        </p:blipFill>
        <p:spPr bwMode="auto">
          <a:xfrm>
            <a:off x="838200" y="2286000"/>
            <a:ext cx="6705600" cy="4056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23850" y="457200"/>
            <a:ext cx="8458200" cy="569892"/>
          </a:xfrm>
        </p:spPr>
        <p:txBody>
          <a:bodyPr>
            <a:normAutofit fontScale="90000"/>
          </a:bodyPr>
          <a:lstStyle/>
          <a:p>
            <a:pPr lvl="0"/>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sz="3100" dirty="0" smtClean="0"/>
              <a:t>Cryptanalysis</a:t>
            </a:r>
          </a:p>
        </p:txBody>
      </p:sp>
      <p:pic>
        <p:nvPicPr>
          <p:cNvPr id="4" name="Picture 12"/>
          <p:cNvPicPr>
            <a:picLocks noChangeAspect="1" noChangeArrowheads="1"/>
          </p:cNvPicPr>
          <p:nvPr/>
        </p:nvPicPr>
        <p:blipFill>
          <a:blip r:embed="rId2"/>
          <a:srcRect/>
          <a:stretch>
            <a:fillRect/>
          </a:stretch>
        </p:blipFill>
        <p:spPr bwMode="auto">
          <a:xfrm>
            <a:off x="381000" y="2819399"/>
            <a:ext cx="7989888" cy="2046287"/>
          </a:xfrm>
          <a:prstGeom prst="rect">
            <a:avLst/>
          </a:prstGeom>
          <a:noFill/>
          <a:ln w="9525">
            <a:noFill/>
            <a:miter lim="800000"/>
            <a:headEnd/>
            <a:tailEnd/>
          </a:ln>
        </p:spPr>
      </p:pic>
      <p:sp>
        <p:nvSpPr>
          <p:cNvPr id="5" name="Rectangle 10"/>
          <p:cNvSpPr>
            <a:spLocks noChangeArrowheads="1"/>
          </p:cNvSpPr>
          <p:nvPr/>
        </p:nvSpPr>
        <p:spPr bwMode="auto">
          <a:xfrm>
            <a:off x="762000" y="1447800"/>
            <a:ext cx="8001000" cy="707886"/>
          </a:xfrm>
          <a:prstGeom prst="rect">
            <a:avLst/>
          </a:prstGeom>
          <a:noFill/>
          <a:ln w="9525">
            <a:noFill/>
            <a:miter lim="800000"/>
            <a:headEnd/>
            <a:tailEnd/>
          </a:ln>
        </p:spPr>
        <p:txBody>
          <a:bodyPr wrap="square" anchor="ctr">
            <a:spAutoFit/>
          </a:bodyPr>
          <a:lstStyle/>
          <a:p>
            <a:pPr algn="just" eaLnBrk="1" hangingPunct="1"/>
            <a:r>
              <a:rPr lang="en-US" sz="2000" i="0" baseline="0" dirty="0"/>
              <a:t>As cryptography is the science and art of creating secret codes, </a:t>
            </a:r>
            <a:r>
              <a:rPr lang="en-US" sz="2000" i="0" baseline="0" dirty="0">
                <a:solidFill>
                  <a:srgbClr val="FF0000"/>
                </a:solidFill>
              </a:rPr>
              <a:t>cryptanalysis </a:t>
            </a:r>
            <a:r>
              <a:rPr lang="en-US" sz="2000" i="0" baseline="0" dirty="0"/>
              <a:t>is the science and art of breaking those codes. </a:t>
            </a:r>
          </a:p>
        </p:txBody>
      </p:sp>
      <p:sp>
        <p:nvSpPr>
          <p:cNvPr id="6" name="Rectangle 5"/>
          <p:cNvSpPr/>
          <p:nvPr/>
        </p:nvSpPr>
        <p:spPr>
          <a:xfrm>
            <a:off x="3352800" y="5638800"/>
            <a:ext cx="2606804" cy="400110"/>
          </a:xfrm>
          <a:prstGeom prst="rect">
            <a:avLst/>
          </a:prstGeom>
        </p:spPr>
        <p:txBody>
          <a:bodyPr wrap="none">
            <a:spAutoFit/>
          </a:bodyPr>
          <a:lstStyle/>
          <a:p>
            <a:r>
              <a:rPr lang="en-US" sz="2000" baseline="0" dirty="0" smtClean="0"/>
              <a:t>Cryptanalysis attacks</a:t>
            </a:r>
            <a:endParaRPr lang="en-US" sz="2000" baseline="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304800"/>
            <a:ext cx="8458200" cy="639763"/>
          </a:xfrm>
        </p:spPr>
        <p:txBody>
          <a:bodyPr>
            <a:normAutofit fontScale="90000"/>
          </a:bodyPr>
          <a:lstStyle/>
          <a:p>
            <a:pPr lvl="0"/>
            <a:r>
              <a:rPr lang="en-US" dirty="0" smtClean="0"/>
              <a:t/>
            </a:r>
            <a:br>
              <a:rPr lang="en-US" dirty="0" smtClean="0"/>
            </a:br>
            <a:r>
              <a:rPr lang="en-US" sz="3100" dirty="0" smtClean="0"/>
              <a:t>Cryptanalysis (Cont.)</a:t>
            </a:r>
          </a:p>
        </p:txBody>
      </p:sp>
      <p:sp>
        <p:nvSpPr>
          <p:cNvPr id="8" name="Rectangle 7"/>
          <p:cNvSpPr/>
          <p:nvPr/>
        </p:nvSpPr>
        <p:spPr>
          <a:xfrm>
            <a:off x="3125110" y="1447800"/>
            <a:ext cx="2733441" cy="400110"/>
          </a:xfrm>
          <a:prstGeom prst="rect">
            <a:avLst/>
          </a:prstGeom>
        </p:spPr>
        <p:txBody>
          <a:bodyPr wrap="none">
            <a:spAutoFit/>
          </a:bodyPr>
          <a:lstStyle/>
          <a:p>
            <a:r>
              <a:rPr lang="en-US" sz="2000" i="0" baseline="0" dirty="0" smtClean="0">
                <a:solidFill>
                  <a:schemeClr val="folHlink"/>
                </a:solidFill>
              </a:rPr>
              <a:t> </a:t>
            </a:r>
            <a:r>
              <a:rPr lang="en-US" sz="2000" baseline="0" dirty="0" err="1" smtClean="0">
                <a:solidFill>
                  <a:srgbClr val="0000FF"/>
                </a:solidFill>
              </a:rPr>
              <a:t>Ciphertext</a:t>
            </a:r>
            <a:r>
              <a:rPr lang="en-US" sz="2000" baseline="0" dirty="0" smtClean="0">
                <a:solidFill>
                  <a:srgbClr val="0000FF"/>
                </a:solidFill>
              </a:rPr>
              <a:t>-only attack</a:t>
            </a:r>
            <a:endParaRPr lang="en-US" sz="2000" dirty="0">
              <a:solidFill>
                <a:srgbClr val="0000FF"/>
              </a:solidFill>
            </a:endParaRPr>
          </a:p>
        </p:txBody>
      </p:sp>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643" y="2057400"/>
            <a:ext cx="6674373" cy="2767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9110" y="5105400"/>
            <a:ext cx="7542890" cy="1015663"/>
          </a:xfrm>
          <a:prstGeom prst="rect">
            <a:avLst/>
          </a:prstGeom>
        </p:spPr>
        <p:txBody>
          <a:bodyPr wrap="square">
            <a:spAutoFit/>
          </a:bodyPr>
          <a:lstStyle/>
          <a:p>
            <a:r>
              <a:rPr lang="en-US" sz="2000" b="1" dirty="0">
                <a:solidFill>
                  <a:srgbClr val="FF0000"/>
                </a:solidFill>
              </a:rPr>
              <a:t>We have: </a:t>
            </a:r>
            <a:r>
              <a:rPr lang="en-US" sz="2000" dirty="0"/>
              <a:t>the </a:t>
            </a:r>
            <a:r>
              <a:rPr lang="en-US" sz="2000" dirty="0" err="1"/>
              <a:t>ciphertext</a:t>
            </a:r>
            <a:r>
              <a:rPr lang="en-US" sz="2000" dirty="0"/>
              <a:t> of several messages that have </a:t>
            </a:r>
            <a:r>
              <a:rPr lang="en-US" sz="2000" dirty="0" smtClean="0"/>
              <a:t>been encrypted with </a:t>
            </a:r>
            <a:r>
              <a:rPr lang="en-US" sz="2000" dirty="0"/>
              <a:t>the same key, K.</a:t>
            </a:r>
          </a:p>
          <a:p>
            <a:r>
              <a:rPr lang="en-US" sz="2000" b="1" dirty="0">
                <a:solidFill>
                  <a:srgbClr val="FF0000"/>
                </a:solidFill>
              </a:rPr>
              <a:t>We recover:</a:t>
            </a:r>
            <a:r>
              <a:rPr lang="en-US" sz="2000" dirty="0"/>
              <a:t> the plaintexts, or K.</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304800"/>
            <a:ext cx="8458200" cy="639763"/>
          </a:xfrm>
        </p:spPr>
        <p:txBody>
          <a:bodyPr>
            <a:normAutofit fontScale="90000"/>
          </a:bodyPr>
          <a:lstStyle/>
          <a:p>
            <a:pPr lvl="0"/>
            <a:r>
              <a:rPr lang="en-US" dirty="0" smtClean="0"/>
              <a:t/>
            </a:r>
            <a:br>
              <a:rPr lang="en-US" dirty="0" smtClean="0"/>
            </a:br>
            <a:r>
              <a:rPr lang="en-US" sz="3100" dirty="0" smtClean="0"/>
              <a:t>Cryptanalysis (Cont.)</a:t>
            </a:r>
          </a:p>
        </p:txBody>
      </p:sp>
      <p:sp>
        <p:nvSpPr>
          <p:cNvPr id="9" name="Rectangle 14"/>
          <p:cNvSpPr>
            <a:spLocks noChangeArrowheads="1"/>
          </p:cNvSpPr>
          <p:nvPr/>
        </p:nvSpPr>
        <p:spPr bwMode="auto">
          <a:xfrm>
            <a:off x="3086100" y="1428690"/>
            <a:ext cx="2971800" cy="400110"/>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3333CC"/>
                </a:solidFill>
                <a:effectLst/>
                <a:uLnTx/>
                <a:uFillTx/>
              </a:rPr>
              <a:t>Known-Plaintext Attack</a:t>
            </a:r>
            <a:endParaRPr kumimoji="0" lang="en-US" sz="2000" b="0" i="0" u="none" strike="noStrike" kern="0" cap="none" spc="0" normalizeH="0" baseline="0" noProof="0" dirty="0" smtClean="0">
              <a:ln>
                <a:noFill/>
              </a:ln>
              <a:solidFill>
                <a:sysClr val="windowText" lastClr="000000"/>
              </a:solidFill>
              <a:effectLst/>
              <a:uLnTx/>
              <a:uFillTx/>
            </a:endParaRPr>
          </a:p>
        </p:txBody>
      </p:sp>
      <p:sp>
        <p:nvSpPr>
          <p:cNvPr id="2" name="Rectangle 1"/>
          <p:cNvSpPr/>
          <p:nvPr/>
        </p:nvSpPr>
        <p:spPr>
          <a:xfrm>
            <a:off x="838200" y="4724400"/>
            <a:ext cx="7772400" cy="1015663"/>
          </a:xfrm>
          <a:prstGeom prst="rect">
            <a:avLst/>
          </a:prstGeom>
        </p:spPr>
        <p:txBody>
          <a:bodyPr wrap="square">
            <a:spAutoFit/>
          </a:bodyPr>
          <a:lstStyle/>
          <a:p>
            <a:r>
              <a:rPr lang="en-US" sz="2000" dirty="0">
                <a:solidFill>
                  <a:srgbClr val="FF0000"/>
                </a:solidFill>
              </a:rPr>
              <a:t>We have: </a:t>
            </a:r>
            <a:r>
              <a:rPr lang="en-US" sz="2000" dirty="0"/>
              <a:t>the </a:t>
            </a:r>
            <a:r>
              <a:rPr lang="en-US" sz="2000" dirty="0" err="1"/>
              <a:t>ciphertexts</a:t>
            </a:r>
            <a:r>
              <a:rPr lang="en-US" sz="2000" dirty="0"/>
              <a:t> and corresponding plaintexts </a:t>
            </a:r>
            <a:r>
              <a:rPr lang="en-US" sz="2000" dirty="0" smtClean="0"/>
              <a:t>of several </a:t>
            </a:r>
            <a:r>
              <a:rPr lang="en-US" sz="2000" dirty="0"/>
              <a:t>messages, all encrypted with the same key K.</a:t>
            </a:r>
          </a:p>
          <a:p>
            <a:r>
              <a:rPr lang="en-US" sz="2000" dirty="0">
                <a:solidFill>
                  <a:srgbClr val="FF0000"/>
                </a:solidFill>
              </a:rPr>
              <a:t>We recover</a:t>
            </a:r>
            <a:r>
              <a:rPr lang="en-US" sz="2000" dirty="0"/>
              <a:t>: the key K.</a:t>
            </a:r>
          </a:p>
        </p:txBody>
      </p:sp>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1134" y="1981200"/>
            <a:ext cx="5641731"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304800"/>
            <a:ext cx="8458200" cy="639763"/>
          </a:xfrm>
        </p:spPr>
        <p:txBody>
          <a:bodyPr>
            <a:normAutofit fontScale="90000"/>
          </a:bodyPr>
          <a:lstStyle/>
          <a:p>
            <a:pPr lvl="0"/>
            <a:r>
              <a:rPr lang="en-US" dirty="0" smtClean="0"/>
              <a:t/>
            </a:r>
            <a:br>
              <a:rPr lang="en-US" dirty="0" smtClean="0"/>
            </a:br>
            <a:r>
              <a:rPr lang="en-US" sz="3100" dirty="0" smtClean="0"/>
              <a:t>Cryptanalysis (Cont.)</a:t>
            </a:r>
          </a:p>
        </p:txBody>
      </p:sp>
      <p:sp>
        <p:nvSpPr>
          <p:cNvPr id="7" name="Rectangle 14"/>
          <p:cNvSpPr>
            <a:spLocks noChangeArrowheads="1"/>
          </p:cNvSpPr>
          <p:nvPr/>
        </p:nvSpPr>
        <p:spPr bwMode="auto">
          <a:xfrm>
            <a:off x="685800" y="1371600"/>
            <a:ext cx="4114800" cy="457200"/>
          </a:xfrm>
          <a:prstGeom prst="rect">
            <a:avLst/>
          </a:prstGeom>
          <a:noFill/>
          <a:ln w="9525">
            <a:noFill/>
            <a:miter lim="800000"/>
            <a:headEnd/>
            <a:tailEnd/>
          </a:ln>
        </p:spPr>
        <p:txBody>
          <a:bodyPr anchor="ctr">
            <a:spAutoFit/>
          </a:bodyPr>
          <a:lstStyle/>
          <a:p>
            <a:pPr algn="just" eaLnBrk="1" hangingPunct="1"/>
            <a:r>
              <a:rPr lang="en-US" sz="2400" i="0" baseline="0" dirty="0">
                <a:solidFill>
                  <a:srgbClr val="0000FF"/>
                </a:solidFill>
              </a:rPr>
              <a:t>Chosen-Plaintext Attack</a:t>
            </a:r>
          </a:p>
        </p:txBody>
      </p:sp>
      <p:pic>
        <p:nvPicPr>
          <p:cNvPr id="1095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2286000"/>
            <a:ext cx="5867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23900" y="4724400"/>
            <a:ext cx="7848600" cy="1323439"/>
          </a:xfrm>
          <a:prstGeom prst="rect">
            <a:avLst/>
          </a:prstGeom>
        </p:spPr>
        <p:txBody>
          <a:bodyPr wrap="square">
            <a:spAutoFit/>
          </a:bodyPr>
          <a:lstStyle/>
          <a:p>
            <a:r>
              <a:rPr lang="en-US" sz="2000" dirty="0">
                <a:solidFill>
                  <a:srgbClr val="FF0000"/>
                </a:solidFill>
              </a:rPr>
              <a:t>We have: </a:t>
            </a:r>
            <a:r>
              <a:rPr lang="en-US" sz="2000" dirty="0"/>
              <a:t>the </a:t>
            </a:r>
            <a:r>
              <a:rPr lang="en-US" sz="2000" dirty="0" err="1"/>
              <a:t>ciphertext</a:t>
            </a:r>
            <a:r>
              <a:rPr lang="en-US" sz="2000" dirty="0"/>
              <a:t> of several messages that have </a:t>
            </a:r>
            <a:r>
              <a:rPr lang="en-US" sz="2000" dirty="0" smtClean="0"/>
              <a:t>been encrypted </a:t>
            </a:r>
            <a:r>
              <a:rPr lang="en-US" sz="2000" dirty="0"/>
              <a:t>with the same key K, such that we get </a:t>
            </a:r>
            <a:r>
              <a:rPr lang="en-US" sz="2000" dirty="0" smtClean="0"/>
              <a:t>to choose </a:t>
            </a:r>
            <a:r>
              <a:rPr lang="en-US" sz="2000" dirty="0"/>
              <a:t>the plaintexts.</a:t>
            </a:r>
          </a:p>
          <a:p>
            <a:r>
              <a:rPr lang="en-US" sz="2000" dirty="0">
                <a:solidFill>
                  <a:srgbClr val="FF0000"/>
                </a:solidFill>
              </a:rPr>
              <a:t>We recover: </a:t>
            </a:r>
            <a:r>
              <a:rPr lang="en-US" sz="2000" dirty="0"/>
              <a:t>the key K.</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304800"/>
            <a:ext cx="8458200" cy="639763"/>
          </a:xfrm>
        </p:spPr>
        <p:txBody>
          <a:bodyPr>
            <a:normAutofit fontScale="90000"/>
          </a:bodyPr>
          <a:lstStyle/>
          <a:p>
            <a:pPr lvl="0"/>
            <a:r>
              <a:rPr lang="en-US" dirty="0" smtClean="0"/>
              <a:t/>
            </a:r>
            <a:br>
              <a:rPr lang="en-US" dirty="0" smtClean="0"/>
            </a:br>
            <a:r>
              <a:rPr lang="en-US" sz="3100" dirty="0" smtClean="0"/>
              <a:t>Cryptanalysis (Cont.)</a:t>
            </a:r>
          </a:p>
        </p:txBody>
      </p:sp>
      <p:sp>
        <p:nvSpPr>
          <p:cNvPr id="9" name="Rectangle 14"/>
          <p:cNvSpPr>
            <a:spLocks noChangeArrowheads="1"/>
          </p:cNvSpPr>
          <p:nvPr/>
        </p:nvSpPr>
        <p:spPr bwMode="auto">
          <a:xfrm>
            <a:off x="2705100" y="1323945"/>
            <a:ext cx="3276600" cy="400110"/>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3333CC"/>
                </a:solidFill>
                <a:effectLst/>
                <a:uLnTx/>
                <a:uFillTx/>
              </a:rPr>
              <a:t>Chosen-</a:t>
            </a:r>
            <a:r>
              <a:rPr kumimoji="0" lang="en-US" sz="2000" b="0" i="0" u="none" strike="noStrike" kern="0" cap="none" spc="0" normalizeH="0" baseline="0" noProof="0" dirty="0" err="1" smtClean="0">
                <a:ln>
                  <a:noFill/>
                </a:ln>
                <a:solidFill>
                  <a:srgbClr val="3333CC"/>
                </a:solidFill>
                <a:effectLst/>
                <a:uLnTx/>
                <a:uFillTx/>
              </a:rPr>
              <a:t>Ciphertext</a:t>
            </a:r>
            <a:r>
              <a:rPr kumimoji="0" lang="en-US" sz="2000" b="0" i="0" u="none" strike="noStrike" kern="0" cap="none" spc="0" normalizeH="0" baseline="0" noProof="0" dirty="0" smtClean="0">
                <a:ln>
                  <a:noFill/>
                </a:ln>
                <a:solidFill>
                  <a:srgbClr val="3333CC"/>
                </a:solidFill>
                <a:effectLst/>
                <a:uLnTx/>
                <a:uFillTx/>
              </a:rPr>
              <a:t> Attack</a:t>
            </a:r>
          </a:p>
        </p:txBody>
      </p:sp>
      <p:sp>
        <p:nvSpPr>
          <p:cNvPr id="2" name="Rectangle 1"/>
          <p:cNvSpPr/>
          <p:nvPr/>
        </p:nvSpPr>
        <p:spPr>
          <a:xfrm>
            <a:off x="762000" y="4648200"/>
            <a:ext cx="8001000" cy="1323439"/>
          </a:xfrm>
          <a:prstGeom prst="rect">
            <a:avLst/>
          </a:prstGeom>
        </p:spPr>
        <p:txBody>
          <a:bodyPr wrap="square">
            <a:spAutoFit/>
          </a:bodyPr>
          <a:lstStyle/>
          <a:p>
            <a:r>
              <a:rPr lang="en-US" sz="2000" dirty="0">
                <a:solidFill>
                  <a:srgbClr val="FF0000"/>
                </a:solidFill>
              </a:rPr>
              <a:t>We have: </a:t>
            </a:r>
            <a:r>
              <a:rPr lang="en-US" sz="2000" dirty="0"/>
              <a:t>the plaintext of several messages that have </a:t>
            </a:r>
            <a:r>
              <a:rPr lang="en-US" sz="2000" dirty="0" smtClean="0"/>
              <a:t>been   encrypted </a:t>
            </a:r>
            <a:r>
              <a:rPr lang="en-US" sz="2000" dirty="0"/>
              <a:t>with the same key K, such that we get </a:t>
            </a:r>
            <a:r>
              <a:rPr lang="en-US" sz="2000" dirty="0" smtClean="0"/>
              <a:t>to choose the </a:t>
            </a:r>
            <a:r>
              <a:rPr lang="en-US" sz="2000" dirty="0" err="1" smtClean="0"/>
              <a:t>ciphertexts</a:t>
            </a:r>
            <a:r>
              <a:rPr lang="en-US" sz="2000" dirty="0"/>
              <a:t>.</a:t>
            </a:r>
          </a:p>
          <a:p>
            <a:r>
              <a:rPr lang="en-US" sz="2000" dirty="0">
                <a:solidFill>
                  <a:srgbClr val="FF0000"/>
                </a:solidFill>
              </a:rPr>
              <a:t>We recover:</a:t>
            </a:r>
            <a:r>
              <a:rPr lang="en-US" sz="2000" dirty="0"/>
              <a:t> the key K.</a:t>
            </a:r>
          </a:p>
        </p:txBody>
      </p:sp>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780" y="1981200"/>
            <a:ext cx="5631240" cy="232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04800" y="304800"/>
            <a:ext cx="8458200" cy="487363"/>
          </a:xfrm>
        </p:spPr>
        <p:txBody>
          <a:bodyPr>
            <a:noAutofit/>
          </a:bodyPr>
          <a:lstStyle/>
          <a:p>
            <a:r>
              <a:rPr lang="en-US" dirty="0" smtClean="0"/>
              <a:t>Cryptanalysis: Summary</a:t>
            </a:r>
          </a:p>
        </p:txBody>
      </p:sp>
      <p:pic>
        <p:nvPicPr>
          <p:cNvPr id="30723" name="Picture 4"/>
          <p:cNvPicPr>
            <a:picLocks noChangeAspect="1" noChangeArrowheads="1"/>
          </p:cNvPicPr>
          <p:nvPr/>
        </p:nvPicPr>
        <p:blipFill>
          <a:blip r:embed="rId2"/>
          <a:srcRect/>
          <a:stretch>
            <a:fillRect/>
          </a:stretch>
        </p:blipFill>
        <p:spPr bwMode="auto">
          <a:xfrm>
            <a:off x="152400" y="838200"/>
            <a:ext cx="8763000" cy="5772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04800" y="304800"/>
            <a:ext cx="8458200" cy="487363"/>
          </a:xfrm>
        </p:spPr>
        <p:txBody>
          <a:bodyPr>
            <a:noAutofit/>
          </a:bodyPr>
          <a:lstStyle/>
          <a:p>
            <a:r>
              <a:rPr lang="en-US" dirty="0" smtClean="0"/>
              <a:t>Exercise</a:t>
            </a:r>
          </a:p>
        </p:txBody>
      </p:sp>
      <p:pic>
        <p:nvPicPr>
          <p:cNvPr id="1116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447800"/>
            <a:ext cx="6858000"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9057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457200"/>
            <a:ext cx="8458200" cy="639763"/>
          </a:xfrm>
        </p:spPr>
        <p:txBody>
          <a:bodyPr/>
          <a:lstStyle/>
          <a:p>
            <a:r>
              <a:rPr lang="en-US" dirty="0" smtClean="0"/>
              <a:t>Cryptography</a:t>
            </a:r>
          </a:p>
        </p:txBody>
      </p:sp>
      <p:sp>
        <p:nvSpPr>
          <p:cNvPr id="26627" name="Content Placeholder 2"/>
          <p:cNvSpPr>
            <a:spLocks noGrp="1"/>
          </p:cNvSpPr>
          <p:nvPr>
            <p:ph sz="quarter" idx="1"/>
          </p:nvPr>
        </p:nvSpPr>
        <p:spPr>
          <a:xfrm>
            <a:off x="457200" y="1676400"/>
            <a:ext cx="8305800" cy="4495800"/>
          </a:xfrm>
        </p:spPr>
        <p:txBody>
          <a:bodyPr>
            <a:normAutofit/>
          </a:bodyPr>
          <a:lstStyle/>
          <a:p>
            <a:pPr>
              <a:buFontTx/>
              <a:buBlip>
                <a:blip r:embed="rId2"/>
              </a:buBlip>
            </a:pPr>
            <a:r>
              <a:rPr lang="en-US" dirty="0" smtClean="0"/>
              <a:t>Cryptographic systems are characterized along </a:t>
            </a:r>
            <a:r>
              <a:rPr lang="en-US" b="1" dirty="0" smtClean="0"/>
              <a:t>three </a:t>
            </a:r>
            <a:r>
              <a:rPr lang="en-US" dirty="0" smtClean="0"/>
              <a:t>independent dimensions:</a:t>
            </a:r>
          </a:p>
          <a:p>
            <a:pPr>
              <a:buFontTx/>
              <a:buBlip>
                <a:blip r:embed="rId2"/>
              </a:buBlip>
            </a:pPr>
            <a:endParaRPr lang="en-US" dirty="0" smtClean="0"/>
          </a:p>
          <a:p>
            <a:pPr>
              <a:buFontTx/>
              <a:buBlip>
                <a:blip r:embed="rId2"/>
              </a:buBlip>
            </a:pPr>
            <a:r>
              <a:rPr lang="en-US" dirty="0" smtClean="0">
                <a:solidFill>
                  <a:schemeClr val="tx1"/>
                </a:solidFill>
              </a:rPr>
              <a:t>1. The type of operations used for transforming plaintext to </a:t>
            </a:r>
            <a:r>
              <a:rPr lang="en-US" dirty="0" err="1" smtClean="0">
                <a:solidFill>
                  <a:schemeClr val="tx1"/>
                </a:solidFill>
              </a:rPr>
              <a:t>ciphertext</a:t>
            </a:r>
            <a:r>
              <a:rPr lang="en-US" dirty="0" smtClean="0">
                <a:solidFill>
                  <a:schemeClr val="tx1"/>
                </a:solidFill>
              </a:rPr>
              <a:t>.—</a:t>
            </a:r>
            <a:r>
              <a:rPr lang="en-US" dirty="0" smtClean="0">
                <a:solidFill>
                  <a:srgbClr val="FF0000"/>
                </a:solidFill>
              </a:rPr>
              <a:t>substitution and transposition (or product)</a:t>
            </a:r>
          </a:p>
          <a:p>
            <a:pPr marL="0" indent="0">
              <a:buNone/>
            </a:pPr>
            <a:endParaRPr lang="en-US" b="1" dirty="0" smtClean="0">
              <a:solidFill>
                <a:schemeClr val="tx1"/>
              </a:solidFill>
            </a:endParaRPr>
          </a:p>
          <a:p>
            <a:pPr>
              <a:buFontTx/>
              <a:buBlip>
                <a:blip r:embed="rId2"/>
              </a:buBlip>
            </a:pPr>
            <a:r>
              <a:rPr lang="en-US" b="1" dirty="0" smtClean="0">
                <a:solidFill>
                  <a:schemeClr val="tx1"/>
                </a:solidFill>
              </a:rPr>
              <a:t>2.</a:t>
            </a:r>
            <a:r>
              <a:rPr lang="en-US" b="1" dirty="0" smtClean="0"/>
              <a:t> </a:t>
            </a:r>
            <a:r>
              <a:rPr lang="en-US" dirty="0" smtClean="0">
                <a:solidFill>
                  <a:schemeClr val="tx1"/>
                </a:solidFill>
              </a:rPr>
              <a:t>The number of keys used</a:t>
            </a:r>
            <a:r>
              <a:rPr lang="en-US" b="1" dirty="0" smtClean="0">
                <a:solidFill>
                  <a:schemeClr val="tx1"/>
                </a:solidFill>
              </a:rPr>
              <a:t>. </a:t>
            </a:r>
            <a:r>
              <a:rPr lang="en-US" dirty="0" smtClean="0">
                <a:solidFill>
                  <a:srgbClr val="FF0000"/>
                </a:solidFill>
              </a:rPr>
              <a:t>(sym. and </a:t>
            </a:r>
            <a:r>
              <a:rPr lang="en-US" dirty="0" err="1" smtClean="0">
                <a:solidFill>
                  <a:srgbClr val="FF0000"/>
                </a:solidFill>
              </a:rPr>
              <a:t>asym</a:t>
            </a:r>
            <a:r>
              <a:rPr lang="en-US" dirty="0" smtClean="0">
                <a:solidFill>
                  <a:srgbClr val="FF0000"/>
                </a:solidFill>
              </a:rPr>
              <a:t>.)</a:t>
            </a:r>
          </a:p>
          <a:p>
            <a:pPr>
              <a:buFontTx/>
              <a:buBlip>
                <a:blip r:embed="rId2"/>
              </a:buBlip>
            </a:pPr>
            <a:endParaRPr lang="en-US" b="1" dirty="0" smtClean="0">
              <a:solidFill>
                <a:schemeClr val="tx1"/>
              </a:solidFill>
            </a:endParaRPr>
          </a:p>
          <a:p>
            <a:pPr>
              <a:buFontTx/>
              <a:buBlip>
                <a:blip r:embed="rId2"/>
              </a:buBlip>
            </a:pPr>
            <a:r>
              <a:rPr lang="en-US" b="1" dirty="0" smtClean="0">
                <a:solidFill>
                  <a:schemeClr val="tx1"/>
                </a:solidFill>
              </a:rPr>
              <a:t>3</a:t>
            </a:r>
            <a:r>
              <a:rPr lang="en-US" b="1" dirty="0" smtClean="0"/>
              <a:t> </a:t>
            </a:r>
            <a:r>
              <a:rPr lang="en-US" dirty="0" smtClean="0">
                <a:solidFill>
                  <a:schemeClr val="tx1"/>
                </a:solidFill>
              </a:rPr>
              <a:t>The way in which the plaintext is processed. (</a:t>
            </a:r>
            <a:r>
              <a:rPr lang="en-US" dirty="0" smtClean="0">
                <a:solidFill>
                  <a:srgbClr val="FF0000"/>
                </a:solidFill>
              </a:rPr>
              <a:t>block and stream</a:t>
            </a:r>
            <a:r>
              <a:rPr lang="en-US" dirty="0" smtClean="0">
                <a:solidFill>
                  <a:schemeClr val="tx1"/>
                </a:solidFill>
              </a:rPr>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228600"/>
            <a:ext cx="8458200" cy="639763"/>
          </a:xfrm>
        </p:spPr>
        <p:txBody>
          <a:bodyPr/>
          <a:lstStyle/>
          <a:p>
            <a:r>
              <a:rPr lang="en-US" sz="2800" dirty="0" smtClean="0"/>
              <a:t>Measures of Security</a:t>
            </a:r>
          </a:p>
        </p:txBody>
      </p:sp>
      <p:sp>
        <p:nvSpPr>
          <p:cNvPr id="32771" name="Content Placeholder 2"/>
          <p:cNvSpPr>
            <a:spLocks noGrp="1"/>
          </p:cNvSpPr>
          <p:nvPr>
            <p:ph sz="quarter" idx="1"/>
          </p:nvPr>
        </p:nvSpPr>
        <p:spPr>
          <a:xfrm>
            <a:off x="304800" y="914400"/>
            <a:ext cx="8458200" cy="5715000"/>
          </a:xfrm>
        </p:spPr>
        <p:txBody>
          <a:bodyPr>
            <a:normAutofit/>
          </a:bodyPr>
          <a:lstStyle/>
          <a:p>
            <a:pPr>
              <a:buFontTx/>
              <a:buNone/>
            </a:pPr>
            <a:r>
              <a:rPr lang="en-US" dirty="0" smtClean="0"/>
              <a:t>Unconditionally Secure</a:t>
            </a:r>
          </a:p>
          <a:p>
            <a:pPr algn="just">
              <a:lnSpc>
                <a:spcPts val="2800"/>
              </a:lnSpc>
              <a:buFontTx/>
              <a:buBlip>
                <a:blip r:embed="rId2"/>
              </a:buBlip>
            </a:pPr>
            <a:r>
              <a:rPr lang="en-US" sz="2200" dirty="0" err="1" smtClean="0">
                <a:solidFill>
                  <a:srgbClr val="FF0000"/>
                </a:solidFill>
              </a:rPr>
              <a:t>Ciphertext</a:t>
            </a:r>
            <a:r>
              <a:rPr lang="en-US" sz="2200" dirty="0" smtClean="0">
                <a:solidFill>
                  <a:schemeClr val="tx1"/>
                </a:solidFill>
              </a:rPr>
              <a:t> does not contained </a:t>
            </a:r>
            <a:r>
              <a:rPr lang="en-US" sz="2200" dirty="0" smtClean="0">
                <a:solidFill>
                  <a:srgbClr val="FF0000"/>
                </a:solidFill>
              </a:rPr>
              <a:t>enough information </a:t>
            </a:r>
            <a:r>
              <a:rPr lang="en-US" sz="2200" dirty="0" smtClean="0">
                <a:solidFill>
                  <a:schemeClr val="tx1"/>
                </a:solidFill>
              </a:rPr>
              <a:t>to</a:t>
            </a:r>
          </a:p>
          <a:p>
            <a:pPr algn="just">
              <a:lnSpc>
                <a:spcPts val="2800"/>
              </a:lnSpc>
              <a:buFontTx/>
              <a:buNone/>
            </a:pPr>
            <a:r>
              <a:rPr lang="en-US" sz="2200" dirty="0" smtClean="0">
                <a:solidFill>
                  <a:schemeClr val="tx1"/>
                </a:solidFill>
              </a:rPr>
              <a:t>	derive plaintext or key</a:t>
            </a:r>
          </a:p>
          <a:p>
            <a:pPr>
              <a:lnSpc>
                <a:spcPts val="2800"/>
              </a:lnSpc>
              <a:buFontTx/>
              <a:buBlip>
                <a:blip r:embed="rId2"/>
              </a:buBlip>
            </a:pPr>
            <a:r>
              <a:rPr lang="en-US" sz="2200" dirty="0" smtClean="0">
                <a:solidFill>
                  <a:srgbClr val="00B050"/>
                </a:solidFill>
              </a:rPr>
              <a:t>One-time pad </a:t>
            </a:r>
            <a:r>
              <a:rPr lang="en-US" sz="2200" dirty="0" smtClean="0">
                <a:solidFill>
                  <a:schemeClr val="tx1"/>
                </a:solidFill>
              </a:rPr>
              <a:t>is only unconditionally secure cipher  ( but not very  practical )</a:t>
            </a:r>
          </a:p>
          <a:p>
            <a:pPr>
              <a:lnSpc>
                <a:spcPts val="2800"/>
              </a:lnSpc>
              <a:buFontTx/>
              <a:buNone/>
            </a:pPr>
            <a:endParaRPr lang="en-US" sz="2200" dirty="0" smtClean="0">
              <a:solidFill>
                <a:schemeClr val="tx1"/>
              </a:solidFill>
            </a:endParaRPr>
          </a:p>
          <a:p>
            <a:pPr>
              <a:buFontTx/>
              <a:buNone/>
            </a:pPr>
            <a:r>
              <a:rPr lang="en-US" dirty="0" smtClean="0"/>
              <a:t>Computationally Secure</a:t>
            </a:r>
          </a:p>
          <a:p>
            <a:pPr>
              <a:lnSpc>
                <a:spcPts val="2800"/>
              </a:lnSpc>
              <a:buFontTx/>
              <a:buNone/>
            </a:pPr>
            <a:r>
              <a:rPr lang="en-US" dirty="0" smtClean="0">
                <a:solidFill>
                  <a:srgbClr val="C00000"/>
                </a:solidFill>
              </a:rPr>
              <a:t>If either:</a:t>
            </a:r>
          </a:p>
          <a:p>
            <a:pPr algn="just">
              <a:lnSpc>
                <a:spcPts val="2800"/>
              </a:lnSpc>
              <a:buFontTx/>
              <a:buNone/>
            </a:pPr>
            <a:r>
              <a:rPr lang="en-US" dirty="0" smtClean="0"/>
              <a:t>		- </a:t>
            </a:r>
            <a:r>
              <a:rPr lang="en-US" sz="2000" dirty="0" smtClean="0">
                <a:solidFill>
                  <a:schemeClr val="tx1"/>
                </a:solidFill>
              </a:rPr>
              <a:t>Cost of breaking cipher </a:t>
            </a:r>
            <a:r>
              <a:rPr lang="en-US" sz="2000" dirty="0" smtClean="0">
                <a:solidFill>
                  <a:srgbClr val="FF0000"/>
                </a:solidFill>
              </a:rPr>
              <a:t>exceeds</a:t>
            </a:r>
            <a:r>
              <a:rPr lang="en-US" sz="2000" dirty="0" smtClean="0">
                <a:solidFill>
                  <a:schemeClr val="tx1"/>
                </a:solidFill>
              </a:rPr>
              <a:t> value of  </a:t>
            </a:r>
            <a:r>
              <a:rPr lang="en-US" sz="2000" dirty="0" smtClean="0">
                <a:solidFill>
                  <a:srgbClr val="FF0000"/>
                </a:solidFill>
              </a:rPr>
              <a:t>encrypted information</a:t>
            </a:r>
          </a:p>
          <a:p>
            <a:pPr algn="just">
              <a:lnSpc>
                <a:spcPts val="2800"/>
              </a:lnSpc>
              <a:buFontTx/>
              <a:buNone/>
            </a:pPr>
            <a:r>
              <a:rPr lang="en-US" sz="2000" dirty="0" smtClean="0">
                <a:solidFill>
                  <a:schemeClr val="tx1"/>
                </a:solidFill>
              </a:rPr>
              <a:t>		-Time required to break cipher exceeds </a:t>
            </a:r>
            <a:r>
              <a:rPr lang="en-US" sz="2000" dirty="0" smtClean="0">
                <a:solidFill>
                  <a:srgbClr val="FF0000"/>
                </a:solidFill>
              </a:rPr>
              <a:t>useful lifetime of 			   encrypted information</a:t>
            </a:r>
          </a:p>
          <a:p>
            <a:pPr>
              <a:buFontTx/>
              <a:buBlip>
                <a:blip r:embed="rId2"/>
              </a:buBlip>
            </a:pPr>
            <a:r>
              <a:rPr lang="en-US" dirty="0" smtClean="0">
                <a:solidFill>
                  <a:schemeClr val="tx1"/>
                </a:solidFill>
              </a:rPr>
              <a:t>Hard to estimate value/lifetime of some information</a:t>
            </a:r>
          </a:p>
          <a:p>
            <a:pPr>
              <a:buFontTx/>
              <a:buBlip>
                <a:blip r:embed="rId2"/>
              </a:buBlip>
            </a:pPr>
            <a:r>
              <a:rPr lang="en-US" dirty="0" smtClean="0">
                <a:solidFill>
                  <a:schemeClr val="tx1"/>
                </a:solidFill>
              </a:rPr>
              <a:t>Hard to estimate how much effort needed to break cipher</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81000" y="457200"/>
            <a:ext cx="8458200" cy="639763"/>
          </a:xfrm>
        </p:spPr>
        <p:txBody>
          <a:bodyPr/>
          <a:lstStyle/>
          <a:p>
            <a:r>
              <a:rPr lang="en-US" smtClean="0"/>
              <a:t>Motivation for cryptanalysts</a:t>
            </a:r>
          </a:p>
        </p:txBody>
      </p:sp>
      <p:sp>
        <p:nvSpPr>
          <p:cNvPr id="33795" name="Content Placeholder 2"/>
          <p:cNvSpPr>
            <a:spLocks noGrp="1"/>
          </p:cNvSpPr>
          <p:nvPr>
            <p:ph sz="quarter" idx="1"/>
          </p:nvPr>
        </p:nvSpPr>
        <p:spPr>
          <a:xfrm>
            <a:off x="609600" y="2362200"/>
            <a:ext cx="7848600" cy="1752600"/>
          </a:xfrm>
        </p:spPr>
        <p:txBody>
          <a:bodyPr/>
          <a:lstStyle/>
          <a:p>
            <a:pPr algn="just">
              <a:buFontTx/>
              <a:buBlip>
                <a:blip r:embed="rId2"/>
              </a:buBlip>
            </a:pPr>
            <a:r>
              <a:rPr lang="en-US" dirty="0" smtClean="0">
                <a:solidFill>
                  <a:schemeClr val="tx1"/>
                </a:solidFill>
              </a:rPr>
              <a:t>All forms of cryptanalysis for symmetric encryption schemes are designed to </a:t>
            </a:r>
            <a:r>
              <a:rPr lang="en-US" dirty="0" smtClean="0">
                <a:solidFill>
                  <a:srgbClr val="FF0000"/>
                </a:solidFill>
              </a:rPr>
              <a:t>exploit</a:t>
            </a:r>
            <a:r>
              <a:rPr lang="en-US" dirty="0" smtClean="0">
                <a:solidFill>
                  <a:schemeClr val="tx1"/>
                </a:solidFill>
              </a:rPr>
              <a:t> the fact that </a:t>
            </a:r>
            <a:r>
              <a:rPr lang="en-US" dirty="0" smtClean="0">
                <a:solidFill>
                  <a:srgbClr val="FF0000"/>
                </a:solidFill>
              </a:rPr>
              <a:t>traces of structure</a:t>
            </a:r>
            <a:r>
              <a:rPr lang="en-US" dirty="0" smtClean="0">
                <a:solidFill>
                  <a:schemeClr val="tx1"/>
                </a:solidFill>
              </a:rPr>
              <a:t> or </a:t>
            </a:r>
            <a:r>
              <a:rPr lang="en-US" dirty="0" smtClean="0">
                <a:solidFill>
                  <a:srgbClr val="FF0000"/>
                </a:solidFill>
              </a:rPr>
              <a:t>pattern in the plaintext</a:t>
            </a:r>
            <a:r>
              <a:rPr lang="en-US" dirty="0" smtClean="0">
                <a:solidFill>
                  <a:schemeClr val="tx1"/>
                </a:solidFill>
              </a:rPr>
              <a:t> may </a:t>
            </a:r>
            <a:r>
              <a:rPr lang="en-US" dirty="0" smtClean="0">
                <a:solidFill>
                  <a:srgbClr val="FF0000"/>
                </a:solidFill>
              </a:rPr>
              <a:t>survive encryption </a:t>
            </a:r>
            <a:r>
              <a:rPr lang="en-US" dirty="0" smtClean="0">
                <a:solidFill>
                  <a:schemeClr val="tx1"/>
                </a:solidFill>
              </a:rPr>
              <a:t>and be discernible in the </a:t>
            </a:r>
            <a:r>
              <a:rPr lang="en-US" dirty="0" err="1" smtClean="0">
                <a:solidFill>
                  <a:schemeClr val="tx1"/>
                </a:solidFill>
              </a:rPr>
              <a:t>ciphertext</a:t>
            </a:r>
            <a:r>
              <a:rPr lang="en-US" dirty="0" smtClean="0">
                <a:solidFill>
                  <a:schemeClr val="tx1"/>
                </a:solidFill>
              </a:rPr>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6595" name="Text Box 3"/>
          <p:cNvSpPr txBox="1">
            <a:spLocks noChangeArrowheads="1"/>
          </p:cNvSpPr>
          <p:nvPr/>
        </p:nvSpPr>
        <p:spPr bwMode="auto">
          <a:xfrm>
            <a:off x="4425438" y="304799"/>
            <a:ext cx="4451860" cy="584775"/>
          </a:xfrm>
          <a:prstGeom prst="rect">
            <a:avLst/>
          </a:prstGeom>
          <a:noFill/>
          <a:ln w="9525">
            <a:noFill/>
            <a:miter lim="800000"/>
            <a:headEnd/>
            <a:tailEnd/>
          </a:ln>
          <a:effectLst/>
        </p:spPr>
        <p:txBody>
          <a:bodyPr wrap="none">
            <a:spAutoFit/>
          </a:bodyPr>
          <a:lstStyle/>
          <a:p>
            <a:pPr algn="r">
              <a:defRPr/>
            </a:pPr>
            <a:r>
              <a:rPr lang="en-US" sz="3200" i="0" baseline="0" dirty="0" smtClean="0">
                <a:effectLst>
                  <a:outerShdw blurRad="38100" dist="38100" dir="2700000" algn="tl">
                    <a:srgbClr val="C0C0C0"/>
                  </a:outerShdw>
                </a:effectLst>
                <a:latin typeface="Times" pitchFamily="-107" charset="0"/>
              </a:rPr>
              <a:t>   </a:t>
            </a:r>
            <a:r>
              <a:rPr lang="en-US" sz="3200" b="1" i="0" baseline="0" dirty="0" smtClean="0">
                <a:solidFill>
                  <a:srgbClr val="FF0000"/>
                </a:solidFill>
                <a:cs typeface="Arial" pitchFamily="34" charset="0"/>
              </a:rPr>
              <a:t>Substitution ciphers</a:t>
            </a:r>
            <a:endParaRPr lang="en-US" sz="3200" b="1" i="0" baseline="0" dirty="0">
              <a:solidFill>
                <a:srgbClr val="FF0000"/>
              </a:solidFill>
              <a:cs typeface="Arial" pitchFamily="34" charset="0"/>
            </a:endParaRPr>
          </a:p>
        </p:txBody>
      </p:sp>
      <p:sp>
        <p:nvSpPr>
          <p:cNvPr id="1536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i="0" baseline="0"/>
          </a:p>
        </p:txBody>
      </p:sp>
      <p:sp>
        <p:nvSpPr>
          <p:cNvPr id="1006597" name="Rectangle 5"/>
          <p:cNvSpPr>
            <a:spLocks noChangeArrowheads="1"/>
          </p:cNvSpPr>
          <p:nvPr/>
        </p:nvSpPr>
        <p:spPr bwMode="auto">
          <a:xfrm>
            <a:off x="457200" y="1066800"/>
            <a:ext cx="8229600" cy="1200329"/>
          </a:xfrm>
          <a:prstGeom prst="rect">
            <a:avLst/>
          </a:prstGeom>
          <a:noFill/>
          <a:ln w="9525">
            <a:noFill/>
            <a:miter lim="800000"/>
            <a:headEnd/>
            <a:tailEnd/>
          </a:ln>
          <a:effectLst/>
        </p:spPr>
        <p:txBody>
          <a:bodyPr wrap="square" anchor="ctr">
            <a:spAutoFit/>
          </a:bodyPr>
          <a:lstStyle/>
          <a:p>
            <a:pPr algn="just" eaLnBrk="1" hangingPunct="1">
              <a:defRPr/>
            </a:pPr>
            <a:r>
              <a:rPr lang="en-US" sz="2400" baseline="0" dirty="0"/>
              <a:t>A substitution cipher replaces one symbol with another. Substitution ciphers can be categorized as either </a:t>
            </a:r>
            <a:r>
              <a:rPr lang="en-US" sz="2400" baseline="0" dirty="0" err="1"/>
              <a:t>monoalphabetic</a:t>
            </a:r>
            <a:r>
              <a:rPr lang="en-US" sz="2400" baseline="0" dirty="0"/>
              <a:t> ciphers or </a:t>
            </a:r>
            <a:r>
              <a:rPr lang="en-US" sz="2400" baseline="0" dirty="0" err="1"/>
              <a:t>polyalphabetic</a:t>
            </a:r>
            <a:r>
              <a:rPr lang="en-US" sz="2400" baseline="0" dirty="0"/>
              <a:t> ciphers.</a:t>
            </a:r>
          </a:p>
        </p:txBody>
      </p:sp>
      <p:sp>
        <p:nvSpPr>
          <p:cNvPr id="15367" name="Rectangle 6"/>
          <p:cNvSpPr>
            <a:spLocks noChangeArrowheads="1"/>
          </p:cNvSpPr>
          <p:nvPr/>
        </p:nvSpPr>
        <p:spPr bwMode="auto">
          <a:xfrm>
            <a:off x="172841" y="5169187"/>
            <a:ext cx="5715000" cy="830997"/>
          </a:xfrm>
          <a:prstGeom prst="rect">
            <a:avLst/>
          </a:prstGeom>
          <a:noFill/>
          <a:ln w="9525">
            <a:noFill/>
            <a:miter lim="800000"/>
            <a:headEnd/>
            <a:tailEnd/>
          </a:ln>
        </p:spPr>
        <p:txBody>
          <a:bodyPr>
            <a:spAutoFit/>
          </a:bodyPr>
          <a:lstStyle/>
          <a:p>
            <a:pPr>
              <a:buClr>
                <a:schemeClr val="tx1"/>
              </a:buClr>
              <a:buSzPct val="117000"/>
              <a:buFont typeface="Wingdings" pitchFamily="2" charset="2"/>
              <a:buNone/>
            </a:pPr>
            <a:r>
              <a:rPr lang="en-US" sz="2400" i="0" baseline="0" dirty="0">
                <a:solidFill>
                  <a:srgbClr val="0033CC"/>
                </a:solidFill>
              </a:rPr>
              <a:t>	</a:t>
            </a:r>
            <a:r>
              <a:rPr lang="en-US" sz="2400" i="0" baseline="0" dirty="0" err="1"/>
              <a:t>Monoalphabetic</a:t>
            </a:r>
            <a:r>
              <a:rPr lang="en-US" sz="2400" i="0" baseline="0" dirty="0"/>
              <a:t> </a:t>
            </a:r>
            <a:r>
              <a:rPr lang="en-US" sz="2400" i="0" baseline="0" dirty="0" err="1"/>
              <a:t>Ciphres</a:t>
            </a:r>
            <a:r>
              <a:rPr lang="fr-FR" sz="2400" i="0" baseline="0" dirty="0"/>
              <a:t/>
            </a:r>
            <a:br>
              <a:rPr lang="fr-FR" sz="2400" i="0" baseline="0" dirty="0"/>
            </a:br>
            <a:r>
              <a:rPr lang="fr-FR" sz="2400" i="0" baseline="0" dirty="0"/>
              <a:t>	</a:t>
            </a:r>
            <a:r>
              <a:rPr lang="fr-FR" sz="2400" i="0" baseline="0" dirty="0" err="1"/>
              <a:t>Polyalphabetic</a:t>
            </a:r>
            <a:r>
              <a:rPr lang="fr-FR" sz="2400" i="0" baseline="0" dirty="0"/>
              <a:t> </a:t>
            </a:r>
            <a:r>
              <a:rPr lang="fr-FR" sz="2400" i="0" baseline="0" dirty="0" err="1"/>
              <a:t>Ciphers</a:t>
            </a:r>
            <a:endParaRPr lang="en-US" sz="2400" i="0" baseline="0" dirty="0"/>
          </a:p>
        </p:txBody>
      </p:sp>
      <p:sp>
        <p:nvSpPr>
          <p:cNvPr id="1006599" name="Text Box 7"/>
          <p:cNvSpPr txBox="1">
            <a:spLocks noChangeArrowheads="1"/>
          </p:cNvSpPr>
          <p:nvPr/>
        </p:nvSpPr>
        <p:spPr bwMode="auto">
          <a:xfrm>
            <a:off x="991972" y="4539670"/>
            <a:ext cx="1609736" cy="584775"/>
          </a:xfrm>
          <a:prstGeom prst="rect">
            <a:avLst/>
          </a:prstGeom>
          <a:noFill/>
          <a:ln w="76200" algn="ctr">
            <a:noFill/>
            <a:miter lim="800000"/>
            <a:headEnd/>
            <a:tailEnd/>
          </a:ln>
          <a:effectLst/>
        </p:spPr>
        <p:txBody>
          <a:bodyPr wrap="none">
            <a:spAutoFit/>
          </a:bodyPr>
          <a:lstStyle/>
          <a:p>
            <a:pPr algn="ctr">
              <a:defRPr/>
            </a:pPr>
            <a:r>
              <a:rPr lang="en-US" sz="3200" b="1" baseline="0" dirty="0" smtClean="0">
                <a:solidFill>
                  <a:srgbClr val="002060"/>
                </a:solidFill>
              </a:rPr>
              <a:t>Topics:</a:t>
            </a:r>
            <a:endParaRPr lang="en-US" sz="3200" b="1" baseline="0" dirty="0">
              <a:solidFill>
                <a:srgbClr val="002060"/>
              </a:solidFill>
            </a:endParaRPr>
          </a:p>
        </p:txBody>
      </p:sp>
      <p:sp>
        <p:nvSpPr>
          <p:cNvPr id="15369" name="Line 8"/>
          <p:cNvSpPr>
            <a:spLocks noChangeShapeType="1"/>
          </p:cNvSpPr>
          <p:nvPr/>
        </p:nvSpPr>
        <p:spPr bwMode="auto">
          <a:xfrm>
            <a:off x="342900" y="2803525"/>
            <a:ext cx="8153400" cy="0"/>
          </a:xfrm>
          <a:prstGeom prst="line">
            <a:avLst/>
          </a:prstGeom>
          <a:noFill/>
          <a:ln w="76200">
            <a:solidFill>
              <a:srgbClr val="009900"/>
            </a:solidFill>
            <a:round/>
            <a:headEnd/>
            <a:tailEnd/>
          </a:ln>
        </p:spPr>
        <p:txBody>
          <a:bodyPr/>
          <a:lstStyle/>
          <a:p>
            <a:endParaRPr lang="en-US"/>
          </a:p>
        </p:txBody>
      </p:sp>
      <p:sp>
        <p:nvSpPr>
          <p:cNvPr id="15370" name="Line 9"/>
          <p:cNvSpPr>
            <a:spLocks noChangeShapeType="1"/>
          </p:cNvSpPr>
          <p:nvPr/>
        </p:nvSpPr>
        <p:spPr bwMode="auto">
          <a:xfrm>
            <a:off x="344488" y="4022725"/>
            <a:ext cx="8153400" cy="0"/>
          </a:xfrm>
          <a:prstGeom prst="line">
            <a:avLst/>
          </a:prstGeom>
          <a:noFill/>
          <a:ln w="76200">
            <a:solidFill>
              <a:srgbClr val="009900"/>
            </a:solidFill>
            <a:round/>
            <a:headEnd/>
            <a:tailEnd/>
          </a:ln>
        </p:spPr>
        <p:txBody>
          <a:bodyPr/>
          <a:lstStyle/>
          <a:p>
            <a:endParaRPr lang="en-US"/>
          </a:p>
        </p:txBody>
      </p:sp>
      <p:sp>
        <p:nvSpPr>
          <p:cNvPr id="15371" name="Rectangle 10"/>
          <p:cNvSpPr>
            <a:spLocks noChangeArrowheads="1"/>
          </p:cNvSpPr>
          <p:nvPr/>
        </p:nvSpPr>
        <p:spPr bwMode="auto">
          <a:xfrm>
            <a:off x="381000" y="2895600"/>
            <a:ext cx="8077200" cy="1066800"/>
          </a:xfrm>
          <a:prstGeom prst="rect">
            <a:avLst/>
          </a:prstGeom>
          <a:solidFill>
            <a:srgbClr val="99FF33"/>
          </a:solidFill>
          <a:ln w="76200" algn="ctr">
            <a:noFill/>
            <a:miter lim="800000"/>
            <a:headEnd/>
            <a:tailEnd/>
          </a:ln>
        </p:spPr>
        <p:txBody>
          <a:bodyPr>
            <a:spAutoFit/>
          </a:bodyPr>
          <a:lstStyle/>
          <a:p>
            <a:pPr algn="ctr"/>
            <a:r>
              <a:rPr lang="en-US" sz="3200" i="0" baseline="0" dirty="0">
                <a:latin typeface="Arial" charset="0"/>
              </a:rPr>
              <a:t>A substitution cipher replaces one symbol with another.</a:t>
            </a:r>
          </a:p>
        </p:txBody>
      </p:sp>
      <p:sp>
        <p:nvSpPr>
          <p:cNvPr id="16" name="Rectangle 8"/>
          <p:cNvSpPr>
            <a:spLocks noChangeArrowheads="1"/>
          </p:cNvSpPr>
          <p:nvPr/>
        </p:nvSpPr>
        <p:spPr bwMode="gray">
          <a:xfrm>
            <a:off x="457200" y="914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b="0" i="0" baseline="0">
              <a:latin typeface="Tahoma"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 name="Text Box 9"/>
          <p:cNvSpPr txBox="1">
            <a:spLocks noChangeArrowheads="1"/>
          </p:cNvSpPr>
          <p:nvPr/>
        </p:nvSpPr>
        <p:spPr bwMode="auto">
          <a:xfrm>
            <a:off x="3657600" y="457199"/>
            <a:ext cx="5171609" cy="584775"/>
          </a:xfrm>
          <a:prstGeom prst="rect">
            <a:avLst/>
          </a:prstGeom>
          <a:noFill/>
          <a:ln w="9525">
            <a:noFill/>
            <a:miter lim="800000"/>
            <a:headEnd/>
            <a:tailEnd/>
          </a:ln>
        </p:spPr>
        <p:txBody>
          <a:bodyPr wrap="none">
            <a:spAutoFit/>
          </a:bodyPr>
          <a:lstStyle/>
          <a:p>
            <a:pPr algn="ctr"/>
            <a:r>
              <a:rPr lang="en-US" sz="3200" baseline="0" dirty="0" smtClean="0">
                <a:solidFill>
                  <a:schemeClr val="hlink"/>
                </a:solidFill>
              </a:rPr>
              <a:t>     </a:t>
            </a:r>
            <a:r>
              <a:rPr lang="en-US" sz="3200" baseline="0" dirty="0" err="1">
                <a:solidFill>
                  <a:srgbClr val="FF0000"/>
                </a:solidFill>
              </a:rPr>
              <a:t>Monoalphabetic</a:t>
            </a:r>
            <a:r>
              <a:rPr lang="en-US" sz="3200" baseline="0" dirty="0">
                <a:solidFill>
                  <a:srgbClr val="FF0000"/>
                </a:solidFill>
              </a:rPr>
              <a:t> Ciphers</a:t>
            </a:r>
          </a:p>
        </p:txBody>
      </p:sp>
      <p:sp>
        <p:nvSpPr>
          <p:cNvPr id="16395" name="Line 24"/>
          <p:cNvSpPr>
            <a:spLocks noChangeShapeType="1"/>
          </p:cNvSpPr>
          <p:nvPr/>
        </p:nvSpPr>
        <p:spPr bwMode="auto">
          <a:xfrm>
            <a:off x="457200" y="2590800"/>
            <a:ext cx="8153400" cy="0"/>
          </a:xfrm>
          <a:prstGeom prst="line">
            <a:avLst/>
          </a:prstGeom>
          <a:noFill/>
          <a:ln w="76200">
            <a:solidFill>
              <a:srgbClr val="009900"/>
            </a:solidFill>
            <a:round/>
            <a:headEnd/>
            <a:tailEnd/>
          </a:ln>
        </p:spPr>
        <p:txBody>
          <a:bodyPr/>
          <a:lstStyle/>
          <a:p>
            <a:endParaRPr lang="en-US"/>
          </a:p>
        </p:txBody>
      </p:sp>
      <p:sp>
        <p:nvSpPr>
          <p:cNvPr id="16396" name="Line 25"/>
          <p:cNvSpPr>
            <a:spLocks noChangeShapeType="1"/>
          </p:cNvSpPr>
          <p:nvPr/>
        </p:nvSpPr>
        <p:spPr bwMode="auto">
          <a:xfrm>
            <a:off x="458788" y="4800600"/>
            <a:ext cx="8153400" cy="0"/>
          </a:xfrm>
          <a:prstGeom prst="line">
            <a:avLst/>
          </a:prstGeom>
          <a:noFill/>
          <a:ln w="76200">
            <a:solidFill>
              <a:srgbClr val="009900"/>
            </a:solidFill>
            <a:round/>
            <a:headEnd/>
            <a:tailEnd/>
          </a:ln>
        </p:spPr>
        <p:txBody>
          <a:bodyPr/>
          <a:lstStyle/>
          <a:p>
            <a:endParaRPr lang="en-US"/>
          </a:p>
        </p:txBody>
      </p:sp>
      <p:sp>
        <p:nvSpPr>
          <p:cNvPr id="16397" name="Rectangle 26"/>
          <p:cNvSpPr>
            <a:spLocks noChangeArrowheads="1"/>
          </p:cNvSpPr>
          <p:nvPr/>
        </p:nvSpPr>
        <p:spPr bwMode="auto">
          <a:xfrm>
            <a:off x="495300" y="2682875"/>
            <a:ext cx="8077200" cy="2041525"/>
          </a:xfrm>
          <a:prstGeom prst="rect">
            <a:avLst/>
          </a:prstGeom>
          <a:solidFill>
            <a:srgbClr val="99FF33"/>
          </a:solidFill>
          <a:ln w="76200" algn="ctr">
            <a:noFill/>
            <a:miter lim="800000"/>
            <a:headEnd/>
            <a:tailEnd/>
          </a:ln>
        </p:spPr>
        <p:txBody>
          <a:bodyPr>
            <a:spAutoFit/>
          </a:bodyPr>
          <a:lstStyle/>
          <a:p>
            <a:pPr algn="ctr"/>
            <a:r>
              <a:rPr lang="en-US" sz="3200" i="0" baseline="0" dirty="0">
                <a:latin typeface="Arial" charset="0"/>
              </a:rPr>
              <a:t>In </a:t>
            </a:r>
            <a:r>
              <a:rPr lang="en-US" sz="3200" i="0" baseline="0" dirty="0" err="1">
                <a:latin typeface="Arial" charset="0"/>
              </a:rPr>
              <a:t>monoalphabetic</a:t>
            </a:r>
            <a:r>
              <a:rPr lang="en-US" sz="3200" i="0" baseline="0" dirty="0">
                <a:latin typeface="Arial" charset="0"/>
              </a:rPr>
              <a:t> substitution, the relationship between a symbol in the plaintext to a symbol in the </a:t>
            </a:r>
            <a:r>
              <a:rPr lang="en-US" sz="3200" i="0" baseline="0" dirty="0" err="1">
                <a:latin typeface="Arial" charset="0"/>
              </a:rPr>
              <a:t>ciphertext</a:t>
            </a:r>
            <a:r>
              <a:rPr lang="en-US" sz="3200" i="0" baseline="0" dirty="0">
                <a:latin typeface="Arial" charset="0"/>
              </a:rPr>
              <a:t> is always one-to-one.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 name="Text Box 9"/>
          <p:cNvSpPr txBox="1">
            <a:spLocks noChangeArrowheads="1"/>
          </p:cNvSpPr>
          <p:nvPr/>
        </p:nvSpPr>
        <p:spPr bwMode="auto">
          <a:xfrm>
            <a:off x="6400800" y="457198"/>
            <a:ext cx="2348721" cy="584775"/>
          </a:xfrm>
          <a:prstGeom prst="rect">
            <a:avLst/>
          </a:prstGeom>
          <a:noFill/>
          <a:ln w="9525">
            <a:noFill/>
            <a:miter lim="800000"/>
            <a:headEnd/>
            <a:tailEnd/>
          </a:ln>
        </p:spPr>
        <p:txBody>
          <a:bodyPr wrap="none">
            <a:spAutoFit/>
          </a:bodyPr>
          <a:lstStyle/>
          <a:p>
            <a:pPr algn="ctr"/>
            <a:r>
              <a:rPr lang="en-US" sz="3200" baseline="0" dirty="0" smtClean="0">
                <a:solidFill>
                  <a:srgbClr val="FF0000"/>
                </a:solidFill>
              </a:rPr>
              <a:t>    Encoding</a:t>
            </a:r>
            <a:endParaRPr lang="en-US" sz="3200" baseline="0" dirty="0">
              <a:solidFill>
                <a:srgbClr val="FF0000"/>
              </a:solidFill>
            </a:endParaRPr>
          </a:p>
        </p:txBody>
      </p:sp>
      <p:pic>
        <p:nvPicPr>
          <p:cNvPr id="1146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7" y="1371600"/>
            <a:ext cx="762411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19618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Text Box 9"/>
          <p:cNvSpPr txBox="1">
            <a:spLocks noChangeArrowheads="1"/>
          </p:cNvSpPr>
          <p:nvPr/>
        </p:nvSpPr>
        <p:spPr bwMode="auto">
          <a:xfrm>
            <a:off x="6456518" y="24765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
        <p:nvSpPr>
          <p:cNvPr id="17419" name="Rectangle 10"/>
          <p:cNvSpPr>
            <a:spLocks noChangeArrowheads="1"/>
          </p:cNvSpPr>
          <p:nvPr/>
        </p:nvSpPr>
        <p:spPr bwMode="auto">
          <a:xfrm>
            <a:off x="457200" y="1914694"/>
            <a:ext cx="8229600" cy="1015663"/>
          </a:xfrm>
          <a:prstGeom prst="rect">
            <a:avLst/>
          </a:prstGeom>
          <a:noFill/>
          <a:ln w="9525">
            <a:noFill/>
            <a:miter lim="800000"/>
            <a:headEnd/>
            <a:tailEnd/>
          </a:ln>
        </p:spPr>
        <p:txBody>
          <a:bodyPr wrap="square" anchor="ctr">
            <a:spAutoFit/>
          </a:bodyPr>
          <a:lstStyle/>
          <a:p>
            <a:pPr algn="just" eaLnBrk="1" hangingPunct="1"/>
            <a:r>
              <a:rPr lang="en-US" sz="2000" i="0" baseline="0" dirty="0">
                <a:solidFill>
                  <a:srgbClr val="000000"/>
                </a:solidFill>
              </a:rPr>
              <a:t>The following shows a plaintext and its corresponding </a:t>
            </a:r>
            <a:r>
              <a:rPr lang="en-US" sz="2000" i="0" baseline="0" dirty="0" err="1">
                <a:solidFill>
                  <a:srgbClr val="000000"/>
                </a:solidFill>
              </a:rPr>
              <a:t>ciphertext</a:t>
            </a:r>
            <a:r>
              <a:rPr lang="en-US" sz="2000" i="0" baseline="0" dirty="0">
                <a:solidFill>
                  <a:srgbClr val="000000"/>
                </a:solidFill>
              </a:rPr>
              <a:t>. The cipher is probably </a:t>
            </a:r>
            <a:r>
              <a:rPr lang="en-US" sz="2000" i="0" baseline="0" dirty="0" err="1">
                <a:solidFill>
                  <a:srgbClr val="000000"/>
                </a:solidFill>
              </a:rPr>
              <a:t>monoalphabetic</a:t>
            </a:r>
            <a:r>
              <a:rPr lang="en-US" sz="2000" i="0" baseline="0" dirty="0">
                <a:solidFill>
                  <a:srgbClr val="000000"/>
                </a:solidFill>
              </a:rPr>
              <a:t> because both </a:t>
            </a:r>
            <a:r>
              <a:rPr lang="en-US" sz="2000" baseline="0" dirty="0">
                <a:solidFill>
                  <a:srgbClr val="000000"/>
                </a:solidFill>
              </a:rPr>
              <a:t>l</a:t>
            </a:r>
            <a:r>
              <a:rPr lang="en-US" sz="2000" i="0" baseline="0" dirty="0">
                <a:solidFill>
                  <a:srgbClr val="000000"/>
                </a:solidFill>
              </a:rPr>
              <a:t>’s (</a:t>
            </a:r>
            <a:r>
              <a:rPr lang="en-US" sz="2000" i="0" baseline="0" dirty="0" err="1">
                <a:solidFill>
                  <a:srgbClr val="000000"/>
                </a:solidFill>
              </a:rPr>
              <a:t>els</a:t>
            </a:r>
            <a:r>
              <a:rPr lang="en-US" sz="2000" i="0" baseline="0" dirty="0">
                <a:solidFill>
                  <a:srgbClr val="000000"/>
                </a:solidFill>
              </a:rPr>
              <a:t>) are encrypted as </a:t>
            </a:r>
            <a:r>
              <a:rPr lang="en-US" sz="2000" baseline="0" dirty="0">
                <a:solidFill>
                  <a:srgbClr val="000000"/>
                </a:solidFill>
              </a:rPr>
              <a:t>O</a:t>
            </a:r>
            <a:r>
              <a:rPr lang="en-US" sz="2000" i="0" baseline="0" dirty="0">
                <a:solidFill>
                  <a:srgbClr val="000000"/>
                </a:solidFill>
              </a:rPr>
              <a:t>’s.</a:t>
            </a:r>
          </a:p>
        </p:txBody>
      </p:sp>
      <p:sp>
        <p:nvSpPr>
          <p:cNvPr id="17420" name="Text Box 18"/>
          <p:cNvSpPr txBox="1">
            <a:spLocks noChangeArrowheads="1"/>
          </p:cNvSpPr>
          <p:nvPr/>
        </p:nvSpPr>
        <p:spPr bwMode="auto">
          <a:xfrm>
            <a:off x="228600" y="1219200"/>
            <a:ext cx="1535998" cy="461665"/>
          </a:xfrm>
          <a:prstGeom prst="rect">
            <a:avLst/>
          </a:prstGeom>
          <a:noFill/>
          <a:ln w="9525">
            <a:noFill/>
            <a:miter lim="800000"/>
            <a:headEnd/>
            <a:tailEnd/>
          </a:ln>
        </p:spPr>
        <p:txBody>
          <a:bodyPr wrap="none">
            <a:spAutoFit/>
          </a:bodyPr>
          <a:lstStyle/>
          <a:p>
            <a:r>
              <a:rPr lang="en-US" sz="2400" b="1" i="0" baseline="0" dirty="0">
                <a:solidFill>
                  <a:srgbClr val="FF0000"/>
                </a:solidFill>
              </a:rPr>
              <a:t>Example</a:t>
            </a:r>
            <a:r>
              <a:rPr lang="en-US" sz="2400" b="1" i="0" baseline="0" dirty="0">
                <a:solidFill>
                  <a:schemeClr val="bg1"/>
                </a:solidFill>
              </a:rPr>
              <a:t> </a:t>
            </a:r>
            <a:endParaRPr lang="en-US" sz="2000" b="1" baseline="0" dirty="0">
              <a:solidFill>
                <a:schemeClr val="bg1"/>
              </a:solidFill>
            </a:endParaRPr>
          </a:p>
        </p:txBody>
      </p:sp>
      <p:sp>
        <p:nvSpPr>
          <p:cNvPr id="17422" name="Rectangle 21"/>
          <p:cNvSpPr>
            <a:spLocks noChangeArrowheads="1"/>
          </p:cNvSpPr>
          <p:nvPr/>
        </p:nvSpPr>
        <p:spPr bwMode="auto">
          <a:xfrm>
            <a:off x="623211" y="4541709"/>
            <a:ext cx="8305800" cy="1015663"/>
          </a:xfrm>
          <a:prstGeom prst="rect">
            <a:avLst/>
          </a:prstGeom>
          <a:noFill/>
          <a:ln w="9525">
            <a:noFill/>
            <a:miter lim="800000"/>
            <a:headEnd/>
            <a:tailEnd/>
          </a:ln>
        </p:spPr>
        <p:txBody>
          <a:bodyPr wrap="square" anchor="ctr">
            <a:spAutoFit/>
          </a:bodyPr>
          <a:lstStyle/>
          <a:p>
            <a:pPr algn="just" eaLnBrk="1" hangingPunct="1"/>
            <a:r>
              <a:rPr lang="en-US" sz="2000" i="0" baseline="0" dirty="0">
                <a:solidFill>
                  <a:srgbClr val="000000"/>
                </a:solidFill>
              </a:rPr>
              <a:t>The following shows a plaintext and its corresponding </a:t>
            </a:r>
            <a:r>
              <a:rPr lang="en-US" sz="2000" i="0" baseline="0" dirty="0" err="1">
                <a:solidFill>
                  <a:srgbClr val="000000"/>
                </a:solidFill>
              </a:rPr>
              <a:t>ciphertext</a:t>
            </a:r>
            <a:r>
              <a:rPr lang="en-US" sz="2000" i="0" baseline="0" dirty="0">
                <a:solidFill>
                  <a:srgbClr val="000000"/>
                </a:solidFill>
              </a:rPr>
              <a:t>. The cipher is not </a:t>
            </a:r>
            <a:r>
              <a:rPr lang="en-US" sz="2000" i="0" baseline="0" dirty="0" err="1">
                <a:solidFill>
                  <a:srgbClr val="000000"/>
                </a:solidFill>
              </a:rPr>
              <a:t>monoalphabetic</a:t>
            </a:r>
            <a:r>
              <a:rPr lang="en-US" sz="2000" i="0" baseline="0" dirty="0">
                <a:solidFill>
                  <a:srgbClr val="000000"/>
                </a:solidFill>
              </a:rPr>
              <a:t> because each </a:t>
            </a:r>
            <a:r>
              <a:rPr lang="en-US" sz="2000" baseline="0" dirty="0">
                <a:solidFill>
                  <a:srgbClr val="000000"/>
                </a:solidFill>
              </a:rPr>
              <a:t>l</a:t>
            </a:r>
            <a:r>
              <a:rPr lang="en-US" sz="2000" i="0" baseline="0" dirty="0">
                <a:solidFill>
                  <a:srgbClr val="000000"/>
                </a:solidFill>
              </a:rPr>
              <a:t> (el) is encrypted by a different character. </a:t>
            </a:r>
          </a:p>
        </p:txBody>
      </p:sp>
      <p:sp>
        <p:nvSpPr>
          <p:cNvPr id="17423" name="Text Box 22"/>
          <p:cNvSpPr txBox="1">
            <a:spLocks noChangeArrowheads="1"/>
          </p:cNvSpPr>
          <p:nvPr/>
        </p:nvSpPr>
        <p:spPr bwMode="auto">
          <a:xfrm>
            <a:off x="152400" y="4038600"/>
            <a:ext cx="1451038" cy="461665"/>
          </a:xfrm>
          <a:prstGeom prst="rect">
            <a:avLst/>
          </a:prstGeom>
          <a:noFill/>
          <a:ln w="9525">
            <a:noFill/>
            <a:miter lim="800000"/>
            <a:headEnd/>
            <a:tailEnd/>
          </a:ln>
        </p:spPr>
        <p:txBody>
          <a:bodyPr wrap="none">
            <a:spAutoFit/>
          </a:bodyPr>
          <a:lstStyle/>
          <a:p>
            <a:r>
              <a:rPr lang="en-US" sz="2400" b="1" i="0" baseline="0" dirty="0" smtClean="0">
                <a:solidFill>
                  <a:srgbClr val="FF0000"/>
                </a:solidFill>
              </a:rPr>
              <a:t>Example</a:t>
            </a:r>
            <a:endParaRPr lang="en-US" sz="2000" b="1" baseline="0" dirty="0">
              <a:solidFill>
                <a:srgbClr val="FF0000"/>
              </a:solidFill>
            </a:endParaRPr>
          </a:p>
        </p:txBody>
      </p:sp>
      <p:sp>
        <p:nvSpPr>
          <p:cNvPr id="2" name="TextBox 1"/>
          <p:cNvSpPr txBox="1"/>
          <p:nvPr/>
        </p:nvSpPr>
        <p:spPr>
          <a:xfrm>
            <a:off x="623211" y="3207674"/>
            <a:ext cx="8063589" cy="523220"/>
          </a:xfrm>
          <a:prstGeom prst="rect">
            <a:avLst/>
          </a:prstGeom>
          <a:solidFill>
            <a:schemeClr val="bg1">
              <a:lumMod val="85000"/>
            </a:schemeClr>
          </a:solidFill>
        </p:spPr>
        <p:txBody>
          <a:bodyPr wrap="square" rtlCol="0">
            <a:spAutoFit/>
          </a:bodyPr>
          <a:lstStyle/>
          <a:p>
            <a:r>
              <a:rPr lang="en-US" sz="2800" b="1" dirty="0" smtClean="0">
                <a:latin typeface="Times New Roman" pitchFamily="18" charset="0"/>
                <a:cs typeface="Times New Roman" pitchFamily="18" charset="0"/>
              </a:rPr>
              <a:t>Plaintext: </a:t>
            </a:r>
            <a:r>
              <a:rPr lang="en-US" sz="2800" dirty="0" smtClean="0">
                <a:latin typeface="Times New Roman" pitchFamily="18" charset="0"/>
                <a:cs typeface="Times New Roman" pitchFamily="18" charset="0"/>
              </a:rPr>
              <a:t>hello</a:t>
            </a:r>
            <a:r>
              <a:rPr lang="en-US" sz="2800" b="1" dirty="0" smtClean="0">
                <a:latin typeface="Times New Roman" pitchFamily="18" charset="0"/>
                <a:cs typeface="Times New Roman" pitchFamily="18" charset="0"/>
              </a:rPr>
              <a:t> </a:t>
            </a:r>
            <a:r>
              <a:rPr lang="en-US" sz="2800" dirty="0" smtClean="0"/>
              <a:t>	   		</a:t>
            </a:r>
            <a:r>
              <a:rPr lang="en-US" sz="2800" b="1" dirty="0" err="1" smtClean="0">
                <a:latin typeface="Times New Roman" pitchFamily="18" charset="0"/>
                <a:cs typeface="Times New Roman" pitchFamily="18" charset="0"/>
              </a:rPr>
              <a:t>Ciphertext</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KHOOR</a:t>
            </a:r>
            <a:endParaRPr lang="en-US" sz="2800" dirty="0">
              <a:latin typeface="Times New Roman" pitchFamily="18" charset="0"/>
              <a:cs typeface="Times New Roman" pitchFamily="18" charset="0"/>
            </a:endParaRPr>
          </a:p>
        </p:txBody>
      </p:sp>
      <p:sp>
        <p:nvSpPr>
          <p:cNvPr id="10" name="TextBox 9"/>
          <p:cNvSpPr txBox="1"/>
          <p:nvPr/>
        </p:nvSpPr>
        <p:spPr>
          <a:xfrm>
            <a:off x="623211" y="5564646"/>
            <a:ext cx="8063589" cy="523220"/>
          </a:xfrm>
          <a:prstGeom prst="rect">
            <a:avLst/>
          </a:prstGeom>
          <a:solidFill>
            <a:schemeClr val="bg1">
              <a:lumMod val="85000"/>
            </a:schemeClr>
          </a:solidFill>
        </p:spPr>
        <p:txBody>
          <a:bodyPr wrap="square" rtlCol="0">
            <a:spAutoFit/>
          </a:bodyPr>
          <a:lstStyle/>
          <a:p>
            <a:r>
              <a:rPr lang="en-US" sz="2800" b="1" dirty="0" smtClean="0">
                <a:latin typeface="Times New Roman" pitchFamily="18" charset="0"/>
                <a:cs typeface="Times New Roman" pitchFamily="18" charset="0"/>
              </a:rPr>
              <a:t>Plaintext: </a:t>
            </a:r>
            <a:r>
              <a:rPr lang="en-US" sz="2800" dirty="0" smtClean="0">
                <a:latin typeface="Times New Roman" pitchFamily="18" charset="0"/>
                <a:cs typeface="Times New Roman" pitchFamily="18" charset="0"/>
              </a:rPr>
              <a:t>hello</a:t>
            </a:r>
            <a:r>
              <a:rPr lang="en-US" sz="2800" b="1" dirty="0" smtClean="0">
                <a:latin typeface="Times New Roman" pitchFamily="18" charset="0"/>
                <a:cs typeface="Times New Roman" pitchFamily="18" charset="0"/>
              </a:rPr>
              <a:t> </a:t>
            </a:r>
            <a:r>
              <a:rPr lang="en-US" sz="2800" dirty="0" smtClean="0"/>
              <a:t>	   		</a:t>
            </a:r>
            <a:r>
              <a:rPr lang="en-US" sz="2800" b="1" dirty="0" err="1" smtClean="0">
                <a:latin typeface="Times New Roman" pitchFamily="18" charset="0"/>
                <a:cs typeface="Times New Roman" pitchFamily="18" charset="0"/>
              </a:rPr>
              <a:t>Ciphertext</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KHOLR</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Text Box 9"/>
          <p:cNvSpPr txBox="1">
            <a:spLocks noChangeArrowheads="1"/>
          </p:cNvSpPr>
          <p:nvPr/>
        </p:nvSpPr>
        <p:spPr bwMode="auto">
          <a:xfrm>
            <a:off x="5286733" y="285175"/>
            <a:ext cx="3396892"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dirty="0" smtClean="0">
                <a:solidFill>
                  <a:srgbClr val="FF0000"/>
                </a:solidFill>
              </a:rPr>
              <a:t>Additive Cipher</a:t>
            </a:r>
            <a:endParaRPr lang="en-US" sz="3200" baseline="0" dirty="0">
              <a:solidFill>
                <a:srgbClr val="FF0000"/>
              </a:solidFill>
            </a:endParaRPr>
          </a:p>
        </p:txBody>
      </p:sp>
      <p:sp>
        <p:nvSpPr>
          <p:cNvPr id="12" name="Rectangle 10"/>
          <p:cNvSpPr>
            <a:spLocks noChangeArrowheads="1"/>
          </p:cNvSpPr>
          <p:nvPr/>
        </p:nvSpPr>
        <p:spPr bwMode="auto">
          <a:xfrm>
            <a:off x="609600" y="1294785"/>
            <a:ext cx="8074025" cy="1631216"/>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ysClr val="windowText" lastClr="000000"/>
                </a:solidFill>
                <a:effectLst/>
                <a:uLnTx/>
                <a:uFillTx/>
              </a:rPr>
              <a:t>The </a:t>
            </a:r>
            <a:r>
              <a:rPr kumimoji="0" lang="en-US" sz="2000" b="0" i="0" u="none" strike="noStrike" kern="0" cap="none" spc="0" normalizeH="0" baseline="0" noProof="0" dirty="0" smtClean="0">
                <a:ln>
                  <a:noFill/>
                </a:ln>
                <a:solidFill>
                  <a:srgbClr val="FF0000"/>
                </a:solidFill>
                <a:effectLst/>
                <a:uLnTx/>
                <a:uFillTx/>
              </a:rPr>
              <a:t>simplest</a:t>
            </a:r>
            <a:r>
              <a:rPr kumimoji="0" lang="en-US" sz="2000" b="0" i="0" u="none" strike="noStrike" kern="0" cap="none" spc="0" normalizeH="0" baseline="0" noProof="0" dirty="0" smtClean="0">
                <a:ln>
                  <a:noFill/>
                </a:ln>
                <a:solidFill>
                  <a:sysClr val="windowText" lastClr="000000"/>
                </a:solidFill>
                <a:effectLst/>
                <a:uLnTx/>
                <a:uFillTx/>
              </a:rPr>
              <a:t> </a:t>
            </a:r>
            <a:r>
              <a:rPr kumimoji="0" lang="en-US" sz="2000" b="0" i="0" u="none" strike="noStrike" kern="0" cap="none" spc="0" normalizeH="0" baseline="0" noProof="0" dirty="0" err="1" smtClean="0">
                <a:ln>
                  <a:noFill/>
                </a:ln>
                <a:solidFill>
                  <a:sysClr val="windowText" lastClr="000000"/>
                </a:solidFill>
                <a:effectLst/>
                <a:uLnTx/>
                <a:uFillTx/>
              </a:rPr>
              <a:t>monoalphabetic</a:t>
            </a:r>
            <a:r>
              <a:rPr kumimoji="0" lang="en-US" sz="2000" b="0" i="0" u="none" strike="noStrike" kern="0" cap="none" spc="0" normalizeH="0" baseline="0" noProof="0" dirty="0" smtClean="0">
                <a:ln>
                  <a:noFill/>
                </a:ln>
                <a:solidFill>
                  <a:sysClr val="windowText" lastClr="000000"/>
                </a:solidFill>
                <a:effectLst/>
                <a:uLnTx/>
                <a:uFillTx/>
              </a:rPr>
              <a:t> cipher is the additive cipher. </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smtClean="0">
              <a:ln>
                <a:noFill/>
              </a:ln>
              <a:solidFill>
                <a:sysClr val="windowText" lastClr="000000"/>
              </a:solidFill>
              <a:effectLst/>
              <a:uLnTx/>
              <a:uFillTx/>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ysClr val="windowText" lastClr="000000"/>
                </a:solidFill>
                <a:effectLst/>
                <a:uLnTx/>
                <a:uFillTx/>
              </a:rPr>
              <a:t>This cipher is sometimes called a </a:t>
            </a:r>
            <a:r>
              <a:rPr kumimoji="0" lang="en-US" sz="2000" b="0" i="0" u="none" strike="noStrike" kern="0" cap="none" spc="0" normalizeH="0" baseline="0" noProof="0" dirty="0" smtClean="0">
                <a:ln>
                  <a:noFill/>
                </a:ln>
                <a:solidFill>
                  <a:srgbClr val="FF0000"/>
                </a:solidFill>
                <a:effectLst/>
                <a:uLnTx/>
                <a:uFillTx/>
              </a:rPr>
              <a:t>shift cipher</a:t>
            </a:r>
            <a:r>
              <a:rPr kumimoji="0" lang="en-US" sz="2000" b="0" i="0" u="none" strike="noStrike" kern="0" cap="none" spc="0" normalizeH="0" baseline="0" noProof="0" dirty="0" smtClean="0">
                <a:ln>
                  <a:noFill/>
                </a:ln>
                <a:solidFill>
                  <a:sysClr val="windowText" lastClr="000000"/>
                </a:solidFill>
                <a:effectLst/>
                <a:uLnTx/>
                <a:uFillTx/>
              </a:rPr>
              <a:t> and sometimes a </a:t>
            </a:r>
            <a:r>
              <a:rPr kumimoji="0" lang="en-US" sz="2000" b="0" i="0" u="none" strike="noStrike" kern="0" cap="none" spc="0" normalizeH="0" baseline="0" noProof="0" dirty="0" smtClean="0">
                <a:ln>
                  <a:noFill/>
                </a:ln>
                <a:solidFill>
                  <a:srgbClr val="FF0000"/>
                </a:solidFill>
                <a:effectLst/>
                <a:uLnTx/>
                <a:uFillTx/>
              </a:rPr>
              <a:t>Caesar cipher</a:t>
            </a:r>
            <a:r>
              <a:rPr kumimoji="0" lang="en-US" sz="2000" b="0" i="0" u="none" strike="noStrike" kern="0" cap="none" spc="0" normalizeH="0" baseline="0" noProof="0" dirty="0" smtClean="0">
                <a:ln>
                  <a:noFill/>
                </a:ln>
                <a:solidFill>
                  <a:sysClr val="windowText" lastClr="000000"/>
                </a:solidFill>
                <a:effectLst/>
                <a:uLnTx/>
                <a:uFillTx/>
              </a:rPr>
              <a:t>, but the term additive cipher better reveals its mathematical nature. </a:t>
            </a:r>
          </a:p>
        </p:txBody>
      </p:sp>
      <p:pic>
        <p:nvPicPr>
          <p:cNvPr id="13" name="Picture 14"/>
          <p:cNvPicPr>
            <a:picLocks noChangeAspect="1" noChangeArrowheads="1"/>
          </p:cNvPicPr>
          <p:nvPr/>
        </p:nvPicPr>
        <p:blipFill>
          <a:blip r:embed="rId3"/>
          <a:srcRect/>
          <a:stretch>
            <a:fillRect/>
          </a:stretch>
        </p:blipFill>
        <p:spPr bwMode="auto">
          <a:xfrm>
            <a:off x="609600" y="4038600"/>
            <a:ext cx="7386638" cy="914400"/>
          </a:xfrm>
          <a:prstGeom prst="rect">
            <a:avLst/>
          </a:prstGeom>
          <a:noFill/>
          <a:ln w="9525">
            <a:noFill/>
            <a:miter lim="800000"/>
            <a:headEnd/>
            <a:tailEnd/>
          </a:ln>
        </p:spPr>
      </p:pic>
      <p:sp>
        <p:nvSpPr>
          <p:cNvPr id="14" name="Text Box 15"/>
          <p:cNvSpPr txBox="1">
            <a:spLocks noChangeArrowheads="1"/>
          </p:cNvSpPr>
          <p:nvPr/>
        </p:nvSpPr>
        <p:spPr bwMode="auto">
          <a:xfrm>
            <a:off x="2590800" y="3276600"/>
            <a:ext cx="3706464"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3333CC"/>
                </a:solidFill>
                <a:effectLst/>
                <a:uLnTx/>
                <a:uFillTx/>
              </a:rPr>
              <a:t>  </a:t>
            </a:r>
            <a:r>
              <a:rPr kumimoji="0" lang="en-US" sz="2000" b="0" i="0" u="none" strike="noStrike" kern="0" cap="none" spc="0" normalizeH="0" baseline="0" noProof="0" dirty="0" smtClean="0">
                <a:ln>
                  <a:noFill/>
                </a:ln>
                <a:solidFill>
                  <a:sysClr val="windowText" lastClr="000000"/>
                </a:solidFill>
                <a:effectLst/>
                <a:uLnTx/>
                <a:uFillTx/>
              </a:rPr>
              <a:t>Plaintext and </a:t>
            </a:r>
            <a:r>
              <a:rPr kumimoji="0" lang="en-US" sz="2000" b="0" i="0" u="none" strike="noStrike" kern="0" cap="none" spc="0" normalizeH="0" baseline="0" noProof="0" dirty="0" err="1" smtClean="0">
                <a:ln>
                  <a:noFill/>
                </a:ln>
                <a:solidFill>
                  <a:sysClr val="windowText" lastClr="000000"/>
                </a:solidFill>
                <a:effectLst/>
                <a:uLnTx/>
                <a:uFillTx/>
              </a:rPr>
              <a:t>ciphertext</a:t>
            </a:r>
            <a:r>
              <a:rPr kumimoji="0" lang="en-US" sz="2000" b="0" i="0" u="none" strike="noStrike" kern="0" cap="none" spc="0" normalizeH="0" baseline="0" noProof="0" dirty="0" smtClean="0">
                <a:ln>
                  <a:noFill/>
                </a:ln>
                <a:solidFill>
                  <a:sysClr val="windowText" lastClr="000000"/>
                </a:solidFill>
                <a:effectLst/>
                <a:uLnTx/>
                <a:uFillTx/>
              </a:rPr>
              <a:t> in Z</a:t>
            </a:r>
            <a:r>
              <a:rPr kumimoji="0" lang="en-US" sz="2000" b="0" i="0" u="none" strike="noStrike" kern="0" cap="none" spc="0" normalizeH="0" baseline="-25000" noProof="0" dirty="0" smtClean="0">
                <a:ln>
                  <a:noFill/>
                </a:ln>
                <a:solidFill>
                  <a:sysClr val="windowText" lastClr="000000"/>
                </a:solidFill>
                <a:effectLst/>
                <a:uLnTx/>
                <a:uFillTx/>
              </a:rPr>
              <a:t>26</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81000" y="457200"/>
            <a:ext cx="8458200" cy="639763"/>
          </a:xfrm>
        </p:spPr>
        <p:txBody>
          <a:bodyPr/>
          <a:lstStyle/>
          <a:p>
            <a:r>
              <a:rPr lang="en-US" dirty="0" smtClean="0"/>
              <a:t>Additive Cipher</a:t>
            </a:r>
          </a:p>
        </p:txBody>
      </p:sp>
      <p:sp>
        <p:nvSpPr>
          <p:cNvPr id="3" name="Content Placeholder 2"/>
          <p:cNvSpPr>
            <a:spLocks noGrp="1"/>
          </p:cNvSpPr>
          <p:nvPr>
            <p:ph sz="quarter" idx="1"/>
          </p:nvPr>
        </p:nvSpPr>
        <p:spPr>
          <a:xfrm>
            <a:off x="381000" y="1295400"/>
            <a:ext cx="8382000" cy="4648200"/>
          </a:xfrm>
        </p:spPr>
        <p:txBody>
          <a:bodyPr/>
          <a:lstStyle/>
          <a:p>
            <a:pPr>
              <a:lnSpc>
                <a:spcPts val="2800"/>
              </a:lnSpc>
              <a:defRPr/>
            </a:pPr>
            <a:r>
              <a:rPr lang="en-US" sz="2200" dirty="0" smtClean="0">
                <a:solidFill>
                  <a:schemeClr val="tx1"/>
                </a:solidFill>
              </a:rPr>
              <a:t>Replace each letter by the letter </a:t>
            </a:r>
            <a:r>
              <a:rPr lang="en-US" sz="2200" dirty="0" smtClean="0">
                <a:solidFill>
                  <a:srgbClr val="FF0000"/>
                </a:solidFill>
              </a:rPr>
              <a:t>three positions </a:t>
            </a:r>
            <a:r>
              <a:rPr lang="en-US" sz="2200" dirty="0" smtClean="0">
                <a:solidFill>
                  <a:schemeClr val="tx1"/>
                </a:solidFill>
              </a:rPr>
              <a:t>along in alphabet</a:t>
            </a:r>
          </a:p>
          <a:p>
            <a:pPr>
              <a:lnSpc>
                <a:spcPts val="2800"/>
              </a:lnSpc>
              <a:defRPr/>
            </a:pPr>
            <a:endParaRPr lang="en-US" sz="2000" dirty="0" smtClean="0">
              <a:solidFill>
                <a:schemeClr val="tx1"/>
              </a:solidFill>
              <a:latin typeface="CMSS10"/>
            </a:endParaRPr>
          </a:p>
          <a:p>
            <a:pPr>
              <a:buFontTx/>
              <a:buNone/>
              <a:defRPr/>
            </a:pPr>
            <a:r>
              <a:rPr lang="en-US" sz="1800" dirty="0" smtClean="0">
                <a:solidFill>
                  <a:schemeClr val="tx1"/>
                </a:solidFill>
                <a:latin typeface="Courier New" pitchFamily="49" charset="0"/>
                <a:cs typeface="Courier New" pitchFamily="49" charset="0"/>
              </a:rPr>
              <a:t>Plain : a b c d e f g h </a:t>
            </a:r>
            <a:r>
              <a:rPr lang="en-US" sz="1800" dirty="0" err="1" smtClean="0">
                <a:solidFill>
                  <a:schemeClr val="tx1"/>
                </a:solidFill>
                <a:latin typeface="Courier New" pitchFamily="49" charset="0"/>
                <a:cs typeface="Courier New" pitchFamily="49" charset="0"/>
              </a:rPr>
              <a:t>i</a:t>
            </a:r>
            <a:r>
              <a:rPr lang="en-US" sz="1800" dirty="0" smtClean="0">
                <a:solidFill>
                  <a:schemeClr val="tx1"/>
                </a:solidFill>
                <a:latin typeface="Courier New" pitchFamily="49" charset="0"/>
                <a:cs typeface="Courier New" pitchFamily="49" charset="0"/>
              </a:rPr>
              <a:t> j k l m n o p q r s t u v w x y z</a:t>
            </a:r>
          </a:p>
          <a:p>
            <a:pPr>
              <a:buFontTx/>
              <a:buNone/>
              <a:defRPr/>
            </a:pPr>
            <a:r>
              <a:rPr lang="pt-BR" sz="1800" dirty="0" smtClean="0">
                <a:solidFill>
                  <a:schemeClr val="tx1"/>
                </a:solidFill>
                <a:latin typeface="Courier New" pitchFamily="49" charset="0"/>
                <a:cs typeface="Courier New" pitchFamily="49" charset="0"/>
              </a:rPr>
              <a:t>Cipher: D E F G H I J K L M N O P Q R S T U V W X Y Z A B C</a:t>
            </a:r>
          </a:p>
          <a:p>
            <a:pPr>
              <a:buFontTx/>
              <a:buNone/>
              <a:defRPr/>
            </a:pPr>
            <a:endParaRPr lang="en-US" dirty="0" smtClean="0">
              <a:solidFill>
                <a:schemeClr val="tx1"/>
              </a:solidFill>
            </a:endParaRPr>
          </a:p>
          <a:p>
            <a:pPr>
              <a:buFontTx/>
              <a:buNone/>
              <a:defRPr/>
            </a:pPr>
            <a:r>
              <a:rPr lang="en-US" dirty="0" smtClean="0"/>
              <a:t>Generalized Caesar Cipher</a:t>
            </a:r>
          </a:p>
          <a:p>
            <a:pPr>
              <a:defRPr/>
            </a:pPr>
            <a:r>
              <a:rPr lang="en-US" dirty="0" smtClean="0">
                <a:solidFill>
                  <a:schemeClr val="tx1"/>
                </a:solidFill>
              </a:rPr>
              <a:t>Allow shift by k positions</a:t>
            </a:r>
          </a:p>
          <a:p>
            <a:pPr>
              <a:defRPr/>
            </a:pPr>
            <a:r>
              <a:rPr lang="en-US" dirty="0" smtClean="0">
                <a:solidFill>
                  <a:schemeClr val="tx1"/>
                </a:solidFill>
              </a:rPr>
              <a:t>Assume each letter assigned number (a = 0, b = 1, . . . )</a:t>
            </a:r>
          </a:p>
          <a:p>
            <a:pPr>
              <a:buFontTx/>
              <a:buNone/>
              <a:defRPr/>
            </a:pPr>
            <a:r>
              <a:rPr lang="da-DK" dirty="0" smtClean="0">
                <a:solidFill>
                  <a:schemeClr val="tx1"/>
                </a:solidFill>
              </a:rPr>
              <a:t>		C = E(k,p) = (p + k) mod 26</a:t>
            </a:r>
          </a:p>
          <a:p>
            <a:pPr>
              <a:buFontTx/>
              <a:buNone/>
              <a:defRPr/>
            </a:pPr>
            <a:r>
              <a:rPr lang="da-DK" dirty="0" smtClean="0">
                <a:solidFill>
                  <a:schemeClr val="tx1"/>
                </a:solidFill>
              </a:rPr>
              <a:t>		p = D(k,C) = (C - k) mod 26</a:t>
            </a:r>
            <a:endParaRPr lang="en-US" dirty="0">
              <a:solidFill>
                <a:schemeClr val="tx1"/>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81000" y="457200"/>
            <a:ext cx="8458200" cy="639763"/>
          </a:xfrm>
        </p:spPr>
        <p:txBody>
          <a:bodyPr/>
          <a:lstStyle/>
          <a:p>
            <a:r>
              <a:rPr lang="en-US" dirty="0" smtClean="0"/>
              <a:t>Additive Cipher</a:t>
            </a:r>
          </a:p>
        </p:txBody>
      </p:sp>
      <p:pic>
        <p:nvPicPr>
          <p:cNvPr id="5" name="Picture 10"/>
          <p:cNvPicPr>
            <a:picLocks noChangeAspect="1" noChangeArrowheads="1"/>
          </p:cNvPicPr>
          <p:nvPr/>
        </p:nvPicPr>
        <p:blipFill>
          <a:blip r:embed="rId2"/>
          <a:srcRect/>
          <a:stretch>
            <a:fillRect/>
          </a:stretch>
        </p:blipFill>
        <p:spPr bwMode="auto">
          <a:xfrm>
            <a:off x="838200" y="2286000"/>
            <a:ext cx="7394575" cy="2224088"/>
          </a:xfrm>
          <a:prstGeom prst="rect">
            <a:avLst/>
          </a:prstGeom>
          <a:noFill/>
          <a:ln w="9525">
            <a:noFill/>
            <a:miter lim="800000"/>
            <a:headEnd/>
            <a:tailEnd/>
          </a:ln>
        </p:spPr>
      </p:pic>
      <p:sp>
        <p:nvSpPr>
          <p:cNvPr id="6" name="Rectangle 5"/>
          <p:cNvSpPr/>
          <p:nvPr/>
        </p:nvSpPr>
        <p:spPr>
          <a:xfrm>
            <a:off x="838200" y="5105400"/>
            <a:ext cx="7543800" cy="954107"/>
          </a:xfrm>
          <a:prstGeom prst="rect">
            <a:avLst/>
          </a:prstGeom>
        </p:spPr>
        <p:txBody>
          <a:bodyPr wrap="square">
            <a:spAutoFit/>
          </a:bodyPr>
          <a:lstStyle/>
          <a:p>
            <a:pPr algn="just"/>
            <a:r>
              <a:rPr lang="en-US" sz="2800" i="0" baseline="0" dirty="0" smtClean="0">
                <a:latin typeface="Arial" charset="0"/>
              </a:rPr>
              <a:t>When the cipher is additive, the plaintext, </a:t>
            </a:r>
            <a:r>
              <a:rPr lang="en-US" sz="2800" i="0" baseline="0" dirty="0" err="1" smtClean="0">
                <a:latin typeface="Arial" charset="0"/>
              </a:rPr>
              <a:t>ciphertext</a:t>
            </a:r>
            <a:r>
              <a:rPr lang="en-US" sz="2800" i="0" baseline="0" dirty="0" smtClean="0">
                <a:latin typeface="Arial" charset="0"/>
              </a:rPr>
              <a:t>, and key are integers in Z</a:t>
            </a:r>
            <a:r>
              <a:rPr lang="en-US" sz="2800" i="0" baseline="-20000" dirty="0" smtClean="0">
                <a:latin typeface="Arial" charset="0"/>
              </a:rPr>
              <a:t>26</a:t>
            </a:r>
            <a:r>
              <a:rPr lang="en-US" sz="2800" i="0" baseline="0" dirty="0" smtClean="0">
                <a:latin typeface="Arial" charset="0"/>
              </a:rPr>
              <a:t>.</a:t>
            </a:r>
            <a:endParaRPr lang="en-US" sz="2800" i="0" baseline="0" dirty="0">
              <a:latin typeface="Arial"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81000" y="457200"/>
            <a:ext cx="8458200" cy="639763"/>
          </a:xfrm>
        </p:spPr>
        <p:txBody>
          <a:bodyPr/>
          <a:lstStyle/>
          <a:p>
            <a:r>
              <a:rPr lang="en-US" dirty="0" smtClean="0"/>
              <a:t>Additive Cipher</a:t>
            </a:r>
          </a:p>
        </p:txBody>
      </p:sp>
      <p:sp>
        <p:nvSpPr>
          <p:cNvPr id="7" name="Rectangle 10"/>
          <p:cNvSpPr>
            <a:spLocks noChangeArrowheads="1"/>
          </p:cNvSpPr>
          <p:nvPr/>
        </p:nvSpPr>
        <p:spPr bwMode="auto">
          <a:xfrm>
            <a:off x="615950" y="1595864"/>
            <a:ext cx="8070850" cy="830997"/>
          </a:xfrm>
          <a:prstGeom prst="rect">
            <a:avLst/>
          </a:prstGeom>
          <a:noFill/>
          <a:ln w="9525">
            <a:noFill/>
            <a:miter lim="800000"/>
            <a:headEnd/>
            <a:tailEnd/>
          </a:ln>
        </p:spPr>
        <p:txBody>
          <a:bodyPr wrap="square" anchor="ctr">
            <a:spAutoFit/>
          </a:bodyPr>
          <a:lstStyle/>
          <a:p>
            <a:pPr algn="just" eaLnBrk="1" hangingPunct="1"/>
            <a:r>
              <a:rPr lang="en-US" sz="2400" i="0" baseline="0" dirty="0"/>
              <a:t>Use the additive cipher with key = 15 to encrypt the message “hello”.</a:t>
            </a:r>
          </a:p>
        </p:txBody>
      </p:sp>
      <p:sp>
        <p:nvSpPr>
          <p:cNvPr id="8" name="Rectangle 14"/>
          <p:cNvSpPr>
            <a:spLocks noChangeArrowheads="1"/>
          </p:cNvSpPr>
          <p:nvPr/>
        </p:nvSpPr>
        <p:spPr bwMode="auto">
          <a:xfrm>
            <a:off x="304800" y="3063875"/>
            <a:ext cx="8839200" cy="822325"/>
          </a:xfrm>
          <a:prstGeom prst="rect">
            <a:avLst/>
          </a:prstGeom>
          <a:noFill/>
          <a:ln w="9525">
            <a:noFill/>
            <a:miter lim="800000"/>
            <a:headEnd/>
            <a:tailEnd/>
          </a:ln>
        </p:spPr>
        <p:txBody>
          <a:bodyPr anchor="ctr">
            <a:spAutoFit/>
          </a:bodyPr>
          <a:lstStyle/>
          <a:p>
            <a:pPr algn="just" eaLnBrk="1" hangingPunct="1"/>
            <a:r>
              <a:rPr lang="en-US" sz="2400" i="0" baseline="0"/>
              <a:t>We apply the encryption algorithm to the plaintext, character by character:</a:t>
            </a:r>
          </a:p>
        </p:txBody>
      </p:sp>
      <p:sp>
        <p:nvSpPr>
          <p:cNvPr id="9" name="Rectangle 15"/>
          <p:cNvSpPr>
            <a:spLocks noChangeArrowheads="1"/>
          </p:cNvSpPr>
          <p:nvPr/>
        </p:nvSpPr>
        <p:spPr bwMode="auto">
          <a:xfrm>
            <a:off x="304800" y="2633812"/>
            <a:ext cx="8229600" cy="461665"/>
          </a:xfrm>
          <a:prstGeom prst="rect">
            <a:avLst/>
          </a:prstGeom>
          <a:noFill/>
          <a:ln w="9525">
            <a:noFill/>
            <a:miter lim="800000"/>
            <a:headEnd/>
            <a:tailEnd/>
          </a:ln>
          <a:effectLst/>
        </p:spPr>
        <p:txBody>
          <a:bodyPr anchor="ctr">
            <a:spAutoFit/>
          </a:bodyPr>
          <a:lstStyle/>
          <a:p>
            <a:pPr algn="just" eaLnBrk="1" hangingPunct="1">
              <a:defRPr/>
            </a:pPr>
            <a:r>
              <a:rPr lang="en-US" sz="2400" i="0" baseline="0" dirty="0">
                <a:solidFill>
                  <a:srgbClr val="FF0000"/>
                </a:solidFill>
              </a:rPr>
              <a:t>Solution</a:t>
            </a:r>
          </a:p>
        </p:txBody>
      </p:sp>
      <p:pic>
        <p:nvPicPr>
          <p:cNvPr id="10" name="Picture 16"/>
          <p:cNvPicPr>
            <a:picLocks noChangeAspect="1" noChangeArrowheads="1"/>
          </p:cNvPicPr>
          <p:nvPr/>
        </p:nvPicPr>
        <p:blipFill>
          <a:blip r:embed="rId2"/>
          <a:srcRect/>
          <a:stretch>
            <a:fillRect/>
          </a:stretch>
        </p:blipFill>
        <p:spPr bwMode="auto">
          <a:xfrm>
            <a:off x="615950" y="3914775"/>
            <a:ext cx="8070850" cy="1647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8" name="Text Box 9"/>
          <p:cNvSpPr txBox="1">
            <a:spLocks noChangeArrowheads="1"/>
          </p:cNvSpPr>
          <p:nvPr/>
        </p:nvSpPr>
        <p:spPr bwMode="auto">
          <a:xfrm>
            <a:off x="6029058" y="292387"/>
            <a:ext cx="2621230" cy="584775"/>
          </a:xfrm>
          <a:prstGeom prst="rect">
            <a:avLst/>
          </a:prstGeom>
          <a:noFill/>
          <a:ln w="9525">
            <a:noFill/>
            <a:miter lim="800000"/>
            <a:headEnd/>
            <a:tailEnd/>
          </a:ln>
        </p:spPr>
        <p:txBody>
          <a:bodyPr wrap="none">
            <a:spAutoFit/>
          </a:bodyPr>
          <a:lstStyle/>
          <a:p>
            <a:r>
              <a:rPr lang="en-US" sz="3200" baseline="0" dirty="0" smtClean="0"/>
              <a:t> </a:t>
            </a:r>
            <a:r>
              <a:rPr lang="en-US" sz="3200" baseline="0" dirty="0" smtClean="0">
                <a:solidFill>
                  <a:schemeClr val="hlink"/>
                </a:solidFill>
              </a:rPr>
              <a:t>    </a:t>
            </a:r>
            <a:r>
              <a:rPr lang="en-US" sz="3200" baseline="0" dirty="0"/>
              <a:t>Continued</a:t>
            </a:r>
          </a:p>
        </p:txBody>
      </p:sp>
      <p:sp>
        <p:nvSpPr>
          <p:cNvPr id="22539" name="Rectangle 10"/>
          <p:cNvSpPr>
            <a:spLocks noChangeArrowheads="1"/>
          </p:cNvSpPr>
          <p:nvPr/>
        </p:nvSpPr>
        <p:spPr bwMode="auto">
          <a:xfrm>
            <a:off x="304800" y="1828800"/>
            <a:ext cx="8839200" cy="1938992"/>
          </a:xfrm>
          <a:prstGeom prst="rect">
            <a:avLst/>
          </a:prstGeom>
          <a:noFill/>
          <a:ln w="9525">
            <a:noFill/>
            <a:miter lim="800000"/>
            <a:headEnd/>
            <a:tailEnd/>
          </a:ln>
        </p:spPr>
        <p:txBody>
          <a:bodyPr anchor="ctr">
            <a:spAutoFit/>
          </a:bodyPr>
          <a:lstStyle/>
          <a:p>
            <a:pPr algn="just" eaLnBrk="1" hangingPunct="1"/>
            <a:r>
              <a:rPr lang="en-US" sz="2400" i="0" baseline="0" dirty="0" err="1" smtClean="0"/>
              <a:t>Hitorically</a:t>
            </a:r>
            <a:r>
              <a:rPr lang="en-US" sz="2400" i="0" baseline="0" dirty="0"/>
              <a:t>, </a:t>
            </a:r>
            <a:r>
              <a:rPr lang="en-US" sz="2400" i="0" baseline="0" dirty="0">
                <a:solidFill>
                  <a:srgbClr val="FF0000"/>
                </a:solidFill>
              </a:rPr>
              <a:t>additive ciphers </a:t>
            </a:r>
            <a:r>
              <a:rPr lang="en-US" sz="2400" i="0" baseline="0" dirty="0"/>
              <a:t>are called </a:t>
            </a:r>
            <a:r>
              <a:rPr lang="en-US" sz="2400" i="0" baseline="0" dirty="0">
                <a:solidFill>
                  <a:srgbClr val="0000FF"/>
                </a:solidFill>
              </a:rPr>
              <a:t>shift ciphers. </a:t>
            </a:r>
            <a:r>
              <a:rPr lang="en-US" sz="2400" i="0" baseline="0" dirty="0">
                <a:solidFill>
                  <a:srgbClr val="FF0000"/>
                </a:solidFill>
              </a:rPr>
              <a:t>Julius Caesar</a:t>
            </a:r>
            <a:r>
              <a:rPr lang="en-US" sz="2400" i="0" baseline="0" dirty="0"/>
              <a:t> used an additive cipher to communicate with his officers. For this reason, </a:t>
            </a:r>
            <a:r>
              <a:rPr lang="en-US" sz="2400" i="0" baseline="0" dirty="0">
                <a:solidFill>
                  <a:srgbClr val="FF0000"/>
                </a:solidFill>
              </a:rPr>
              <a:t>additive ciphers </a:t>
            </a:r>
            <a:r>
              <a:rPr lang="en-US" sz="2400" i="0" baseline="0" dirty="0"/>
              <a:t>are sometimes referred to as the </a:t>
            </a:r>
            <a:r>
              <a:rPr lang="en-US" sz="2400" i="0" baseline="0" dirty="0">
                <a:solidFill>
                  <a:srgbClr val="3333FF"/>
                </a:solidFill>
              </a:rPr>
              <a:t>Caesar cipher</a:t>
            </a:r>
            <a:r>
              <a:rPr lang="en-US" sz="2400" i="0" baseline="0" dirty="0"/>
              <a:t>. Caesar used a key of 3 for his communications. </a:t>
            </a:r>
          </a:p>
        </p:txBody>
      </p:sp>
      <p:sp>
        <p:nvSpPr>
          <p:cNvPr id="22540" name="Text Box 11"/>
          <p:cNvSpPr txBox="1">
            <a:spLocks noChangeArrowheads="1"/>
          </p:cNvSpPr>
          <p:nvPr/>
        </p:nvSpPr>
        <p:spPr bwMode="auto">
          <a:xfrm>
            <a:off x="323850" y="615552"/>
            <a:ext cx="5184433" cy="523220"/>
          </a:xfrm>
          <a:prstGeom prst="rect">
            <a:avLst/>
          </a:prstGeom>
          <a:noFill/>
          <a:ln w="9525">
            <a:noFill/>
            <a:miter lim="800000"/>
            <a:headEnd/>
            <a:tailEnd/>
          </a:ln>
        </p:spPr>
        <p:txBody>
          <a:bodyPr wrap="none">
            <a:spAutoFit/>
          </a:bodyPr>
          <a:lstStyle/>
          <a:p>
            <a:r>
              <a:rPr lang="en-US" sz="2800" i="0" baseline="0" dirty="0">
                <a:solidFill>
                  <a:srgbClr val="FF0000"/>
                </a:solidFill>
              </a:rPr>
              <a:t>Shift Cipher and Caesar Cipher</a:t>
            </a:r>
          </a:p>
        </p:txBody>
      </p:sp>
      <p:sp>
        <p:nvSpPr>
          <p:cNvPr id="22541" name="Line 20"/>
          <p:cNvSpPr>
            <a:spLocks noChangeShapeType="1"/>
          </p:cNvSpPr>
          <p:nvPr/>
        </p:nvSpPr>
        <p:spPr bwMode="auto">
          <a:xfrm>
            <a:off x="495300" y="4479925"/>
            <a:ext cx="8153400" cy="0"/>
          </a:xfrm>
          <a:prstGeom prst="line">
            <a:avLst/>
          </a:prstGeom>
          <a:noFill/>
          <a:ln w="76200">
            <a:solidFill>
              <a:srgbClr val="009900"/>
            </a:solidFill>
            <a:round/>
            <a:headEnd/>
            <a:tailEnd/>
          </a:ln>
        </p:spPr>
        <p:txBody>
          <a:bodyPr/>
          <a:lstStyle/>
          <a:p>
            <a:endParaRPr lang="en-US"/>
          </a:p>
        </p:txBody>
      </p:sp>
      <p:sp>
        <p:nvSpPr>
          <p:cNvPr id="22542" name="Line 21"/>
          <p:cNvSpPr>
            <a:spLocks noChangeShapeType="1"/>
          </p:cNvSpPr>
          <p:nvPr/>
        </p:nvSpPr>
        <p:spPr bwMode="auto">
          <a:xfrm>
            <a:off x="496888" y="5699125"/>
            <a:ext cx="8153400" cy="0"/>
          </a:xfrm>
          <a:prstGeom prst="line">
            <a:avLst/>
          </a:prstGeom>
          <a:noFill/>
          <a:ln w="76200">
            <a:solidFill>
              <a:srgbClr val="009900"/>
            </a:solidFill>
            <a:round/>
            <a:headEnd/>
            <a:tailEnd/>
          </a:ln>
        </p:spPr>
        <p:txBody>
          <a:bodyPr/>
          <a:lstStyle/>
          <a:p>
            <a:endParaRPr lang="en-US"/>
          </a:p>
        </p:txBody>
      </p:sp>
      <p:sp>
        <p:nvSpPr>
          <p:cNvPr id="22543" name="Rectangle 22"/>
          <p:cNvSpPr>
            <a:spLocks noChangeArrowheads="1"/>
          </p:cNvSpPr>
          <p:nvPr/>
        </p:nvSpPr>
        <p:spPr bwMode="auto">
          <a:xfrm>
            <a:off x="533400" y="4572000"/>
            <a:ext cx="8077200" cy="1066800"/>
          </a:xfrm>
          <a:prstGeom prst="rect">
            <a:avLst/>
          </a:prstGeom>
          <a:solidFill>
            <a:srgbClr val="99FF33"/>
          </a:solidFill>
          <a:ln w="76200" algn="ctr">
            <a:noFill/>
            <a:miter lim="800000"/>
            <a:headEnd/>
            <a:tailEnd/>
          </a:ln>
        </p:spPr>
        <p:txBody>
          <a:bodyPr>
            <a:spAutoFit/>
          </a:bodyPr>
          <a:lstStyle/>
          <a:p>
            <a:pPr algn="ctr"/>
            <a:r>
              <a:rPr lang="en-US" sz="3200" i="0" baseline="0" dirty="0">
                <a:solidFill>
                  <a:srgbClr val="FF0000"/>
                </a:solidFill>
                <a:latin typeface="Arial" charset="0"/>
              </a:rPr>
              <a:t>Additive ciphers </a:t>
            </a:r>
            <a:r>
              <a:rPr lang="en-US" sz="3200" i="0" baseline="0" dirty="0">
                <a:latin typeface="Arial" charset="0"/>
              </a:rPr>
              <a:t>are sometimes referred to as </a:t>
            </a:r>
            <a:r>
              <a:rPr lang="en-US" sz="3200" i="0" baseline="0" dirty="0">
                <a:solidFill>
                  <a:srgbClr val="FF0000"/>
                </a:solidFill>
                <a:latin typeface="Arial" charset="0"/>
              </a:rPr>
              <a:t>shift ciphers </a:t>
            </a:r>
            <a:r>
              <a:rPr lang="en-US" sz="3200" i="0" baseline="0" dirty="0">
                <a:latin typeface="Arial" charset="0"/>
              </a:rPr>
              <a:t>or Caesar cipher.</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Text Box 9"/>
          <p:cNvSpPr txBox="1">
            <a:spLocks noChangeArrowheads="1"/>
          </p:cNvSpPr>
          <p:nvPr/>
        </p:nvSpPr>
        <p:spPr bwMode="auto">
          <a:xfrm>
            <a:off x="6248400" y="292387"/>
            <a:ext cx="2507418" cy="584775"/>
          </a:xfrm>
          <a:prstGeom prst="rect">
            <a:avLst/>
          </a:prstGeom>
          <a:noFill/>
          <a:ln w="9525">
            <a:noFill/>
            <a:miter lim="800000"/>
            <a:headEnd/>
            <a:tailEnd/>
          </a:ln>
        </p:spPr>
        <p:txBody>
          <a:bodyPr wrap="none">
            <a:spAutoFit/>
          </a:bodyPr>
          <a:lstStyle/>
          <a:p>
            <a:r>
              <a:rPr lang="en-US" sz="3200" baseline="0" dirty="0" smtClean="0">
                <a:solidFill>
                  <a:srgbClr val="FF0000"/>
                </a:solidFill>
              </a:rPr>
              <a:t>    </a:t>
            </a:r>
            <a:r>
              <a:rPr lang="en-US" sz="3200" baseline="0" dirty="0">
                <a:solidFill>
                  <a:srgbClr val="FF0000"/>
                </a:solidFill>
              </a:rPr>
              <a:t>Continued</a:t>
            </a:r>
          </a:p>
        </p:txBody>
      </p:sp>
      <p:sp>
        <p:nvSpPr>
          <p:cNvPr id="23563" name="Rectangle 10"/>
          <p:cNvSpPr>
            <a:spLocks noChangeArrowheads="1"/>
          </p:cNvSpPr>
          <p:nvPr/>
        </p:nvSpPr>
        <p:spPr bwMode="auto">
          <a:xfrm>
            <a:off x="152400" y="1081088"/>
            <a:ext cx="8839200" cy="822325"/>
          </a:xfrm>
          <a:prstGeom prst="rect">
            <a:avLst/>
          </a:prstGeom>
          <a:noFill/>
          <a:ln w="9525">
            <a:noFill/>
            <a:miter lim="800000"/>
            <a:headEnd/>
            <a:tailEnd/>
          </a:ln>
        </p:spPr>
        <p:txBody>
          <a:bodyPr anchor="ctr">
            <a:spAutoFit/>
          </a:bodyPr>
          <a:lstStyle/>
          <a:p>
            <a:pPr algn="just" eaLnBrk="1" hangingPunct="1"/>
            <a:r>
              <a:rPr lang="en-US" sz="2400" i="0" baseline="0"/>
              <a:t>Eve has intercepted the ciphertext “UVACLYFZLJBYL”. Show how she can use a brute-force attack to break the cipher.</a:t>
            </a:r>
          </a:p>
        </p:txBody>
      </p:sp>
      <p:sp>
        <p:nvSpPr>
          <p:cNvPr id="23565" name="Rectangle 12"/>
          <p:cNvSpPr>
            <a:spLocks noChangeArrowheads="1"/>
          </p:cNvSpPr>
          <p:nvPr/>
        </p:nvSpPr>
        <p:spPr bwMode="auto">
          <a:xfrm>
            <a:off x="304800" y="2590800"/>
            <a:ext cx="8839200" cy="822325"/>
          </a:xfrm>
          <a:prstGeom prst="rect">
            <a:avLst/>
          </a:prstGeom>
          <a:noFill/>
          <a:ln w="9525">
            <a:noFill/>
            <a:miter lim="800000"/>
            <a:headEnd/>
            <a:tailEnd/>
          </a:ln>
        </p:spPr>
        <p:txBody>
          <a:bodyPr anchor="ctr">
            <a:spAutoFit/>
          </a:bodyPr>
          <a:lstStyle/>
          <a:p>
            <a:pPr algn="just" eaLnBrk="1" hangingPunct="1"/>
            <a:r>
              <a:rPr lang="en-US" sz="2400" i="0" baseline="0" dirty="0"/>
              <a:t>Eve tries keys from 1 to 7. With a key of 7, the plaintext is “not very secure”, which makes sense.</a:t>
            </a:r>
          </a:p>
        </p:txBody>
      </p:sp>
      <p:sp>
        <p:nvSpPr>
          <p:cNvPr id="1047565" name="Rectangle 13"/>
          <p:cNvSpPr>
            <a:spLocks noChangeArrowheads="1"/>
          </p:cNvSpPr>
          <p:nvPr/>
        </p:nvSpPr>
        <p:spPr bwMode="auto">
          <a:xfrm>
            <a:off x="304800" y="2057400"/>
            <a:ext cx="8229600" cy="519113"/>
          </a:xfrm>
          <a:prstGeom prst="rect">
            <a:avLst/>
          </a:prstGeom>
          <a:noFill/>
          <a:ln w="9525">
            <a:noFill/>
            <a:miter lim="800000"/>
            <a:headEnd/>
            <a:tailEnd/>
          </a:ln>
          <a:effectLst/>
        </p:spPr>
        <p:txBody>
          <a:bodyPr anchor="ctr">
            <a:spAutoFit/>
          </a:bodyPr>
          <a:lstStyle/>
          <a:p>
            <a:pPr algn="just" eaLnBrk="1" hangingPunct="1">
              <a:defRPr/>
            </a:pPr>
            <a:r>
              <a:rPr lang="en-US" sz="2800" i="0" baseline="0" dirty="0">
                <a:solidFill>
                  <a:srgbClr val="FF0000"/>
                </a:solidFill>
                <a:effectLst>
                  <a:outerShdw blurRad="38100" dist="38100" dir="2700000" algn="tl">
                    <a:srgbClr val="C0C0C0"/>
                  </a:outerShdw>
                </a:effectLst>
              </a:rPr>
              <a:t>Solution</a:t>
            </a:r>
          </a:p>
        </p:txBody>
      </p:sp>
      <p:pic>
        <p:nvPicPr>
          <p:cNvPr id="23567" name="Picture 15"/>
          <p:cNvPicPr>
            <a:picLocks noChangeAspect="1" noChangeArrowheads="1"/>
          </p:cNvPicPr>
          <p:nvPr/>
        </p:nvPicPr>
        <p:blipFill>
          <a:blip r:embed="rId3"/>
          <a:srcRect/>
          <a:stretch>
            <a:fillRect/>
          </a:stretch>
        </p:blipFill>
        <p:spPr bwMode="auto">
          <a:xfrm>
            <a:off x="1447800" y="3413125"/>
            <a:ext cx="6629400" cy="28221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57200" y="381000"/>
            <a:ext cx="8458200" cy="639763"/>
          </a:xfrm>
        </p:spPr>
        <p:txBody>
          <a:bodyPr/>
          <a:lstStyle/>
          <a:p>
            <a:r>
              <a:rPr lang="en-US" dirty="0" smtClean="0"/>
              <a:t>Breaking the Caesar Cipher</a:t>
            </a:r>
          </a:p>
        </p:txBody>
      </p:sp>
      <p:sp>
        <p:nvSpPr>
          <p:cNvPr id="36867" name="Content Placeholder 2"/>
          <p:cNvSpPr>
            <a:spLocks noGrp="1"/>
          </p:cNvSpPr>
          <p:nvPr>
            <p:ph sz="quarter" idx="1"/>
          </p:nvPr>
        </p:nvSpPr>
        <p:spPr>
          <a:xfrm>
            <a:off x="457200" y="1371600"/>
            <a:ext cx="8305800" cy="5029200"/>
          </a:xfrm>
        </p:spPr>
        <p:txBody>
          <a:bodyPr/>
          <a:lstStyle/>
          <a:p>
            <a:pPr>
              <a:buFontTx/>
              <a:buBlip>
                <a:blip r:embed="rId2"/>
              </a:buBlip>
            </a:pPr>
            <a:r>
              <a:rPr lang="en-US" dirty="0" smtClean="0"/>
              <a:t>Brute force attack</a:t>
            </a:r>
          </a:p>
          <a:p>
            <a:pPr lvl="2">
              <a:buFontTx/>
              <a:buNone/>
            </a:pPr>
            <a:r>
              <a:rPr lang="en-US" dirty="0" smtClean="0"/>
              <a:t>-The encryption and decryption algorithms are known.</a:t>
            </a:r>
          </a:p>
          <a:p>
            <a:pPr>
              <a:buFontTx/>
              <a:buNone/>
            </a:pPr>
            <a:r>
              <a:rPr lang="en-US" dirty="0" smtClean="0"/>
              <a:t>		-</a:t>
            </a:r>
            <a:r>
              <a:rPr lang="en-US" sz="2000" dirty="0" smtClean="0">
                <a:solidFill>
                  <a:schemeClr val="tx1"/>
                </a:solidFill>
              </a:rPr>
              <a:t>Try all 25 keys, e.g. k = 1, k = 2, . . .</a:t>
            </a:r>
          </a:p>
          <a:p>
            <a:pPr>
              <a:buFontTx/>
              <a:buNone/>
            </a:pPr>
            <a:r>
              <a:rPr lang="en-US" sz="2000" dirty="0" smtClean="0">
                <a:solidFill>
                  <a:schemeClr val="tx1"/>
                </a:solidFill>
              </a:rPr>
              <a:t>		-Plaintext should be </a:t>
            </a:r>
            <a:r>
              <a:rPr lang="en-US" sz="2000" dirty="0" err="1" smtClean="0">
                <a:solidFill>
                  <a:schemeClr val="tx1"/>
                </a:solidFill>
              </a:rPr>
              <a:t>recognised</a:t>
            </a:r>
            <a:endParaRPr lang="en-US" sz="2000" dirty="0" smtClean="0">
              <a:solidFill>
                <a:schemeClr val="tx1"/>
              </a:solidFill>
            </a:endParaRPr>
          </a:p>
          <a:p>
            <a:pPr>
              <a:buFontTx/>
              <a:buBlip>
                <a:blip r:embed="rId2"/>
              </a:buBlip>
            </a:pPr>
            <a:r>
              <a:rPr lang="en-US" dirty="0" err="1" smtClean="0"/>
              <a:t>Recognising</a:t>
            </a:r>
            <a:r>
              <a:rPr lang="en-US" dirty="0" smtClean="0"/>
              <a:t> plaintext in brute force attacks</a:t>
            </a:r>
          </a:p>
          <a:p>
            <a:pPr>
              <a:buFontTx/>
              <a:buNone/>
            </a:pPr>
            <a:r>
              <a:rPr lang="en-US" dirty="0" smtClean="0"/>
              <a:t>		-</a:t>
            </a:r>
            <a:r>
              <a:rPr lang="en-US" sz="2000" dirty="0" smtClean="0">
                <a:solidFill>
                  <a:schemeClr val="tx1"/>
                </a:solidFill>
              </a:rPr>
              <a:t>Need to know “structure" of plaintext</a:t>
            </a:r>
          </a:p>
          <a:p>
            <a:pPr>
              <a:buFontTx/>
              <a:buNone/>
            </a:pPr>
            <a:r>
              <a:rPr lang="en-US" sz="2000" dirty="0" smtClean="0">
                <a:solidFill>
                  <a:schemeClr val="tx1"/>
                </a:solidFill>
              </a:rPr>
              <a:t>		-Language? Compression?</a:t>
            </a:r>
          </a:p>
          <a:p>
            <a:pPr>
              <a:buFontTx/>
              <a:buBlip>
                <a:blip r:embed="rId2"/>
              </a:buBlip>
            </a:pPr>
            <a:r>
              <a:rPr lang="en-US" dirty="0" smtClean="0"/>
              <a:t>How to improve against brute force?</a:t>
            </a:r>
          </a:p>
          <a:p>
            <a:pPr>
              <a:buFontTx/>
              <a:buNone/>
            </a:pPr>
            <a:r>
              <a:rPr lang="en-US" dirty="0" smtClean="0"/>
              <a:t>		-</a:t>
            </a:r>
            <a:r>
              <a:rPr lang="en-US" sz="2000" dirty="0" smtClean="0">
                <a:solidFill>
                  <a:schemeClr val="tx1"/>
                </a:solidFill>
              </a:rPr>
              <a:t>Hide the encryption/decryption algorithm: </a:t>
            </a:r>
            <a:r>
              <a:rPr lang="en-US" sz="2000" dirty="0" smtClean="0">
                <a:solidFill>
                  <a:srgbClr val="FF0000"/>
                </a:solidFill>
              </a:rPr>
              <a:t>Not practical</a:t>
            </a:r>
          </a:p>
          <a:p>
            <a:pPr>
              <a:buFontTx/>
              <a:buNone/>
            </a:pPr>
            <a:r>
              <a:rPr lang="en-US" sz="2000" dirty="0" smtClean="0">
                <a:solidFill>
                  <a:schemeClr val="tx1"/>
                </a:solidFill>
              </a:rPr>
              <a:t>		-Compress, use different language: </a:t>
            </a:r>
            <a:r>
              <a:rPr lang="en-US" sz="2000" dirty="0" smtClean="0">
                <a:solidFill>
                  <a:srgbClr val="FF0000"/>
                </a:solidFill>
              </a:rPr>
              <a:t>Limited options</a:t>
            </a:r>
          </a:p>
          <a:p>
            <a:pPr>
              <a:buFontTx/>
              <a:buNone/>
            </a:pPr>
            <a:r>
              <a:rPr lang="en-US" sz="2000" dirty="0" smtClean="0">
                <a:solidFill>
                  <a:schemeClr val="tx1"/>
                </a:solidFill>
              </a:rPr>
              <a:t>		-Increase the number of keys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Times New Roman" pitchFamily="18" charset="0"/>
                <a:cs typeface="Times New Roman" pitchFamily="18" charset="0"/>
              </a:rPr>
              <a:t>Substitution in other forms: </a:t>
            </a:r>
            <a:r>
              <a:rPr lang="en-US" dirty="0" err="1" smtClean="0">
                <a:latin typeface="Times New Roman" pitchFamily="18" charset="0"/>
                <a:cs typeface="Times New Roman" pitchFamily="18" charset="0"/>
              </a:rPr>
              <a:t>Monoalphabetic</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Ciphers</a:t>
            </a:r>
          </a:p>
        </p:txBody>
      </p:sp>
      <p:sp>
        <p:nvSpPr>
          <p:cNvPr id="3" name="Rectangle 2"/>
          <p:cNvSpPr/>
          <p:nvPr/>
        </p:nvSpPr>
        <p:spPr>
          <a:xfrm>
            <a:off x="533400" y="1352550"/>
            <a:ext cx="8153400" cy="3477875"/>
          </a:xfrm>
          <a:prstGeom prst="rect">
            <a:avLst/>
          </a:prstGeom>
        </p:spPr>
        <p:txBody>
          <a:bodyPr wrap="square">
            <a:spAutoFit/>
          </a:bodyPr>
          <a:lstStyle/>
          <a:p>
            <a:pPr algn="just"/>
            <a:r>
              <a:rPr lang="en-US" sz="2000" dirty="0">
                <a:latin typeface="CMSS12"/>
              </a:rPr>
              <a:t>With only 25 possible keys, the Caesar cipher is far from secure. A dramatic </a:t>
            </a:r>
            <a:r>
              <a:rPr lang="en-US" sz="2000" dirty="0" smtClean="0">
                <a:latin typeface="CMSS12"/>
              </a:rPr>
              <a:t>increase  in </a:t>
            </a:r>
            <a:r>
              <a:rPr lang="en-US" sz="2000" dirty="0">
                <a:latin typeface="CMSS12"/>
              </a:rPr>
              <a:t>the key space can be achieved by allowing an arbitrary </a:t>
            </a:r>
            <a:r>
              <a:rPr lang="en-US" sz="2000" dirty="0" smtClean="0">
                <a:latin typeface="CMSS12"/>
              </a:rPr>
              <a:t>substitution </a:t>
            </a:r>
            <a:r>
              <a:rPr lang="en-US" sz="2000" dirty="0" smtClean="0">
                <a:solidFill>
                  <a:srgbClr val="FF0000"/>
                </a:solidFill>
                <a:latin typeface="CMSS12"/>
              </a:rPr>
              <a:t>(Random substitution).</a:t>
            </a:r>
          </a:p>
          <a:p>
            <a:pPr algn="just"/>
            <a:endParaRPr lang="en-US" sz="2000" dirty="0">
              <a:latin typeface="CMSS12"/>
            </a:endParaRPr>
          </a:p>
          <a:p>
            <a:pPr algn="just"/>
            <a:r>
              <a:rPr lang="en-US" sz="2000" i="1" dirty="0" smtClean="0">
                <a:latin typeface="CMSS12"/>
              </a:rPr>
              <a:t>Permutation: </a:t>
            </a:r>
            <a:r>
              <a:rPr lang="en-US" sz="2000" dirty="0">
                <a:latin typeface="CMSS12"/>
              </a:rPr>
              <a:t>A </a:t>
            </a:r>
            <a:r>
              <a:rPr lang="en-US" sz="2000" b="1" dirty="0">
                <a:latin typeface="CMSS12"/>
              </a:rPr>
              <a:t>permutation </a:t>
            </a:r>
            <a:r>
              <a:rPr lang="en-US" sz="2000" dirty="0">
                <a:latin typeface="CMSS12"/>
              </a:rPr>
              <a:t>of a finite set of elements </a:t>
            </a:r>
            <a:r>
              <a:rPr lang="en-US" sz="2000" i="1" dirty="0">
                <a:latin typeface="CMSS12"/>
              </a:rPr>
              <a:t>S</a:t>
            </a:r>
          </a:p>
          <a:p>
            <a:pPr algn="just"/>
            <a:r>
              <a:rPr lang="en-US" sz="2000" dirty="0">
                <a:latin typeface="CMSS12"/>
              </a:rPr>
              <a:t>is an ordered sequence of all the elements of </a:t>
            </a:r>
            <a:r>
              <a:rPr lang="en-US" sz="2000" i="1" dirty="0">
                <a:latin typeface="CMSS12"/>
              </a:rPr>
              <a:t>S</a:t>
            </a:r>
            <a:r>
              <a:rPr lang="en-US" sz="2000" dirty="0">
                <a:latin typeface="CMSS12"/>
              </a:rPr>
              <a:t>, with each element appearing </a:t>
            </a:r>
            <a:r>
              <a:rPr lang="en-US" sz="2000" dirty="0" smtClean="0">
                <a:latin typeface="CMSS12"/>
              </a:rPr>
              <a:t>exactly once.</a:t>
            </a:r>
          </a:p>
          <a:p>
            <a:pPr algn="just"/>
            <a:endParaRPr lang="en-US" sz="2000" dirty="0">
              <a:latin typeface="CMSS12"/>
            </a:endParaRPr>
          </a:p>
          <a:p>
            <a:pPr algn="just"/>
            <a:r>
              <a:rPr lang="en-US" sz="2000" dirty="0">
                <a:latin typeface="CMSS12"/>
              </a:rPr>
              <a:t>For example, if </a:t>
            </a:r>
            <a:r>
              <a:rPr lang="en-US" sz="2000" i="1" dirty="0">
                <a:latin typeface="CMSS12"/>
              </a:rPr>
              <a:t>S </a:t>
            </a:r>
            <a:r>
              <a:rPr lang="en-US" sz="2000" dirty="0">
                <a:latin typeface="CMSS12"/>
              </a:rPr>
              <a:t>= {a, b, c}, there are six permutations of </a:t>
            </a:r>
            <a:r>
              <a:rPr lang="en-US" sz="2000" i="1" dirty="0">
                <a:latin typeface="CMSS12"/>
              </a:rPr>
              <a:t>S</a:t>
            </a:r>
            <a:r>
              <a:rPr lang="en-US" sz="2000" dirty="0" smtClean="0">
                <a:latin typeface="CMSS12"/>
              </a:rPr>
              <a:t>:</a:t>
            </a:r>
          </a:p>
          <a:p>
            <a:pPr algn="just"/>
            <a:r>
              <a:rPr lang="en-US" sz="2000" dirty="0" err="1">
                <a:latin typeface="CMSS12"/>
              </a:rPr>
              <a:t>abc</a:t>
            </a:r>
            <a:r>
              <a:rPr lang="en-US" sz="2000" dirty="0">
                <a:latin typeface="CMSS12"/>
              </a:rPr>
              <a:t>, </a:t>
            </a:r>
            <a:r>
              <a:rPr lang="en-US" sz="2000" dirty="0" err="1">
                <a:latin typeface="CMSS12"/>
              </a:rPr>
              <a:t>acb</a:t>
            </a:r>
            <a:r>
              <a:rPr lang="en-US" sz="2000" dirty="0">
                <a:latin typeface="CMSS12"/>
              </a:rPr>
              <a:t>, </a:t>
            </a:r>
            <a:r>
              <a:rPr lang="en-US" sz="2000" dirty="0" err="1">
                <a:latin typeface="CMSS12"/>
              </a:rPr>
              <a:t>bac</a:t>
            </a:r>
            <a:r>
              <a:rPr lang="en-US" sz="2000" dirty="0">
                <a:latin typeface="CMSS12"/>
              </a:rPr>
              <a:t>, </a:t>
            </a:r>
            <a:r>
              <a:rPr lang="en-US" sz="2000" dirty="0" err="1">
                <a:latin typeface="CMSS12"/>
              </a:rPr>
              <a:t>bca</a:t>
            </a:r>
            <a:r>
              <a:rPr lang="en-US" sz="2000" dirty="0">
                <a:latin typeface="CMSS12"/>
              </a:rPr>
              <a:t>, cab, </a:t>
            </a:r>
            <a:r>
              <a:rPr lang="en-US" sz="2000" dirty="0" err="1" smtClean="0">
                <a:latin typeface="CMSS12"/>
              </a:rPr>
              <a:t>cba</a:t>
            </a:r>
            <a:endParaRPr lang="en-US" sz="2000" dirty="0">
              <a:latin typeface="CMSS12"/>
            </a:endParaRPr>
          </a:p>
          <a:p>
            <a:pPr algn="just"/>
            <a:r>
              <a:rPr lang="en-US" sz="2000" dirty="0" smtClean="0">
                <a:latin typeface="CMSS12"/>
              </a:rPr>
              <a:t>For n </a:t>
            </a:r>
            <a:r>
              <a:rPr lang="en-US" sz="2000" dirty="0" err="1" smtClean="0">
                <a:latin typeface="CMSS12"/>
              </a:rPr>
              <a:t>elementts</a:t>
            </a:r>
            <a:r>
              <a:rPr lang="en-US" sz="2000" dirty="0" smtClean="0">
                <a:latin typeface="CMSS12"/>
              </a:rPr>
              <a:t>,  n! permutations.</a:t>
            </a:r>
            <a:endParaRPr lang="en-US" sz="2000" dirty="0">
              <a:latin typeface="CMSS12"/>
            </a:endParaRPr>
          </a:p>
        </p:txBody>
      </p:sp>
    </p:spTree>
    <p:extLst>
      <p:ext uri="{BB962C8B-B14F-4D97-AF65-F5344CB8AC3E}">
        <p14:creationId xmlns:p14="http://schemas.microsoft.com/office/powerpoint/2010/main" val="21470442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351577" y="1480066"/>
            <a:ext cx="3164649" cy="523220"/>
          </a:xfrm>
          <a:prstGeom prst="rect">
            <a:avLst/>
          </a:prstGeom>
        </p:spPr>
        <p:txBody>
          <a:bodyPr wrap="none">
            <a:spAutoFit/>
          </a:bodyPr>
          <a:lstStyle/>
          <a:p>
            <a:r>
              <a:rPr lang="en-US" sz="2800" dirty="0" smtClean="0">
                <a:latin typeface="CMSS12"/>
              </a:rPr>
              <a:t>For Caesar </a:t>
            </a:r>
            <a:r>
              <a:rPr lang="en-US" sz="2800" dirty="0">
                <a:latin typeface="CMSS12"/>
              </a:rPr>
              <a:t>cipher:</a:t>
            </a:r>
          </a:p>
        </p:txBody>
      </p:sp>
      <p:sp>
        <p:nvSpPr>
          <p:cNvPr id="4" name="Rectangle 3"/>
          <p:cNvSpPr/>
          <p:nvPr/>
        </p:nvSpPr>
        <p:spPr>
          <a:xfrm>
            <a:off x="304800" y="2057400"/>
            <a:ext cx="8686800" cy="3170099"/>
          </a:xfrm>
          <a:prstGeom prst="rect">
            <a:avLst/>
          </a:prstGeom>
        </p:spPr>
        <p:txBody>
          <a:bodyPr wrap="square">
            <a:spAutoFit/>
          </a:bodyPr>
          <a:lstStyle/>
          <a:p>
            <a:r>
              <a:rPr lang="en-US" sz="2000" dirty="0" smtClean="0">
                <a:latin typeface="CMSS12"/>
              </a:rPr>
              <a:t>plain</a:t>
            </a:r>
            <a:r>
              <a:rPr lang="en-US" sz="2000" dirty="0" smtClean="0">
                <a:latin typeface="CMSS12"/>
                <a:cs typeface="Courier New" pitchFamily="49" charset="0"/>
              </a:rPr>
              <a:t>: a </a:t>
            </a:r>
            <a:r>
              <a:rPr lang="en-US" sz="2000" dirty="0">
                <a:latin typeface="CMSS12"/>
                <a:cs typeface="Courier New" pitchFamily="49" charset="0"/>
              </a:rPr>
              <a:t>b c d e f g h i j k l m n o p q r s t u v w x y z</a:t>
            </a:r>
          </a:p>
          <a:p>
            <a:r>
              <a:rPr lang="pt-BR" sz="2000" dirty="0">
                <a:latin typeface="CMSS12"/>
              </a:rPr>
              <a:t>cipher: </a:t>
            </a:r>
            <a:r>
              <a:rPr lang="pt-BR" sz="2000" dirty="0" smtClean="0">
                <a:latin typeface="CMSS12"/>
              </a:rPr>
              <a:t>D E F G H I J K L M N O P Q R S T U V W X Y Z A B C</a:t>
            </a:r>
          </a:p>
          <a:p>
            <a:endParaRPr lang="pt-BR" sz="2000" dirty="0">
              <a:latin typeface="CMSS12"/>
            </a:endParaRPr>
          </a:p>
          <a:p>
            <a:endParaRPr lang="en-US" sz="2000" dirty="0" smtClean="0">
              <a:latin typeface="CMSS12"/>
            </a:endParaRPr>
          </a:p>
          <a:p>
            <a:r>
              <a:rPr lang="en-US" sz="2000" dirty="0" smtClean="0">
                <a:latin typeface="CMSS12"/>
              </a:rPr>
              <a:t>For mono-alphabetic substitution:</a:t>
            </a:r>
          </a:p>
          <a:p>
            <a:endParaRPr lang="en-US" sz="2000" dirty="0">
              <a:latin typeface="CMSS12"/>
            </a:endParaRPr>
          </a:p>
          <a:p>
            <a:r>
              <a:rPr lang="en-US" sz="2000" dirty="0" smtClean="0">
                <a:latin typeface="CMSS12"/>
              </a:rPr>
              <a:t>If</a:t>
            </a:r>
            <a:r>
              <a:rPr lang="en-US" sz="2000" dirty="0">
                <a:latin typeface="CMSS12"/>
              </a:rPr>
              <a:t>, instead, the </a:t>
            </a:r>
            <a:r>
              <a:rPr lang="en-US" sz="2000" dirty="0">
                <a:solidFill>
                  <a:srgbClr val="FF0000"/>
                </a:solidFill>
                <a:latin typeface="CMSS12"/>
              </a:rPr>
              <a:t>“cipher” line can be any permutation of the 26 alphabetic characters</a:t>
            </a:r>
            <a:r>
              <a:rPr lang="en-US" sz="2000" dirty="0" smtClean="0">
                <a:solidFill>
                  <a:srgbClr val="FF0000"/>
                </a:solidFill>
                <a:latin typeface="CMSS12"/>
              </a:rPr>
              <a:t>,</a:t>
            </a:r>
          </a:p>
          <a:p>
            <a:endParaRPr lang="en-US" sz="2000" dirty="0">
              <a:latin typeface="CMSS12"/>
            </a:endParaRPr>
          </a:p>
          <a:p>
            <a:r>
              <a:rPr lang="en-US" sz="2000" dirty="0">
                <a:latin typeface="CMSS12"/>
              </a:rPr>
              <a:t>then there are 26! or greater than 4 * 10</a:t>
            </a:r>
            <a:r>
              <a:rPr lang="en-US" sz="2000" baseline="30000" dirty="0">
                <a:latin typeface="CMSS12"/>
              </a:rPr>
              <a:t>26</a:t>
            </a:r>
            <a:r>
              <a:rPr lang="en-US" sz="2000" dirty="0">
                <a:latin typeface="CMSS12"/>
              </a:rPr>
              <a:t> possible keys</a:t>
            </a:r>
          </a:p>
        </p:txBody>
      </p:sp>
    </p:spTree>
    <p:extLst>
      <p:ext uri="{BB962C8B-B14F-4D97-AF65-F5344CB8AC3E}">
        <p14:creationId xmlns:p14="http://schemas.microsoft.com/office/powerpoint/2010/main" val="13885333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663243"/>
            <a:ext cx="8839200" cy="400110"/>
          </a:xfrm>
          <a:prstGeom prst="rect">
            <a:avLst/>
          </a:prstGeom>
          <a:noFill/>
          <a:ln w="9525">
            <a:noFill/>
            <a:miter lim="800000"/>
            <a:headEnd/>
            <a:tailEnd/>
          </a:ln>
        </p:spPr>
        <p:txBody>
          <a:bodyPr anchor="ctr">
            <a:spAutoFit/>
          </a:bodyPr>
          <a:lstStyle/>
          <a:p>
            <a:pPr algn="just" eaLnBrk="1" hangingPunct="1"/>
            <a:r>
              <a:rPr lang="en-US" sz="2000" i="0" baseline="0" dirty="0">
                <a:latin typeface="CMSS12"/>
              </a:rPr>
              <a:t>We can use the key in Figure </a:t>
            </a:r>
            <a:r>
              <a:rPr lang="en-US" sz="2000" dirty="0">
                <a:latin typeface="CMSS12"/>
              </a:rPr>
              <a:t> </a:t>
            </a:r>
            <a:r>
              <a:rPr lang="en-US" sz="2000" dirty="0" smtClean="0">
                <a:latin typeface="CMSS12"/>
              </a:rPr>
              <a:t>in previous slide </a:t>
            </a:r>
            <a:r>
              <a:rPr lang="en-US" sz="2000" i="0" baseline="0" dirty="0" smtClean="0">
                <a:latin typeface="CMSS12"/>
              </a:rPr>
              <a:t> </a:t>
            </a:r>
            <a:r>
              <a:rPr lang="en-US" sz="2000" i="0" baseline="0" dirty="0">
                <a:latin typeface="CMSS12"/>
              </a:rPr>
              <a:t>to encrypt the message</a:t>
            </a:r>
          </a:p>
        </p:txBody>
      </p:sp>
      <p:sp>
        <p:nvSpPr>
          <p:cNvPr id="3" name="Text Box 11"/>
          <p:cNvSpPr txBox="1">
            <a:spLocks noChangeArrowheads="1"/>
          </p:cNvSpPr>
          <p:nvPr/>
        </p:nvSpPr>
        <p:spPr bwMode="auto">
          <a:xfrm>
            <a:off x="304800" y="1066800"/>
            <a:ext cx="1253869" cy="400110"/>
          </a:xfrm>
          <a:prstGeom prst="rect">
            <a:avLst/>
          </a:prstGeom>
          <a:solidFill>
            <a:schemeClr val="folHlink"/>
          </a:solidFill>
          <a:ln w="9525">
            <a:noFill/>
            <a:miter lim="800000"/>
            <a:headEnd/>
            <a:tailEnd/>
          </a:ln>
        </p:spPr>
        <p:txBody>
          <a:bodyPr wrap="none">
            <a:spAutoFit/>
          </a:bodyPr>
          <a:lstStyle/>
          <a:p>
            <a:r>
              <a:rPr lang="en-US" sz="2000" i="0" baseline="0" dirty="0">
                <a:solidFill>
                  <a:schemeClr val="bg1"/>
                </a:solidFill>
                <a:latin typeface="CMSS12"/>
              </a:rPr>
              <a:t>Example </a:t>
            </a:r>
            <a:endParaRPr lang="en-US" sz="2000" baseline="0" dirty="0">
              <a:solidFill>
                <a:schemeClr val="bg1"/>
              </a:solidFill>
              <a:latin typeface="CMSS12"/>
            </a:endParaRPr>
          </a:p>
        </p:txBody>
      </p:sp>
      <p:sp>
        <p:nvSpPr>
          <p:cNvPr id="4" name="Rectangle 13"/>
          <p:cNvSpPr>
            <a:spLocks noChangeArrowheads="1"/>
          </p:cNvSpPr>
          <p:nvPr/>
        </p:nvSpPr>
        <p:spPr bwMode="auto">
          <a:xfrm>
            <a:off x="152400" y="3000345"/>
            <a:ext cx="8839200" cy="400110"/>
          </a:xfrm>
          <a:prstGeom prst="rect">
            <a:avLst/>
          </a:prstGeom>
          <a:noFill/>
          <a:ln w="9525">
            <a:noFill/>
            <a:miter lim="800000"/>
            <a:headEnd/>
            <a:tailEnd/>
          </a:ln>
        </p:spPr>
        <p:txBody>
          <a:bodyPr anchor="ctr">
            <a:spAutoFit/>
          </a:bodyPr>
          <a:lstStyle/>
          <a:p>
            <a:pPr algn="just" eaLnBrk="1" hangingPunct="1"/>
            <a:r>
              <a:rPr lang="en-US" sz="2000" i="0" baseline="0" dirty="0">
                <a:latin typeface="CMSS12"/>
              </a:rPr>
              <a:t>The </a:t>
            </a:r>
            <a:r>
              <a:rPr lang="en-US" sz="2000" i="0" baseline="0" dirty="0" err="1">
                <a:latin typeface="CMSS12"/>
              </a:rPr>
              <a:t>ciphertext</a:t>
            </a:r>
            <a:r>
              <a:rPr lang="en-US" sz="2000" i="0" baseline="0" dirty="0">
                <a:latin typeface="CMSS12"/>
              </a:rPr>
              <a:t> is</a:t>
            </a:r>
          </a:p>
        </p:txBody>
      </p:sp>
      <p:pic>
        <p:nvPicPr>
          <p:cNvPr id="5" name="Picture 15"/>
          <p:cNvPicPr>
            <a:picLocks noChangeAspect="1" noChangeArrowheads="1"/>
          </p:cNvPicPr>
          <p:nvPr/>
        </p:nvPicPr>
        <p:blipFill>
          <a:blip r:embed="rId2"/>
          <a:srcRect/>
          <a:stretch>
            <a:fillRect/>
          </a:stretch>
        </p:blipFill>
        <p:spPr bwMode="auto">
          <a:xfrm>
            <a:off x="815975" y="2209800"/>
            <a:ext cx="7185025" cy="485775"/>
          </a:xfrm>
          <a:prstGeom prst="rect">
            <a:avLst/>
          </a:prstGeom>
          <a:noFill/>
          <a:ln w="9525">
            <a:noFill/>
            <a:miter lim="800000"/>
            <a:headEnd/>
            <a:tailEnd/>
          </a:ln>
        </p:spPr>
      </p:pic>
      <p:pic>
        <p:nvPicPr>
          <p:cNvPr id="6" name="Picture 16"/>
          <p:cNvPicPr>
            <a:picLocks noChangeAspect="1" noChangeArrowheads="1"/>
          </p:cNvPicPr>
          <p:nvPr/>
        </p:nvPicPr>
        <p:blipFill>
          <a:blip r:embed="rId3"/>
          <a:srcRect/>
          <a:stretch>
            <a:fillRect/>
          </a:stretch>
        </p:blipFill>
        <p:spPr bwMode="auto">
          <a:xfrm>
            <a:off x="298450" y="4038600"/>
            <a:ext cx="8464550" cy="388938"/>
          </a:xfrm>
          <a:prstGeom prst="rect">
            <a:avLst/>
          </a:prstGeom>
          <a:noFill/>
          <a:ln w="9525">
            <a:noFill/>
            <a:miter lim="800000"/>
            <a:headEnd/>
            <a:tailEnd/>
          </a:ln>
        </p:spPr>
      </p:pic>
    </p:spTree>
    <p:extLst>
      <p:ext uri="{BB962C8B-B14F-4D97-AF65-F5344CB8AC3E}">
        <p14:creationId xmlns:p14="http://schemas.microsoft.com/office/powerpoint/2010/main" val="24417717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533400" y="381000"/>
            <a:ext cx="8458200" cy="639763"/>
          </a:xfrm>
        </p:spPr>
        <p:txBody>
          <a:bodyPr/>
          <a:lstStyle/>
          <a:p>
            <a:r>
              <a:rPr lang="en-US" dirty="0" smtClean="0"/>
              <a:t>Attacks on Mono-alphabetic Ciphers</a:t>
            </a:r>
          </a:p>
        </p:txBody>
      </p:sp>
      <p:sp>
        <p:nvSpPr>
          <p:cNvPr id="37891" name="Content Placeholder 2"/>
          <p:cNvSpPr>
            <a:spLocks noGrp="1"/>
          </p:cNvSpPr>
          <p:nvPr>
            <p:ph sz="quarter" idx="1"/>
          </p:nvPr>
        </p:nvSpPr>
        <p:spPr>
          <a:xfrm>
            <a:off x="304800" y="1600200"/>
            <a:ext cx="8305800" cy="4038600"/>
          </a:xfrm>
        </p:spPr>
        <p:txBody>
          <a:bodyPr>
            <a:normAutofit/>
          </a:bodyPr>
          <a:lstStyle/>
          <a:p>
            <a:pPr>
              <a:buFontTx/>
              <a:buBlip>
                <a:blip r:embed="rId2"/>
              </a:buBlip>
            </a:pPr>
            <a:r>
              <a:rPr lang="en-US" dirty="0" smtClean="0">
                <a:solidFill>
                  <a:schemeClr val="tx1"/>
                </a:solidFill>
                <a:latin typeface="CMSS12"/>
              </a:rPr>
              <a:t>Exploit the </a:t>
            </a:r>
            <a:r>
              <a:rPr lang="en-US" dirty="0" smtClean="0">
                <a:solidFill>
                  <a:srgbClr val="FF0000"/>
                </a:solidFill>
                <a:latin typeface="CMSS12"/>
              </a:rPr>
              <a:t>regularities</a:t>
            </a:r>
            <a:r>
              <a:rPr lang="en-US" dirty="0" smtClean="0">
                <a:solidFill>
                  <a:schemeClr val="tx1"/>
                </a:solidFill>
                <a:latin typeface="CMSS12"/>
              </a:rPr>
              <a:t> of the language</a:t>
            </a:r>
          </a:p>
          <a:p>
            <a:pPr>
              <a:buFontTx/>
              <a:buNone/>
            </a:pPr>
            <a:r>
              <a:rPr lang="en-US" dirty="0" smtClean="0">
                <a:solidFill>
                  <a:schemeClr val="tx1"/>
                </a:solidFill>
                <a:latin typeface="CMSS12"/>
              </a:rPr>
              <a:t>		-Frequency of letters, </a:t>
            </a:r>
            <a:r>
              <a:rPr lang="en-US" dirty="0" err="1" smtClean="0">
                <a:solidFill>
                  <a:schemeClr val="tx1"/>
                </a:solidFill>
                <a:latin typeface="CMSS12"/>
              </a:rPr>
              <a:t>digrams</a:t>
            </a:r>
            <a:r>
              <a:rPr lang="en-US" dirty="0" smtClean="0">
                <a:solidFill>
                  <a:schemeClr val="tx1"/>
                </a:solidFill>
                <a:latin typeface="CMSS12"/>
              </a:rPr>
              <a:t>, trigrams</a:t>
            </a:r>
          </a:p>
          <a:p>
            <a:pPr>
              <a:buFontTx/>
              <a:buNone/>
            </a:pPr>
            <a:r>
              <a:rPr lang="en-US" dirty="0" smtClean="0">
                <a:solidFill>
                  <a:schemeClr val="tx1"/>
                </a:solidFill>
                <a:latin typeface="CMSS12"/>
              </a:rPr>
              <a:t>		-</a:t>
            </a:r>
            <a:r>
              <a:rPr lang="en-US" dirty="0" smtClean="0">
                <a:solidFill>
                  <a:srgbClr val="FF0000"/>
                </a:solidFill>
                <a:latin typeface="CMSS12"/>
              </a:rPr>
              <a:t>Expected words</a:t>
            </a:r>
          </a:p>
          <a:p>
            <a:pPr>
              <a:buFontTx/>
              <a:buNone/>
            </a:pPr>
            <a:endParaRPr lang="en-US" dirty="0" smtClean="0">
              <a:solidFill>
                <a:schemeClr val="tx1"/>
              </a:solidFill>
              <a:latin typeface="CMSS12"/>
            </a:endParaRPr>
          </a:p>
          <a:p>
            <a:pPr>
              <a:buFontTx/>
              <a:buBlip>
                <a:blip r:embed="rId2"/>
              </a:buBlip>
            </a:pPr>
            <a:r>
              <a:rPr lang="en-US" dirty="0" smtClean="0">
                <a:solidFill>
                  <a:schemeClr val="tx1"/>
                </a:solidFill>
                <a:latin typeface="CMSS12"/>
              </a:rPr>
              <a:t>Fundamental problem with mono-alphabetic ciphers</a:t>
            </a:r>
          </a:p>
          <a:p>
            <a:pPr>
              <a:buFontTx/>
              <a:buNone/>
            </a:pPr>
            <a:r>
              <a:rPr lang="en-US" dirty="0" smtClean="0">
                <a:solidFill>
                  <a:schemeClr val="tx1"/>
                </a:solidFill>
                <a:latin typeface="CMSS12"/>
              </a:rPr>
              <a:t>		-</a:t>
            </a:r>
            <a:r>
              <a:rPr lang="en-US" dirty="0" err="1" smtClean="0">
                <a:solidFill>
                  <a:schemeClr val="tx1"/>
                </a:solidFill>
                <a:latin typeface="CMSS12"/>
              </a:rPr>
              <a:t>Ciphertext</a:t>
            </a:r>
            <a:r>
              <a:rPr lang="en-US" dirty="0" smtClean="0">
                <a:solidFill>
                  <a:schemeClr val="tx1"/>
                </a:solidFill>
                <a:latin typeface="CMSS12"/>
              </a:rPr>
              <a:t>  </a:t>
            </a:r>
            <a:r>
              <a:rPr lang="en-US" dirty="0" smtClean="0">
                <a:solidFill>
                  <a:srgbClr val="FF0000"/>
                </a:solidFill>
                <a:latin typeface="CMSS12"/>
              </a:rPr>
              <a:t>reflects the frequency </a:t>
            </a:r>
            <a:r>
              <a:rPr lang="en-US" dirty="0" smtClean="0">
                <a:solidFill>
                  <a:schemeClr val="tx1"/>
                </a:solidFill>
                <a:latin typeface="CMSS12"/>
              </a:rPr>
              <a:t>data of original</a:t>
            </a:r>
          </a:p>
          <a:p>
            <a:pPr>
              <a:buFontTx/>
              <a:buNone/>
            </a:pPr>
            <a:r>
              <a:rPr lang="en-US" dirty="0" smtClean="0">
                <a:solidFill>
                  <a:schemeClr val="tx1"/>
                </a:solidFill>
                <a:latin typeface="CMSS12"/>
              </a:rPr>
              <a:t>		plaintext</a:t>
            </a:r>
          </a:p>
          <a:p>
            <a:pPr>
              <a:buFontTx/>
              <a:buNone/>
            </a:pPr>
            <a:r>
              <a:rPr lang="en-US" dirty="0" smtClean="0">
                <a:solidFill>
                  <a:schemeClr val="tx1"/>
                </a:solidFill>
                <a:latin typeface="CMSS12"/>
              </a:rPr>
              <a:t>		-Solution 1: encrypt multiple letters of plaintext</a:t>
            </a:r>
          </a:p>
          <a:p>
            <a:pPr>
              <a:buFontTx/>
              <a:buNone/>
            </a:pPr>
            <a:r>
              <a:rPr lang="en-US" dirty="0" smtClean="0">
                <a:solidFill>
                  <a:schemeClr val="tx1"/>
                </a:solidFill>
                <a:latin typeface="CMSS12"/>
              </a:rPr>
              <a:t>		-Solution 2: use multiple cipher alphabets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p:cNvSpPr txBox="1">
            <a:spLocks noChangeArrowheads="1"/>
          </p:cNvSpPr>
          <p:nvPr/>
        </p:nvSpPr>
        <p:spPr bwMode="auto">
          <a:xfrm>
            <a:off x="876300" y="174626"/>
            <a:ext cx="7924800" cy="1311275"/>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dirty="0">
                <a:solidFill>
                  <a:srgbClr val="FF0000"/>
                </a:solidFill>
                <a:ea typeface="MS PGothic" pitchFamily="34" charset="-128"/>
              </a:rPr>
              <a:t>Language Redundancy and Cryptanalysis</a:t>
            </a:r>
          </a:p>
        </p:txBody>
      </p:sp>
      <p:sp>
        <p:nvSpPr>
          <p:cNvPr id="38915" name="Text Box 2"/>
          <p:cNvSpPr txBox="1">
            <a:spLocks noChangeArrowheads="1"/>
          </p:cNvSpPr>
          <p:nvPr/>
        </p:nvSpPr>
        <p:spPr bwMode="auto">
          <a:xfrm>
            <a:off x="381000" y="1676400"/>
            <a:ext cx="8229600" cy="3810000"/>
          </a:xfrm>
          <a:prstGeom prst="rect">
            <a:avLst/>
          </a:prstGeom>
          <a:noFill/>
          <a:ln w="9525">
            <a:noFill/>
            <a:round/>
            <a:headEnd/>
            <a:tailEnd/>
          </a:ln>
        </p:spPr>
        <p:txBody>
          <a:bodyPr/>
          <a:lstStyle/>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Human </a:t>
            </a:r>
            <a:r>
              <a:rPr lang="en-AU" sz="2000" dirty="0">
                <a:latin typeface="CMSS12"/>
                <a:ea typeface="MS PGothic" pitchFamily="34" charset="-128"/>
              </a:rPr>
              <a:t>languages are </a:t>
            </a:r>
            <a:r>
              <a:rPr lang="en-AU" sz="2000" b="1" dirty="0">
                <a:latin typeface="CMSS12"/>
                <a:ea typeface="MS PGothic" pitchFamily="34" charset="-128"/>
              </a:rPr>
              <a:t>redundant</a:t>
            </a:r>
            <a:r>
              <a:rPr lang="en-AU" sz="2000" dirty="0">
                <a:latin typeface="CMSS12"/>
                <a:ea typeface="MS PGothic" pitchFamily="34" charset="-128"/>
              </a:rPr>
              <a:t> </a:t>
            </a:r>
          </a:p>
          <a:p>
            <a:pPr marL="341313" indent="-341313">
              <a:spcBef>
                <a:spcPts val="700"/>
              </a:spcBef>
              <a:buClr>
                <a:srgbClr val="5FAFFF"/>
              </a:buClr>
              <a:buSzPct val="8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     e.g</a:t>
            </a:r>
            <a:r>
              <a:rPr lang="en-AU" sz="2000" dirty="0">
                <a:latin typeface="CMSS12"/>
                <a:ea typeface="MS PGothic" pitchFamily="34" charset="-128"/>
              </a:rPr>
              <a:t>., "</a:t>
            </a:r>
            <a:r>
              <a:rPr lang="en-AU" sz="2000" dirty="0" err="1">
                <a:latin typeface="CMSS12"/>
                <a:ea typeface="MS PGothic" pitchFamily="34" charset="-128"/>
              </a:rPr>
              <a:t>th</a:t>
            </a:r>
            <a:r>
              <a:rPr lang="en-AU" sz="2000" dirty="0">
                <a:latin typeface="CMSS12"/>
                <a:ea typeface="MS PGothic" pitchFamily="34" charset="-128"/>
              </a:rPr>
              <a:t> </a:t>
            </a:r>
            <a:r>
              <a:rPr lang="en-AU" sz="2000" dirty="0" err="1">
                <a:latin typeface="CMSS12"/>
                <a:ea typeface="MS PGothic" pitchFamily="34" charset="-128"/>
              </a:rPr>
              <a:t>lrd</a:t>
            </a:r>
            <a:r>
              <a:rPr lang="en-AU" sz="2000" dirty="0">
                <a:latin typeface="CMSS12"/>
                <a:ea typeface="MS PGothic" pitchFamily="34" charset="-128"/>
              </a:rPr>
              <a:t> s m </a:t>
            </a:r>
            <a:r>
              <a:rPr lang="en-AU" sz="2000" dirty="0" err="1">
                <a:latin typeface="CMSS12"/>
                <a:ea typeface="MS PGothic" pitchFamily="34" charset="-128"/>
              </a:rPr>
              <a:t>shphrd</a:t>
            </a:r>
            <a:r>
              <a:rPr lang="en-AU" sz="2000" dirty="0">
                <a:latin typeface="CMSS12"/>
                <a:ea typeface="MS PGothic" pitchFamily="34" charset="-128"/>
              </a:rPr>
              <a:t> </a:t>
            </a:r>
            <a:r>
              <a:rPr lang="en-AU" sz="2000" dirty="0" err="1">
                <a:latin typeface="CMSS12"/>
                <a:ea typeface="MS PGothic" pitchFamily="34" charset="-128"/>
              </a:rPr>
              <a:t>shll</a:t>
            </a:r>
            <a:r>
              <a:rPr lang="en-AU" sz="2000" dirty="0">
                <a:latin typeface="CMSS12"/>
                <a:ea typeface="MS PGothic" pitchFamily="34" charset="-128"/>
              </a:rPr>
              <a:t> </a:t>
            </a:r>
            <a:r>
              <a:rPr lang="en-AU" sz="2000" dirty="0" err="1">
                <a:latin typeface="CMSS12"/>
                <a:ea typeface="MS PGothic" pitchFamily="34" charset="-128"/>
              </a:rPr>
              <a:t>nt</a:t>
            </a:r>
            <a:r>
              <a:rPr lang="en-AU" sz="2000" dirty="0">
                <a:latin typeface="CMSS12"/>
                <a:ea typeface="MS PGothic" pitchFamily="34" charset="-128"/>
              </a:rPr>
              <a:t> </a:t>
            </a:r>
            <a:r>
              <a:rPr lang="en-AU" sz="2000" dirty="0" err="1">
                <a:latin typeface="CMSS12"/>
                <a:ea typeface="MS PGothic" pitchFamily="34" charset="-128"/>
              </a:rPr>
              <a:t>wnt</a:t>
            </a:r>
            <a:r>
              <a:rPr lang="en-AU" sz="2000" dirty="0">
                <a:latin typeface="CMSS12"/>
                <a:ea typeface="MS PGothic" pitchFamily="34" charset="-128"/>
              </a:rPr>
              <a:t>"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Letters </a:t>
            </a:r>
            <a:r>
              <a:rPr lang="en-AU" sz="2000" dirty="0">
                <a:latin typeface="CMSS12"/>
                <a:ea typeface="MS PGothic" pitchFamily="34" charset="-128"/>
              </a:rPr>
              <a:t>are not equally commonly used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In </a:t>
            </a:r>
            <a:r>
              <a:rPr lang="en-AU" sz="2000" dirty="0">
                <a:latin typeface="CMSS12"/>
                <a:ea typeface="MS PGothic" pitchFamily="34" charset="-128"/>
              </a:rPr>
              <a:t>English E is by far the most common letter </a:t>
            </a:r>
          </a:p>
          <a:p>
            <a:pPr marL="741363" lvl="1" indent="-284163">
              <a:spcBef>
                <a:spcPts val="6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followed </a:t>
            </a:r>
            <a:r>
              <a:rPr lang="en-AU" sz="2000" dirty="0">
                <a:latin typeface="CMSS12"/>
                <a:ea typeface="MS PGothic" pitchFamily="34" charset="-128"/>
              </a:rPr>
              <a:t>by T,R,N,I,O,A,S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Other </a:t>
            </a:r>
            <a:r>
              <a:rPr lang="en-AU" sz="2000" dirty="0">
                <a:latin typeface="CMSS12"/>
                <a:ea typeface="MS PGothic" pitchFamily="34" charset="-128"/>
              </a:rPr>
              <a:t>letters like Z,J,K,Q,X are fairly rare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Have </a:t>
            </a:r>
            <a:r>
              <a:rPr lang="en-AU" sz="2000" dirty="0">
                <a:latin typeface="CMSS12"/>
                <a:ea typeface="MS PGothic" pitchFamily="34" charset="-128"/>
              </a:rPr>
              <a:t>tables of single, double &amp; triple letter frequencies for various languages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p:cNvPicPr>
            <a:picLocks noChangeAspect="1" noChangeArrowheads="1"/>
          </p:cNvPicPr>
          <p:nvPr/>
        </p:nvPicPr>
        <p:blipFill>
          <a:blip r:embed="rId2"/>
          <a:srcRect/>
          <a:stretch>
            <a:fillRect/>
          </a:stretch>
        </p:blipFill>
        <p:spPr bwMode="auto">
          <a:xfrm>
            <a:off x="457200" y="1295400"/>
            <a:ext cx="7962900" cy="2871647"/>
          </a:xfrm>
          <a:prstGeom prst="rect">
            <a:avLst/>
          </a:prstGeom>
          <a:noFill/>
          <a:ln w="9525">
            <a:noFill/>
            <a:miter lim="800000"/>
            <a:headEnd/>
            <a:tailEnd/>
          </a:ln>
        </p:spPr>
      </p:pic>
      <p:sp>
        <p:nvSpPr>
          <p:cNvPr id="3" name="Text Box 17"/>
          <p:cNvSpPr txBox="1">
            <a:spLocks noChangeArrowheads="1"/>
          </p:cNvSpPr>
          <p:nvPr/>
        </p:nvSpPr>
        <p:spPr bwMode="auto">
          <a:xfrm>
            <a:off x="1981200" y="4343400"/>
            <a:ext cx="5483424" cy="461665"/>
          </a:xfrm>
          <a:prstGeom prst="rect">
            <a:avLst/>
          </a:prstGeom>
          <a:noFill/>
          <a:ln w="9525">
            <a:noFill/>
            <a:miter lim="800000"/>
            <a:headEnd/>
            <a:tailEnd/>
          </a:ln>
        </p:spPr>
        <p:txBody>
          <a:bodyPr wrap="none">
            <a:spAutoFit/>
          </a:bodyPr>
          <a:lstStyle/>
          <a:p>
            <a:r>
              <a:rPr lang="en-US" sz="2400" i="0" baseline="0" dirty="0" smtClean="0">
                <a:solidFill>
                  <a:schemeClr val="folHlink"/>
                </a:solidFill>
              </a:rPr>
              <a:t>  </a:t>
            </a:r>
            <a:r>
              <a:rPr lang="en-US" sz="2400" baseline="0" dirty="0">
                <a:solidFill>
                  <a:srgbClr val="FF0000"/>
                </a:solidFill>
              </a:rPr>
              <a:t>Frequency of diagrams and trigrams</a:t>
            </a:r>
            <a:endParaRPr lang="en-US" sz="2400" baseline="-25000" dirty="0">
              <a:solidFill>
                <a:srgbClr val="FF0000"/>
              </a:solidFill>
            </a:endParaRPr>
          </a:p>
        </p:txBody>
      </p:sp>
      <p:pic>
        <p:nvPicPr>
          <p:cNvPr id="4" name="Picture 18"/>
          <p:cNvPicPr>
            <a:picLocks noChangeAspect="1" noChangeArrowheads="1"/>
          </p:cNvPicPr>
          <p:nvPr/>
        </p:nvPicPr>
        <p:blipFill>
          <a:blip r:embed="rId3"/>
          <a:srcRect/>
          <a:stretch>
            <a:fillRect/>
          </a:stretch>
        </p:blipFill>
        <p:spPr bwMode="auto">
          <a:xfrm>
            <a:off x="271463" y="5008563"/>
            <a:ext cx="8491537" cy="1468437"/>
          </a:xfrm>
          <a:prstGeom prst="rect">
            <a:avLst/>
          </a:prstGeom>
          <a:noFill/>
          <a:ln w="9525">
            <a:noFill/>
            <a:miter lim="800000"/>
            <a:headEnd/>
            <a:tailEnd/>
          </a:ln>
        </p:spPr>
      </p:pic>
      <p:sp>
        <p:nvSpPr>
          <p:cNvPr id="5" name="Text Box 9"/>
          <p:cNvSpPr txBox="1">
            <a:spLocks noChangeArrowheads="1"/>
          </p:cNvSpPr>
          <p:nvPr/>
        </p:nvSpPr>
        <p:spPr bwMode="auto">
          <a:xfrm>
            <a:off x="6179870" y="286435"/>
            <a:ext cx="2621230"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
        <p:nvSpPr>
          <p:cNvPr id="6" name="Rectangle 5"/>
          <p:cNvSpPr/>
          <p:nvPr/>
        </p:nvSpPr>
        <p:spPr>
          <a:xfrm>
            <a:off x="1752600" y="609600"/>
            <a:ext cx="5723042" cy="523220"/>
          </a:xfrm>
          <a:prstGeom prst="rect">
            <a:avLst/>
          </a:prstGeom>
        </p:spPr>
        <p:txBody>
          <a:bodyPr wrap="none">
            <a:spAutoFit/>
          </a:bodyPr>
          <a:lstStyle/>
          <a:p>
            <a:r>
              <a:rPr lang="en-US" sz="2800" baseline="0" dirty="0" smtClean="0">
                <a:solidFill>
                  <a:srgbClr val="FF0000"/>
                </a:solidFill>
              </a:rPr>
              <a:t>Frequency of characters in English</a:t>
            </a:r>
            <a:endParaRPr lang="en-US" sz="2800" dirty="0">
              <a:solidFill>
                <a:srgbClr val="FF000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81000" y="457201"/>
            <a:ext cx="8458200" cy="381000"/>
          </a:xfrm>
        </p:spPr>
        <p:txBody>
          <a:bodyPr>
            <a:normAutofit fontScale="90000"/>
          </a:bodyPr>
          <a:lstStyle/>
          <a:p>
            <a:r>
              <a:rPr lang="en-US" dirty="0" smtClean="0"/>
              <a:t>Relative Frequency of Letters in English Text</a:t>
            </a:r>
          </a:p>
        </p:txBody>
      </p:sp>
      <p:pic>
        <p:nvPicPr>
          <p:cNvPr id="39939" name="Picture 4"/>
          <p:cNvPicPr>
            <a:picLocks noChangeAspect="1" noChangeArrowheads="1"/>
          </p:cNvPicPr>
          <p:nvPr/>
        </p:nvPicPr>
        <p:blipFill>
          <a:blip r:embed="rId2"/>
          <a:srcRect/>
          <a:stretch>
            <a:fillRect/>
          </a:stretch>
        </p:blipFill>
        <p:spPr bwMode="auto">
          <a:xfrm>
            <a:off x="838200" y="838200"/>
            <a:ext cx="7467600" cy="5576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428268-61D5-4B74-B3B6-625A82DA51B7}"/>
              </a:ext>
            </a:extLst>
          </p:cNvPr>
          <p:cNvSpPr>
            <a:spLocks noGrp="1"/>
          </p:cNvSpPr>
          <p:nvPr>
            <p:ph type="title"/>
          </p:nvPr>
        </p:nvSpPr>
        <p:spPr/>
        <p:txBody>
          <a:bodyPr/>
          <a:lstStyle/>
          <a:p>
            <a:r>
              <a:rPr lang="en-US" dirty="0"/>
              <a:t>Breaking Monoalphabetic Substitution Cipher</a:t>
            </a:r>
          </a:p>
        </p:txBody>
      </p:sp>
      <p:sp>
        <p:nvSpPr>
          <p:cNvPr id="3" name="Content Placeholder 2">
            <a:extLst>
              <a:ext uri="{FF2B5EF4-FFF2-40B4-BE49-F238E27FC236}">
                <a16:creationId xmlns:a16="http://schemas.microsoft.com/office/drawing/2014/main" xmlns="" id="{693F6010-B187-495D-8DA3-3774C8BDF256}"/>
              </a:ext>
            </a:extLst>
          </p:cNvPr>
          <p:cNvSpPr>
            <a:spLocks noGrp="1"/>
          </p:cNvSpPr>
          <p:nvPr>
            <p:ph idx="1"/>
          </p:nvPr>
        </p:nvSpPr>
        <p:spPr>
          <a:xfrm>
            <a:off x="601318" y="1951612"/>
            <a:ext cx="7886700" cy="3538361"/>
          </a:xfrm>
        </p:spPr>
        <p:txBody>
          <a:bodyPr/>
          <a:lstStyle/>
          <a:p>
            <a:r>
              <a:rPr lang="en-US" b="1" dirty="0"/>
              <a:t>Letter</a:t>
            </a:r>
            <a:r>
              <a:rPr lang="en-US" dirty="0"/>
              <a:t> Frequency Analysis results:</a:t>
            </a:r>
          </a:p>
        </p:txBody>
      </p:sp>
      <p:pic>
        <p:nvPicPr>
          <p:cNvPr id="9" name="Picture 8">
            <a:extLst>
              <a:ext uri="{FF2B5EF4-FFF2-40B4-BE49-F238E27FC236}">
                <a16:creationId xmlns:a16="http://schemas.microsoft.com/office/drawing/2014/main" xmlns="" id="{8B18B7E3-8F42-42B0-BCB1-0F75E24EC311}"/>
              </a:ext>
            </a:extLst>
          </p:cNvPr>
          <p:cNvPicPr>
            <a:picLocks noChangeAspect="1"/>
          </p:cNvPicPr>
          <p:nvPr/>
        </p:nvPicPr>
        <p:blipFill>
          <a:blip r:embed="rId2"/>
          <a:stretch>
            <a:fillRect/>
          </a:stretch>
        </p:blipFill>
        <p:spPr>
          <a:xfrm>
            <a:off x="116392" y="2421280"/>
            <a:ext cx="4382606" cy="2523318"/>
          </a:xfrm>
          <a:prstGeom prst="rect">
            <a:avLst/>
          </a:prstGeom>
        </p:spPr>
      </p:pic>
      <p:pic>
        <p:nvPicPr>
          <p:cNvPr id="12" name="Picture 11">
            <a:extLst>
              <a:ext uri="{FF2B5EF4-FFF2-40B4-BE49-F238E27FC236}">
                <a16:creationId xmlns:a16="http://schemas.microsoft.com/office/drawing/2014/main" xmlns="" id="{0182D60F-E422-4CE8-85AE-BCCCAF02701D}"/>
              </a:ext>
            </a:extLst>
          </p:cNvPr>
          <p:cNvPicPr>
            <a:picLocks noChangeAspect="1"/>
          </p:cNvPicPr>
          <p:nvPr/>
        </p:nvPicPr>
        <p:blipFill>
          <a:blip r:embed="rId3"/>
          <a:stretch>
            <a:fillRect/>
          </a:stretch>
        </p:blipFill>
        <p:spPr>
          <a:xfrm>
            <a:off x="4572000" y="2421280"/>
            <a:ext cx="4382606" cy="2485109"/>
          </a:xfrm>
          <a:prstGeom prst="rect">
            <a:avLst/>
          </a:prstGeom>
        </p:spPr>
      </p:pic>
    </p:spTree>
    <p:extLst>
      <p:ext uri="{BB962C8B-B14F-4D97-AF65-F5344CB8AC3E}">
        <p14:creationId xmlns:p14="http://schemas.microsoft.com/office/powerpoint/2010/main" val="2638045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381000" y="1371600"/>
          <a:ext cx="8569325" cy="4895850"/>
        </p:xfrm>
        <a:graphic>
          <a:graphicData uri="http://schemas.openxmlformats.org/presentationml/2006/ole">
            <mc:AlternateContent xmlns:mc="http://schemas.openxmlformats.org/markup-compatibility/2006">
              <mc:Choice xmlns:v="urn:schemas-microsoft-com:vml" Requires="v">
                <p:oleObj spid="_x0000_s106549" name="Worksheet" r:id="rId3" imgW="6115151" imgH="2914785" progId="Excel.Sheet.8">
                  <p:embed/>
                </p:oleObj>
              </mc:Choice>
              <mc:Fallback>
                <p:oleObj name="Worksheet" r:id="rId3" imgW="6115151" imgH="2914785" progId="Excel.Shee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8569325" cy="48958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3075" name="Text Box 1"/>
          <p:cNvSpPr>
            <a:spLocks noGrp="1" noChangeArrowheads="1"/>
          </p:cNvSpPr>
          <p:nvPr>
            <p:ph type="title"/>
          </p:nvPr>
        </p:nvSpPr>
        <p:spPr>
          <a:xfrm>
            <a:off x="381000" y="457200"/>
            <a:ext cx="8458200" cy="639763"/>
          </a:xfrm>
        </p:spPr>
        <p:txBody>
          <a:bodyPr anchorCtr="1"/>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dirty="0" smtClean="0">
                <a:ea typeface="MS PGothic" pitchFamily="34" charset="-128"/>
              </a:rPr>
              <a:t>English Letter Frequencies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81000" y="457200"/>
            <a:ext cx="8458200" cy="639763"/>
          </a:xfrm>
        </p:spPr>
        <p:txBody>
          <a:bodyPr/>
          <a:lstStyle/>
          <a:p>
            <a:r>
              <a:rPr lang="en-US" smtClean="0"/>
              <a:t>Example cryptanalysis</a:t>
            </a:r>
          </a:p>
        </p:txBody>
      </p:sp>
      <p:pic>
        <p:nvPicPr>
          <p:cNvPr id="40963" name="Picture 2"/>
          <p:cNvPicPr>
            <a:picLocks noChangeAspect="1" noChangeArrowheads="1"/>
          </p:cNvPicPr>
          <p:nvPr/>
        </p:nvPicPr>
        <p:blipFill>
          <a:blip r:embed="rId2"/>
          <a:srcRect/>
          <a:stretch>
            <a:fillRect/>
          </a:stretch>
        </p:blipFill>
        <p:spPr bwMode="auto">
          <a:xfrm>
            <a:off x="990600" y="3810000"/>
            <a:ext cx="7162800" cy="1828800"/>
          </a:xfrm>
          <a:prstGeom prst="rect">
            <a:avLst/>
          </a:prstGeom>
          <a:noFill/>
          <a:ln w="9525">
            <a:noFill/>
            <a:miter lim="800000"/>
            <a:headEnd/>
            <a:tailEnd/>
          </a:ln>
        </p:spPr>
      </p:pic>
      <p:pic>
        <p:nvPicPr>
          <p:cNvPr id="40964" name="Picture 3"/>
          <p:cNvPicPr>
            <a:picLocks noChangeAspect="1" noChangeArrowheads="1"/>
          </p:cNvPicPr>
          <p:nvPr/>
        </p:nvPicPr>
        <p:blipFill>
          <a:blip r:embed="rId3"/>
          <a:srcRect/>
          <a:stretch>
            <a:fillRect/>
          </a:stretch>
        </p:blipFill>
        <p:spPr bwMode="auto">
          <a:xfrm>
            <a:off x="838200" y="1600200"/>
            <a:ext cx="7218363" cy="1143000"/>
          </a:xfrm>
          <a:prstGeom prst="rect">
            <a:avLst/>
          </a:prstGeom>
          <a:noFill/>
          <a:ln w="9525">
            <a:noFill/>
            <a:miter lim="800000"/>
            <a:headEnd/>
            <a:tailEnd/>
          </a:ln>
        </p:spPr>
      </p:pic>
      <p:sp>
        <p:nvSpPr>
          <p:cNvPr id="40965" name="TextBox 6"/>
          <p:cNvSpPr txBox="1">
            <a:spLocks noChangeArrowheads="1"/>
          </p:cNvSpPr>
          <p:nvPr/>
        </p:nvSpPr>
        <p:spPr bwMode="auto">
          <a:xfrm>
            <a:off x="685800" y="3124200"/>
            <a:ext cx="2133600" cy="381000"/>
          </a:xfrm>
          <a:prstGeom prst="rect">
            <a:avLst/>
          </a:prstGeom>
          <a:noFill/>
          <a:ln w="9525">
            <a:noFill/>
            <a:miter lim="800000"/>
            <a:headEnd/>
            <a:tailEnd/>
          </a:ln>
        </p:spPr>
        <p:txBody>
          <a:bodyPr>
            <a:spAutoFit/>
          </a:bodyPr>
          <a:lstStyle/>
          <a:p>
            <a:r>
              <a:rPr lang="en-US"/>
              <a:t>frequency</a:t>
            </a:r>
          </a:p>
        </p:txBody>
      </p:sp>
      <p:sp>
        <p:nvSpPr>
          <p:cNvPr id="40966" name="Rectangle 7"/>
          <p:cNvSpPr>
            <a:spLocks noChangeArrowheads="1"/>
          </p:cNvSpPr>
          <p:nvPr/>
        </p:nvSpPr>
        <p:spPr bwMode="auto">
          <a:xfrm>
            <a:off x="457200" y="5638800"/>
            <a:ext cx="8305800" cy="708025"/>
          </a:xfrm>
          <a:prstGeom prst="rect">
            <a:avLst/>
          </a:prstGeom>
          <a:noFill/>
          <a:ln w="9525">
            <a:noFill/>
            <a:miter lim="800000"/>
            <a:headEnd/>
            <a:tailEnd/>
          </a:ln>
        </p:spPr>
        <p:txBody>
          <a:bodyPr>
            <a:spAutoFit/>
          </a:bodyPr>
          <a:lstStyle/>
          <a:p>
            <a:r>
              <a:rPr lang="en-US" sz="2000"/>
              <a:t>As a first step, the relative frequency of the letters can be determined and compared to a standard frequency distribution for English</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533400" y="1219200"/>
            <a:ext cx="2351991" cy="369332"/>
          </a:xfrm>
          <a:prstGeom prst="rect">
            <a:avLst/>
          </a:prstGeom>
        </p:spPr>
        <p:txBody>
          <a:bodyPr wrap="none">
            <a:spAutoFit/>
          </a:bodyPr>
          <a:lstStyle/>
          <a:p>
            <a:r>
              <a:rPr lang="en-US" dirty="0"/>
              <a:t>So far, then, we have</a:t>
            </a:r>
          </a:p>
        </p:txBody>
      </p:sp>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465" y="1905000"/>
            <a:ext cx="732101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77281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
          <p:cNvSpPr txBox="1">
            <a:spLocks noChangeArrowheads="1"/>
          </p:cNvSpPr>
          <p:nvPr/>
        </p:nvSpPr>
        <p:spPr bwMode="auto">
          <a:xfrm>
            <a:off x="3473450" y="277812"/>
            <a:ext cx="5410200" cy="865187"/>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dirty="0">
                <a:solidFill>
                  <a:srgbClr val="FF0000"/>
                </a:solidFill>
                <a:ea typeface="MS PGothic" pitchFamily="34" charset="-128"/>
              </a:rPr>
              <a:t>Example Cryptanalysis</a:t>
            </a:r>
          </a:p>
        </p:txBody>
      </p:sp>
      <p:sp>
        <p:nvSpPr>
          <p:cNvPr id="35842" name="Text Box 2"/>
          <p:cNvSpPr txBox="1">
            <a:spLocks noChangeArrowheads="1"/>
          </p:cNvSpPr>
          <p:nvPr/>
        </p:nvSpPr>
        <p:spPr bwMode="auto">
          <a:xfrm>
            <a:off x="342900" y="1181099"/>
            <a:ext cx="8578850" cy="5029200"/>
          </a:xfrm>
          <a:prstGeom prst="rect">
            <a:avLst/>
          </a:prstGeom>
          <a:noFill/>
          <a:ln w="9525">
            <a:noFill/>
            <a:round/>
            <a:headEnd/>
            <a:tailEnd/>
          </a:ln>
          <a:effectLst/>
        </p:spPr>
        <p:txBody>
          <a:bodyPr/>
          <a:lstStyle/>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400" dirty="0">
                <a:solidFill>
                  <a:srgbClr val="0000FF"/>
                </a:solidFill>
                <a:latin typeface="CMSS12"/>
                <a:ea typeface="ＭＳ Ｐゴシック" pitchFamily="34" charset="-128"/>
              </a:rPr>
              <a:t>given </a:t>
            </a:r>
            <a:r>
              <a:rPr lang="en-US" sz="2400" dirty="0" err="1" smtClean="0">
                <a:solidFill>
                  <a:srgbClr val="0000FF"/>
                </a:solidFill>
                <a:latin typeface="CMSS12"/>
                <a:ea typeface="ＭＳ Ｐゴシック" pitchFamily="34" charset="-128"/>
              </a:rPr>
              <a:t>ciphertext</a:t>
            </a:r>
            <a:endParaRPr lang="en-US" sz="2400" dirty="0" smtClean="0">
              <a:solidFill>
                <a:srgbClr val="0000FF"/>
              </a:solidFill>
              <a:latin typeface="CMSS12"/>
              <a:ea typeface="ＭＳ Ｐゴシック" pitchFamily="34" charset="-128"/>
            </a:endParaRPr>
          </a:p>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400" dirty="0">
              <a:solidFill>
                <a:srgbClr val="0000FF"/>
              </a:solidFill>
              <a:latin typeface="CMSS12"/>
              <a:ea typeface="ＭＳ Ｐゴシック" pitchFamily="34" charset="-128"/>
            </a:endParaRPr>
          </a:p>
          <a:p>
            <a:pPr lvl="1" indent="-284163" algn="just">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a:latin typeface="CMSS12"/>
                <a:ea typeface="ＭＳ Ｐゴシック" pitchFamily="34" charset="-128"/>
                <a:cs typeface="Courier New" pitchFamily="49" charset="0"/>
              </a:rPr>
              <a:t>UZQSOVUOHXMOPVGPOZPEVSGZWSZOPFPESXUDBMETSXAIZ</a:t>
            </a:r>
          </a:p>
          <a:p>
            <a:pPr lvl="1" indent="-284163" algn="just">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a:latin typeface="CMSS12"/>
                <a:ea typeface="ＭＳ Ｐゴシック" pitchFamily="34" charset="-128"/>
                <a:cs typeface="Courier New" pitchFamily="49" charset="0"/>
              </a:rPr>
              <a:t>VUEPHZHMDZSHZOWSFPAPPDTSVPQUZWYMXUZUHSX</a:t>
            </a:r>
          </a:p>
          <a:p>
            <a:pPr lvl="1" indent="-284163" algn="just">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smtClean="0">
                <a:latin typeface="CMSS12"/>
                <a:ea typeface="ＭＳ Ｐゴシック" pitchFamily="34" charset="-128"/>
                <a:cs typeface="Courier New" pitchFamily="49" charset="0"/>
              </a:rPr>
              <a:t>EPYEPOPDZSZUFPOMBZWPFUPZHMDJUDTMOHMQ</a:t>
            </a:r>
          </a:p>
          <a:p>
            <a:pPr lvl="1" indent="-284163">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AU" sz="2000" dirty="0">
              <a:latin typeface="CMSS12"/>
              <a:ea typeface="ＭＳ Ｐゴシック" pitchFamily="34" charset="-128"/>
            </a:endParaRPr>
          </a:p>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400" dirty="0">
                <a:solidFill>
                  <a:srgbClr val="0000FF"/>
                </a:solidFill>
                <a:latin typeface="CMSS12"/>
                <a:ea typeface="ＭＳ Ｐゴシック" pitchFamily="34" charset="-128"/>
              </a:rPr>
              <a:t>guess P &amp; Z are e and </a:t>
            </a:r>
            <a:r>
              <a:rPr lang="en-US" sz="2400" dirty="0" smtClean="0">
                <a:solidFill>
                  <a:srgbClr val="0000FF"/>
                </a:solidFill>
                <a:latin typeface="CMSS12"/>
                <a:ea typeface="ＭＳ Ｐゴシック" pitchFamily="34" charset="-128"/>
              </a:rPr>
              <a:t>t</a:t>
            </a:r>
            <a:endParaRPr lang="en-US" sz="2400" dirty="0">
              <a:solidFill>
                <a:srgbClr val="0000FF"/>
              </a:solidFill>
              <a:latin typeface="CMSS12"/>
              <a:ea typeface="ＭＳ Ｐゴシック" pitchFamily="34" charset="-128"/>
            </a:endParaRPr>
          </a:p>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400" dirty="0">
                <a:solidFill>
                  <a:srgbClr val="0000FF"/>
                </a:solidFill>
                <a:latin typeface="CMSS12"/>
                <a:ea typeface="ＭＳ Ｐゴシック" pitchFamily="34" charset="-128"/>
              </a:rPr>
              <a:t>guess ZW is </a:t>
            </a:r>
            <a:r>
              <a:rPr lang="en-US" sz="2400" dirty="0" err="1">
                <a:solidFill>
                  <a:srgbClr val="0000FF"/>
                </a:solidFill>
                <a:latin typeface="CMSS12"/>
                <a:ea typeface="ＭＳ Ｐゴシック" pitchFamily="34" charset="-128"/>
              </a:rPr>
              <a:t>th</a:t>
            </a:r>
            <a:r>
              <a:rPr lang="en-US" sz="2400" dirty="0">
                <a:solidFill>
                  <a:srgbClr val="0000FF"/>
                </a:solidFill>
                <a:latin typeface="CMSS12"/>
                <a:ea typeface="ＭＳ Ｐゴシック" pitchFamily="34" charset="-128"/>
              </a:rPr>
              <a:t> and hence ZWP is “the</a:t>
            </a:r>
            <a:r>
              <a:rPr lang="en-US" sz="2400" dirty="0" smtClean="0">
                <a:solidFill>
                  <a:srgbClr val="0000FF"/>
                </a:solidFill>
                <a:latin typeface="CMSS12"/>
                <a:ea typeface="ＭＳ Ｐゴシック" pitchFamily="34" charset="-128"/>
              </a:rPr>
              <a:t>”</a:t>
            </a:r>
            <a:endParaRPr lang="en-US" sz="2400" dirty="0">
              <a:solidFill>
                <a:srgbClr val="0000FF"/>
              </a:solidFill>
              <a:latin typeface="CMSS12"/>
              <a:ea typeface="ＭＳ Ｐゴシック" pitchFamily="34" charset="-128"/>
            </a:endParaRPr>
          </a:p>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400" dirty="0">
                <a:solidFill>
                  <a:srgbClr val="0000FF"/>
                </a:solidFill>
                <a:latin typeface="CMSS12"/>
                <a:ea typeface="ＭＳ Ｐゴシック" pitchFamily="34" charset="-128"/>
              </a:rPr>
              <a:t>proceeding with trial and error finally get</a:t>
            </a:r>
            <a:r>
              <a:rPr lang="en-US" sz="2400" dirty="0" smtClean="0">
                <a:solidFill>
                  <a:srgbClr val="0000FF"/>
                </a:solidFill>
                <a:latin typeface="CMSS12"/>
                <a:ea typeface="ＭＳ Ｐゴシック" pitchFamily="34" charset="-128"/>
              </a:rPr>
              <a:t>:</a:t>
            </a:r>
          </a:p>
          <a:p>
            <a:pPr marL="341313" indent="-341313">
              <a:lnSpc>
                <a:spcPct val="90000"/>
              </a:lnSpc>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400" dirty="0">
              <a:solidFill>
                <a:srgbClr val="0000FF"/>
              </a:solidFill>
              <a:latin typeface="CMSS12"/>
              <a:ea typeface="ＭＳ Ｐゴシック" pitchFamily="34" charset="-128"/>
            </a:endParaRPr>
          </a:p>
          <a:p>
            <a:pPr lvl="1" indent="-284163">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a:latin typeface="CMSS12"/>
                <a:ea typeface="ＭＳ Ｐゴシック" pitchFamily="34" charset="-128"/>
                <a:cs typeface="Courier New" pitchFamily="49" charset="0"/>
              </a:rPr>
              <a:t>it was disclosed yesterday that several informal but</a:t>
            </a:r>
          </a:p>
          <a:p>
            <a:pPr lvl="1" indent="-284163">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a:latin typeface="CMSS12"/>
                <a:ea typeface="ＭＳ Ｐゴシック" pitchFamily="34" charset="-128"/>
                <a:cs typeface="Courier New" pitchFamily="49" charset="0"/>
              </a:rPr>
              <a:t>direct contacts have been made with political</a:t>
            </a:r>
          </a:p>
          <a:p>
            <a:pPr lvl="1" indent="-284163">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AU" sz="2000" dirty="0">
                <a:latin typeface="CMSS12"/>
                <a:ea typeface="ＭＳ Ｐゴシック" pitchFamily="34" charset="-128"/>
                <a:cs typeface="Courier New" pitchFamily="49" charset="0"/>
              </a:rPr>
              <a:t>representatives of the </a:t>
            </a:r>
            <a:r>
              <a:rPr lang="en-AU" sz="2000" dirty="0" err="1">
                <a:latin typeface="CMSS12"/>
                <a:ea typeface="ＭＳ Ｐゴシック" pitchFamily="34" charset="-128"/>
                <a:cs typeface="Courier New" pitchFamily="49" charset="0"/>
              </a:rPr>
              <a:t>viet</a:t>
            </a:r>
            <a:r>
              <a:rPr lang="en-AU" sz="2000" dirty="0">
                <a:latin typeface="CMSS12"/>
                <a:ea typeface="ＭＳ Ｐゴシック" pitchFamily="34" charset="-128"/>
                <a:cs typeface="Courier New" pitchFamily="49" charset="0"/>
              </a:rPr>
              <a:t> cong in </a:t>
            </a:r>
            <a:r>
              <a:rPr lang="en-AU" sz="2000" dirty="0" err="1">
                <a:latin typeface="CMSS12"/>
                <a:ea typeface="ＭＳ Ｐゴシック" pitchFamily="34" charset="-128"/>
                <a:cs typeface="Courier New" pitchFamily="49" charset="0"/>
              </a:rPr>
              <a:t>moscow</a:t>
            </a:r>
            <a:endParaRPr lang="en-AU" sz="2000" dirty="0">
              <a:latin typeface="CMSS12"/>
              <a:ea typeface="ＭＳ Ｐゴシック" pitchFamily="34" charset="-128"/>
              <a:cs typeface="Courier New" pitchFamily="49" charset="0"/>
            </a:endParaRPr>
          </a:p>
          <a:p>
            <a:pPr lvl="1" indent="-284163">
              <a:lnSpc>
                <a:spcPct val="90000"/>
              </a:lnSpc>
              <a:spcBef>
                <a:spcPts val="500"/>
              </a:spcBef>
              <a:buSzPct val="5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AU" sz="2000" dirty="0">
              <a:solidFill>
                <a:srgbClr val="FFFFFF"/>
              </a:solidFill>
              <a:effectLst>
                <a:outerShdw blurRad="38100" dist="38100" dir="2700000" algn="tl">
                  <a:srgbClr val="000000"/>
                </a:outerShdw>
              </a:effectLst>
              <a:latin typeface="CMSS12"/>
              <a:ea typeface="ＭＳ Ｐゴシック" pitchFamily="34" charset="-128"/>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3584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3584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35842">
                                            <p:txEl>
                                              <p:pRg st="8" end="8"/>
                                            </p:txEl>
                                          </p:spTgt>
                                        </p:tgtEl>
                                        <p:attrNameLst>
                                          <p:attrName>style.visibility</p:attrName>
                                        </p:attrNameLst>
                                      </p:cBhvr>
                                      <p:to>
                                        <p:strVal val="visible"/>
                                      </p:to>
                                    </p:set>
                                  </p:childTnLst>
                                </p:cTn>
                              </p:par>
                              <p:par>
                                <p:cTn id="15" presetID="1" presetClass="entr" fill="hold" nodeType="withEffect">
                                  <p:stCondLst>
                                    <p:cond delay="0"/>
                                  </p:stCondLst>
                                  <p:childTnLst>
                                    <p:set>
                                      <p:cBhvr additive="repl">
                                        <p:cTn id="16" dur="1" fill="hold">
                                          <p:stCondLst>
                                            <p:cond delay="0"/>
                                          </p:stCondLst>
                                        </p:cTn>
                                        <p:tgtEl>
                                          <p:spTgt spid="35842">
                                            <p:txEl>
                                              <p:pRg st="10" end="10"/>
                                            </p:txEl>
                                          </p:spTgt>
                                        </p:tgtEl>
                                        <p:attrNameLst>
                                          <p:attrName>style.visibility</p:attrName>
                                        </p:attrNameLst>
                                      </p:cBhvr>
                                      <p:to>
                                        <p:strVal val="visible"/>
                                      </p:to>
                                    </p:set>
                                  </p:childTnLst>
                                </p:cTn>
                              </p:par>
                              <p:par>
                                <p:cTn id="17" presetID="1" presetClass="entr" fill="hold" nodeType="withEffect">
                                  <p:stCondLst>
                                    <p:cond delay="0"/>
                                  </p:stCondLst>
                                  <p:childTnLst>
                                    <p:set>
                                      <p:cBhvr additive="repl">
                                        <p:cTn id="18" dur="1" fill="hold">
                                          <p:stCondLst>
                                            <p:cond delay="0"/>
                                          </p:stCondLst>
                                        </p:cTn>
                                        <p:tgtEl>
                                          <p:spTgt spid="35842">
                                            <p:txEl>
                                              <p:pRg st="11" end="11"/>
                                            </p:txEl>
                                          </p:spTgt>
                                        </p:tgtEl>
                                        <p:attrNameLst>
                                          <p:attrName>style.visibility</p:attrName>
                                        </p:attrNameLst>
                                      </p:cBhvr>
                                      <p:to>
                                        <p:strVal val="visible"/>
                                      </p:to>
                                    </p:set>
                                  </p:childTnLst>
                                </p:cTn>
                              </p:par>
                              <p:par>
                                <p:cTn id="19" presetID="1" presetClass="entr" fill="hold" nodeType="withEffect">
                                  <p:stCondLst>
                                    <p:cond delay="0"/>
                                  </p:stCondLst>
                                  <p:childTnLst>
                                    <p:set>
                                      <p:cBhvr additive="repl">
                                        <p:cTn id="20" dur="1" fill="hold">
                                          <p:stCondLst>
                                            <p:cond delay="0"/>
                                          </p:stCondLst>
                                        </p:cTn>
                                        <p:tgtEl>
                                          <p:spTgt spid="3584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16"/>
          <p:cNvSpPr txBox="1">
            <a:spLocks noChangeArrowheads="1"/>
          </p:cNvSpPr>
          <p:nvPr/>
        </p:nvSpPr>
        <p:spPr bwMode="auto">
          <a:xfrm>
            <a:off x="4800600" y="304800"/>
            <a:ext cx="4057521" cy="584775"/>
          </a:xfrm>
          <a:prstGeom prst="rect">
            <a:avLst/>
          </a:prstGeom>
          <a:noFill/>
          <a:ln w="9525">
            <a:noFill/>
            <a:miter lim="800000"/>
            <a:headEnd/>
            <a:tailEnd/>
          </a:ln>
        </p:spPr>
        <p:txBody>
          <a:bodyPr wrap="none">
            <a:spAutoFit/>
          </a:bodyPr>
          <a:lstStyle/>
          <a:p>
            <a:r>
              <a:rPr lang="en-US" sz="3200" i="0" baseline="0" dirty="0">
                <a:solidFill>
                  <a:srgbClr val="FF0000"/>
                </a:solidFill>
              </a:rPr>
              <a:t>Multiplicative Ciphers</a:t>
            </a:r>
            <a:endParaRPr lang="en-US" sz="3200" baseline="0" dirty="0">
              <a:solidFill>
                <a:srgbClr val="FF0000"/>
              </a:solidFill>
            </a:endParaRPr>
          </a:p>
        </p:txBody>
      </p:sp>
      <p:sp>
        <p:nvSpPr>
          <p:cNvPr id="8" name="Line 17"/>
          <p:cNvSpPr>
            <a:spLocks noChangeShapeType="1"/>
          </p:cNvSpPr>
          <p:nvPr/>
        </p:nvSpPr>
        <p:spPr bwMode="auto">
          <a:xfrm>
            <a:off x="593730" y="4948663"/>
            <a:ext cx="8153400" cy="0"/>
          </a:xfrm>
          <a:prstGeom prst="line">
            <a:avLst/>
          </a:prstGeom>
          <a:noFill/>
          <a:ln w="76200">
            <a:solidFill>
              <a:srgbClr val="009900"/>
            </a:solidFill>
            <a:round/>
            <a:headEnd/>
            <a:tailEnd/>
          </a:ln>
        </p:spPr>
        <p:txBody>
          <a:bodyPr/>
          <a:lstStyle/>
          <a:p>
            <a:endParaRPr lang="en-US" sz="2400">
              <a:latin typeface="CMSS12"/>
            </a:endParaRPr>
          </a:p>
        </p:txBody>
      </p:sp>
      <p:sp>
        <p:nvSpPr>
          <p:cNvPr id="9" name="Line 18"/>
          <p:cNvSpPr>
            <a:spLocks noChangeShapeType="1"/>
          </p:cNvSpPr>
          <p:nvPr/>
        </p:nvSpPr>
        <p:spPr bwMode="auto">
          <a:xfrm>
            <a:off x="523880" y="5939263"/>
            <a:ext cx="8153400" cy="0"/>
          </a:xfrm>
          <a:prstGeom prst="line">
            <a:avLst/>
          </a:prstGeom>
          <a:noFill/>
          <a:ln w="76200">
            <a:solidFill>
              <a:srgbClr val="009900"/>
            </a:solidFill>
            <a:round/>
            <a:headEnd/>
            <a:tailEnd/>
          </a:ln>
        </p:spPr>
        <p:txBody>
          <a:bodyPr/>
          <a:lstStyle/>
          <a:p>
            <a:endParaRPr lang="en-US" sz="2400">
              <a:latin typeface="CMSS12"/>
            </a:endParaRPr>
          </a:p>
        </p:txBody>
      </p:sp>
      <p:sp>
        <p:nvSpPr>
          <p:cNvPr id="10" name="Rectangle 19"/>
          <p:cNvSpPr>
            <a:spLocks noChangeArrowheads="1"/>
          </p:cNvSpPr>
          <p:nvPr/>
        </p:nvSpPr>
        <p:spPr bwMode="auto">
          <a:xfrm>
            <a:off x="631830" y="4994701"/>
            <a:ext cx="8077200" cy="830997"/>
          </a:xfrm>
          <a:prstGeom prst="rect">
            <a:avLst/>
          </a:prstGeom>
          <a:solidFill>
            <a:srgbClr val="99FF33"/>
          </a:solidFill>
          <a:ln w="76200" algn="ctr">
            <a:noFill/>
            <a:miter lim="800000"/>
            <a:headEnd/>
            <a:tailEnd/>
          </a:ln>
        </p:spPr>
        <p:txBody>
          <a:bodyPr>
            <a:spAutoFit/>
          </a:bodyPr>
          <a:lstStyle/>
          <a:p>
            <a:pPr algn="ctr"/>
            <a:r>
              <a:rPr lang="en-US" sz="2400" i="0" baseline="0" dirty="0">
                <a:latin typeface="CMSS12"/>
              </a:rPr>
              <a:t>In a multiplicative cipher, the plaintext and </a:t>
            </a:r>
            <a:r>
              <a:rPr lang="en-US" sz="2400" i="0" baseline="0" dirty="0" err="1">
                <a:latin typeface="CMSS12"/>
              </a:rPr>
              <a:t>ciphertext</a:t>
            </a:r>
            <a:r>
              <a:rPr lang="en-US" sz="2400" i="0" baseline="0" dirty="0">
                <a:latin typeface="CMSS12"/>
              </a:rPr>
              <a:t> are integers in Z</a:t>
            </a:r>
            <a:r>
              <a:rPr lang="en-US" sz="2400" i="0" baseline="-20000" dirty="0">
                <a:latin typeface="CMSS12"/>
              </a:rPr>
              <a:t>26</a:t>
            </a:r>
            <a:r>
              <a:rPr lang="en-US" sz="2400" i="0" baseline="0" dirty="0">
                <a:latin typeface="CMSS12"/>
              </a:rPr>
              <a:t>; the key is an integer in Z</a:t>
            </a:r>
            <a:r>
              <a:rPr lang="en-US" sz="2400" i="0" baseline="-25000" dirty="0">
                <a:latin typeface="CMSS12"/>
              </a:rPr>
              <a:t>26</a:t>
            </a:r>
            <a:r>
              <a:rPr lang="en-US" sz="2400" i="0" baseline="0" dirty="0">
                <a:latin typeface="CMSS12"/>
              </a:rPr>
              <a:t>*.</a:t>
            </a:r>
          </a:p>
        </p:txBody>
      </p:sp>
      <p:pic>
        <p:nvPicPr>
          <p:cNvPr id="14" name="Picture 23"/>
          <p:cNvPicPr>
            <a:picLocks noChangeAspect="1" noChangeArrowheads="1"/>
          </p:cNvPicPr>
          <p:nvPr/>
        </p:nvPicPr>
        <p:blipFill>
          <a:blip r:embed="rId2"/>
          <a:srcRect/>
          <a:stretch>
            <a:fillRect/>
          </a:stretch>
        </p:blipFill>
        <p:spPr bwMode="auto">
          <a:xfrm>
            <a:off x="609600" y="1676400"/>
            <a:ext cx="7861300" cy="2193925"/>
          </a:xfrm>
          <a:prstGeom prst="rect">
            <a:avLst/>
          </a:prstGeom>
          <a:noFill/>
          <a:ln w="9525">
            <a:noFill/>
            <a:miter lim="800000"/>
            <a:headEnd/>
            <a:tailEnd/>
          </a:ln>
        </p:spPr>
      </p:pic>
      <p:sp>
        <p:nvSpPr>
          <p:cNvPr id="15" name="Text Box 24"/>
          <p:cNvSpPr txBox="1">
            <a:spLocks noChangeArrowheads="1"/>
          </p:cNvSpPr>
          <p:nvPr/>
        </p:nvSpPr>
        <p:spPr bwMode="auto">
          <a:xfrm>
            <a:off x="2971800" y="1371600"/>
            <a:ext cx="2593980" cy="461665"/>
          </a:xfrm>
          <a:prstGeom prst="rect">
            <a:avLst/>
          </a:prstGeom>
          <a:noFill/>
          <a:ln w="9525">
            <a:noFill/>
            <a:miter lim="800000"/>
            <a:headEnd/>
            <a:tailEnd/>
          </a:ln>
        </p:spPr>
        <p:txBody>
          <a:bodyPr wrap="none">
            <a:spAutoFit/>
          </a:bodyPr>
          <a:lstStyle/>
          <a:p>
            <a:r>
              <a:rPr lang="en-US" sz="2400" i="0" baseline="0" dirty="0" smtClean="0">
                <a:solidFill>
                  <a:schemeClr val="folHlink"/>
                </a:solidFill>
              </a:rPr>
              <a:t>  </a:t>
            </a:r>
            <a:r>
              <a:rPr lang="en-US" sz="2000" baseline="0" dirty="0"/>
              <a:t>Multiplicative cipher</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152400" y="1400145"/>
            <a:ext cx="8839200" cy="400110"/>
          </a:xfrm>
          <a:prstGeom prst="rect">
            <a:avLst/>
          </a:prstGeom>
          <a:noFill/>
          <a:ln w="9525">
            <a:noFill/>
            <a:miter lim="800000"/>
            <a:headEnd/>
            <a:tailEnd/>
          </a:ln>
        </p:spPr>
        <p:txBody>
          <a:bodyPr anchor="ctr">
            <a:spAutoFit/>
          </a:bodyPr>
          <a:lstStyle/>
          <a:p>
            <a:pPr algn="just" eaLnBrk="1" hangingPunct="1"/>
            <a:r>
              <a:rPr lang="en-US" sz="2000" i="0" baseline="0" dirty="0">
                <a:latin typeface="CMSS12"/>
              </a:rPr>
              <a:t>What is the key domain for any multiplicative cipher?</a:t>
            </a:r>
          </a:p>
        </p:txBody>
      </p:sp>
      <p:sp>
        <p:nvSpPr>
          <p:cNvPr id="4" name="Text Box 11"/>
          <p:cNvSpPr txBox="1">
            <a:spLocks noChangeArrowheads="1"/>
          </p:cNvSpPr>
          <p:nvPr/>
        </p:nvSpPr>
        <p:spPr bwMode="auto">
          <a:xfrm>
            <a:off x="228600" y="990600"/>
            <a:ext cx="1253869" cy="400110"/>
          </a:xfrm>
          <a:prstGeom prst="rect">
            <a:avLst/>
          </a:prstGeom>
          <a:solidFill>
            <a:schemeClr val="folHlink"/>
          </a:solidFill>
          <a:ln w="9525">
            <a:noFill/>
            <a:miter lim="800000"/>
            <a:headEnd/>
            <a:tailEnd/>
          </a:ln>
        </p:spPr>
        <p:txBody>
          <a:bodyPr wrap="none">
            <a:spAutoFit/>
          </a:bodyPr>
          <a:lstStyle/>
          <a:p>
            <a:r>
              <a:rPr lang="en-US" sz="2000" i="0" baseline="0" dirty="0">
                <a:solidFill>
                  <a:schemeClr val="bg1"/>
                </a:solidFill>
                <a:latin typeface="CMSS12"/>
              </a:rPr>
              <a:t>Example </a:t>
            </a:r>
            <a:endParaRPr lang="en-US" sz="2000" baseline="0" dirty="0">
              <a:solidFill>
                <a:schemeClr val="bg1"/>
              </a:solidFill>
              <a:latin typeface="CMSS12"/>
            </a:endParaRPr>
          </a:p>
        </p:txBody>
      </p:sp>
      <p:sp>
        <p:nvSpPr>
          <p:cNvPr id="5" name="Rectangle 12"/>
          <p:cNvSpPr>
            <a:spLocks noChangeArrowheads="1"/>
          </p:cNvSpPr>
          <p:nvPr/>
        </p:nvSpPr>
        <p:spPr bwMode="auto">
          <a:xfrm>
            <a:off x="152400" y="2495619"/>
            <a:ext cx="8839200" cy="707886"/>
          </a:xfrm>
          <a:prstGeom prst="rect">
            <a:avLst/>
          </a:prstGeom>
          <a:noFill/>
          <a:ln w="9525">
            <a:noFill/>
            <a:miter lim="800000"/>
            <a:headEnd/>
            <a:tailEnd/>
          </a:ln>
        </p:spPr>
        <p:txBody>
          <a:bodyPr anchor="ctr">
            <a:spAutoFit/>
          </a:bodyPr>
          <a:lstStyle/>
          <a:p>
            <a:pPr algn="just" eaLnBrk="1" hangingPunct="1"/>
            <a:r>
              <a:rPr lang="en-US" sz="2000" i="0" baseline="0" dirty="0">
                <a:latin typeface="CMSS12"/>
              </a:rPr>
              <a:t>The key needs to be in Z</a:t>
            </a:r>
            <a:r>
              <a:rPr lang="en-US" sz="2000" i="0" baseline="-20000" dirty="0">
                <a:latin typeface="CMSS12"/>
              </a:rPr>
              <a:t>26</a:t>
            </a:r>
            <a:r>
              <a:rPr lang="en-US" sz="2000" i="0" baseline="0" dirty="0">
                <a:latin typeface="CMSS12"/>
              </a:rPr>
              <a:t>*. This set has only 12 members: 1, 3, 5, 7, 9, 11, 15, 17, 19, 21, 23, 25.</a:t>
            </a:r>
          </a:p>
        </p:txBody>
      </p:sp>
      <p:sp>
        <p:nvSpPr>
          <p:cNvPr id="6" name="Rectangle 13"/>
          <p:cNvSpPr>
            <a:spLocks noChangeArrowheads="1"/>
          </p:cNvSpPr>
          <p:nvPr/>
        </p:nvSpPr>
        <p:spPr bwMode="auto">
          <a:xfrm>
            <a:off x="152400" y="1964501"/>
            <a:ext cx="8229600" cy="400110"/>
          </a:xfrm>
          <a:prstGeom prst="rect">
            <a:avLst/>
          </a:prstGeom>
          <a:noFill/>
          <a:ln w="9525">
            <a:noFill/>
            <a:miter lim="800000"/>
            <a:headEnd/>
            <a:tailEnd/>
          </a:ln>
          <a:effectLst/>
        </p:spPr>
        <p:txBody>
          <a:bodyPr anchor="ctr">
            <a:spAutoFit/>
          </a:bodyPr>
          <a:lstStyle/>
          <a:p>
            <a:pPr algn="just" eaLnBrk="1" hangingPunct="1">
              <a:defRPr/>
            </a:pPr>
            <a:r>
              <a:rPr lang="en-US" sz="2000" i="0" baseline="0" dirty="0">
                <a:solidFill>
                  <a:srgbClr val="FF0000"/>
                </a:solidFill>
                <a:effectLst>
                  <a:outerShdw blurRad="38100" dist="38100" dir="2700000" algn="tl">
                    <a:srgbClr val="C0C0C0"/>
                  </a:outerShdw>
                </a:effectLst>
                <a:latin typeface="CMSS12"/>
              </a:rPr>
              <a:t>Solution</a:t>
            </a:r>
          </a:p>
        </p:txBody>
      </p:sp>
      <p:sp>
        <p:nvSpPr>
          <p:cNvPr id="7" name="Rectangle 17"/>
          <p:cNvSpPr>
            <a:spLocks noChangeArrowheads="1"/>
          </p:cNvSpPr>
          <p:nvPr/>
        </p:nvSpPr>
        <p:spPr bwMode="auto">
          <a:xfrm>
            <a:off x="152400" y="3959294"/>
            <a:ext cx="8839200" cy="707886"/>
          </a:xfrm>
          <a:prstGeom prst="rect">
            <a:avLst/>
          </a:prstGeom>
          <a:noFill/>
          <a:ln w="9525">
            <a:noFill/>
            <a:miter lim="800000"/>
            <a:headEnd/>
            <a:tailEnd/>
          </a:ln>
        </p:spPr>
        <p:txBody>
          <a:bodyPr anchor="ctr">
            <a:spAutoFit/>
          </a:bodyPr>
          <a:lstStyle/>
          <a:p>
            <a:pPr algn="just" eaLnBrk="1" hangingPunct="1"/>
            <a:r>
              <a:rPr lang="en-US" sz="2000" i="0" baseline="0">
                <a:latin typeface="CMSS12"/>
              </a:rPr>
              <a:t>We use a multiplicative cipher to encrypt the message “hello” with a key of 7. The ciphertext is “XCZZU”.</a:t>
            </a:r>
          </a:p>
        </p:txBody>
      </p:sp>
      <p:sp>
        <p:nvSpPr>
          <p:cNvPr id="8" name="Text Box 18"/>
          <p:cNvSpPr txBox="1">
            <a:spLocks noChangeArrowheads="1"/>
          </p:cNvSpPr>
          <p:nvPr/>
        </p:nvSpPr>
        <p:spPr bwMode="auto">
          <a:xfrm>
            <a:off x="228600" y="3352800"/>
            <a:ext cx="1253869" cy="400110"/>
          </a:xfrm>
          <a:prstGeom prst="rect">
            <a:avLst/>
          </a:prstGeom>
          <a:solidFill>
            <a:schemeClr val="folHlink"/>
          </a:solidFill>
          <a:ln w="9525">
            <a:noFill/>
            <a:miter lim="800000"/>
            <a:headEnd/>
            <a:tailEnd/>
          </a:ln>
        </p:spPr>
        <p:txBody>
          <a:bodyPr wrap="none">
            <a:spAutoFit/>
          </a:bodyPr>
          <a:lstStyle/>
          <a:p>
            <a:r>
              <a:rPr lang="en-US" sz="2000" i="0" baseline="0" dirty="0">
                <a:solidFill>
                  <a:schemeClr val="bg1"/>
                </a:solidFill>
                <a:latin typeface="CMSS12"/>
              </a:rPr>
              <a:t>Example </a:t>
            </a:r>
            <a:endParaRPr lang="en-US" sz="2000" baseline="0" dirty="0">
              <a:solidFill>
                <a:schemeClr val="bg1"/>
              </a:solidFill>
              <a:latin typeface="CMSS12"/>
            </a:endParaRPr>
          </a:p>
        </p:txBody>
      </p:sp>
      <p:pic>
        <p:nvPicPr>
          <p:cNvPr id="9" name="Picture 19"/>
          <p:cNvPicPr>
            <a:picLocks noChangeAspect="1" noChangeArrowheads="1"/>
          </p:cNvPicPr>
          <p:nvPr/>
        </p:nvPicPr>
        <p:blipFill>
          <a:blip r:embed="rId2"/>
          <a:srcRect/>
          <a:stretch>
            <a:fillRect/>
          </a:stretch>
        </p:blipFill>
        <p:spPr bwMode="auto">
          <a:xfrm>
            <a:off x="133350" y="4810125"/>
            <a:ext cx="8858250" cy="1666875"/>
          </a:xfrm>
          <a:prstGeom prst="rect">
            <a:avLst/>
          </a:prstGeom>
          <a:noFill/>
          <a:ln w="9525">
            <a:noFill/>
            <a:miter lim="800000"/>
            <a:headEnd/>
            <a:tailEnd/>
          </a:ln>
        </p:spPr>
      </p:pic>
      <p:sp>
        <p:nvSpPr>
          <p:cNvPr id="10" name="Text Box 16"/>
          <p:cNvSpPr txBox="1">
            <a:spLocks noChangeArrowheads="1"/>
          </p:cNvSpPr>
          <p:nvPr/>
        </p:nvSpPr>
        <p:spPr bwMode="auto">
          <a:xfrm>
            <a:off x="6553200" y="228600"/>
            <a:ext cx="2165978" cy="584775"/>
          </a:xfrm>
          <a:prstGeom prst="rect">
            <a:avLst/>
          </a:prstGeom>
          <a:noFill/>
          <a:ln w="9525">
            <a:noFill/>
            <a:miter lim="800000"/>
            <a:headEnd/>
            <a:tailEnd/>
          </a:ln>
        </p:spPr>
        <p:txBody>
          <a:bodyPr wrap="none">
            <a:spAutoFit/>
          </a:bodyPr>
          <a:lstStyle/>
          <a:p>
            <a:r>
              <a:rPr lang="en-US" sz="3200" dirty="0" smtClean="0">
                <a:solidFill>
                  <a:srgbClr val="FF0000"/>
                </a:solidFill>
              </a:rPr>
              <a:t>Continued.</a:t>
            </a:r>
            <a:endParaRPr lang="en-US" sz="3200" baseline="0" dirty="0">
              <a:solidFill>
                <a:srgbClr val="FF0000"/>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p:cNvSpPr txBox="1">
            <a:spLocks noChangeArrowheads="1"/>
          </p:cNvSpPr>
          <p:nvPr/>
        </p:nvSpPr>
        <p:spPr bwMode="auto">
          <a:xfrm>
            <a:off x="6172200" y="380999"/>
            <a:ext cx="2751651" cy="584775"/>
          </a:xfrm>
          <a:prstGeom prst="rect">
            <a:avLst/>
          </a:prstGeom>
          <a:noFill/>
          <a:ln w="9525">
            <a:noFill/>
            <a:miter lim="800000"/>
            <a:headEnd/>
            <a:tailEnd/>
          </a:ln>
        </p:spPr>
        <p:txBody>
          <a:bodyPr wrap="none">
            <a:spAutoFit/>
          </a:bodyPr>
          <a:lstStyle/>
          <a:p>
            <a:r>
              <a:rPr lang="en-US" sz="3200" i="0" baseline="0" dirty="0">
                <a:solidFill>
                  <a:srgbClr val="FF0000"/>
                </a:solidFill>
              </a:rPr>
              <a:t>Affine Ciphers</a:t>
            </a:r>
            <a:endParaRPr lang="en-US" sz="3200" baseline="0" dirty="0">
              <a:solidFill>
                <a:srgbClr val="FF0000"/>
              </a:solidFill>
            </a:endParaRPr>
          </a:p>
        </p:txBody>
      </p:sp>
      <p:pic>
        <p:nvPicPr>
          <p:cNvPr id="6" name="Picture 18"/>
          <p:cNvPicPr>
            <a:picLocks noChangeAspect="1" noChangeArrowheads="1"/>
          </p:cNvPicPr>
          <p:nvPr/>
        </p:nvPicPr>
        <p:blipFill>
          <a:blip r:embed="rId2"/>
          <a:srcRect/>
          <a:stretch>
            <a:fillRect/>
          </a:stretch>
        </p:blipFill>
        <p:spPr bwMode="auto">
          <a:xfrm>
            <a:off x="457200" y="4724400"/>
            <a:ext cx="8080375" cy="1085850"/>
          </a:xfrm>
          <a:prstGeom prst="rect">
            <a:avLst/>
          </a:prstGeom>
          <a:noFill/>
          <a:ln w="9525">
            <a:noFill/>
            <a:miter lim="800000"/>
            <a:headEnd/>
            <a:tailEnd/>
          </a:ln>
        </p:spPr>
      </p:pic>
      <p:pic>
        <p:nvPicPr>
          <p:cNvPr id="8" name="Picture 20"/>
          <p:cNvPicPr>
            <a:picLocks noChangeAspect="1" noChangeArrowheads="1"/>
          </p:cNvPicPr>
          <p:nvPr/>
        </p:nvPicPr>
        <p:blipFill>
          <a:blip r:embed="rId3"/>
          <a:srcRect/>
          <a:stretch>
            <a:fillRect/>
          </a:stretch>
        </p:blipFill>
        <p:spPr bwMode="auto">
          <a:xfrm>
            <a:off x="457200" y="1752600"/>
            <a:ext cx="8181975" cy="2765425"/>
          </a:xfrm>
          <a:prstGeom prst="rect">
            <a:avLst/>
          </a:prstGeom>
          <a:noFill/>
          <a:ln w="9525">
            <a:noFill/>
            <a:miter lim="800000"/>
            <a:headEnd/>
            <a:tailEnd/>
          </a:ln>
        </p:spPr>
      </p:pic>
      <p:sp>
        <p:nvSpPr>
          <p:cNvPr id="9" name="Rectangle 8"/>
          <p:cNvSpPr/>
          <p:nvPr/>
        </p:nvSpPr>
        <p:spPr>
          <a:xfrm>
            <a:off x="304800" y="1161990"/>
            <a:ext cx="5562600" cy="400110"/>
          </a:xfrm>
          <a:prstGeom prst="rect">
            <a:avLst/>
          </a:prstGeom>
        </p:spPr>
        <p:txBody>
          <a:bodyPr wrap="square">
            <a:spAutoFit/>
          </a:bodyPr>
          <a:lstStyle/>
          <a:p>
            <a:r>
              <a:rPr lang="en-US" sz="2000" dirty="0" smtClean="0">
                <a:solidFill>
                  <a:srgbClr val="0000FF"/>
                </a:solidFill>
              </a:rPr>
              <a:t>Combining  additive and multiplicative cipher</a:t>
            </a:r>
            <a:endParaRPr lang="en-US" sz="2000" dirty="0">
              <a:solidFill>
                <a:srgbClr val="0000FF"/>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7"/>
          <p:cNvSpPr>
            <a:spLocks noChangeArrowheads="1"/>
          </p:cNvSpPr>
          <p:nvPr/>
        </p:nvSpPr>
        <p:spPr bwMode="auto">
          <a:xfrm>
            <a:off x="304800" y="1617821"/>
            <a:ext cx="8839200" cy="707886"/>
          </a:xfrm>
          <a:prstGeom prst="rect">
            <a:avLst/>
          </a:prstGeom>
          <a:noFill/>
          <a:ln w="9525">
            <a:noFill/>
            <a:miter lim="800000"/>
            <a:headEnd/>
            <a:tailEnd/>
          </a:ln>
        </p:spPr>
        <p:txBody>
          <a:bodyPr anchor="ctr">
            <a:spAutoFit/>
          </a:bodyPr>
          <a:lstStyle/>
          <a:p>
            <a:pPr algn="just" eaLnBrk="1" hangingPunct="1"/>
            <a:r>
              <a:rPr lang="en-US" sz="2000" i="0" baseline="0" dirty="0">
                <a:latin typeface="CMSS12"/>
              </a:rPr>
              <a:t>The affine cipher uses a pair of keys in which the first key is from Z</a:t>
            </a:r>
            <a:r>
              <a:rPr lang="en-US" sz="2000" i="0" baseline="-20000" dirty="0">
                <a:latin typeface="CMSS12"/>
              </a:rPr>
              <a:t>26</a:t>
            </a:r>
            <a:r>
              <a:rPr lang="en-US" sz="2000" i="0" baseline="0" dirty="0">
                <a:latin typeface="CMSS12"/>
              </a:rPr>
              <a:t>* and the second is from Z</a:t>
            </a:r>
            <a:r>
              <a:rPr lang="en-US" sz="2000" i="0" baseline="-20000" dirty="0">
                <a:latin typeface="CMSS12"/>
              </a:rPr>
              <a:t>26</a:t>
            </a:r>
            <a:r>
              <a:rPr lang="en-US" sz="2000" i="0" baseline="0" dirty="0">
                <a:latin typeface="CMSS12"/>
              </a:rPr>
              <a:t>. The size of the key </a:t>
            </a:r>
            <a:r>
              <a:rPr lang="en-US" sz="2000" i="0" baseline="0" dirty="0" smtClean="0">
                <a:latin typeface="CMSS12"/>
              </a:rPr>
              <a:t>domain is  26 </a:t>
            </a:r>
            <a:r>
              <a:rPr lang="en-US" sz="2000" i="0" baseline="0" dirty="0">
                <a:latin typeface="CMSS12"/>
              </a:rPr>
              <a:t>× 12 = 312.</a:t>
            </a:r>
          </a:p>
        </p:txBody>
      </p:sp>
      <p:sp>
        <p:nvSpPr>
          <p:cNvPr id="4" name="Text Box 19"/>
          <p:cNvSpPr txBox="1">
            <a:spLocks noChangeArrowheads="1"/>
          </p:cNvSpPr>
          <p:nvPr/>
        </p:nvSpPr>
        <p:spPr bwMode="auto">
          <a:xfrm>
            <a:off x="304800" y="762000"/>
            <a:ext cx="1253869" cy="400110"/>
          </a:xfrm>
          <a:prstGeom prst="rect">
            <a:avLst/>
          </a:prstGeom>
          <a:solidFill>
            <a:schemeClr val="folHlink"/>
          </a:solidFill>
          <a:ln w="9525">
            <a:noFill/>
            <a:miter lim="800000"/>
            <a:headEnd/>
            <a:tailEnd/>
          </a:ln>
        </p:spPr>
        <p:txBody>
          <a:bodyPr wrap="none">
            <a:spAutoFit/>
          </a:bodyPr>
          <a:lstStyle/>
          <a:p>
            <a:r>
              <a:rPr lang="en-US" sz="2000" i="0" baseline="0" dirty="0">
                <a:solidFill>
                  <a:schemeClr val="bg1"/>
                </a:solidFill>
                <a:latin typeface="CMSS12"/>
              </a:rPr>
              <a:t>Example </a:t>
            </a:r>
            <a:endParaRPr lang="en-US" sz="2000" baseline="0" dirty="0">
              <a:solidFill>
                <a:schemeClr val="bg1"/>
              </a:solidFill>
              <a:latin typeface="CMSS12"/>
            </a:endParaRPr>
          </a:p>
        </p:txBody>
      </p:sp>
      <p:sp>
        <p:nvSpPr>
          <p:cNvPr id="5" name="Rectangle 20"/>
          <p:cNvSpPr>
            <a:spLocks noChangeArrowheads="1"/>
          </p:cNvSpPr>
          <p:nvPr/>
        </p:nvSpPr>
        <p:spPr bwMode="auto">
          <a:xfrm>
            <a:off x="152400" y="3716307"/>
            <a:ext cx="8839200" cy="400110"/>
          </a:xfrm>
          <a:prstGeom prst="rect">
            <a:avLst/>
          </a:prstGeom>
          <a:noFill/>
          <a:ln w="9525">
            <a:noFill/>
            <a:miter lim="800000"/>
            <a:headEnd/>
            <a:tailEnd/>
          </a:ln>
        </p:spPr>
        <p:txBody>
          <a:bodyPr anchor="ctr">
            <a:spAutoFit/>
          </a:bodyPr>
          <a:lstStyle/>
          <a:p>
            <a:pPr algn="just" eaLnBrk="1" hangingPunct="1"/>
            <a:r>
              <a:rPr lang="en-US" sz="2000" i="0" baseline="0">
                <a:latin typeface="CMSS12"/>
              </a:rPr>
              <a:t>Use an affine cipher to encrypt the message “hello” with the key pair (7, 2).</a:t>
            </a:r>
          </a:p>
        </p:txBody>
      </p:sp>
      <p:sp>
        <p:nvSpPr>
          <p:cNvPr id="6" name="Text Box 21"/>
          <p:cNvSpPr txBox="1">
            <a:spLocks noChangeArrowheads="1"/>
          </p:cNvSpPr>
          <p:nvPr/>
        </p:nvSpPr>
        <p:spPr bwMode="auto">
          <a:xfrm>
            <a:off x="381000" y="2819400"/>
            <a:ext cx="1253869" cy="400110"/>
          </a:xfrm>
          <a:prstGeom prst="rect">
            <a:avLst/>
          </a:prstGeom>
          <a:solidFill>
            <a:schemeClr val="folHlink"/>
          </a:solidFill>
          <a:ln w="9525">
            <a:noFill/>
            <a:miter lim="800000"/>
            <a:headEnd/>
            <a:tailEnd/>
          </a:ln>
        </p:spPr>
        <p:txBody>
          <a:bodyPr wrap="none">
            <a:spAutoFit/>
          </a:bodyPr>
          <a:lstStyle/>
          <a:p>
            <a:r>
              <a:rPr lang="en-US" sz="2000" i="0" baseline="0" dirty="0">
                <a:solidFill>
                  <a:schemeClr val="bg1"/>
                </a:solidFill>
                <a:latin typeface="CMSS12"/>
              </a:rPr>
              <a:t>Example </a:t>
            </a:r>
            <a:endParaRPr lang="en-US" sz="2000" baseline="0" dirty="0">
              <a:solidFill>
                <a:schemeClr val="bg1"/>
              </a:solidFill>
              <a:latin typeface="CMSS12"/>
            </a:endParaRPr>
          </a:p>
        </p:txBody>
      </p:sp>
      <p:pic>
        <p:nvPicPr>
          <p:cNvPr id="7" name="Picture 22"/>
          <p:cNvPicPr>
            <a:picLocks noChangeAspect="1" noChangeArrowheads="1"/>
          </p:cNvPicPr>
          <p:nvPr/>
        </p:nvPicPr>
        <p:blipFill>
          <a:blip r:embed="rId2"/>
          <a:srcRect/>
          <a:stretch>
            <a:fillRect/>
          </a:stretch>
        </p:blipFill>
        <p:spPr bwMode="auto">
          <a:xfrm>
            <a:off x="228600" y="4518025"/>
            <a:ext cx="8729663" cy="1533525"/>
          </a:xfrm>
          <a:prstGeom prst="rect">
            <a:avLst/>
          </a:prstGeom>
          <a:noFill/>
          <a:ln w="9525">
            <a:noFill/>
            <a:miter lim="800000"/>
            <a:headEnd/>
            <a:tailEnd/>
          </a:ln>
        </p:spPr>
      </p:pic>
      <p:sp>
        <p:nvSpPr>
          <p:cNvPr id="8" name="Text Box 11"/>
          <p:cNvSpPr txBox="1">
            <a:spLocks noChangeArrowheads="1"/>
          </p:cNvSpPr>
          <p:nvPr/>
        </p:nvSpPr>
        <p:spPr bwMode="auto">
          <a:xfrm>
            <a:off x="3048000" y="381000"/>
            <a:ext cx="2751651" cy="584775"/>
          </a:xfrm>
          <a:prstGeom prst="rect">
            <a:avLst/>
          </a:prstGeom>
          <a:noFill/>
          <a:ln w="9525">
            <a:noFill/>
            <a:miter lim="800000"/>
            <a:headEnd/>
            <a:tailEnd/>
          </a:ln>
        </p:spPr>
        <p:txBody>
          <a:bodyPr wrap="none">
            <a:spAutoFit/>
          </a:bodyPr>
          <a:lstStyle/>
          <a:p>
            <a:r>
              <a:rPr lang="en-US" sz="3200" i="0" baseline="0" dirty="0">
                <a:solidFill>
                  <a:srgbClr val="FF0000"/>
                </a:solidFill>
                <a:latin typeface="CMSS12"/>
              </a:rPr>
              <a:t>Affine Ciphers</a:t>
            </a:r>
            <a:endParaRPr lang="en-US" sz="3200" baseline="0" dirty="0">
              <a:solidFill>
                <a:srgbClr val="FF0000"/>
              </a:solidFill>
              <a:latin typeface="CMSS1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152400" y="1616075"/>
            <a:ext cx="8839200" cy="822325"/>
          </a:xfrm>
          <a:prstGeom prst="rect">
            <a:avLst/>
          </a:prstGeom>
          <a:noFill/>
          <a:ln w="9525">
            <a:noFill/>
            <a:miter lim="800000"/>
            <a:headEnd/>
            <a:tailEnd/>
          </a:ln>
        </p:spPr>
        <p:txBody>
          <a:bodyPr anchor="ctr">
            <a:spAutoFit/>
          </a:bodyPr>
          <a:lstStyle/>
          <a:p>
            <a:pPr algn="just" eaLnBrk="1" hangingPunct="1"/>
            <a:r>
              <a:rPr lang="en-US" sz="2400" i="0" baseline="0" dirty="0"/>
              <a:t>Use the affine cipher to decrypt the message “ZEBBW” with the key pair (7, 2) in modulus 26.</a:t>
            </a:r>
          </a:p>
        </p:txBody>
      </p:sp>
      <p:sp>
        <p:nvSpPr>
          <p:cNvPr id="4" name="Text Box 11"/>
          <p:cNvSpPr txBox="1">
            <a:spLocks noChangeArrowheads="1"/>
          </p:cNvSpPr>
          <p:nvPr/>
        </p:nvSpPr>
        <p:spPr bwMode="auto">
          <a:xfrm>
            <a:off x="228600" y="10668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5" name="Text Box 12"/>
          <p:cNvSpPr txBox="1">
            <a:spLocks noChangeArrowheads="1"/>
          </p:cNvSpPr>
          <p:nvPr/>
        </p:nvSpPr>
        <p:spPr bwMode="auto">
          <a:xfrm>
            <a:off x="255588" y="2532063"/>
            <a:ext cx="1268412" cy="457200"/>
          </a:xfrm>
          <a:prstGeom prst="rect">
            <a:avLst/>
          </a:prstGeom>
          <a:noFill/>
          <a:ln w="9525">
            <a:noFill/>
            <a:miter lim="800000"/>
            <a:headEnd/>
            <a:tailEnd/>
          </a:ln>
        </p:spPr>
        <p:txBody>
          <a:bodyPr wrap="none">
            <a:spAutoFit/>
          </a:bodyPr>
          <a:lstStyle/>
          <a:p>
            <a:r>
              <a:rPr lang="en-US" sz="2400" i="0" baseline="0">
                <a:solidFill>
                  <a:schemeClr val="hlink"/>
                </a:solidFill>
              </a:rPr>
              <a:t>Solution</a:t>
            </a:r>
            <a:endParaRPr lang="en-US" sz="2000" baseline="0">
              <a:solidFill>
                <a:schemeClr val="hlink"/>
              </a:solidFill>
            </a:endParaRPr>
          </a:p>
        </p:txBody>
      </p:sp>
      <p:pic>
        <p:nvPicPr>
          <p:cNvPr id="6" name="Picture 15"/>
          <p:cNvPicPr>
            <a:picLocks noChangeAspect="1" noChangeArrowheads="1"/>
          </p:cNvPicPr>
          <p:nvPr/>
        </p:nvPicPr>
        <p:blipFill>
          <a:blip r:embed="rId2"/>
          <a:srcRect/>
          <a:stretch>
            <a:fillRect/>
          </a:stretch>
        </p:blipFill>
        <p:spPr bwMode="auto">
          <a:xfrm>
            <a:off x="304800" y="3065463"/>
            <a:ext cx="8739188" cy="1536700"/>
          </a:xfrm>
          <a:prstGeom prst="rect">
            <a:avLst/>
          </a:prstGeom>
          <a:noFill/>
          <a:ln w="9525">
            <a:noFill/>
            <a:miter lim="800000"/>
            <a:headEnd/>
            <a:tailEnd/>
          </a:ln>
        </p:spPr>
      </p:pic>
      <p:sp>
        <p:nvSpPr>
          <p:cNvPr id="7" name="Rectangle 16"/>
          <p:cNvSpPr>
            <a:spLocks noChangeArrowheads="1"/>
          </p:cNvSpPr>
          <p:nvPr/>
        </p:nvSpPr>
        <p:spPr bwMode="auto">
          <a:xfrm>
            <a:off x="304800" y="5257800"/>
            <a:ext cx="8839200" cy="1187450"/>
          </a:xfrm>
          <a:prstGeom prst="rect">
            <a:avLst/>
          </a:prstGeom>
          <a:noFill/>
          <a:ln w="9525">
            <a:noFill/>
            <a:miter lim="800000"/>
            <a:headEnd/>
            <a:tailEnd/>
          </a:ln>
        </p:spPr>
        <p:txBody>
          <a:bodyPr anchor="ctr">
            <a:spAutoFit/>
          </a:bodyPr>
          <a:lstStyle/>
          <a:p>
            <a:pPr algn="just" eaLnBrk="1" hangingPunct="1"/>
            <a:r>
              <a:rPr lang="en-US" sz="2400" i="0" baseline="0" dirty="0"/>
              <a:t>The additive cipher is a special case of an affine cipher in which </a:t>
            </a:r>
            <a:br>
              <a:rPr lang="en-US" sz="2400" i="0" baseline="0" dirty="0"/>
            </a:br>
            <a:r>
              <a:rPr lang="en-US" sz="2400" baseline="0" dirty="0"/>
              <a:t>k</a:t>
            </a:r>
            <a:r>
              <a:rPr lang="en-US" sz="2400" i="0" baseline="-20000" dirty="0"/>
              <a:t>1</a:t>
            </a:r>
            <a:r>
              <a:rPr lang="en-US" sz="2400" i="0" baseline="0" dirty="0"/>
              <a:t> = 1. The multiplicative cipher is a special case of affine cipher in which </a:t>
            </a:r>
            <a:r>
              <a:rPr lang="en-US" sz="2400" baseline="0" dirty="0"/>
              <a:t>k</a:t>
            </a:r>
            <a:r>
              <a:rPr lang="en-US" sz="2400" i="0" baseline="-20000" dirty="0"/>
              <a:t>2</a:t>
            </a:r>
            <a:r>
              <a:rPr lang="en-US" sz="2400" i="0" baseline="0" dirty="0"/>
              <a:t> = 0.</a:t>
            </a:r>
          </a:p>
        </p:txBody>
      </p:sp>
      <p:sp>
        <p:nvSpPr>
          <p:cNvPr id="8" name="Text Box 17"/>
          <p:cNvSpPr txBox="1">
            <a:spLocks noChangeArrowheads="1"/>
          </p:cNvSpPr>
          <p:nvPr/>
        </p:nvSpPr>
        <p:spPr bwMode="auto">
          <a:xfrm>
            <a:off x="381000" y="48006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9" name="Text Box 11"/>
          <p:cNvSpPr txBox="1">
            <a:spLocks noChangeArrowheads="1"/>
          </p:cNvSpPr>
          <p:nvPr/>
        </p:nvSpPr>
        <p:spPr bwMode="auto">
          <a:xfrm>
            <a:off x="6096000" y="228600"/>
            <a:ext cx="2751651" cy="584775"/>
          </a:xfrm>
          <a:prstGeom prst="rect">
            <a:avLst/>
          </a:prstGeom>
          <a:noFill/>
          <a:ln w="9525">
            <a:noFill/>
            <a:miter lim="800000"/>
            <a:headEnd/>
            <a:tailEnd/>
          </a:ln>
        </p:spPr>
        <p:txBody>
          <a:bodyPr wrap="none">
            <a:spAutoFit/>
          </a:bodyPr>
          <a:lstStyle/>
          <a:p>
            <a:r>
              <a:rPr lang="en-US" sz="3200" i="0" baseline="0" dirty="0">
                <a:solidFill>
                  <a:srgbClr val="FF0000"/>
                </a:solidFill>
              </a:rPr>
              <a:t>Affine Ciphers</a:t>
            </a:r>
            <a:endParaRPr lang="en-US" sz="3200" baseline="0" dirty="0">
              <a:solidFill>
                <a:srgbClr val="FF0000"/>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1"/>
          <p:cNvSpPr txBox="1">
            <a:spLocks noChangeArrowheads="1"/>
          </p:cNvSpPr>
          <p:nvPr/>
        </p:nvSpPr>
        <p:spPr bwMode="auto">
          <a:xfrm>
            <a:off x="3057533" y="304800"/>
            <a:ext cx="6107762" cy="584775"/>
          </a:xfrm>
          <a:prstGeom prst="rect">
            <a:avLst/>
          </a:prstGeom>
          <a:noFill/>
          <a:ln w="9525">
            <a:noFill/>
            <a:miter lim="800000"/>
            <a:headEnd/>
            <a:tailEnd/>
          </a:ln>
        </p:spPr>
        <p:txBody>
          <a:bodyPr wrap="none">
            <a:spAutoFit/>
          </a:bodyPr>
          <a:lstStyle/>
          <a:p>
            <a:r>
              <a:rPr lang="en-US" sz="3200" dirty="0" err="1" smtClean="0">
                <a:solidFill>
                  <a:srgbClr val="FF0000"/>
                </a:solidFill>
              </a:rPr>
              <a:t>Polygraphic</a:t>
            </a:r>
            <a:r>
              <a:rPr lang="en-US" sz="3200" dirty="0" smtClean="0">
                <a:solidFill>
                  <a:srgbClr val="FF0000"/>
                </a:solidFill>
              </a:rPr>
              <a:t> Substitution</a:t>
            </a:r>
            <a:r>
              <a:rPr lang="en-US" sz="3200" i="0" baseline="0" dirty="0" smtClean="0">
                <a:solidFill>
                  <a:srgbClr val="FF0000"/>
                </a:solidFill>
              </a:rPr>
              <a:t> </a:t>
            </a:r>
            <a:r>
              <a:rPr lang="en-US" sz="3200" i="0" baseline="0" dirty="0">
                <a:solidFill>
                  <a:srgbClr val="FF0000"/>
                </a:solidFill>
              </a:rPr>
              <a:t>Ciphers</a:t>
            </a:r>
            <a:endParaRPr lang="en-US" sz="3200" baseline="0" dirty="0">
              <a:solidFill>
                <a:srgbClr val="FF0000"/>
              </a:solidFill>
            </a:endParaRPr>
          </a:p>
        </p:txBody>
      </p:sp>
      <p:pic>
        <p:nvPicPr>
          <p:cNvPr id="1126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275" y="1371600"/>
            <a:ext cx="668655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225825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Substitution: Other forms (</a:t>
            </a:r>
            <a:r>
              <a:rPr lang="en-US" b="1" dirty="0" err="1"/>
              <a:t>Cont</a:t>
            </a:r>
            <a:r>
              <a:rPr lang="en-US" b="1" dirty="0"/>
              <a:t>)</a:t>
            </a:r>
            <a:endParaRPr lang="en-US" dirty="0"/>
          </a:p>
        </p:txBody>
      </p:sp>
      <p:sp>
        <p:nvSpPr>
          <p:cNvPr id="3" name="Rectangle 2"/>
          <p:cNvSpPr/>
          <p:nvPr/>
        </p:nvSpPr>
        <p:spPr>
          <a:xfrm>
            <a:off x="685800" y="1695093"/>
            <a:ext cx="8001000" cy="707886"/>
          </a:xfrm>
          <a:prstGeom prst="rect">
            <a:avLst/>
          </a:prstGeom>
        </p:spPr>
        <p:txBody>
          <a:bodyPr wrap="square">
            <a:spAutoFit/>
          </a:bodyPr>
          <a:lstStyle/>
          <a:p>
            <a:pPr marL="285750" indent="-285750">
              <a:buClr>
                <a:srgbClr val="0000FF"/>
              </a:buClr>
              <a:buFont typeface="Wingdings" pitchFamily="2" charset="2"/>
              <a:buChar char="q"/>
            </a:pPr>
            <a:r>
              <a:rPr lang="en-US" sz="2000" dirty="0" smtClean="0">
                <a:latin typeface="CMSS12"/>
              </a:rPr>
              <a:t> </a:t>
            </a:r>
            <a:r>
              <a:rPr lang="en-US" sz="2000" dirty="0">
                <a:latin typeface="CMSS12"/>
              </a:rPr>
              <a:t>Use two-letter combinations: </a:t>
            </a:r>
            <a:r>
              <a:rPr lang="en-US" sz="2000" dirty="0" err="1">
                <a:latin typeface="CMSS12"/>
              </a:rPr>
              <a:t>Playfair</a:t>
            </a:r>
            <a:r>
              <a:rPr lang="en-US" sz="2000" dirty="0">
                <a:latin typeface="CMSS12"/>
              </a:rPr>
              <a:t> Cipher</a:t>
            </a:r>
          </a:p>
          <a:p>
            <a:pPr marL="285750" indent="-285750">
              <a:buClr>
                <a:srgbClr val="0000FF"/>
              </a:buClr>
              <a:buFont typeface="Wingdings" pitchFamily="2" charset="2"/>
              <a:buChar char="q"/>
            </a:pPr>
            <a:r>
              <a:rPr lang="en-US" sz="2000" dirty="0" smtClean="0">
                <a:latin typeface="CMSS12"/>
              </a:rPr>
              <a:t> </a:t>
            </a:r>
            <a:r>
              <a:rPr lang="en-US" sz="2000" dirty="0">
                <a:latin typeface="CMSS12"/>
              </a:rPr>
              <a:t>Use multiple letter combinations: Hill Cipher</a:t>
            </a:r>
          </a:p>
        </p:txBody>
      </p:sp>
      <p:sp>
        <p:nvSpPr>
          <p:cNvPr id="4" name="Rectangle 3"/>
          <p:cNvSpPr/>
          <p:nvPr/>
        </p:nvSpPr>
        <p:spPr>
          <a:xfrm>
            <a:off x="685800" y="3200400"/>
            <a:ext cx="8153400" cy="707886"/>
          </a:xfrm>
          <a:prstGeom prst="rect">
            <a:avLst/>
          </a:prstGeom>
        </p:spPr>
        <p:txBody>
          <a:bodyPr wrap="square">
            <a:spAutoFit/>
          </a:bodyPr>
          <a:lstStyle/>
          <a:p>
            <a:r>
              <a:rPr lang="en-US" sz="2000" dirty="0">
                <a:latin typeface="CMSS12"/>
              </a:rPr>
              <a:t>Use multiple ciphers. Use a key to select which alphabet (</a:t>
            </a:r>
            <a:r>
              <a:rPr lang="en-US" sz="2000" dirty="0" smtClean="0">
                <a:latin typeface="CMSS12"/>
              </a:rPr>
              <a:t>code)  is </a:t>
            </a:r>
            <a:r>
              <a:rPr lang="en-US" sz="2000" dirty="0">
                <a:latin typeface="CMSS12"/>
              </a:rPr>
              <a:t>used for each letter of the message</a:t>
            </a:r>
          </a:p>
        </p:txBody>
      </p:sp>
    </p:spTree>
    <p:extLst>
      <p:ext uri="{BB962C8B-B14F-4D97-AF65-F5344CB8AC3E}">
        <p14:creationId xmlns:p14="http://schemas.microsoft.com/office/powerpoint/2010/main" val="232175329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381000" y="457200"/>
            <a:ext cx="8458200" cy="639763"/>
          </a:xfrm>
        </p:spPr>
        <p:txBody>
          <a:bodyPr/>
          <a:lstStyle/>
          <a:p>
            <a:r>
              <a:rPr lang="en-US" smtClean="0"/>
              <a:t>Poly-alphabetic Ciphers</a:t>
            </a:r>
          </a:p>
        </p:txBody>
      </p:sp>
      <p:sp>
        <p:nvSpPr>
          <p:cNvPr id="56323" name="Content Placeholder 2"/>
          <p:cNvSpPr>
            <a:spLocks noGrp="1"/>
          </p:cNvSpPr>
          <p:nvPr>
            <p:ph sz="quarter" idx="1"/>
          </p:nvPr>
        </p:nvSpPr>
        <p:spPr>
          <a:xfrm>
            <a:off x="533400" y="1295400"/>
            <a:ext cx="8305800" cy="5029200"/>
          </a:xfrm>
        </p:spPr>
        <p:txBody>
          <a:bodyPr>
            <a:noAutofit/>
          </a:bodyPr>
          <a:lstStyle/>
          <a:p>
            <a:pPr algn="just"/>
            <a:r>
              <a:rPr lang="en-US" dirty="0" err="1">
                <a:solidFill>
                  <a:schemeClr val="tx1"/>
                </a:solidFill>
              </a:rPr>
              <a:t>Monoalphabetic</a:t>
            </a:r>
            <a:r>
              <a:rPr lang="en-US" dirty="0">
                <a:solidFill>
                  <a:schemeClr val="tx1"/>
                </a:solidFill>
              </a:rPr>
              <a:t> ciphers are easy to break because they reflect the </a:t>
            </a:r>
            <a:r>
              <a:rPr lang="en-US" dirty="0" smtClean="0">
                <a:solidFill>
                  <a:schemeClr val="tx1"/>
                </a:solidFill>
              </a:rPr>
              <a:t>frequency data </a:t>
            </a:r>
            <a:r>
              <a:rPr lang="en-US" dirty="0">
                <a:solidFill>
                  <a:schemeClr val="tx1"/>
                </a:solidFill>
              </a:rPr>
              <a:t>of the original alphabet. A countermeasure is to provide multiple </a:t>
            </a:r>
            <a:r>
              <a:rPr lang="en-US" dirty="0" smtClean="0">
                <a:solidFill>
                  <a:schemeClr val="tx1"/>
                </a:solidFill>
              </a:rPr>
              <a:t>substitutes known </a:t>
            </a:r>
            <a:r>
              <a:rPr lang="en-US" dirty="0">
                <a:solidFill>
                  <a:schemeClr val="tx1"/>
                </a:solidFill>
              </a:rPr>
              <a:t>as homophones, for a single letter</a:t>
            </a:r>
            <a:r>
              <a:rPr lang="en-US" dirty="0" smtClean="0">
                <a:solidFill>
                  <a:schemeClr val="tx1"/>
                </a:solidFill>
              </a:rPr>
              <a:t>.</a:t>
            </a:r>
          </a:p>
          <a:p>
            <a:pPr algn="just"/>
            <a:endParaRPr lang="en-US" dirty="0" smtClean="0">
              <a:solidFill>
                <a:schemeClr val="tx1"/>
              </a:solidFill>
            </a:endParaRPr>
          </a:p>
          <a:p>
            <a:r>
              <a:rPr lang="en-US" dirty="0"/>
              <a:t>For example, the letter e could be </a:t>
            </a:r>
            <a:r>
              <a:rPr lang="en-US" dirty="0" smtClean="0"/>
              <a:t>assigned a </a:t>
            </a:r>
            <a:r>
              <a:rPr lang="en-US" dirty="0"/>
              <a:t>number of different cipher symbols, such as 16, 74, 35, and 21, with </a:t>
            </a:r>
            <a:r>
              <a:rPr lang="en-US" dirty="0" smtClean="0"/>
              <a:t>each homophone </a:t>
            </a:r>
            <a:r>
              <a:rPr lang="en-US" dirty="0"/>
              <a:t>assigned to a letter in rotation or randomly.</a:t>
            </a:r>
            <a:endParaRPr lang="en-US" dirty="0" smtClean="0">
              <a:solidFill>
                <a:schemeClr val="tx1"/>
              </a:solidFill>
            </a:endParaRPr>
          </a:p>
          <a:p>
            <a:pPr algn="just">
              <a:buFontTx/>
              <a:buBlip>
                <a:blip r:embed="rId2"/>
              </a:buBlip>
            </a:pPr>
            <a:endParaRPr lang="en-US" dirty="0">
              <a:solidFill>
                <a:schemeClr val="tx1"/>
              </a:solidFill>
            </a:endParaRPr>
          </a:p>
          <a:p>
            <a:pPr>
              <a:buFontTx/>
              <a:buBlip>
                <a:blip r:embed="rId2"/>
              </a:buBlip>
            </a:pPr>
            <a:r>
              <a:rPr lang="en-US" dirty="0" smtClean="0">
                <a:solidFill>
                  <a:schemeClr val="tx1"/>
                </a:solidFill>
              </a:rPr>
              <a:t>Use different mono-alphabetic substitutions as proceed</a:t>
            </a:r>
          </a:p>
          <a:p>
            <a:pPr>
              <a:buFontTx/>
              <a:buNone/>
            </a:pPr>
            <a:r>
              <a:rPr lang="en-US" dirty="0" smtClean="0">
                <a:solidFill>
                  <a:schemeClr val="tx1"/>
                </a:solidFill>
              </a:rPr>
              <a:t>	through plaintext</a:t>
            </a:r>
          </a:p>
          <a:p>
            <a:pPr lvl="2">
              <a:buFontTx/>
              <a:buChar char="•"/>
            </a:pPr>
            <a:r>
              <a:rPr lang="en-US" dirty="0" smtClean="0"/>
              <a:t>Set of mono-alphabetic ciphers</a:t>
            </a:r>
          </a:p>
          <a:p>
            <a:pPr lvl="2">
              <a:buFontTx/>
              <a:buChar char="•"/>
            </a:pPr>
            <a:r>
              <a:rPr lang="en-US" dirty="0" smtClean="0"/>
              <a:t>Key determines which mono-alphabetic cipher to use for each plaintext letter</a:t>
            </a:r>
          </a:p>
          <a:p>
            <a:pPr>
              <a:buFontTx/>
              <a:buBlip>
                <a:blip r:embed="rId2"/>
              </a:buBlip>
            </a:pPr>
            <a:r>
              <a:rPr lang="en-US" dirty="0" smtClean="0"/>
              <a:t>Examples:  </a:t>
            </a:r>
            <a:r>
              <a:rPr lang="en-US" dirty="0" err="1" smtClean="0">
                <a:solidFill>
                  <a:srgbClr val="FF0000"/>
                </a:solidFill>
              </a:rPr>
              <a:t>Vigenere</a:t>
            </a:r>
            <a:r>
              <a:rPr lang="en-US" dirty="0" smtClean="0">
                <a:solidFill>
                  <a:srgbClr val="FF0000"/>
                </a:solidFill>
              </a:rPr>
              <a:t> cipher</a:t>
            </a:r>
            <a:r>
              <a:rPr lang="en-US" dirty="0" smtClean="0"/>
              <a:t>, </a:t>
            </a:r>
            <a:r>
              <a:rPr lang="en-US" dirty="0" err="1" smtClean="0">
                <a:solidFill>
                  <a:srgbClr val="FF0000"/>
                </a:solidFill>
              </a:rPr>
              <a:t>Vernam</a:t>
            </a:r>
            <a:r>
              <a:rPr lang="en-US" dirty="0" smtClean="0">
                <a:solidFill>
                  <a:srgbClr val="FF0000"/>
                </a:solidFill>
              </a:rPr>
              <a:t> cipher</a:t>
            </a:r>
            <a:r>
              <a:rPr lang="en-US" dirty="0" smtClean="0"/>
              <a:t>, </a:t>
            </a:r>
            <a:r>
              <a:rPr lang="en-US" dirty="0" smtClean="0">
                <a:solidFill>
                  <a:srgbClr val="FF0000"/>
                </a:solidFill>
              </a:rPr>
              <a:t>One time pad</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ChangeArrowheads="1"/>
          </p:cNvSpPr>
          <p:nvPr/>
        </p:nvSpPr>
        <p:spPr bwMode="auto">
          <a:xfrm>
            <a:off x="381000" y="1236821"/>
            <a:ext cx="8305800" cy="1077218"/>
          </a:xfrm>
          <a:prstGeom prst="rect">
            <a:avLst/>
          </a:prstGeom>
          <a:noFill/>
          <a:ln w="9525">
            <a:noFill/>
            <a:miter lim="800000"/>
            <a:headEnd/>
            <a:tailEnd/>
          </a:ln>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ysClr val="windowText" lastClr="000000"/>
                </a:solidFill>
                <a:effectLst/>
                <a:uLnTx/>
                <a:uFillTx/>
              </a:rPr>
              <a:t>In </a:t>
            </a:r>
            <a:r>
              <a:rPr kumimoji="0" lang="en-US" sz="2000" b="0" i="0" u="none" strike="noStrike" kern="0" cap="none" spc="0" normalizeH="0" baseline="0" noProof="0" dirty="0" err="1" smtClean="0">
                <a:ln>
                  <a:noFill/>
                </a:ln>
                <a:solidFill>
                  <a:sysClr val="windowText" lastClr="000000"/>
                </a:solidFill>
                <a:effectLst/>
                <a:uLnTx/>
                <a:uFillTx/>
              </a:rPr>
              <a:t>polyalphabetic</a:t>
            </a:r>
            <a:r>
              <a:rPr kumimoji="0" lang="en-US" sz="2000" b="0" i="0" u="none" strike="noStrike" kern="0" cap="none" spc="0" normalizeH="0" baseline="0" noProof="0" dirty="0" smtClean="0">
                <a:ln>
                  <a:noFill/>
                </a:ln>
                <a:solidFill>
                  <a:sysClr val="windowText" lastClr="000000"/>
                </a:solidFill>
                <a:effectLst/>
                <a:uLnTx/>
                <a:uFillTx/>
              </a:rPr>
              <a:t> substitution, each occurrence of a character may have a different substitute. The relationship between a character in the plaintext to a character in the </a:t>
            </a:r>
            <a:r>
              <a:rPr kumimoji="0" lang="en-US" sz="2000" b="0" i="0" u="none" strike="noStrike" kern="0" cap="none" spc="0" normalizeH="0" baseline="0" noProof="0" dirty="0" err="1" smtClean="0">
                <a:ln>
                  <a:noFill/>
                </a:ln>
                <a:solidFill>
                  <a:sysClr val="windowText" lastClr="000000"/>
                </a:solidFill>
                <a:effectLst/>
                <a:uLnTx/>
                <a:uFillTx/>
              </a:rPr>
              <a:t>ciphertext</a:t>
            </a:r>
            <a:r>
              <a:rPr kumimoji="0" lang="en-US" sz="2000" b="0" i="0" u="none" strike="noStrike" kern="0" cap="none" spc="0" normalizeH="0" baseline="0" noProof="0" dirty="0" smtClean="0">
                <a:ln>
                  <a:noFill/>
                </a:ln>
                <a:solidFill>
                  <a:sysClr val="windowText" lastClr="000000"/>
                </a:solidFill>
                <a:effectLst/>
                <a:uLnTx/>
                <a:uFillTx/>
              </a:rPr>
              <a:t> is one-to-many</a:t>
            </a:r>
            <a:r>
              <a:rPr kumimoji="0" lang="en-US" sz="2400" b="0" i="0" u="none" strike="noStrike" kern="0" cap="none" spc="0" normalizeH="0" baseline="0" noProof="0" dirty="0" smtClean="0">
                <a:ln>
                  <a:noFill/>
                </a:ln>
                <a:solidFill>
                  <a:sysClr val="windowText" lastClr="000000"/>
                </a:solidFill>
                <a:effectLst/>
                <a:uLnTx/>
                <a:uFillTx/>
              </a:rPr>
              <a:t>. </a:t>
            </a:r>
          </a:p>
        </p:txBody>
      </p:sp>
      <p:sp>
        <p:nvSpPr>
          <p:cNvPr id="6" name="Text Box 17"/>
          <p:cNvSpPr txBox="1">
            <a:spLocks noChangeArrowheads="1"/>
          </p:cNvSpPr>
          <p:nvPr/>
        </p:nvSpPr>
        <p:spPr bwMode="auto">
          <a:xfrm>
            <a:off x="3276600" y="3276600"/>
            <a:ext cx="2291012" cy="46166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err="1" smtClean="0">
                <a:ln>
                  <a:noFill/>
                </a:ln>
                <a:solidFill>
                  <a:srgbClr val="3333CC"/>
                </a:solidFill>
                <a:effectLst/>
                <a:uLnTx/>
                <a:uFillTx/>
                <a:latin typeface="CMSS12"/>
              </a:rPr>
              <a:t>Autokey</a:t>
            </a:r>
            <a:r>
              <a:rPr kumimoji="0" lang="en-US" sz="2400" b="0" i="0" u="none" strike="noStrike" kern="0" cap="none" spc="0" normalizeH="0" baseline="0" noProof="0" dirty="0" smtClean="0">
                <a:ln>
                  <a:noFill/>
                </a:ln>
                <a:solidFill>
                  <a:srgbClr val="3333CC"/>
                </a:solidFill>
                <a:effectLst/>
                <a:uLnTx/>
                <a:uFillTx/>
                <a:latin typeface="CMSS12"/>
              </a:rPr>
              <a:t> Cipher</a:t>
            </a:r>
          </a:p>
        </p:txBody>
      </p:sp>
      <p:pic>
        <p:nvPicPr>
          <p:cNvPr id="7" name="Picture 18"/>
          <p:cNvPicPr>
            <a:picLocks noChangeAspect="1" noChangeArrowheads="1"/>
          </p:cNvPicPr>
          <p:nvPr/>
        </p:nvPicPr>
        <p:blipFill>
          <a:blip r:embed="rId3"/>
          <a:srcRect/>
          <a:stretch>
            <a:fillRect/>
          </a:stretch>
        </p:blipFill>
        <p:spPr bwMode="auto">
          <a:xfrm>
            <a:off x="228600" y="4114800"/>
            <a:ext cx="8756650" cy="1047750"/>
          </a:xfrm>
          <a:prstGeom prst="rect">
            <a:avLst/>
          </a:prstGeom>
          <a:noFill/>
          <a:ln w="9525">
            <a:noFill/>
            <a:miter lim="800000"/>
            <a:headEnd/>
            <a:tailEnd/>
          </a:ln>
        </p:spPr>
      </p:pic>
      <p:sp>
        <p:nvSpPr>
          <p:cNvPr id="8" name="Rectangle 7"/>
          <p:cNvSpPr/>
          <p:nvPr/>
        </p:nvSpPr>
        <p:spPr>
          <a:xfrm>
            <a:off x="4821639" y="381000"/>
            <a:ext cx="3865161" cy="523220"/>
          </a:xfrm>
          <a:prstGeom prst="rect">
            <a:avLst/>
          </a:prstGeom>
        </p:spPr>
        <p:txBody>
          <a:bodyPr wrap="none">
            <a:spAutoFit/>
          </a:bodyPr>
          <a:lstStyle/>
          <a:p>
            <a:r>
              <a:rPr kumimoji="0" lang="en-US" sz="2800" dirty="0" err="1">
                <a:solidFill>
                  <a:srgbClr val="FF0000"/>
                </a:solidFill>
                <a:ea typeface="+mn-ea"/>
                <a:cs typeface="Arial" pitchFamily="34" charset="0"/>
              </a:rPr>
              <a:t>Polyalphabetic</a:t>
            </a:r>
            <a:r>
              <a:rPr kumimoji="0" lang="en-US" sz="2800" dirty="0">
                <a:solidFill>
                  <a:srgbClr val="FF0000"/>
                </a:solidFill>
                <a:ea typeface="+mn-ea"/>
                <a:cs typeface="Arial" pitchFamily="34" charset="0"/>
              </a:rPr>
              <a:t> Ciphers</a:t>
            </a:r>
            <a:endParaRPr lang="en-US" sz="2800" dirty="0">
              <a:cs typeface="Arial" pitchFamily="3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304800" y="1082675"/>
            <a:ext cx="8534400" cy="1569660"/>
          </a:xfrm>
          <a:prstGeom prst="rect">
            <a:avLst/>
          </a:prstGeom>
          <a:noFill/>
          <a:ln w="9525">
            <a:noFill/>
            <a:miter lim="800000"/>
            <a:headEnd/>
            <a:tailEnd/>
          </a:ln>
        </p:spPr>
        <p:txBody>
          <a:bodyPr wrap="square" anchor="ctr">
            <a:spAutoFit/>
          </a:bodyPr>
          <a:lstStyle/>
          <a:p>
            <a:pPr algn="just" eaLnBrk="1" hangingPunct="1"/>
            <a:r>
              <a:rPr lang="en-US" sz="2400" i="0" baseline="0" dirty="0"/>
              <a:t>Assume that Alice and Bob agreed to use an </a:t>
            </a:r>
            <a:r>
              <a:rPr lang="en-US" sz="2400" i="0" baseline="0" dirty="0" err="1"/>
              <a:t>autokey</a:t>
            </a:r>
            <a:r>
              <a:rPr lang="en-US" sz="2400" i="0" baseline="0" dirty="0"/>
              <a:t> cipher with initial key value </a:t>
            </a:r>
            <a:r>
              <a:rPr lang="en-US" sz="2400" baseline="0" dirty="0"/>
              <a:t>k</a:t>
            </a:r>
            <a:r>
              <a:rPr lang="en-US" sz="2400" i="0" dirty="0"/>
              <a:t>1</a:t>
            </a:r>
            <a:r>
              <a:rPr lang="en-US" sz="2400" i="0" baseline="0" dirty="0"/>
              <a:t> = 12. Now Alice wants to send Bob the message “Attack is today”. Enciphering is done character by character.</a:t>
            </a:r>
          </a:p>
        </p:txBody>
      </p:sp>
      <p:pic>
        <p:nvPicPr>
          <p:cNvPr id="3" name="Picture 15"/>
          <p:cNvPicPr>
            <a:picLocks noChangeAspect="1" noChangeArrowheads="1"/>
          </p:cNvPicPr>
          <p:nvPr/>
        </p:nvPicPr>
        <p:blipFill>
          <a:blip r:embed="rId2"/>
          <a:srcRect/>
          <a:stretch>
            <a:fillRect/>
          </a:stretch>
        </p:blipFill>
        <p:spPr bwMode="auto">
          <a:xfrm>
            <a:off x="533400" y="3810000"/>
            <a:ext cx="8153400" cy="1466850"/>
          </a:xfrm>
          <a:prstGeom prst="rect">
            <a:avLst/>
          </a:prstGeom>
          <a:noFill/>
          <a:ln w="9525">
            <a:noFill/>
            <a:miter lim="800000"/>
            <a:headEnd/>
            <a:tailEnd/>
          </a:ln>
        </p:spPr>
      </p:pic>
      <p:sp>
        <p:nvSpPr>
          <p:cNvPr id="4" name="Text Box 17"/>
          <p:cNvSpPr txBox="1">
            <a:spLocks noChangeArrowheads="1"/>
          </p:cNvSpPr>
          <p:nvPr/>
        </p:nvSpPr>
        <p:spPr bwMode="auto">
          <a:xfrm>
            <a:off x="5806115" y="361950"/>
            <a:ext cx="2986715" cy="584775"/>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err="1" smtClean="0">
                <a:ln>
                  <a:noFill/>
                </a:ln>
                <a:solidFill>
                  <a:srgbClr val="FF0000"/>
                </a:solidFill>
                <a:effectLst/>
                <a:uLnTx/>
                <a:uFillTx/>
              </a:rPr>
              <a:t>Autokey</a:t>
            </a:r>
            <a:r>
              <a:rPr kumimoji="0" lang="en-US" sz="3200" b="0" i="0" u="none" strike="noStrike" kern="0" cap="none" spc="0" normalizeH="0" baseline="0" noProof="0" dirty="0" smtClean="0">
                <a:ln>
                  <a:noFill/>
                </a:ln>
                <a:solidFill>
                  <a:srgbClr val="FF0000"/>
                </a:solidFill>
                <a:effectLst/>
                <a:uLnTx/>
                <a:uFillTx/>
              </a:rPr>
              <a:t> Cipher</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381000" y="228600"/>
            <a:ext cx="8458200" cy="639763"/>
          </a:xfrm>
        </p:spPr>
        <p:txBody>
          <a:bodyPr>
            <a:normAutofit fontScale="90000"/>
          </a:bodyPr>
          <a:lstStyle/>
          <a:p>
            <a:pPr lvl="0"/>
            <a:r>
              <a:rPr kumimoji="0" lang="en-US" dirty="0" smtClean="0">
                <a:solidFill>
                  <a:srgbClr val="3333CC"/>
                </a:solidFill>
              </a:rPr>
              <a:t/>
            </a:r>
            <a:br>
              <a:rPr kumimoji="0" lang="en-US" dirty="0" smtClean="0">
                <a:solidFill>
                  <a:srgbClr val="3333CC"/>
                </a:solidFill>
              </a:rPr>
            </a:br>
            <a:r>
              <a:rPr kumimoji="0" lang="en-US" sz="3100" dirty="0" err="1" smtClean="0"/>
              <a:t>Autokey</a:t>
            </a:r>
            <a:r>
              <a:rPr kumimoji="0" lang="en-US" sz="3100" dirty="0" smtClean="0"/>
              <a:t> Cipher</a:t>
            </a:r>
            <a:endParaRPr lang="en-US" sz="3100" dirty="0" smtClean="0"/>
          </a:p>
        </p:txBody>
      </p:sp>
      <p:sp>
        <p:nvSpPr>
          <p:cNvPr id="60419" name="Content Placeholder 2"/>
          <p:cNvSpPr>
            <a:spLocks noGrp="1"/>
          </p:cNvSpPr>
          <p:nvPr>
            <p:ph sz="quarter" idx="1"/>
          </p:nvPr>
        </p:nvSpPr>
        <p:spPr>
          <a:xfrm>
            <a:off x="457200" y="990600"/>
            <a:ext cx="8458200" cy="1371600"/>
          </a:xfrm>
        </p:spPr>
        <p:txBody>
          <a:bodyPr>
            <a:normAutofit/>
          </a:bodyPr>
          <a:lstStyle/>
          <a:p>
            <a:pPr>
              <a:buFontTx/>
              <a:buBlip>
                <a:blip r:embed="rId2"/>
              </a:buBlip>
            </a:pPr>
            <a:r>
              <a:rPr lang="en-US" dirty="0" err="1" smtClean="0">
                <a:solidFill>
                  <a:schemeClr val="tx1"/>
                </a:solidFill>
              </a:rPr>
              <a:t>Vigenère</a:t>
            </a:r>
            <a:r>
              <a:rPr lang="en-US" dirty="0" smtClean="0">
                <a:solidFill>
                  <a:schemeClr val="tx1"/>
                </a:solidFill>
              </a:rPr>
              <a:t> proposed what is referred to as an </a:t>
            </a:r>
            <a:r>
              <a:rPr lang="en-US" dirty="0" err="1" smtClean="0">
                <a:solidFill>
                  <a:srgbClr val="FF0000"/>
                </a:solidFill>
              </a:rPr>
              <a:t>autokey</a:t>
            </a:r>
            <a:r>
              <a:rPr lang="en-US" dirty="0" smtClean="0">
                <a:solidFill>
                  <a:srgbClr val="FF0000"/>
                </a:solidFill>
              </a:rPr>
              <a:t> system</a:t>
            </a:r>
            <a:r>
              <a:rPr lang="en-US" b="1" dirty="0" smtClean="0">
                <a:solidFill>
                  <a:schemeClr val="tx1"/>
                </a:solidFill>
              </a:rPr>
              <a:t>, </a:t>
            </a:r>
            <a:r>
              <a:rPr lang="en-US" dirty="0" smtClean="0">
                <a:solidFill>
                  <a:schemeClr val="tx1"/>
                </a:solidFill>
              </a:rPr>
              <a:t>in which a keyword is concatenated with the plaintext itself to provide a running key. For our example,</a:t>
            </a:r>
          </a:p>
          <a:p>
            <a:pPr>
              <a:buFontTx/>
              <a:buNone/>
            </a:pPr>
            <a:endParaRPr lang="en-US" dirty="0" smtClean="0">
              <a:solidFill>
                <a:schemeClr val="tx1"/>
              </a:solidFill>
            </a:endParaRPr>
          </a:p>
        </p:txBody>
      </p:sp>
      <p:pic>
        <p:nvPicPr>
          <p:cNvPr id="60420" name="Picture 3"/>
          <p:cNvPicPr>
            <a:picLocks noChangeAspect="1" noChangeArrowheads="1"/>
          </p:cNvPicPr>
          <p:nvPr/>
        </p:nvPicPr>
        <p:blipFill>
          <a:blip r:embed="rId3"/>
          <a:srcRect/>
          <a:stretch>
            <a:fillRect/>
          </a:stretch>
        </p:blipFill>
        <p:spPr bwMode="auto">
          <a:xfrm>
            <a:off x="762000" y="2590800"/>
            <a:ext cx="7146925" cy="1295400"/>
          </a:xfrm>
          <a:prstGeom prst="rect">
            <a:avLst/>
          </a:prstGeom>
          <a:noFill/>
          <a:ln w="9525">
            <a:noFill/>
            <a:miter lim="800000"/>
            <a:headEnd/>
            <a:tailEnd/>
          </a:ln>
        </p:spPr>
      </p:pic>
      <p:sp>
        <p:nvSpPr>
          <p:cNvPr id="60421" name="Rectangle 5"/>
          <p:cNvSpPr>
            <a:spLocks noChangeArrowheads="1"/>
          </p:cNvSpPr>
          <p:nvPr/>
        </p:nvSpPr>
        <p:spPr bwMode="auto">
          <a:xfrm>
            <a:off x="609600" y="4419600"/>
            <a:ext cx="7924800" cy="1077913"/>
          </a:xfrm>
          <a:prstGeom prst="rect">
            <a:avLst/>
          </a:prstGeom>
          <a:noFill/>
          <a:ln w="9525">
            <a:noFill/>
            <a:miter lim="800000"/>
            <a:headEnd/>
            <a:tailEnd/>
          </a:ln>
        </p:spPr>
        <p:txBody>
          <a:bodyPr>
            <a:spAutoFit/>
          </a:bodyPr>
          <a:lstStyle/>
          <a:p>
            <a:pPr algn="just"/>
            <a:r>
              <a:rPr lang="en-US" sz="2000" dirty="0">
                <a:latin typeface="CMSS12"/>
              </a:rPr>
              <a:t>Even this scheme is vulnerable to cryptanalysis.  Because the key and the plaintext share the same frequency distribution of letters, a statistical technique can be applied</a:t>
            </a:r>
            <a:r>
              <a:rPr lang="en-US" sz="2400" dirty="0">
                <a:latin typeface="CMSS12"/>
              </a:rPr>
              <a: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
          <p:cNvSpPr txBox="1">
            <a:spLocks noChangeArrowheads="1"/>
          </p:cNvSpPr>
          <p:nvPr/>
        </p:nvSpPr>
        <p:spPr bwMode="auto">
          <a:xfrm>
            <a:off x="5486400" y="277813"/>
            <a:ext cx="3200400" cy="865187"/>
          </a:xfrm>
          <a:prstGeom prst="rect">
            <a:avLst/>
          </a:prstGeom>
          <a:noFill/>
          <a:ln w="9525">
            <a:noFill/>
            <a:round/>
            <a:headEnd/>
            <a:tailEnd/>
          </a:ln>
        </p:spPr>
        <p:txBody>
          <a:bodyPr anchor="ctr" anchorCtr="1"/>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3200" dirty="0" err="1">
                <a:solidFill>
                  <a:srgbClr val="FF0000"/>
                </a:solidFill>
                <a:ea typeface="MS PGothic" pitchFamily="34" charset="-128"/>
              </a:rPr>
              <a:t>Playfair</a:t>
            </a:r>
            <a:r>
              <a:rPr lang="en-AU" sz="3200" dirty="0">
                <a:solidFill>
                  <a:srgbClr val="FF0000"/>
                </a:solidFill>
                <a:ea typeface="MS PGothic" pitchFamily="34" charset="-128"/>
              </a:rPr>
              <a:t> Cipher</a:t>
            </a:r>
          </a:p>
        </p:txBody>
      </p:sp>
      <p:sp>
        <p:nvSpPr>
          <p:cNvPr id="43011" name="Text Box 2"/>
          <p:cNvSpPr txBox="1">
            <a:spLocks noChangeArrowheads="1"/>
          </p:cNvSpPr>
          <p:nvPr/>
        </p:nvSpPr>
        <p:spPr bwMode="auto">
          <a:xfrm>
            <a:off x="495300" y="1676400"/>
            <a:ext cx="8229600" cy="2362200"/>
          </a:xfrm>
          <a:prstGeom prst="rect">
            <a:avLst/>
          </a:prstGeom>
          <a:noFill/>
          <a:ln w="9525">
            <a:noFill/>
            <a:round/>
            <a:headEnd/>
            <a:tailEnd/>
          </a:ln>
        </p:spPr>
        <p:txBody>
          <a:bodyPr/>
          <a:lstStyle/>
          <a:p>
            <a:pPr marL="341313" indent="-341313">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Not </a:t>
            </a:r>
            <a:r>
              <a:rPr lang="en-AU" sz="2000" dirty="0">
                <a:latin typeface="CMSS12"/>
                <a:ea typeface="MS PGothic" pitchFamily="34" charset="-128"/>
              </a:rPr>
              <a:t>even the large number of keys in a </a:t>
            </a:r>
            <a:r>
              <a:rPr lang="en-AU" sz="2000" dirty="0" err="1">
                <a:latin typeface="CMSS12"/>
                <a:ea typeface="MS PGothic" pitchFamily="34" charset="-128"/>
              </a:rPr>
              <a:t>monoalphabetic</a:t>
            </a:r>
            <a:r>
              <a:rPr lang="en-AU" sz="2000" dirty="0">
                <a:latin typeface="CMSS12"/>
                <a:ea typeface="MS PGothic" pitchFamily="34" charset="-128"/>
              </a:rPr>
              <a:t> cipher provides security </a:t>
            </a:r>
          </a:p>
          <a:p>
            <a:pPr marL="341313" indent="-341313">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One </a:t>
            </a:r>
            <a:r>
              <a:rPr lang="en-AU" sz="2000" dirty="0">
                <a:latin typeface="CMSS12"/>
                <a:ea typeface="MS PGothic" pitchFamily="34" charset="-128"/>
              </a:rPr>
              <a:t>approach to improving security was to encrypt multiple letters </a:t>
            </a:r>
          </a:p>
          <a:p>
            <a:pPr marL="341313" indent="-341313">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The</a:t>
            </a:r>
            <a:r>
              <a:rPr lang="en-AU" sz="2000" b="1" dirty="0" smtClean="0">
                <a:latin typeface="CMSS12"/>
                <a:ea typeface="MS PGothic" pitchFamily="34" charset="-128"/>
              </a:rPr>
              <a:t> </a:t>
            </a:r>
            <a:r>
              <a:rPr lang="en-AU" sz="2000" b="1" dirty="0" err="1">
                <a:latin typeface="CMSS12"/>
                <a:ea typeface="MS PGothic" pitchFamily="34" charset="-128"/>
              </a:rPr>
              <a:t>Playfair</a:t>
            </a:r>
            <a:r>
              <a:rPr lang="en-AU" sz="2000" b="1" dirty="0">
                <a:latin typeface="CMSS12"/>
                <a:ea typeface="MS PGothic" pitchFamily="34" charset="-128"/>
              </a:rPr>
              <a:t> Cipher</a:t>
            </a:r>
            <a:r>
              <a:rPr lang="en-AU" sz="2000" dirty="0">
                <a:latin typeface="CMSS12"/>
                <a:ea typeface="MS PGothic" pitchFamily="34" charset="-128"/>
              </a:rPr>
              <a:t> is an example </a:t>
            </a:r>
          </a:p>
          <a:p>
            <a:pPr marL="341313" indent="-341313">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smtClean="0">
                <a:latin typeface="CMSS12"/>
                <a:ea typeface="MS PGothic" pitchFamily="34" charset="-128"/>
              </a:rPr>
              <a:t>Invented </a:t>
            </a:r>
            <a:r>
              <a:rPr lang="en-AU" sz="2000" dirty="0">
                <a:latin typeface="CMSS12"/>
                <a:ea typeface="MS PGothic" pitchFamily="34" charset="-128"/>
              </a:rPr>
              <a:t>by Charles Wheatstone in 1854, but named after his friend Baron </a:t>
            </a:r>
            <a:r>
              <a:rPr lang="en-AU" sz="2000" dirty="0" err="1">
                <a:latin typeface="CMSS12"/>
                <a:ea typeface="MS PGothic" pitchFamily="34" charset="-128"/>
              </a:rPr>
              <a:t>Playfair</a:t>
            </a:r>
            <a:r>
              <a:rPr lang="en-AU" sz="2000" dirty="0">
                <a:latin typeface="CMSS12"/>
                <a:ea typeface="MS PGothic" pitchFamily="34" charset="-128"/>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81000" y="304800"/>
            <a:ext cx="8458200" cy="639763"/>
          </a:xfrm>
        </p:spPr>
        <p:txBody>
          <a:bodyPr/>
          <a:lstStyle/>
          <a:p>
            <a:r>
              <a:rPr lang="en-US" dirty="0" err="1" smtClean="0"/>
              <a:t>Playfair</a:t>
            </a:r>
            <a:r>
              <a:rPr lang="en-US" dirty="0" smtClean="0"/>
              <a:t> Cipher</a:t>
            </a:r>
          </a:p>
        </p:txBody>
      </p:sp>
      <p:sp>
        <p:nvSpPr>
          <p:cNvPr id="44035" name="Content Placeholder 2"/>
          <p:cNvSpPr>
            <a:spLocks noGrp="1"/>
          </p:cNvSpPr>
          <p:nvPr>
            <p:ph sz="quarter" idx="1"/>
          </p:nvPr>
        </p:nvSpPr>
        <p:spPr>
          <a:xfrm>
            <a:off x="533400" y="990600"/>
            <a:ext cx="8305800" cy="5562600"/>
          </a:xfrm>
        </p:spPr>
        <p:txBody>
          <a:bodyPr>
            <a:noAutofit/>
          </a:bodyPr>
          <a:lstStyle/>
          <a:p>
            <a:pPr>
              <a:lnSpc>
                <a:spcPts val="2800"/>
              </a:lnSpc>
              <a:buFontTx/>
              <a:buBlip>
                <a:blip r:embed="rId2"/>
              </a:buBlip>
            </a:pPr>
            <a:r>
              <a:rPr lang="en-US" dirty="0" smtClean="0">
                <a:latin typeface="CMSS12"/>
              </a:rPr>
              <a:t>Initialization</a:t>
            </a:r>
          </a:p>
          <a:p>
            <a:pPr>
              <a:lnSpc>
                <a:spcPts val="2800"/>
              </a:lnSpc>
              <a:buFontTx/>
              <a:buNone/>
            </a:pPr>
            <a:r>
              <a:rPr lang="en-US" dirty="0" smtClean="0">
                <a:latin typeface="CMSS12"/>
              </a:rPr>
              <a:t>	</a:t>
            </a:r>
            <a:r>
              <a:rPr lang="en-US" dirty="0" smtClean="0">
                <a:solidFill>
                  <a:schemeClr val="tx1"/>
                </a:solidFill>
                <a:latin typeface="CMSS12"/>
              </a:rPr>
              <a:t>1. Create 5x5 matrix and write keyword (row by row)</a:t>
            </a:r>
          </a:p>
          <a:p>
            <a:pPr>
              <a:lnSpc>
                <a:spcPts val="2800"/>
              </a:lnSpc>
              <a:buFontTx/>
              <a:buNone/>
            </a:pPr>
            <a:r>
              <a:rPr lang="en-US" dirty="0" smtClean="0">
                <a:solidFill>
                  <a:schemeClr val="tx1"/>
                </a:solidFill>
                <a:latin typeface="CMSS12"/>
              </a:rPr>
              <a:t>	2. Fill out remainder with alphabet, not repeating any</a:t>
            </a:r>
          </a:p>
          <a:p>
            <a:pPr>
              <a:lnSpc>
                <a:spcPts val="2800"/>
              </a:lnSpc>
              <a:buFontTx/>
              <a:buNone/>
            </a:pPr>
            <a:r>
              <a:rPr lang="en-US" dirty="0" smtClean="0">
                <a:solidFill>
                  <a:schemeClr val="tx1"/>
                </a:solidFill>
                <a:latin typeface="CMSS12"/>
              </a:rPr>
              <a:t>	letters</a:t>
            </a:r>
          </a:p>
          <a:p>
            <a:pPr>
              <a:lnSpc>
                <a:spcPts val="2800"/>
              </a:lnSpc>
              <a:buFontTx/>
              <a:buNone/>
            </a:pPr>
            <a:r>
              <a:rPr lang="en-US" dirty="0" smtClean="0">
                <a:solidFill>
                  <a:schemeClr val="tx1"/>
                </a:solidFill>
                <a:latin typeface="CMSS12"/>
              </a:rPr>
              <a:t>	3. Special: Treat I and J as same letter</a:t>
            </a:r>
          </a:p>
          <a:p>
            <a:pPr>
              <a:lnSpc>
                <a:spcPts val="2800"/>
              </a:lnSpc>
              <a:buFontTx/>
              <a:buBlip>
                <a:blip r:embed="rId2"/>
              </a:buBlip>
            </a:pPr>
            <a:r>
              <a:rPr lang="en-US" dirty="0" smtClean="0">
                <a:latin typeface="CMSS12"/>
              </a:rPr>
              <a:t>Encryption</a:t>
            </a:r>
          </a:p>
          <a:p>
            <a:pPr>
              <a:lnSpc>
                <a:spcPts val="2800"/>
              </a:lnSpc>
              <a:buFontTx/>
              <a:buNone/>
            </a:pPr>
            <a:r>
              <a:rPr lang="en-US" dirty="0" smtClean="0">
                <a:latin typeface="CMSS12"/>
              </a:rPr>
              <a:t>	</a:t>
            </a:r>
            <a:r>
              <a:rPr lang="en-US" dirty="0" smtClean="0">
                <a:solidFill>
                  <a:schemeClr val="tx1"/>
                </a:solidFill>
                <a:latin typeface="CMSS12"/>
              </a:rPr>
              <a:t>1. Operate on pair of letters (</a:t>
            </a:r>
            <a:r>
              <a:rPr lang="en-US" dirty="0" err="1" smtClean="0">
                <a:solidFill>
                  <a:schemeClr val="tx1"/>
                </a:solidFill>
                <a:latin typeface="CMSS12"/>
              </a:rPr>
              <a:t>digram</a:t>
            </a:r>
            <a:r>
              <a:rPr lang="en-US" dirty="0" smtClean="0">
                <a:solidFill>
                  <a:schemeClr val="tx1"/>
                </a:solidFill>
                <a:latin typeface="CMSS12"/>
              </a:rPr>
              <a:t>) at a time</a:t>
            </a:r>
          </a:p>
          <a:p>
            <a:pPr>
              <a:lnSpc>
                <a:spcPts val="2800"/>
              </a:lnSpc>
              <a:buFontTx/>
              <a:buNone/>
            </a:pPr>
            <a:r>
              <a:rPr lang="en-US" dirty="0" smtClean="0">
                <a:solidFill>
                  <a:schemeClr val="tx1"/>
                </a:solidFill>
                <a:latin typeface="CMSS12"/>
              </a:rPr>
              <a:t>	2. Special: if </a:t>
            </a:r>
            <a:r>
              <a:rPr lang="en-US" dirty="0" err="1" smtClean="0">
                <a:solidFill>
                  <a:schemeClr val="tx1"/>
                </a:solidFill>
                <a:latin typeface="CMSS12"/>
              </a:rPr>
              <a:t>digram</a:t>
            </a:r>
            <a:r>
              <a:rPr lang="en-US" dirty="0" smtClean="0">
                <a:solidFill>
                  <a:schemeClr val="tx1"/>
                </a:solidFill>
                <a:latin typeface="CMSS12"/>
              </a:rPr>
              <a:t> with same letters, separate by special</a:t>
            </a:r>
          </a:p>
          <a:p>
            <a:pPr>
              <a:lnSpc>
                <a:spcPts val="2800"/>
              </a:lnSpc>
              <a:buFontTx/>
              <a:buNone/>
            </a:pPr>
            <a:r>
              <a:rPr lang="en-US" dirty="0" smtClean="0">
                <a:solidFill>
                  <a:schemeClr val="tx1"/>
                </a:solidFill>
                <a:latin typeface="CMSS12"/>
              </a:rPr>
              <a:t>	letter (e.g</a:t>
            </a:r>
            <a:r>
              <a:rPr lang="en-US" dirty="0" smtClean="0">
                <a:solidFill>
                  <a:srgbClr val="FF0000"/>
                </a:solidFill>
                <a:latin typeface="CMSS12"/>
              </a:rPr>
              <a:t>. x</a:t>
            </a:r>
            <a:r>
              <a:rPr lang="en-US" dirty="0" smtClean="0">
                <a:solidFill>
                  <a:schemeClr val="tx1"/>
                </a:solidFill>
                <a:latin typeface="CMSS12"/>
              </a:rPr>
              <a:t>)</a:t>
            </a:r>
          </a:p>
          <a:p>
            <a:pPr>
              <a:lnSpc>
                <a:spcPts val="2800"/>
              </a:lnSpc>
              <a:buFontTx/>
              <a:buNone/>
            </a:pPr>
            <a:r>
              <a:rPr lang="en-US" dirty="0" smtClean="0">
                <a:solidFill>
                  <a:schemeClr val="tx1"/>
                </a:solidFill>
                <a:latin typeface="CMSS12"/>
              </a:rPr>
              <a:t>	3. Plaintext in </a:t>
            </a:r>
            <a:r>
              <a:rPr lang="en-US" dirty="0" smtClean="0">
                <a:solidFill>
                  <a:srgbClr val="FF0000"/>
                </a:solidFill>
                <a:latin typeface="CMSS12"/>
              </a:rPr>
              <a:t>same row</a:t>
            </a:r>
            <a:r>
              <a:rPr lang="en-US" dirty="0" smtClean="0">
                <a:solidFill>
                  <a:schemeClr val="tx1"/>
                </a:solidFill>
                <a:latin typeface="CMSS12"/>
              </a:rPr>
              <a:t>: replace with letters </a:t>
            </a:r>
            <a:r>
              <a:rPr lang="en-US" dirty="0" smtClean="0">
                <a:solidFill>
                  <a:srgbClr val="FF0000"/>
                </a:solidFill>
                <a:latin typeface="CMSS12"/>
              </a:rPr>
              <a:t>to right</a:t>
            </a:r>
          </a:p>
          <a:p>
            <a:pPr>
              <a:lnSpc>
                <a:spcPts val="2800"/>
              </a:lnSpc>
              <a:buFontTx/>
              <a:buNone/>
            </a:pPr>
            <a:r>
              <a:rPr lang="en-US" dirty="0" smtClean="0">
                <a:solidFill>
                  <a:schemeClr val="tx1"/>
                </a:solidFill>
                <a:latin typeface="CMSS12"/>
              </a:rPr>
              <a:t>	4. Plaintext in </a:t>
            </a:r>
            <a:r>
              <a:rPr lang="en-US" dirty="0" smtClean="0">
                <a:solidFill>
                  <a:srgbClr val="FF0000"/>
                </a:solidFill>
                <a:latin typeface="CMSS12"/>
              </a:rPr>
              <a:t>same column</a:t>
            </a:r>
            <a:r>
              <a:rPr lang="en-US" dirty="0" smtClean="0">
                <a:solidFill>
                  <a:schemeClr val="tx1"/>
                </a:solidFill>
                <a:latin typeface="CMSS12"/>
              </a:rPr>
              <a:t>: replace with letters </a:t>
            </a:r>
            <a:r>
              <a:rPr lang="en-US" dirty="0" smtClean="0">
                <a:solidFill>
                  <a:srgbClr val="FF0000"/>
                </a:solidFill>
                <a:latin typeface="CMSS12"/>
              </a:rPr>
              <a:t>below</a:t>
            </a:r>
          </a:p>
          <a:p>
            <a:pPr>
              <a:lnSpc>
                <a:spcPts val="2800"/>
              </a:lnSpc>
              <a:buFontTx/>
              <a:buNone/>
            </a:pPr>
            <a:r>
              <a:rPr lang="en-US" dirty="0" smtClean="0">
                <a:solidFill>
                  <a:schemeClr val="tx1"/>
                </a:solidFill>
                <a:latin typeface="CMSS12"/>
              </a:rPr>
              <a:t>	5. Else, replace by letter in same row as it and same</a:t>
            </a:r>
          </a:p>
          <a:p>
            <a:pPr>
              <a:lnSpc>
                <a:spcPts val="2800"/>
              </a:lnSpc>
              <a:buFontTx/>
              <a:buNone/>
            </a:pPr>
            <a:r>
              <a:rPr lang="en-US" dirty="0" smtClean="0">
                <a:solidFill>
                  <a:schemeClr val="tx1"/>
                </a:solidFill>
                <a:latin typeface="CMSS12"/>
              </a:rPr>
              <a:t>	column as other plaintext letter</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81000" y="304800"/>
            <a:ext cx="8458200" cy="639763"/>
          </a:xfrm>
        </p:spPr>
        <p:txBody>
          <a:bodyPr/>
          <a:lstStyle/>
          <a:p>
            <a:r>
              <a:rPr lang="en-US" dirty="0" err="1" smtClean="0"/>
              <a:t>Playfair</a:t>
            </a:r>
            <a:r>
              <a:rPr lang="en-US" dirty="0" smtClean="0"/>
              <a:t> Cipher</a:t>
            </a:r>
          </a:p>
        </p:txBody>
      </p:sp>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71600"/>
            <a:ext cx="5838825" cy="451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156832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81000" y="304800"/>
            <a:ext cx="8458200" cy="639763"/>
          </a:xfrm>
        </p:spPr>
        <p:txBody>
          <a:bodyPr/>
          <a:lstStyle/>
          <a:p>
            <a:r>
              <a:rPr lang="en-US" dirty="0" err="1" smtClean="0"/>
              <a:t>Playfair</a:t>
            </a:r>
            <a:r>
              <a:rPr lang="en-US" dirty="0" smtClean="0"/>
              <a:t> Cipher</a:t>
            </a:r>
          </a:p>
        </p:txBody>
      </p:sp>
      <p:pic>
        <p:nvPicPr>
          <p:cNvPr id="116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99" y="1652587"/>
            <a:ext cx="6352001" cy="383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511307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381000" y="457200"/>
            <a:ext cx="8458200" cy="639763"/>
          </a:xfrm>
        </p:spPr>
        <p:txBody>
          <a:bodyPr/>
          <a:lstStyle/>
          <a:p>
            <a:endParaRPr lang="en-US" smtClean="0"/>
          </a:p>
        </p:txBody>
      </p:sp>
      <p:pic>
        <p:nvPicPr>
          <p:cNvPr id="47107" name="Picture 2"/>
          <p:cNvPicPr>
            <a:picLocks noChangeAspect="1" noChangeArrowheads="1"/>
          </p:cNvPicPr>
          <p:nvPr/>
        </p:nvPicPr>
        <p:blipFill>
          <a:blip r:embed="rId2"/>
          <a:srcRect/>
          <a:stretch>
            <a:fillRect/>
          </a:stretch>
        </p:blipFill>
        <p:spPr bwMode="auto">
          <a:xfrm>
            <a:off x="609600" y="1295400"/>
            <a:ext cx="3810000" cy="2328863"/>
          </a:xfrm>
          <a:prstGeom prst="rect">
            <a:avLst/>
          </a:prstGeom>
          <a:noFill/>
          <a:ln w="9525">
            <a:noFill/>
            <a:miter lim="800000"/>
            <a:headEnd/>
            <a:tailEnd/>
          </a:ln>
        </p:spPr>
      </p:pic>
      <p:sp>
        <p:nvSpPr>
          <p:cNvPr id="47108" name="Rectangle 4"/>
          <p:cNvSpPr>
            <a:spLocks noChangeArrowheads="1"/>
          </p:cNvSpPr>
          <p:nvPr/>
        </p:nvSpPr>
        <p:spPr bwMode="auto">
          <a:xfrm>
            <a:off x="838200" y="3810000"/>
            <a:ext cx="7543800" cy="523875"/>
          </a:xfrm>
          <a:prstGeom prst="rect">
            <a:avLst/>
          </a:prstGeom>
          <a:noFill/>
          <a:ln w="9525">
            <a:noFill/>
            <a:miter lim="800000"/>
            <a:headEnd/>
            <a:tailEnd/>
          </a:ln>
        </p:spPr>
        <p:txBody>
          <a:bodyPr>
            <a:spAutoFit/>
          </a:bodyPr>
          <a:lstStyle/>
          <a:p>
            <a:r>
              <a:rPr lang="en-US" sz="2800" dirty="0"/>
              <a:t>In this case, the keyword is </a:t>
            </a:r>
            <a:r>
              <a:rPr lang="en-US" sz="2800" i="1" dirty="0">
                <a:solidFill>
                  <a:srgbClr val="FF0000"/>
                </a:solidFill>
              </a:rPr>
              <a:t>monarchy</a:t>
            </a:r>
            <a:r>
              <a:rPr lang="en-US" i="1" dirty="0">
                <a:solidFill>
                  <a:srgbClr val="FF0000"/>
                </a:solidFill>
              </a:rPr>
              <a:t>.</a:t>
            </a:r>
            <a:endParaRPr lang="en-US" dirty="0">
              <a:solidFill>
                <a:srgbClr val="FF0000"/>
              </a:solidFill>
            </a:endParaRPr>
          </a:p>
        </p:txBody>
      </p:sp>
      <p:sp>
        <p:nvSpPr>
          <p:cNvPr id="47109" name="Rectangle 5"/>
          <p:cNvSpPr>
            <a:spLocks noChangeArrowheads="1"/>
          </p:cNvSpPr>
          <p:nvPr/>
        </p:nvSpPr>
        <p:spPr bwMode="auto">
          <a:xfrm>
            <a:off x="914400" y="4572000"/>
            <a:ext cx="7391400" cy="523875"/>
          </a:xfrm>
          <a:prstGeom prst="rect">
            <a:avLst/>
          </a:prstGeom>
          <a:noFill/>
          <a:ln w="9525">
            <a:noFill/>
            <a:miter lim="800000"/>
            <a:headEnd/>
            <a:tailEnd/>
          </a:ln>
        </p:spPr>
        <p:txBody>
          <a:bodyPr>
            <a:spAutoFit/>
          </a:bodyPr>
          <a:lstStyle/>
          <a:p>
            <a:r>
              <a:rPr lang="en-US" sz="2800"/>
              <a:t>Plaintext is encrypted two letters at a time</a:t>
            </a:r>
            <a:r>
              <a:rPr lang="en-US"/>
              <a:t> </a:t>
            </a:r>
          </a:p>
        </p:txBody>
      </p:sp>
      <p:sp>
        <p:nvSpPr>
          <p:cNvPr id="47110" name="Rectangle 6"/>
          <p:cNvSpPr>
            <a:spLocks noChangeArrowheads="1"/>
          </p:cNvSpPr>
          <p:nvPr/>
        </p:nvSpPr>
        <p:spPr bwMode="auto">
          <a:xfrm>
            <a:off x="5715000" y="1295400"/>
            <a:ext cx="928688" cy="369888"/>
          </a:xfrm>
          <a:prstGeom prst="rect">
            <a:avLst/>
          </a:prstGeom>
          <a:noFill/>
          <a:ln w="9525">
            <a:noFill/>
            <a:miter lim="800000"/>
            <a:headEnd/>
            <a:tailEnd/>
          </a:ln>
        </p:spPr>
        <p:txBody>
          <a:bodyPr wrap="none">
            <a:spAutoFit/>
          </a:bodyPr>
          <a:lstStyle/>
          <a:p>
            <a:r>
              <a:rPr lang="en-US" dirty="0"/>
              <a:t>balloon</a:t>
            </a:r>
          </a:p>
        </p:txBody>
      </p:sp>
      <p:graphicFrame>
        <p:nvGraphicFramePr>
          <p:cNvPr id="8" name="Table 7"/>
          <p:cNvGraphicFramePr>
            <a:graphicFrameLocks noGrp="1"/>
          </p:cNvGraphicFramePr>
          <p:nvPr>
            <p:extLst>
              <p:ext uri="{D42A27DB-BD31-4B8C-83A1-F6EECF244321}">
                <p14:modId xmlns:p14="http://schemas.microsoft.com/office/powerpoint/2010/main" val="3145825156"/>
              </p:ext>
            </p:extLst>
          </p:nvPr>
        </p:nvGraphicFramePr>
        <p:xfrm>
          <a:off x="5257800" y="1143000"/>
          <a:ext cx="3505200" cy="2286000"/>
        </p:xfrm>
        <a:graphic>
          <a:graphicData uri="http://schemas.openxmlformats.org/drawingml/2006/table">
            <a:tbl>
              <a:tblPr firstRow="1" bandRow="1">
                <a:tableStyleId>{5C22544A-7EE6-4342-B048-85BDC9FD1C3A}</a:tableStyleId>
              </a:tblPr>
              <a:tblGrid>
                <a:gridCol w="1752600"/>
                <a:gridCol w="1752600"/>
              </a:tblGrid>
              <a:tr h="406400">
                <a:tc>
                  <a:txBody>
                    <a:bodyPr/>
                    <a:lstStyle/>
                    <a:p>
                      <a:endParaRPr lang="en-US" sz="2400" dirty="0">
                        <a:solidFill>
                          <a:schemeClr val="tx1"/>
                        </a:solidFill>
                      </a:endParaRPr>
                    </a:p>
                  </a:txBody>
                  <a:tcPr>
                    <a:noFill/>
                  </a:tcPr>
                </a:tc>
                <a:tc>
                  <a:txBody>
                    <a:bodyPr/>
                    <a:lstStyle/>
                    <a:p>
                      <a:r>
                        <a:rPr lang="en-US" sz="2400" dirty="0" err="1" smtClean="0">
                          <a:solidFill>
                            <a:schemeClr val="tx1"/>
                          </a:solidFill>
                        </a:rPr>
                        <a:t>balxloxon</a:t>
                      </a:r>
                      <a:endParaRPr lang="en-US" sz="2400" dirty="0">
                        <a:solidFill>
                          <a:schemeClr val="tx1"/>
                        </a:solidFill>
                      </a:endParaRPr>
                    </a:p>
                  </a:txBody>
                  <a:tcPr>
                    <a:noFill/>
                  </a:tcPr>
                </a:tc>
              </a:tr>
              <a:tr h="406400">
                <a:tc>
                  <a:txBody>
                    <a:bodyPr/>
                    <a:lstStyle/>
                    <a:p>
                      <a:r>
                        <a:rPr lang="en-US" sz="2400" dirty="0" err="1" smtClean="0">
                          <a:solidFill>
                            <a:schemeClr val="tx1"/>
                          </a:solidFill>
                        </a:rPr>
                        <a:t>ar</a:t>
                      </a:r>
                      <a:endParaRPr lang="en-US" sz="2400" dirty="0">
                        <a:solidFill>
                          <a:schemeClr val="tx1"/>
                        </a:solidFill>
                      </a:endParaRPr>
                    </a:p>
                  </a:txBody>
                  <a:tcPr>
                    <a:noFill/>
                  </a:tcPr>
                </a:tc>
                <a:tc>
                  <a:txBody>
                    <a:bodyPr/>
                    <a:lstStyle/>
                    <a:p>
                      <a:r>
                        <a:rPr lang="en-US" sz="2400" dirty="0" smtClean="0">
                          <a:solidFill>
                            <a:schemeClr val="tx1"/>
                          </a:solidFill>
                        </a:rPr>
                        <a:t>RM</a:t>
                      </a:r>
                      <a:endParaRPr lang="en-US" sz="2400" dirty="0">
                        <a:solidFill>
                          <a:schemeClr val="tx1"/>
                        </a:solidFill>
                      </a:endParaRPr>
                    </a:p>
                  </a:txBody>
                  <a:tcPr>
                    <a:noFill/>
                  </a:tcPr>
                </a:tc>
              </a:tr>
              <a:tr h="406400">
                <a:tc>
                  <a:txBody>
                    <a:bodyPr/>
                    <a:lstStyle/>
                    <a:p>
                      <a:r>
                        <a:rPr lang="en-US" sz="2400" dirty="0" smtClean="0">
                          <a:solidFill>
                            <a:schemeClr val="tx1"/>
                          </a:solidFill>
                        </a:rPr>
                        <a:t>mu</a:t>
                      </a:r>
                      <a:endParaRPr lang="en-US" sz="2400" dirty="0">
                        <a:solidFill>
                          <a:schemeClr val="tx1"/>
                        </a:solidFill>
                      </a:endParaRPr>
                    </a:p>
                  </a:txBody>
                  <a:tcPr>
                    <a:noFill/>
                  </a:tcPr>
                </a:tc>
                <a:tc>
                  <a:txBody>
                    <a:bodyPr/>
                    <a:lstStyle/>
                    <a:p>
                      <a:r>
                        <a:rPr lang="en-US" sz="2400" dirty="0" smtClean="0">
                          <a:solidFill>
                            <a:schemeClr val="tx1"/>
                          </a:solidFill>
                        </a:rPr>
                        <a:t>CM</a:t>
                      </a:r>
                      <a:endParaRPr lang="en-US" sz="2400" dirty="0">
                        <a:solidFill>
                          <a:schemeClr val="tx1"/>
                        </a:solidFill>
                      </a:endParaRPr>
                    </a:p>
                  </a:txBody>
                  <a:tcPr>
                    <a:noFill/>
                  </a:tcPr>
                </a:tc>
              </a:tr>
              <a:tr h="406400">
                <a:tc>
                  <a:txBody>
                    <a:bodyPr/>
                    <a:lstStyle/>
                    <a:p>
                      <a:r>
                        <a:rPr lang="en-US" sz="2400" dirty="0" err="1" smtClean="0">
                          <a:solidFill>
                            <a:schemeClr val="tx1"/>
                          </a:solidFill>
                        </a:rPr>
                        <a:t>hs</a:t>
                      </a:r>
                      <a:endParaRPr lang="en-US" sz="2400" dirty="0">
                        <a:solidFill>
                          <a:schemeClr val="tx1"/>
                        </a:solidFill>
                      </a:endParaRPr>
                    </a:p>
                  </a:txBody>
                  <a:tcPr>
                    <a:noFill/>
                  </a:tcPr>
                </a:tc>
                <a:tc>
                  <a:txBody>
                    <a:bodyPr/>
                    <a:lstStyle/>
                    <a:p>
                      <a:r>
                        <a:rPr lang="en-US" sz="2400" dirty="0" smtClean="0">
                          <a:solidFill>
                            <a:schemeClr val="tx1"/>
                          </a:solidFill>
                        </a:rPr>
                        <a:t>BP</a:t>
                      </a:r>
                      <a:endParaRPr lang="en-US" sz="2400" dirty="0">
                        <a:solidFill>
                          <a:schemeClr val="tx1"/>
                        </a:solidFill>
                      </a:endParaRPr>
                    </a:p>
                  </a:txBody>
                  <a:tcPr>
                    <a:noFill/>
                  </a:tcPr>
                </a:tc>
              </a:tr>
              <a:tr h="406400">
                <a:tc>
                  <a:txBody>
                    <a:bodyPr/>
                    <a:lstStyle/>
                    <a:p>
                      <a:r>
                        <a:rPr lang="en-US" sz="2400" dirty="0" smtClean="0">
                          <a:solidFill>
                            <a:schemeClr val="tx1"/>
                          </a:solidFill>
                        </a:rPr>
                        <a:t>ea</a:t>
                      </a:r>
                      <a:endParaRPr lang="en-US" sz="2400" dirty="0">
                        <a:solidFill>
                          <a:schemeClr val="tx1"/>
                        </a:solidFill>
                      </a:endParaRPr>
                    </a:p>
                  </a:txBody>
                  <a:tcPr>
                    <a:noFill/>
                  </a:tcPr>
                </a:tc>
                <a:tc>
                  <a:txBody>
                    <a:bodyPr/>
                    <a:lstStyle/>
                    <a:p>
                      <a:r>
                        <a:rPr lang="en-US" sz="2400" dirty="0" smtClean="0">
                          <a:solidFill>
                            <a:schemeClr val="tx1"/>
                          </a:solidFill>
                        </a:rPr>
                        <a:t>IM</a:t>
                      </a:r>
                      <a:endParaRPr lang="en-US" sz="2400" dirty="0">
                        <a:solidFill>
                          <a:schemeClr val="tx1"/>
                        </a:solidFill>
                      </a:endParaRPr>
                    </a:p>
                  </a:txBody>
                  <a:tcPr>
                    <a:noFill/>
                  </a:tcPr>
                </a:tc>
              </a:tr>
            </a:tbl>
          </a:graphicData>
        </a:graphic>
      </p:graphicFrame>
      <p:pic>
        <p:nvPicPr>
          <p:cNvPr id="113666" name="Picture 2" descr="Image result for ballo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7062" y="4833937"/>
            <a:ext cx="1037475" cy="1347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p:cNvPicPr>
            <a:picLocks noChangeAspect="1" noChangeArrowheads="1"/>
          </p:cNvPicPr>
          <p:nvPr/>
        </p:nvPicPr>
        <p:blipFill>
          <a:blip r:embed="rId2"/>
          <a:srcRect/>
          <a:stretch>
            <a:fillRect/>
          </a:stretch>
        </p:blipFill>
        <p:spPr bwMode="auto">
          <a:xfrm>
            <a:off x="1828800" y="1600200"/>
            <a:ext cx="4805363" cy="2357437"/>
          </a:xfrm>
          <a:prstGeom prst="rect">
            <a:avLst/>
          </a:prstGeom>
          <a:noFill/>
          <a:ln w="9525">
            <a:noFill/>
            <a:miter lim="800000"/>
            <a:headEnd/>
            <a:tailEnd/>
          </a:ln>
        </p:spPr>
      </p:pic>
      <p:sp>
        <p:nvSpPr>
          <p:cNvPr id="3" name="Rectangle 15"/>
          <p:cNvSpPr>
            <a:spLocks noChangeArrowheads="1"/>
          </p:cNvSpPr>
          <p:nvPr/>
        </p:nvSpPr>
        <p:spPr bwMode="auto">
          <a:xfrm>
            <a:off x="152400" y="4800600"/>
            <a:ext cx="8839200" cy="457200"/>
          </a:xfrm>
          <a:prstGeom prst="rect">
            <a:avLst/>
          </a:prstGeom>
          <a:noFill/>
          <a:ln w="9525">
            <a:noFill/>
            <a:miter lim="800000"/>
            <a:headEnd/>
            <a:tailEnd/>
          </a:ln>
        </p:spPr>
        <p:txBody>
          <a:bodyPr anchor="ctr">
            <a:spAutoFit/>
          </a:bodyPr>
          <a:lstStyle/>
          <a:p>
            <a:pPr algn="just" eaLnBrk="1" hangingPunct="1"/>
            <a:r>
              <a:rPr lang="en-US" sz="2400" i="0" baseline="0" dirty="0"/>
              <a:t>Let us encrypt the plaintext “hello” using the key in Figure </a:t>
            </a:r>
            <a:r>
              <a:rPr lang="en-US" sz="2400" i="0" baseline="0" dirty="0" smtClean="0"/>
              <a:t> </a:t>
            </a:r>
            <a:endParaRPr lang="en-US" sz="2400" i="0" baseline="0" dirty="0"/>
          </a:p>
        </p:txBody>
      </p:sp>
      <p:pic>
        <p:nvPicPr>
          <p:cNvPr id="4" name="Picture 16"/>
          <p:cNvPicPr>
            <a:picLocks noChangeAspect="1" noChangeArrowheads="1"/>
          </p:cNvPicPr>
          <p:nvPr/>
        </p:nvPicPr>
        <p:blipFill>
          <a:blip r:embed="rId3"/>
          <a:srcRect/>
          <a:stretch>
            <a:fillRect/>
          </a:stretch>
        </p:blipFill>
        <p:spPr bwMode="auto">
          <a:xfrm>
            <a:off x="457200" y="5334000"/>
            <a:ext cx="8062913" cy="958850"/>
          </a:xfrm>
          <a:prstGeom prst="rect">
            <a:avLst/>
          </a:prstGeom>
          <a:noFill/>
          <a:ln w="9525">
            <a:noFill/>
            <a:miter lim="800000"/>
            <a:headEnd/>
            <a:tailEnd/>
          </a:ln>
        </p:spPr>
      </p:pic>
      <p:sp>
        <p:nvSpPr>
          <p:cNvPr id="5" name="Text Box 17"/>
          <p:cNvSpPr txBox="1">
            <a:spLocks noChangeArrowheads="1"/>
          </p:cNvSpPr>
          <p:nvPr/>
        </p:nvSpPr>
        <p:spPr bwMode="auto">
          <a:xfrm>
            <a:off x="228600" y="42672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6" name="Rectangle 5"/>
          <p:cNvSpPr/>
          <p:nvPr/>
        </p:nvSpPr>
        <p:spPr>
          <a:xfrm>
            <a:off x="533400" y="457200"/>
            <a:ext cx="8382000" cy="523220"/>
          </a:xfrm>
          <a:prstGeom prst="rect">
            <a:avLst/>
          </a:prstGeom>
        </p:spPr>
        <p:txBody>
          <a:bodyPr wrap="square">
            <a:spAutoFit/>
          </a:bodyPr>
          <a:lstStyle/>
          <a:p>
            <a:r>
              <a:rPr lang="en-US" sz="2800" baseline="0" dirty="0" smtClean="0">
                <a:solidFill>
                  <a:srgbClr val="FF0000"/>
                </a:solidFill>
              </a:rPr>
              <a:t>An example of a secret key in the </a:t>
            </a:r>
            <a:r>
              <a:rPr lang="en-US" sz="2800" baseline="0" dirty="0" err="1" smtClean="0">
                <a:solidFill>
                  <a:srgbClr val="FF0000"/>
                </a:solidFill>
              </a:rPr>
              <a:t>Playfair</a:t>
            </a:r>
            <a:r>
              <a:rPr lang="en-US" sz="2800" baseline="0" dirty="0" smtClean="0">
                <a:solidFill>
                  <a:srgbClr val="FF0000"/>
                </a:solidFill>
              </a:rPr>
              <a:t> cipher</a:t>
            </a:r>
            <a:endParaRPr lang="en-US" sz="2800" dirty="0">
              <a:solidFill>
                <a:srgbClr val="FF00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3400" y="457200"/>
            <a:ext cx="8382000" cy="523220"/>
          </a:xfrm>
          <a:prstGeom prst="rect">
            <a:avLst/>
          </a:prstGeom>
        </p:spPr>
        <p:txBody>
          <a:bodyPr wrap="square">
            <a:spAutoFit/>
          </a:bodyPr>
          <a:lstStyle/>
          <a:p>
            <a:r>
              <a:rPr lang="en-US" sz="2800" baseline="0" dirty="0" smtClean="0">
                <a:solidFill>
                  <a:srgbClr val="FF0000"/>
                </a:solidFill>
              </a:rPr>
              <a:t>An example of a secret key in the </a:t>
            </a:r>
            <a:r>
              <a:rPr lang="en-US" sz="2800" baseline="0" dirty="0" err="1" smtClean="0">
                <a:solidFill>
                  <a:srgbClr val="FF0000"/>
                </a:solidFill>
              </a:rPr>
              <a:t>Playfair</a:t>
            </a:r>
            <a:r>
              <a:rPr lang="en-US" sz="2800" baseline="0" dirty="0" smtClean="0">
                <a:solidFill>
                  <a:srgbClr val="FF0000"/>
                </a:solidFill>
              </a:rPr>
              <a:t> cipher</a:t>
            </a:r>
            <a:endParaRPr lang="en-US" sz="2800" dirty="0">
              <a:solidFill>
                <a:srgbClr val="FF0000"/>
              </a:solidFill>
            </a:endParaRPr>
          </a:p>
        </p:txBody>
      </p:sp>
      <p:pic>
        <p:nvPicPr>
          <p:cNvPr id="117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7287" y="1447800"/>
            <a:ext cx="6753225"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60354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3400" y="457200"/>
            <a:ext cx="8382000" cy="523220"/>
          </a:xfrm>
          <a:prstGeom prst="rect">
            <a:avLst/>
          </a:prstGeom>
        </p:spPr>
        <p:txBody>
          <a:bodyPr wrap="square">
            <a:spAutoFit/>
          </a:bodyPr>
          <a:lstStyle/>
          <a:p>
            <a:r>
              <a:rPr lang="en-US" sz="2800" baseline="0" dirty="0" smtClean="0">
                <a:solidFill>
                  <a:srgbClr val="FF0000"/>
                </a:solidFill>
              </a:rPr>
              <a:t>An example of a secret key in the </a:t>
            </a:r>
            <a:r>
              <a:rPr lang="en-US" sz="2800" baseline="0" dirty="0" err="1" smtClean="0">
                <a:solidFill>
                  <a:srgbClr val="FF0000"/>
                </a:solidFill>
              </a:rPr>
              <a:t>Playfair</a:t>
            </a:r>
            <a:r>
              <a:rPr lang="en-US" sz="2800" baseline="0" dirty="0" smtClean="0">
                <a:solidFill>
                  <a:srgbClr val="FF0000"/>
                </a:solidFill>
              </a:rPr>
              <a:t> cipher</a:t>
            </a:r>
            <a:endParaRPr lang="en-US" sz="2800" dirty="0">
              <a:solidFill>
                <a:srgbClr val="FF0000"/>
              </a:solidFill>
            </a:endParaRPr>
          </a:p>
        </p:txBody>
      </p:sp>
      <p:pic>
        <p:nvPicPr>
          <p:cNvPr id="118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385888"/>
            <a:ext cx="549592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744319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743700" y="457200"/>
            <a:ext cx="2057400" cy="523220"/>
          </a:xfrm>
          <a:prstGeom prst="rect">
            <a:avLst/>
          </a:prstGeom>
        </p:spPr>
        <p:txBody>
          <a:bodyPr wrap="square">
            <a:spAutoFit/>
          </a:bodyPr>
          <a:lstStyle/>
          <a:p>
            <a:r>
              <a:rPr lang="en-US" sz="2800" dirty="0" smtClean="0">
                <a:solidFill>
                  <a:srgbClr val="FF0000"/>
                </a:solidFill>
              </a:rPr>
              <a:t>Exercise</a:t>
            </a:r>
            <a:endParaRPr lang="en-US" sz="2800" dirty="0">
              <a:solidFill>
                <a:srgbClr val="FF0000"/>
              </a:solidFill>
            </a:endParaRPr>
          </a:p>
        </p:txBody>
      </p:sp>
      <p:pic>
        <p:nvPicPr>
          <p:cNvPr id="119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99" y="1676400"/>
            <a:ext cx="681843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894804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81000" y="457200"/>
            <a:ext cx="8458200" cy="639763"/>
          </a:xfrm>
        </p:spPr>
        <p:txBody>
          <a:bodyPr>
            <a:normAutofit fontScale="90000"/>
          </a:bodyPr>
          <a:lstStyle/>
          <a:p>
            <a:r>
              <a:rPr lang="en-US" sz="2800" dirty="0" smtClean="0"/>
              <a:t>Measuring Effectiveness of the </a:t>
            </a:r>
            <a:r>
              <a:rPr lang="en-US" sz="2800" dirty="0" err="1" smtClean="0"/>
              <a:t>Playfair</a:t>
            </a:r>
            <a:r>
              <a:rPr lang="en-US" sz="2800" dirty="0" smtClean="0"/>
              <a:t> and other ciphers</a:t>
            </a:r>
          </a:p>
        </p:txBody>
      </p:sp>
      <p:sp>
        <p:nvSpPr>
          <p:cNvPr id="45059" name="Content Placeholder 2"/>
          <p:cNvSpPr>
            <a:spLocks noGrp="1"/>
          </p:cNvSpPr>
          <p:nvPr>
            <p:ph sz="quarter" idx="1"/>
          </p:nvPr>
        </p:nvSpPr>
        <p:spPr>
          <a:xfrm>
            <a:off x="381000" y="1371600"/>
            <a:ext cx="8001000" cy="4876800"/>
          </a:xfrm>
        </p:spPr>
        <p:txBody>
          <a:bodyPr>
            <a:normAutofit/>
          </a:bodyPr>
          <a:lstStyle/>
          <a:p>
            <a:pPr algn="just">
              <a:buFontTx/>
              <a:buBlip>
                <a:blip r:embed="rId2"/>
              </a:buBlip>
            </a:pPr>
            <a:r>
              <a:rPr lang="en-US" dirty="0" smtClean="0">
                <a:solidFill>
                  <a:schemeClr val="tx1"/>
                </a:solidFill>
              </a:rPr>
              <a:t>The following plot is developed:  </a:t>
            </a:r>
            <a:r>
              <a:rPr lang="en-US" dirty="0" smtClean="0">
                <a:solidFill>
                  <a:srgbClr val="009900"/>
                </a:solidFill>
              </a:rPr>
              <a:t>(i)</a:t>
            </a:r>
            <a:r>
              <a:rPr lang="en-US" dirty="0" smtClean="0">
                <a:solidFill>
                  <a:srgbClr val="FF0000"/>
                </a:solidFill>
              </a:rPr>
              <a:t> </a:t>
            </a:r>
            <a:r>
              <a:rPr lang="en-US" dirty="0" smtClean="0">
                <a:solidFill>
                  <a:schemeClr val="tx1"/>
                </a:solidFill>
              </a:rPr>
              <a:t>The number of </a:t>
            </a:r>
            <a:r>
              <a:rPr lang="en-US" dirty="0" smtClean="0">
                <a:solidFill>
                  <a:srgbClr val="FF0000"/>
                </a:solidFill>
              </a:rPr>
              <a:t>occurrences of each letter </a:t>
            </a:r>
            <a:r>
              <a:rPr lang="en-US" dirty="0" smtClean="0">
                <a:solidFill>
                  <a:schemeClr val="tx1"/>
                </a:solidFill>
              </a:rPr>
              <a:t>in the text is counted and divided by the number of occurrences of the </a:t>
            </a:r>
            <a:r>
              <a:rPr lang="en-US" dirty="0" smtClean="0">
                <a:solidFill>
                  <a:srgbClr val="FF0000"/>
                </a:solidFill>
              </a:rPr>
              <a:t>most</a:t>
            </a:r>
            <a:r>
              <a:rPr lang="en-US" dirty="0" smtClean="0">
                <a:solidFill>
                  <a:schemeClr val="tx1"/>
                </a:solidFill>
              </a:rPr>
              <a:t> </a:t>
            </a:r>
            <a:r>
              <a:rPr lang="en-US" dirty="0" smtClean="0">
                <a:solidFill>
                  <a:srgbClr val="FF0000"/>
                </a:solidFill>
              </a:rPr>
              <a:t>frequently</a:t>
            </a:r>
            <a:r>
              <a:rPr lang="en-US" dirty="0" smtClean="0">
                <a:solidFill>
                  <a:schemeClr val="tx1"/>
                </a:solidFill>
              </a:rPr>
              <a:t> used letter. </a:t>
            </a:r>
            <a:r>
              <a:rPr lang="en-US" dirty="0" smtClean="0"/>
              <a:t>e is the most frequently used letter.</a:t>
            </a:r>
          </a:p>
          <a:p>
            <a:pPr algn="just">
              <a:buFontTx/>
              <a:buBlip>
                <a:blip r:embed="rId2"/>
              </a:buBlip>
            </a:pPr>
            <a:endParaRPr lang="en-US" dirty="0" smtClean="0">
              <a:solidFill>
                <a:schemeClr val="tx1"/>
              </a:solidFill>
            </a:endParaRPr>
          </a:p>
          <a:p>
            <a:pPr algn="just">
              <a:buFontTx/>
              <a:buBlip>
                <a:blip r:embed="rId2"/>
              </a:buBlip>
            </a:pPr>
            <a:r>
              <a:rPr lang="en-US" dirty="0" smtClean="0"/>
              <a:t>To normalize the plot, the number of occurrences of each letter in the </a:t>
            </a:r>
            <a:r>
              <a:rPr lang="en-US" dirty="0" err="1" smtClean="0">
                <a:solidFill>
                  <a:srgbClr val="FF0000"/>
                </a:solidFill>
              </a:rPr>
              <a:t>ciphertext</a:t>
            </a:r>
            <a:r>
              <a:rPr lang="en-US" dirty="0" smtClean="0"/>
              <a:t> was again divided by the number of </a:t>
            </a:r>
            <a:r>
              <a:rPr lang="en-US" dirty="0" err="1" smtClean="0"/>
              <a:t>ccurrences</a:t>
            </a:r>
            <a:r>
              <a:rPr lang="en-US" dirty="0" smtClean="0"/>
              <a:t> </a:t>
            </a:r>
            <a:r>
              <a:rPr lang="en-US" dirty="0" smtClean="0">
                <a:solidFill>
                  <a:srgbClr val="FF0000"/>
                </a:solidFill>
              </a:rPr>
              <a:t>of e in the plaintext.</a:t>
            </a:r>
          </a:p>
          <a:p>
            <a:pPr algn="just">
              <a:buFontTx/>
              <a:buBlip>
                <a:blip r:embed="rId2"/>
              </a:buBlip>
            </a:pPr>
            <a:endParaRPr lang="en-US" dirty="0" smtClean="0">
              <a:solidFill>
                <a:srgbClr val="FF0000"/>
              </a:solidFill>
            </a:endParaRPr>
          </a:p>
          <a:p>
            <a:pPr algn="just">
              <a:buFontTx/>
              <a:buBlip>
                <a:blip r:embed="rId2"/>
              </a:buBlip>
            </a:pPr>
            <a:r>
              <a:rPr lang="en-US" dirty="0" smtClean="0"/>
              <a:t>If the frequency distribution information were totally concealed in the encryption process, the </a:t>
            </a:r>
            <a:r>
              <a:rPr lang="en-US" dirty="0" err="1" smtClean="0"/>
              <a:t>ciphertext</a:t>
            </a:r>
            <a:r>
              <a:rPr lang="en-US" dirty="0" smtClean="0"/>
              <a:t> plot</a:t>
            </a:r>
          </a:p>
          <a:p>
            <a:pPr algn="just">
              <a:buFontTx/>
              <a:buNone/>
            </a:pPr>
            <a:r>
              <a:rPr lang="en-US" dirty="0" smtClean="0"/>
              <a:t>     of frequencies would be </a:t>
            </a:r>
            <a:r>
              <a:rPr lang="en-US" dirty="0" smtClean="0">
                <a:solidFill>
                  <a:srgbClr val="FF0000"/>
                </a:solidFill>
              </a:rPr>
              <a:t>flat</a:t>
            </a:r>
            <a:r>
              <a:rPr lang="en-US" dirty="0" smtClean="0"/>
              <a:t>, and cryptanalysis using </a:t>
            </a:r>
            <a:r>
              <a:rPr lang="en-US" dirty="0" err="1" smtClean="0"/>
              <a:t>ciphertext</a:t>
            </a:r>
            <a:r>
              <a:rPr lang="en-US" dirty="0" smtClean="0"/>
              <a:t> only would be effectively impossible.</a:t>
            </a:r>
            <a:endParaRPr lang="en-US" dirty="0" smtClean="0">
              <a:solidFill>
                <a:srgbClr val="FF0000"/>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81000" y="457200"/>
            <a:ext cx="8458200" cy="639763"/>
          </a:xfrm>
        </p:spPr>
        <p:txBody>
          <a:bodyPr>
            <a:normAutofit/>
          </a:bodyPr>
          <a:lstStyle/>
          <a:p>
            <a:r>
              <a:rPr lang="en-US" dirty="0"/>
              <a:t>Relative Frequency of Occurrence of Letters</a:t>
            </a:r>
            <a:endParaRPr lang="en-US" sz="2800" dirty="0" smtClean="0"/>
          </a:p>
        </p:txBody>
      </p:sp>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0"/>
            <a:ext cx="6248400" cy="420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254020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1"/>
          <p:cNvSpPr txBox="1">
            <a:spLocks noChangeArrowheads="1"/>
          </p:cNvSpPr>
          <p:nvPr/>
        </p:nvSpPr>
        <p:spPr bwMode="auto">
          <a:xfrm>
            <a:off x="2438400" y="231774"/>
            <a:ext cx="6553200" cy="941387"/>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3200" dirty="0">
                <a:solidFill>
                  <a:srgbClr val="FF0000"/>
                </a:solidFill>
                <a:ea typeface="MS PGothic" pitchFamily="34" charset="-128"/>
              </a:rPr>
              <a:t>Security of </a:t>
            </a:r>
            <a:r>
              <a:rPr lang="en-AU" sz="3200" dirty="0" err="1">
                <a:solidFill>
                  <a:srgbClr val="FF0000"/>
                </a:solidFill>
                <a:ea typeface="MS PGothic" pitchFamily="34" charset="-128"/>
              </a:rPr>
              <a:t>Playfair</a:t>
            </a:r>
            <a:r>
              <a:rPr lang="en-AU" sz="3200" dirty="0">
                <a:solidFill>
                  <a:srgbClr val="FF0000"/>
                </a:solidFill>
                <a:ea typeface="MS PGothic" pitchFamily="34" charset="-128"/>
              </a:rPr>
              <a:t> Cipher</a:t>
            </a:r>
          </a:p>
        </p:txBody>
      </p:sp>
      <p:sp>
        <p:nvSpPr>
          <p:cNvPr id="48132" name="Rectangle 3"/>
          <p:cNvSpPr>
            <a:spLocks noChangeArrowheads="1"/>
          </p:cNvSpPr>
          <p:nvPr/>
        </p:nvSpPr>
        <p:spPr bwMode="auto">
          <a:xfrm>
            <a:off x="7286625" y="6411913"/>
            <a:ext cx="184150" cy="366712"/>
          </a:xfrm>
          <a:prstGeom prst="rect">
            <a:avLst/>
          </a:prstGeom>
          <a:noFill/>
          <a:ln w="9525">
            <a:noFill/>
            <a:round/>
            <a:headEnd/>
            <a:tailEnd/>
          </a:ln>
        </p:spPr>
        <p:txBody>
          <a:bodyPr wrap="none" anchor="ctr"/>
          <a:lstStyle/>
          <a:p>
            <a:endParaRPr lang="en-US"/>
          </a:p>
        </p:txBody>
      </p:sp>
      <p:sp>
        <p:nvSpPr>
          <p:cNvPr id="5" name="Content Placeholder 2"/>
          <p:cNvSpPr txBox="1">
            <a:spLocks/>
          </p:cNvSpPr>
          <p:nvPr/>
        </p:nvSpPr>
        <p:spPr>
          <a:xfrm>
            <a:off x="609600" y="1676400"/>
            <a:ext cx="8077200" cy="335280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000" kern="1200">
                <a:solidFill>
                  <a:srgbClr val="0000FF"/>
                </a:solidFill>
                <a:latin typeface="Arial" pitchFamily="34" charset="0"/>
                <a:ea typeface="+mn-ea"/>
                <a:cs typeface="Arial" pitchFamily="34" charset="0"/>
              </a:defRPr>
            </a:lvl1pPr>
            <a:lvl2pPr marL="548640" indent="-274320" algn="l" rtl="0" eaLnBrk="1" latinLnBrk="0" hangingPunct="1">
              <a:spcBef>
                <a:spcPts val="500"/>
              </a:spcBef>
              <a:buClr>
                <a:schemeClr val="accent2"/>
              </a:buClr>
              <a:buSzPct val="76000"/>
              <a:buFont typeface="Wingdings 3"/>
              <a:buChar char=""/>
              <a:defRPr kumimoji="0" sz="2000" kern="1200">
                <a:solidFill>
                  <a:srgbClr val="000000"/>
                </a:solidFill>
                <a:latin typeface="Arial" pitchFamily="34" charset="0"/>
                <a:ea typeface="+mn-ea"/>
                <a:cs typeface="Arial" pitchFamily="34" charset="0"/>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rgbClr val="000000"/>
                </a:solidFill>
                <a:latin typeface="Arial" pitchFamily="34" charset="0"/>
                <a:ea typeface="+mn-ea"/>
                <a:cs typeface="Arial"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2000" kern="1200">
                <a:solidFill>
                  <a:srgbClr val="000000"/>
                </a:solidFill>
                <a:latin typeface="Arial" pitchFamily="34" charset="0"/>
                <a:ea typeface="+mn-ea"/>
                <a:cs typeface="Arial" pitchFamily="34" charset="0"/>
              </a:defRPr>
            </a:lvl4pPr>
            <a:lvl5pPr marL="1371600" indent="-228600" algn="l" rtl="0" eaLnBrk="1" latinLnBrk="0" hangingPunct="1">
              <a:spcBef>
                <a:spcPts val="300"/>
              </a:spcBef>
              <a:buClr>
                <a:schemeClr val="accent2"/>
              </a:buClr>
              <a:buSzPct val="70000"/>
              <a:buFont typeface="Wingdings"/>
              <a:buChar char=""/>
              <a:defRPr kumimoji="0" sz="2000" kern="1200">
                <a:solidFill>
                  <a:srgbClr val="000000"/>
                </a:solidFill>
                <a:latin typeface="Arial" pitchFamily="34" charset="0"/>
                <a:ea typeface="+mn-ea"/>
                <a:cs typeface="Arial"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FontTx/>
              <a:buBlip>
                <a:blip r:embed="rId3"/>
              </a:buBlip>
            </a:pPr>
            <a:r>
              <a:rPr lang="en-US" dirty="0">
                <a:solidFill>
                  <a:schemeClr val="tx1"/>
                </a:solidFill>
              </a:rPr>
              <a:t>S</a:t>
            </a:r>
            <a:r>
              <a:rPr lang="en-US" dirty="0" smtClean="0">
                <a:solidFill>
                  <a:schemeClr val="tx1"/>
                </a:solidFill>
              </a:rPr>
              <a:t>ecurity much improved over </a:t>
            </a:r>
            <a:r>
              <a:rPr lang="en-US" dirty="0" err="1" smtClean="0">
                <a:solidFill>
                  <a:schemeClr val="tx1"/>
                </a:solidFill>
              </a:rPr>
              <a:t>monoalphabetic</a:t>
            </a:r>
            <a:r>
              <a:rPr lang="en-US" dirty="0" smtClean="0">
                <a:solidFill>
                  <a:schemeClr val="tx1"/>
                </a:solidFill>
              </a:rPr>
              <a:t>  since have 26 x 26 = 676 </a:t>
            </a:r>
            <a:r>
              <a:rPr lang="en-US" dirty="0" err="1" smtClean="0">
                <a:solidFill>
                  <a:schemeClr val="tx1"/>
                </a:solidFill>
              </a:rPr>
              <a:t>digrams</a:t>
            </a:r>
            <a:r>
              <a:rPr lang="en-US" dirty="0" smtClean="0">
                <a:solidFill>
                  <a:schemeClr val="tx1"/>
                </a:solidFill>
              </a:rPr>
              <a:t> </a:t>
            </a:r>
          </a:p>
          <a:p>
            <a:pPr>
              <a:buFontTx/>
              <a:buBlip>
                <a:blip r:embed="rId3"/>
              </a:buBlip>
            </a:pPr>
            <a:r>
              <a:rPr lang="en-US" dirty="0">
                <a:solidFill>
                  <a:schemeClr val="tx1"/>
                </a:solidFill>
              </a:rPr>
              <a:t>W</a:t>
            </a:r>
            <a:r>
              <a:rPr lang="en-US" dirty="0" smtClean="0">
                <a:solidFill>
                  <a:schemeClr val="tx1"/>
                </a:solidFill>
              </a:rPr>
              <a:t>ould need a 676 entry frequency table to </a:t>
            </a:r>
            <a:r>
              <a:rPr lang="en-US" dirty="0" err="1" smtClean="0">
                <a:solidFill>
                  <a:schemeClr val="tx1"/>
                </a:solidFill>
              </a:rPr>
              <a:t>analyse</a:t>
            </a:r>
            <a:r>
              <a:rPr lang="en-US" dirty="0" smtClean="0">
                <a:solidFill>
                  <a:schemeClr val="tx1"/>
                </a:solidFill>
              </a:rPr>
              <a:t> (versus 26 for a </a:t>
            </a:r>
            <a:r>
              <a:rPr lang="en-US" dirty="0" err="1" smtClean="0">
                <a:solidFill>
                  <a:schemeClr val="tx1"/>
                </a:solidFill>
              </a:rPr>
              <a:t>monoalphabetic</a:t>
            </a:r>
            <a:r>
              <a:rPr lang="en-US" dirty="0" smtClean="0">
                <a:solidFill>
                  <a:schemeClr val="tx1"/>
                </a:solidFill>
              </a:rPr>
              <a:t>)  and correspondingly more </a:t>
            </a:r>
            <a:r>
              <a:rPr lang="en-US" dirty="0" err="1" smtClean="0">
                <a:solidFill>
                  <a:schemeClr val="tx1"/>
                </a:solidFill>
              </a:rPr>
              <a:t>ciphertext</a:t>
            </a:r>
            <a:r>
              <a:rPr lang="en-US" dirty="0" smtClean="0">
                <a:solidFill>
                  <a:schemeClr val="tx1"/>
                </a:solidFill>
              </a:rPr>
              <a:t>  was widely used for many years</a:t>
            </a:r>
          </a:p>
          <a:p>
            <a:pPr>
              <a:buFontTx/>
              <a:buBlip>
                <a:blip r:embed="rId3"/>
              </a:buBlip>
            </a:pPr>
            <a:r>
              <a:rPr lang="en-US" dirty="0" smtClean="0">
                <a:solidFill>
                  <a:schemeClr val="tx1"/>
                </a:solidFill>
              </a:rPr>
              <a:t>E.g. by US &amp; British military in WW1</a:t>
            </a:r>
          </a:p>
          <a:p>
            <a:pPr>
              <a:buFontTx/>
              <a:buBlip>
                <a:blip r:embed="rId3"/>
              </a:buBlip>
            </a:pPr>
            <a:r>
              <a:rPr lang="en-US" dirty="0">
                <a:solidFill>
                  <a:schemeClr val="tx1"/>
                </a:solidFill>
              </a:rPr>
              <a:t>I</a:t>
            </a:r>
            <a:r>
              <a:rPr lang="en-US" dirty="0" smtClean="0">
                <a:solidFill>
                  <a:schemeClr val="tx1"/>
                </a:solidFill>
              </a:rPr>
              <a:t>t can be broken, given a few hundred letters since still has much of plaintext structure </a:t>
            </a:r>
          </a:p>
          <a:p>
            <a:pPr>
              <a:buFontTx/>
              <a:buBlip>
                <a:blip r:embed="rId3"/>
              </a:buBlip>
            </a:pPr>
            <a:endParaRPr lang="en-US" dirty="0" smtClean="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381000" y="457200"/>
            <a:ext cx="8458200" cy="639763"/>
          </a:xfrm>
        </p:spPr>
        <p:txBody>
          <a:bodyPr/>
          <a:lstStyle/>
          <a:p>
            <a:r>
              <a:rPr lang="en-US" smtClean="0"/>
              <a:t>Playfair Cipher - Is it Breakable?</a:t>
            </a:r>
          </a:p>
        </p:txBody>
      </p:sp>
      <p:sp>
        <p:nvSpPr>
          <p:cNvPr id="49155" name="Content Placeholder 2"/>
          <p:cNvSpPr>
            <a:spLocks noGrp="1"/>
          </p:cNvSpPr>
          <p:nvPr>
            <p:ph sz="quarter" idx="1"/>
          </p:nvPr>
        </p:nvSpPr>
        <p:spPr>
          <a:xfrm>
            <a:off x="609600" y="1676400"/>
            <a:ext cx="7543800" cy="1447800"/>
          </a:xfrm>
        </p:spPr>
        <p:txBody>
          <a:bodyPr/>
          <a:lstStyle/>
          <a:p>
            <a:pPr>
              <a:buFontTx/>
              <a:buBlip>
                <a:blip r:embed="rId2"/>
              </a:buBlip>
            </a:pPr>
            <a:r>
              <a:rPr lang="en-US" dirty="0" smtClean="0">
                <a:solidFill>
                  <a:schemeClr val="tx1"/>
                </a:solidFill>
              </a:rPr>
              <a:t>Better than mono-alphabetic: relative frequency of</a:t>
            </a:r>
          </a:p>
          <a:p>
            <a:pPr>
              <a:buFontTx/>
              <a:buNone/>
            </a:pPr>
            <a:r>
              <a:rPr lang="en-US" dirty="0" smtClean="0">
                <a:solidFill>
                  <a:schemeClr val="tx1"/>
                </a:solidFill>
              </a:rPr>
              <a:t>	</a:t>
            </a:r>
            <a:r>
              <a:rPr lang="en-US" dirty="0" err="1" smtClean="0">
                <a:solidFill>
                  <a:schemeClr val="tx1"/>
                </a:solidFill>
              </a:rPr>
              <a:t>digrams</a:t>
            </a:r>
            <a:r>
              <a:rPr lang="en-US" dirty="0" smtClean="0">
                <a:solidFill>
                  <a:schemeClr val="tx1"/>
                </a:solidFill>
              </a:rPr>
              <a:t> much less than of individual letters</a:t>
            </a:r>
          </a:p>
          <a:p>
            <a:pPr>
              <a:buFontTx/>
              <a:buBlip>
                <a:blip r:embed="rId2"/>
              </a:buBlip>
            </a:pPr>
            <a:r>
              <a:rPr lang="en-US" dirty="0" smtClean="0">
                <a:solidFill>
                  <a:schemeClr val="tx1"/>
                </a:solidFill>
              </a:rPr>
              <a:t>But relatively easy (</a:t>
            </a:r>
            <a:r>
              <a:rPr lang="en-US" dirty="0" err="1" smtClean="0">
                <a:solidFill>
                  <a:schemeClr val="tx1"/>
                </a:solidFill>
              </a:rPr>
              <a:t>digrams</a:t>
            </a:r>
            <a:r>
              <a:rPr lang="en-US" dirty="0" smtClean="0">
                <a:solidFill>
                  <a:schemeClr val="tx1"/>
                </a:solidFill>
              </a:rPr>
              <a:t>, trigrams, expected words)</a:t>
            </a:r>
          </a:p>
        </p:txBody>
      </p:sp>
    </p:spTree>
    <p:extLst>
      <p:ext uri="{BB962C8B-B14F-4D97-AF65-F5344CB8AC3E}">
        <p14:creationId xmlns:p14="http://schemas.microsoft.com/office/powerpoint/2010/main" val="404822891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381000" y="457200"/>
            <a:ext cx="8458200" cy="639763"/>
          </a:xfrm>
        </p:spPr>
        <p:txBody>
          <a:bodyPr/>
          <a:lstStyle/>
          <a:p>
            <a:r>
              <a:rPr lang="en-US" smtClean="0"/>
              <a:t>Vigenere Cipher</a:t>
            </a:r>
          </a:p>
        </p:txBody>
      </p:sp>
      <p:sp>
        <p:nvSpPr>
          <p:cNvPr id="57347" name="Content Placeholder 2"/>
          <p:cNvSpPr>
            <a:spLocks noGrp="1"/>
          </p:cNvSpPr>
          <p:nvPr>
            <p:ph sz="quarter" idx="1"/>
          </p:nvPr>
        </p:nvSpPr>
        <p:spPr>
          <a:xfrm>
            <a:off x="457200" y="1524000"/>
            <a:ext cx="8305800" cy="3810000"/>
          </a:xfrm>
        </p:spPr>
        <p:txBody>
          <a:bodyPr>
            <a:normAutofit fontScale="77500" lnSpcReduction="20000"/>
          </a:bodyPr>
          <a:lstStyle/>
          <a:p>
            <a:pPr>
              <a:buFontTx/>
              <a:buBlip>
                <a:blip r:embed="rId2"/>
              </a:buBlip>
            </a:pPr>
            <a:r>
              <a:rPr lang="en-US" dirty="0" smtClean="0">
                <a:solidFill>
                  <a:schemeClr val="tx1"/>
                </a:solidFill>
              </a:rPr>
              <a:t>Set of 26 general Caesar ciphers</a:t>
            </a:r>
          </a:p>
          <a:p>
            <a:pPr>
              <a:buFontTx/>
              <a:buNone/>
            </a:pPr>
            <a:r>
              <a:rPr lang="en-US" dirty="0" smtClean="0"/>
              <a:t>    26 Caesar ciphers with shifts of 0 through 25.</a:t>
            </a:r>
            <a:endParaRPr lang="en-US" dirty="0" smtClean="0">
              <a:solidFill>
                <a:schemeClr val="tx1"/>
              </a:solidFill>
            </a:endParaRPr>
          </a:p>
          <a:p>
            <a:pPr>
              <a:buFontTx/>
              <a:buBlip>
                <a:blip r:embed="rId2"/>
              </a:buBlip>
            </a:pPr>
            <a:r>
              <a:rPr lang="en-US" dirty="0" smtClean="0">
                <a:solidFill>
                  <a:schemeClr val="tx1"/>
                </a:solidFill>
              </a:rPr>
              <a:t>Letter in key determines the Caesar cipher to use </a:t>
            </a:r>
          </a:p>
          <a:p>
            <a:pPr lvl="1">
              <a:buFontTx/>
              <a:buChar char="–"/>
            </a:pPr>
            <a:r>
              <a:rPr lang="en-US" dirty="0" smtClean="0"/>
              <a:t>Key must be as long as plaintext: repeat a </a:t>
            </a:r>
            <a:r>
              <a:rPr lang="en-US" dirty="0" smtClean="0"/>
              <a:t>keyword</a:t>
            </a:r>
          </a:p>
          <a:p>
            <a:pPr lvl="1">
              <a:buFontTx/>
              <a:buChar char="–"/>
            </a:pPr>
            <a:r>
              <a:rPr lang="en-US" dirty="0" smtClean="0"/>
              <a:t>Key: </a:t>
            </a:r>
            <a:r>
              <a:rPr lang="en-US" dirty="0" err="1" smtClean="0"/>
              <a:t>pqr</a:t>
            </a:r>
            <a:endParaRPr lang="en-US" dirty="0" smtClean="0"/>
          </a:p>
          <a:p>
            <a:pPr lvl="1">
              <a:buFontTx/>
              <a:buChar char="–"/>
            </a:pPr>
            <a:r>
              <a:rPr lang="en-US" dirty="0" smtClean="0"/>
              <a:t>Plaintext: attack is today</a:t>
            </a:r>
            <a:endParaRPr lang="en-US" dirty="0" smtClean="0"/>
          </a:p>
          <a:p>
            <a:pPr>
              <a:buFontTx/>
              <a:buBlip>
                <a:blip r:embed="rId2"/>
              </a:buBlip>
            </a:pPr>
            <a:r>
              <a:rPr lang="en-US" dirty="0" smtClean="0">
                <a:solidFill>
                  <a:schemeClr val="tx1"/>
                </a:solidFill>
              </a:rPr>
              <a:t>Example:</a:t>
            </a:r>
          </a:p>
          <a:p>
            <a:pPr>
              <a:buFontTx/>
              <a:buNone/>
            </a:pPr>
            <a:r>
              <a:rPr lang="en-US" dirty="0" smtClean="0">
                <a:latin typeface="Courier New" pitchFamily="49" charset="0"/>
                <a:cs typeface="Courier New" pitchFamily="49" charset="0"/>
              </a:rPr>
              <a:t>		</a:t>
            </a:r>
            <a:r>
              <a:rPr lang="en-US" dirty="0" smtClean="0">
                <a:solidFill>
                  <a:schemeClr val="tx1"/>
                </a:solidFill>
                <a:latin typeface="Courier New" pitchFamily="49" charset="0"/>
                <a:cs typeface="Courier New" pitchFamily="49" charset="0"/>
              </a:rPr>
              <a:t>Plain:  </a:t>
            </a:r>
            <a:r>
              <a:rPr lang="en-US" sz="2800" dirty="0" smtClean="0">
                <a:solidFill>
                  <a:schemeClr val="tx1"/>
                </a:solidFill>
                <a:latin typeface="Courier New" pitchFamily="49" charset="0"/>
                <a:cs typeface="Courier New" pitchFamily="49" charset="0"/>
              </a:rPr>
              <a:t>a t </a:t>
            </a:r>
            <a:r>
              <a:rPr lang="en-US" sz="2800" dirty="0" err="1" smtClean="0">
                <a:solidFill>
                  <a:schemeClr val="tx1"/>
                </a:solidFill>
                <a:latin typeface="Courier New" pitchFamily="49" charset="0"/>
                <a:cs typeface="Courier New" pitchFamily="49" charset="0"/>
              </a:rPr>
              <a:t>t</a:t>
            </a:r>
            <a:r>
              <a:rPr lang="en-US" sz="2800" dirty="0" smtClean="0">
                <a:solidFill>
                  <a:schemeClr val="tx1"/>
                </a:solidFill>
                <a:latin typeface="Courier New" pitchFamily="49" charset="0"/>
                <a:cs typeface="Courier New" pitchFamily="49" charset="0"/>
              </a:rPr>
              <a:t> a c k i s t o d a y</a:t>
            </a:r>
            <a:endParaRPr lang="en-US" sz="2800" dirty="0" smtClean="0">
              <a:solidFill>
                <a:schemeClr val="tx1"/>
              </a:solidFill>
              <a:latin typeface="Courier New" pitchFamily="49" charset="0"/>
              <a:cs typeface="Courier New" pitchFamily="49" charset="0"/>
            </a:endParaRPr>
          </a:p>
          <a:p>
            <a:pPr>
              <a:buFontTx/>
              <a:buNone/>
            </a:pPr>
            <a:r>
              <a:rPr lang="en-US" dirty="0" smtClean="0">
                <a:solidFill>
                  <a:schemeClr val="tx1"/>
                </a:solidFill>
                <a:latin typeface="Courier New" pitchFamily="49" charset="0"/>
                <a:cs typeface="Courier New" pitchFamily="49" charset="0"/>
              </a:rPr>
              <a:t>		Key:    </a:t>
            </a:r>
            <a:r>
              <a:rPr lang="en-US" sz="2800" dirty="0" smtClean="0">
                <a:solidFill>
                  <a:srgbClr val="FF0000"/>
                </a:solidFill>
                <a:latin typeface="Courier New" pitchFamily="49" charset="0"/>
                <a:cs typeface="Courier New" pitchFamily="49" charset="0"/>
              </a:rPr>
              <a:t>p q r </a:t>
            </a:r>
            <a:r>
              <a:rPr lang="en-US" sz="2800" dirty="0" smtClean="0">
                <a:solidFill>
                  <a:schemeClr val="tx1"/>
                </a:solidFill>
                <a:latin typeface="Courier New" pitchFamily="49" charset="0"/>
                <a:cs typeface="Courier New" pitchFamily="49" charset="0"/>
              </a:rPr>
              <a:t>p q r p q </a:t>
            </a:r>
            <a:r>
              <a:rPr lang="en-US" sz="2800" dirty="0">
                <a:solidFill>
                  <a:schemeClr val="tx1"/>
                </a:solidFill>
                <a:latin typeface="Courier New" pitchFamily="49" charset="0"/>
                <a:cs typeface="Courier New" pitchFamily="49" charset="0"/>
              </a:rPr>
              <a:t>r</a:t>
            </a:r>
            <a:r>
              <a:rPr lang="en-US" sz="2800" dirty="0" smtClean="0">
                <a:solidFill>
                  <a:schemeClr val="tx1"/>
                </a:solidFill>
                <a:latin typeface="Courier New" pitchFamily="49" charset="0"/>
                <a:cs typeface="Courier New" pitchFamily="49" charset="0"/>
              </a:rPr>
              <a:t> p q r p </a:t>
            </a:r>
            <a:endParaRPr lang="en-US" sz="2800" dirty="0" smtClean="0">
              <a:solidFill>
                <a:schemeClr val="tx1"/>
              </a:solidFill>
              <a:latin typeface="Courier New" pitchFamily="49" charset="0"/>
              <a:cs typeface="Courier New" pitchFamily="49" charset="0"/>
            </a:endParaRPr>
          </a:p>
          <a:p>
            <a:pPr>
              <a:buFontTx/>
              <a:buNone/>
            </a:pPr>
            <a:r>
              <a:rPr lang="en-US" dirty="0" smtClean="0">
                <a:solidFill>
                  <a:schemeClr val="tx1"/>
                </a:solidFill>
                <a:latin typeface="Courier New" pitchFamily="49" charset="0"/>
                <a:cs typeface="Courier New" pitchFamily="49" charset="0"/>
              </a:rPr>
              <a:t>		Cipher: </a:t>
            </a:r>
            <a:endParaRPr lang="en-US" dirty="0" smtClean="0">
              <a:solidFill>
                <a:schemeClr val="tx1"/>
              </a:solidFill>
              <a:latin typeface="Courier New" pitchFamily="49" charset="0"/>
              <a:cs typeface="Courier New" pitchFamily="49" charset="0"/>
            </a:endParaRPr>
          </a:p>
          <a:p>
            <a:pPr>
              <a:buFontTx/>
              <a:buNone/>
            </a:pPr>
            <a:endParaRPr lang="en-US" dirty="0" smtClean="0">
              <a:solidFill>
                <a:schemeClr val="tx1"/>
              </a:solidFill>
            </a:endParaRPr>
          </a:p>
          <a:p>
            <a:pPr>
              <a:buFontTx/>
              <a:buNone/>
            </a:pPr>
            <a:endParaRPr lang="en-US">
              <a:solidFill>
                <a:schemeClr val="tx1"/>
              </a:solidFill>
            </a:endParaRPr>
          </a:p>
          <a:p>
            <a:pPr>
              <a:buFontTx/>
              <a:buNone/>
            </a:pPr>
            <a:r>
              <a:rPr lang="en-US" smtClean="0">
                <a:solidFill>
                  <a:schemeClr val="tx1"/>
                </a:solidFill>
              </a:rPr>
              <a:t>Multiple </a:t>
            </a:r>
            <a:r>
              <a:rPr lang="en-US" dirty="0" err="1" smtClean="0">
                <a:solidFill>
                  <a:schemeClr val="tx1"/>
                </a:solidFill>
              </a:rPr>
              <a:t>ciphertext</a:t>
            </a:r>
            <a:r>
              <a:rPr lang="en-US" dirty="0" smtClean="0">
                <a:solidFill>
                  <a:schemeClr val="tx1"/>
                </a:solidFill>
              </a:rPr>
              <a:t> letters for each plaintext letter</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381000" y="457200"/>
            <a:ext cx="8458200" cy="639763"/>
          </a:xfrm>
        </p:spPr>
        <p:txBody>
          <a:bodyPr/>
          <a:lstStyle/>
          <a:p>
            <a:endParaRPr lang="en-US" smtClean="0"/>
          </a:p>
        </p:txBody>
      </p:sp>
      <p:pic>
        <p:nvPicPr>
          <p:cNvPr id="58371" name="Picture 2"/>
          <p:cNvPicPr>
            <a:picLocks noChangeAspect="1" noChangeArrowheads="1"/>
          </p:cNvPicPr>
          <p:nvPr/>
        </p:nvPicPr>
        <p:blipFill>
          <a:blip r:embed="rId2"/>
          <a:srcRect/>
          <a:stretch>
            <a:fillRect/>
          </a:stretch>
        </p:blipFill>
        <p:spPr bwMode="auto">
          <a:xfrm>
            <a:off x="838200" y="1524000"/>
            <a:ext cx="3854450" cy="533400"/>
          </a:xfrm>
          <a:prstGeom prst="rect">
            <a:avLst/>
          </a:prstGeom>
          <a:noFill/>
          <a:ln w="9525">
            <a:noFill/>
            <a:miter lim="800000"/>
            <a:headEnd/>
            <a:tailEnd/>
          </a:ln>
        </p:spPr>
      </p:pic>
      <p:pic>
        <p:nvPicPr>
          <p:cNvPr id="58372" name="Picture 3"/>
          <p:cNvPicPr>
            <a:picLocks noChangeAspect="1" noChangeArrowheads="1"/>
          </p:cNvPicPr>
          <p:nvPr/>
        </p:nvPicPr>
        <p:blipFill>
          <a:blip r:embed="rId3"/>
          <a:srcRect/>
          <a:stretch>
            <a:fillRect/>
          </a:stretch>
        </p:blipFill>
        <p:spPr bwMode="auto">
          <a:xfrm>
            <a:off x="838200" y="2286000"/>
            <a:ext cx="6792913" cy="457200"/>
          </a:xfrm>
          <a:prstGeom prst="rect">
            <a:avLst/>
          </a:prstGeom>
          <a:noFill/>
          <a:ln w="9525">
            <a:noFill/>
            <a:miter lim="800000"/>
            <a:headEnd/>
            <a:tailEnd/>
          </a:ln>
        </p:spPr>
      </p:pic>
      <p:pic>
        <p:nvPicPr>
          <p:cNvPr id="58373" name="Picture 4"/>
          <p:cNvPicPr>
            <a:picLocks noChangeAspect="1" noChangeArrowheads="1"/>
          </p:cNvPicPr>
          <p:nvPr/>
        </p:nvPicPr>
        <p:blipFill>
          <a:blip r:embed="rId4"/>
          <a:srcRect/>
          <a:stretch>
            <a:fillRect/>
          </a:stretch>
        </p:blipFill>
        <p:spPr bwMode="auto">
          <a:xfrm>
            <a:off x="762000" y="3048000"/>
            <a:ext cx="3657600" cy="481013"/>
          </a:xfrm>
          <a:prstGeom prst="rect">
            <a:avLst/>
          </a:prstGeom>
          <a:noFill/>
          <a:ln w="9525">
            <a:noFill/>
            <a:miter lim="800000"/>
            <a:headEnd/>
            <a:tailEnd/>
          </a:ln>
        </p:spPr>
      </p:pic>
      <p:pic>
        <p:nvPicPr>
          <p:cNvPr id="58374" name="Picture 5"/>
          <p:cNvPicPr>
            <a:picLocks noChangeAspect="1" noChangeArrowheads="1"/>
          </p:cNvPicPr>
          <p:nvPr/>
        </p:nvPicPr>
        <p:blipFill>
          <a:blip r:embed="rId5"/>
          <a:srcRect/>
          <a:stretch>
            <a:fillRect/>
          </a:stretch>
        </p:blipFill>
        <p:spPr bwMode="auto">
          <a:xfrm>
            <a:off x="457200" y="4038600"/>
            <a:ext cx="8188325" cy="1143000"/>
          </a:xfrm>
          <a:prstGeom prst="rect">
            <a:avLst/>
          </a:prstGeom>
          <a:noFill/>
          <a:ln w="9525">
            <a:noFill/>
            <a:miter lim="800000"/>
            <a:headEnd/>
            <a:tailEnd/>
          </a:ln>
        </p:spPr>
      </p:pic>
      <p:sp>
        <p:nvSpPr>
          <p:cNvPr id="58375" name="Rectangle 7"/>
          <p:cNvSpPr>
            <a:spLocks noChangeArrowheads="1"/>
          </p:cNvSpPr>
          <p:nvPr/>
        </p:nvSpPr>
        <p:spPr bwMode="auto">
          <a:xfrm>
            <a:off x="457200" y="5410200"/>
            <a:ext cx="8001000" cy="830263"/>
          </a:xfrm>
          <a:prstGeom prst="rect">
            <a:avLst/>
          </a:prstGeom>
          <a:noFill/>
          <a:ln w="9525">
            <a:noFill/>
            <a:miter lim="800000"/>
            <a:headEnd/>
            <a:tailEnd/>
          </a:ln>
        </p:spPr>
        <p:txBody>
          <a:bodyPr>
            <a:spAutoFit/>
          </a:bodyPr>
          <a:lstStyle/>
          <a:p>
            <a:r>
              <a:rPr lang="en-US" sz="2400"/>
              <a:t>For the next </a:t>
            </a:r>
            <a:r>
              <a:rPr lang="en-US" sz="2400" i="1"/>
              <a:t>m letters of the plaintext, the key letters are repeated.</a:t>
            </a:r>
            <a:endParaRPr lang="en-US" sz="2400"/>
          </a:p>
        </p:txBody>
      </p:sp>
      <p:cxnSp>
        <p:nvCxnSpPr>
          <p:cNvPr id="58376" name="Straight Connector 8"/>
          <p:cNvCxnSpPr>
            <a:cxnSpLocks noChangeShapeType="1"/>
          </p:cNvCxnSpPr>
          <p:nvPr/>
        </p:nvCxnSpPr>
        <p:spPr bwMode="auto">
          <a:xfrm flipV="1">
            <a:off x="2895600" y="4953000"/>
            <a:ext cx="4648200" cy="76200"/>
          </a:xfrm>
          <a:prstGeom prst="line">
            <a:avLst/>
          </a:prstGeom>
          <a:noFill/>
          <a:ln w="25400" algn="ctr">
            <a:solidFill>
              <a:srgbClr val="FF0000"/>
            </a:solidFill>
            <a:round/>
            <a:headEnd/>
            <a:tailEnd/>
          </a:ln>
        </p:spPr>
      </p:cxn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02431" y="350837"/>
            <a:ext cx="8458200" cy="639763"/>
          </a:xfrm>
        </p:spPr>
        <p:txBody>
          <a:bodyPr/>
          <a:lstStyle/>
          <a:p>
            <a:endParaRPr lang="en-US" dirty="0" smtClean="0"/>
          </a:p>
        </p:txBody>
      </p:sp>
      <p:pic>
        <p:nvPicPr>
          <p:cNvPr id="59395" name="Picture 2"/>
          <p:cNvPicPr>
            <a:picLocks noChangeAspect="1" noChangeArrowheads="1"/>
          </p:cNvPicPr>
          <p:nvPr/>
        </p:nvPicPr>
        <p:blipFill>
          <a:blip r:embed="rId2"/>
          <a:srcRect/>
          <a:stretch>
            <a:fillRect/>
          </a:stretch>
        </p:blipFill>
        <p:spPr bwMode="auto">
          <a:xfrm>
            <a:off x="609600" y="1106562"/>
            <a:ext cx="5414963" cy="950837"/>
          </a:xfrm>
          <a:prstGeom prst="rect">
            <a:avLst/>
          </a:prstGeom>
          <a:noFill/>
          <a:ln w="9525">
            <a:noFill/>
            <a:miter lim="800000"/>
            <a:headEnd/>
            <a:tailEnd/>
          </a:ln>
        </p:spPr>
      </p:pic>
      <p:pic>
        <p:nvPicPr>
          <p:cNvPr id="59396" name="Picture 3"/>
          <p:cNvPicPr>
            <a:picLocks noChangeAspect="1" noChangeArrowheads="1"/>
          </p:cNvPicPr>
          <p:nvPr/>
        </p:nvPicPr>
        <p:blipFill>
          <a:blip r:embed="rId3"/>
          <a:srcRect/>
          <a:stretch>
            <a:fillRect/>
          </a:stretch>
        </p:blipFill>
        <p:spPr bwMode="auto">
          <a:xfrm>
            <a:off x="609600" y="1676400"/>
            <a:ext cx="5414963" cy="1023588"/>
          </a:xfrm>
          <a:prstGeom prst="rect">
            <a:avLst/>
          </a:prstGeom>
          <a:noFill/>
          <a:ln w="9525">
            <a:noFill/>
            <a:miter lim="800000"/>
            <a:headEnd/>
            <a:tailEnd/>
          </a:ln>
        </p:spPr>
      </p:pic>
      <p:pic>
        <p:nvPicPr>
          <p:cNvPr id="59397" name="Picture 4"/>
          <p:cNvPicPr>
            <a:picLocks noChangeAspect="1" noChangeArrowheads="1"/>
          </p:cNvPicPr>
          <p:nvPr/>
        </p:nvPicPr>
        <p:blipFill>
          <a:blip r:embed="rId4"/>
          <a:srcRect/>
          <a:stretch>
            <a:fillRect/>
          </a:stretch>
        </p:blipFill>
        <p:spPr bwMode="auto">
          <a:xfrm>
            <a:off x="457200" y="2590800"/>
            <a:ext cx="7991475" cy="1524000"/>
          </a:xfrm>
          <a:prstGeom prst="rect">
            <a:avLst/>
          </a:prstGeom>
          <a:noFill/>
          <a:ln w="9525">
            <a:noFill/>
            <a:miter lim="800000"/>
            <a:headEnd/>
            <a:tailEnd/>
          </a:ln>
        </p:spPr>
      </p:pic>
      <p:pic>
        <p:nvPicPr>
          <p:cNvPr id="59398" name="Picture 5"/>
          <p:cNvPicPr>
            <a:picLocks noChangeAspect="1" noChangeArrowheads="1"/>
          </p:cNvPicPr>
          <p:nvPr/>
        </p:nvPicPr>
        <p:blipFill>
          <a:blip r:embed="rId5"/>
          <a:srcRect/>
          <a:stretch>
            <a:fillRect/>
          </a:stretch>
        </p:blipFill>
        <p:spPr bwMode="auto">
          <a:xfrm>
            <a:off x="609600" y="4419600"/>
            <a:ext cx="7699375" cy="2133600"/>
          </a:xfrm>
          <a:prstGeom prst="rect">
            <a:avLst/>
          </a:prstGeom>
          <a:noFill/>
          <a:ln w="9525">
            <a:noFill/>
            <a:miter lim="800000"/>
            <a:headEnd/>
            <a:tailEnd/>
          </a:ln>
        </p:spPr>
      </p:pic>
      <p:sp>
        <p:nvSpPr>
          <p:cNvPr id="59399" name="Rectangle 7"/>
          <p:cNvSpPr>
            <a:spLocks noChangeArrowheads="1"/>
          </p:cNvSpPr>
          <p:nvPr/>
        </p:nvSpPr>
        <p:spPr bwMode="auto">
          <a:xfrm>
            <a:off x="609600" y="4038600"/>
            <a:ext cx="7239000" cy="369888"/>
          </a:xfrm>
          <a:prstGeom prst="rect">
            <a:avLst/>
          </a:prstGeom>
          <a:noFill/>
          <a:ln w="9525">
            <a:noFill/>
            <a:miter lim="800000"/>
            <a:headEnd/>
            <a:tailEnd/>
          </a:ln>
        </p:spPr>
        <p:txBody>
          <a:bodyPr>
            <a:spAutoFit/>
          </a:bodyPr>
          <a:lstStyle/>
          <a:p>
            <a:r>
              <a:rPr lang="en-US"/>
              <a:t>Expressed numerically, we have the following result.</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5" name="Text Box 11"/>
          <p:cNvSpPr txBox="1">
            <a:spLocks noChangeArrowheads="1"/>
          </p:cNvSpPr>
          <p:nvPr/>
        </p:nvSpPr>
        <p:spPr bwMode="auto">
          <a:xfrm>
            <a:off x="5486400" y="247650"/>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pic>
        <p:nvPicPr>
          <p:cNvPr id="36876" name="Picture 14"/>
          <p:cNvPicPr>
            <a:picLocks noChangeAspect="1" noChangeArrowheads="1"/>
          </p:cNvPicPr>
          <p:nvPr/>
        </p:nvPicPr>
        <p:blipFill>
          <a:blip r:embed="rId3"/>
          <a:srcRect/>
          <a:stretch>
            <a:fillRect/>
          </a:stretch>
        </p:blipFill>
        <p:spPr bwMode="auto">
          <a:xfrm>
            <a:off x="247650" y="1828800"/>
            <a:ext cx="8564562" cy="809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388938" y="2324368"/>
            <a:ext cx="8526461" cy="1323439"/>
          </a:xfrm>
          <a:prstGeom prst="rect">
            <a:avLst/>
          </a:prstGeom>
          <a:noFill/>
          <a:ln w="9525">
            <a:noFill/>
            <a:miter lim="800000"/>
            <a:headEnd/>
            <a:tailEnd/>
          </a:ln>
        </p:spPr>
        <p:txBody>
          <a:bodyPr wrap="square" anchor="ctr">
            <a:spAutoFit/>
          </a:bodyPr>
          <a:lstStyle/>
          <a:p>
            <a:pPr algn="just" eaLnBrk="1" hangingPunct="1"/>
            <a:r>
              <a:rPr lang="en-US" sz="2000" i="0" baseline="0" dirty="0"/>
              <a:t>Let us see how we can encrypt the message “She is listening” using the 6-character keyword “PASCAL”. The initial key stream is (15, 0, 18, 2, 0, 11). The key stream is the repetition of this initial key stream (as many times as needed).</a:t>
            </a:r>
          </a:p>
        </p:txBody>
      </p:sp>
      <p:pic>
        <p:nvPicPr>
          <p:cNvPr id="3" name="Picture 13"/>
          <p:cNvPicPr>
            <a:picLocks noChangeAspect="1" noChangeArrowheads="1"/>
          </p:cNvPicPr>
          <p:nvPr/>
        </p:nvPicPr>
        <p:blipFill>
          <a:blip r:embed="rId2"/>
          <a:srcRect/>
          <a:stretch>
            <a:fillRect/>
          </a:stretch>
        </p:blipFill>
        <p:spPr bwMode="auto">
          <a:xfrm>
            <a:off x="237330" y="3647807"/>
            <a:ext cx="8829675" cy="2170113"/>
          </a:xfrm>
          <a:prstGeom prst="rect">
            <a:avLst/>
          </a:prstGeom>
          <a:noFill/>
          <a:ln w="9525">
            <a:noFill/>
            <a:miter lim="800000"/>
            <a:headEnd/>
            <a:tailEnd/>
          </a:ln>
        </p:spPr>
      </p:pic>
      <p:sp>
        <p:nvSpPr>
          <p:cNvPr id="7" name="Text Box 11"/>
          <p:cNvSpPr txBox="1">
            <a:spLocks noChangeArrowheads="1"/>
          </p:cNvSpPr>
          <p:nvPr/>
        </p:nvSpPr>
        <p:spPr bwMode="auto">
          <a:xfrm>
            <a:off x="5891725" y="228600"/>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sp>
        <p:nvSpPr>
          <p:cNvPr id="5" name="Rectangle 15"/>
          <p:cNvSpPr>
            <a:spLocks noChangeArrowheads="1"/>
          </p:cNvSpPr>
          <p:nvPr/>
        </p:nvSpPr>
        <p:spPr bwMode="auto">
          <a:xfrm>
            <a:off x="285750" y="1088011"/>
            <a:ext cx="8839200" cy="822325"/>
          </a:xfrm>
          <a:prstGeom prst="rect">
            <a:avLst/>
          </a:prstGeom>
          <a:noFill/>
          <a:ln w="9525">
            <a:noFill/>
            <a:miter lim="800000"/>
            <a:headEnd/>
            <a:tailEnd/>
          </a:ln>
        </p:spPr>
        <p:txBody>
          <a:bodyPr anchor="ctr">
            <a:spAutoFit/>
          </a:bodyPr>
          <a:lstStyle/>
          <a:p>
            <a:pPr algn="just" eaLnBrk="1" hangingPunct="1"/>
            <a:r>
              <a:rPr lang="en-US" sz="2400" i="0" baseline="0" dirty="0"/>
              <a:t>We can encrypt the message “She is listening” using the 6-character keyword “PASCAL”. </a:t>
            </a:r>
          </a:p>
        </p:txBody>
      </p:sp>
      <p:sp>
        <p:nvSpPr>
          <p:cNvPr id="6" name="Text Box 16"/>
          <p:cNvSpPr txBox="1">
            <a:spLocks noChangeArrowheads="1"/>
          </p:cNvSpPr>
          <p:nvPr/>
        </p:nvSpPr>
        <p:spPr bwMode="auto">
          <a:xfrm>
            <a:off x="388938" y="501937"/>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143000"/>
            <a:ext cx="8839200" cy="822325"/>
          </a:xfrm>
          <a:prstGeom prst="rect">
            <a:avLst/>
          </a:prstGeom>
          <a:noFill/>
          <a:ln w="9525">
            <a:noFill/>
            <a:miter lim="800000"/>
            <a:headEnd/>
            <a:tailEnd/>
          </a:ln>
        </p:spPr>
        <p:txBody>
          <a:bodyPr anchor="ctr">
            <a:spAutoFit/>
          </a:bodyPr>
          <a:lstStyle/>
          <a:p>
            <a:pPr algn="just" eaLnBrk="1" hangingPunct="1"/>
            <a:r>
              <a:rPr lang="en-US" sz="2400" i="0" baseline="0" dirty="0" err="1"/>
              <a:t>Vigenere</a:t>
            </a:r>
            <a:r>
              <a:rPr lang="en-US" sz="2400" i="0" baseline="0" dirty="0"/>
              <a:t> cipher can be seen as combinations of m additive ciphers.</a:t>
            </a:r>
          </a:p>
        </p:txBody>
      </p:sp>
      <p:pic>
        <p:nvPicPr>
          <p:cNvPr id="3" name="Picture 13"/>
          <p:cNvPicPr>
            <a:picLocks noChangeAspect="1" noChangeArrowheads="1"/>
          </p:cNvPicPr>
          <p:nvPr/>
        </p:nvPicPr>
        <p:blipFill>
          <a:blip r:embed="rId2"/>
          <a:srcRect/>
          <a:stretch>
            <a:fillRect/>
          </a:stretch>
        </p:blipFill>
        <p:spPr bwMode="auto">
          <a:xfrm>
            <a:off x="1209675" y="2965450"/>
            <a:ext cx="6105525" cy="3435350"/>
          </a:xfrm>
          <a:prstGeom prst="rect">
            <a:avLst/>
          </a:prstGeom>
          <a:noFill/>
          <a:ln w="9525">
            <a:noFill/>
            <a:miter lim="800000"/>
            <a:headEnd/>
            <a:tailEnd/>
          </a:ln>
        </p:spPr>
      </p:pic>
      <p:sp>
        <p:nvSpPr>
          <p:cNvPr id="4" name="Text Box 14"/>
          <p:cNvSpPr txBox="1">
            <a:spLocks noChangeArrowheads="1"/>
          </p:cNvSpPr>
          <p:nvPr/>
        </p:nvSpPr>
        <p:spPr bwMode="auto">
          <a:xfrm>
            <a:off x="609600" y="2209800"/>
            <a:ext cx="7488653" cy="400110"/>
          </a:xfrm>
          <a:prstGeom prst="rect">
            <a:avLst/>
          </a:prstGeom>
          <a:noFill/>
          <a:ln w="9525">
            <a:noFill/>
            <a:miter lim="800000"/>
            <a:headEnd/>
            <a:tailEnd/>
          </a:ln>
        </p:spPr>
        <p:txBody>
          <a:bodyPr wrap="none">
            <a:spAutoFit/>
          </a:bodyPr>
          <a:lstStyle/>
          <a:p>
            <a:r>
              <a:rPr lang="en-US" sz="2000" i="0" baseline="0" dirty="0">
                <a:solidFill>
                  <a:schemeClr val="folHlink"/>
                </a:solidFill>
              </a:rPr>
              <a:t>Figure </a:t>
            </a:r>
            <a:r>
              <a:rPr lang="en-US" sz="2000" i="0" baseline="0" dirty="0" smtClean="0">
                <a:solidFill>
                  <a:schemeClr val="folHlink"/>
                </a:solidFill>
              </a:rPr>
              <a:t> </a:t>
            </a:r>
            <a:r>
              <a:rPr lang="en-US" sz="2000" baseline="0" dirty="0"/>
              <a:t>A </a:t>
            </a:r>
            <a:r>
              <a:rPr lang="en-US" sz="2000" baseline="0" dirty="0" err="1"/>
              <a:t>Vigenere</a:t>
            </a:r>
            <a:r>
              <a:rPr lang="en-US" sz="2000" baseline="0" dirty="0"/>
              <a:t> cipher as a combination of m additive ciphers</a:t>
            </a:r>
          </a:p>
        </p:txBody>
      </p:sp>
      <p:sp>
        <p:nvSpPr>
          <p:cNvPr id="5" name="Text Box 11"/>
          <p:cNvSpPr txBox="1">
            <a:spLocks noChangeArrowheads="1"/>
          </p:cNvSpPr>
          <p:nvPr/>
        </p:nvSpPr>
        <p:spPr bwMode="auto">
          <a:xfrm>
            <a:off x="5728775" y="228600"/>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381000" y="990600"/>
            <a:ext cx="8458200" cy="830997"/>
          </a:xfrm>
          <a:prstGeom prst="rect">
            <a:avLst/>
          </a:prstGeom>
          <a:noFill/>
          <a:ln w="9525">
            <a:noFill/>
            <a:miter lim="800000"/>
            <a:headEnd/>
            <a:tailEnd/>
          </a:ln>
        </p:spPr>
        <p:txBody>
          <a:bodyPr wrap="square" anchor="ctr">
            <a:spAutoFit/>
          </a:bodyPr>
          <a:lstStyle/>
          <a:p>
            <a:pPr algn="just" eaLnBrk="1" hangingPunct="1"/>
            <a:r>
              <a:rPr lang="en-US" sz="2400" i="0" baseline="0" dirty="0"/>
              <a:t>Using Example </a:t>
            </a:r>
            <a:r>
              <a:rPr lang="en-US" sz="2400" i="0" baseline="0" dirty="0" smtClean="0"/>
              <a:t>, </a:t>
            </a:r>
            <a:r>
              <a:rPr lang="en-US" sz="2400" i="0" baseline="0" dirty="0"/>
              <a:t>we can say that the additive cipher is a special case of </a:t>
            </a:r>
            <a:r>
              <a:rPr lang="en-US" sz="2400" i="0" baseline="0" dirty="0" err="1"/>
              <a:t>Vigenere</a:t>
            </a:r>
            <a:r>
              <a:rPr lang="en-US" sz="2400" i="0" baseline="0" dirty="0"/>
              <a:t> cipher in which </a:t>
            </a:r>
            <a:r>
              <a:rPr lang="en-US" sz="2400" baseline="0" dirty="0"/>
              <a:t>m</a:t>
            </a:r>
            <a:r>
              <a:rPr lang="en-US" sz="2400" i="0" baseline="0" dirty="0"/>
              <a:t> = 1.</a:t>
            </a:r>
          </a:p>
        </p:txBody>
      </p:sp>
      <p:pic>
        <p:nvPicPr>
          <p:cNvPr id="4" name="Picture 14"/>
          <p:cNvPicPr>
            <a:picLocks noChangeAspect="1" noChangeArrowheads="1"/>
          </p:cNvPicPr>
          <p:nvPr/>
        </p:nvPicPr>
        <p:blipFill>
          <a:blip r:embed="rId2"/>
          <a:srcRect/>
          <a:stretch>
            <a:fillRect/>
          </a:stretch>
        </p:blipFill>
        <p:spPr bwMode="auto">
          <a:xfrm>
            <a:off x="2895600" y="1905000"/>
            <a:ext cx="4789488" cy="4570412"/>
          </a:xfrm>
          <a:prstGeom prst="rect">
            <a:avLst/>
          </a:prstGeom>
          <a:noFill/>
          <a:ln w="9525">
            <a:noFill/>
            <a:miter lim="800000"/>
            <a:headEnd/>
            <a:tailEnd/>
          </a:ln>
        </p:spPr>
      </p:pic>
      <p:sp>
        <p:nvSpPr>
          <p:cNvPr id="5" name="Text Box 15"/>
          <p:cNvSpPr txBox="1">
            <a:spLocks noChangeArrowheads="1"/>
          </p:cNvSpPr>
          <p:nvPr/>
        </p:nvSpPr>
        <p:spPr bwMode="auto">
          <a:xfrm>
            <a:off x="609600" y="4114800"/>
            <a:ext cx="2401107" cy="769441"/>
          </a:xfrm>
          <a:prstGeom prst="rect">
            <a:avLst/>
          </a:prstGeom>
          <a:noFill/>
          <a:ln w="9525">
            <a:noFill/>
            <a:miter lim="800000"/>
            <a:headEnd/>
            <a:tailEnd/>
          </a:ln>
        </p:spPr>
        <p:txBody>
          <a:bodyPr wrap="none">
            <a:spAutoFit/>
          </a:bodyPr>
          <a:lstStyle/>
          <a:p>
            <a:r>
              <a:rPr lang="en-US" sz="2400" i="0" baseline="0" dirty="0" smtClean="0">
                <a:solidFill>
                  <a:schemeClr val="folHlink"/>
                </a:solidFill>
              </a:rPr>
              <a:t>Table</a:t>
            </a:r>
            <a:endParaRPr lang="en-US" sz="2400" i="0" baseline="0" dirty="0">
              <a:solidFill>
                <a:schemeClr val="folHlink"/>
              </a:solidFill>
            </a:endParaRPr>
          </a:p>
          <a:p>
            <a:r>
              <a:rPr lang="en-US" sz="2000" baseline="0" dirty="0"/>
              <a:t>A </a:t>
            </a:r>
            <a:r>
              <a:rPr lang="en-US" sz="2000" baseline="0" dirty="0" err="1"/>
              <a:t>Vigenere</a:t>
            </a:r>
            <a:r>
              <a:rPr lang="en-US" sz="2000" baseline="0" dirty="0"/>
              <a:t> Tableau</a:t>
            </a:r>
          </a:p>
        </p:txBody>
      </p:sp>
      <p:sp>
        <p:nvSpPr>
          <p:cNvPr id="6" name="Text Box 11"/>
          <p:cNvSpPr txBox="1">
            <a:spLocks noChangeArrowheads="1"/>
          </p:cNvSpPr>
          <p:nvPr/>
        </p:nvSpPr>
        <p:spPr bwMode="auto">
          <a:xfrm>
            <a:off x="5587732" y="228600"/>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7"/>
          <p:cNvSpPr>
            <a:spLocks noChangeArrowheads="1"/>
          </p:cNvSpPr>
          <p:nvPr/>
        </p:nvSpPr>
        <p:spPr bwMode="auto">
          <a:xfrm>
            <a:off x="152400" y="1752600"/>
            <a:ext cx="8839200" cy="457200"/>
          </a:xfrm>
          <a:prstGeom prst="rect">
            <a:avLst/>
          </a:prstGeom>
          <a:noFill/>
          <a:ln w="9525">
            <a:noFill/>
            <a:miter lim="800000"/>
            <a:headEnd/>
            <a:tailEnd/>
          </a:ln>
        </p:spPr>
        <p:txBody>
          <a:bodyPr anchor="ctr">
            <a:spAutoFit/>
          </a:bodyPr>
          <a:lstStyle/>
          <a:p>
            <a:pPr algn="just" eaLnBrk="1" hangingPunct="1"/>
            <a:r>
              <a:rPr lang="en-US" sz="2400" i="0" baseline="0"/>
              <a:t>Let us assume we have intercepted the following ciphertext:</a:t>
            </a:r>
          </a:p>
        </p:txBody>
      </p:sp>
      <p:sp>
        <p:nvSpPr>
          <p:cNvPr id="4" name="Text Box 18"/>
          <p:cNvSpPr txBox="1">
            <a:spLocks noChangeArrowheads="1"/>
          </p:cNvSpPr>
          <p:nvPr/>
        </p:nvSpPr>
        <p:spPr bwMode="auto">
          <a:xfrm>
            <a:off x="76200" y="12192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pic>
        <p:nvPicPr>
          <p:cNvPr id="5" name="Picture 19"/>
          <p:cNvPicPr>
            <a:picLocks noChangeAspect="1" noChangeArrowheads="1"/>
          </p:cNvPicPr>
          <p:nvPr/>
        </p:nvPicPr>
        <p:blipFill>
          <a:blip r:embed="rId2"/>
          <a:srcRect/>
          <a:stretch>
            <a:fillRect/>
          </a:stretch>
        </p:blipFill>
        <p:spPr bwMode="auto">
          <a:xfrm>
            <a:off x="76200" y="2255838"/>
            <a:ext cx="8647113" cy="1209675"/>
          </a:xfrm>
          <a:prstGeom prst="rect">
            <a:avLst/>
          </a:prstGeom>
          <a:noFill/>
          <a:ln w="9525">
            <a:noFill/>
            <a:miter lim="800000"/>
            <a:headEnd/>
            <a:tailEnd/>
          </a:ln>
        </p:spPr>
      </p:pic>
      <p:sp>
        <p:nvSpPr>
          <p:cNvPr id="6" name="Rectangle 20"/>
          <p:cNvSpPr>
            <a:spLocks noChangeArrowheads="1"/>
          </p:cNvSpPr>
          <p:nvPr/>
        </p:nvSpPr>
        <p:spPr bwMode="auto">
          <a:xfrm>
            <a:off x="228600" y="3657600"/>
            <a:ext cx="8839200" cy="830997"/>
          </a:xfrm>
          <a:prstGeom prst="rect">
            <a:avLst/>
          </a:prstGeom>
          <a:noFill/>
          <a:ln w="9525">
            <a:noFill/>
            <a:miter lim="800000"/>
            <a:headEnd/>
            <a:tailEnd/>
          </a:ln>
        </p:spPr>
        <p:txBody>
          <a:bodyPr anchor="ctr">
            <a:spAutoFit/>
          </a:bodyPr>
          <a:lstStyle/>
          <a:p>
            <a:pPr algn="just" eaLnBrk="1" hangingPunct="1"/>
            <a:r>
              <a:rPr lang="en-US" sz="2400" i="0" baseline="0" dirty="0"/>
              <a:t>The </a:t>
            </a:r>
            <a:r>
              <a:rPr lang="en-US" sz="2400" i="0" baseline="0" dirty="0" err="1"/>
              <a:t>Kasiski</a:t>
            </a:r>
            <a:r>
              <a:rPr lang="en-US" sz="2400" i="0" baseline="0" dirty="0"/>
              <a:t> test for repetition of three-character segments yields the results shown in Table </a:t>
            </a:r>
            <a:r>
              <a:rPr lang="en-US" sz="2400" i="0" baseline="0" dirty="0" smtClean="0"/>
              <a:t>.</a:t>
            </a:r>
            <a:endParaRPr lang="en-US" sz="2400" i="0" baseline="0" dirty="0"/>
          </a:p>
        </p:txBody>
      </p:sp>
      <p:pic>
        <p:nvPicPr>
          <p:cNvPr id="7" name="Picture 21"/>
          <p:cNvPicPr>
            <a:picLocks noChangeAspect="1" noChangeArrowheads="1"/>
          </p:cNvPicPr>
          <p:nvPr/>
        </p:nvPicPr>
        <p:blipFill>
          <a:blip r:embed="rId3"/>
          <a:srcRect/>
          <a:stretch>
            <a:fillRect/>
          </a:stretch>
        </p:blipFill>
        <p:spPr bwMode="auto">
          <a:xfrm>
            <a:off x="381000" y="4495800"/>
            <a:ext cx="8491538" cy="2019300"/>
          </a:xfrm>
          <a:prstGeom prst="rect">
            <a:avLst/>
          </a:prstGeom>
          <a:noFill/>
          <a:ln w="9525">
            <a:noFill/>
            <a:miter lim="800000"/>
            <a:headEnd/>
            <a:tailEnd/>
          </a:ln>
        </p:spPr>
      </p:pic>
      <p:sp>
        <p:nvSpPr>
          <p:cNvPr id="8" name="Text Box 11"/>
          <p:cNvSpPr txBox="1">
            <a:spLocks noChangeArrowheads="1"/>
          </p:cNvSpPr>
          <p:nvPr/>
        </p:nvSpPr>
        <p:spPr bwMode="auto">
          <a:xfrm>
            <a:off x="5734563" y="165557"/>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sp>
        <p:nvSpPr>
          <p:cNvPr id="9" name="Rectangle 8"/>
          <p:cNvSpPr/>
          <p:nvPr/>
        </p:nvSpPr>
        <p:spPr>
          <a:xfrm>
            <a:off x="334286" y="606862"/>
            <a:ext cx="1723549" cy="369332"/>
          </a:xfrm>
          <a:prstGeom prst="rect">
            <a:avLst/>
          </a:prstGeom>
        </p:spPr>
        <p:txBody>
          <a:bodyPr wrap="none">
            <a:spAutoFit/>
          </a:bodyPr>
          <a:lstStyle/>
          <a:p>
            <a:r>
              <a:rPr lang="en-US" i="0" baseline="0" dirty="0" smtClean="0">
                <a:solidFill>
                  <a:srgbClr val="0000FF"/>
                </a:solidFill>
              </a:rPr>
              <a:t>(Cryptanalysis)</a:t>
            </a:r>
            <a:endParaRPr lang="en-US" dirty="0">
              <a:solidFill>
                <a:srgbClr val="0000FF"/>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325563"/>
            <a:ext cx="8839200" cy="457200"/>
          </a:xfrm>
          <a:prstGeom prst="rect">
            <a:avLst/>
          </a:prstGeom>
          <a:noFill/>
          <a:ln w="9525">
            <a:noFill/>
            <a:miter lim="800000"/>
            <a:headEnd/>
            <a:tailEnd/>
          </a:ln>
        </p:spPr>
        <p:txBody>
          <a:bodyPr anchor="ctr">
            <a:spAutoFit/>
          </a:bodyPr>
          <a:lstStyle/>
          <a:p>
            <a:pPr algn="just" eaLnBrk="1" hangingPunct="1"/>
            <a:r>
              <a:rPr lang="en-US" sz="2400" i="0" baseline="0"/>
              <a:t>Let us assume we have intercepted the following ciphertext:</a:t>
            </a:r>
          </a:p>
        </p:txBody>
      </p:sp>
      <p:pic>
        <p:nvPicPr>
          <p:cNvPr id="3" name="Picture 12"/>
          <p:cNvPicPr>
            <a:picLocks noChangeAspect="1" noChangeArrowheads="1"/>
          </p:cNvPicPr>
          <p:nvPr/>
        </p:nvPicPr>
        <p:blipFill>
          <a:blip r:embed="rId2"/>
          <a:srcRect/>
          <a:stretch>
            <a:fillRect/>
          </a:stretch>
        </p:blipFill>
        <p:spPr bwMode="auto">
          <a:xfrm>
            <a:off x="76200" y="1981200"/>
            <a:ext cx="8647113" cy="1209675"/>
          </a:xfrm>
          <a:prstGeom prst="rect">
            <a:avLst/>
          </a:prstGeom>
          <a:noFill/>
          <a:ln w="9525">
            <a:noFill/>
            <a:miter lim="800000"/>
            <a:headEnd/>
            <a:tailEnd/>
          </a:ln>
        </p:spPr>
      </p:pic>
      <p:sp>
        <p:nvSpPr>
          <p:cNvPr id="4" name="Rectangle 13"/>
          <p:cNvSpPr>
            <a:spLocks noChangeArrowheads="1"/>
          </p:cNvSpPr>
          <p:nvPr/>
        </p:nvSpPr>
        <p:spPr bwMode="auto">
          <a:xfrm>
            <a:off x="228600" y="3246438"/>
            <a:ext cx="8839200" cy="830997"/>
          </a:xfrm>
          <a:prstGeom prst="rect">
            <a:avLst/>
          </a:prstGeom>
          <a:noFill/>
          <a:ln w="9525">
            <a:noFill/>
            <a:miter lim="800000"/>
            <a:headEnd/>
            <a:tailEnd/>
          </a:ln>
        </p:spPr>
        <p:txBody>
          <a:bodyPr anchor="ctr">
            <a:spAutoFit/>
          </a:bodyPr>
          <a:lstStyle/>
          <a:p>
            <a:pPr algn="just" eaLnBrk="1" hangingPunct="1"/>
            <a:r>
              <a:rPr lang="en-US" sz="2400" i="0" baseline="0" dirty="0"/>
              <a:t>The </a:t>
            </a:r>
            <a:r>
              <a:rPr lang="en-US" sz="2400" i="0" baseline="0" dirty="0" err="1">
                <a:solidFill>
                  <a:srgbClr val="FF0000"/>
                </a:solidFill>
              </a:rPr>
              <a:t>Kasiski</a:t>
            </a:r>
            <a:r>
              <a:rPr lang="en-US" sz="2400" i="0" baseline="0" dirty="0">
                <a:solidFill>
                  <a:srgbClr val="FF0000"/>
                </a:solidFill>
              </a:rPr>
              <a:t> test </a:t>
            </a:r>
            <a:r>
              <a:rPr lang="en-US" sz="2400" i="0" baseline="0" dirty="0"/>
              <a:t>for repetition of three-character segments </a:t>
            </a:r>
            <a:r>
              <a:rPr lang="en-US" sz="2400" i="0" baseline="0" dirty="0" smtClean="0"/>
              <a:t>in </a:t>
            </a:r>
            <a:r>
              <a:rPr lang="en-US" sz="2400" i="0" baseline="0" dirty="0" err="1" smtClean="0"/>
              <a:t>ciphertext</a:t>
            </a:r>
            <a:r>
              <a:rPr lang="en-US" sz="2400" i="0" baseline="0" dirty="0" smtClean="0"/>
              <a:t> yields </a:t>
            </a:r>
            <a:r>
              <a:rPr lang="en-US" sz="2400" i="0" baseline="0" dirty="0"/>
              <a:t>the results shown in Table </a:t>
            </a:r>
          </a:p>
        </p:txBody>
      </p:sp>
      <p:pic>
        <p:nvPicPr>
          <p:cNvPr id="5" name="Picture 14"/>
          <p:cNvPicPr>
            <a:picLocks noChangeAspect="1" noChangeArrowheads="1"/>
          </p:cNvPicPr>
          <p:nvPr/>
        </p:nvPicPr>
        <p:blipFill>
          <a:blip r:embed="rId3"/>
          <a:srcRect/>
          <a:stretch>
            <a:fillRect/>
          </a:stretch>
        </p:blipFill>
        <p:spPr bwMode="auto">
          <a:xfrm>
            <a:off x="228600" y="4305300"/>
            <a:ext cx="8491538" cy="2019300"/>
          </a:xfrm>
          <a:prstGeom prst="rect">
            <a:avLst/>
          </a:prstGeom>
          <a:noFill/>
          <a:ln w="9525">
            <a:noFill/>
            <a:miter lim="800000"/>
            <a:headEnd/>
            <a:tailEnd/>
          </a:ln>
        </p:spPr>
      </p:pic>
      <p:sp>
        <p:nvSpPr>
          <p:cNvPr id="6" name="Text Box 11"/>
          <p:cNvSpPr txBox="1">
            <a:spLocks noChangeArrowheads="1"/>
          </p:cNvSpPr>
          <p:nvPr/>
        </p:nvSpPr>
        <p:spPr bwMode="auto">
          <a:xfrm>
            <a:off x="2590800" y="228600"/>
            <a:ext cx="3137975" cy="584775"/>
          </a:xfrm>
          <a:prstGeom prst="rect">
            <a:avLst/>
          </a:prstGeom>
          <a:noFill/>
          <a:ln w="9525">
            <a:noFill/>
            <a:miter lim="800000"/>
            <a:headEnd/>
            <a:tailEnd/>
          </a:ln>
        </p:spPr>
        <p:txBody>
          <a:bodyPr wrap="none">
            <a:spAutoFit/>
          </a:bodyPr>
          <a:lstStyle/>
          <a:p>
            <a:r>
              <a:rPr lang="en-US" sz="3200" i="0" baseline="0" dirty="0" err="1">
                <a:solidFill>
                  <a:srgbClr val="FF0000"/>
                </a:solidFill>
              </a:rPr>
              <a:t>Vigenere</a:t>
            </a:r>
            <a:r>
              <a:rPr lang="en-US" sz="3200" i="0" baseline="0" dirty="0">
                <a:solidFill>
                  <a:srgbClr val="FF0000"/>
                </a:solidFill>
              </a:rPr>
              <a:t> Cipher</a:t>
            </a:r>
          </a:p>
        </p:txBody>
      </p:sp>
      <p:sp>
        <p:nvSpPr>
          <p:cNvPr id="7" name="Rectangle 6"/>
          <p:cNvSpPr/>
          <p:nvPr/>
        </p:nvSpPr>
        <p:spPr>
          <a:xfrm>
            <a:off x="5791200" y="381000"/>
            <a:ext cx="1659429" cy="369332"/>
          </a:xfrm>
          <a:prstGeom prst="rect">
            <a:avLst/>
          </a:prstGeom>
        </p:spPr>
        <p:txBody>
          <a:bodyPr wrap="none">
            <a:spAutoFit/>
          </a:bodyPr>
          <a:lstStyle/>
          <a:p>
            <a:r>
              <a:rPr lang="en-US" i="0" baseline="0" dirty="0" smtClean="0">
                <a:solidFill>
                  <a:schemeClr val="folHlink"/>
                </a:solidFill>
              </a:rPr>
              <a:t>(</a:t>
            </a:r>
            <a:r>
              <a:rPr lang="en-US" i="0" baseline="0" dirty="0" err="1" smtClean="0">
                <a:solidFill>
                  <a:schemeClr val="folHlink"/>
                </a:solidFill>
              </a:rPr>
              <a:t>Crypanalysis</a:t>
            </a:r>
            <a:r>
              <a:rPr lang="en-US" i="0" baseline="0" dirty="0" smtClean="0">
                <a:solidFill>
                  <a:schemeClr val="folHlink"/>
                </a:solidFill>
              </a:rPr>
              <a:t>)</a:t>
            </a:r>
            <a:endParaRPr lang="en-US" dirty="0"/>
          </a:p>
        </p:txBody>
      </p:sp>
      <p:sp>
        <p:nvSpPr>
          <p:cNvPr id="8" name="Text Box 18"/>
          <p:cNvSpPr txBox="1">
            <a:spLocks noChangeArrowheads="1"/>
          </p:cNvSpPr>
          <p:nvPr/>
        </p:nvSpPr>
        <p:spPr bwMode="auto">
          <a:xfrm>
            <a:off x="381000" y="838200"/>
            <a:ext cx="2289409"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 Cont.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0" y="6400800"/>
            <a:ext cx="1905000" cy="457200"/>
          </a:xfrm>
          <a:noFill/>
        </p:spPr>
        <p:txBody>
          <a:bodyPr/>
          <a:lstStyle/>
          <a:p>
            <a:r>
              <a:rPr lang="en-US">
                <a:latin typeface="Arial" charset="0"/>
              </a:rPr>
              <a:t>3.</a:t>
            </a:r>
            <a:fld id="{F4EEE5D8-39BB-4E18-AA88-B62E393A936C}" type="slidenum">
              <a:rPr lang="en-US">
                <a:latin typeface="Arial" charset="0"/>
              </a:rPr>
              <a:pPr/>
              <a:t>86</a:t>
            </a:fld>
            <a:endParaRPr lang="en-US">
              <a:latin typeface="Arial" charset="0"/>
            </a:endParaRPr>
          </a:p>
        </p:txBody>
      </p:sp>
      <p:sp>
        <p:nvSpPr>
          <p:cNvPr id="3" name="Rectangle 10"/>
          <p:cNvSpPr>
            <a:spLocks noChangeArrowheads="1"/>
          </p:cNvSpPr>
          <p:nvPr/>
        </p:nvSpPr>
        <p:spPr bwMode="auto">
          <a:xfrm>
            <a:off x="152400" y="1066800"/>
            <a:ext cx="8839200" cy="822325"/>
          </a:xfrm>
          <a:prstGeom prst="rect">
            <a:avLst/>
          </a:prstGeom>
          <a:noFill/>
          <a:ln w="9525">
            <a:noFill/>
            <a:miter lim="800000"/>
            <a:headEnd/>
            <a:tailEnd/>
          </a:ln>
        </p:spPr>
        <p:txBody>
          <a:bodyPr anchor="ctr">
            <a:spAutoFit/>
          </a:bodyPr>
          <a:lstStyle/>
          <a:p>
            <a:pPr algn="just" eaLnBrk="1" hangingPunct="1"/>
            <a:r>
              <a:rPr lang="en-US" sz="2400" i="0" baseline="0"/>
              <a:t>The greatest common divisor of differences is 4, which means that the key length is multiple of 4. First try </a:t>
            </a:r>
            <a:r>
              <a:rPr lang="en-US" sz="2400" baseline="0"/>
              <a:t>m</a:t>
            </a:r>
            <a:r>
              <a:rPr lang="en-US" sz="2400" i="0" baseline="0"/>
              <a:t> = 4. </a:t>
            </a:r>
          </a:p>
        </p:txBody>
      </p:sp>
      <p:pic>
        <p:nvPicPr>
          <p:cNvPr id="4" name="Picture 15"/>
          <p:cNvPicPr>
            <a:picLocks noChangeAspect="1" noChangeArrowheads="1"/>
          </p:cNvPicPr>
          <p:nvPr/>
        </p:nvPicPr>
        <p:blipFill>
          <a:blip r:embed="rId2"/>
          <a:srcRect/>
          <a:stretch>
            <a:fillRect/>
          </a:stretch>
        </p:blipFill>
        <p:spPr bwMode="auto">
          <a:xfrm>
            <a:off x="842963" y="2057400"/>
            <a:ext cx="7386637" cy="2519363"/>
          </a:xfrm>
          <a:prstGeom prst="rect">
            <a:avLst/>
          </a:prstGeom>
          <a:noFill/>
          <a:ln w="9525">
            <a:noFill/>
            <a:miter lim="800000"/>
            <a:headEnd/>
            <a:tailEnd/>
          </a:ln>
        </p:spPr>
      </p:pic>
      <p:sp>
        <p:nvSpPr>
          <p:cNvPr id="5" name="Rectangle 17"/>
          <p:cNvSpPr>
            <a:spLocks noChangeArrowheads="1"/>
          </p:cNvSpPr>
          <p:nvPr/>
        </p:nvSpPr>
        <p:spPr bwMode="auto">
          <a:xfrm>
            <a:off x="152400" y="4876800"/>
            <a:ext cx="8839200" cy="457200"/>
          </a:xfrm>
          <a:prstGeom prst="rect">
            <a:avLst/>
          </a:prstGeom>
          <a:noFill/>
          <a:ln w="9525">
            <a:noFill/>
            <a:miter lim="800000"/>
            <a:headEnd/>
            <a:tailEnd/>
          </a:ln>
        </p:spPr>
        <p:txBody>
          <a:bodyPr anchor="ctr">
            <a:spAutoFit/>
          </a:bodyPr>
          <a:lstStyle/>
          <a:p>
            <a:pPr algn="just" eaLnBrk="1" hangingPunct="1"/>
            <a:r>
              <a:rPr lang="en-US" sz="2400" i="0" baseline="0"/>
              <a:t>In this case, the plaintext makes sense.</a:t>
            </a:r>
          </a:p>
        </p:txBody>
      </p:sp>
      <p:pic>
        <p:nvPicPr>
          <p:cNvPr id="6" name="Picture 18"/>
          <p:cNvPicPr>
            <a:picLocks noChangeAspect="1" noChangeArrowheads="1"/>
          </p:cNvPicPr>
          <p:nvPr/>
        </p:nvPicPr>
        <p:blipFill>
          <a:blip r:embed="rId3"/>
          <a:srcRect/>
          <a:stretch>
            <a:fillRect/>
          </a:stretch>
        </p:blipFill>
        <p:spPr bwMode="auto">
          <a:xfrm>
            <a:off x="271463" y="5410200"/>
            <a:ext cx="8491537" cy="1209675"/>
          </a:xfrm>
          <a:prstGeom prst="rect">
            <a:avLst/>
          </a:prstGeom>
          <a:noFill/>
          <a:ln w="9525">
            <a:noFill/>
            <a:miter lim="800000"/>
            <a:headEnd/>
            <a:tailEnd/>
          </a:ln>
        </p:spPr>
      </p:pic>
      <p:sp>
        <p:nvSpPr>
          <p:cNvPr id="8" name="Text Box 18"/>
          <p:cNvSpPr txBox="1">
            <a:spLocks noChangeArrowheads="1"/>
          </p:cNvSpPr>
          <p:nvPr/>
        </p:nvSpPr>
        <p:spPr bwMode="auto">
          <a:xfrm>
            <a:off x="304800" y="609600"/>
            <a:ext cx="2289409"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 Cont.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381000" y="457200"/>
            <a:ext cx="8458200" cy="639763"/>
          </a:xfrm>
        </p:spPr>
        <p:txBody>
          <a:bodyPr/>
          <a:lstStyle/>
          <a:p>
            <a:r>
              <a:rPr lang="en-US" smtClean="0"/>
              <a:t>Vigenere Cipher - Is it Breakable?</a:t>
            </a:r>
          </a:p>
        </p:txBody>
      </p:sp>
      <p:sp>
        <p:nvSpPr>
          <p:cNvPr id="61443" name="Content Placeholder 2"/>
          <p:cNvSpPr>
            <a:spLocks noGrp="1"/>
          </p:cNvSpPr>
          <p:nvPr>
            <p:ph sz="quarter" idx="1"/>
          </p:nvPr>
        </p:nvSpPr>
        <p:spPr/>
        <p:txBody>
          <a:bodyPr/>
          <a:lstStyle/>
          <a:p>
            <a:pPr>
              <a:buFontTx/>
              <a:buBlip>
                <a:blip r:embed="rId2"/>
              </a:buBlip>
            </a:pPr>
            <a:r>
              <a:rPr lang="en-US" smtClean="0">
                <a:solidFill>
                  <a:schemeClr val="tx1"/>
                </a:solidFill>
              </a:rPr>
              <a:t>Yes</a:t>
            </a:r>
          </a:p>
          <a:p>
            <a:pPr>
              <a:buFontTx/>
              <a:buBlip>
                <a:blip r:embed="rId2"/>
              </a:buBlip>
            </a:pPr>
            <a:r>
              <a:rPr lang="en-US" smtClean="0">
                <a:solidFill>
                  <a:schemeClr val="tx1"/>
                </a:solidFill>
              </a:rPr>
              <a:t>Monoalphabetic or Vigenere cipher? Letter frequency</a:t>
            </a:r>
          </a:p>
          <a:p>
            <a:pPr>
              <a:buFontTx/>
              <a:buNone/>
            </a:pPr>
            <a:r>
              <a:rPr lang="en-US" smtClean="0">
                <a:solidFill>
                  <a:schemeClr val="tx1"/>
                </a:solidFill>
              </a:rPr>
              <a:t>	analysis</a:t>
            </a:r>
          </a:p>
          <a:p>
            <a:pPr>
              <a:buFontTx/>
              <a:buBlip>
                <a:blip r:embed="rId2"/>
              </a:buBlip>
            </a:pPr>
            <a:r>
              <a:rPr lang="en-US" smtClean="0">
                <a:solidFill>
                  <a:schemeClr val="tx1"/>
                </a:solidFill>
              </a:rPr>
              <a:t>Determine length of keyword</a:t>
            </a:r>
          </a:p>
          <a:p>
            <a:pPr>
              <a:buFontTx/>
              <a:buBlip>
                <a:blip r:embed="rId2"/>
              </a:buBlip>
            </a:pPr>
            <a:r>
              <a:rPr lang="en-US" smtClean="0">
                <a:solidFill>
                  <a:schemeClr val="tx1"/>
                </a:solidFill>
              </a:rPr>
              <a:t>For keyword length m, Vigenere is m mono-alphabetic</a:t>
            </a:r>
          </a:p>
          <a:p>
            <a:pPr>
              <a:buFontTx/>
              <a:buNone/>
            </a:pPr>
            <a:r>
              <a:rPr lang="en-US" smtClean="0">
                <a:solidFill>
                  <a:schemeClr val="tx1"/>
                </a:solidFill>
              </a:rPr>
              <a:t>	substitutions</a:t>
            </a:r>
          </a:p>
          <a:p>
            <a:pPr>
              <a:buFontTx/>
              <a:buBlip>
                <a:blip r:embed="rId2"/>
              </a:buBlip>
            </a:pPr>
            <a:r>
              <a:rPr lang="en-US" smtClean="0">
                <a:solidFill>
                  <a:schemeClr val="tx1"/>
                </a:solidFill>
              </a:rPr>
              <a:t>Break the mono-alphabetic ciphers separately</a:t>
            </a:r>
          </a:p>
          <a:p>
            <a:pPr>
              <a:buFontTx/>
              <a:buNone/>
            </a:pPr>
            <a:r>
              <a:rPr lang="en-US" smtClean="0"/>
              <a:t>	</a:t>
            </a:r>
            <a:r>
              <a:rPr lang="en-US" smtClean="0">
                <a:solidFill>
                  <a:srgbClr val="FF0000"/>
                </a:solidFill>
              </a:rPr>
              <a:t>Weakness is repeating, structured keyword</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3"/>
          <p:cNvPicPr>
            <a:picLocks noChangeAspect="1" noChangeArrowheads="1"/>
          </p:cNvPicPr>
          <p:nvPr/>
        </p:nvPicPr>
        <p:blipFill>
          <a:blip r:embed="rId2"/>
          <a:srcRect/>
          <a:stretch>
            <a:fillRect/>
          </a:stretch>
        </p:blipFill>
        <p:spPr bwMode="auto">
          <a:xfrm>
            <a:off x="914400" y="2953617"/>
            <a:ext cx="2541588" cy="1755349"/>
          </a:xfrm>
          <a:prstGeom prst="rect">
            <a:avLst/>
          </a:prstGeom>
          <a:noFill/>
          <a:ln w="9525">
            <a:noFill/>
            <a:miter lim="800000"/>
            <a:headEnd/>
            <a:tailEnd/>
          </a:ln>
        </p:spPr>
      </p:pic>
      <p:sp>
        <p:nvSpPr>
          <p:cNvPr id="4" name="Text Box 14"/>
          <p:cNvSpPr txBox="1">
            <a:spLocks noChangeArrowheads="1"/>
          </p:cNvSpPr>
          <p:nvPr/>
        </p:nvSpPr>
        <p:spPr bwMode="auto">
          <a:xfrm>
            <a:off x="228600" y="1143000"/>
            <a:ext cx="8610600" cy="1938992"/>
          </a:xfrm>
          <a:prstGeom prst="rect">
            <a:avLst/>
          </a:prstGeom>
          <a:noFill/>
          <a:ln w="9525">
            <a:noFill/>
            <a:miter lim="800000"/>
            <a:headEnd/>
            <a:tailEnd/>
          </a:ln>
        </p:spPr>
        <p:txBody>
          <a:bodyPr wrap="square">
            <a:spAutoFit/>
          </a:bodyPr>
          <a:lstStyle/>
          <a:p>
            <a:r>
              <a:rPr lang="en-US" sz="2000" dirty="0"/>
              <a:t>Another interesting </a:t>
            </a:r>
            <a:r>
              <a:rPr lang="en-US" sz="2000" dirty="0" err="1"/>
              <a:t>multiletter</a:t>
            </a:r>
            <a:r>
              <a:rPr lang="en-US" sz="2000" dirty="0"/>
              <a:t> cipher is the Hill cipher, developed by the </a:t>
            </a:r>
            <a:r>
              <a:rPr lang="en-US" sz="2000" dirty="0" smtClean="0"/>
              <a:t>mathematician Lester </a:t>
            </a:r>
            <a:r>
              <a:rPr lang="en-US" sz="2000" dirty="0"/>
              <a:t>Hill in 1929.</a:t>
            </a:r>
            <a:endParaRPr lang="en-US" sz="2000" i="0" baseline="0" dirty="0" smtClean="0"/>
          </a:p>
          <a:p>
            <a:pPr algn="just"/>
            <a:endParaRPr lang="en-US" sz="2000" dirty="0"/>
          </a:p>
          <a:p>
            <a:pPr algn="just"/>
            <a:r>
              <a:rPr lang="en-US" sz="2000" i="0" baseline="0" dirty="0" smtClean="0"/>
              <a:t>Plaintext are divided into equal size blocks. Each character in</a:t>
            </a:r>
            <a:r>
              <a:rPr lang="en-US" sz="2000" i="0" dirty="0" smtClean="0"/>
              <a:t> a block contributes  to the encryption of the other characters   in the block. (</a:t>
            </a:r>
            <a:r>
              <a:rPr lang="en-US" sz="2000" i="0" dirty="0" smtClean="0">
                <a:solidFill>
                  <a:srgbClr val="FF0000"/>
                </a:solidFill>
              </a:rPr>
              <a:t>Block Cipher</a:t>
            </a:r>
            <a:r>
              <a:rPr lang="en-US" sz="2000" i="0" dirty="0" smtClean="0"/>
              <a:t>)</a:t>
            </a:r>
            <a:endParaRPr lang="en-US" sz="2000" baseline="0" dirty="0"/>
          </a:p>
        </p:txBody>
      </p:sp>
      <p:pic>
        <p:nvPicPr>
          <p:cNvPr id="5" name="Picture 15"/>
          <p:cNvPicPr>
            <a:picLocks noChangeAspect="1" noChangeArrowheads="1"/>
          </p:cNvPicPr>
          <p:nvPr/>
        </p:nvPicPr>
        <p:blipFill>
          <a:blip r:embed="rId3"/>
          <a:srcRect/>
          <a:stretch>
            <a:fillRect/>
          </a:stretch>
        </p:blipFill>
        <p:spPr bwMode="auto">
          <a:xfrm>
            <a:off x="4038600" y="3081992"/>
            <a:ext cx="4387850" cy="1498600"/>
          </a:xfrm>
          <a:prstGeom prst="rect">
            <a:avLst/>
          </a:prstGeom>
          <a:noFill/>
          <a:ln w="9525">
            <a:noFill/>
            <a:miter lim="800000"/>
            <a:headEnd/>
            <a:tailEnd/>
          </a:ln>
        </p:spPr>
      </p:pic>
      <p:sp>
        <p:nvSpPr>
          <p:cNvPr id="6" name="Line 16"/>
          <p:cNvSpPr>
            <a:spLocks noChangeShapeType="1"/>
          </p:cNvSpPr>
          <p:nvPr/>
        </p:nvSpPr>
        <p:spPr bwMode="auto">
          <a:xfrm>
            <a:off x="457200" y="5181600"/>
            <a:ext cx="8153400" cy="0"/>
          </a:xfrm>
          <a:prstGeom prst="line">
            <a:avLst/>
          </a:prstGeom>
          <a:noFill/>
          <a:ln w="76200">
            <a:solidFill>
              <a:srgbClr val="009900"/>
            </a:solidFill>
            <a:round/>
            <a:headEnd/>
            <a:tailEnd/>
          </a:ln>
        </p:spPr>
        <p:txBody>
          <a:bodyPr/>
          <a:lstStyle/>
          <a:p>
            <a:endParaRPr lang="en-US"/>
          </a:p>
        </p:txBody>
      </p:sp>
      <p:sp>
        <p:nvSpPr>
          <p:cNvPr id="7" name="Line 17"/>
          <p:cNvSpPr>
            <a:spLocks noChangeShapeType="1"/>
          </p:cNvSpPr>
          <p:nvPr/>
        </p:nvSpPr>
        <p:spPr bwMode="auto">
          <a:xfrm>
            <a:off x="458788" y="6419850"/>
            <a:ext cx="8153400" cy="0"/>
          </a:xfrm>
          <a:prstGeom prst="line">
            <a:avLst/>
          </a:prstGeom>
          <a:noFill/>
          <a:ln w="76200">
            <a:solidFill>
              <a:srgbClr val="009900"/>
            </a:solidFill>
            <a:round/>
            <a:headEnd/>
            <a:tailEnd/>
          </a:ln>
        </p:spPr>
        <p:txBody>
          <a:bodyPr/>
          <a:lstStyle/>
          <a:p>
            <a:endParaRPr lang="en-US"/>
          </a:p>
        </p:txBody>
      </p:sp>
      <p:sp>
        <p:nvSpPr>
          <p:cNvPr id="8" name="Rectangle 18"/>
          <p:cNvSpPr>
            <a:spLocks noChangeArrowheads="1"/>
          </p:cNvSpPr>
          <p:nvPr/>
        </p:nvSpPr>
        <p:spPr bwMode="auto">
          <a:xfrm>
            <a:off x="495300" y="5257800"/>
            <a:ext cx="8077200" cy="1066800"/>
          </a:xfrm>
          <a:prstGeom prst="rect">
            <a:avLst/>
          </a:prstGeom>
          <a:solidFill>
            <a:srgbClr val="99FF33"/>
          </a:solidFill>
          <a:ln w="76200" algn="ctr">
            <a:noFill/>
            <a:miter lim="800000"/>
            <a:headEnd/>
            <a:tailEnd/>
          </a:ln>
        </p:spPr>
        <p:txBody>
          <a:bodyPr>
            <a:spAutoFit/>
          </a:bodyPr>
          <a:lstStyle/>
          <a:p>
            <a:pPr algn="ctr"/>
            <a:r>
              <a:rPr lang="en-US" sz="3200" i="0" baseline="0" dirty="0">
                <a:latin typeface="Arial" charset="0"/>
              </a:rPr>
              <a:t>The </a:t>
            </a:r>
            <a:r>
              <a:rPr lang="en-US" sz="3200" i="0" baseline="0" dirty="0">
                <a:solidFill>
                  <a:srgbClr val="FF0000"/>
                </a:solidFill>
                <a:latin typeface="Arial" charset="0"/>
              </a:rPr>
              <a:t>key matrix </a:t>
            </a:r>
            <a:r>
              <a:rPr lang="en-US" sz="3200" i="0" baseline="0" dirty="0">
                <a:latin typeface="Arial" charset="0"/>
              </a:rPr>
              <a:t>in the Hill cipher needs to have a multiplicative inverse.</a:t>
            </a:r>
          </a:p>
        </p:txBody>
      </p:sp>
      <p:sp>
        <p:nvSpPr>
          <p:cNvPr id="12" name="Title 1"/>
          <p:cNvSpPr txBox="1">
            <a:spLocks/>
          </p:cNvSpPr>
          <p:nvPr/>
        </p:nvSpPr>
        <p:spPr>
          <a:xfrm>
            <a:off x="5105400" y="457200"/>
            <a:ext cx="3733800" cy="639763"/>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2800" i="0" u="none" strike="noStrike" kern="0" cap="none" spc="0" normalizeH="0" baseline="0" noProof="0" dirty="0" smtClean="0">
                <a:ln>
                  <a:noFill/>
                </a:ln>
                <a:solidFill>
                  <a:srgbClr val="FF0000"/>
                </a:solidFill>
                <a:effectLst/>
                <a:uLnTx/>
                <a:uFillTx/>
                <a:latin typeface="Arial" pitchFamily="34" charset="0"/>
                <a:ea typeface="PMingLiU" pitchFamily="18" charset="-120"/>
                <a:cs typeface="Arial" pitchFamily="34" charset="0"/>
              </a:rPr>
              <a:t>Hill Cipher</a:t>
            </a:r>
          </a:p>
        </p:txBody>
      </p:sp>
      <p:cxnSp>
        <p:nvCxnSpPr>
          <p:cNvPr id="9" name="Straight Arrow Connector 8"/>
          <p:cNvCxnSpPr/>
          <p:nvPr/>
        </p:nvCxnSpPr>
        <p:spPr>
          <a:xfrm flipH="1" flipV="1">
            <a:off x="2781300" y="4777581"/>
            <a:ext cx="266700" cy="404020"/>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022350"/>
            <a:ext cx="8839200" cy="1187450"/>
          </a:xfrm>
          <a:prstGeom prst="rect">
            <a:avLst/>
          </a:prstGeom>
          <a:noFill/>
          <a:ln w="9525">
            <a:noFill/>
            <a:miter lim="800000"/>
            <a:headEnd/>
            <a:tailEnd/>
          </a:ln>
        </p:spPr>
        <p:txBody>
          <a:bodyPr anchor="ctr">
            <a:spAutoFit/>
          </a:bodyPr>
          <a:lstStyle/>
          <a:p>
            <a:pPr algn="just" eaLnBrk="1" hangingPunct="1"/>
            <a:r>
              <a:rPr lang="en-US" sz="2400" i="0" baseline="0"/>
              <a:t>For example, the plaintext “code is ready” can make a 3 × 4 matrix when adding extra bogus character “z” to the last block and removing the spaces. The ciphertext is “OHKNIHGKLISS”.</a:t>
            </a:r>
          </a:p>
        </p:txBody>
      </p:sp>
      <p:pic>
        <p:nvPicPr>
          <p:cNvPr id="3" name="Picture 13"/>
          <p:cNvPicPr>
            <a:picLocks noChangeAspect="1" noChangeArrowheads="1"/>
          </p:cNvPicPr>
          <p:nvPr/>
        </p:nvPicPr>
        <p:blipFill>
          <a:blip r:embed="rId2"/>
          <a:srcRect/>
          <a:stretch>
            <a:fillRect/>
          </a:stretch>
        </p:blipFill>
        <p:spPr bwMode="auto">
          <a:xfrm>
            <a:off x="1519238" y="3054350"/>
            <a:ext cx="5018087" cy="3498850"/>
          </a:xfrm>
          <a:prstGeom prst="rect">
            <a:avLst/>
          </a:prstGeom>
          <a:noFill/>
          <a:ln w="9525">
            <a:noFill/>
            <a:miter lim="800000"/>
            <a:headEnd/>
            <a:tailEnd/>
          </a:ln>
        </p:spPr>
      </p:pic>
      <p:sp>
        <p:nvSpPr>
          <p:cNvPr id="4" name="Text Box 14"/>
          <p:cNvSpPr txBox="1">
            <a:spLocks noChangeArrowheads="1"/>
          </p:cNvSpPr>
          <p:nvPr/>
        </p:nvSpPr>
        <p:spPr bwMode="auto">
          <a:xfrm>
            <a:off x="2544763" y="2438400"/>
            <a:ext cx="2382383"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smtClean="0"/>
              <a:t>Example</a:t>
            </a:r>
            <a:endParaRPr lang="en-US" sz="2000" baseline="0" dirty="0"/>
          </a:p>
        </p:txBody>
      </p:sp>
      <p:sp>
        <p:nvSpPr>
          <p:cNvPr id="5" name="Text Box 11"/>
          <p:cNvSpPr txBox="1">
            <a:spLocks noChangeArrowheads="1"/>
          </p:cNvSpPr>
          <p:nvPr/>
        </p:nvSpPr>
        <p:spPr bwMode="auto">
          <a:xfrm>
            <a:off x="381000" y="533400"/>
            <a:ext cx="2068195" cy="461665"/>
          </a:xfrm>
          <a:prstGeom prst="rect">
            <a:avLst/>
          </a:prstGeom>
          <a:solidFill>
            <a:schemeClr val="folHlink"/>
          </a:solidFill>
          <a:ln w="9525">
            <a:noFill/>
            <a:miter lim="800000"/>
            <a:headEnd/>
            <a:tailEnd/>
          </a:ln>
        </p:spPr>
        <p:txBody>
          <a:bodyPr wrap="none">
            <a:spAutoFit/>
          </a:bodyPr>
          <a:lstStyle/>
          <a:p>
            <a:r>
              <a:rPr lang="en-US" sz="2400" i="0" baseline="0" dirty="0" err="1" smtClean="0">
                <a:solidFill>
                  <a:schemeClr val="bg1"/>
                </a:solidFill>
              </a:rPr>
              <a:t>Examp</a:t>
            </a:r>
            <a:r>
              <a:rPr lang="en-US" sz="2400" i="0" baseline="0" dirty="0" smtClean="0">
                <a:solidFill>
                  <a:schemeClr val="bg1"/>
                </a:solidFill>
              </a:rPr>
              <a:t> Hilll1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022350"/>
            <a:ext cx="8839200" cy="1200329"/>
          </a:xfrm>
          <a:prstGeom prst="rect">
            <a:avLst/>
          </a:prstGeom>
          <a:noFill/>
          <a:ln w="9525">
            <a:noFill/>
            <a:miter lim="800000"/>
            <a:headEnd/>
            <a:tailEnd/>
          </a:ln>
        </p:spPr>
        <p:txBody>
          <a:bodyPr anchor="ctr">
            <a:spAutoFit/>
          </a:bodyPr>
          <a:lstStyle/>
          <a:p>
            <a:pPr algn="just" eaLnBrk="1" hangingPunct="1"/>
            <a:r>
              <a:rPr lang="en-US" sz="2400" i="0" baseline="0" dirty="0"/>
              <a:t>Assume that Eve knows that </a:t>
            </a:r>
            <a:r>
              <a:rPr lang="en-US" sz="2400" baseline="0" dirty="0"/>
              <a:t>m</a:t>
            </a:r>
            <a:r>
              <a:rPr lang="en-US" sz="2400" i="0" baseline="0" dirty="0"/>
              <a:t> = 3. She has intercepted three plaintext/</a:t>
            </a:r>
            <a:r>
              <a:rPr lang="en-US" sz="2400" i="0" baseline="0" dirty="0" err="1"/>
              <a:t>ciphertext</a:t>
            </a:r>
            <a:r>
              <a:rPr lang="en-US" sz="2400" i="0" baseline="0" dirty="0"/>
              <a:t> pair blocks (not necessarily from the same message) as shown in Figure </a:t>
            </a:r>
            <a:r>
              <a:rPr lang="en-US" sz="2400" i="0" baseline="0" dirty="0" smtClean="0"/>
              <a:t>.</a:t>
            </a:r>
            <a:endParaRPr lang="en-US" sz="2400" i="0" baseline="0" dirty="0"/>
          </a:p>
        </p:txBody>
      </p:sp>
      <p:sp>
        <p:nvSpPr>
          <p:cNvPr id="3" name="Text Box 13"/>
          <p:cNvSpPr txBox="1">
            <a:spLocks noChangeArrowheads="1"/>
          </p:cNvSpPr>
          <p:nvPr/>
        </p:nvSpPr>
        <p:spPr bwMode="auto">
          <a:xfrm>
            <a:off x="3429000" y="2514600"/>
            <a:ext cx="1058303" cy="461665"/>
          </a:xfrm>
          <a:prstGeom prst="rect">
            <a:avLst/>
          </a:prstGeom>
          <a:noFill/>
          <a:ln w="9525">
            <a:noFill/>
            <a:miter lim="800000"/>
            <a:headEnd/>
            <a:tailEnd/>
          </a:ln>
        </p:spPr>
        <p:txBody>
          <a:bodyPr wrap="none">
            <a:spAutoFit/>
          </a:bodyPr>
          <a:lstStyle/>
          <a:p>
            <a:r>
              <a:rPr lang="en-US" sz="2400" i="0" baseline="0" dirty="0" smtClean="0">
                <a:solidFill>
                  <a:schemeClr val="folHlink"/>
                </a:solidFill>
              </a:rPr>
              <a:t>Figure</a:t>
            </a:r>
            <a:endParaRPr lang="en-US" sz="2000" baseline="0" dirty="0"/>
          </a:p>
        </p:txBody>
      </p:sp>
      <p:pic>
        <p:nvPicPr>
          <p:cNvPr id="4" name="Picture 14"/>
          <p:cNvPicPr>
            <a:picLocks noChangeAspect="1" noChangeArrowheads="1"/>
          </p:cNvPicPr>
          <p:nvPr/>
        </p:nvPicPr>
        <p:blipFill>
          <a:blip r:embed="rId2"/>
          <a:srcRect/>
          <a:stretch>
            <a:fillRect/>
          </a:stretch>
        </p:blipFill>
        <p:spPr bwMode="auto">
          <a:xfrm>
            <a:off x="1095375" y="3194050"/>
            <a:ext cx="5915025" cy="3130550"/>
          </a:xfrm>
          <a:prstGeom prst="rect">
            <a:avLst/>
          </a:prstGeom>
          <a:noFill/>
          <a:ln w="9525">
            <a:noFill/>
            <a:miter lim="800000"/>
            <a:headEnd/>
            <a:tailEnd/>
          </a:ln>
        </p:spPr>
      </p:pic>
      <p:sp>
        <p:nvSpPr>
          <p:cNvPr id="5" name="Text Box 11"/>
          <p:cNvSpPr txBox="1">
            <a:spLocks noChangeArrowheads="1"/>
          </p:cNvSpPr>
          <p:nvPr/>
        </p:nvSpPr>
        <p:spPr bwMode="auto">
          <a:xfrm>
            <a:off x="381000" y="533400"/>
            <a:ext cx="2154757"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r>
              <a:rPr lang="en-US" sz="2400" i="0" baseline="0" dirty="0" smtClean="0">
                <a:solidFill>
                  <a:schemeClr val="bg1"/>
                </a:solidFill>
              </a:rPr>
              <a:t> Hill2</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152400" y="1168311"/>
            <a:ext cx="8839200" cy="1200329"/>
          </a:xfrm>
          <a:prstGeom prst="rect">
            <a:avLst/>
          </a:prstGeom>
          <a:noFill/>
          <a:ln w="9525">
            <a:noFill/>
            <a:miter lim="800000"/>
            <a:headEnd/>
            <a:tailEnd/>
          </a:ln>
        </p:spPr>
        <p:txBody>
          <a:bodyPr anchor="ctr">
            <a:spAutoFit/>
          </a:bodyPr>
          <a:lstStyle/>
          <a:p>
            <a:pPr algn="just" eaLnBrk="1" hangingPunct="1"/>
            <a:r>
              <a:rPr lang="en-US" sz="2400" i="0" baseline="0" dirty="0"/>
              <a:t>She makes matrices P and C from these pairs. Because P is invertible, she inverts the P matrix and multiplies it by C to get the K matrix as shown in </a:t>
            </a:r>
            <a:r>
              <a:rPr lang="en-US" sz="2400" i="0" baseline="0" dirty="0" smtClean="0"/>
              <a:t>Figure.</a:t>
            </a:r>
            <a:endParaRPr lang="en-US" sz="2400" i="0" baseline="0" dirty="0"/>
          </a:p>
        </p:txBody>
      </p:sp>
      <p:sp>
        <p:nvSpPr>
          <p:cNvPr id="4" name="Text Box 12"/>
          <p:cNvSpPr txBox="1">
            <a:spLocks noChangeArrowheads="1"/>
          </p:cNvSpPr>
          <p:nvPr/>
        </p:nvSpPr>
        <p:spPr bwMode="auto">
          <a:xfrm>
            <a:off x="2544763" y="2514600"/>
            <a:ext cx="2382383"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Example </a:t>
            </a:r>
          </a:p>
        </p:txBody>
      </p:sp>
      <p:pic>
        <p:nvPicPr>
          <p:cNvPr id="5" name="Picture 14"/>
          <p:cNvPicPr>
            <a:picLocks noChangeAspect="1" noChangeArrowheads="1"/>
          </p:cNvPicPr>
          <p:nvPr/>
        </p:nvPicPr>
        <p:blipFill>
          <a:blip r:embed="rId2"/>
          <a:srcRect/>
          <a:stretch>
            <a:fillRect/>
          </a:stretch>
        </p:blipFill>
        <p:spPr bwMode="auto">
          <a:xfrm>
            <a:off x="768350" y="3124200"/>
            <a:ext cx="7605713" cy="2339975"/>
          </a:xfrm>
          <a:prstGeom prst="rect">
            <a:avLst/>
          </a:prstGeom>
          <a:noFill/>
          <a:ln w="9525">
            <a:noFill/>
            <a:miter lim="800000"/>
            <a:headEnd/>
            <a:tailEnd/>
          </a:ln>
        </p:spPr>
      </p:pic>
      <p:sp>
        <p:nvSpPr>
          <p:cNvPr id="6" name="Rectangle 15"/>
          <p:cNvSpPr>
            <a:spLocks noChangeArrowheads="1"/>
          </p:cNvSpPr>
          <p:nvPr/>
        </p:nvSpPr>
        <p:spPr bwMode="auto">
          <a:xfrm>
            <a:off x="304800" y="5638800"/>
            <a:ext cx="8839200" cy="822325"/>
          </a:xfrm>
          <a:prstGeom prst="rect">
            <a:avLst/>
          </a:prstGeom>
          <a:noFill/>
          <a:ln w="9525">
            <a:noFill/>
            <a:miter lim="800000"/>
            <a:headEnd/>
            <a:tailEnd/>
          </a:ln>
        </p:spPr>
        <p:txBody>
          <a:bodyPr anchor="ctr">
            <a:spAutoFit/>
          </a:bodyPr>
          <a:lstStyle/>
          <a:p>
            <a:pPr algn="just" eaLnBrk="1" hangingPunct="1"/>
            <a:r>
              <a:rPr lang="en-US" sz="2400" i="0" baseline="0" dirty="0"/>
              <a:t>Now she has the key and can break any </a:t>
            </a:r>
            <a:r>
              <a:rPr lang="en-US" sz="2400" i="0" baseline="0" dirty="0" err="1"/>
              <a:t>ciphertext</a:t>
            </a:r>
            <a:r>
              <a:rPr lang="en-US" sz="2400" i="0" baseline="0" dirty="0"/>
              <a:t> encrypted with that key.</a:t>
            </a:r>
          </a:p>
        </p:txBody>
      </p:sp>
      <p:sp>
        <p:nvSpPr>
          <p:cNvPr id="7" name="Text Box 11"/>
          <p:cNvSpPr txBox="1">
            <a:spLocks noChangeArrowheads="1"/>
          </p:cNvSpPr>
          <p:nvPr/>
        </p:nvSpPr>
        <p:spPr bwMode="auto">
          <a:xfrm>
            <a:off x="381000" y="533400"/>
            <a:ext cx="2991525"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r>
              <a:rPr lang="en-US" sz="2400" i="0" baseline="0" dirty="0" smtClean="0">
                <a:solidFill>
                  <a:schemeClr val="bg1"/>
                </a:solidFill>
              </a:rPr>
              <a:t> Hill2  cont.</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81000" y="457200"/>
            <a:ext cx="8458200" cy="639763"/>
          </a:xfrm>
        </p:spPr>
        <p:txBody>
          <a:bodyPr/>
          <a:lstStyle/>
          <a:p>
            <a:r>
              <a:rPr lang="en-US" b="1" dirty="0" smtClean="0"/>
              <a:t>Hill Cipher</a:t>
            </a:r>
            <a:endParaRPr lang="en-US" dirty="0" smtClean="0"/>
          </a:p>
        </p:txBody>
      </p:sp>
      <p:sp>
        <p:nvSpPr>
          <p:cNvPr id="50179" name="Content Placeholder 2"/>
          <p:cNvSpPr>
            <a:spLocks noGrp="1"/>
          </p:cNvSpPr>
          <p:nvPr>
            <p:ph sz="quarter" idx="1"/>
          </p:nvPr>
        </p:nvSpPr>
        <p:spPr>
          <a:xfrm>
            <a:off x="381000" y="990600"/>
            <a:ext cx="8458200" cy="762000"/>
          </a:xfrm>
        </p:spPr>
        <p:txBody>
          <a:bodyPr/>
          <a:lstStyle/>
          <a:p>
            <a:pPr>
              <a:buFontTx/>
              <a:buBlip>
                <a:blip r:embed="rId2"/>
              </a:buBlip>
            </a:pPr>
            <a:r>
              <a:rPr lang="en-US" smtClean="0"/>
              <a:t>Concepts from Linear Algebra</a:t>
            </a:r>
          </a:p>
        </p:txBody>
      </p:sp>
      <p:sp>
        <p:nvSpPr>
          <p:cNvPr id="50180" name="Rectangle 3"/>
          <p:cNvSpPr>
            <a:spLocks noChangeArrowheads="1"/>
          </p:cNvSpPr>
          <p:nvPr/>
        </p:nvSpPr>
        <p:spPr bwMode="auto">
          <a:xfrm>
            <a:off x="457200" y="1447800"/>
            <a:ext cx="8153400" cy="1631216"/>
          </a:xfrm>
          <a:prstGeom prst="rect">
            <a:avLst/>
          </a:prstGeom>
          <a:noFill/>
          <a:ln w="9525">
            <a:noFill/>
            <a:miter lim="800000"/>
            <a:headEnd/>
            <a:tailEnd/>
          </a:ln>
        </p:spPr>
        <p:txBody>
          <a:bodyPr>
            <a:spAutoFit/>
          </a:bodyPr>
          <a:lstStyle/>
          <a:p>
            <a:r>
              <a:rPr lang="en-US" sz="2000" dirty="0"/>
              <a:t>We define the inverse </a:t>
            </a:r>
            <a:r>
              <a:rPr lang="en-US" sz="2000" b="1" dirty="0"/>
              <a:t>M</a:t>
            </a:r>
            <a:r>
              <a:rPr lang="en-US" sz="2000" b="1" baseline="30000" dirty="0"/>
              <a:t>-1</a:t>
            </a:r>
            <a:r>
              <a:rPr lang="en-US" sz="2000" b="1" dirty="0"/>
              <a:t> </a:t>
            </a:r>
            <a:r>
              <a:rPr lang="en-US" sz="2000" dirty="0"/>
              <a:t>of a square matrix </a:t>
            </a:r>
            <a:r>
              <a:rPr lang="en-US" sz="2000" b="1" dirty="0"/>
              <a:t>M </a:t>
            </a:r>
            <a:r>
              <a:rPr lang="en-US" sz="2000" dirty="0"/>
              <a:t>by the equation</a:t>
            </a:r>
            <a:r>
              <a:rPr lang="en-US" sz="2000" b="1" dirty="0"/>
              <a:t> M(M</a:t>
            </a:r>
            <a:r>
              <a:rPr lang="en-US" sz="2000" b="1" baseline="30000" dirty="0"/>
              <a:t>-1</a:t>
            </a:r>
            <a:r>
              <a:rPr lang="en-US" sz="2000" b="1" dirty="0"/>
              <a:t>) = M</a:t>
            </a:r>
            <a:r>
              <a:rPr lang="en-US" sz="2000" b="1" baseline="30000" dirty="0"/>
              <a:t>-1</a:t>
            </a:r>
            <a:r>
              <a:rPr lang="en-US" sz="2000" b="1" dirty="0"/>
              <a:t>M = I, </a:t>
            </a:r>
            <a:r>
              <a:rPr lang="en-US" sz="2000" dirty="0"/>
              <a:t>where</a:t>
            </a:r>
            <a:r>
              <a:rPr lang="en-US" sz="2000" b="1" dirty="0"/>
              <a:t> I </a:t>
            </a:r>
            <a:r>
              <a:rPr lang="en-US" sz="2000" dirty="0"/>
              <a:t>is the identity matrix.</a:t>
            </a:r>
            <a:r>
              <a:rPr lang="en-US" sz="2000" b="1" dirty="0"/>
              <a:t> I </a:t>
            </a:r>
            <a:r>
              <a:rPr lang="en-US" sz="2000" dirty="0"/>
              <a:t>is a square matrix that is all zeros except for ones along the main diagonal from upper left to lower right</a:t>
            </a:r>
            <a:r>
              <a:rPr lang="en-US" sz="2000" dirty="0" smtClean="0"/>
              <a:t>. </a:t>
            </a:r>
          </a:p>
          <a:p>
            <a:r>
              <a:rPr lang="en-US" sz="2000" dirty="0" smtClean="0">
                <a:solidFill>
                  <a:srgbClr val="3333FF"/>
                </a:solidFill>
              </a:rPr>
              <a:t>(we </a:t>
            </a:r>
            <a:r>
              <a:rPr lang="en-US" sz="2000" dirty="0">
                <a:solidFill>
                  <a:srgbClr val="3333FF"/>
                </a:solidFill>
              </a:rPr>
              <a:t>are </a:t>
            </a:r>
            <a:r>
              <a:rPr lang="en-US" sz="2000" dirty="0" smtClean="0">
                <a:solidFill>
                  <a:srgbClr val="3333FF"/>
                </a:solidFill>
              </a:rPr>
              <a:t>concerned with </a:t>
            </a:r>
            <a:r>
              <a:rPr lang="en-US" sz="2000" dirty="0">
                <a:solidFill>
                  <a:srgbClr val="3333FF"/>
                </a:solidFill>
              </a:rPr>
              <a:t>matrix arithmetic modulo </a:t>
            </a:r>
            <a:r>
              <a:rPr lang="en-US" sz="2000" dirty="0" smtClean="0">
                <a:solidFill>
                  <a:srgbClr val="3333FF"/>
                </a:solidFill>
              </a:rPr>
              <a:t>26).</a:t>
            </a:r>
            <a:endParaRPr lang="en-US" sz="2000" dirty="0">
              <a:solidFill>
                <a:srgbClr val="3333FF"/>
              </a:solidFill>
            </a:endParaRPr>
          </a:p>
        </p:txBody>
      </p:sp>
      <p:pic>
        <p:nvPicPr>
          <p:cNvPr id="50181" name="Picture 2"/>
          <p:cNvPicPr>
            <a:picLocks noChangeAspect="1" noChangeArrowheads="1"/>
          </p:cNvPicPr>
          <p:nvPr/>
        </p:nvPicPr>
        <p:blipFill>
          <a:blip r:embed="rId3"/>
          <a:srcRect/>
          <a:stretch>
            <a:fillRect/>
          </a:stretch>
        </p:blipFill>
        <p:spPr bwMode="auto">
          <a:xfrm>
            <a:off x="1371600" y="3355075"/>
            <a:ext cx="6138863"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US" altLang="en-US" sz="3200" dirty="0" smtClean="0"/>
              <a:t>Matrix Operations</a:t>
            </a:r>
          </a:p>
        </p:txBody>
      </p:sp>
      <p:sp>
        <p:nvSpPr>
          <p:cNvPr id="22531" name="Rectangle 3"/>
          <p:cNvSpPr>
            <a:spLocks noGrp="1" noChangeArrowheads="1"/>
          </p:cNvSpPr>
          <p:nvPr>
            <p:ph type="body" idx="1"/>
          </p:nvPr>
        </p:nvSpPr>
        <p:spPr>
          <a:xfrm>
            <a:off x="649288" y="1490663"/>
            <a:ext cx="7772400" cy="4114800"/>
          </a:xfrm>
        </p:spPr>
        <p:txBody>
          <a:bodyPr/>
          <a:lstStyle/>
          <a:p>
            <a:pPr eaLnBrk="1" hangingPunct="1"/>
            <a:r>
              <a:rPr lang="en-US" altLang="en-US" dirty="0" smtClean="0"/>
              <a:t>Matrix addition/subtraction</a:t>
            </a:r>
          </a:p>
          <a:p>
            <a:pPr lvl="1" eaLnBrk="1" hangingPunct="1"/>
            <a:r>
              <a:rPr lang="en-US" altLang="en-US" dirty="0" smtClean="0"/>
              <a:t>Matrices must be of same size.</a:t>
            </a:r>
          </a:p>
          <a:p>
            <a:pPr lvl="1" eaLnBrk="1" hangingPunct="1"/>
            <a:endParaRPr lang="en-US" altLang="en-US" dirty="0" smtClean="0"/>
          </a:p>
          <a:p>
            <a:pPr eaLnBrk="1" hangingPunct="1"/>
            <a:r>
              <a:rPr lang="en-US" altLang="en-US" dirty="0" smtClean="0"/>
              <a:t>Matrix multiplication</a:t>
            </a:r>
          </a:p>
          <a:p>
            <a:pPr eaLnBrk="1" hangingPunct="1"/>
            <a:endParaRPr lang="en-US" altLang="en-US" dirty="0" smtClean="0"/>
          </a:p>
          <a:p>
            <a:pPr eaLnBrk="1" hangingPunct="1"/>
            <a:endParaRPr lang="en-US" altLang="en-US" dirty="0" smtClean="0"/>
          </a:p>
        </p:txBody>
      </p:sp>
      <p:grpSp>
        <p:nvGrpSpPr>
          <p:cNvPr id="2" name="Group 1"/>
          <p:cNvGrpSpPr/>
          <p:nvPr/>
        </p:nvGrpSpPr>
        <p:grpSpPr>
          <a:xfrm>
            <a:off x="1158875" y="3311099"/>
            <a:ext cx="6753225" cy="2826176"/>
            <a:chOff x="1447800" y="3695274"/>
            <a:chExt cx="6753225" cy="2826176"/>
          </a:xfrm>
        </p:grpSpPr>
        <p:pic>
          <p:nvPicPr>
            <p:cNvPr id="22532" name="Picture 5"/>
            <p:cNvPicPr>
              <a:picLocks noChangeAspect="1" noChangeArrowheads="1"/>
            </p:cNvPicPr>
            <p:nvPr/>
          </p:nvPicPr>
          <p:blipFill>
            <a:blip r:embed="rId3"/>
            <a:srcRect/>
            <a:stretch>
              <a:fillRect/>
            </a:stretch>
          </p:blipFill>
          <p:spPr bwMode="auto">
            <a:xfrm>
              <a:off x="1493838" y="4192588"/>
              <a:ext cx="6629400" cy="1520825"/>
            </a:xfrm>
            <a:prstGeom prst="rect">
              <a:avLst/>
            </a:prstGeom>
            <a:noFill/>
            <a:ln w="12700" cap="sq">
              <a:noFill/>
              <a:miter lim="800000"/>
              <a:headEnd type="none" w="sm" len="sm"/>
              <a:tailEnd type="none" w="sm" len="sm"/>
            </a:ln>
          </p:spPr>
        </p:pic>
        <p:sp>
          <p:nvSpPr>
            <p:cNvPr id="22533" name="Rectangle 6"/>
            <p:cNvSpPr>
              <a:spLocks noChangeArrowheads="1"/>
            </p:cNvSpPr>
            <p:nvPr/>
          </p:nvSpPr>
          <p:spPr bwMode="auto">
            <a:xfrm>
              <a:off x="1447800" y="58674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solidFill>
                    <a:srgbClr val="FF0000"/>
                  </a:solidFill>
                  <a:latin typeface="+mn-lt"/>
                </a:rPr>
                <a:t>Condition: </a:t>
              </a:r>
              <a:r>
                <a:rPr lang="en-US" altLang="en-US" sz="2400" dirty="0" smtClean="0">
                  <a:latin typeface="+mn-lt"/>
                </a:rPr>
                <a:t>n = q</a:t>
              </a:r>
            </a:p>
          </p:txBody>
        </p:sp>
        <p:sp>
          <p:nvSpPr>
            <p:cNvPr id="22534" name="Text Box 7"/>
            <p:cNvSpPr txBox="1">
              <a:spLocks noChangeArrowheads="1"/>
            </p:cNvSpPr>
            <p:nvPr/>
          </p:nvSpPr>
          <p:spPr bwMode="auto">
            <a:xfrm>
              <a:off x="2354263" y="3810000"/>
              <a:ext cx="877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latin typeface="+mn-lt"/>
                </a:rPr>
                <a:t>m x n</a:t>
              </a:r>
            </a:p>
          </p:txBody>
        </p:sp>
        <p:sp>
          <p:nvSpPr>
            <p:cNvPr id="22535" name="Text Box 8"/>
            <p:cNvSpPr txBox="1">
              <a:spLocks noChangeArrowheads="1"/>
            </p:cNvSpPr>
            <p:nvPr/>
          </p:nvSpPr>
          <p:spPr bwMode="auto">
            <a:xfrm>
              <a:off x="4411663" y="3805238"/>
              <a:ext cx="7312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err="1" smtClean="0">
                  <a:latin typeface="+mn-lt"/>
                </a:rPr>
                <a:t>nx</a:t>
              </a:r>
              <a:r>
                <a:rPr lang="en-US" altLang="en-US" sz="2400" dirty="0" smtClean="0">
                  <a:latin typeface="+mn-lt"/>
                </a:rPr>
                <a:t> p</a:t>
              </a:r>
            </a:p>
          </p:txBody>
        </p:sp>
        <p:sp>
          <p:nvSpPr>
            <p:cNvPr id="22536" name="Text Box 9"/>
            <p:cNvSpPr txBox="1">
              <a:spLocks noChangeArrowheads="1"/>
            </p:cNvSpPr>
            <p:nvPr/>
          </p:nvSpPr>
          <p:spPr bwMode="auto">
            <a:xfrm>
              <a:off x="6446123" y="3695274"/>
              <a:ext cx="877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latin typeface="+mn-lt"/>
                </a:rPr>
                <a:t>m x p</a:t>
              </a:r>
            </a:p>
          </p:txBody>
        </p:sp>
        <p:pic>
          <p:nvPicPr>
            <p:cNvPr id="22537" name="Picture 5"/>
            <p:cNvPicPr>
              <a:picLocks noChangeAspect="1" noChangeArrowheads="1"/>
            </p:cNvPicPr>
            <p:nvPr/>
          </p:nvPicPr>
          <p:blipFill>
            <a:blip r:embed="rId4"/>
            <a:srcRect/>
            <a:stretch>
              <a:fillRect/>
            </a:stretch>
          </p:blipFill>
          <p:spPr bwMode="auto">
            <a:xfrm>
              <a:off x="4208463" y="5867400"/>
              <a:ext cx="1447800" cy="539750"/>
            </a:xfrm>
            <a:prstGeom prst="rect">
              <a:avLst/>
            </a:prstGeom>
            <a:noFill/>
            <a:ln w="12700" cap="sq">
              <a:noFill/>
              <a:miter lim="800000"/>
              <a:headEnd type="none" w="sm" len="sm"/>
              <a:tailEnd type="none" w="sm" len="sm"/>
            </a:ln>
          </p:spPr>
        </p:pic>
        <p:grpSp>
          <p:nvGrpSpPr>
            <p:cNvPr id="22538" name="Group 2"/>
            <p:cNvGrpSpPr>
              <a:grpSpLocks/>
            </p:cNvGrpSpPr>
            <p:nvPr/>
          </p:nvGrpSpPr>
          <p:grpSpPr bwMode="auto">
            <a:xfrm>
              <a:off x="6143625" y="5605463"/>
              <a:ext cx="2057400" cy="915987"/>
              <a:chOff x="6143625" y="5605840"/>
              <a:chExt cx="2057400" cy="915610"/>
            </a:xfrm>
          </p:grpSpPr>
          <p:pic>
            <p:nvPicPr>
              <p:cNvPr id="22539" name="Picture 10"/>
              <p:cNvPicPr>
                <a:picLocks noChangeAspect="1" noChangeArrowheads="1"/>
              </p:cNvPicPr>
              <p:nvPr/>
            </p:nvPicPr>
            <p:blipFill>
              <a:blip r:embed="rId5"/>
              <a:srcRect/>
              <a:stretch>
                <a:fillRect/>
              </a:stretch>
            </p:blipFill>
            <p:spPr bwMode="auto">
              <a:xfrm>
                <a:off x="6143625" y="5710238"/>
                <a:ext cx="2057400" cy="811212"/>
              </a:xfrm>
              <a:prstGeom prst="rect">
                <a:avLst/>
              </a:prstGeom>
              <a:noFill/>
              <a:ln w="12700" cap="sq">
                <a:noFill/>
                <a:miter lim="800000"/>
                <a:headEnd type="none" w="sm" len="sm"/>
                <a:tailEnd type="none" w="sm" len="sm"/>
              </a:ln>
            </p:spPr>
          </p:pic>
          <p:sp>
            <p:nvSpPr>
              <p:cNvPr id="22540" name="TextBox 1"/>
              <p:cNvSpPr txBox="1">
                <a:spLocks noChangeArrowheads="1"/>
              </p:cNvSpPr>
              <p:nvPr/>
            </p:nvSpPr>
            <p:spPr bwMode="auto">
              <a:xfrm>
                <a:off x="6885067" y="5605840"/>
                <a:ext cx="287258" cy="338554"/>
              </a:xfrm>
              <a:prstGeom prst="rect">
                <a:avLst/>
              </a:prstGeom>
              <a:solidFill>
                <a:schemeClr val="bg1"/>
              </a:solidFill>
              <a:ln w="9525">
                <a:noFill/>
                <a:miter lim="800000"/>
                <a:headEnd/>
                <a:tailEnd/>
              </a:ln>
            </p:spPr>
            <p:txBody>
              <a:bodyPr wrap="none">
                <a:spAutoFit/>
              </a:bodyPr>
              <a:lstStyle/>
              <a:p>
                <a:r>
                  <a:rPr lang="en-US" sz="1600" i="1"/>
                  <a:t>n</a:t>
                </a:r>
              </a:p>
            </p:txBody>
          </p:sp>
        </p:grpSp>
      </p:grpSp>
    </p:spTree>
    <p:extLst>
      <p:ext uri="{BB962C8B-B14F-4D97-AF65-F5344CB8AC3E}">
        <p14:creationId xmlns:p14="http://schemas.microsoft.com/office/powerpoint/2010/main" val="425200756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pPr eaLnBrk="1" hangingPunct="1"/>
            <a:r>
              <a:rPr lang="en-US" altLang="en-US" sz="3200" dirty="0" smtClean="0"/>
              <a:t>Identity Matrix</a:t>
            </a:r>
          </a:p>
        </p:txBody>
      </p:sp>
      <p:pic>
        <p:nvPicPr>
          <p:cNvPr id="24579" name="Picture 6"/>
          <p:cNvPicPr>
            <a:picLocks noChangeAspect="1" noChangeArrowheads="1"/>
          </p:cNvPicPr>
          <p:nvPr/>
        </p:nvPicPr>
        <p:blipFill>
          <a:blip r:embed="rId3"/>
          <a:srcRect/>
          <a:stretch>
            <a:fillRect/>
          </a:stretch>
        </p:blipFill>
        <p:spPr bwMode="auto">
          <a:xfrm>
            <a:off x="1752600" y="2233613"/>
            <a:ext cx="5181600" cy="1766887"/>
          </a:xfrm>
          <a:prstGeom prst="rect">
            <a:avLst/>
          </a:prstGeom>
          <a:noFill/>
          <a:ln w="12700" cap="sq">
            <a:noFill/>
            <a:miter lim="800000"/>
            <a:headEnd type="none" w="sm" len="sm"/>
            <a:tailEnd type="none" w="sm" len="sm"/>
          </a:ln>
        </p:spPr>
      </p:pic>
    </p:spTree>
    <p:extLst>
      <p:ext uri="{BB962C8B-B14F-4D97-AF65-F5344CB8AC3E}">
        <p14:creationId xmlns:p14="http://schemas.microsoft.com/office/powerpoint/2010/main" val="191989049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pPr eaLnBrk="1" hangingPunct="1"/>
            <a:r>
              <a:rPr lang="en-US" altLang="en-US" sz="3200" dirty="0" smtClean="0"/>
              <a:t>Matrix Transpose</a:t>
            </a:r>
          </a:p>
        </p:txBody>
      </p:sp>
      <p:pic>
        <p:nvPicPr>
          <p:cNvPr id="26627" name="Picture 4"/>
          <p:cNvPicPr>
            <a:picLocks noGrp="1" noChangeAspect="1" noChangeArrowheads="1"/>
          </p:cNvPicPr>
          <p:nvPr>
            <p:ph type="body" idx="1"/>
          </p:nvPr>
        </p:nvPicPr>
        <p:blipFill>
          <a:blip r:embed="rId3"/>
          <a:srcRect/>
          <a:stretch>
            <a:fillRect/>
          </a:stretch>
        </p:blipFill>
        <p:spPr>
          <a:xfrm>
            <a:off x="1066800" y="2209800"/>
            <a:ext cx="7315200" cy="1863725"/>
          </a:xfrm>
          <a:noFill/>
        </p:spPr>
      </p:pic>
      <p:pic>
        <p:nvPicPr>
          <p:cNvPr id="26628" name="Picture 5"/>
          <p:cNvPicPr>
            <a:picLocks noChangeAspect="1" noChangeArrowheads="1"/>
          </p:cNvPicPr>
          <p:nvPr/>
        </p:nvPicPr>
        <p:blipFill>
          <a:blip r:embed="rId4"/>
          <a:srcRect/>
          <a:stretch>
            <a:fillRect/>
          </a:stretch>
        </p:blipFill>
        <p:spPr bwMode="auto">
          <a:xfrm>
            <a:off x="2971800" y="4648200"/>
            <a:ext cx="3429000" cy="768350"/>
          </a:xfrm>
          <a:prstGeom prst="rect">
            <a:avLst/>
          </a:prstGeom>
          <a:noFill/>
          <a:ln w="12700" cap="sq">
            <a:noFill/>
            <a:miter lim="800000"/>
            <a:headEnd type="none" w="sm" len="sm"/>
            <a:tailEnd type="none" w="sm" len="sm"/>
          </a:ln>
        </p:spPr>
      </p:pic>
    </p:spTree>
    <p:extLst>
      <p:ext uri="{BB962C8B-B14F-4D97-AF65-F5344CB8AC3E}">
        <p14:creationId xmlns:p14="http://schemas.microsoft.com/office/powerpoint/2010/main" val="125150930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US" altLang="en-US" sz="3200" dirty="0" smtClean="0"/>
              <a:t>Symmetric Matrices</a:t>
            </a:r>
          </a:p>
        </p:txBody>
      </p:sp>
      <p:pic>
        <p:nvPicPr>
          <p:cNvPr id="28675" name="Picture 4"/>
          <p:cNvPicPr>
            <a:picLocks noGrp="1" noChangeAspect="1" noChangeArrowheads="1"/>
          </p:cNvPicPr>
          <p:nvPr>
            <p:ph type="body" idx="1"/>
          </p:nvPr>
        </p:nvPicPr>
        <p:blipFill>
          <a:blip r:embed="rId3"/>
          <a:srcRect/>
          <a:stretch>
            <a:fillRect/>
          </a:stretch>
        </p:blipFill>
        <p:spPr>
          <a:xfrm>
            <a:off x="3200400" y="2133600"/>
            <a:ext cx="2895600" cy="727075"/>
          </a:xfrm>
          <a:noFill/>
        </p:spPr>
      </p:pic>
      <p:pic>
        <p:nvPicPr>
          <p:cNvPr id="28676" name="Picture 5"/>
          <p:cNvPicPr>
            <a:picLocks noChangeAspect="1" noChangeArrowheads="1"/>
          </p:cNvPicPr>
          <p:nvPr/>
        </p:nvPicPr>
        <p:blipFill>
          <a:blip r:embed="rId4"/>
          <a:srcRect/>
          <a:stretch>
            <a:fillRect/>
          </a:stretch>
        </p:blipFill>
        <p:spPr bwMode="auto">
          <a:xfrm>
            <a:off x="3657600" y="3733800"/>
            <a:ext cx="2286000" cy="1795463"/>
          </a:xfrm>
          <a:prstGeom prst="rect">
            <a:avLst/>
          </a:prstGeom>
          <a:noFill/>
          <a:ln w="12700" cap="sq">
            <a:noFill/>
            <a:miter lim="800000"/>
            <a:headEnd type="none" w="sm" len="sm"/>
            <a:tailEnd type="none" w="sm" len="sm"/>
          </a:ln>
        </p:spPr>
      </p:pic>
      <p:sp>
        <p:nvSpPr>
          <p:cNvPr id="28677" name="Text Box 6"/>
          <p:cNvSpPr txBox="1">
            <a:spLocks noChangeArrowheads="1"/>
          </p:cNvSpPr>
          <p:nvPr/>
        </p:nvSpPr>
        <p:spPr bwMode="auto">
          <a:xfrm>
            <a:off x="1981200" y="4343400"/>
            <a:ext cx="1349375" cy="457200"/>
          </a:xfrm>
          <a:prstGeom prst="rect">
            <a:avLst/>
          </a:prstGeom>
          <a:noFill/>
          <a:ln w="12700" cap="sq">
            <a:noFill/>
            <a:miter lim="800000"/>
            <a:headEnd type="none" w="sm" len="sm"/>
            <a:tailEnd type="none" w="sm" len="sm"/>
          </a:ln>
        </p:spPr>
        <p:txBody>
          <a:bodyPr wrap="none">
            <a:spAutoFit/>
          </a:bodyPr>
          <a:lstStyle/>
          <a:p>
            <a:r>
              <a:rPr lang="en-US" altLang="en-US">
                <a:solidFill>
                  <a:schemeClr val="accent2"/>
                </a:solidFill>
              </a:rPr>
              <a:t>Example:</a:t>
            </a:r>
          </a:p>
        </p:txBody>
      </p:sp>
    </p:spTree>
    <p:extLst>
      <p:ext uri="{BB962C8B-B14F-4D97-AF65-F5344CB8AC3E}">
        <p14:creationId xmlns:p14="http://schemas.microsoft.com/office/powerpoint/2010/main" val="276952138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eaLnBrk="1" hangingPunct="1"/>
            <a:r>
              <a:rPr lang="en-US" altLang="en-US" sz="3200" dirty="0" smtClean="0"/>
              <a:t>Determinants</a:t>
            </a:r>
          </a:p>
        </p:txBody>
      </p:sp>
      <p:pic>
        <p:nvPicPr>
          <p:cNvPr id="30723" name="Picture 4"/>
          <p:cNvPicPr>
            <a:picLocks noGrp="1" noChangeAspect="1" noChangeArrowheads="1"/>
          </p:cNvPicPr>
          <p:nvPr>
            <p:ph type="body" idx="1"/>
          </p:nvPr>
        </p:nvPicPr>
        <p:blipFill>
          <a:blip r:embed="rId3"/>
          <a:srcRect/>
          <a:stretch>
            <a:fillRect/>
          </a:stretch>
        </p:blipFill>
        <p:spPr>
          <a:xfrm>
            <a:off x="1712913" y="1076325"/>
            <a:ext cx="6324600" cy="1198563"/>
          </a:xfrm>
          <a:noFill/>
        </p:spPr>
      </p:pic>
      <p:pic>
        <p:nvPicPr>
          <p:cNvPr id="30724" name="Picture 5"/>
          <p:cNvPicPr>
            <a:picLocks noChangeAspect="1" noChangeArrowheads="1"/>
          </p:cNvPicPr>
          <p:nvPr/>
        </p:nvPicPr>
        <p:blipFill>
          <a:blip r:embed="rId4"/>
          <a:srcRect/>
          <a:stretch>
            <a:fillRect/>
          </a:stretch>
        </p:blipFill>
        <p:spPr bwMode="auto">
          <a:xfrm>
            <a:off x="1185863" y="2754313"/>
            <a:ext cx="7620000" cy="1177925"/>
          </a:xfrm>
          <a:prstGeom prst="rect">
            <a:avLst/>
          </a:prstGeom>
          <a:noFill/>
          <a:ln w="12700" cap="sq">
            <a:noFill/>
            <a:miter lim="800000"/>
            <a:headEnd type="none" w="sm" len="sm"/>
            <a:tailEnd type="none" w="sm" len="sm"/>
          </a:ln>
        </p:spPr>
      </p:pic>
      <p:sp>
        <p:nvSpPr>
          <p:cNvPr id="30725" name="Text Box 6"/>
          <p:cNvSpPr txBox="1">
            <a:spLocks noChangeArrowheads="1"/>
          </p:cNvSpPr>
          <p:nvPr/>
        </p:nvSpPr>
        <p:spPr bwMode="auto">
          <a:xfrm>
            <a:off x="228600" y="14478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solidFill>
                  <a:srgbClr val="FF0000"/>
                </a:solidFill>
                <a:latin typeface="+mn-lt"/>
              </a:rPr>
              <a:t>2 x 2</a:t>
            </a:r>
          </a:p>
        </p:txBody>
      </p:sp>
      <p:sp>
        <p:nvSpPr>
          <p:cNvPr id="30726" name="Text Box 7"/>
          <p:cNvSpPr txBox="1">
            <a:spLocks noChangeArrowheads="1"/>
          </p:cNvSpPr>
          <p:nvPr/>
        </p:nvSpPr>
        <p:spPr bwMode="auto">
          <a:xfrm>
            <a:off x="217488" y="3027363"/>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solidFill>
                  <a:srgbClr val="FF0000"/>
                </a:solidFill>
                <a:latin typeface="+mn-lt"/>
              </a:rPr>
              <a:t>3 x 3</a:t>
            </a:r>
          </a:p>
        </p:txBody>
      </p:sp>
      <p:pic>
        <p:nvPicPr>
          <p:cNvPr id="30727" name="Picture 8"/>
          <p:cNvPicPr>
            <a:picLocks noChangeAspect="1" noChangeArrowheads="1"/>
          </p:cNvPicPr>
          <p:nvPr/>
        </p:nvPicPr>
        <p:blipFill>
          <a:blip r:embed="rId5"/>
          <a:srcRect/>
          <a:stretch>
            <a:fillRect/>
          </a:stretch>
        </p:blipFill>
        <p:spPr bwMode="auto">
          <a:xfrm>
            <a:off x="1524000" y="4267200"/>
            <a:ext cx="6172200" cy="871538"/>
          </a:xfrm>
          <a:prstGeom prst="rect">
            <a:avLst/>
          </a:prstGeom>
          <a:noFill/>
          <a:ln w="12700" cap="sq">
            <a:noFill/>
            <a:miter lim="800000"/>
            <a:headEnd type="none" w="sm" len="sm"/>
            <a:tailEnd type="none" w="sm" len="sm"/>
          </a:ln>
        </p:spPr>
      </p:pic>
      <p:sp>
        <p:nvSpPr>
          <p:cNvPr id="30728" name="Text Box 9"/>
          <p:cNvSpPr txBox="1">
            <a:spLocks noChangeArrowheads="1"/>
          </p:cNvSpPr>
          <p:nvPr/>
        </p:nvSpPr>
        <p:spPr bwMode="auto">
          <a:xfrm>
            <a:off x="204788" y="4475163"/>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solidFill>
                  <a:srgbClr val="FF0000"/>
                </a:solidFill>
                <a:latin typeface="+mn-lt"/>
              </a:rPr>
              <a:t>n x n</a:t>
            </a:r>
          </a:p>
        </p:txBody>
      </p:sp>
      <p:pic>
        <p:nvPicPr>
          <p:cNvPr id="30729" name="Picture 3"/>
          <p:cNvPicPr>
            <a:picLocks noChangeAspect="1" noChangeArrowheads="1"/>
          </p:cNvPicPr>
          <p:nvPr/>
        </p:nvPicPr>
        <p:blipFill>
          <a:blip r:embed="rId6"/>
          <a:srcRect/>
          <a:stretch>
            <a:fillRect/>
          </a:stretch>
        </p:blipFill>
        <p:spPr bwMode="auto">
          <a:xfrm>
            <a:off x="2819400" y="5562600"/>
            <a:ext cx="3246438" cy="854075"/>
          </a:xfrm>
          <a:prstGeom prst="rect">
            <a:avLst/>
          </a:prstGeom>
          <a:noFill/>
          <a:ln w="9525">
            <a:noFill/>
            <a:miter lim="800000"/>
            <a:headEnd/>
            <a:tailEnd/>
          </a:ln>
        </p:spPr>
      </p:pic>
      <p:sp>
        <p:nvSpPr>
          <p:cNvPr id="10" name="Text Box 9"/>
          <p:cNvSpPr txBox="1">
            <a:spLocks noChangeArrowheads="1"/>
          </p:cNvSpPr>
          <p:nvPr/>
        </p:nvSpPr>
        <p:spPr bwMode="auto">
          <a:xfrm>
            <a:off x="742950" y="5715000"/>
            <a:ext cx="1562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defRPr/>
            </a:pPr>
            <a:r>
              <a:rPr lang="en-US" altLang="en-US" sz="2400" dirty="0" smtClean="0">
                <a:latin typeface="+mn-lt"/>
              </a:rPr>
              <a:t>Properties:</a:t>
            </a:r>
          </a:p>
        </p:txBody>
      </p:sp>
    </p:spTree>
    <p:extLst>
      <p:ext uri="{BB962C8B-B14F-4D97-AF65-F5344CB8AC3E}">
        <p14:creationId xmlns:p14="http://schemas.microsoft.com/office/powerpoint/2010/main" val="106493253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altLang="en-US" sz="3200" dirty="0" smtClean="0"/>
              <a:t>Matrix Inverse</a:t>
            </a:r>
          </a:p>
        </p:txBody>
      </p:sp>
      <p:sp>
        <p:nvSpPr>
          <p:cNvPr id="32771" name="Rectangle 3"/>
          <p:cNvSpPr>
            <a:spLocks noGrp="1" noChangeArrowheads="1"/>
          </p:cNvSpPr>
          <p:nvPr>
            <p:ph type="body" idx="1"/>
          </p:nvPr>
        </p:nvSpPr>
        <p:spPr>
          <a:xfrm>
            <a:off x="685800" y="1277144"/>
            <a:ext cx="8229600" cy="4572000"/>
          </a:xfrm>
        </p:spPr>
        <p:txBody>
          <a:bodyPr/>
          <a:lstStyle/>
          <a:p>
            <a:pPr eaLnBrk="1" hangingPunct="1"/>
            <a:r>
              <a:rPr lang="en-US" altLang="en-US" sz="2800" dirty="0" smtClean="0"/>
              <a:t>The inverse </a:t>
            </a:r>
            <a:r>
              <a:rPr lang="en-US" altLang="en-US" sz="2800" i="1" dirty="0" smtClean="0"/>
              <a:t>A</a:t>
            </a:r>
            <a:r>
              <a:rPr lang="en-US" altLang="en-US" sz="2800" baseline="30000" dirty="0" smtClean="0"/>
              <a:t>-1</a:t>
            </a:r>
            <a:r>
              <a:rPr lang="en-US" altLang="en-US" sz="2800" dirty="0" smtClean="0"/>
              <a:t> of a matrix </a:t>
            </a:r>
            <a:r>
              <a:rPr lang="en-US" altLang="en-US" sz="2800" i="1" dirty="0" smtClean="0"/>
              <a:t>A </a:t>
            </a:r>
            <a:r>
              <a:rPr lang="en-US" altLang="en-US" sz="2800" dirty="0" smtClean="0"/>
              <a:t>has the property:</a:t>
            </a:r>
          </a:p>
          <a:p>
            <a:pPr eaLnBrk="1" hangingPunct="1">
              <a:buFontTx/>
              <a:buNone/>
            </a:pPr>
            <a:r>
              <a:rPr lang="en-US" altLang="en-US" sz="2800" i="1" dirty="0" smtClean="0"/>
              <a:t>                                 </a:t>
            </a:r>
            <a:r>
              <a:rPr lang="en-US" altLang="en-US" sz="2800" b="1" i="1" dirty="0" smtClean="0"/>
              <a:t>AA</a:t>
            </a:r>
            <a:r>
              <a:rPr lang="en-US" altLang="en-US" sz="2800" b="1" baseline="30000" dirty="0" smtClean="0"/>
              <a:t>-1</a:t>
            </a:r>
            <a:r>
              <a:rPr lang="en-US" altLang="en-US" sz="2800" b="1" dirty="0" smtClean="0"/>
              <a:t>=</a:t>
            </a:r>
            <a:r>
              <a:rPr lang="en-US" altLang="en-US" sz="2800" b="1" i="1" dirty="0" smtClean="0"/>
              <a:t>A</a:t>
            </a:r>
            <a:r>
              <a:rPr lang="en-US" altLang="en-US" sz="2800" b="1" baseline="30000" dirty="0" smtClean="0"/>
              <a:t>-1</a:t>
            </a:r>
            <a:r>
              <a:rPr lang="en-US" altLang="en-US" sz="2800" b="1" i="1" dirty="0" smtClean="0"/>
              <a:t>A</a:t>
            </a:r>
            <a:r>
              <a:rPr lang="en-US" altLang="en-US" sz="2800" b="1" dirty="0" smtClean="0"/>
              <a:t>=</a:t>
            </a:r>
            <a:r>
              <a:rPr lang="en-US" altLang="en-US" sz="2800" b="1" i="1" dirty="0" smtClean="0"/>
              <a:t>I</a:t>
            </a:r>
          </a:p>
          <a:p>
            <a:pPr eaLnBrk="1" hangingPunct="1"/>
            <a:endParaRPr lang="en-US" altLang="en-US" sz="2800" b="1" i="1" dirty="0" smtClean="0"/>
          </a:p>
          <a:p>
            <a:pPr eaLnBrk="1" hangingPunct="1"/>
            <a:r>
              <a:rPr lang="en-US" altLang="en-US" sz="2800" i="1" dirty="0" smtClean="0"/>
              <a:t>A</a:t>
            </a:r>
            <a:r>
              <a:rPr lang="en-US" altLang="en-US" sz="2800" baseline="30000" dirty="0" smtClean="0"/>
              <a:t>-1</a:t>
            </a:r>
            <a:r>
              <a:rPr lang="en-US" altLang="en-US" sz="2800" dirty="0" smtClean="0"/>
              <a:t> exists only if </a:t>
            </a:r>
          </a:p>
          <a:p>
            <a:pPr eaLnBrk="1" hangingPunct="1"/>
            <a:endParaRPr lang="en-US" altLang="en-US" sz="2800" b="1" dirty="0" smtClean="0"/>
          </a:p>
          <a:p>
            <a:pPr eaLnBrk="1" hangingPunct="1"/>
            <a:r>
              <a:rPr lang="en-US" altLang="en-US" sz="2800" dirty="0" smtClean="0"/>
              <a:t>Terminology</a:t>
            </a:r>
          </a:p>
          <a:p>
            <a:pPr lvl="1" eaLnBrk="1" hangingPunct="1"/>
            <a:r>
              <a:rPr lang="en-US" altLang="en-US" sz="2400" b="1" dirty="0" smtClean="0"/>
              <a:t>Singular matrix:</a:t>
            </a:r>
            <a:r>
              <a:rPr lang="en-US" altLang="en-US" sz="2400" dirty="0" smtClean="0"/>
              <a:t> </a:t>
            </a:r>
            <a:r>
              <a:rPr lang="en-US" altLang="en-US" sz="2400" i="1" dirty="0" smtClean="0"/>
              <a:t>A</a:t>
            </a:r>
            <a:r>
              <a:rPr lang="en-US" altLang="en-US" sz="2400" i="1" baseline="30000" dirty="0" smtClean="0"/>
              <a:t>-1</a:t>
            </a:r>
            <a:r>
              <a:rPr lang="en-US" altLang="en-US" sz="2400" i="1" dirty="0" smtClean="0"/>
              <a:t> </a:t>
            </a:r>
            <a:r>
              <a:rPr lang="en-US" altLang="en-US" sz="2400" dirty="0" smtClean="0"/>
              <a:t>does not exist</a:t>
            </a:r>
          </a:p>
          <a:p>
            <a:pPr lvl="1" eaLnBrk="1" hangingPunct="1"/>
            <a:r>
              <a:rPr lang="en-US" altLang="en-US" sz="2400" b="1" dirty="0" smtClean="0"/>
              <a:t>Ill-conditioned matrix: </a:t>
            </a:r>
            <a:r>
              <a:rPr lang="en-US" altLang="en-US" sz="2400" i="1" dirty="0" smtClean="0"/>
              <a:t>A </a:t>
            </a:r>
            <a:r>
              <a:rPr lang="en-US" altLang="en-US" sz="2400" dirty="0" smtClean="0"/>
              <a:t>is “close” to being singular</a:t>
            </a:r>
          </a:p>
          <a:p>
            <a:pPr eaLnBrk="1" hangingPunct="1"/>
            <a:endParaRPr lang="en-US" altLang="en-US" dirty="0" smtClean="0"/>
          </a:p>
          <a:p>
            <a:pPr eaLnBrk="1" hangingPunct="1"/>
            <a:endParaRPr lang="en-US" altLang="en-US" dirty="0" smtClean="0"/>
          </a:p>
        </p:txBody>
      </p:sp>
      <p:pic>
        <p:nvPicPr>
          <p:cNvPr id="32772" name="Picture 4"/>
          <p:cNvPicPr>
            <a:picLocks noChangeAspect="1" noChangeArrowheads="1"/>
          </p:cNvPicPr>
          <p:nvPr/>
        </p:nvPicPr>
        <p:blipFill>
          <a:blip r:embed="rId3"/>
          <a:srcRect/>
          <a:stretch>
            <a:fillRect/>
          </a:stretch>
        </p:blipFill>
        <p:spPr bwMode="auto">
          <a:xfrm>
            <a:off x="3581400" y="3319463"/>
            <a:ext cx="1752600" cy="487362"/>
          </a:xfrm>
          <a:prstGeom prst="rect">
            <a:avLst/>
          </a:prstGeom>
          <a:noFill/>
          <a:ln w="12700" cap="sq">
            <a:noFill/>
            <a:miter lim="800000"/>
            <a:headEnd type="none" w="sm" len="sm"/>
            <a:tailEnd type="none" w="sm" len="sm"/>
          </a:ln>
        </p:spPr>
      </p:pic>
    </p:spTree>
    <p:extLst>
      <p:ext uri="{BB962C8B-B14F-4D97-AF65-F5344CB8AC3E}">
        <p14:creationId xmlns:p14="http://schemas.microsoft.com/office/powerpoint/2010/main" val="355890843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z="4000" b="1" smtClean="0"/>
              <a:t>Matrix Inverse (cont’d)</a:t>
            </a:r>
          </a:p>
        </p:txBody>
      </p:sp>
      <p:sp>
        <p:nvSpPr>
          <p:cNvPr id="34819" name="Rectangle 3"/>
          <p:cNvSpPr>
            <a:spLocks noGrp="1" noChangeArrowheads="1"/>
          </p:cNvSpPr>
          <p:nvPr>
            <p:ph type="body" idx="1"/>
          </p:nvPr>
        </p:nvSpPr>
        <p:spPr>
          <a:xfrm>
            <a:off x="685800" y="1752600"/>
            <a:ext cx="8229600" cy="4572000"/>
          </a:xfrm>
        </p:spPr>
        <p:txBody>
          <a:bodyPr/>
          <a:lstStyle/>
          <a:p>
            <a:pPr eaLnBrk="1" hangingPunct="1"/>
            <a:r>
              <a:rPr lang="en-US" altLang="en-US" sz="2800" smtClean="0"/>
              <a:t>Properties of the inverse:</a:t>
            </a:r>
          </a:p>
          <a:p>
            <a:pPr eaLnBrk="1" hangingPunct="1"/>
            <a:endParaRPr lang="en-US" altLang="en-US" sz="2800" smtClean="0"/>
          </a:p>
        </p:txBody>
      </p:sp>
      <p:pic>
        <p:nvPicPr>
          <p:cNvPr id="34820" name="Picture 5"/>
          <p:cNvPicPr>
            <a:picLocks noChangeAspect="1" noChangeArrowheads="1"/>
          </p:cNvPicPr>
          <p:nvPr/>
        </p:nvPicPr>
        <p:blipFill>
          <a:blip r:embed="rId3"/>
          <a:srcRect/>
          <a:stretch>
            <a:fillRect/>
          </a:stretch>
        </p:blipFill>
        <p:spPr bwMode="auto">
          <a:xfrm>
            <a:off x="2667000" y="2514600"/>
            <a:ext cx="3429000" cy="2746375"/>
          </a:xfrm>
          <a:prstGeom prst="rect">
            <a:avLst/>
          </a:prstGeom>
          <a:noFill/>
          <a:ln w="12700" cap="sq">
            <a:noFill/>
            <a:miter lim="800000"/>
            <a:headEnd type="none" w="sm" len="sm"/>
            <a:tailEnd type="none" w="sm" len="sm"/>
          </a:ln>
        </p:spPr>
      </p:pic>
    </p:spTree>
    <p:extLst>
      <p:ext uri="{BB962C8B-B14F-4D97-AF65-F5344CB8AC3E}">
        <p14:creationId xmlns:p14="http://schemas.microsoft.com/office/powerpoint/2010/main" val="187122076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392373" y="1219200"/>
            <a:ext cx="8534400" cy="1938992"/>
          </a:xfrm>
          <a:prstGeom prst="rect">
            <a:avLst/>
          </a:prstGeom>
          <a:noFill/>
          <a:ln w="9525">
            <a:noFill/>
            <a:miter lim="800000"/>
            <a:headEnd/>
            <a:tailEnd/>
          </a:ln>
        </p:spPr>
        <p:txBody>
          <a:bodyPr>
            <a:spAutoFit/>
          </a:bodyPr>
          <a:lstStyle/>
          <a:p>
            <a:r>
              <a:rPr lang="en-US" sz="2400" dirty="0" smtClean="0">
                <a:solidFill>
                  <a:srgbClr val="FF0000"/>
                </a:solidFill>
                <a:latin typeface="Times New Roman" pitchFamily="18" charset="0"/>
                <a:cs typeface="Times New Roman" pitchFamily="18" charset="0"/>
              </a:rPr>
              <a:t>Determinant</a:t>
            </a:r>
            <a:endParaRPr lang="en-US" sz="2400" dirty="0">
              <a:solidFill>
                <a:srgbClr val="FF0000"/>
              </a:solidFill>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For any square matrix (m × m), the determinant equals the sum of all the products that can be formed by taking exactly one element from each row and exactly one element from each column, with certain of the product terms preceded by a minus sign</a:t>
            </a:r>
          </a:p>
        </p:txBody>
      </p:sp>
      <p:pic>
        <p:nvPicPr>
          <p:cNvPr id="51203" name="Picture 2"/>
          <p:cNvPicPr>
            <a:picLocks noChangeAspect="1" noChangeArrowheads="1"/>
          </p:cNvPicPr>
          <p:nvPr/>
        </p:nvPicPr>
        <p:blipFill>
          <a:blip r:embed="rId2"/>
          <a:srcRect/>
          <a:stretch>
            <a:fillRect/>
          </a:stretch>
        </p:blipFill>
        <p:spPr bwMode="auto">
          <a:xfrm>
            <a:off x="3733800" y="3352800"/>
            <a:ext cx="1752600" cy="1081088"/>
          </a:xfrm>
          <a:prstGeom prst="rect">
            <a:avLst/>
          </a:prstGeom>
          <a:noFill/>
          <a:ln w="9525">
            <a:noFill/>
            <a:miter lim="800000"/>
            <a:headEnd/>
            <a:tailEnd/>
          </a:ln>
        </p:spPr>
      </p:pic>
      <p:pic>
        <p:nvPicPr>
          <p:cNvPr id="51204" name="Picture 4"/>
          <p:cNvPicPr>
            <a:picLocks noChangeAspect="1" noChangeArrowheads="1"/>
          </p:cNvPicPr>
          <p:nvPr/>
        </p:nvPicPr>
        <p:blipFill>
          <a:blip r:embed="rId3"/>
          <a:srcRect/>
          <a:stretch>
            <a:fillRect/>
          </a:stretch>
        </p:blipFill>
        <p:spPr bwMode="auto">
          <a:xfrm>
            <a:off x="457200" y="4648200"/>
            <a:ext cx="8305800" cy="1684338"/>
          </a:xfrm>
          <a:prstGeom prst="rect">
            <a:avLst/>
          </a:prstGeom>
          <a:noFill/>
          <a:ln w="9525">
            <a:noFill/>
            <a:miter lim="800000"/>
            <a:headEnd/>
            <a:tailEnd/>
          </a:ln>
        </p:spPr>
      </p:pic>
      <p:sp>
        <p:nvSpPr>
          <p:cNvPr id="4" name="Rectangle 3"/>
          <p:cNvSpPr/>
          <p:nvPr/>
        </p:nvSpPr>
        <p:spPr>
          <a:xfrm>
            <a:off x="5214509" y="228600"/>
            <a:ext cx="3554178" cy="584775"/>
          </a:xfrm>
          <a:prstGeom prst="rect">
            <a:avLst/>
          </a:prstGeom>
        </p:spPr>
        <p:txBody>
          <a:bodyPr wrap="none">
            <a:spAutoFit/>
          </a:bodyPr>
          <a:lstStyle/>
          <a:p>
            <a:pPr lvl="0"/>
            <a:r>
              <a:rPr lang="en-US" sz="3200" dirty="0">
                <a:solidFill>
                  <a:srgbClr val="FF0000"/>
                </a:solidFill>
                <a:latin typeface="Arial Unicode MS" pitchFamily="34" charset="-128"/>
                <a:ea typeface="Arial Unicode MS" pitchFamily="34" charset="-128"/>
                <a:cs typeface="Arial Unicode MS" pitchFamily="34" charset="-128"/>
              </a:rPr>
              <a:t>Inverse of a Matrix</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71600"/>
            <a:ext cx="5334000" cy="2193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899" y="3732519"/>
            <a:ext cx="57435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81000" y="3930312"/>
            <a:ext cx="1447800" cy="461665"/>
          </a:xfrm>
          <a:prstGeom prst="rect">
            <a:avLst/>
          </a:prstGeom>
          <a:noFill/>
        </p:spPr>
        <p:txBody>
          <a:bodyPr wrap="square" rtlCol="0">
            <a:spAutoFit/>
          </a:bodyPr>
          <a:lstStyle/>
          <a:p>
            <a:r>
              <a:rPr lang="en-US" sz="2400" dirty="0" err="1" smtClean="0"/>
              <a:t>Det</a:t>
            </a:r>
            <a:r>
              <a:rPr lang="en-US" sz="2400" dirty="0" smtClean="0"/>
              <a:t>(A)=</a:t>
            </a:r>
            <a:endParaRPr lang="en-US" sz="2400" dirty="0"/>
          </a:p>
        </p:txBody>
      </p:sp>
      <p:sp>
        <p:nvSpPr>
          <p:cNvPr id="3" name="Rectangle 2"/>
          <p:cNvSpPr/>
          <p:nvPr/>
        </p:nvSpPr>
        <p:spPr>
          <a:xfrm>
            <a:off x="230797" y="4769893"/>
            <a:ext cx="4043094" cy="400110"/>
          </a:xfrm>
          <a:prstGeom prst="rect">
            <a:avLst/>
          </a:prstGeom>
        </p:spPr>
        <p:txBody>
          <a:bodyPr wrap="none">
            <a:spAutoFit/>
          </a:bodyPr>
          <a:lstStyle/>
          <a:p>
            <a:r>
              <a:rPr lang="en-US" sz="2000" dirty="0" err="1" smtClean="0"/>
              <a:t>Det</a:t>
            </a:r>
            <a:r>
              <a:rPr lang="en-US" sz="2000" dirty="0" smtClean="0"/>
              <a:t>(A</a:t>
            </a:r>
            <a:r>
              <a:rPr lang="en-US" sz="2000" dirty="0"/>
              <a:t>)</a:t>
            </a:r>
            <a:r>
              <a:rPr lang="en-US" sz="2000" baseline="30000" dirty="0" smtClean="0"/>
              <a:t>-1</a:t>
            </a:r>
            <a:r>
              <a:rPr lang="en-US" sz="2000" dirty="0" smtClean="0"/>
              <a:t>= 9</a:t>
            </a:r>
            <a:r>
              <a:rPr lang="en-US" sz="2000" baseline="30000" dirty="0" smtClean="0"/>
              <a:t>-1</a:t>
            </a:r>
            <a:r>
              <a:rPr lang="en-US" sz="2000" dirty="0"/>
              <a:t> </a:t>
            </a:r>
            <a:r>
              <a:rPr lang="en-US" sz="2000" dirty="0" smtClean="0"/>
              <a:t>mod  26 =3  (</a:t>
            </a:r>
            <a:r>
              <a:rPr lang="en-US" sz="2000" dirty="0" smtClean="0">
                <a:solidFill>
                  <a:srgbClr val="FF0000"/>
                </a:solidFill>
              </a:rPr>
              <a:t>not 1/9</a:t>
            </a:r>
            <a:r>
              <a:rPr lang="en-US" sz="2000" dirty="0" smtClean="0"/>
              <a:t>)</a:t>
            </a:r>
            <a:endParaRPr lang="en-US" sz="2000" baseline="30000" dirty="0"/>
          </a:p>
        </p:txBody>
      </p:sp>
      <p:pic>
        <p:nvPicPr>
          <p:cNvPr id="1208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8519" y="4800600"/>
            <a:ext cx="32893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840319" y="4843250"/>
            <a:ext cx="838200" cy="461665"/>
          </a:xfrm>
          <a:prstGeom prst="rect">
            <a:avLst/>
          </a:prstGeom>
          <a:noFill/>
        </p:spPr>
        <p:txBody>
          <a:bodyPr wrap="square" rtlCol="0">
            <a:spAutoFit/>
          </a:bodyPr>
          <a:lstStyle/>
          <a:p>
            <a:r>
              <a:rPr lang="en-US" sz="2400" dirty="0" smtClean="0"/>
              <a:t>As,</a:t>
            </a:r>
            <a:endParaRPr lang="en-US" sz="2400" dirty="0"/>
          </a:p>
        </p:txBody>
      </p:sp>
      <p:pic>
        <p:nvPicPr>
          <p:cNvPr id="1208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4185" y="5677171"/>
            <a:ext cx="413467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09399" y="5683870"/>
            <a:ext cx="952500" cy="369332"/>
          </a:xfrm>
          <a:prstGeom prst="rect">
            <a:avLst/>
          </a:prstGeom>
          <a:noFill/>
        </p:spPr>
        <p:txBody>
          <a:bodyPr wrap="square" rtlCol="0">
            <a:spAutoFit/>
          </a:bodyPr>
          <a:lstStyle/>
          <a:p>
            <a:r>
              <a:rPr lang="en-US" b="1" dirty="0" smtClean="0">
                <a:solidFill>
                  <a:srgbClr val="FF0000"/>
                </a:solidFill>
              </a:rPr>
              <a:t>Note:</a:t>
            </a:r>
            <a:endParaRPr lang="en-US" b="1" dirty="0">
              <a:solidFill>
                <a:srgbClr val="FF0000"/>
              </a:solidFill>
            </a:endParaRPr>
          </a:p>
        </p:txBody>
      </p:sp>
    </p:spTree>
    <p:extLst>
      <p:ext uri="{BB962C8B-B14F-4D97-AF65-F5344CB8AC3E}">
        <p14:creationId xmlns:p14="http://schemas.microsoft.com/office/powerpoint/2010/main" val="68257080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30985" y="1752004"/>
            <a:ext cx="7191375" cy="857250"/>
            <a:chOff x="381000" y="3704540"/>
            <a:chExt cx="7191375" cy="857250"/>
          </a:xfrm>
        </p:grpSpPr>
        <p:pic>
          <p:nvPicPr>
            <p:cNvPr id="1208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704540"/>
              <a:ext cx="57435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81000" y="3930312"/>
              <a:ext cx="1447800" cy="461665"/>
            </a:xfrm>
            <a:prstGeom prst="rect">
              <a:avLst/>
            </a:prstGeom>
            <a:noFill/>
          </p:spPr>
          <p:txBody>
            <a:bodyPr wrap="square" rtlCol="0">
              <a:spAutoFit/>
            </a:bodyPr>
            <a:lstStyle/>
            <a:p>
              <a:r>
                <a:rPr lang="en-US" sz="2400" dirty="0" err="1" smtClean="0"/>
                <a:t>Det</a:t>
              </a:r>
              <a:r>
                <a:rPr lang="en-US" sz="2400" dirty="0" smtClean="0"/>
                <a:t>(A)=</a:t>
              </a:r>
              <a:endParaRPr lang="en-US" sz="2400" dirty="0"/>
            </a:p>
          </p:txBody>
        </p:sp>
      </p:grpSp>
      <p:grpSp>
        <p:nvGrpSpPr>
          <p:cNvPr id="6" name="Group 5"/>
          <p:cNvGrpSpPr/>
          <p:nvPr/>
        </p:nvGrpSpPr>
        <p:grpSpPr>
          <a:xfrm>
            <a:off x="381000" y="3024389"/>
            <a:ext cx="8432065" cy="575965"/>
            <a:chOff x="535818" y="4686300"/>
            <a:chExt cx="8432065" cy="575965"/>
          </a:xfrm>
        </p:grpSpPr>
        <p:sp>
          <p:nvSpPr>
            <p:cNvPr id="3" name="Rectangle 2"/>
            <p:cNvSpPr/>
            <p:nvPr/>
          </p:nvSpPr>
          <p:spPr>
            <a:xfrm>
              <a:off x="535818" y="4800600"/>
              <a:ext cx="3515706" cy="461665"/>
            </a:xfrm>
            <a:prstGeom prst="rect">
              <a:avLst/>
            </a:prstGeom>
          </p:spPr>
          <p:txBody>
            <a:bodyPr wrap="none">
              <a:spAutoFit/>
            </a:bodyPr>
            <a:lstStyle/>
            <a:p>
              <a:r>
                <a:rPr lang="en-US" sz="2400" dirty="0" err="1" smtClean="0"/>
                <a:t>Det</a:t>
              </a:r>
              <a:r>
                <a:rPr lang="en-US" sz="2400" dirty="0" smtClean="0"/>
                <a:t>(A</a:t>
              </a:r>
              <a:r>
                <a:rPr lang="en-US" sz="2400" dirty="0"/>
                <a:t>)</a:t>
              </a:r>
              <a:r>
                <a:rPr lang="en-US" sz="2400" baseline="30000" dirty="0" smtClean="0"/>
                <a:t>-1</a:t>
              </a:r>
              <a:r>
                <a:rPr lang="en-US" sz="2400" dirty="0" smtClean="0"/>
                <a:t>= 9</a:t>
              </a:r>
              <a:r>
                <a:rPr lang="en-US" sz="2400" baseline="30000" dirty="0" smtClean="0"/>
                <a:t>-1</a:t>
              </a:r>
              <a:r>
                <a:rPr lang="en-US" sz="2400" dirty="0"/>
                <a:t> </a:t>
              </a:r>
              <a:r>
                <a:rPr lang="en-US" sz="2400" dirty="0" smtClean="0"/>
                <a:t>mod  26=3</a:t>
              </a:r>
              <a:endParaRPr lang="en-US" sz="2400" baseline="30000" dirty="0"/>
            </a:p>
          </p:txBody>
        </p:sp>
        <p:pic>
          <p:nvPicPr>
            <p:cNvPr id="1208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8519" y="4688532"/>
              <a:ext cx="32893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953000" y="4686300"/>
              <a:ext cx="838200" cy="461665"/>
            </a:xfrm>
            <a:prstGeom prst="rect">
              <a:avLst/>
            </a:prstGeom>
            <a:noFill/>
          </p:spPr>
          <p:txBody>
            <a:bodyPr wrap="square" rtlCol="0">
              <a:spAutoFit/>
            </a:bodyPr>
            <a:lstStyle/>
            <a:p>
              <a:r>
                <a:rPr lang="en-US" sz="2400" dirty="0" smtClean="0"/>
                <a:t>As,</a:t>
              </a:r>
              <a:endParaRPr lang="en-US" sz="2400" dirty="0"/>
            </a:p>
          </p:txBody>
        </p:sp>
      </p:grpSp>
      <p:pic>
        <p:nvPicPr>
          <p:cNvPr id="12083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5828" y="5715000"/>
            <a:ext cx="413467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185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072" y="3962400"/>
            <a:ext cx="687228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p:nvPr/>
        </p:nvCxnSpPr>
        <p:spPr>
          <a:xfrm flipH="1" flipV="1">
            <a:off x="2743200" y="5181600"/>
            <a:ext cx="76200" cy="5334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505200" y="5181601"/>
            <a:ext cx="981016" cy="53339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26170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381000" y="457200"/>
            <a:ext cx="8458200" cy="639763"/>
          </a:xfrm>
        </p:spPr>
        <p:txBody>
          <a:bodyPr/>
          <a:lstStyle/>
          <a:p>
            <a:endParaRPr lang="en-US" dirty="0" smtClean="0"/>
          </a:p>
        </p:txBody>
      </p:sp>
      <p:pic>
        <p:nvPicPr>
          <p:cNvPr id="52228" name="Picture 2"/>
          <p:cNvPicPr>
            <a:picLocks noChangeAspect="1" noChangeArrowheads="1"/>
          </p:cNvPicPr>
          <p:nvPr/>
        </p:nvPicPr>
        <p:blipFill>
          <a:blip r:embed="rId2"/>
          <a:srcRect/>
          <a:stretch>
            <a:fillRect/>
          </a:stretch>
        </p:blipFill>
        <p:spPr bwMode="auto">
          <a:xfrm>
            <a:off x="381000" y="1600200"/>
            <a:ext cx="7577138" cy="1143000"/>
          </a:xfrm>
          <a:prstGeom prst="rect">
            <a:avLst/>
          </a:prstGeom>
          <a:noFill/>
          <a:ln w="9525">
            <a:noFill/>
            <a:miter lim="800000"/>
            <a:headEnd/>
            <a:tailEnd/>
          </a:ln>
        </p:spPr>
      </p:pic>
      <p:sp>
        <p:nvSpPr>
          <p:cNvPr id="52229" name="Rectangle 4"/>
          <p:cNvSpPr>
            <a:spLocks noChangeArrowheads="1"/>
          </p:cNvSpPr>
          <p:nvPr/>
        </p:nvSpPr>
        <p:spPr bwMode="auto">
          <a:xfrm>
            <a:off x="533400" y="2743200"/>
            <a:ext cx="8610600" cy="830263"/>
          </a:xfrm>
          <a:prstGeom prst="rect">
            <a:avLst/>
          </a:prstGeom>
          <a:noFill/>
          <a:ln w="9525">
            <a:noFill/>
            <a:miter lim="800000"/>
            <a:headEnd/>
            <a:tailEnd/>
          </a:ln>
        </p:spPr>
        <p:txBody>
          <a:bodyPr>
            <a:spAutoFit/>
          </a:bodyPr>
          <a:lstStyle/>
          <a:p>
            <a:r>
              <a:rPr lang="en-US" sz="2400"/>
              <a:t>We can show that 9</a:t>
            </a:r>
            <a:r>
              <a:rPr lang="en-US" sz="2400" baseline="30000"/>
              <a:t>-1</a:t>
            </a:r>
            <a:r>
              <a:rPr lang="en-US" sz="2400"/>
              <a:t> mod 26 = 3, because 9 ×3 = 27 mod 26 = 1 Therefore, we compute the inverse of </a:t>
            </a:r>
            <a:r>
              <a:rPr lang="en-US" sz="2400" b="1"/>
              <a:t>A </a:t>
            </a:r>
            <a:r>
              <a:rPr lang="en-US" sz="2400"/>
              <a:t>as</a:t>
            </a:r>
          </a:p>
        </p:txBody>
      </p:sp>
      <p:pic>
        <p:nvPicPr>
          <p:cNvPr id="52230" name="Picture 3"/>
          <p:cNvPicPr>
            <a:picLocks noChangeAspect="1" noChangeArrowheads="1"/>
          </p:cNvPicPr>
          <p:nvPr/>
        </p:nvPicPr>
        <p:blipFill>
          <a:blip r:embed="rId3"/>
          <a:srcRect/>
          <a:stretch>
            <a:fillRect/>
          </a:stretch>
        </p:blipFill>
        <p:spPr bwMode="auto">
          <a:xfrm>
            <a:off x="762000" y="3886200"/>
            <a:ext cx="7112000"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304800" y="304800"/>
            <a:ext cx="8458200" cy="639763"/>
          </a:xfrm>
        </p:spPr>
        <p:txBody>
          <a:bodyPr/>
          <a:lstStyle/>
          <a:p>
            <a:r>
              <a:rPr lang="en-US" dirty="0" smtClean="0"/>
              <a:t>The Hill Algorithm</a:t>
            </a:r>
          </a:p>
        </p:txBody>
      </p:sp>
      <p:pic>
        <p:nvPicPr>
          <p:cNvPr id="53251" name="Picture 2"/>
          <p:cNvPicPr>
            <a:picLocks noChangeAspect="1" noChangeArrowheads="1"/>
          </p:cNvPicPr>
          <p:nvPr/>
        </p:nvPicPr>
        <p:blipFill>
          <a:blip r:embed="rId2"/>
          <a:srcRect/>
          <a:stretch>
            <a:fillRect/>
          </a:stretch>
        </p:blipFill>
        <p:spPr bwMode="auto">
          <a:xfrm>
            <a:off x="1905000" y="2362200"/>
            <a:ext cx="4725988" cy="1600200"/>
          </a:xfrm>
          <a:prstGeom prst="rect">
            <a:avLst/>
          </a:prstGeom>
          <a:noFill/>
          <a:ln w="9525">
            <a:noFill/>
            <a:miter lim="800000"/>
            <a:headEnd/>
            <a:tailEnd/>
          </a:ln>
        </p:spPr>
      </p:pic>
      <p:pic>
        <p:nvPicPr>
          <p:cNvPr id="53252" name="Picture 3"/>
          <p:cNvPicPr>
            <a:picLocks noChangeAspect="1" noChangeArrowheads="1"/>
          </p:cNvPicPr>
          <p:nvPr/>
        </p:nvPicPr>
        <p:blipFill>
          <a:blip r:embed="rId3"/>
          <a:srcRect/>
          <a:stretch>
            <a:fillRect/>
          </a:stretch>
        </p:blipFill>
        <p:spPr bwMode="auto">
          <a:xfrm>
            <a:off x="1036093" y="3962400"/>
            <a:ext cx="6727825" cy="2590800"/>
          </a:xfrm>
          <a:prstGeom prst="rect">
            <a:avLst/>
          </a:prstGeom>
          <a:noFill/>
          <a:ln w="9525">
            <a:noFill/>
            <a:miter lim="800000"/>
            <a:headEnd/>
            <a:tailEnd/>
          </a:ln>
        </p:spPr>
      </p:pic>
      <p:sp>
        <p:nvSpPr>
          <p:cNvPr id="53253" name="Rectangle 5"/>
          <p:cNvSpPr>
            <a:spLocks noChangeArrowheads="1"/>
          </p:cNvSpPr>
          <p:nvPr/>
        </p:nvSpPr>
        <p:spPr bwMode="auto">
          <a:xfrm>
            <a:off x="533400" y="838200"/>
            <a:ext cx="8382000" cy="1323975"/>
          </a:xfrm>
          <a:prstGeom prst="rect">
            <a:avLst/>
          </a:prstGeom>
          <a:noFill/>
          <a:ln w="9525">
            <a:noFill/>
            <a:miter lim="800000"/>
            <a:headEnd/>
            <a:tailEnd/>
          </a:ln>
        </p:spPr>
        <p:txBody>
          <a:bodyPr>
            <a:spAutoFit/>
          </a:bodyPr>
          <a:lstStyle/>
          <a:p>
            <a:pPr algn="just"/>
            <a:r>
              <a:rPr lang="en-US" sz="2000" dirty="0">
                <a:latin typeface="Times New Roman" pitchFamily="18" charset="0"/>
                <a:cs typeface="Times New Roman" pitchFamily="18" charset="0"/>
              </a:rPr>
              <a:t>This encryption algorithm takes m successive plaintext letters and substitutes for them m </a:t>
            </a:r>
            <a:r>
              <a:rPr lang="en-US" sz="2000" dirty="0" err="1">
                <a:latin typeface="Times New Roman" pitchFamily="18" charset="0"/>
                <a:cs typeface="Times New Roman" pitchFamily="18" charset="0"/>
              </a:rPr>
              <a:t>ciphertext</a:t>
            </a:r>
            <a:r>
              <a:rPr lang="en-US" sz="2000" dirty="0">
                <a:latin typeface="Times New Roman" pitchFamily="18" charset="0"/>
                <a:cs typeface="Times New Roman" pitchFamily="18" charset="0"/>
              </a:rPr>
              <a:t> letters. The substitution is determined by m linear equations in which each character is assigned a numerical value (a = 0, b = 1, c, z = 25). For m = 3, the system can be described as</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srcRect/>
          <a:stretch>
            <a:fillRect/>
          </a:stretch>
        </p:blipFill>
        <p:spPr bwMode="auto">
          <a:xfrm>
            <a:off x="1143000" y="1371600"/>
            <a:ext cx="5645150" cy="914400"/>
          </a:xfrm>
          <a:prstGeom prst="rect">
            <a:avLst/>
          </a:prstGeom>
          <a:noFill/>
          <a:ln w="9525">
            <a:noFill/>
            <a:miter lim="800000"/>
            <a:headEnd/>
            <a:tailEnd/>
          </a:ln>
        </p:spPr>
      </p:pic>
      <p:sp>
        <p:nvSpPr>
          <p:cNvPr id="54275" name="TextBox 2"/>
          <p:cNvSpPr txBox="1">
            <a:spLocks noChangeArrowheads="1"/>
          </p:cNvSpPr>
          <p:nvPr/>
        </p:nvSpPr>
        <p:spPr bwMode="auto">
          <a:xfrm>
            <a:off x="762000" y="457200"/>
            <a:ext cx="1981200" cy="461963"/>
          </a:xfrm>
          <a:prstGeom prst="rect">
            <a:avLst/>
          </a:prstGeom>
          <a:noFill/>
          <a:ln w="9525">
            <a:noFill/>
            <a:miter lim="800000"/>
            <a:headEnd/>
            <a:tailEnd/>
          </a:ln>
        </p:spPr>
        <p:txBody>
          <a:bodyPr>
            <a:spAutoFit/>
          </a:bodyPr>
          <a:lstStyle/>
          <a:p>
            <a:r>
              <a:rPr lang="en-US" sz="2400"/>
              <a:t>In general </a:t>
            </a:r>
          </a:p>
        </p:txBody>
      </p:sp>
      <p:pic>
        <p:nvPicPr>
          <p:cNvPr id="54276" name="Picture 3"/>
          <p:cNvPicPr>
            <a:picLocks noChangeAspect="1" noChangeArrowheads="1"/>
          </p:cNvPicPr>
          <p:nvPr/>
        </p:nvPicPr>
        <p:blipFill>
          <a:blip r:embed="rId3"/>
          <a:srcRect/>
          <a:stretch>
            <a:fillRect/>
          </a:stretch>
        </p:blipFill>
        <p:spPr bwMode="auto">
          <a:xfrm>
            <a:off x="914400" y="2362200"/>
            <a:ext cx="2311400" cy="1143000"/>
          </a:xfrm>
          <a:prstGeom prst="rect">
            <a:avLst/>
          </a:prstGeom>
          <a:noFill/>
          <a:ln w="9525">
            <a:noFill/>
            <a:miter lim="800000"/>
            <a:headEnd/>
            <a:tailEnd/>
          </a:ln>
        </p:spPr>
      </p:pic>
      <p:pic>
        <p:nvPicPr>
          <p:cNvPr id="54277" name="Picture 4"/>
          <p:cNvPicPr>
            <a:picLocks noChangeAspect="1" noChangeArrowheads="1"/>
          </p:cNvPicPr>
          <p:nvPr/>
        </p:nvPicPr>
        <p:blipFill>
          <a:blip r:embed="rId4"/>
          <a:srcRect/>
          <a:stretch>
            <a:fillRect/>
          </a:stretch>
        </p:blipFill>
        <p:spPr bwMode="auto">
          <a:xfrm>
            <a:off x="762000" y="4038600"/>
            <a:ext cx="7745413" cy="914400"/>
          </a:xfrm>
          <a:prstGeom prst="rect">
            <a:avLst/>
          </a:prstGeom>
          <a:noFill/>
          <a:ln w="9525">
            <a:noFill/>
            <a:miter lim="800000"/>
            <a:headEnd/>
            <a:tailEnd/>
          </a:ln>
        </p:spPr>
      </p:pic>
      <p:sp>
        <p:nvSpPr>
          <p:cNvPr id="54278" name="Rectangle 5"/>
          <p:cNvSpPr>
            <a:spLocks noChangeArrowheads="1"/>
          </p:cNvSpPr>
          <p:nvPr/>
        </p:nvSpPr>
        <p:spPr bwMode="auto">
          <a:xfrm>
            <a:off x="838200" y="3657600"/>
            <a:ext cx="1928813" cy="369888"/>
          </a:xfrm>
          <a:prstGeom prst="rect">
            <a:avLst/>
          </a:prstGeom>
          <a:noFill/>
          <a:ln w="9525">
            <a:noFill/>
            <a:miter lim="800000"/>
            <a:headEnd/>
            <a:tailEnd/>
          </a:ln>
        </p:spPr>
        <p:txBody>
          <a:bodyPr wrap="none">
            <a:spAutoFit/>
          </a:bodyPr>
          <a:lstStyle/>
          <a:p>
            <a:r>
              <a:rPr lang="en-US"/>
              <a:t>“paymoremoney”</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ChangeArrowheads="1"/>
          </p:cNvSpPr>
          <p:nvPr/>
        </p:nvSpPr>
        <p:spPr bwMode="auto">
          <a:xfrm>
            <a:off x="457200" y="1414046"/>
            <a:ext cx="8305800" cy="2616101"/>
          </a:xfrm>
          <a:prstGeom prst="rect">
            <a:avLst/>
          </a:prstGeom>
          <a:noFill/>
          <a:ln w="9525">
            <a:noFill/>
            <a:miter lim="800000"/>
            <a:headEnd/>
            <a:tailEnd/>
          </a:ln>
        </p:spPr>
        <p:txBody>
          <a:bodyPr wrap="square" anchor="ctr">
            <a:spAutoFit/>
          </a:bodyPr>
          <a:lstStyle/>
          <a:p>
            <a:pPr marL="342900" indent="-342900" algn="just" eaLnBrk="1" hangingPunct="1">
              <a:buFont typeface="Wingdings" pitchFamily="2" charset="2"/>
              <a:buChar char="q"/>
            </a:pPr>
            <a:r>
              <a:rPr lang="en-US" sz="2000" i="0" baseline="0" dirty="0"/>
              <a:t>One of the goals of cryptography is </a:t>
            </a:r>
            <a:r>
              <a:rPr lang="en-US" sz="2000" i="0" baseline="0" dirty="0">
                <a:solidFill>
                  <a:srgbClr val="FF0000"/>
                </a:solidFill>
              </a:rPr>
              <a:t>perfect secrecy. </a:t>
            </a:r>
            <a:endParaRPr lang="en-US" sz="2000" i="0" baseline="0" dirty="0" smtClean="0">
              <a:solidFill>
                <a:srgbClr val="FF0000"/>
              </a:solidFill>
            </a:endParaRPr>
          </a:p>
          <a:p>
            <a:pPr marL="342900" indent="-342900" algn="just" eaLnBrk="1" hangingPunct="1">
              <a:buFont typeface="Wingdings" pitchFamily="2" charset="2"/>
              <a:buChar char="q"/>
            </a:pPr>
            <a:endParaRPr lang="en-US" sz="2000" dirty="0"/>
          </a:p>
          <a:p>
            <a:pPr marL="342900" indent="-342900" algn="just" eaLnBrk="1" hangingPunct="1">
              <a:buFont typeface="Wingdings" pitchFamily="2" charset="2"/>
              <a:buChar char="q"/>
            </a:pPr>
            <a:r>
              <a:rPr lang="en-US" sz="2000" i="0" baseline="0" dirty="0" smtClean="0"/>
              <a:t>A </a:t>
            </a:r>
            <a:r>
              <a:rPr lang="en-US" sz="2000" i="0" baseline="0" dirty="0"/>
              <a:t>study by Shannon has shown that perfect secrecy can be achieved if each plaintext symbol is encrypted with a </a:t>
            </a:r>
            <a:r>
              <a:rPr lang="en-US" sz="2000" i="0" baseline="0" dirty="0" smtClean="0"/>
              <a:t>key </a:t>
            </a:r>
            <a:r>
              <a:rPr lang="en-US" sz="2000" i="0" baseline="0" dirty="0" smtClean="0">
                <a:solidFill>
                  <a:srgbClr val="FF0000"/>
                </a:solidFill>
              </a:rPr>
              <a:t>randomly </a:t>
            </a:r>
            <a:r>
              <a:rPr lang="en-US" sz="2000" i="0" baseline="0" dirty="0">
                <a:solidFill>
                  <a:srgbClr val="FF0000"/>
                </a:solidFill>
              </a:rPr>
              <a:t>chosen </a:t>
            </a:r>
            <a:r>
              <a:rPr lang="en-US" sz="2000" i="0" baseline="0" dirty="0"/>
              <a:t>from a key domain. </a:t>
            </a:r>
            <a:endParaRPr lang="en-US" sz="2000" i="0" baseline="0" dirty="0" smtClean="0"/>
          </a:p>
          <a:p>
            <a:pPr marL="342900" indent="-342900" algn="just" eaLnBrk="1" hangingPunct="1">
              <a:buFont typeface="Wingdings" pitchFamily="2" charset="2"/>
              <a:buChar char="q"/>
            </a:pPr>
            <a:endParaRPr lang="en-US" sz="2000" dirty="0"/>
          </a:p>
          <a:p>
            <a:pPr marL="342900" indent="-342900" algn="just" eaLnBrk="1" hangingPunct="1">
              <a:buFont typeface="Wingdings" pitchFamily="2" charset="2"/>
              <a:buChar char="q"/>
            </a:pPr>
            <a:r>
              <a:rPr lang="en-US" sz="2000" i="0" baseline="0" dirty="0" smtClean="0"/>
              <a:t>This </a:t>
            </a:r>
            <a:r>
              <a:rPr lang="en-US" sz="2000" i="0" baseline="0" dirty="0"/>
              <a:t>idea is used in a cipher called </a:t>
            </a:r>
            <a:r>
              <a:rPr lang="en-US" sz="2000" i="0" baseline="0" dirty="0">
                <a:solidFill>
                  <a:srgbClr val="FF0000"/>
                </a:solidFill>
              </a:rPr>
              <a:t>one-time pad</a:t>
            </a:r>
            <a:r>
              <a:rPr lang="en-US" sz="2000" i="0" baseline="0" dirty="0"/>
              <a:t>, invented by </a:t>
            </a:r>
            <a:r>
              <a:rPr lang="en-US" sz="2000" i="0" baseline="0" dirty="0" err="1">
                <a:solidFill>
                  <a:srgbClr val="FF0000"/>
                </a:solidFill>
              </a:rPr>
              <a:t>Vernam</a:t>
            </a:r>
            <a:r>
              <a:rPr lang="en-US" sz="2400" i="0" baseline="0" dirty="0">
                <a:solidFill>
                  <a:srgbClr val="FF0000"/>
                </a:solidFill>
              </a:rPr>
              <a:t>. </a:t>
            </a:r>
          </a:p>
        </p:txBody>
      </p:sp>
      <p:sp>
        <p:nvSpPr>
          <p:cNvPr id="6" name="Text Box 14"/>
          <p:cNvSpPr txBox="1">
            <a:spLocks noChangeArrowheads="1"/>
          </p:cNvSpPr>
          <p:nvPr/>
        </p:nvSpPr>
        <p:spPr bwMode="auto">
          <a:xfrm>
            <a:off x="5638800" y="253425"/>
            <a:ext cx="2833596" cy="584775"/>
          </a:xfrm>
          <a:prstGeom prst="rect">
            <a:avLst/>
          </a:prstGeom>
          <a:noFill/>
          <a:ln w="9525">
            <a:noFill/>
            <a:miter lim="800000"/>
            <a:headEnd/>
            <a:tailEnd/>
          </a:ln>
        </p:spPr>
        <p:txBody>
          <a:bodyPr wrap="none">
            <a:spAutoFit/>
          </a:bodyPr>
          <a:lstStyle/>
          <a:p>
            <a:pPr algn="ctr"/>
            <a:r>
              <a:rPr lang="en-US" sz="3200" i="0" baseline="0" dirty="0">
                <a:solidFill>
                  <a:srgbClr val="FF0000"/>
                </a:solidFill>
              </a:rPr>
              <a:t>One-Time Pad</a:t>
            </a:r>
            <a:endParaRPr lang="en-US" sz="3200" baseline="0" dirty="0">
              <a:solidFill>
                <a:srgbClr val="FF0000"/>
              </a:solidFill>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381000" y="457200"/>
            <a:ext cx="8458200" cy="639763"/>
          </a:xfrm>
        </p:spPr>
        <p:txBody>
          <a:bodyPr/>
          <a:lstStyle/>
          <a:p>
            <a:r>
              <a:rPr lang="en-US" smtClean="0"/>
              <a:t>One Time Pad</a:t>
            </a:r>
          </a:p>
        </p:txBody>
      </p:sp>
      <p:sp>
        <p:nvSpPr>
          <p:cNvPr id="64515" name="Content Placeholder 2"/>
          <p:cNvSpPr>
            <a:spLocks noGrp="1"/>
          </p:cNvSpPr>
          <p:nvPr>
            <p:ph sz="quarter" idx="1"/>
          </p:nvPr>
        </p:nvSpPr>
        <p:spPr>
          <a:xfrm>
            <a:off x="457200" y="1524000"/>
            <a:ext cx="8305800" cy="4495800"/>
          </a:xfrm>
        </p:spPr>
        <p:txBody>
          <a:bodyPr/>
          <a:lstStyle/>
          <a:p>
            <a:pPr>
              <a:buFontTx/>
              <a:buBlip>
                <a:blip r:embed="rId2"/>
              </a:buBlip>
            </a:pPr>
            <a:r>
              <a:rPr lang="en-US" dirty="0" smtClean="0">
                <a:solidFill>
                  <a:schemeClr val="tx1"/>
                </a:solidFill>
              </a:rPr>
              <a:t>Similar to </a:t>
            </a:r>
            <a:r>
              <a:rPr lang="en-US" dirty="0" err="1" smtClean="0">
                <a:solidFill>
                  <a:schemeClr val="tx1"/>
                </a:solidFill>
              </a:rPr>
              <a:t>Vigenere</a:t>
            </a:r>
            <a:r>
              <a:rPr lang="en-US" dirty="0" smtClean="0">
                <a:solidFill>
                  <a:schemeClr val="tx1"/>
                </a:solidFill>
              </a:rPr>
              <a:t>, but use </a:t>
            </a:r>
            <a:r>
              <a:rPr lang="en-US" dirty="0" smtClean="0">
                <a:solidFill>
                  <a:srgbClr val="FF0000"/>
                </a:solidFill>
              </a:rPr>
              <a:t>random key </a:t>
            </a:r>
            <a:r>
              <a:rPr lang="en-US" dirty="0" smtClean="0">
                <a:solidFill>
                  <a:srgbClr val="3333FF"/>
                </a:solidFill>
              </a:rPr>
              <a:t>as long as </a:t>
            </a:r>
            <a:r>
              <a:rPr lang="en-US" dirty="0" smtClean="0">
                <a:solidFill>
                  <a:srgbClr val="FF0000"/>
                </a:solidFill>
              </a:rPr>
              <a:t>plaintext</a:t>
            </a:r>
          </a:p>
          <a:p>
            <a:pPr>
              <a:buFontTx/>
              <a:buBlip>
                <a:blip r:embed="rId2"/>
              </a:buBlip>
            </a:pPr>
            <a:r>
              <a:rPr lang="en-US" dirty="0" smtClean="0">
                <a:solidFill>
                  <a:schemeClr val="tx1"/>
                </a:solidFill>
              </a:rPr>
              <a:t>Only known scheme that is unbreakable (</a:t>
            </a:r>
            <a:r>
              <a:rPr lang="en-US" dirty="0" smtClean="0">
                <a:solidFill>
                  <a:srgbClr val="3333FF"/>
                </a:solidFill>
              </a:rPr>
              <a:t>unconditional</a:t>
            </a:r>
          </a:p>
          <a:p>
            <a:pPr>
              <a:buFontTx/>
              <a:buNone/>
            </a:pPr>
            <a:r>
              <a:rPr lang="en-US" dirty="0" smtClean="0">
                <a:solidFill>
                  <a:srgbClr val="3333FF"/>
                </a:solidFill>
              </a:rPr>
              <a:t>	security</a:t>
            </a:r>
            <a:r>
              <a:rPr lang="en-US" dirty="0" smtClean="0">
                <a:solidFill>
                  <a:schemeClr val="tx1"/>
                </a:solidFill>
              </a:rPr>
              <a:t> or </a:t>
            </a:r>
            <a:r>
              <a:rPr lang="en-US" dirty="0" smtClean="0">
                <a:solidFill>
                  <a:srgbClr val="3333FF"/>
                </a:solidFill>
              </a:rPr>
              <a:t>perfect security</a:t>
            </a:r>
            <a:r>
              <a:rPr lang="en-US" dirty="0" smtClean="0">
                <a:solidFill>
                  <a:schemeClr val="tx1"/>
                </a:solidFill>
              </a:rPr>
              <a:t>)</a:t>
            </a:r>
          </a:p>
          <a:p>
            <a:pPr lvl="1">
              <a:buFontTx/>
              <a:buChar char="–"/>
            </a:pPr>
            <a:r>
              <a:rPr lang="en-US" dirty="0" err="1" smtClean="0"/>
              <a:t>Ciphertext</a:t>
            </a:r>
            <a:r>
              <a:rPr lang="en-US" dirty="0" smtClean="0"/>
              <a:t> </a:t>
            </a:r>
            <a:r>
              <a:rPr lang="en-US" dirty="0" smtClean="0">
                <a:solidFill>
                  <a:srgbClr val="FF0000"/>
                </a:solidFill>
              </a:rPr>
              <a:t>has no statistical relationship with plaintext</a:t>
            </a:r>
          </a:p>
          <a:p>
            <a:pPr lvl="1">
              <a:buFontTx/>
              <a:buChar char="–"/>
            </a:pPr>
            <a:r>
              <a:rPr lang="en-US" dirty="0" smtClean="0"/>
              <a:t>Given </a:t>
            </a:r>
            <a:r>
              <a:rPr lang="en-US" dirty="0" smtClean="0">
                <a:solidFill>
                  <a:srgbClr val="FF0000"/>
                </a:solidFill>
              </a:rPr>
              <a:t>two potential plaintext messages, </a:t>
            </a:r>
            <a:r>
              <a:rPr lang="en-US" dirty="0" smtClean="0"/>
              <a:t>attacker cannot identify the correct message</a:t>
            </a:r>
          </a:p>
        </p:txBody>
      </p:sp>
      <p:sp>
        <p:nvSpPr>
          <p:cNvPr id="64516" name="Rectangle 3"/>
          <p:cNvSpPr>
            <a:spLocks noChangeArrowheads="1"/>
          </p:cNvSpPr>
          <p:nvPr/>
        </p:nvSpPr>
        <p:spPr bwMode="auto">
          <a:xfrm>
            <a:off x="228600" y="4953000"/>
            <a:ext cx="8763000" cy="708025"/>
          </a:xfrm>
          <a:prstGeom prst="rect">
            <a:avLst/>
          </a:prstGeom>
          <a:noFill/>
          <a:ln w="9525">
            <a:noFill/>
            <a:miter lim="800000"/>
            <a:headEnd/>
            <a:tailEnd/>
          </a:ln>
        </p:spPr>
        <p:txBody>
          <a:bodyPr>
            <a:spAutoFit/>
          </a:bodyPr>
          <a:lstStyle/>
          <a:p>
            <a:r>
              <a:rPr lang="en-US" sz="2000" dirty="0">
                <a:solidFill>
                  <a:srgbClr val="3333FF"/>
                </a:solidFill>
              </a:rPr>
              <a:t>A cipher system has perfect secrecy if the </a:t>
            </a:r>
            <a:r>
              <a:rPr lang="en-US" sz="2000" dirty="0" err="1">
                <a:solidFill>
                  <a:srgbClr val="3333FF"/>
                </a:solidFill>
              </a:rPr>
              <a:t>ciphertext</a:t>
            </a:r>
            <a:r>
              <a:rPr lang="en-US" sz="2000" dirty="0">
                <a:solidFill>
                  <a:srgbClr val="3333FF"/>
                </a:solidFill>
              </a:rPr>
              <a:t> gives the cryptanalyst no information about the key. The one time pad achieves perfect secrecy.</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381000" y="304800"/>
            <a:ext cx="8458200" cy="639763"/>
          </a:xfrm>
        </p:spPr>
        <p:txBody>
          <a:bodyPr/>
          <a:lstStyle/>
          <a:p>
            <a:r>
              <a:rPr lang="en-US" dirty="0" smtClean="0"/>
              <a:t>Continued</a:t>
            </a:r>
          </a:p>
        </p:txBody>
      </p:sp>
      <p:sp>
        <p:nvSpPr>
          <p:cNvPr id="65539" name="Content Placeholder 2"/>
          <p:cNvSpPr>
            <a:spLocks noGrp="1"/>
          </p:cNvSpPr>
          <p:nvPr>
            <p:ph sz="quarter" idx="1"/>
          </p:nvPr>
        </p:nvSpPr>
        <p:spPr>
          <a:xfrm>
            <a:off x="228600" y="1219200"/>
            <a:ext cx="8610600" cy="5638800"/>
          </a:xfrm>
        </p:spPr>
        <p:txBody>
          <a:bodyPr/>
          <a:lstStyle/>
          <a:p>
            <a:pPr>
              <a:buFontTx/>
              <a:buBlip>
                <a:blip r:embed="rId2"/>
              </a:buBlip>
            </a:pPr>
            <a:r>
              <a:rPr lang="en-US" dirty="0" err="1" smtClean="0">
                <a:solidFill>
                  <a:schemeClr val="tx1"/>
                </a:solidFill>
                <a:latin typeface="CMSS12"/>
              </a:rPr>
              <a:t>Mauborgne</a:t>
            </a:r>
            <a:r>
              <a:rPr lang="en-US" dirty="0" smtClean="0">
                <a:solidFill>
                  <a:schemeClr val="tx1"/>
                </a:solidFill>
                <a:latin typeface="CMSS12"/>
              </a:rPr>
              <a:t> suggested using a random key that is as long as the message, so that the key need not be repeated.</a:t>
            </a:r>
          </a:p>
          <a:p>
            <a:pPr>
              <a:buFontTx/>
              <a:buBlip>
                <a:blip r:embed="rId2"/>
              </a:buBlip>
            </a:pPr>
            <a:r>
              <a:rPr lang="en-US" dirty="0" smtClean="0">
                <a:solidFill>
                  <a:schemeClr val="tx1"/>
                </a:solidFill>
                <a:latin typeface="CMSS12"/>
              </a:rPr>
              <a:t>In addition, the key is to be used to encrypt and decrypt a single message, and then is discarded.</a:t>
            </a:r>
          </a:p>
          <a:p>
            <a:pPr>
              <a:buFontTx/>
              <a:buBlip>
                <a:blip r:embed="rId2"/>
              </a:buBlip>
            </a:pPr>
            <a:r>
              <a:rPr lang="en-US" dirty="0" smtClean="0">
                <a:solidFill>
                  <a:schemeClr val="tx1"/>
                </a:solidFill>
                <a:latin typeface="CMSS12"/>
              </a:rPr>
              <a:t>Each new message requires a new key of the same length as the new message</a:t>
            </a:r>
            <a:r>
              <a:rPr lang="en-US" dirty="0" smtClean="0">
                <a:latin typeface="CMSS12"/>
              </a:rPr>
              <a:t>. </a:t>
            </a:r>
          </a:p>
          <a:p>
            <a:pPr>
              <a:buFontTx/>
              <a:buBlip>
                <a:blip r:embed="rId2"/>
              </a:buBlip>
            </a:pPr>
            <a:r>
              <a:rPr lang="en-US" dirty="0" smtClean="0">
                <a:solidFill>
                  <a:schemeClr val="tx1"/>
                </a:solidFill>
                <a:latin typeface="CMSS12"/>
              </a:rPr>
              <a:t>Such a scheme, known as a </a:t>
            </a:r>
            <a:r>
              <a:rPr lang="en-US" b="1" dirty="0" smtClean="0">
                <a:solidFill>
                  <a:schemeClr val="tx1"/>
                </a:solidFill>
                <a:latin typeface="CMSS12"/>
              </a:rPr>
              <a:t>one-time pad, </a:t>
            </a:r>
            <a:r>
              <a:rPr lang="en-US" dirty="0" smtClean="0">
                <a:solidFill>
                  <a:srgbClr val="FF0000"/>
                </a:solidFill>
                <a:latin typeface="CMSS12"/>
              </a:rPr>
              <a:t>is unbreakable.</a:t>
            </a:r>
          </a:p>
          <a:p>
            <a:pPr>
              <a:buFontTx/>
              <a:buNone/>
            </a:pPr>
            <a:endParaRPr lang="en-US" dirty="0" smtClean="0">
              <a:solidFill>
                <a:schemeClr val="tx1"/>
              </a:solidFill>
              <a:latin typeface="CMSS12"/>
            </a:endParaRPr>
          </a:p>
          <a:p>
            <a:pPr>
              <a:buFontTx/>
              <a:buBlip>
                <a:blip r:embed="rId2"/>
              </a:buBlip>
            </a:pPr>
            <a:r>
              <a:rPr lang="en-US" dirty="0" smtClean="0">
                <a:solidFill>
                  <a:schemeClr val="tx1"/>
                </a:solidFill>
                <a:latin typeface="CMSS12"/>
              </a:rPr>
              <a:t>Two practical limitations:</a:t>
            </a:r>
          </a:p>
          <a:p>
            <a:pPr>
              <a:buFontTx/>
              <a:buNone/>
            </a:pPr>
            <a:r>
              <a:rPr lang="en-US" dirty="0" smtClean="0">
                <a:solidFill>
                  <a:schemeClr val="tx1"/>
                </a:solidFill>
                <a:latin typeface="CMSS12"/>
              </a:rPr>
              <a:t>		1. Difficult to provide </a:t>
            </a:r>
            <a:r>
              <a:rPr lang="en-US" dirty="0" smtClean="0">
                <a:solidFill>
                  <a:srgbClr val="FF0000"/>
                </a:solidFill>
                <a:latin typeface="CMSS12"/>
              </a:rPr>
              <a:t>large number of random keys</a:t>
            </a:r>
          </a:p>
          <a:p>
            <a:pPr>
              <a:buFontTx/>
              <a:buNone/>
            </a:pPr>
            <a:r>
              <a:rPr lang="en-US" dirty="0" smtClean="0">
                <a:solidFill>
                  <a:schemeClr val="tx1"/>
                </a:solidFill>
                <a:latin typeface="CMSS12"/>
              </a:rPr>
              <a:t>		2. </a:t>
            </a:r>
            <a:r>
              <a:rPr lang="en-US" dirty="0" smtClean="0">
                <a:solidFill>
                  <a:srgbClr val="FF0000"/>
                </a:solidFill>
                <a:latin typeface="CMSS12"/>
              </a:rPr>
              <a:t>Distributing</a:t>
            </a:r>
            <a:r>
              <a:rPr lang="en-US" dirty="0" smtClean="0">
                <a:solidFill>
                  <a:schemeClr val="tx1"/>
                </a:solidFill>
                <a:latin typeface="CMSS12"/>
              </a:rPr>
              <a:t> unique long random keys </a:t>
            </a:r>
            <a:r>
              <a:rPr lang="en-US" smtClean="0">
                <a:solidFill>
                  <a:schemeClr val="tx1"/>
                </a:solidFill>
                <a:latin typeface="CMSS12"/>
              </a:rPr>
              <a:t>is difficult</a:t>
            </a:r>
            <a:endParaRPr lang="en-US" dirty="0" smtClean="0">
              <a:solidFill>
                <a:schemeClr val="tx1"/>
              </a:solidFill>
              <a:latin typeface="CMSS12"/>
            </a:endParaRPr>
          </a:p>
          <a:p>
            <a:pPr>
              <a:buFontTx/>
              <a:buBlip>
                <a:blip r:embed="rId2"/>
              </a:buBlip>
            </a:pPr>
            <a:r>
              <a:rPr lang="en-US" dirty="0" smtClean="0">
                <a:solidFill>
                  <a:schemeClr val="tx1"/>
                </a:solidFill>
                <a:latin typeface="CMSS12"/>
              </a:rPr>
              <a:t>Limited practical use</a:t>
            </a:r>
          </a:p>
          <a:p>
            <a:pPr>
              <a:buFontTx/>
              <a:buBlip>
                <a:blip r:embed="rId2"/>
              </a:buBlip>
            </a:pPr>
            <a:endParaRPr lang="en-US" dirty="0" smtClean="0">
              <a:solidFill>
                <a:schemeClr val="tx1"/>
              </a:solidFill>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381000" y="457200"/>
            <a:ext cx="8458200" cy="639763"/>
          </a:xfrm>
        </p:spPr>
        <p:txBody>
          <a:bodyPr/>
          <a:lstStyle/>
          <a:p>
            <a:endParaRPr lang="en-US" smtClean="0"/>
          </a:p>
        </p:txBody>
      </p:sp>
      <p:pic>
        <p:nvPicPr>
          <p:cNvPr id="66563" name="Picture 2"/>
          <p:cNvPicPr>
            <a:picLocks noChangeAspect="1" noChangeArrowheads="1"/>
          </p:cNvPicPr>
          <p:nvPr/>
        </p:nvPicPr>
        <p:blipFill>
          <a:blip r:embed="rId2"/>
          <a:srcRect/>
          <a:stretch>
            <a:fillRect/>
          </a:stretch>
        </p:blipFill>
        <p:spPr bwMode="auto">
          <a:xfrm>
            <a:off x="609600" y="1676400"/>
            <a:ext cx="6624638" cy="609600"/>
          </a:xfrm>
          <a:prstGeom prst="rect">
            <a:avLst/>
          </a:prstGeom>
          <a:noFill/>
          <a:ln w="9525">
            <a:noFill/>
            <a:miter lim="800000"/>
            <a:headEnd/>
            <a:tailEnd/>
          </a:ln>
        </p:spPr>
      </p:pic>
      <p:pic>
        <p:nvPicPr>
          <p:cNvPr id="66564" name="Picture 3"/>
          <p:cNvPicPr>
            <a:picLocks noChangeAspect="1" noChangeArrowheads="1"/>
          </p:cNvPicPr>
          <p:nvPr/>
        </p:nvPicPr>
        <p:blipFill>
          <a:blip r:embed="rId3"/>
          <a:srcRect/>
          <a:stretch>
            <a:fillRect/>
          </a:stretch>
        </p:blipFill>
        <p:spPr bwMode="auto">
          <a:xfrm>
            <a:off x="533400" y="2819400"/>
            <a:ext cx="8020050" cy="2362200"/>
          </a:xfrm>
          <a:prstGeom prst="rect">
            <a:avLst/>
          </a:prstGeom>
          <a:noFill/>
          <a:ln w="9525">
            <a:noFill/>
            <a:miter lim="800000"/>
            <a:headEnd/>
            <a:tailEnd/>
          </a:ln>
        </p:spPr>
      </p:pic>
      <p:sp>
        <p:nvSpPr>
          <p:cNvPr id="66565" name="TextBox 5"/>
          <p:cNvSpPr txBox="1">
            <a:spLocks noChangeArrowheads="1"/>
          </p:cNvSpPr>
          <p:nvPr/>
        </p:nvSpPr>
        <p:spPr bwMode="auto">
          <a:xfrm>
            <a:off x="457200" y="1143000"/>
            <a:ext cx="1828800" cy="461963"/>
          </a:xfrm>
          <a:prstGeom prst="rect">
            <a:avLst/>
          </a:prstGeom>
          <a:noFill/>
          <a:ln w="9525">
            <a:noFill/>
            <a:miter lim="800000"/>
            <a:headEnd/>
            <a:tailEnd/>
          </a:ln>
        </p:spPr>
        <p:txBody>
          <a:bodyPr>
            <a:spAutoFit/>
          </a:bodyPr>
          <a:lstStyle/>
          <a:p>
            <a:r>
              <a:rPr lang="en-US" sz="2400"/>
              <a:t>Ciphertext</a:t>
            </a:r>
          </a:p>
        </p:txBody>
      </p:sp>
      <p:sp>
        <p:nvSpPr>
          <p:cNvPr id="66566" name="Rectangle 6"/>
          <p:cNvSpPr>
            <a:spLocks noChangeArrowheads="1"/>
          </p:cNvSpPr>
          <p:nvPr/>
        </p:nvSpPr>
        <p:spPr bwMode="auto">
          <a:xfrm>
            <a:off x="533400" y="2209800"/>
            <a:ext cx="7391400" cy="369888"/>
          </a:xfrm>
          <a:prstGeom prst="rect">
            <a:avLst/>
          </a:prstGeom>
          <a:noFill/>
          <a:ln w="9525">
            <a:noFill/>
            <a:miter lim="800000"/>
            <a:headEnd/>
            <a:tailEnd/>
          </a:ln>
        </p:spPr>
        <p:txBody>
          <a:bodyPr>
            <a:spAutoFit/>
          </a:bodyPr>
          <a:lstStyle/>
          <a:p>
            <a:r>
              <a:rPr lang="en-US"/>
              <a:t>We now show two different decryptions using two different keys:</a:t>
            </a:r>
          </a:p>
        </p:txBody>
      </p:sp>
      <p:sp>
        <p:nvSpPr>
          <p:cNvPr id="66567" name="Rectangle 7"/>
          <p:cNvSpPr>
            <a:spLocks noChangeArrowheads="1"/>
          </p:cNvSpPr>
          <p:nvPr/>
        </p:nvSpPr>
        <p:spPr bwMode="auto">
          <a:xfrm>
            <a:off x="685800" y="5410200"/>
            <a:ext cx="7010400" cy="830263"/>
          </a:xfrm>
          <a:prstGeom prst="rect">
            <a:avLst/>
          </a:prstGeom>
          <a:noFill/>
          <a:ln w="9525">
            <a:noFill/>
            <a:miter lim="800000"/>
            <a:headEnd/>
            <a:tailEnd/>
          </a:ln>
        </p:spPr>
        <p:txBody>
          <a:bodyPr>
            <a:spAutoFit/>
          </a:bodyPr>
          <a:lstStyle/>
          <a:p>
            <a:r>
              <a:rPr lang="en-US" sz="2400"/>
              <a:t>So, for using random key, the cryptanalyst will be confused</a:t>
            </a:r>
            <a:r>
              <a:rPr lang="en-US"/>
              <a:t>. </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381000" y="381000"/>
            <a:ext cx="8458200" cy="639763"/>
          </a:xfrm>
        </p:spPr>
        <p:txBody>
          <a:bodyPr/>
          <a:lstStyle/>
          <a:p>
            <a:r>
              <a:rPr lang="en-US" b="1" i="1" smtClean="0"/>
              <a:t>Vernam Cipher</a:t>
            </a:r>
            <a:endParaRPr lang="en-US" smtClean="0"/>
          </a:p>
        </p:txBody>
      </p:sp>
      <p:sp>
        <p:nvSpPr>
          <p:cNvPr id="62467" name="Content Placeholder 2"/>
          <p:cNvSpPr>
            <a:spLocks noGrp="1"/>
          </p:cNvSpPr>
          <p:nvPr>
            <p:ph sz="quarter" idx="1"/>
          </p:nvPr>
        </p:nvSpPr>
        <p:spPr>
          <a:xfrm>
            <a:off x="308769" y="1219200"/>
            <a:ext cx="8458200" cy="1143000"/>
          </a:xfrm>
        </p:spPr>
        <p:txBody>
          <a:bodyPr/>
          <a:lstStyle/>
          <a:p>
            <a:pPr>
              <a:buFontTx/>
              <a:buBlip>
                <a:blip r:embed="rId2"/>
              </a:buBlip>
            </a:pPr>
            <a:r>
              <a:rPr lang="en-US" dirty="0" smtClean="0">
                <a:latin typeface="Gill Sans MT" pitchFamily="34" charset="0"/>
              </a:rPr>
              <a:t>The ultimate defense against such a cryptanalysis is to choose </a:t>
            </a:r>
            <a:r>
              <a:rPr lang="en-US" dirty="0" smtClean="0">
                <a:solidFill>
                  <a:srgbClr val="FF0000"/>
                </a:solidFill>
                <a:latin typeface="Gill Sans MT" pitchFamily="34" charset="0"/>
              </a:rPr>
              <a:t>a keyword that is as long as the plaintext </a:t>
            </a:r>
            <a:r>
              <a:rPr lang="en-US" dirty="0" smtClean="0">
                <a:latin typeface="Gill Sans MT" pitchFamily="34" charset="0"/>
              </a:rPr>
              <a:t>and has </a:t>
            </a:r>
            <a:r>
              <a:rPr lang="en-US" dirty="0" smtClean="0">
                <a:solidFill>
                  <a:srgbClr val="FF0000"/>
                </a:solidFill>
                <a:latin typeface="Gill Sans MT" pitchFamily="34" charset="0"/>
              </a:rPr>
              <a:t>no statistical relationship to it.</a:t>
            </a:r>
          </a:p>
        </p:txBody>
      </p:sp>
      <p:pic>
        <p:nvPicPr>
          <p:cNvPr id="62468" name="Picture 3"/>
          <p:cNvPicPr>
            <a:picLocks noChangeAspect="1" noChangeArrowheads="1"/>
          </p:cNvPicPr>
          <p:nvPr/>
        </p:nvPicPr>
        <p:blipFill>
          <a:blip r:embed="rId3"/>
          <a:srcRect/>
          <a:stretch>
            <a:fillRect/>
          </a:stretch>
        </p:blipFill>
        <p:spPr bwMode="auto">
          <a:xfrm>
            <a:off x="1143000" y="2133600"/>
            <a:ext cx="6789738" cy="3200400"/>
          </a:xfrm>
          <a:prstGeom prst="rect">
            <a:avLst/>
          </a:prstGeom>
          <a:noFill/>
          <a:ln w="9525">
            <a:noFill/>
            <a:miter lim="800000"/>
            <a:headEnd/>
            <a:tailEnd/>
          </a:ln>
        </p:spPr>
      </p:pic>
      <p:sp>
        <p:nvSpPr>
          <p:cNvPr id="62469" name="Rectangle 5"/>
          <p:cNvSpPr>
            <a:spLocks noChangeArrowheads="1"/>
          </p:cNvSpPr>
          <p:nvPr/>
        </p:nvSpPr>
        <p:spPr bwMode="auto">
          <a:xfrm>
            <a:off x="533400" y="5334000"/>
            <a:ext cx="7924800" cy="830263"/>
          </a:xfrm>
          <a:prstGeom prst="rect">
            <a:avLst/>
          </a:prstGeom>
          <a:noFill/>
          <a:ln w="9525">
            <a:noFill/>
            <a:miter lim="800000"/>
            <a:headEnd/>
            <a:tailEnd/>
          </a:ln>
        </p:spPr>
        <p:txBody>
          <a:bodyPr>
            <a:spAutoFit/>
          </a:bodyPr>
          <a:lstStyle/>
          <a:p>
            <a:r>
              <a:rPr lang="en-US" sz="2400">
                <a:latin typeface="Gill Sans MT" pitchFamily="34" charset="0"/>
              </a:rPr>
              <a:t>His system works on binary data (bits) rather than letters. The system can be expressed succinctly as follows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457200" y="304800"/>
            <a:ext cx="8458200" cy="639763"/>
          </a:xfrm>
        </p:spPr>
        <p:txBody>
          <a:bodyPr/>
          <a:lstStyle/>
          <a:p>
            <a:endParaRPr lang="en-US" dirty="0" smtClean="0"/>
          </a:p>
        </p:txBody>
      </p:sp>
      <p:pic>
        <p:nvPicPr>
          <p:cNvPr id="63491" name="Picture 2"/>
          <p:cNvPicPr>
            <a:picLocks noChangeAspect="1" noChangeArrowheads="1"/>
          </p:cNvPicPr>
          <p:nvPr/>
        </p:nvPicPr>
        <p:blipFill>
          <a:blip r:embed="rId2"/>
          <a:srcRect/>
          <a:stretch>
            <a:fillRect/>
          </a:stretch>
        </p:blipFill>
        <p:spPr bwMode="auto">
          <a:xfrm>
            <a:off x="1143000" y="1066800"/>
            <a:ext cx="3313113" cy="990600"/>
          </a:xfrm>
          <a:prstGeom prst="rect">
            <a:avLst/>
          </a:prstGeom>
          <a:noFill/>
          <a:ln w="9525">
            <a:noFill/>
            <a:miter lim="800000"/>
            <a:headEnd/>
            <a:tailEnd/>
          </a:ln>
        </p:spPr>
      </p:pic>
      <p:pic>
        <p:nvPicPr>
          <p:cNvPr id="63492" name="Picture 3"/>
          <p:cNvPicPr>
            <a:picLocks noChangeAspect="1" noChangeArrowheads="1"/>
          </p:cNvPicPr>
          <p:nvPr/>
        </p:nvPicPr>
        <p:blipFill>
          <a:blip r:embed="rId3"/>
          <a:srcRect/>
          <a:stretch>
            <a:fillRect/>
          </a:stretch>
        </p:blipFill>
        <p:spPr bwMode="auto">
          <a:xfrm>
            <a:off x="914400" y="1981200"/>
            <a:ext cx="5486400" cy="2325688"/>
          </a:xfrm>
          <a:prstGeom prst="rect">
            <a:avLst/>
          </a:prstGeom>
          <a:noFill/>
          <a:ln w="9525">
            <a:noFill/>
            <a:miter lim="800000"/>
            <a:headEnd/>
            <a:tailEnd/>
          </a:ln>
        </p:spPr>
      </p:pic>
      <p:pic>
        <p:nvPicPr>
          <p:cNvPr id="63493" name="Picture 4"/>
          <p:cNvPicPr>
            <a:picLocks noChangeAspect="1" noChangeArrowheads="1"/>
          </p:cNvPicPr>
          <p:nvPr/>
        </p:nvPicPr>
        <p:blipFill>
          <a:blip r:embed="rId4"/>
          <a:srcRect/>
          <a:stretch>
            <a:fillRect/>
          </a:stretch>
        </p:blipFill>
        <p:spPr bwMode="auto">
          <a:xfrm>
            <a:off x="1447800" y="4343400"/>
            <a:ext cx="3124200" cy="901700"/>
          </a:xfrm>
          <a:prstGeom prst="rect">
            <a:avLst/>
          </a:prstGeom>
          <a:noFill/>
          <a:ln w="9525">
            <a:noFill/>
            <a:miter lim="800000"/>
            <a:headEnd/>
            <a:tailEnd/>
          </a:ln>
        </p:spPr>
      </p:pic>
      <p:sp>
        <p:nvSpPr>
          <p:cNvPr id="63494" name="Rectangle 6"/>
          <p:cNvSpPr>
            <a:spLocks noChangeArrowheads="1"/>
          </p:cNvSpPr>
          <p:nvPr/>
        </p:nvSpPr>
        <p:spPr bwMode="auto">
          <a:xfrm>
            <a:off x="609600" y="5410200"/>
            <a:ext cx="8153400" cy="1016000"/>
          </a:xfrm>
          <a:prstGeom prst="rect">
            <a:avLst/>
          </a:prstGeom>
          <a:noFill/>
          <a:ln w="9525">
            <a:noFill/>
            <a:miter lim="800000"/>
            <a:headEnd/>
            <a:tailEnd/>
          </a:ln>
        </p:spPr>
        <p:txBody>
          <a:bodyPr>
            <a:spAutoFit/>
          </a:bodyPr>
          <a:lstStyle/>
          <a:p>
            <a:r>
              <a:rPr lang="en-US" sz="2000" dirty="0" err="1"/>
              <a:t>Vernam</a:t>
            </a:r>
            <a:r>
              <a:rPr lang="en-US" sz="2000" dirty="0"/>
              <a:t> proposed the use of </a:t>
            </a:r>
            <a:r>
              <a:rPr lang="en-US" sz="2000" dirty="0">
                <a:solidFill>
                  <a:srgbClr val="FF0000"/>
                </a:solidFill>
              </a:rPr>
              <a:t>a running loop of tape that eventually repeated the key, </a:t>
            </a:r>
            <a:r>
              <a:rPr lang="en-US" sz="2000" dirty="0"/>
              <a:t>so that in fact the system worked with a very long but repeating keyword.</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6274632" y="514350"/>
            <a:ext cx="2507418" cy="584775"/>
          </a:xfrm>
          <a:prstGeom prst="rect">
            <a:avLst/>
          </a:prstGeom>
          <a:noFill/>
          <a:ln w="9525">
            <a:noFill/>
            <a:miter lim="800000"/>
            <a:headEnd/>
            <a:tailEnd/>
          </a:ln>
        </p:spPr>
        <p:txBody>
          <a:bodyPr wrap="none">
            <a:spAutoFit/>
          </a:bodyPr>
          <a:lstStyle/>
          <a:p>
            <a:r>
              <a:rPr lang="en-US" sz="3200" i="0" baseline="0" dirty="0">
                <a:solidFill>
                  <a:srgbClr val="FF0000"/>
                </a:solidFill>
              </a:rPr>
              <a:t>Rotor Cipher</a:t>
            </a:r>
            <a:endParaRPr lang="en-US" sz="3200" baseline="0" dirty="0">
              <a:solidFill>
                <a:srgbClr val="FF0000"/>
              </a:solidFill>
            </a:endParaRPr>
          </a:p>
        </p:txBody>
      </p:sp>
      <p:pic>
        <p:nvPicPr>
          <p:cNvPr id="7" name="Picture 12"/>
          <p:cNvPicPr>
            <a:picLocks noChangeAspect="1" noChangeArrowheads="1"/>
          </p:cNvPicPr>
          <p:nvPr/>
        </p:nvPicPr>
        <p:blipFill>
          <a:blip r:embed="rId2"/>
          <a:srcRect/>
          <a:stretch>
            <a:fillRect/>
          </a:stretch>
        </p:blipFill>
        <p:spPr bwMode="auto">
          <a:xfrm>
            <a:off x="1433513" y="3810000"/>
            <a:ext cx="6243637" cy="2363787"/>
          </a:xfrm>
          <a:prstGeom prst="rect">
            <a:avLst/>
          </a:prstGeom>
          <a:noFill/>
          <a:ln w="9525">
            <a:noFill/>
            <a:miter lim="800000"/>
            <a:headEnd/>
            <a:tailEnd/>
          </a:ln>
        </p:spPr>
      </p:pic>
      <p:sp>
        <p:nvSpPr>
          <p:cNvPr id="8" name="Text Box 13"/>
          <p:cNvSpPr txBox="1">
            <a:spLocks noChangeArrowheads="1"/>
          </p:cNvSpPr>
          <p:nvPr/>
        </p:nvSpPr>
        <p:spPr bwMode="auto">
          <a:xfrm>
            <a:off x="2623879" y="2743200"/>
            <a:ext cx="2836289"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A rotor cipher</a:t>
            </a:r>
          </a:p>
        </p:txBody>
      </p:sp>
      <p:sp>
        <p:nvSpPr>
          <p:cNvPr id="5" name="Rectangle 6"/>
          <p:cNvSpPr>
            <a:spLocks noChangeArrowheads="1"/>
          </p:cNvSpPr>
          <p:nvPr/>
        </p:nvSpPr>
        <p:spPr bwMode="auto">
          <a:xfrm>
            <a:off x="628650" y="1295399"/>
            <a:ext cx="8153400" cy="1938992"/>
          </a:xfrm>
          <a:prstGeom prst="rect">
            <a:avLst/>
          </a:prstGeom>
          <a:noFill/>
          <a:ln w="9525">
            <a:noFill/>
            <a:miter lim="800000"/>
            <a:headEnd/>
            <a:tailEnd/>
          </a:ln>
        </p:spPr>
        <p:txBody>
          <a:bodyPr>
            <a:spAutoFit/>
          </a:bodyPr>
          <a:lstStyle/>
          <a:p>
            <a:pPr algn="just"/>
            <a:r>
              <a:rPr lang="en-US" sz="2000" dirty="0" smtClean="0"/>
              <a:t>Although one-</a:t>
            </a:r>
            <a:r>
              <a:rPr lang="en-US" sz="2000" dirty="0" err="1" smtClean="0"/>
              <a:t>tme</a:t>
            </a:r>
            <a:r>
              <a:rPr lang="en-US" sz="2000" dirty="0" smtClean="0"/>
              <a:t> pad is not practical, one step  toward more secured </a:t>
            </a:r>
            <a:r>
              <a:rPr lang="en-US" sz="2000" dirty="0" err="1" smtClean="0"/>
              <a:t>encipherment</a:t>
            </a:r>
            <a:r>
              <a:rPr lang="en-US" sz="2000" dirty="0" smtClean="0"/>
              <a:t>  is  rotor cipher. </a:t>
            </a:r>
          </a:p>
          <a:p>
            <a:pPr algn="just"/>
            <a:endParaRPr lang="en-US" sz="2000" dirty="0"/>
          </a:p>
          <a:p>
            <a:pPr algn="just"/>
            <a:r>
              <a:rPr lang="en-US" sz="2000" dirty="0" smtClean="0"/>
              <a:t>It uses the idea behind </a:t>
            </a:r>
            <a:r>
              <a:rPr lang="en-US" sz="2000" dirty="0" err="1" smtClean="0"/>
              <a:t>monalphabetic</a:t>
            </a:r>
            <a:r>
              <a:rPr lang="en-US" sz="2000" dirty="0" smtClean="0"/>
              <a:t> substitution, but changes the mapping between plaintext  and </a:t>
            </a:r>
            <a:r>
              <a:rPr lang="en-US" sz="2000" dirty="0" err="1" smtClean="0"/>
              <a:t>cipphertext</a:t>
            </a:r>
            <a:r>
              <a:rPr lang="en-US" sz="2000" dirty="0" smtClean="0"/>
              <a:t> characters for each plaintext character. </a:t>
            </a:r>
            <a:endParaRPr lang="en-US" sz="2000"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
          <p:cNvPicPr>
            <a:picLocks noChangeAspect="1" noChangeArrowheads="1"/>
          </p:cNvPicPr>
          <p:nvPr/>
        </p:nvPicPr>
        <p:blipFill>
          <a:blip r:embed="rId2"/>
          <a:srcRect/>
          <a:stretch>
            <a:fillRect/>
          </a:stretch>
        </p:blipFill>
        <p:spPr bwMode="auto">
          <a:xfrm>
            <a:off x="1583531" y="3429000"/>
            <a:ext cx="6243637" cy="2363787"/>
          </a:xfrm>
          <a:prstGeom prst="rect">
            <a:avLst/>
          </a:prstGeom>
          <a:noFill/>
          <a:ln w="9525">
            <a:noFill/>
            <a:miter lim="800000"/>
            <a:headEnd/>
            <a:tailEnd/>
          </a:ln>
        </p:spPr>
      </p:pic>
      <p:sp>
        <p:nvSpPr>
          <p:cNvPr id="4" name="Text Box 11"/>
          <p:cNvSpPr txBox="1">
            <a:spLocks noGrp="1" noChangeArrowheads="1"/>
          </p:cNvSpPr>
          <p:nvPr>
            <p:ph type="title"/>
          </p:nvPr>
        </p:nvSpPr>
        <p:spPr bwMode="auto">
          <a:prstGeom prst="rect">
            <a:avLst/>
          </a:prstGeom>
          <a:noFill/>
          <a:ln w="9525">
            <a:noFill/>
            <a:miter lim="800000"/>
            <a:headEnd/>
            <a:tailEnd/>
          </a:ln>
        </p:spPr>
        <p:txBody>
          <a:bodyPr wrap="none">
            <a:spAutoFit/>
          </a:bodyPr>
          <a:lstStyle/>
          <a:p>
            <a:r>
              <a:rPr lang="en-US" sz="3200" i="0" baseline="0" dirty="0">
                <a:solidFill>
                  <a:srgbClr val="FF0000"/>
                </a:solidFill>
              </a:rPr>
              <a:t>Rotor Cipher</a:t>
            </a:r>
            <a:endParaRPr lang="en-US" sz="3200" baseline="0" dirty="0">
              <a:solidFill>
                <a:srgbClr val="FF0000"/>
              </a:solidFill>
            </a:endParaRPr>
          </a:p>
        </p:txBody>
      </p:sp>
      <p:sp>
        <p:nvSpPr>
          <p:cNvPr id="5" name="Rectangle 6"/>
          <p:cNvSpPr>
            <a:spLocks noChangeArrowheads="1"/>
          </p:cNvSpPr>
          <p:nvPr/>
        </p:nvSpPr>
        <p:spPr bwMode="auto">
          <a:xfrm>
            <a:off x="628650" y="1295399"/>
            <a:ext cx="8153400" cy="1631216"/>
          </a:xfrm>
          <a:prstGeom prst="rect">
            <a:avLst/>
          </a:prstGeom>
          <a:noFill/>
          <a:ln w="9525">
            <a:noFill/>
            <a:miter lim="800000"/>
            <a:headEnd/>
            <a:tailEnd/>
          </a:ln>
        </p:spPr>
        <p:txBody>
          <a:bodyPr>
            <a:spAutoFit/>
          </a:bodyPr>
          <a:lstStyle/>
          <a:p>
            <a:pPr algn="just"/>
            <a:r>
              <a:rPr lang="en-US" sz="2000" dirty="0" smtClean="0"/>
              <a:t>It </a:t>
            </a:r>
            <a:r>
              <a:rPr lang="en-US" sz="2000" dirty="0" err="1" smtClean="0"/>
              <a:t>uuses</a:t>
            </a:r>
            <a:r>
              <a:rPr lang="en-US" sz="2000" dirty="0" smtClean="0"/>
              <a:t> only 6 letter, but actual rotor uses 26 letters.</a:t>
            </a:r>
          </a:p>
          <a:p>
            <a:pPr algn="just"/>
            <a:r>
              <a:rPr lang="en-US" sz="2000" dirty="0" smtClean="0"/>
              <a:t>Initial setting is the  secret key.</a:t>
            </a:r>
          </a:p>
          <a:p>
            <a:pPr algn="just"/>
            <a:endParaRPr lang="en-US" sz="2000" dirty="0" smtClean="0"/>
          </a:p>
          <a:p>
            <a:pPr algn="just"/>
            <a:r>
              <a:rPr lang="en-US" sz="2000" dirty="0" smtClean="0"/>
              <a:t>‘bee’  encrypts as “BAA” if rotor is </a:t>
            </a:r>
            <a:r>
              <a:rPr lang="en-US" sz="2000" dirty="0" err="1" smtClean="0"/>
              <a:t>stationery,but</a:t>
            </a:r>
            <a:r>
              <a:rPr lang="en-US" sz="2000" dirty="0" smtClean="0"/>
              <a:t> become “BCA” as rotates.</a:t>
            </a:r>
            <a:endParaRPr lang="en-US" sz="2000" dirty="0"/>
          </a:p>
        </p:txBody>
      </p:sp>
    </p:spTree>
    <p:extLst>
      <p:ext uri="{BB962C8B-B14F-4D97-AF65-F5344CB8AC3E}">
        <p14:creationId xmlns:p14="http://schemas.microsoft.com/office/powerpoint/2010/main" val="399544458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p:cNvSpPr txBox="1">
            <a:spLocks noChangeArrowheads="1"/>
          </p:cNvSpPr>
          <p:nvPr/>
        </p:nvSpPr>
        <p:spPr bwMode="auto">
          <a:xfrm>
            <a:off x="2895600" y="381000"/>
            <a:ext cx="3236784" cy="584775"/>
          </a:xfrm>
          <a:prstGeom prst="rect">
            <a:avLst/>
          </a:prstGeom>
          <a:noFill/>
          <a:ln w="9525">
            <a:noFill/>
            <a:miter lim="800000"/>
            <a:headEnd/>
            <a:tailEnd/>
          </a:ln>
        </p:spPr>
        <p:txBody>
          <a:bodyPr wrap="none">
            <a:spAutoFit/>
          </a:bodyPr>
          <a:lstStyle/>
          <a:p>
            <a:r>
              <a:rPr lang="en-US" sz="3200" i="0" baseline="0" dirty="0">
                <a:solidFill>
                  <a:srgbClr val="FF0000"/>
                </a:solidFill>
              </a:rPr>
              <a:t>Enigma Machine</a:t>
            </a:r>
            <a:endParaRPr lang="en-US" sz="3200" baseline="0" dirty="0">
              <a:solidFill>
                <a:srgbClr val="FF0000"/>
              </a:solidFill>
            </a:endParaRPr>
          </a:p>
        </p:txBody>
      </p:sp>
      <p:sp>
        <p:nvSpPr>
          <p:cNvPr id="6" name="Text Box 13"/>
          <p:cNvSpPr txBox="1">
            <a:spLocks noChangeArrowheads="1"/>
          </p:cNvSpPr>
          <p:nvPr/>
        </p:nvSpPr>
        <p:spPr bwMode="auto">
          <a:xfrm>
            <a:off x="1809234" y="5867400"/>
            <a:ext cx="5628720"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A schematic of the  Enigma machine</a:t>
            </a:r>
          </a:p>
        </p:txBody>
      </p:sp>
      <p:pic>
        <p:nvPicPr>
          <p:cNvPr id="7" name="Picture 14"/>
          <p:cNvPicPr>
            <a:picLocks noChangeAspect="1" noChangeArrowheads="1"/>
          </p:cNvPicPr>
          <p:nvPr/>
        </p:nvPicPr>
        <p:blipFill>
          <a:blip r:embed="rId2"/>
          <a:srcRect/>
          <a:stretch>
            <a:fillRect/>
          </a:stretch>
        </p:blipFill>
        <p:spPr bwMode="auto">
          <a:xfrm>
            <a:off x="2667000" y="2438400"/>
            <a:ext cx="3913188" cy="3224213"/>
          </a:xfrm>
          <a:prstGeom prst="rect">
            <a:avLst/>
          </a:prstGeom>
          <a:noFill/>
          <a:ln w="9525">
            <a:noFill/>
            <a:miter lim="800000"/>
            <a:headEnd/>
            <a:tailEnd/>
          </a:ln>
        </p:spPr>
      </p:pic>
      <p:sp>
        <p:nvSpPr>
          <p:cNvPr id="8" name="Rectangle 6"/>
          <p:cNvSpPr>
            <a:spLocks noChangeArrowheads="1"/>
          </p:cNvSpPr>
          <p:nvPr/>
        </p:nvSpPr>
        <p:spPr bwMode="auto">
          <a:xfrm>
            <a:off x="546894" y="984825"/>
            <a:ext cx="8153400" cy="1631216"/>
          </a:xfrm>
          <a:prstGeom prst="rect">
            <a:avLst/>
          </a:prstGeom>
          <a:noFill/>
          <a:ln w="9525">
            <a:noFill/>
            <a:miter lim="800000"/>
            <a:headEnd/>
            <a:tailEnd/>
          </a:ln>
        </p:spPr>
        <p:txBody>
          <a:bodyPr>
            <a:spAutoFit/>
          </a:bodyPr>
          <a:lstStyle/>
          <a:p>
            <a:pPr algn="just"/>
            <a:endParaRPr lang="en-US" sz="2000" dirty="0" smtClean="0"/>
          </a:p>
          <a:p>
            <a:pPr algn="just"/>
            <a:r>
              <a:rPr lang="en-US" sz="2000" dirty="0" smtClean="0"/>
              <a:t>Originally </a:t>
            </a:r>
            <a:r>
              <a:rPr lang="en-US" sz="2000" dirty="0" err="1" smtClean="0"/>
              <a:t>degined</a:t>
            </a:r>
            <a:r>
              <a:rPr lang="en-US" sz="2000" dirty="0" smtClean="0"/>
              <a:t> by </a:t>
            </a:r>
            <a:r>
              <a:rPr lang="en-US" sz="2000" dirty="0" err="1" smtClean="0"/>
              <a:t>Sherbius</a:t>
            </a:r>
            <a:r>
              <a:rPr lang="en-US" sz="2000" dirty="0" smtClean="0"/>
              <a:t>, modified by </a:t>
            </a:r>
            <a:r>
              <a:rPr lang="en-US" sz="2000" dirty="0" err="1" smtClean="0"/>
              <a:t>Geerman</a:t>
            </a:r>
            <a:r>
              <a:rPr lang="en-US" sz="2000" dirty="0" smtClean="0"/>
              <a:t> army and extensively used in WWII.</a:t>
            </a:r>
          </a:p>
          <a:p>
            <a:pPr algn="just"/>
            <a:endParaRPr lang="en-US" sz="2000" dirty="0" smtClean="0"/>
          </a:p>
          <a:p>
            <a:pPr algn="just"/>
            <a:r>
              <a:rPr lang="en-US" sz="2000" dirty="0" smtClean="0"/>
              <a:t>‘.</a:t>
            </a:r>
            <a:endParaRPr lang="en-US" sz="2000"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381000" y="274638"/>
            <a:ext cx="8458200" cy="563562"/>
          </a:xfrm>
        </p:spPr>
        <p:txBody>
          <a:bodyPr>
            <a:normAutofit/>
          </a:bodyPr>
          <a:lstStyle/>
          <a:p>
            <a:r>
              <a:rPr lang="en-US" smtClean="0">
                <a:latin typeface="Gill Sans MT" pitchFamily="34" charset="0"/>
              </a:rPr>
              <a:t>Rotor machines</a:t>
            </a:r>
          </a:p>
        </p:txBody>
      </p:sp>
      <p:sp>
        <p:nvSpPr>
          <p:cNvPr id="74755" name="Content Placeholder 2"/>
          <p:cNvSpPr>
            <a:spLocks noGrp="1"/>
          </p:cNvSpPr>
          <p:nvPr>
            <p:ph sz="quarter" idx="1"/>
          </p:nvPr>
        </p:nvSpPr>
        <p:spPr>
          <a:xfrm>
            <a:off x="381000" y="990600"/>
            <a:ext cx="8458200" cy="5181600"/>
          </a:xfrm>
        </p:spPr>
        <p:txBody>
          <a:bodyPr>
            <a:normAutofit/>
          </a:bodyPr>
          <a:lstStyle/>
          <a:p>
            <a:pPr algn="just">
              <a:buFontTx/>
              <a:buBlip>
                <a:blip r:embed="rId2"/>
              </a:buBlip>
            </a:pPr>
            <a:r>
              <a:rPr lang="en-US" smtClean="0">
                <a:solidFill>
                  <a:schemeClr val="tx1"/>
                </a:solidFill>
                <a:latin typeface="Gill Sans MT" pitchFamily="34" charset="0"/>
              </a:rPr>
              <a:t>The machine consists of a set of independently rotating cylinders through which electrical pulses can flow.</a:t>
            </a:r>
          </a:p>
          <a:p>
            <a:pPr algn="just">
              <a:buFontTx/>
              <a:buNone/>
            </a:pPr>
            <a:endParaRPr lang="en-US" smtClean="0">
              <a:solidFill>
                <a:schemeClr val="tx1"/>
              </a:solidFill>
              <a:latin typeface="Gill Sans MT" pitchFamily="34" charset="0"/>
            </a:endParaRPr>
          </a:p>
          <a:p>
            <a:pPr algn="just">
              <a:buFontTx/>
              <a:buBlip>
                <a:blip r:embed="rId2"/>
              </a:buBlip>
            </a:pPr>
            <a:r>
              <a:rPr lang="en-US" smtClean="0">
                <a:solidFill>
                  <a:schemeClr val="tx1"/>
                </a:solidFill>
                <a:latin typeface="Gill Sans MT" pitchFamily="34" charset="0"/>
              </a:rPr>
              <a:t>Each cylinder has 26 input pins and 26 output pins, with internal wiring that connects each input pin to a unique output pin.</a:t>
            </a:r>
          </a:p>
          <a:p>
            <a:pPr algn="just">
              <a:buFontTx/>
              <a:buNone/>
            </a:pPr>
            <a:endParaRPr lang="en-US" smtClean="0">
              <a:solidFill>
                <a:schemeClr val="tx1"/>
              </a:solidFill>
              <a:latin typeface="Gill Sans MT" pitchFamily="34" charset="0"/>
            </a:endParaRPr>
          </a:p>
          <a:p>
            <a:pPr algn="just">
              <a:buFontTx/>
              <a:buBlip>
                <a:blip r:embed="rId2"/>
              </a:buBlip>
            </a:pPr>
            <a:r>
              <a:rPr lang="en-US" smtClean="0">
                <a:solidFill>
                  <a:schemeClr val="tx1"/>
                </a:solidFill>
                <a:latin typeface="Gill Sans MT" pitchFamily="34" charset="0"/>
              </a:rPr>
              <a:t>After each input key is depressed, </a:t>
            </a:r>
            <a:r>
              <a:rPr lang="en-US" smtClean="0">
                <a:solidFill>
                  <a:srgbClr val="FF0000"/>
                </a:solidFill>
                <a:latin typeface="Gill Sans MT" pitchFamily="34" charset="0"/>
              </a:rPr>
              <a:t>the cylinder rotates one position,</a:t>
            </a:r>
            <a:r>
              <a:rPr lang="en-US" smtClean="0">
                <a:solidFill>
                  <a:schemeClr val="tx1"/>
                </a:solidFill>
                <a:latin typeface="Gill Sans MT" pitchFamily="34" charset="0"/>
              </a:rPr>
              <a:t> so that the </a:t>
            </a:r>
            <a:r>
              <a:rPr lang="en-US" smtClean="0">
                <a:solidFill>
                  <a:srgbClr val="FF0000"/>
                </a:solidFill>
                <a:latin typeface="Gill Sans MT" pitchFamily="34" charset="0"/>
              </a:rPr>
              <a:t>internal connections are shifted accordingly.</a:t>
            </a:r>
          </a:p>
          <a:p>
            <a:pPr algn="just">
              <a:buFontTx/>
              <a:buNone/>
            </a:pPr>
            <a:endParaRPr lang="en-US" smtClean="0">
              <a:solidFill>
                <a:schemeClr val="tx1"/>
              </a:solidFill>
              <a:latin typeface="Gill Sans MT" pitchFamily="34" charset="0"/>
            </a:endParaRPr>
          </a:p>
          <a:p>
            <a:pPr algn="just">
              <a:buFontTx/>
              <a:buBlip>
                <a:blip r:embed="rId2"/>
              </a:buBlip>
            </a:pPr>
            <a:r>
              <a:rPr lang="en-US" smtClean="0">
                <a:latin typeface="Gill Sans MT" pitchFamily="34" charset="0"/>
              </a:rPr>
              <a:t>After 26 letters of plaintext, the cylinder would be back to the initial position.</a:t>
            </a:r>
            <a:endParaRPr lang="en-US" smtClean="0">
              <a:solidFill>
                <a:schemeClr val="tx1"/>
              </a:solidFill>
              <a:latin typeface="Gill Sans MT" pitchFamily="34" charset="0"/>
            </a:endParaRPr>
          </a:p>
        </p:txBody>
      </p:sp>
    </p:spTree>
    <p:extLst>
      <p:ext uri="{BB962C8B-B14F-4D97-AF65-F5344CB8AC3E}">
        <p14:creationId xmlns:p14="http://schemas.microsoft.com/office/powerpoint/2010/main" val="417014066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381000" y="457200"/>
            <a:ext cx="8458200" cy="639763"/>
          </a:xfrm>
        </p:spPr>
        <p:txBody>
          <a:bodyPr/>
          <a:lstStyle/>
          <a:p>
            <a:endParaRPr lang="en-US" smtClean="0"/>
          </a:p>
        </p:txBody>
      </p:sp>
      <p:sp>
        <p:nvSpPr>
          <p:cNvPr id="75779" name="Content Placeholder 2"/>
          <p:cNvSpPr>
            <a:spLocks noGrp="1"/>
          </p:cNvSpPr>
          <p:nvPr>
            <p:ph sz="quarter" idx="1"/>
          </p:nvPr>
        </p:nvSpPr>
        <p:spPr/>
        <p:txBody>
          <a:bodyPr/>
          <a:lstStyle/>
          <a:p>
            <a:pPr algn="just">
              <a:buFontTx/>
              <a:buBlip>
                <a:blip r:embed="rId2"/>
              </a:buBlip>
            </a:pPr>
            <a:r>
              <a:rPr lang="en-US" smtClean="0">
                <a:solidFill>
                  <a:schemeClr val="tx1"/>
                </a:solidFill>
                <a:latin typeface="Gill Sans MT" pitchFamily="34" charset="0"/>
              </a:rPr>
              <a:t>For every complete rotation of the inner cylinder, the middle cylinder rotates one pin position. Finally, for every complete rotation of the middle cylinder, the outer cylinder rotates one pin position.</a:t>
            </a:r>
          </a:p>
          <a:p>
            <a:pPr algn="just">
              <a:buFontTx/>
              <a:buBlip>
                <a:blip r:embed="rId2"/>
              </a:buBlip>
            </a:pPr>
            <a:r>
              <a:rPr lang="en-US" smtClean="0">
                <a:latin typeface="Gill Sans MT" pitchFamily="34" charset="0"/>
              </a:rPr>
              <a:t>Thus, a given setting of a 5-rotor machine is equivalent to a Vigenère cipher with a key length of 11,881,376.</a:t>
            </a:r>
            <a:endParaRPr lang="en-US" smtClean="0">
              <a:solidFill>
                <a:schemeClr val="tx1"/>
              </a:solidFill>
              <a:latin typeface="Gill Sans MT" pitchFamily="34" charset="0"/>
            </a:endParaRPr>
          </a:p>
        </p:txBody>
      </p:sp>
    </p:spTree>
    <p:extLst>
      <p:ext uri="{BB962C8B-B14F-4D97-AF65-F5344CB8AC3E}">
        <p14:creationId xmlns:p14="http://schemas.microsoft.com/office/powerpoint/2010/main" val="274807322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381000" y="457200"/>
            <a:ext cx="8458200" cy="639763"/>
          </a:xfrm>
        </p:spPr>
        <p:txBody>
          <a:bodyPr/>
          <a:lstStyle/>
          <a:p>
            <a:endParaRPr lang="en-US" smtClean="0"/>
          </a:p>
        </p:txBody>
      </p:sp>
      <p:pic>
        <p:nvPicPr>
          <p:cNvPr id="77827" name="Picture 2"/>
          <p:cNvPicPr>
            <a:picLocks noChangeAspect="1" noChangeArrowheads="1"/>
          </p:cNvPicPr>
          <p:nvPr/>
        </p:nvPicPr>
        <p:blipFill>
          <a:blip r:embed="rId2"/>
          <a:srcRect/>
          <a:stretch>
            <a:fillRect/>
          </a:stretch>
        </p:blipFill>
        <p:spPr bwMode="auto">
          <a:xfrm>
            <a:off x="1219200" y="1143000"/>
            <a:ext cx="6486525" cy="5191125"/>
          </a:xfrm>
          <a:prstGeom prst="rect">
            <a:avLst/>
          </a:prstGeom>
          <a:noFill/>
          <a:ln w="9525">
            <a:noFill/>
            <a:miter lim="800000"/>
            <a:headEnd/>
            <a:tailEnd/>
          </a:ln>
        </p:spPr>
      </p:pic>
    </p:spTree>
    <p:extLst>
      <p:ext uri="{BB962C8B-B14F-4D97-AF65-F5344CB8AC3E}">
        <p14:creationId xmlns:p14="http://schemas.microsoft.com/office/powerpoint/2010/main" val="97305956"/>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
          <p:cNvSpPr txBox="1">
            <a:spLocks noChangeArrowheads="1"/>
          </p:cNvSpPr>
          <p:nvPr/>
        </p:nvSpPr>
        <p:spPr bwMode="auto">
          <a:xfrm>
            <a:off x="1447800" y="250826"/>
            <a:ext cx="7467600" cy="788987"/>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3600" dirty="0">
                <a:solidFill>
                  <a:srgbClr val="FF0000"/>
                </a:solidFill>
                <a:latin typeface="Gill Sans MT" pitchFamily="34" charset="0"/>
                <a:ea typeface="MS PGothic" pitchFamily="34" charset="-128"/>
              </a:rPr>
              <a:t>Poly-alphabetic </a:t>
            </a:r>
            <a:r>
              <a:rPr lang="en-AU" sz="3600" dirty="0" smtClean="0">
                <a:solidFill>
                  <a:srgbClr val="FF0000"/>
                </a:solidFill>
                <a:latin typeface="Gill Sans MT" pitchFamily="34" charset="0"/>
                <a:ea typeface="MS PGothic" pitchFamily="34" charset="-128"/>
              </a:rPr>
              <a:t>Ciphers Summary</a:t>
            </a:r>
            <a:endParaRPr lang="en-AU" sz="3600" dirty="0">
              <a:solidFill>
                <a:srgbClr val="FF0000"/>
              </a:solidFill>
              <a:latin typeface="Gill Sans MT" pitchFamily="34" charset="0"/>
              <a:ea typeface="MS PGothic" pitchFamily="34" charset="-128"/>
            </a:endParaRPr>
          </a:p>
        </p:txBody>
      </p:sp>
      <p:sp>
        <p:nvSpPr>
          <p:cNvPr id="55299" name="Text Box 2"/>
          <p:cNvSpPr txBox="1">
            <a:spLocks noChangeArrowheads="1"/>
          </p:cNvSpPr>
          <p:nvPr/>
        </p:nvSpPr>
        <p:spPr bwMode="auto">
          <a:xfrm>
            <a:off x="457200" y="1676400"/>
            <a:ext cx="8229600" cy="4454525"/>
          </a:xfrm>
          <a:prstGeom prst="rect">
            <a:avLst/>
          </a:prstGeom>
          <a:noFill/>
          <a:ln w="9525">
            <a:noFill/>
            <a:round/>
            <a:headEnd/>
            <a:tailEnd/>
          </a:ln>
        </p:spPr>
        <p:txBody>
          <a:bodyPr/>
          <a:lstStyle/>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b="1" dirty="0">
                <a:latin typeface="CMSS12"/>
                <a:ea typeface="MS PGothic" pitchFamily="34" charset="-128"/>
              </a:rPr>
              <a:t>polyalphabetic substitution ciphers</a:t>
            </a:r>
            <a:r>
              <a:rPr lang="en-AU" sz="2000" dirty="0">
                <a:latin typeface="CMSS12"/>
                <a:ea typeface="MS PGothic" pitchFamily="34" charset="-128"/>
              </a:rPr>
              <a:t>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improve security using multiple cipher alphabets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make cryptanalysis harder with more alphabets to guess and flatter frequency distribution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use a key to select which alphabet is used for each letter of the message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use each alphabet in turn </a:t>
            </a:r>
          </a:p>
          <a:p>
            <a:pPr marL="341313" indent="-341313">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repeat from start after end of key is reached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1"/>
          <p:cNvSpPr txBox="1">
            <a:spLocks noChangeArrowheads="1"/>
          </p:cNvSpPr>
          <p:nvPr/>
        </p:nvSpPr>
        <p:spPr bwMode="auto">
          <a:xfrm>
            <a:off x="1219200" y="304800"/>
            <a:ext cx="7467600" cy="920750"/>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2800" dirty="0">
                <a:solidFill>
                  <a:srgbClr val="FF0000"/>
                </a:solidFill>
                <a:ea typeface="MS PGothic" pitchFamily="34" charset="-128"/>
              </a:rPr>
              <a:t>Frequencies After Polyalphabetic Encryption</a:t>
            </a:r>
          </a:p>
        </p:txBody>
      </p:sp>
      <p:graphicFrame>
        <p:nvGraphicFramePr>
          <p:cNvPr id="4098" name="Object 2"/>
          <p:cNvGraphicFramePr>
            <a:graphicFrameLocks noChangeAspect="1"/>
          </p:cNvGraphicFramePr>
          <p:nvPr/>
        </p:nvGraphicFramePr>
        <p:xfrm>
          <a:off x="107950" y="1274763"/>
          <a:ext cx="8839200" cy="4962525"/>
        </p:xfrm>
        <a:graphic>
          <a:graphicData uri="http://schemas.openxmlformats.org/presentationml/2006/ole">
            <mc:AlternateContent xmlns:mc="http://schemas.openxmlformats.org/markup-compatibility/2006">
              <mc:Choice xmlns:v="urn:schemas-microsoft-com:vml" Requires="v">
                <p:oleObj spid="_x0000_s4150" r:id="rId4" imgW="8839200" imgH="4962457" progId="Excel.Sheet.8">
                  <p:embed/>
                </p:oleObj>
              </mc:Choice>
              <mc:Fallback>
                <p:oleObj r:id="rId4" imgW="8839200" imgH="4962457"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274763"/>
                        <a:ext cx="8839200" cy="496252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1"/>
          <p:cNvSpPr txBox="1">
            <a:spLocks noChangeArrowheads="1"/>
          </p:cNvSpPr>
          <p:nvPr/>
        </p:nvSpPr>
        <p:spPr bwMode="auto">
          <a:xfrm>
            <a:off x="457200" y="152400"/>
            <a:ext cx="8229600" cy="1073150"/>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AU" sz="3200" dirty="0">
                <a:solidFill>
                  <a:srgbClr val="FF0000"/>
                </a:solidFill>
                <a:ea typeface="MS PGothic" pitchFamily="34" charset="-128"/>
              </a:rPr>
              <a:t>Frequencies After Polyalphabetic Encryption</a:t>
            </a:r>
          </a:p>
        </p:txBody>
      </p:sp>
      <p:graphicFrame>
        <p:nvGraphicFramePr>
          <p:cNvPr id="5122" name="Object 2"/>
          <p:cNvGraphicFramePr>
            <a:graphicFrameLocks noChangeAspect="1"/>
          </p:cNvGraphicFramePr>
          <p:nvPr/>
        </p:nvGraphicFramePr>
        <p:xfrm>
          <a:off x="468313" y="1241425"/>
          <a:ext cx="8281987" cy="4848225"/>
        </p:xfrm>
        <a:graphic>
          <a:graphicData uri="http://schemas.openxmlformats.org/presentationml/2006/ole">
            <mc:AlternateContent xmlns:mc="http://schemas.openxmlformats.org/markup-compatibility/2006">
              <mc:Choice xmlns:v="urn:schemas-microsoft-com:vml" Requires="v">
                <p:oleObj spid="_x0000_s5174" r:id="rId4" imgW="5191041" imgH="3038543" progId="Excel.Sheet.8">
                  <p:embed/>
                </p:oleObj>
              </mc:Choice>
              <mc:Fallback>
                <p:oleObj r:id="rId4" imgW="5191041" imgH="3038543"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241425"/>
                        <a:ext cx="8281987" cy="484822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8643" name="Text Box 3"/>
          <p:cNvSpPr txBox="1">
            <a:spLocks noChangeArrowheads="1"/>
          </p:cNvSpPr>
          <p:nvPr/>
        </p:nvSpPr>
        <p:spPr bwMode="auto">
          <a:xfrm>
            <a:off x="228600" y="304799"/>
            <a:ext cx="4464492" cy="646331"/>
          </a:xfrm>
          <a:prstGeom prst="rect">
            <a:avLst/>
          </a:prstGeom>
          <a:noFill/>
          <a:ln w="9525">
            <a:noFill/>
            <a:miter lim="800000"/>
            <a:headEnd/>
            <a:tailEnd/>
          </a:ln>
          <a:effectLst/>
        </p:spPr>
        <p:txBody>
          <a:bodyPr wrap="none">
            <a:spAutoFit/>
          </a:bodyPr>
          <a:lstStyle/>
          <a:p>
            <a:pPr>
              <a:defRPr/>
            </a:pPr>
            <a:r>
              <a:rPr lang="en-US" sz="3200" i="0" baseline="0" dirty="0" smtClean="0">
                <a:effectLst>
                  <a:outerShdw blurRad="38100" dist="38100" dir="2700000" algn="tl">
                    <a:srgbClr val="C0C0C0"/>
                  </a:outerShdw>
                </a:effectLst>
                <a:latin typeface="Times" pitchFamily="-107" charset="0"/>
              </a:rPr>
              <a:t>  </a:t>
            </a:r>
            <a:r>
              <a:rPr lang="en-US" sz="3600" i="0" baseline="0" dirty="0" smtClean="0">
                <a:solidFill>
                  <a:srgbClr val="FF0000"/>
                </a:solidFill>
                <a:latin typeface="Times" pitchFamily="-107" charset="0"/>
              </a:rPr>
              <a:t>Transposition Ciphers</a:t>
            </a:r>
            <a:endParaRPr lang="en-US" sz="3600" i="0" baseline="0" dirty="0">
              <a:solidFill>
                <a:srgbClr val="FF0000"/>
              </a:solidFill>
              <a:latin typeface="Times" pitchFamily="-107" charset="0"/>
            </a:endParaRPr>
          </a:p>
        </p:txBody>
      </p:sp>
      <p:sp>
        <p:nvSpPr>
          <p:cNvPr id="1008645" name="Rectangle 5"/>
          <p:cNvSpPr>
            <a:spLocks noChangeArrowheads="1"/>
          </p:cNvSpPr>
          <p:nvPr/>
        </p:nvSpPr>
        <p:spPr bwMode="auto">
          <a:xfrm>
            <a:off x="228600" y="970180"/>
            <a:ext cx="8610600" cy="1384995"/>
          </a:xfrm>
          <a:prstGeom prst="rect">
            <a:avLst/>
          </a:prstGeom>
          <a:noFill/>
          <a:ln w="9525">
            <a:noFill/>
            <a:miter lim="800000"/>
            <a:headEnd/>
            <a:tailEnd/>
          </a:ln>
          <a:effectLst/>
        </p:spPr>
        <p:txBody>
          <a:bodyPr anchor="ctr">
            <a:spAutoFit/>
          </a:bodyPr>
          <a:lstStyle/>
          <a:p>
            <a:pPr algn="just" eaLnBrk="1" hangingPunct="1">
              <a:defRPr/>
            </a:pPr>
            <a:r>
              <a:rPr lang="en-US" sz="2800" baseline="0" dirty="0"/>
              <a:t>A transposition cipher does not substitute one symbol for another, instead it changes the location of the symbols. </a:t>
            </a:r>
          </a:p>
        </p:txBody>
      </p:sp>
      <p:sp>
        <p:nvSpPr>
          <p:cNvPr id="51207" name="Rectangle 6"/>
          <p:cNvSpPr>
            <a:spLocks noChangeArrowheads="1"/>
          </p:cNvSpPr>
          <p:nvPr/>
        </p:nvSpPr>
        <p:spPr bwMode="auto">
          <a:xfrm>
            <a:off x="228600" y="4800600"/>
            <a:ext cx="6400800" cy="1200329"/>
          </a:xfrm>
          <a:prstGeom prst="rect">
            <a:avLst/>
          </a:prstGeom>
          <a:noFill/>
          <a:ln w="9525">
            <a:noFill/>
            <a:miter lim="800000"/>
            <a:headEnd/>
            <a:tailEnd/>
          </a:ln>
        </p:spPr>
        <p:txBody>
          <a:bodyPr>
            <a:spAutoFit/>
          </a:bodyPr>
          <a:lstStyle/>
          <a:p>
            <a:pPr>
              <a:buClr>
                <a:schemeClr val="tx1"/>
              </a:buClr>
              <a:buSzPct val="117000"/>
              <a:buFont typeface="Wingdings" pitchFamily="2" charset="2"/>
              <a:buNone/>
            </a:pPr>
            <a:r>
              <a:rPr lang="en-US" sz="2400" i="0" baseline="0" dirty="0">
                <a:solidFill>
                  <a:srgbClr val="0033CC"/>
                </a:solidFill>
              </a:rPr>
              <a:t>	Keyless Transposition Ciphers</a:t>
            </a:r>
            <a:r>
              <a:rPr lang="fr-FR" sz="2400" i="0" baseline="0" dirty="0">
                <a:solidFill>
                  <a:srgbClr val="0033CC"/>
                </a:solidFill>
              </a:rPr>
              <a:t/>
            </a:r>
            <a:br>
              <a:rPr lang="fr-FR" sz="2400" i="0" baseline="0" dirty="0">
                <a:solidFill>
                  <a:srgbClr val="0033CC"/>
                </a:solidFill>
              </a:rPr>
            </a:br>
            <a:r>
              <a:rPr lang="fr-FR" sz="2400" i="0" baseline="0" dirty="0">
                <a:solidFill>
                  <a:srgbClr val="0033CC"/>
                </a:solidFill>
              </a:rPr>
              <a:t>	</a:t>
            </a:r>
            <a:r>
              <a:rPr lang="fr-FR" sz="2400" i="0" baseline="0" dirty="0" err="1">
                <a:solidFill>
                  <a:srgbClr val="0033CC"/>
                </a:solidFill>
              </a:rPr>
              <a:t>Keyed</a:t>
            </a:r>
            <a:r>
              <a:rPr lang="fr-FR" sz="2400" i="0" baseline="0" dirty="0">
                <a:solidFill>
                  <a:srgbClr val="0033CC"/>
                </a:solidFill>
              </a:rPr>
              <a:t> Transposition </a:t>
            </a:r>
            <a:r>
              <a:rPr lang="fr-FR" sz="2400" i="0" baseline="0" dirty="0" err="1">
                <a:solidFill>
                  <a:srgbClr val="0033CC"/>
                </a:solidFill>
              </a:rPr>
              <a:t>Ciphers</a:t>
            </a:r>
            <a:r>
              <a:rPr lang="fr-FR" sz="2400" i="0" baseline="0" dirty="0">
                <a:solidFill>
                  <a:srgbClr val="0033CC"/>
                </a:solidFill>
              </a:rPr>
              <a:t/>
            </a:r>
            <a:br>
              <a:rPr lang="fr-FR" sz="2400" i="0" baseline="0" dirty="0">
                <a:solidFill>
                  <a:srgbClr val="0033CC"/>
                </a:solidFill>
              </a:rPr>
            </a:br>
            <a:r>
              <a:rPr lang="fr-FR" sz="2400" i="0" baseline="0" dirty="0">
                <a:solidFill>
                  <a:srgbClr val="0033CC"/>
                </a:solidFill>
              </a:rPr>
              <a:t>	</a:t>
            </a:r>
            <a:r>
              <a:rPr lang="pt-BR" sz="2400" i="0" baseline="0" dirty="0">
                <a:solidFill>
                  <a:srgbClr val="0033CC"/>
                </a:solidFill>
              </a:rPr>
              <a:t>Combining Two Approaches</a:t>
            </a:r>
            <a:endParaRPr lang="en-US" sz="2400" i="0" baseline="0" dirty="0">
              <a:solidFill>
                <a:srgbClr val="0033CC"/>
              </a:solidFill>
            </a:endParaRPr>
          </a:p>
        </p:txBody>
      </p:sp>
      <p:sp>
        <p:nvSpPr>
          <p:cNvPr id="1008647" name="Text Box 7"/>
          <p:cNvSpPr txBox="1">
            <a:spLocks noChangeArrowheads="1"/>
          </p:cNvSpPr>
          <p:nvPr/>
        </p:nvSpPr>
        <p:spPr bwMode="auto">
          <a:xfrm>
            <a:off x="1086862" y="4110334"/>
            <a:ext cx="1255088" cy="461665"/>
          </a:xfrm>
          <a:prstGeom prst="rect">
            <a:avLst/>
          </a:prstGeom>
          <a:noFill/>
          <a:ln w="76200" algn="ctr">
            <a:noFill/>
            <a:miter lim="800000"/>
            <a:headEnd/>
            <a:tailEnd/>
          </a:ln>
          <a:effectLst/>
        </p:spPr>
        <p:txBody>
          <a:bodyPr wrap="none">
            <a:spAutoFit/>
          </a:bodyPr>
          <a:lstStyle/>
          <a:p>
            <a:pPr algn="ctr">
              <a:defRPr/>
            </a:pPr>
            <a:r>
              <a:rPr lang="en-US" sz="2400" b="1" baseline="0" dirty="0" smtClean="0">
                <a:solidFill>
                  <a:srgbClr val="FF0000"/>
                </a:solidFill>
              </a:rPr>
              <a:t>Topics:</a:t>
            </a:r>
            <a:endParaRPr lang="en-US" sz="2400" b="1" baseline="0" dirty="0">
              <a:solidFill>
                <a:srgbClr val="FF0000"/>
              </a:solidFill>
            </a:endParaRPr>
          </a:p>
        </p:txBody>
      </p:sp>
      <p:sp>
        <p:nvSpPr>
          <p:cNvPr id="51209" name="Line 8"/>
          <p:cNvSpPr>
            <a:spLocks noChangeShapeType="1"/>
          </p:cNvSpPr>
          <p:nvPr/>
        </p:nvSpPr>
        <p:spPr bwMode="auto">
          <a:xfrm>
            <a:off x="342900" y="2895600"/>
            <a:ext cx="8153400" cy="0"/>
          </a:xfrm>
          <a:prstGeom prst="line">
            <a:avLst/>
          </a:prstGeom>
          <a:noFill/>
          <a:ln w="76200">
            <a:solidFill>
              <a:srgbClr val="009900"/>
            </a:solidFill>
            <a:round/>
            <a:headEnd/>
            <a:tailEnd/>
          </a:ln>
        </p:spPr>
        <p:txBody>
          <a:bodyPr/>
          <a:lstStyle/>
          <a:p>
            <a:endParaRPr lang="en-US"/>
          </a:p>
        </p:txBody>
      </p:sp>
      <p:sp>
        <p:nvSpPr>
          <p:cNvPr id="51210" name="Line 9"/>
          <p:cNvSpPr>
            <a:spLocks noChangeShapeType="1"/>
          </p:cNvSpPr>
          <p:nvPr/>
        </p:nvSpPr>
        <p:spPr bwMode="auto">
          <a:xfrm>
            <a:off x="344488" y="3581400"/>
            <a:ext cx="8153400" cy="0"/>
          </a:xfrm>
          <a:prstGeom prst="line">
            <a:avLst/>
          </a:prstGeom>
          <a:noFill/>
          <a:ln w="76200">
            <a:solidFill>
              <a:srgbClr val="009900"/>
            </a:solidFill>
            <a:round/>
            <a:headEnd/>
            <a:tailEnd/>
          </a:ln>
        </p:spPr>
        <p:txBody>
          <a:bodyPr/>
          <a:lstStyle/>
          <a:p>
            <a:endParaRPr lang="en-US"/>
          </a:p>
        </p:txBody>
      </p:sp>
      <p:sp>
        <p:nvSpPr>
          <p:cNvPr id="51211" name="Rectangle 10"/>
          <p:cNvSpPr>
            <a:spLocks noChangeArrowheads="1"/>
          </p:cNvSpPr>
          <p:nvPr/>
        </p:nvSpPr>
        <p:spPr bwMode="auto">
          <a:xfrm>
            <a:off x="381000" y="2971800"/>
            <a:ext cx="8077200" cy="461665"/>
          </a:xfrm>
          <a:prstGeom prst="rect">
            <a:avLst/>
          </a:prstGeom>
          <a:solidFill>
            <a:srgbClr val="99FF33"/>
          </a:solidFill>
          <a:ln w="76200" algn="ctr">
            <a:noFill/>
            <a:miter lim="800000"/>
            <a:headEnd/>
            <a:tailEnd/>
          </a:ln>
        </p:spPr>
        <p:txBody>
          <a:bodyPr>
            <a:spAutoFit/>
          </a:bodyPr>
          <a:lstStyle/>
          <a:p>
            <a:pPr algn="ctr"/>
            <a:r>
              <a:rPr lang="en-US" sz="2400" i="0" baseline="0" dirty="0">
                <a:latin typeface="Arial" charset="0"/>
              </a:rPr>
              <a:t>A transposition cipher reorders symbols.</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457200" y="1200577"/>
            <a:ext cx="8534400" cy="830997"/>
          </a:xfrm>
          <a:prstGeom prst="rect">
            <a:avLst/>
          </a:prstGeom>
          <a:noFill/>
          <a:ln w="9525">
            <a:noFill/>
            <a:miter lim="800000"/>
            <a:headEnd/>
            <a:tailEnd/>
          </a:ln>
        </p:spPr>
        <p:txBody>
          <a:bodyPr wrap="square" anchor="ctr">
            <a:spAutoFit/>
          </a:bodyPr>
          <a:lstStyle/>
          <a:p>
            <a:pPr algn="just" eaLnBrk="1" hangingPunct="1"/>
            <a:r>
              <a:rPr lang="en-US" sz="2400" i="0" baseline="0" dirty="0"/>
              <a:t>Simple transposition ciphers, which were used in the past, are keyless. </a:t>
            </a:r>
          </a:p>
        </p:txBody>
      </p:sp>
      <p:sp>
        <p:nvSpPr>
          <p:cNvPr id="3" name="Rectangle 11"/>
          <p:cNvSpPr>
            <a:spLocks noChangeArrowheads="1"/>
          </p:cNvSpPr>
          <p:nvPr/>
        </p:nvSpPr>
        <p:spPr bwMode="auto">
          <a:xfrm>
            <a:off x="228600" y="2887058"/>
            <a:ext cx="8839200" cy="1569660"/>
          </a:xfrm>
          <a:prstGeom prst="rect">
            <a:avLst/>
          </a:prstGeom>
          <a:noFill/>
          <a:ln w="9525">
            <a:noFill/>
            <a:miter lim="800000"/>
            <a:headEnd/>
            <a:tailEnd/>
          </a:ln>
        </p:spPr>
        <p:txBody>
          <a:bodyPr anchor="ctr">
            <a:spAutoFit/>
          </a:bodyPr>
          <a:lstStyle/>
          <a:p>
            <a:pPr algn="just" eaLnBrk="1" hangingPunct="1"/>
            <a:r>
              <a:rPr lang="en-US" sz="2400" i="0" baseline="0" dirty="0"/>
              <a:t>A good example of a keyless cipher using the first method is the </a:t>
            </a:r>
            <a:r>
              <a:rPr lang="en-US" sz="2400" i="0" baseline="0" dirty="0">
                <a:solidFill>
                  <a:srgbClr val="FF0000"/>
                </a:solidFill>
              </a:rPr>
              <a:t>rail fence cipher</a:t>
            </a:r>
            <a:r>
              <a:rPr lang="en-US" sz="2400" i="0" baseline="0" dirty="0"/>
              <a:t>. The </a:t>
            </a:r>
            <a:r>
              <a:rPr lang="en-US" sz="2400" i="0" baseline="0" dirty="0" err="1"/>
              <a:t>ciphertext</a:t>
            </a:r>
            <a:r>
              <a:rPr lang="en-US" sz="2400" i="0" baseline="0" dirty="0"/>
              <a:t> is created reading the pattern row by row. For example, to send the message “Meet me at the park” to Bob, Alice writes</a:t>
            </a:r>
          </a:p>
        </p:txBody>
      </p:sp>
      <p:sp>
        <p:nvSpPr>
          <p:cNvPr id="4" name="Text Box 12"/>
          <p:cNvSpPr txBox="1">
            <a:spLocks noChangeArrowheads="1"/>
          </p:cNvSpPr>
          <p:nvPr/>
        </p:nvSpPr>
        <p:spPr bwMode="auto">
          <a:xfrm>
            <a:off x="304800" y="22860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5" name="Rectangle 13"/>
          <p:cNvSpPr>
            <a:spLocks noChangeArrowheads="1"/>
          </p:cNvSpPr>
          <p:nvPr/>
        </p:nvSpPr>
        <p:spPr bwMode="auto">
          <a:xfrm>
            <a:off x="228600" y="5791200"/>
            <a:ext cx="8839200" cy="457200"/>
          </a:xfrm>
          <a:prstGeom prst="rect">
            <a:avLst/>
          </a:prstGeom>
          <a:noFill/>
          <a:ln w="9525">
            <a:noFill/>
            <a:miter lim="800000"/>
            <a:headEnd/>
            <a:tailEnd/>
          </a:ln>
        </p:spPr>
        <p:txBody>
          <a:bodyPr anchor="ctr">
            <a:spAutoFit/>
          </a:bodyPr>
          <a:lstStyle/>
          <a:p>
            <a:pPr algn="just" eaLnBrk="1" hangingPunct="1"/>
            <a:r>
              <a:rPr lang="en-US" sz="2400" i="0" baseline="0" dirty="0"/>
              <a:t>She then creates the </a:t>
            </a:r>
            <a:r>
              <a:rPr lang="en-US" sz="2400" i="0" baseline="0" dirty="0" err="1"/>
              <a:t>ciphertext</a:t>
            </a:r>
            <a:r>
              <a:rPr lang="en-US" sz="2400" i="0" baseline="0" dirty="0"/>
              <a:t> </a:t>
            </a:r>
            <a:r>
              <a:rPr lang="en-US" sz="2400" i="0" baseline="0" dirty="0">
                <a:solidFill>
                  <a:srgbClr val="0000FF"/>
                </a:solidFill>
              </a:rPr>
              <a:t>“MEMATEAKETETHPR”.</a:t>
            </a:r>
          </a:p>
        </p:txBody>
      </p:sp>
      <p:pic>
        <p:nvPicPr>
          <p:cNvPr id="6" name="Picture 14"/>
          <p:cNvPicPr>
            <a:picLocks noChangeAspect="1" noChangeArrowheads="1"/>
          </p:cNvPicPr>
          <p:nvPr/>
        </p:nvPicPr>
        <p:blipFill>
          <a:blip r:embed="rId2"/>
          <a:srcRect/>
          <a:stretch>
            <a:fillRect/>
          </a:stretch>
        </p:blipFill>
        <p:spPr bwMode="auto">
          <a:xfrm>
            <a:off x="693738" y="4786313"/>
            <a:ext cx="7916862" cy="773112"/>
          </a:xfrm>
          <a:prstGeom prst="rect">
            <a:avLst/>
          </a:prstGeom>
          <a:noFill/>
          <a:ln w="9525">
            <a:noFill/>
            <a:miter lim="800000"/>
            <a:headEnd/>
            <a:tailEnd/>
          </a:ln>
        </p:spPr>
      </p:pic>
      <p:sp>
        <p:nvSpPr>
          <p:cNvPr id="7" name="Rectangle 6"/>
          <p:cNvSpPr/>
          <p:nvPr/>
        </p:nvSpPr>
        <p:spPr>
          <a:xfrm>
            <a:off x="3606095" y="304800"/>
            <a:ext cx="5023555" cy="523220"/>
          </a:xfrm>
          <a:prstGeom prst="rect">
            <a:avLst/>
          </a:prstGeom>
        </p:spPr>
        <p:txBody>
          <a:bodyPr wrap="none">
            <a:spAutoFit/>
          </a:bodyPr>
          <a:lstStyle/>
          <a:p>
            <a:r>
              <a:rPr kumimoji="0" lang="en-US" sz="2800" dirty="0">
                <a:solidFill>
                  <a:srgbClr val="FF0000"/>
                </a:solidFill>
                <a:ea typeface="+mn-ea"/>
                <a:cs typeface="Arial" pitchFamily="34" charset="0"/>
              </a:rPr>
              <a:t>Keyless Transposition Ciphers</a:t>
            </a:r>
            <a:endParaRPr lang="en-US" sz="2800" dirty="0">
              <a:cs typeface="Arial" pitchFamily="34" charset="0"/>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174750"/>
            <a:ext cx="8839200" cy="1187450"/>
          </a:xfrm>
          <a:prstGeom prst="rect">
            <a:avLst/>
          </a:prstGeom>
          <a:noFill/>
          <a:ln w="9525">
            <a:noFill/>
            <a:miter lim="800000"/>
            <a:headEnd/>
            <a:tailEnd/>
          </a:ln>
        </p:spPr>
        <p:txBody>
          <a:bodyPr anchor="ctr">
            <a:spAutoFit/>
          </a:bodyPr>
          <a:lstStyle/>
          <a:p>
            <a:pPr algn="just" eaLnBrk="1" hangingPunct="1"/>
            <a:r>
              <a:rPr lang="en-US" sz="2400" i="0" baseline="0"/>
              <a:t>Alice and Bob can agree on the number of columns and use the second method. Alice writes the same plaintext, row by row, in a table of four columns.</a:t>
            </a:r>
          </a:p>
        </p:txBody>
      </p:sp>
      <p:sp>
        <p:nvSpPr>
          <p:cNvPr id="3" name="Rectangle 14"/>
          <p:cNvSpPr>
            <a:spLocks noChangeArrowheads="1"/>
          </p:cNvSpPr>
          <p:nvPr/>
        </p:nvSpPr>
        <p:spPr bwMode="auto">
          <a:xfrm>
            <a:off x="152400" y="5959475"/>
            <a:ext cx="8839200" cy="457200"/>
          </a:xfrm>
          <a:prstGeom prst="rect">
            <a:avLst/>
          </a:prstGeom>
          <a:noFill/>
          <a:ln w="9525">
            <a:noFill/>
            <a:miter lim="800000"/>
            <a:headEnd/>
            <a:tailEnd/>
          </a:ln>
        </p:spPr>
        <p:txBody>
          <a:bodyPr anchor="ctr">
            <a:spAutoFit/>
          </a:bodyPr>
          <a:lstStyle/>
          <a:p>
            <a:pPr algn="just" eaLnBrk="1" hangingPunct="1"/>
            <a:r>
              <a:rPr lang="en-US" sz="2400" i="0" baseline="0" dirty="0"/>
              <a:t>She then creates the </a:t>
            </a:r>
            <a:r>
              <a:rPr lang="en-US" sz="2400" i="0" baseline="0" dirty="0" err="1"/>
              <a:t>ciphertext</a:t>
            </a:r>
            <a:r>
              <a:rPr lang="en-US" sz="2400" i="0" baseline="0" dirty="0">
                <a:solidFill>
                  <a:srgbClr val="FF0000"/>
                </a:solidFill>
              </a:rPr>
              <a:t> “MMTAEEHREAEKTTP”.</a:t>
            </a:r>
          </a:p>
        </p:txBody>
      </p:sp>
      <p:pic>
        <p:nvPicPr>
          <p:cNvPr id="4" name="Picture 15"/>
          <p:cNvPicPr>
            <a:picLocks noChangeAspect="1" noChangeArrowheads="1"/>
          </p:cNvPicPr>
          <p:nvPr/>
        </p:nvPicPr>
        <p:blipFill>
          <a:blip r:embed="rId2"/>
          <a:srcRect/>
          <a:stretch>
            <a:fillRect/>
          </a:stretch>
        </p:blipFill>
        <p:spPr bwMode="auto">
          <a:xfrm>
            <a:off x="3003550" y="2667000"/>
            <a:ext cx="2787650" cy="2371725"/>
          </a:xfrm>
          <a:prstGeom prst="rect">
            <a:avLst/>
          </a:prstGeom>
          <a:noFill/>
          <a:ln w="9525">
            <a:noFill/>
            <a:miter lim="800000"/>
            <a:headEnd/>
            <a:tailEnd/>
          </a:ln>
        </p:spPr>
      </p:pic>
      <p:sp>
        <p:nvSpPr>
          <p:cNvPr id="5" name="Text Box 11"/>
          <p:cNvSpPr txBox="1">
            <a:spLocks noChangeArrowheads="1"/>
          </p:cNvSpPr>
          <p:nvPr/>
        </p:nvSpPr>
        <p:spPr bwMode="auto">
          <a:xfrm>
            <a:off x="1143000" y="5334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174750"/>
            <a:ext cx="8839200" cy="1200329"/>
          </a:xfrm>
          <a:prstGeom prst="rect">
            <a:avLst/>
          </a:prstGeom>
          <a:noFill/>
          <a:ln w="9525">
            <a:noFill/>
            <a:miter lim="800000"/>
            <a:headEnd/>
            <a:tailEnd/>
          </a:ln>
        </p:spPr>
        <p:txBody>
          <a:bodyPr anchor="ctr">
            <a:spAutoFit/>
          </a:bodyPr>
          <a:lstStyle/>
          <a:p>
            <a:pPr algn="just" eaLnBrk="1" hangingPunct="1"/>
            <a:r>
              <a:rPr lang="en-US" sz="2400" i="0" baseline="0" dirty="0"/>
              <a:t>The cipher in Example </a:t>
            </a:r>
            <a:r>
              <a:rPr lang="en-US" sz="2400" i="0" baseline="0" dirty="0" smtClean="0"/>
              <a:t> </a:t>
            </a:r>
            <a:r>
              <a:rPr lang="en-US" sz="2400" i="0" baseline="0" dirty="0"/>
              <a:t>is actually a transposition cipher. The following shows the permutation of each character in the plaintext into the </a:t>
            </a:r>
            <a:r>
              <a:rPr lang="en-US" sz="2400" i="0" baseline="0" dirty="0" err="1"/>
              <a:t>ciphertext</a:t>
            </a:r>
            <a:r>
              <a:rPr lang="en-US" sz="2400" i="0" baseline="0" dirty="0"/>
              <a:t> based on the positions.</a:t>
            </a:r>
          </a:p>
        </p:txBody>
      </p:sp>
      <p:sp>
        <p:nvSpPr>
          <p:cNvPr id="3" name="Rectangle 14"/>
          <p:cNvSpPr>
            <a:spLocks noChangeArrowheads="1"/>
          </p:cNvSpPr>
          <p:nvPr/>
        </p:nvSpPr>
        <p:spPr bwMode="auto">
          <a:xfrm>
            <a:off x="152400" y="4191000"/>
            <a:ext cx="8839200" cy="2282825"/>
          </a:xfrm>
          <a:prstGeom prst="rect">
            <a:avLst/>
          </a:prstGeom>
          <a:noFill/>
          <a:ln w="9525">
            <a:noFill/>
            <a:miter lim="800000"/>
            <a:headEnd/>
            <a:tailEnd/>
          </a:ln>
        </p:spPr>
        <p:txBody>
          <a:bodyPr anchor="ctr">
            <a:spAutoFit/>
          </a:bodyPr>
          <a:lstStyle/>
          <a:p>
            <a:pPr algn="just" eaLnBrk="1" hangingPunct="1"/>
            <a:r>
              <a:rPr lang="en-US" sz="2400" i="0" baseline="0"/>
              <a:t>The second character in the plaintext has moved to the fifth position in the ciphertext; the third character has moved to the ninth position; and so on. Although the characters are permuted,</a:t>
            </a:r>
          </a:p>
          <a:p>
            <a:pPr algn="just" eaLnBrk="1" hangingPunct="1"/>
            <a:r>
              <a:rPr lang="en-US" sz="2400" i="0" baseline="0"/>
              <a:t>there is a pattern in the permutation: (01, 05, 09, 13), (02, 06, 10, 13), (03, 07, 11, 15), and (08, 12). In each section, the difference between the two adjacent numbers is 4.</a:t>
            </a:r>
          </a:p>
        </p:txBody>
      </p:sp>
      <p:pic>
        <p:nvPicPr>
          <p:cNvPr id="4" name="Picture 15"/>
          <p:cNvPicPr>
            <a:picLocks noChangeAspect="1" noChangeArrowheads="1"/>
          </p:cNvPicPr>
          <p:nvPr/>
        </p:nvPicPr>
        <p:blipFill>
          <a:blip r:embed="rId2"/>
          <a:srcRect/>
          <a:stretch>
            <a:fillRect/>
          </a:stretch>
        </p:blipFill>
        <p:spPr bwMode="auto">
          <a:xfrm>
            <a:off x="401638" y="2871788"/>
            <a:ext cx="8208962" cy="995362"/>
          </a:xfrm>
          <a:prstGeom prst="rect">
            <a:avLst/>
          </a:prstGeom>
          <a:noFill/>
          <a:ln w="9525">
            <a:noFill/>
            <a:miter lim="800000"/>
            <a:headEnd/>
            <a:tailEnd/>
          </a:ln>
        </p:spPr>
      </p:pic>
      <p:sp>
        <p:nvSpPr>
          <p:cNvPr id="5" name="Text Box 11"/>
          <p:cNvSpPr txBox="1">
            <a:spLocks noChangeArrowheads="1"/>
          </p:cNvSpPr>
          <p:nvPr/>
        </p:nvSpPr>
        <p:spPr bwMode="auto">
          <a:xfrm>
            <a:off x="1143000" y="5334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381000" y="2044243"/>
            <a:ext cx="8382000" cy="2246769"/>
          </a:xfrm>
          <a:prstGeom prst="rect">
            <a:avLst/>
          </a:prstGeom>
          <a:noFill/>
          <a:ln w="9525">
            <a:noFill/>
            <a:miter lim="800000"/>
            <a:headEnd/>
            <a:tailEnd/>
          </a:ln>
        </p:spPr>
        <p:txBody>
          <a:bodyPr wrap="square" anchor="ctr">
            <a:spAutoFit/>
          </a:bodyPr>
          <a:lstStyle/>
          <a:p>
            <a:pPr algn="just" eaLnBrk="1" hangingPunct="1"/>
            <a:r>
              <a:rPr lang="en-US" sz="2000" i="0" baseline="0" dirty="0"/>
              <a:t>The keyless ciphers permute the characters by using writing plaintext in one way and reading it in another way The permutation is done on the whole plaintext to create the whole </a:t>
            </a:r>
            <a:r>
              <a:rPr lang="en-US" sz="2000" i="0" baseline="0" dirty="0" err="1"/>
              <a:t>ciphertext</a:t>
            </a:r>
            <a:r>
              <a:rPr lang="en-US" sz="2000" i="0" baseline="0" dirty="0"/>
              <a:t>. </a:t>
            </a:r>
            <a:endParaRPr lang="en-US" sz="2000" i="0" baseline="0" dirty="0" smtClean="0"/>
          </a:p>
          <a:p>
            <a:pPr algn="just" eaLnBrk="1" hangingPunct="1"/>
            <a:endParaRPr lang="en-US" sz="2000" dirty="0"/>
          </a:p>
          <a:p>
            <a:pPr algn="just" eaLnBrk="1" hangingPunct="1"/>
            <a:r>
              <a:rPr lang="en-US" sz="2000" i="0" baseline="0" dirty="0" smtClean="0"/>
              <a:t>Another </a:t>
            </a:r>
            <a:r>
              <a:rPr lang="en-US" sz="2000" i="0" baseline="0" dirty="0"/>
              <a:t>method is to </a:t>
            </a:r>
            <a:r>
              <a:rPr lang="en-US" sz="2000" i="0" baseline="0" dirty="0">
                <a:solidFill>
                  <a:srgbClr val="0000FF"/>
                </a:solidFill>
              </a:rPr>
              <a:t>divide the plaintext into groups of predetermined size</a:t>
            </a:r>
            <a:r>
              <a:rPr lang="en-US" sz="2000" i="0" baseline="0" dirty="0"/>
              <a:t>, called blocks, and </a:t>
            </a:r>
            <a:r>
              <a:rPr lang="en-US" sz="2000" i="0" baseline="0" dirty="0">
                <a:solidFill>
                  <a:srgbClr val="0000FF"/>
                </a:solidFill>
              </a:rPr>
              <a:t>then use a key to permute the characters in each block separately.</a:t>
            </a:r>
          </a:p>
        </p:txBody>
      </p:sp>
      <p:sp>
        <p:nvSpPr>
          <p:cNvPr id="3" name="Rectangle 2"/>
          <p:cNvSpPr/>
          <p:nvPr/>
        </p:nvSpPr>
        <p:spPr>
          <a:xfrm>
            <a:off x="3339977" y="457199"/>
            <a:ext cx="4784708" cy="523220"/>
          </a:xfrm>
          <a:prstGeom prst="rect">
            <a:avLst/>
          </a:prstGeom>
        </p:spPr>
        <p:txBody>
          <a:bodyPr wrap="none">
            <a:spAutoFit/>
          </a:bodyPr>
          <a:lstStyle/>
          <a:p>
            <a:r>
              <a:rPr kumimoji="0" lang="en-US" sz="2800" dirty="0">
                <a:solidFill>
                  <a:srgbClr val="FF0000"/>
                </a:solidFill>
                <a:ea typeface="+mn-ea"/>
                <a:cs typeface="Arial" pitchFamily="34" charset="0"/>
              </a:rPr>
              <a:t>Keyed Transposition Ciphers</a:t>
            </a:r>
            <a:endParaRPr lang="en-US" sz="2800" dirty="0">
              <a:cs typeface="Arial" pitchFamily="34"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189038"/>
            <a:ext cx="8839200" cy="457200"/>
          </a:xfrm>
          <a:prstGeom prst="rect">
            <a:avLst/>
          </a:prstGeom>
          <a:noFill/>
          <a:ln w="9525">
            <a:noFill/>
            <a:miter lim="800000"/>
            <a:headEnd/>
            <a:tailEnd/>
          </a:ln>
        </p:spPr>
        <p:txBody>
          <a:bodyPr anchor="ctr">
            <a:spAutoFit/>
          </a:bodyPr>
          <a:lstStyle/>
          <a:p>
            <a:pPr algn="just" eaLnBrk="1" hangingPunct="1"/>
            <a:r>
              <a:rPr lang="en-US" sz="2400" i="0" baseline="0"/>
              <a:t>Alice needs to send the message “Enemy attacks tonight” to Bob..</a:t>
            </a:r>
          </a:p>
        </p:txBody>
      </p:sp>
      <p:sp>
        <p:nvSpPr>
          <p:cNvPr id="3" name="Rectangle 12"/>
          <p:cNvSpPr>
            <a:spLocks noChangeArrowheads="1"/>
          </p:cNvSpPr>
          <p:nvPr/>
        </p:nvSpPr>
        <p:spPr bwMode="auto">
          <a:xfrm>
            <a:off x="152400" y="2286000"/>
            <a:ext cx="8839200" cy="822325"/>
          </a:xfrm>
          <a:prstGeom prst="rect">
            <a:avLst/>
          </a:prstGeom>
          <a:noFill/>
          <a:ln w="9525">
            <a:noFill/>
            <a:miter lim="800000"/>
            <a:headEnd/>
            <a:tailEnd/>
          </a:ln>
        </p:spPr>
        <p:txBody>
          <a:bodyPr anchor="ctr">
            <a:spAutoFit/>
          </a:bodyPr>
          <a:lstStyle/>
          <a:p>
            <a:pPr algn="just" eaLnBrk="1" hangingPunct="1"/>
            <a:r>
              <a:rPr lang="en-US" sz="2400" i="0" baseline="0"/>
              <a:t>The key used for encryption and decryption is a permutation key, which shows how the character are permuted. </a:t>
            </a:r>
          </a:p>
        </p:txBody>
      </p:sp>
      <p:pic>
        <p:nvPicPr>
          <p:cNvPr id="4" name="Picture 14"/>
          <p:cNvPicPr>
            <a:picLocks noChangeAspect="1" noChangeArrowheads="1"/>
          </p:cNvPicPr>
          <p:nvPr/>
        </p:nvPicPr>
        <p:blipFill>
          <a:blip r:embed="rId2"/>
          <a:srcRect/>
          <a:stretch>
            <a:fillRect/>
          </a:stretch>
        </p:blipFill>
        <p:spPr bwMode="auto">
          <a:xfrm>
            <a:off x="533400" y="1752600"/>
            <a:ext cx="8153400" cy="258763"/>
          </a:xfrm>
          <a:prstGeom prst="rect">
            <a:avLst/>
          </a:prstGeom>
          <a:noFill/>
          <a:ln w="9525">
            <a:noFill/>
            <a:miter lim="800000"/>
            <a:headEnd/>
            <a:tailEnd/>
          </a:ln>
        </p:spPr>
      </p:pic>
      <p:pic>
        <p:nvPicPr>
          <p:cNvPr id="5" name="Picture 15"/>
          <p:cNvPicPr>
            <a:picLocks noChangeAspect="1" noChangeArrowheads="1"/>
          </p:cNvPicPr>
          <p:nvPr/>
        </p:nvPicPr>
        <p:blipFill>
          <a:blip r:embed="rId3"/>
          <a:srcRect/>
          <a:stretch>
            <a:fillRect/>
          </a:stretch>
        </p:blipFill>
        <p:spPr bwMode="auto">
          <a:xfrm>
            <a:off x="1066800" y="3343275"/>
            <a:ext cx="6370638" cy="1228725"/>
          </a:xfrm>
          <a:prstGeom prst="rect">
            <a:avLst/>
          </a:prstGeom>
          <a:noFill/>
          <a:ln w="9525">
            <a:noFill/>
            <a:miter lim="800000"/>
            <a:headEnd/>
            <a:tailEnd/>
          </a:ln>
        </p:spPr>
      </p:pic>
      <p:sp>
        <p:nvSpPr>
          <p:cNvPr id="6" name="Rectangle 16"/>
          <p:cNvSpPr>
            <a:spLocks noChangeArrowheads="1"/>
          </p:cNvSpPr>
          <p:nvPr/>
        </p:nvSpPr>
        <p:spPr bwMode="auto">
          <a:xfrm>
            <a:off x="152400" y="4695825"/>
            <a:ext cx="8839200" cy="457200"/>
          </a:xfrm>
          <a:prstGeom prst="rect">
            <a:avLst/>
          </a:prstGeom>
          <a:noFill/>
          <a:ln w="9525">
            <a:noFill/>
            <a:miter lim="800000"/>
            <a:headEnd/>
            <a:tailEnd/>
          </a:ln>
        </p:spPr>
        <p:txBody>
          <a:bodyPr anchor="ctr">
            <a:spAutoFit/>
          </a:bodyPr>
          <a:lstStyle/>
          <a:p>
            <a:pPr algn="just" eaLnBrk="1" hangingPunct="1"/>
            <a:r>
              <a:rPr lang="en-US" sz="2400" i="0" baseline="0"/>
              <a:t>The permutation yields</a:t>
            </a:r>
          </a:p>
        </p:txBody>
      </p:sp>
      <p:pic>
        <p:nvPicPr>
          <p:cNvPr id="7" name="Picture 17"/>
          <p:cNvPicPr>
            <a:picLocks noChangeAspect="1" noChangeArrowheads="1"/>
          </p:cNvPicPr>
          <p:nvPr/>
        </p:nvPicPr>
        <p:blipFill>
          <a:blip r:embed="rId4"/>
          <a:srcRect/>
          <a:stretch>
            <a:fillRect/>
          </a:stretch>
        </p:blipFill>
        <p:spPr bwMode="auto">
          <a:xfrm>
            <a:off x="304800" y="5410200"/>
            <a:ext cx="8208963" cy="257175"/>
          </a:xfrm>
          <a:prstGeom prst="rect">
            <a:avLst/>
          </a:prstGeom>
          <a:noFill/>
          <a:ln w="9525">
            <a:noFill/>
            <a:miter lim="800000"/>
            <a:headEnd/>
            <a:tailEnd/>
          </a:ln>
        </p:spPr>
      </p:pic>
      <p:sp>
        <p:nvSpPr>
          <p:cNvPr id="8" name="Text Box 11"/>
          <p:cNvSpPr txBox="1">
            <a:spLocks noChangeArrowheads="1"/>
          </p:cNvSpPr>
          <p:nvPr/>
        </p:nvSpPr>
        <p:spPr bwMode="auto">
          <a:xfrm>
            <a:off x="1143000" y="533400"/>
            <a:ext cx="1383712"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417513" y="1066800"/>
            <a:ext cx="1383712"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a:t>
            </a:r>
            <a:endParaRPr lang="en-US" sz="2000" baseline="0" dirty="0">
              <a:solidFill>
                <a:schemeClr val="bg1"/>
              </a:solidFill>
            </a:endParaRPr>
          </a:p>
        </p:txBody>
      </p:sp>
      <p:pic>
        <p:nvPicPr>
          <p:cNvPr id="3" name="Picture 12"/>
          <p:cNvPicPr>
            <a:picLocks noChangeAspect="1" noChangeArrowheads="1"/>
          </p:cNvPicPr>
          <p:nvPr/>
        </p:nvPicPr>
        <p:blipFill>
          <a:blip r:embed="rId2"/>
          <a:srcRect/>
          <a:stretch>
            <a:fillRect/>
          </a:stretch>
        </p:blipFill>
        <p:spPr bwMode="auto">
          <a:xfrm>
            <a:off x="1109369" y="1566565"/>
            <a:ext cx="6937375" cy="4656138"/>
          </a:xfrm>
          <a:prstGeom prst="rect">
            <a:avLst/>
          </a:prstGeom>
          <a:noFill/>
          <a:ln w="9525">
            <a:noFill/>
            <a:miter lim="800000"/>
            <a:headEnd/>
            <a:tailEnd/>
          </a:ln>
        </p:spPr>
      </p:pic>
      <p:sp>
        <p:nvSpPr>
          <p:cNvPr id="4" name="Text Box 13"/>
          <p:cNvSpPr txBox="1">
            <a:spLocks noChangeArrowheads="1"/>
          </p:cNvSpPr>
          <p:nvPr/>
        </p:nvSpPr>
        <p:spPr bwMode="auto">
          <a:xfrm>
            <a:off x="3449638" y="1295400"/>
            <a:ext cx="1228221"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endParaRPr lang="en-US" sz="2000" baseline="0" dirty="0"/>
          </a:p>
        </p:txBody>
      </p:sp>
      <p:sp>
        <p:nvSpPr>
          <p:cNvPr id="5" name="Rectangle 4"/>
          <p:cNvSpPr/>
          <p:nvPr/>
        </p:nvSpPr>
        <p:spPr>
          <a:xfrm>
            <a:off x="2209800" y="304800"/>
            <a:ext cx="5154937" cy="584775"/>
          </a:xfrm>
          <a:prstGeom prst="rect">
            <a:avLst/>
          </a:prstGeom>
        </p:spPr>
        <p:txBody>
          <a:bodyPr wrap="none">
            <a:spAutoFit/>
          </a:bodyPr>
          <a:lstStyle/>
          <a:p>
            <a:pPr lvl="0" eaLnBrk="0" hangingPunct="0"/>
            <a:r>
              <a:rPr kumimoji="0" lang="en-US" sz="3200" b="1" dirty="0">
                <a:solidFill>
                  <a:srgbClr val="FF0000"/>
                </a:solidFill>
                <a:latin typeface="Times New Roman" pitchFamily="18" charset="0"/>
                <a:ea typeface="+mn-ea"/>
              </a:rPr>
              <a:t>Combining Two Approaches</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77850" y="3344863"/>
            <a:ext cx="7269939"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Encryption/decryption keys in </a:t>
            </a:r>
            <a:r>
              <a:rPr lang="en-US" sz="2000" baseline="0" dirty="0" err="1"/>
              <a:t>transpositional</a:t>
            </a:r>
            <a:r>
              <a:rPr lang="en-US" sz="2000" baseline="0" dirty="0"/>
              <a:t> ciphers</a:t>
            </a:r>
          </a:p>
        </p:txBody>
      </p:sp>
      <p:pic>
        <p:nvPicPr>
          <p:cNvPr id="3" name="Picture 11"/>
          <p:cNvPicPr>
            <a:picLocks noChangeAspect="1" noChangeArrowheads="1"/>
          </p:cNvPicPr>
          <p:nvPr/>
        </p:nvPicPr>
        <p:blipFill>
          <a:blip r:embed="rId2"/>
          <a:srcRect/>
          <a:stretch>
            <a:fillRect/>
          </a:stretch>
        </p:blipFill>
        <p:spPr bwMode="auto">
          <a:xfrm>
            <a:off x="685800" y="4030663"/>
            <a:ext cx="7294563" cy="1303337"/>
          </a:xfrm>
          <a:prstGeom prst="rect">
            <a:avLst/>
          </a:prstGeom>
          <a:noFill/>
          <a:ln w="9525">
            <a:noFill/>
            <a:miter lim="800000"/>
            <a:headEnd/>
            <a:tailEnd/>
          </a:ln>
        </p:spPr>
      </p:pic>
      <p:sp>
        <p:nvSpPr>
          <p:cNvPr id="4" name="Rectangle 21"/>
          <p:cNvSpPr>
            <a:spLocks noChangeArrowheads="1"/>
          </p:cNvSpPr>
          <p:nvPr/>
        </p:nvSpPr>
        <p:spPr bwMode="auto">
          <a:xfrm>
            <a:off x="152400" y="1143000"/>
            <a:ext cx="8839200" cy="1200329"/>
          </a:xfrm>
          <a:prstGeom prst="rect">
            <a:avLst/>
          </a:prstGeom>
          <a:noFill/>
          <a:ln w="9525">
            <a:noFill/>
            <a:miter lim="800000"/>
            <a:headEnd/>
            <a:tailEnd/>
          </a:ln>
        </p:spPr>
        <p:txBody>
          <a:bodyPr anchor="ctr">
            <a:spAutoFit/>
          </a:bodyPr>
          <a:lstStyle/>
          <a:p>
            <a:pPr algn="just" eaLnBrk="1" hangingPunct="1"/>
            <a:r>
              <a:rPr lang="en-US" sz="2400" i="0" baseline="0" dirty="0"/>
              <a:t>In Example </a:t>
            </a:r>
            <a:r>
              <a:rPr lang="en-US" sz="2400" i="0" baseline="0" dirty="0" smtClean="0"/>
              <a:t>, </a:t>
            </a:r>
            <a:r>
              <a:rPr lang="en-US" sz="2400" i="0" baseline="0" dirty="0"/>
              <a:t>a single key was used in two directions for the column exchange: downward for encryption, upward for decryption. It is customary to create two keys.</a:t>
            </a:r>
          </a:p>
        </p:txBody>
      </p:sp>
      <p:sp>
        <p:nvSpPr>
          <p:cNvPr id="5" name="Text Box 20"/>
          <p:cNvSpPr txBox="1">
            <a:spLocks noChangeArrowheads="1"/>
          </p:cNvSpPr>
          <p:nvPr/>
        </p:nvSpPr>
        <p:spPr bwMode="auto">
          <a:xfrm>
            <a:off x="577850" y="179457"/>
            <a:ext cx="1324402" cy="707886"/>
          </a:xfrm>
          <a:prstGeom prst="rect">
            <a:avLst/>
          </a:prstGeom>
          <a:noFill/>
          <a:ln w="9525">
            <a:noFill/>
            <a:miter lim="800000"/>
            <a:headEnd/>
            <a:tailEnd/>
          </a:ln>
        </p:spPr>
        <p:txBody>
          <a:bodyPr wrap="none">
            <a:spAutoFit/>
          </a:bodyPr>
          <a:lstStyle/>
          <a:p>
            <a:r>
              <a:rPr lang="en-US" sz="4000" i="0" baseline="0" dirty="0">
                <a:solidFill>
                  <a:srgbClr val="FF0000"/>
                </a:solidFill>
              </a:rPr>
              <a:t>Keys</a:t>
            </a:r>
            <a:endParaRPr lang="en-US" sz="4000" baseline="0" dirty="0">
              <a:solidFill>
                <a:srgbClr val="FF0000"/>
              </a:solidFill>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381125" y="1219200"/>
            <a:ext cx="5803192"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Key inversion in a transposition cipher</a:t>
            </a:r>
          </a:p>
        </p:txBody>
      </p:sp>
      <p:pic>
        <p:nvPicPr>
          <p:cNvPr id="3" name="Picture 7"/>
          <p:cNvPicPr>
            <a:picLocks noChangeAspect="1" noChangeArrowheads="1"/>
          </p:cNvPicPr>
          <p:nvPr/>
        </p:nvPicPr>
        <p:blipFill>
          <a:blip r:embed="rId2"/>
          <a:srcRect/>
          <a:stretch>
            <a:fillRect/>
          </a:stretch>
        </p:blipFill>
        <p:spPr bwMode="auto">
          <a:xfrm>
            <a:off x="161925" y="2209800"/>
            <a:ext cx="8829675" cy="2767013"/>
          </a:xfrm>
          <a:prstGeom prst="rect">
            <a:avLst/>
          </a:prstGeom>
          <a:noFill/>
          <a:ln w="9525">
            <a:noFill/>
            <a:miter lim="800000"/>
            <a:headEnd/>
            <a:tailEnd/>
          </a:ln>
        </p:spPr>
      </p:pic>
      <p:sp>
        <p:nvSpPr>
          <p:cNvPr id="4" name="Rectangle 3"/>
          <p:cNvSpPr/>
          <p:nvPr/>
        </p:nvSpPr>
        <p:spPr>
          <a:xfrm>
            <a:off x="381000" y="381000"/>
            <a:ext cx="2029723" cy="584775"/>
          </a:xfrm>
          <a:prstGeom prst="rect">
            <a:avLst/>
          </a:prstGeom>
        </p:spPr>
        <p:txBody>
          <a:bodyPr wrap="none">
            <a:spAutoFit/>
          </a:bodyPr>
          <a:lstStyle/>
          <a:p>
            <a:r>
              <a:rPr kumimoji="0" lang="en-US" sz="3200" b="1" dirty="0">
                <a:solidFill>
                  <a:srgbClr val="000000"/>
                </a:solidFill>
                <a:latin typeface="Times New Roman" pitchFamily="18" charset="0"/>
                <a:ea typeface="+mn-ea"/>
              </a:rPr>
              <a:t>Continued</a:t>
            </a:r>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2029723" cy="584775"/>
          </a:xfrm>
          <a:prstGeom prst="rect">
            <a:avLst/>
          </a:prstGeom>
        </p:spPr>
        <p:txBody>
          <a:bodyPr wrap="none">
            <a:spAutoFit/>
          </a:bodyPr>
          <a:lstStyle/>
          <a:p>
            <a:r>
              <a:rPr kumimoji="0" lang="en-US" sz="3200" b="1" dirty="0">
                <a:solidFill>
                  <a:srgbClr val="000000"/>
                </a:solidFill>
                <a:latin typeface="Times New Roman" pitchFamily="18" charset="0"/>
                <a:ea typeface="+mn-ea"/>
              </a:rPr>
              <a:t>Continued</a:t>
            </a:r>
            <a:endParaRPr lang="en-US" dirty="0"/>
          </a:p>
        </p:txBody>
      </p:sp>
      <p:sp>
        <p:nvSpPr>
          <p:cNvPr id="5" name="Rectangle 13"/>
          <p:cNvSpPr>
            <a:spLocks noChangeArrowheads="1"/>
          </p:cNvSpPr>
          <p:nvPr/>
        </p:nvSpPr>
        <p:spPr bwMode="auto">
          <a:xfrm>
            <a:off x="152400" y="1143000"/>
            <a:ext cx="8839200" cy="822325"/>
          </a:xfrm>
          <a:prstGeom prst="rect">
            <a:avLst/>
          </a:prstGeom>
          <a:noFill/>
          <a:ln w="9525">
            <a:noFill/>
            <a:miter lim="800000"/>
            <a:headEnd/>
            <a:tailEnd/>
          </a:ln>
        </p:spPr>
        <p:txBody>
          <a:bodyPr anchor="ctr">
            <a:spAutoFit/>
          </a:bodyPr>
          <a:lstStyle/>
          <a:p>
            <a:pPr algn="just" eaLnBrk="1" hangingPunct="1"/>
            <a:r>
              <a:rPr lang="en-US" sz="2400" i="0" baseline="0"/>
              <a:t>We can use matrices to show the encryption/decryption process for a transposition cipher. </a:t>
            </a:r>
          </a:p>
        </p:txBody>
      </p:sp>
      <p:sp>
        <p:nvSpPr>
          <p:cNvPr id="6" name="Text Box 15"/>
          <p:cNvSpPr txBox="1">
            <a:spLocks noChangeArrowheads="1"/>
          </p:cNvSpPr>
          <p:nvPr/>
        </p:nvSpPr>
        <p:spPr bwMode="auto">
          <a:xfrm>
            <a:off x="381000" y="2895600"/>
            <a:ext cx="8545929"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Representation of the key as a matrix in the transposition cipher</a:t>
            </a:r>
          </a:p>
        </p:txBody>
      </p:sp>
      <p:pic>
        <p:nvPicPr>
          <p:cNvPr id="7" name="Picture 16"/>
          <p:cNvPicPr>
            <a:picLocks noChangeAspect="1" noChangeArrowheads="1"/>
          </p:cNvPicPr>
          <p:nvPr/>
        </p:nvPicPr>
        <p:blipFill>
          <a:blip r:embed="rId2"/>
          <a:srcRect/>
          <a:stretch>
            <a:fillRect/>
          </a:stretch>
        </p:blipFill>
        <p:spPr bwMode="auto">
          <a:xfrm>
            <a:off x="798513" y="3514725"/>
            <a:ext cx="7659687" cy="2962275"/>
          </a:xfrm>
          <a:prstGeom prst="rect">
            <a:avLst/>
          </a:prstGeom>
          <a:noFill/>
          <a:ln w="9525">
            <a:noFill/>
            <a:miter lim="800000"/>
            <a:headEnd/>
            <a:tailEnd/>
          </a:ln>
        </p:spPr>
      </p:pic>
      <p:sp>
        <p:nvSpPr>
          <p:cNvPr id="8" name="Text Box 17"/>
          <p:cNvSpPr txBox="1">
            <a:spLocks noChangeArrowheads="1"/>
          </p:cNvSpPr>
          <p:nvPr/>
        </p:nvSpPr>
        <p:spPr bwMode="auto">
          <a:xfrm>
            <a:off x="381000" y="21336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2029723" cy="584775"/>
          </a:xfrm>
          <a:prstGeom prst="rect">
            <a:avLst/>
          </a:prstGeom>
        </p:spPr>
        <p:txBody>
          <a:bodyPr wrap="none">
            <a:spAutoFit/>
          </a:bodyPr>
          <a:lstStyle/>
          <a:p>
            <a:r>
              <a:rPr kumimoji="0" lang="en-US" sz="3200" b="1" dirty="0">
                <a:solidFill>
                  <a:srgbClr val="000000"/>
                </a:solidFill>
                <a:latin typeface="Times New Roman" pitchFamily="18" charset="0"/>
                <a:ea typeface="+mn-ea"/>
              </a:rPr>
              <a:t>Continued</a:t>
            </a:r>
            <a:endParaRPr lang="en-US" dirty="0"/>
          </a:p>
        </p:txBody>
      </p:sp>
      <p:sp>
        <p:nvSpPr>
          <p:cNvPr id="9" name="Text Box 4"/>
          <p:cNvSpPr txBox="1">
            <a:spLocks noChangeArrowheads="1"/>
          </p:cNvSpPr>
          <p:nvPr/>
        </p:nvSpPr>
        <p:spPr bwMode="auto">
          <a:xfrm>
            <a:off x="381000" y="2895600"/>
            <a:ext cx="8545929"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Representation of the key as a matrix in the transposition cipher</a:t>
            </a:r>
          </a:p>
        </p:txBody>
      </p:sp>
      <p:pic>
        <p:nvPicPr>
          <p:cNvPr id="10" name="Picture 7"/>
          <p:cNvPicPr>
            <a:picLocks noChangeAspect="1" noChangeArrowheads="1"/>
          </p:cNvPicPr>
          <p:nvPr/>
        </p:nvPicPr>
        <p:blipFill>
          <a:blip r:embed="rId2"/>
          <a:srcRect/>
          <a:stretch>
            <a:fillRect/>
          </a:stretch>
        </p:blipFill>
        <p:spPr bwMode="auto">
          <a:xfrm>
            <a:off x="798513" y="3514725"/>
            <a:ext cx="7659687" cy="2962275"/>
          </a:xfrm>
          <a:prstGeom prst="rect">
            <a:avLst/>
          </a:prstGeom>
          <a:noFill/>
          <a:ln w="9525">
            <a:noFill/>
            <a:miter lim="800000"/>
            <a:headEnd/>
            <a:tailEnd/>
          </a:ln>
        </p:spPr>
      </p:pic>
      <p:sp>
        <p:nvSpPr>
          <p:cNvPr id="11" name="Rectangle 16"/>
          <p:cNvSpPr>
            <a:spLocks noChangeArrowheads="1"/>
          </p:cNvSpPr>
          <p:nvPr/>
        </p:nvSpPr>
        <p:spPr bwMode="auto">
          <a:xfrm>
            <a:off x="152400" y="1143000"/>
            <a:ext cx="8839200" cy="1200329"/>
          </a:xfrm>
          <a:prstGeom prst="rect">
            <a:avLst/>
          </a:prstGeom>
          <a:noFill/>
          <a:ln w="9525">
            <a:noFill/>
            <a:miter lim="800000"/>
            <a:headEnd/>
            <a:tailEnd/>
          </a:ln>
        </p:spPr>
        <p:txBody>
          <a:bodyPr anchor="ctr">
            <a:spAutoFit/>
          </a:bodyPr>
          <a:lstStyle/>
          <a:p>
            <a:pPr algn="just" eaLnBrk="1" hangingPunct="1"/>
            <a:r>
              <a:rPr lang="en-US" sz="2400" i="0" baseline="0" dirty="0"/>
              <a:t>Figure </a:t>
            </a:r>
            <a:r>
              <a:rPr lang="en-US" sz="2400" i="0" baseline="0" dirty="0" smtClean="0"/>
              <a:t> </a:t>
            </a:r>
            <a:r>
              <a:rPr lang="en-US" sz="2400" i="0" baseline="0" dirty="0"/>
              <a:t>shows the encryption process. Multiplying the 4 × 5 plaintext matrix by the 5 × 5 encryption key gives the 4 × 5 </a:t>
            </a:r>
            <a:r>
              <a:rPr lang="en-US" sz="2400" i="0" baseline="0" dirty="0" err="1"/>
              <a:t>ciphertext</a:t>
            </a:r>
            <a:r>
              <a:rPr lang="en-US" sz="2400" i="0" baseline="0" dirty="0"/>
              <a:t> matrix. </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1"/>
          <p:cNvSpPr>
            <a:spLocks noGrp="1"/>
          </p:cNvSpPr>
          <p:nvPr>
            <p:ph type="sldNum" sz="quarter" idx="12"/>
          </p:nvPr>
        </p:nvSpPr>
        <p:spPr>
          <a:noFill/>
        </p:spPr>
        <p:txBody>
          <a:bodyPr/>
          <a:lstStyle/>
          <a:p>
            <a:r>
              <a:rPr lang="en-US">
                <a:latin typeface="Arial" charset="0"/>
              </a:rPr>
              <a:t>3.</a:t>
            </a:r>
            <a:fld id="{143E636F-C6DD-42C5-AA6F-B7D3F31581DD}" type="slidenum">
              <a:rPr lang="en-US">
                <a:latin typeface="Arial" charset="0"/>
              </a:rPr>
              <a:pPr/>
              <a:t>132</a:t>
            </a:fld>
            <a:endParaRPr lang="en-US">
              <a:latin typeface="Arial" charset="0"/>
            </a:endParaRPr>
          </a:p>
        </p:txBody>
      </p:sp>
      <p:sp>
        <p:nvSpPr>
          <p:cNvPr id="6247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b="0" i="0" baseline="0">
              <a:latin typeface="Tahoma" pitchFamily="34" charset="0"/>
            </a:endParaRPr>
          </a:p>
        </p:txBody>
      </p:sp>
      <p:sp>
        <p:nvSpPr>
          <p:cNvPr id="62474" name="Text Box 9"/>
          <p:cNvSpPr txBox="1">
            <a:spLocks noChangeArrowheads="1"/>
          </p:cNvSpPr>
          <p:nvPr/>
        </p:nvSpPr>
        <p:spPr bwMode="auto">
          <a:xfrm>
            <a:off x="1143000" y="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
        <p:nvSpPr>
          <p:cNvPr id="62475" name="Text Box 10"/>
          <p:cNvSpPr txBox="1">
            <a:spLocks noChangeArrowheads="1"/>
          </p:cNvSpPr>
          <p:nvPr/>
        </p:nvSpPr>
        <p:spPr bwMode="auto">
          <a:xfrm>
            <a:off x="1143000" y="533400"/>
            <a:ext cx="4228081" cy="461665"/>
          </a:xfrm>
          <a:prstGeom prst="rect">
            <a:avLst/>
          </a:prstGeom>
          <a:noFill/>
          <a:ln w="9525">
            <a:noFill/>
            <a:miter lim="800000"/>
            <a:headEnd/>
            <a:tailEnd/>
          </a:ln>
        </p:spPr>
        <p:txBody>
          <a:bodyPr wrap="none">
            <a:spAutoFit/>
          </a:bodyPr>
          <a:lstStyle/>
          <a:p>
            <a:r>
              <a:rPr lang="en-US" sz="2400" i="0" baseline="0" dirty="0">
                <a:solidFill>
                  <a:srgbClr val="FF0000"/>
                </a:solidFill>
              </a:rPr>
              <a:t>Double Transposition Ciphers</a:t>
            </a:r>
          </a:p>
        </p:txBody>
      </p:sp>
      <p:sp>
        <p:nvSpPr>
          <p:cNvPr id="62476" name="Rectangle 12"/>
          <p:cNvSpPr>
            <a:spLocks noChangeArrowheads="1"/>
          </p:cNvSpPr>
          <p:nvPr/>
        </p:nvSpPr>
        <p:spPr bwMode="auto">
          <a:xfrm>
            <a:off x="152400" y="4832350"/>
            <a:ext cx="8839200" cy="457200"/>
          </a:xfrm>
          <a:prstGeom prst="rect">
            <a:avLst/>
          </a:prstGeom>
          <a:noFill/>
          <a:ln w="9525">
            <a:noFill/>
            <a:miter lim="800000"/>
            <a:headEnd/>
            <a:tailEnd/>
          </a:ln>
        </p:spPr>
        <p:txBody>
          <a:bodyPr anchor="ctr">
            <a:spAutoFit/>
          </a:bodyPr>
          <a:lstStyle/>
          <a:p>
            <a:pPr algn="just" eaLnBrk="1" hangingPunct="1"/>
            <a:endParaRPr lang="en-US" sz="2400" i="0" baseline="0"/>
          </a:p>
        </p:txBody>
      </p:sp>
      <p:sp>
        <p:nvSpPr>
          <p:cNvPr id="62477" name="Text Box 15"/>
          <p:cNvSpPr txBox="1">
            <a:spLocks noChangeArrowheads="1"/>
          </p:cNvSpPr>
          <p:nvPr/>
        </p:nvSpPr>
        <p:spPr bwMode="auto">
          <a:xfrm>
            <a:off x="1524000" y="1066800"/>
            <a:ext cx="5218095"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400" b="0" baseline="0" dirty="0"/>
              <a:t>Double transposition cipher</a:t>
            </a:r>
            <a:r>
              <a:rPr lang="en-US" sz="2400" i="0" baseline="0" dirty="0">
                <a:solidFill>
                  <a:schemeClr val="folHlink"/>
                </a:solidFill>
              </a:rPr>
              <a:t> </a:t>
            </a:r>
          </a:p>
        </p:txBody>
      </p:sp>
      <p:pic>
        <p:nvPicPr>
          <p:cNvPr id="62478" name="Picture 16"/>
          <p:cNvPicPr>
            <a:picLocks noChangeAspect="1" noChangeArrowheads="1"/>
          </p:cNvPicPr>
          <p:nvPr/>
        </p:nvPicPr>
        <p:blipFill>
          <a:blip r:embed="rId3"/>
          <a:srcRect/>
          <a:stretch>
            <a:fillRect/>
          </a:stretch>
        </p:blipFill>
        <p:spPr bwMode="auto">
          <a:xfrm>
            <a:off x="573088" y="1571625"/>
            <a:ext cx="8189912" cy="4905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0691" name="Text Box 3"/>
          <p:cNvSpPr txBox="1">
            <a:spLocks noChangeArrowheads="1"/>
          </p:cNvSpPr>
          <p:nvPr/>
        </p:nvSpPr>
        <p:spPr bwMode="auto">
          <a:xfrm>
            <a:off x="292541" y="344269"/>
            <a:ext cx="5750292" cy="646331"/>
          </a:xfrm>
          <a:prstGeom prst="rect">
            <a:avLst/>
          </a:prstGeom>
          <a:noFill/>
          <a:ln w="9525">
            <a:noFill/>
            <a:miter lim="800000"/>
            <a:headEnd/>
            <a:tailEnd/>
          </a:ln>
          <a:effectLst/>
        </p:spPr>
        <p:txBody>
          <a:bodyPr wrap="none">
            <a:spAutoFit/>
          </a:bodyPr>
          <a:lstStyle/>
          <a:p>
            <a:pPr algn="r">
              <a:defRPr/>
            </a:pPr>
            <a:r>
              <a:rPr lang="en-US" sz="3200" i="0" baseline="0" dirty="0" smtClean="0">
                <a:effectLst>
                  <a:outerShdw blurRad="38100" dist="38100" dir="2700000" algn="tl">
                    <a:srgbClr val="C0C0C0"/>
                  </a:outerShdw>
                </a:effectLst>
                <a:latin typeface="Times" pitchFamily="-107" charset="0"/>
              </a:rPr>
              <a:t>  </a:t>
            </a:r>
            <a:r>
              <a:rPr lang="en-US" sz="3600" i="0" baseline="0" dirty="0" smtClean="0">
                <a:solidFill>
                  <a:srgbClr val="FF0000"/>
                </a:solidFill>
                <a:latin typeface="CMSS12"/>
              </a:rPr>
              <a:t>Stream </a:t>
            </a:r>
            <a:r>
              <a:rPr lang="en-US" sz="3600" dirty="0">
                <a:solidFill>
                  <a:srgbClr val="FF0000"/>
                </a:solidFill>
                <a:latin typeface="CMSS12"/>
              </a:rPr>
              <a:t>a</a:t>
            </a:r>
            <a:r>
              <a:rPr lang="en-US" sz="3600" i="0" baseline="0" dirty="0" smtClean="0">
                <a:solidFill>
                  <a:srgbClr val="FF0000"/>
                </a:solidFill>
                <a:latin typeface="CMSS12"/>
              </a:rPr>
              <a:t>nd Block Ciphers</a:t>
            </a:r>
            <a:endParaRPr lang="en-US" sz="3600" i="0" baseline="0" dirty="0">
              <a:solidFill>
                <a:srgbClr val="FF0000"/>
              </a:solidFill>
              <a:latin typeface="CMSS12"/>
            </a:endParaRPr>
          </a:p>
        </p:txBody>
      </p:sp>
      <p:sp>
        <p:nvSpPr>
          <p:cNvPr id="6349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sz="1800" i="0" baseline="0"/>
          </a:p>
        </p:txBody>
      </p:sp>
      <p:sp>
        <p:nvSpPr>
          <p:cNvPr id="1010693" name="Rectangle 5"/>
          <p:cNvSpPr>
            <a:spLocks noChangeArrowheads="1"/>
          </p:cNvSpPr>
          <p:nvPr/>
        </p:nvSpPr>
        <p:spPr bwMode="auto">
          <a:xfrm>
            <a:off x="457200" y="1442512"/>
            <a:ext cx="8229600" cy="1323439"/>
          </a:xfrm>
          <a:prstGeom prst="rect">
            <a:avLst/>
          </a:prstGeom>
          <a:noFill/>
          <a:ln w="9525">
            <a:noFill/>
            <a:miter lim="800000"/>
            <a:headEnd/>
            <a:tailEnd/>
          </a:ln>
          <a:effectLst/>
        </p:spPr>
        <p:txBody>
          <a:bodyPr wrap="square" anchor="ctr">
            <a:spAutoFit/>
          </a:bodyPr>
          <a:lstStyle/>
          <a:p>
            <a:pPr algn="just" eaLnBrk="1" hangingPunct="1">
              <a:defRPr/>
            </a:pPr>
            <a:r>
              <a:rPr lang="en-US" sz="2000" baseline="0" dirty="0"/>
              <a:t>The literature divides the symmetric ciphers into two broad categories: stream ciphers and block ciphers. Although the definitions are normally applied to modern ciphers, this categorization also applies to traditional ciphers.</a:t>
            </a:r>
          </a:p>
        </p:txBody>
      </p:sp>
      <p:sp>
        <p:nvSpPr>
          <p:cNvPr id="63495" name="Rectangle 6"/>
          <p:cNvSpPr>
            <a:spLocks noChangeArrowheads="1"/>
          </p:cNvSpPr>
          <p:nvPr/>
        </p:nvSpPr>
        <p:spPr bwMode="auto">
          <a:xfrm>
            <a:off x="152400" y="4419600"/>
            <a:ext cx="5715000" cy="1200329"/>
          </a:xfrm>
          <a:prstGeom prst="rect">
            <a:avLst/>
          </a:prstGeom>
          <a:noFill/>
          <a:ln w="9525">
            <a:noFill/>
            <a:miter lim="800000"/>
            <a:headEnd/>
            <a:tailEnd/>
          </a:ln>
        </p:spPr>
        <p:txBody>
          <a:bodyPr>
            <a:spAutoFit/>
          </a:bodyPr>
          <a:lstStyle/>
          <a:p>
            <a:pPr>
              <a:buClr>
                <a:schemeClr val="tx1"/>
              </a:buClr>
              <a:buSzPct val="117000"/>
              <a:buFont typeface="Wingdings" pitchFamily="2" charset="2"/>
              <a:buNone/>
            </a:pPr>
            <a:r>
              <a:rPr lang="en-US" sz="2400" i="0" baseline="0" dirty="0">
                <a:solidFill>
                  <a:srgbClr val="0033CC"/>
                </a:solidFill>
              </a:rPr>
              <a:t>	Stream Ciphers</a:t>
            </a:r>
            <a:r>
              <a:rPr lang="fr-FR" sz="2400" i="0" baseline="0" dirty="0">
                <a:solidFill>
                  <a:srgbClr val="0033CC"/>
                </a:solidFill>
              </a:rPr>
              <a:t/>
            </a:r>
            <a:br>
              <a:rPr lang="fr-FR" sz="2400" i="0" baseline="0" dirty="0">
                <a:solidFill>
                  <a:srgbClr val="0033CC"/>
                </a:solidFill>
              </a:rPr>
            </a:br>
            <a:r>
              <a:rPr lang="fr-FR" sz="2400" i="0" baseline="0" dirty="0">
                <a:solidFill>
                  <a:srgbClr val="0033CC"/>
                </a:solidFill>
              </a:rPr>
              <a:t>	Block </a:t>
            </a:r>
            <a:r>
              <a:rPr lang="fr-FR" sz="2400" i="0" baseline="0" dirty="0" err="1">
                <a:solidFill>
                  <a:srgbClr val="0033CC"/>
                </a:solidFill>
              </a:rPr>
              <a:t>Ciphers</a:t>
            </a:r>
            <a:endParaRPr lang="fr-FR" sz="2400" i="0" baseline="0" dirty="0">
              <a:solidFill>
                <a:srgbClr val="0033CC"/>
              </a:solidFill>
            </a:endParaRPr>
          </a:p>
          <a:p>
            <a:pPr>
              <a:buClr>
                <a:schemeClr val="tx1"/>
              </a:buClr>
              <a:buSzPct val="117000"/>
              <a:buFont typeface="Wingdings" pitchFamily="2" charset="2"/>
              <a:buNone/>
            </a:pPr>
            <a:r>
              <a:rPr lang="fr-FR" sz="2400" i="0" baseline="0" dirty="0">
                <a:solidFill>
                  <a:srgbClr val="0033CC"/>
                </a:solidFill>
              </a:rPr>
              <a:t>	</a:t>
            </a:r>
            <a:r>
              <a:rPr lang="fr-FR" sz="2400" i="0" baseline="0" dirty="0" err="1">
                <a:solidFill>
                  <a:srgbClr val="0033CC"/>
                </a:solidFill>
              </a:rPr>
              <a:t>Combination</a:t>
            </a:r>
            <a:endParaRPr lang="en-US" sz="2400" i="0" baseline="0" dirty="0">
              <a:solidFill>
                <a:srgbClr val="0033CC"/>
              </a:solidFill>
            </a:endParaRPr>
          </a:p>
        </p:txBody>
      </p:sp>
      <p:sp>
        <p:nvSpPr>
          <p:cNvPr id="1010695" name="Text Box 7"/>
          <p:cNvSpPr txBox="1">
            <a:spLocks noChangeArrowheads="1"/>
          </p:cNvSpPr>
          <p:nvPr/>
        </p:nvSpPr>
        <p:spPr bwMode="auto">
          <a:xfrm>
            <a:off x="1256646" y="3829050"/>
            <a:ext cx="1403205" cy="523220"/>
          </a:xfrm>
          <a:prstGeom prst="rect">
            <a:avLst/>
          </a:prstGeom>
          <a:noFill/>
          <a:ln w="76200" algn="ctr">
            <a:noFill/>
            <a:miter lim="800000"/>
            <a:headEnd/>
            <a:tailEnd/>
          </a:ln>
          <a:effectLst/>
        </p:spPr>
        <p:txBody>
          <a:bodyPr wrap="none">
            <a:spAutoFit/>
          </a:bodyPr>
          <a:lstStyle/>
          <a:p>
            <a:pPr algn="ctr">
              <a:defRPr/>
            </a:pPr>
            <a:r>
              <a:rPr lang="en-US" sz="2800" baseline="0" dirty="0">
                <a:solidFill>
                  <a:srgbClr val="FF0000"/>
                </a:solidFill>
              </a:rPr>
              <a:t>Topics </a:t>
            </a:r>
            <a:r>
              <a:rPr lang="en-US" sz="2800" baseline="0" dirty="0" smtClean="0">
                <a:solidFill>
                  <a:srgbClr val="FF0000"/>
                </a:solidFill>
              </a:rPr>
              <a:t>:</a:t>
            </a:r>
            <a:endParaRPr lang="en-US" sz="2800" baseline="0" dirty="0">
              <a:solidFill>
                <a:srgbClr val="FF0000"/>
              </a:solidFill>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066800"/>
            <a:ext cx="8839200" cy="946150"/>
          </a:xfrm>
          <a:prstGeom prst="rect">
            <a:avLst/>
          </a:prstGeom>
          <a:noFill/>
          <a:ln w="9525">
            <a:noFill/>
            <a:miter lim="800000"/>
            <a:headEnd/>
            <a:tailEnd/>
          </a:ln>
        </p:spPr>
        <p:txBody>
          <a:bodyPr anchor="ctr">
            <a:spAutoFit/>
          </a:bodyPr>
          <a:lstStyle/>
          <a:p>
            <a:pPr algn="just" eaLnBrk="1" hangingPunct="1"/>
            <a:r>
              <a:rPr lang="en-US" i="0" baseline="0" dirty="0"/>
              <a:t>Call the plaintext stream P, the </a:t>
            </a:r>
            <a:r>
              <a:rPr lang="en-US" i="0" baseline="0" dirty="0" err="1"/>
              <a:t>ciphertext</a:t>
            </a:r>
            <a:r>
              <a:rPr lang="en-US" i="0" baseline="0" dirty="0"/>
              <a:t> stream C, and the key stream K.</a:t>
            </a:r>
          </a:p>
        </p:txBody>
      </p:sp>
      <p:pic>
        <p:nvPicPr>
          <p:cNvPr id="3" name="Picture 11"/>
          <p:cNvPicPr>
            <a:picLocks noChangeAspect="1" noChangeArrowheads="1"/>
          </p:cNvPicPr>
          <p:nvPr/>
        </p:nvPicPr>
        <p:blipFill>
          <a:blip r:embed="rId2"/>
          <a:srcRect/>
          <a:stretch>
            <a:fillRect/>
          </a:stretch>
        </p:blipFill>
        <p:spPr bwMode="auto">
          <a:xfrm>
            <a:off x="914400" y="2135188"/>
            <a:ext cx="7175500" cy="912812"/>
          </a:xfrm>
          <a:prstGeom prst="rect">
            <a:avLst/>
          </a:prstGeom>
          <a:noFill/>
          <a:ln w="9525">
            <a:noFill/>
            <a:miter lim="800000"/>
            <a:headEnd/>
            <a:tailEnd/>
          </a:ln>
        </p:spPr>
      </p:pic>
      <p:pic>
        <p:nvPicPr>
          <p:cNvPr id="4" name="Picture 12"/>
          <p:cNvPicPr>
            <a:picLocks noChangeAspect="1" noChangeArrowheads="1"/>
          </p:cNvPicPr>
          <p:nvPr/>
        </p:nvPicPr>
        <p:blipFill>
          <a:blip r:embed="rId3"/>
          <a:srcRect/>
          <a:stretch>
            <a:fillRect/>
          </a:stretch>
        </p:blipFill>
        <p:spPr bwMode="auto">
          <a:xfrm>
            <a:off x="1403350" y="4294188"/>
            <a:ext cx="5988050" cy="2411412"/>
          </a:xfrm>
          <a:prstGeom prst="rect">
            <a:avLst/>
          </a:prstGeom>
          <a:noFill/>
          <a:ln w="9525">
            <a:noFill/>
            <a:miter lim="800000"/>
            <a:headEnd/>
            <a:tailEnd/>
          </a:ln>
        </p:spPr>
      </p:pic>
      <p:sp>
        <p:nvSpPr>
          <p:cNvPr id="5" name="Text Box 13"/>
          <p:cNvSpPr txBox="1">
            <a:spLocks noChangeArrowheads="1"/>
          </p:cNvSpPr>
          <p:nvPr/>
        </p:nvSpPr>
        <p:spPr bwMode="auto">
          <a:xfrm>
            <a:off x="2819400" y="3657600"/>
            <a:ext cx="2908168" cy="461665"/>
          </a:xfrm>
          <a:prstGeom prst="rect">
            <a:avLst/>
          </a:prstGeom>
          <a:noFill/>
          <a:ln w="9525">
            <a:noFill/>
            <a:miter lim="800000"/>
            <a:headEnd/>
            <a:tailEnd/>
          </a:ln>
        </p:spPr>
        <p:txBody>
          <a:bodyPr wrap="none">
            <a:spAutoFit/>
          </a:bodyPr>
          <a:lstStyle/>
          <a:p>
            <a:r>
              <a:rPr lang="en-US" sz="2400" i="0" baseline="0" dirty="0">
                <a:solidFill>
                  <a:schemeClr val="folHlink"/>
                </a:solidFill>
              </a:rPr>
              <a:t>Figure </a:t>
            </a:r>
            <a:r>
              <a:rPr lang="en-US" sz="2400" i="0" baseline="0" dirty="0" smtClean="0">
                <a:solidFill>
                  <a:schemeClr val="folHlink"/>
                </a:solidFill>
              </a:rPr>
              <a:t>  </a:t>
            </a:r>
            <a:r>
              <a:rPr lang="en-US" sz="2000" baseline="0" dirty="0"/>
              <a:t>Stream cipher</a:t>
            </a:r>
          </a:p>
        </p:txBody>
      </p:sp>
      <p:sp>
        <p:nvSpPr>
          <p:cNvPr id="6" name="Rectangle 5"/>
          <p:cNvSpPr/>
          <p:nvPr/>
        </p:nvSpPr>
        <p:spPr>
          <a:xfrm>
            <a:off x="533400" y="381000"/>
            <a:ext cx="2947217" cy="584775"/>
          </a:xfrm>
          <a:prstGeom prst="rect">
            <a:avLst/>
          </a:prstGeom>
        </p:spPr>
        <p:txBody>
          <a:bodyPr wrap="none">
            <a:spAutoFit/>
          </a:bodyPr>
          <a:lstStyle/>
          <a:p>
            <a:r>
              <a:rPr kumimoji="0" lang="en-US" sz="3200" b="1" dirty="0">
                <a:solidFill>
                  <a:srgbClr val="FF0000"/>
                </a:solidFill>
                <a:latin typeface="Times New Roman" pitchFamily="18" charset="0"/>
                <a:ea typeface="+mn-ea"/>
              </a:rPr>
              <a:t>Stream Ciphers</a:t>
            </a:r>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152400" y="1329760"/>
            <a:ext cx="8839200" cy="2677656"/>
          </a:xfrm>
          <a:prstGeom prst="rect">
            <a:avLst/>
          </a:prstGeom>
          <a:noFill/>
          <a:ln w="9525">
            <a:noFill/>
            <a:miter lim="800000"/>
            <a:headEnd/>
            <a:tailEnd/>
          </a:ln>
        </p:spPr>
        <p:txBody>
          <a:bodyPr anchor="ctr">
            <a:spAutoFit/>
          </a:bodyPr>
          <a:lstStyle/>
          <a:p>
            <a:pPr algn="just" eaLnBrk="1" hangingPunct="1"/>
            <a:r>
              <a:rPr lang="en-US" sz="2400" i="0" baseline="0" dirty="0"/>
              <a:t>Additive ciphers can be categorized </a:t>
            </a:r>
            <a:r>
              <a:rPr lang="en-US" sz="2400" i="0" baseline="0" dirty="0">
                <a:solidFill>
                  <a:srgbClr val="FF0000"/>
                </a:solidFill>
              </a:rPr>
              <a:t>as stream ciphers </a:t>
            </a:r>
            <a:r>
              <a:rPr lang="en-US" sz="2400" i="0" baseline="0" dirty="0"/>
              <a:t>in which the key stream is the repeated value of the key. In other words, the key stream is considered as a predetermined stream of keys or </a:t>
            </a:r>
            <a:br>
              <a:rPr lang="en-US" sz="2400" i="0" baseline="0" dirty="0"/>
            </a:br>
            <a:r>
              <a:rPr lang="en-US" sz="2400" i="0" baseline="0" dirty="0"/>
              <a:t>K = (k, k, …, k). In this cipher, however, each character in the </a:t>
            </a:r>
            <a:r>
              <a:rPr lang="en-US" sz="2400" i="0" baseline="0" dirty="0" err="1"/>
              <a:t>ciphertext</a:t>
            </a:r>
            <a:r>
              <a:rPr lang="en-US" sz="2400" i="0" baseline="0" dirty="0"/>
              <a:t> depends only on the corresponding character in the plaintext, because the key stream is generated independently.</a:t>
            </a:r>
          </a:p>
        </p:txBody>
      </p:sp>
      <p:sp>
        <p:nvSpPr>
          <p:cNvPr id="3" name="Text Box 12"/>
          <p:cNvSpPr txBox="1">
            <a:spLocks noChangeArrowheads="1"/>
          </p:cNvSpPr>
          <p:nvPr/>
        </p:nvSpPr>
        <p:spPr bwMode="auto">
          <a:xfrm>
            <a:off x="152400" y="990600"/>
            <a:ext cx="1383712"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a:t>
            </a:r>
            <a:endParaRPr lang="en-US" sz="2000" baseline="0" dirty="0">
              <a:solidFill>
                <a:schemeClr val="bg1"/>
              </a:solidFill>
            </a:endParaRPr>
          </a:p>
        </p:txBody>
      </p:sp>
      <p:sp>
        <p:nvSpPr>
          <p:cNvPr id="4" name="Rectangle 16"/>
          <p:cNvSpPr>
            <a:spLocks noChangeArrowheads="1"/>
          </p:cNvSpPr>
          <p:nvPr/>
        </p:nvSpPr>
        <p:spPr bwMode="auto">
          <a:xfrm>
            <a:off x="228600" y="4366092"/>
            <a:ext cx="8839200" cy="1938992"/>
          </a:xfrm>
          <a:prstGeom prst="rect">
            <a:avLst/>
          </a:prstGeom>
          <a:noFill/>
          <a:ln w="9525">
            <a:noFill/>
            <a:miter lim="800000"/>
            <a:headEnd/>
            <a:tailEnd/>
          </a:ln>
        </p:spPr>
        <p:txBody>
          <a:bodyPr anchor="ctr">
            <a:spAutoFit/>
          </a:bodyPr>
          <a:lstStyle/>
          <a:p>
            <a:pPr algn="just" eaLnBrk="1" hangingPunct="1"/>
            <a:r>
              <a:rPr lang="en-US" sz="2400" i="0" baseline="0" dirty="0"/>
              <a:t>The </a:t>
            </a:r>
            <a:r>
              <a:rPr lang="en-US" sz="2400" i="0" baseline="0" dirty="0" err="1"/>
              <a:t>monoalphabetic</a:t>
            </a:r>
            <a:r>
              <a:rPr lang="en-US" sz="2400" i="0" baseline="0" dirty="0"/>
              <a:t> substitution ciphers discussed in this chapter are </a:t>
            </a:r>
            <a:r>
              <a:rPr lang="en-US" sz="2400" i="0" baseline="0" dirty="0">
                <a:solidFill>
                  <a:srgbClr val="FF0000"/>
                </a:solidFill>
              </a:rPr>
              <a:t>also stream ciphers</a:t>
            </a:r>
            <a:r>
              <a:rPr lang="en-US" sz="2400" i="0" baseline="0" dirty="0"/>
              <a:t>. However, each value of the key stream in this case is the mapping of the current plaintext character to the corresponding </a:t>
            </a:r>
            <a:r>
              <a:rPr lang="en-US" sz="2400" i="0" baseline="0" dirty="0" err="1"/>
              <a:t>ciphertext</a:t>
            </a:r>
            <a:r>
              <a:rPr lang="en-US" sz="2400" i="0" baseline="0" dirty="0"/>
              <a:t> character in the mapping table.</a:t>
            </a:r>
          </a:p>
        </p:txBody>
      </p:sp>
      <p:sp>
        <p:nvSpPr>
          <p:cNvPr id="5" name="Text Box 17"/>
          <p:cNvSpPr txBox="1">
            <a:spLocks noChangeArrowheads="1"/>
          </p:cNvSpPr>
          <p:nvPr/>
        </p:nvSpPr>
        <p:spPr bwMode="auto">
          <a:xfrm>
            <a:off x="228600" y="41148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6" name="Text Box 9"/>
          <p:cNvSpPr txBox="1">
            <a:spLocks noChangeArrowheads="1"/>
          </p:cNvSpPr>
          <p:nvPr/>
        </p:nvSpPr>
        <p:spPr bwMode="auto">
          <a:xfrm>
            <a:off x="381000" y="22860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52400" y="1447800"/>
            <a:ext cx="8839200" cy="1187450"/>
          </a:xfrm>
          <a:prstGeom prst="rect">
            <a:avLst/>
          </a:prstGeom>
          <a:noFill/>
          <a:ln w="9525">
            <a:noFill/>
            <a:miter lim="800000"/>
            <a:headEnd/>
            <a:tailEnd/>
          </a:ln>
        </p:spPr>
        <p:txBody>
          <a:bodyPr anchor="ctr">
            <a:spAutoFit/>
          </a:bodyPr>
          <a:lstStyle/>
          <a:p>
            <a:pPr algn="just" eaLnBrk="1" hangingPunct="1"/>
            <a:r>
              <a:rPr lang="en-US" sz="2400" i="0" baseline="0"/>
              <a:t>Vigenere ciphers are also stream ciphers according to the definition. In this case, the key stream is a repetition of m values, where </a:t>
            </a:r>
            <a:r>
              <a:rPr lang="en-US" sz="2400" baseline="0"/>
              <a:t>m</a:t>
            </a:r>
            <a:r>
              <a:rPr lang="en-US" sz="2400" i="0" baseline="0"/>
              <a:t> is the size of the keyword. In other words,</a:t>
            </a:r>
          </a:p>
        </p:txBody>
      </p:sp>
      <p:sp>
        <p:nvSpPr>
          <p:cNvPr id="3" name="Text Box 11"/>
          <p:cNvSpPr txBox="1">
            <a:spLocks noChangeArrowheads="1"/>
          </p:cNvSpPr>
          <p:nvPr/>
        </p:nvSpPr>
        <p:spPr bwMode="auto">
          <a:xfrm>
            <a:off x="152400" y="9906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4" name="Rectangle 12"/>
          <p:cNvSpPr>
            <a:spLocks noChangeArrowheads="1"/>
          </p:cNvSpPr>
          <p:nvPr/>
        </p:nvSpPr>
        <p:spPr bwMode="auto">
          <a:xfrm>
            <a:off x="228600" y="4376738"/>
            <a:ext cx="8839200" cy="1917700"/>
          </a:xfrm>
          <a:prstGeom prst="rect">
            <a:avLst/>
          </a:prstGeom>
          <a:noFill/>
          <a:ln w="9525">
            <a:noFill/>
            <a:miter lim="800000"/>
            <a:headEnd/>
            <a:tailEnd/>
          </a:ln>
        </p:spPr>
        <p:txBody>
          <a:bodyPr anchor="ctr">
            <a:spAutoFit/>
          </a:bodyPr>
          <a:lstStyle/>
          <a:p>
            <a:pPr algn="just" eaLnBrk="1" hangingPunct="1"/>
            <a:r>
              <a:rPr lang="en-US" sz="2400" i="0" baseline="0"/>
              <a:t>We can establish a criterion to divide stream ciphers based on their key streams. We can say that a stream cipher is a monoalphabetic cipher if the value of </a:t>
            </a:r>
            <a:r>
              <a:rPr lang="en-US" sz="2400" baseline="0"/>
              <a:t>k</a:t>
            </a:r>
            <a:r>
              <a:rPr lang="en-US" sz="2400" i="0" baseline="-20000"/>
              <a:t>i</a:t>
            </a:r>
            <a:r>
              <a:rPr lang="en-US" sz="2400" i="0" baseline="0"/>
              <a:t> does not depend on the position of the plaintext character in the plaintext stream; otherwise, the cipher is polyalphabetic.</a:t>
            </a:r>
          </a:p>
        </p:txBody>
      </p:sp>
      <p:sp>
        <p:nvSpPr>
          <p:cNvPr id="5" name="Text Box 13"/>
          <p:cNvSpPr txBox="1">
            <a:spLocks noChangeArrowheads="1"/>
          </p:cNvSpPr>
          <p:nvPr/>
        </p:nvSpPr>
        <p:spPr bwMode="auto">
          <a:xfrm>
            <a:off x="228600" y="3962400"/>
            <a:ext cx="1383712" cy="461665"/>
          </a:xfrm>
          <a:prstGeom prst="rect">
            <a:avLst/>
          </a:prstGeom>
          <a:solidFill>
            <a:schemeClr val="folHlink"/>
          </a:solidFill>
          <a:ln w="9525">
            <a:noFill/>
            <a:miter lim="800000"/>
            <a:headEnd/>
            <a:tailEnd/>
          </a:ln>
        </p:spPr>
        <p:txBody>
          <a:bodyPr wrap="none">
            <a:spAutoFit/>
          </a:bodyPr>
          <a:lstStyle/>
          <a:p>
            <a:r>
              <a:rPr lang="en-US" sz="2400" i="0" baseline="0" dirty="0" smtClean="0">
                <a:solidFill>
                  <a:schemeClr val="bg1"/>
                </a:solidFill>
              </a:rPr>
              <a:t>Example</a:t>
            </a:r>
            <a:endParaRPr lang="en-US" sz="2000" baseline="0" dirty="0">
              <a:solidFill>
                <a:schemeClr val="bg1"/>
              </a:solidFill>
            </a:endParaRPr>
          </a:p>
        </p:txBody>
      </p:sp>
      <p:pic>
        <p:nvPicPr>
          <p:cNvPr id="6" name="Picture 14"/>
          <p:cNvPicPr>
            <a:picLocks noChangeAspect="1" noChangeArrowheads="1"/>
          </p:cNvPicPr>
          <p:nvPr/>
        </p:nvPicPr>
        <p:blipFill>
          <a:blip r:embed="rId2"/>
          <a:srcRect/>
          <a:stretch>
            <a:fillRect/>
          </a:stretch>
        </p:blipFill>
        <p:spPr bwMode="auto">
          <a:xfrm>
            <a:off x="2055813" y="2743200"/>
            <a:ext cx="5030787" cy="512763"/>
          </a:xfrm>
          <a:prstGeom prst="rect">
            <a:avLst/>
          </a:prstGeom>
          <a:noFill/>
          <a:ln w="9525">
            <a:noFill/>
            <a:miter lim="800000"/>
            <a:headEnd/>
            <a:tailEnd/>
          </a:ln>
        </p:spPr>
      </p:pic>
      <p:sp>
        <p:nvSpPr>
          <p:cNvPr id="7" name="Text Box 9"/>
          <p:cNvSpPr txBox="1">
            <a:spLocks noChangeArrowheads="1"/>
          </p:cNvSpPr>
          <p:nvPr/>
        </p:nvSpPr>
        <p:spPr bwMode="auto">
          <a:xfrm>
            <a:off x="685800" y="22860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7"/>
          <p:cNvSpPr>
            <a:spLocks noChangeArrowheads="1"/>
          </p:cNvSpPr>
          <p:nvPr/>
        </p:nvSpPr>
        <p:spPr bwMode="auto">
          <a:xfrm>
            <a:off x="152400" y="1409700"/>
            <a:ext cx="8839200" cy="4838700"/>
          </a:xfrm>
          <a:prstGeom prst="rect">
            <a:avLst/>
          </a:prstGeom>
          <a:noFill/>
          <a:ln w="9525">
            <a:noFill/>
            <a:miter lim="800000"/>
            <a:headEnd/>
            <a:tailEnd/>
          </a:ln>
        </p:spPr>
        <p:txBody>
          <a:bodyPr anchor="ctr">
            <a:spAutoFit/>
          </a:bodyPr>
          <a:lstStyle/>
          <a:p>
            <a:pPr algn="just" eaLnBrk="1" hangingPunct="1">
              <a:buFont typeface="Wingdings" pitchFamily="2" charset="2"/>
              <a:buChar char="q"/>
            </a:pPr>
            <a:r>
              <a:rPr lang="en-US" sz="2400" i="0" baseline="0"/>
              <a:t> Additive ciphers are definitely monoalphabetic because </a:t>
            </a:r>
            <a:r>
              <a:rPr lang="en-US" sz="2400" i="0" baseline="0">
                <a:solidFill>
                  <a:schemeClr val="hlink"/>
                </a:solidFill>
              </a:rPr>
              <a:t>k</a:t>
            </a:r>
            <a:r>
              <a:rPr lang="en-US" sz="2400" i="0" baseline="-25000">
                <a:solidFill>
                  <a:schemeClr val="hlink"/>
                </a:solidFill>
              </a:rPr>
              <a:t>i</a:t>
            </a:r>
            <a:r>
              <a:rPr lang="en-US" sz="2400" i="0" baseline="0"/>
              <a:t> in the key stream is fixed; it does not depend on the position of the character in the plaintext.</a:t>
            </a:r>
          </a:p>
          <a:p>
            <a:pPr algn="just" eaLnBrk="1" hangingPunct="1">
              <a:buFont typeface="Wingdings" pitchFamily="2" charset="2"/>
              <a:buChar char="q"/>
            </a:pPr>
            <a:endParaRPr lang="en-US" sz="2400" i="0" baseline="0"/>
          </a:p>
          <a:p>
            <a:pPr algn="just" eaLnBrk="1" hangingPunct="1">
              <a:buFont typeface="Wingdings" pitchFamily="2" charset="2"/>
              <a:buChar char="q"/>
            </a:pPr>
            <a:r>
              <a:rPr lang="en-US" sz="2400" i="0" baseline="0"/>
              <a:t> Monoalphabetic substitution ciphers are monoalphabetic because </a:t>
            </a:r>
            <a:r>
              <a:rPr lang="en-US" sz="2400" baseline="0">
                <a:solidFill>
                  <a:schemeClr val="hlink"/>
                </a:solidFill>
              </a:rPr>
              <a:t>k</a:t>
            </a:r>
            <a:r>
              <a:rPr lang="en-US" sz="2400" i="0" baseline="-20000">
                <a:solidFill>
                  <a:schemeClr val="hlink"/>
                </a:solidFill>
              </a:rPr>
              <a:t>i</a:t>
            </a:r>
            <a:r>
              <a:rPr lang="en-US" sz="2400" i="0" baseline="0"/>
              <a:t> does not depend on the position of the corresponding character in the plaintext stream; it depends only on the value of the plaintext character.</a:t>
            </a:r>
          </a:p>
          <a:p>
            <a:pPr algn="just" eaLnBrk="1" hangingPunct="1">
              <a:buFont typeface="Wingdings" pitchFamily="2" charset="2"/>
              <a:buChar char="q"/>
            </a:pPr>
            <a:endParaRPr lang="en-US" sz="2400" i="0" baseline="0"/>
          </a:p>
          <a:p>
            <a:pPr algn="just" eaLnBrk="1" hangingPunct="1">
              <a:buFont typeface="Wingdings" pitchFamily="2" charset="2"/>
              <a:buChar char="q"/>
            </a:pPr>
            <a:r>
              <a:rPr lang="en-US" sz="2400" i="0" baseline="0"/>
              <a:t> Vigenere ciphers are polyalphabetic ciphers because </a:t>
            </a:r>
            <a:r>
              <a:rPr lang="en-US" sz="2400" i="0" baseline="0">
                <a:solidFill>
                  <a:schemeClr val="hlink"/>
                </a:solidFill>
              </a:rPr>
              <a:t>k</a:t>
            </a:r>
            <a:r>
              <a:rPr lang="en-US" sz="2400" i="0" baseline="-25000">
                <a:solidFill>
                  <a:schemeClr val="hlink"/>
                </a:solidFill>
              </a:rPr>
              <a:t>i</a:t>
            </a:r>
            <a:r>
              <a:rPr lang="en-US" sz="2400" i="0" baseline="0"/>
              <a:t> definitely depends on the position of the plaintext character. However, the dependency is cyclic. The key is the same for two characters </a:t>
            </a:r>
            <a:r>
              <a:rPr lang="en-US" sz="2400" baseline="0"/>
              <a:t>m</a:t>
            </a:r>
            <a:r>
              <a:rPr lang="en-US" sz="2400" i="0" baseline="0"/>
              <a:t> positions apart.</a:t>
            </a:r>
          </a:p>
        </p:txBody>
      </p:sp>
      <p:sp>
        <p:nvSpPr>
          <p:cNvPr id="3" name="Text Box 9"/>
          <p:cNvSpPr txBox="1">
            <a:spLocks noChangeArrowheads="1"/>
          </p:cNvSpPr>
          <p:nvPr/>
        </p:nvSpPr>
        <p:spPr bwMode="auto">
          <a:xfrm>
            <a:off x="533400" y="30480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152400" y="762000"/>
            <a:ext cx="8839200" cy="2654300"/>
          </a:xfrm>
          <a:prstGeom prst="rect">
            <a:avLst/>
          </a:prstGeom>
          <a:noFill/>
          <a:ln w="9525">
            <a:noFill/>
            <a:miter lim="800000"/>
            <a:headEnd/>
            <a:tailEnd/>
          </a:ln>
        </p:spPr>
        <p:txBody>
          <a:bodyPr anchor="ctr">
            <a:spAutoFit/>
          </a:bodyPr>
          <a:lstStyle/>
          <a:p>
            <a:pPr algn="just" eaLnBrk="1" hangingPunct="1"/>
            <a:r>
              <a:rPr lang="en-US" i="0" baseline="0"/>
              <a:t>In a block cipher, a group of plaintext symbols of size </a:t>
            </a:r>
            <a:r>
              <a:rPr lang="en-US" baseline="0"/>
              <a:t>m</a:t>
            </a:r>
            <a:r>
              <a:rPr lang="en-US" i="0" baseline="0"/>
              <a:t> (</a:t>
            </a:r>
            <a:r>
              <a:rPr lang="en-US" baseline="0"/>
              <a:t>m</a:t>
            </a:r>
            <a:r>
              <a:rPr lang="en-US" i="0" baseline="0"/>
              <a:t> &gt; 1) are encrypted together creating a group of ciphertext of the same size. A single key is used to encrypt the whole block even if the key is made of multiple values. Figure 3.27 shows the concept of a block cipher.</a:t>
            </a:r>
          </a:p>
        </p:txBody>
      </p:sp>
      <p:pic>
        <p:nvPicPr>
          <p:cNvPr id="4" name="Picture 12"/>
          <p:cNvPicPr>
            <a:picLocks noChangeAspect="1" noChangeArrowheads="1"/>
          </p:cNvPicPr>
          <p:nvPr/>
        </p:nvPicPr>
        <p:blipFill>
          <a:blip r:embed="rId2"/>
          <a:srcRect/>
          <a:stretch>
            <a:fillRect/>
          </a:stretch>
        </p:blipFill>
        <p:spPr bwMode="auto">
          <a:xfrm>
            <a:off x="471488" y="4121150"/>
            <a:ext cx="7834312" cy="2282825"/>
          </a:xfrm>
          <a:prstGeom prst="rect">
            <a:avLst/>
          </a:prstGeom>
          <a:noFill/>
          <a:ln w="9525">
            <a:noFill/>
            <a:miter lim="800000"/>
            <a:headEnd/>
            <a:tailEnd/>
          </a:ln>
        </p:spPr>
      </p:pic>
      <p:sp>
        <p:nvSpPr>
          <p:cNvPr id="5" name="Text Box 13"/>
          <p:cNvSpPr txBox="1">
            <a:spLocks noChangeArrowheads="1"/>
          </p:cNvSpPr>
          <p:nvPr/>
        </p:nvSpPr>
        <p:spPr bwMode="auto">
          <a:xfrm>
            <a:off x="2819400" y="3432175"/>
            <a:ext cx="3140075" cy="457200"/>
          </a:xfrm>
          <a:prstGeom prst="rect">
            <a:avLst/>
          </a:prstGeom>
          <a:noFill/>
          <a:ln w="9525">
            <a:noFill/>
            <a:miter lim="800000"/>
            <a:headEnd/>
            <a:tailEnd/>
          </a:ln>
        </p:spPr>
        <p:txBody>
          <a:bodyPr wrap="none">
            <a:spAutoFit/>
          </a:bodyPr>
          <a:lstStyle/>
          <a:p>
            <a:r>
              <a:rPr lang="en-US" sz="2400" i="0" baseline="0">
                <a:solidFill>
                  <a:schemeClr val="folHlink"/>
                </a:solidFill>
              </a:rPr>
              <a:t>Figure 3.27  </a:t>
            </a:r>
            <a:r>
              <a:rPr lang="en-US" sz="2000" baseline="0"/>
              <a:t>Block cipher</a:t>
            </a:r>
          </a:p>
        </p:txBody>
      </p:sp>
      <p:sp>
        <p:nvSpPr>
          <p:cNvPr id="6" name="Rectangle 5"/>
          <p:cNvSpPr/>
          <p:nvPr/>
        </p:nvSpPr>
        <p:spPr>
          <a:xfrm>
            <a:off x="533400" y="457200"/>
            <a:ext cx="2947217" cy="584775"/>
          </a:xfrm>
          <a:prstGeom prst="rect">
            <a:avLst/>
          </a:prstGeom>
        </p:spPr>
        <p:txBody>
          <a:bodyPr wrap="none">
            <a:spAutoFit/>
          </a:bodyPr>
          <a:lstStyle/>
          <a:p>
            <a:pPr lvl="0" eaLnBrk="0" hangingPunct="0"/>
            <a:r>
              <a:rPr kumimoji="0" lang="en-US" sz="3200" b="1" dirty="0">
                <a:solidFill>
                  <a:srgbClr val="FF0000"/>
                </a:solidFill>
                <a:latin typeface="Times New Roman" pitchFamily="18" charset="0"/>
                <a:ea typeface="+mn-ea"/>
              </a:rPr>
              <a:t>Stream Ciphers</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0" y="6400800"/>
            <a:ext cx="1905000" cy="457200"/>
          </a:xfrm>
          <a:noFill/>
        </p:spPr>
        <p:txBody>
          <a:bodyPr/>
          <a:lstStyle/>
          <a:p>
            <a:r>
              <a:rPr lang="en-US">
                <a:latin typeface="Arial" charset="0"/>
              </a:rPr>
              <a:t>3.</a:t>
            </a:r>
            <a:fld id="{94BC2731-C337-4E8F-831D-B2EC6C5FB8C9}" type="slidenum">
              <a:rPr lang="en-US">
                <a:latin typeface="Arial" charset="0"/>
              </a:rPr>
              <a:pPr/>
              <a:t>139</a:t>
            </a:fld>
            <a:endParaRPr lang="en-US">
              <a:latin typeface="Arial" charset="0"/>
            </a:endParaRPr>
          </a:p>
        </p:txBody>
      </p:sp>
      <p:sp>
        <p:nvSpPr>
          <p:cNvPr id="3" name="Rectangle 10"/>
          <p:cNvSpPr>
            <a:spLocks noChangeArrowheads="1"/>
          </p:cNvSpPr>
          <p:nvPr/>
        </p:nvSpPr>
        <p:spPr bwMode="auto">
          <a:xfrm>
            <a:off x="152400" y="1524000"/>
            <a:ext cx="8839200" cy="822325"/>
          </a:xfrm>
          <a:prstGeom prst="rect">
            <a:avLst/>
          </a:prstGeom>
          <a:noFill/>
          <a:ln w="9525">
            <a:noFill/>
            <a:miter lim="800000"/>
            <a:headEnd/>
            <a:tailEnd/>
          </a:ln>
        </p:spPr>
        <p:txBody>
          <a:bodyPr anchor="ctr">
            <a:spAutoFit/>
          </a:bodyPr>
          <a:lstStyle/>
          <a:p>
            <a:pPr algn="just" eaLnBrk="1" hangingPunct="1"/>
            <a:r>
              <a:rPr lang="en-US" sz="2400" i="0" baseline="0"/>
              <a:t>Playfair ciphers are block ciphers. The size of the block is </a:t>
            </a:r>
            <a:r>
              <a:rPr lang="en-US" sz="2400" baseline="0"/>
              <a:t>m</a:t>
            </a:r>
            <a:r>
              <a:rPr lang="en-US" sz="2400" i="0" baseline="0"/>
              <a:t> = 2. Two characters are encrypted together.</a:t>
            </a:r>
          </a:p>
        </p:txBody>
      </p:sp>
      <p:sp>
        <p:nvSpPr>
          <p:cNvPr id="4" name="Text Box 11"/>
          <p:cNvSpPr txBox="1">
            <a:spLocks noChangeArrowheads="1"/>
          </p:cNvSpPr>
          <p:nvPr/>
        </p:nvSpPr>
        <p:spPr bwMode="auto">
          <a:xfrm>
            <a:off x="152400" y="9906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5" name="Rectangle 12"/>
          <p:cNvSpPr>
            <a:spLocks noChangeArrowheads="1"/>
          </p:cNvSpPr>
          <p:nvPr/>
        </p:nvSpPr>
        <p:spPr bwMode="auto">
          <a:xfrm>
            <a:off x="228600" y="2895600"/>
            <a:ext cx="8839200" cy="1917700"/>
          </a:xfrm>
          <a:prstGeom prst="rect">
            <a:avLst/>
          </a:prstGeom>
          <a:noFill/>
          <a:ln w="9525">
            <a:noFill/>
            <a:miter lim="800000"/>
            <a:headEnd/>
            <a:tailEnd/>
          </a:ln>
        </p:spPr>
        <p:txBody>
          <a:bodyPr anchor="ctr">
            <a:spAutoFit/>
          </a:bodyPr>
          <a:lstStyle/>
          <a:p>
            <a:pPr algn="just" eaLnBrk="1" hangingPunct="1"/>
            <a:r>
              <a:rPr lang="en-US" sz="2400" i="0" baseline="0"/>
              <a:t>Hill ciphers are block ciphers. A block of plaintext, of size 2 or more is encrypted together using a single key (a matrix). In these ciphers, the value of each character in the ciphertext depends on</a:t>
            </a:r>
          </a:p>
          <a:p>
            <a:pPr algn="just" eaLnBrk="1" hangingPunct="1"/>
            <a:r>
              <a:rPr lang="en-US" sz="2400" i="0" baseline="0"/>
              <a:t>all the values of the characters in the plaintext. Although the key is made of </a:t>
            </a:r>
            <a:r>
              <a:rPr lang="en-US" sz="2400" baseline="0"/>
              <a:t>m</a:t>
            </a:r>
            <a:r>
              <a:rPr lang="en-US" sz="2400" i="0" baseline="0"/>
              <a:t> × </a:t>
            </a:r>
            <a:r>
              <a:rPr lang="en-US" sz="2400" baseline="0"/>
              <a:t>m</a:t>
            </a:r>
            <a:r>
              <a:rPr lang="en-US" sz="2400" i="0" baseline="0"/>
              <a:t> values, it is considered as a single key.</a:t>
            </a:r>
          </a:p>
        </p:txBody>
      </p:sp>
      <p:sp>
        <p:nvSpPr>
          <p:cNvPr id="6" name="Text Box 13"/>
          <p:cNvSpPr txBox="1">
            <a:spLocks noChangeArrowheads="1"/>
          </p:cNvSpPr>
          <p:nvPr/>
        </p:nvSpPr>
        <p:spPr bwMode="auto">
          <a:xfrm>
            <a:off x="152400" y="24384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7" name="Rectangle 14"/>
          <p:cNvSpPr>
            <a:spLocks noChangeArrowheads="1"/>
          </p:cNvSpPr>
          <p:nvPr/>
        </p:nvSpPr>
        <p:spPr bwMode="auto">
          <a:xfrm>
            <a:off x="152400" y="5457825"/>
            <a:ext cx="8839200" cy="1187450"/>
          </a:xfrm>
          <a:prstGeom prst="rect">
            <a:avLst/>
          </a:prstGeom>
          <a:noFill/>
          <a:ln w="9525">
            <a:noFill/>
            <a:miter lim="800000"/>
            <a:headEnd/>
            <a:tailEnd/>
          </a:ln>
        </p:spPr>
        <p:txBody>
          <a:bodyPr anchor="ctr">
            <a:spAutoFit/>
          </a:bodyPr>
          <a:lstStyle/>
          <a:p>
            <a:pPr algn="just" eaLnBrk="1" hangingPunct="1"/>
            <a:r>
              <a:rPr lang="en-US" sz="2400" i="0" baseline="0"/>
              <a:t>From the definition of the block cipher, it is clear that every block cipher is a polyalphabetic cipher because each character in a ciphertext block depends on all characters in the plaintext block.</a:t>
            </a:r>
          </a:p>
        </p:txBody>
      </p:sp>
      <p:sp>
        <p:nvSpPr>
          <p:cNvPr id="8" name="Text Box 15"/>
          <p:cNvSpPr txBox="1">
            <a:spLocks noChangeArrowheads="1"/>
          </p:cNvSpPr>
          <p:nvPr/>
        </p:nvSpPr>
        <p:spPr bwMode="auto">
          <a:xfrm>
            <a:off x="152400" y="4953000"/>
            <a:ext cx="1468672" cy="461665"/>
          </a:xfrm>
          <a:prstGeom prst="rect">
            <a:avLst/>
          </a:prstGeom>
          <a:solidFill>
            <a:schemeClr val="folHlink"/>
          </a:solidFill>
          <a:ln w="9525">
            <a:noFill/>
            <a:miter lim="800000"/>
            <a:headEnd/>
            <a:tailEnd/>
          </a:ln>
        </p:spPr>
        <p:txBody>
          <a:bodyPr wrap="none">
            <a:spAutoFit/>
          </a:bodyPr>
          <a:lstStyle/>
          <a:p>
            <a:r>
              <a:rPr lang="en-US" sz="2400" i="0" baseline="0" dirty="0">
                <a:solidFill>
                  <a:schemeClr val="bg1"/>
                </a:solidFill>
              </a:rPr>
              <a:t>Example </a:t>
            </a:r>
            <a:endParaRPr lang="en-US" sz="2000" baseline="0" dirty="0">
              <a:solidFill>
                <a:schemeClr val="bg1"/>
              </a:solidFill>
            </a:endParaRPr>
          </a:p>
        </p:txBody>
      </p:sp>
      <p:sp>
        <p:nvSpPr>
          <p:cNvPr id="9" name="Text Box 9"/>
          <p:cNvSpPr txBox="1">
            <a:spLocks noChangeArrowheads="1"/>
          </p:cNvSpPr>
          <p:nvPr/>
        </p:nvSpPr>
        <p:spPr bwMode="auto">
          <a:xfrm>
            <a:off x="457200" y="304800"/>
            <a:ext cx="2507418" cy="584775"/>
          </a:xfrm>
          <a:prstGeom prst="rect">
            <a:avLst/>
          </a:prstGeom>
          <a:noFill/>
          <a:ln w="9525">
            <a:noFill/>
            <a:miter lim="800000"/>
            <a:headEnd/>
            <a:tailEnd/>
          </a:ln>
        </p:spPr>
        <p:txBody>
          <a:bodyPr wrap="none">
            <a:spAutoFit/>
          </a:bodyPr>
          <a:lstStyle/>
          <a:p>
            <a:r>
              <a:rPr lang="en-US" sz="3200" baseline="0" dirty="0" smtClean="0">
                <a:solidFill>
                  <a:schemeClr val="hlink"/>
                </a:solidFill>
              </a:rPr>
              <a:t>    </a:t>
            </a:r>
            <a:r>
              <a:rPr lang="en-US" sz="3200" baseline="0" dirty="0"/>
              <a:t>Continued</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304800" y="1524000"/>
            <a:ext cx="8305800" cy="2308324"/>
          </a:xfrm>
          <a:prstGeom prst="rect">
            <a:avLst/>
          </a:prstGeom>
          <a:noFill/>
          <a:ln w="9525">
            <a:noFill/>
            <a:miter lim="800000"/>
            <a:headEnd/>
            <a:tailEnd/>
          </a:ln>
        </p:spPr>
        <p:txBody>
          <a:bodyPr wrap="square" anchor="ctr">
            <a:spAutoFit/>
          </a:bodyPr>
          <a:lstStyle/>
          <a:p>
            <a:pPr algn="just" eaLnBrk="1" hangingPunct="1"/>
            <a:r>
              <a:rPr lang="en-US" sz="2400" i="0" baseline="0" dirty="0"/>
              <a:t>In practice, blocks of plaintext are encrypted individually, but they use a stream of keys to encrypt the whole message block by block. In other words, the cipher is a block cipher when looking at the individual blocks, but it is a stream cipher when looking at the whole message considering each block as a single unit. </a:t>
            </a:r>
          </a:p>
        </p:txBody>
      </p:sp>
      <p:sp>
        <p:nvSpPr>
          <p:cNvPr id="3" name="Rectangle 2"/>
          <p:cNvSpPr/>
          <p:nvPr/>
        </p:nvSpPr>
        <p:spPr>
          <a:xfrm>
            <a:off x="457200" y="533400"/>
            <a:ext cx="3065263" cy="707886"/>
          </a:xfrm>
          <a:prstGeom prst="rect">
            <a:avLst/>
          </a:prstGeom>
        </p:spPr>
        <p:txBody>
          <a:bodyPr wrap="none">
            <a:spAutoFit/>
          </a:bodyPr>
          <a:lstStyle/>
          <a:p>
            <a:pPr lvl="0" eaLnBrk="0" hangingPunct="0"/>
            <a:r>
              <a:rPr kumimoji="0" lang="en-US" sz="4000" b="1" dirty="0">
                <a:solidFill>
                  <a:srgbClr val="FF0000"/>
                </a:solidFill>
                <a:latin typeface="Times New Roman" pitchFamily="18" charset="0"/>
                <a:ea typeface="+mn-ea"/>
              </a:rPr>
              <a:t>Combination</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1"/>
          <p:cNvSpPr txBox="1">
            <a:spLocks noChangeArrowheads="1"/>
          </p:cNvSpPr>
          <p:nvPr/>
        </p:nvSpPr>
        <p:spPr bwMode="auto">
          <a:xfrm>
            <a:off x="304800" y="231776"/>
            <a:ext cx="4419600" cy="1139825"/>
          </a:xfrm>
          <a:prstGeom prst="rect">
            <a:avLst/>
          </a:prstGeom>
          <a:noFill/>
          <a:ln w="9525">
            <a:noFill/>
            <a:round/>
            <a:headEnd/>
            <a:tailEnd/>
          </a:ln>
        </p:spPr>
        <p:txBody>
          <a:bodyPr anchor="ctr" anchorCtr="1"/>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dirty="0">
                <a:solidFill>
                  <a:srgbClr val="FF0000"/>
                </a:solidFill>
                <a:latin typeface="CMSS12"/>
                <a:ea typeface="MS PGothic" pitchFamily="34" charset="-128"/>
              </a:rPr>
              <a:t>Product Ciphers</a:t>
            </a:r>
          </a:p>
        </p:txBody>
      </p:sp>
      <p:sp>
        <p:nvSpPr>
          <p:cNvPr id="69635" name="Text Box 2"/>
          <p:cNvSpPr txBox="1">
            <a:spLocks noChangeArrowheads="1"/>
          </p:cNvSpPr>
          <p:nvPr/>
        </p:nvSpPr>
        <p:spPr bwMode="auto">
          <a:xfrm>
            <a:off x="438150" y="1390651"/>
            <a:ext cx="8229600" cy="3638549"/>
          </a:xfrm>
          <a:prstGeom prst="rect">
            <a:avLst/>
          </a:prstGeom>
          <a:noFill/>
          <a:ln w="9525">
            <a:noFill/>
            <a:round/>
            <a:headEnd/>
            <a:tailEnd/>
          </a:ln>
        </p:spPr>
        <p:txBody>
          <a:bodyPr/>
          <a:lstStyle/>
          <a:p>
            <a:pPr marL="341313" indent="-341313">
              <a:lnSpc>
                <a:spcPct val="90000"/>
              </a:lnSpc>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ciphers using substitutions or transpositions are not </a:t>
            </a:r>
            <a:r>
              <a:rPr lang="en-AU" sz="2000" dirty="0">
                <a:solidFill>
                  <a:srgbClr val="FF0000"/>
                </a:solidFill>
                <a:latin typeface="CMSS12"/>
                <a:ea typeface="MS PGothic" pitchFamily="34" charset="-128"/>
              </a:rPr>
              <a:t>secure because of language characteristics</a:t>
            </a:r>
          </a:p>
          <a:p>
            <a:pPr marL="341313" indent="-341313">
              <a:lnSpc>
                <a:spcPct val="90000"/>
              </a:lnSpc>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hence consider using several ciphers in </a:t>
            </a:r>
            <a:r>
              <a:rPr lang="en-AU" sz="2000" dirty="0">
                <a:solidFill>
                  <a:srgbClr val="FF0000"/>
                </a:solidFill>
                <a:latin typeface="CMSS12"/>
                <a:ea typeface="MS PGothic" pitchFamily="34" charset="-128"/>
              </a:rPr>
              <a:t>succession</a:t>
            </a:r>
            <a:r>
              <a:rPr lang="en-AU" sz="2000" dirty="0">
                <a:latin typeface="CMSS12"/>
                <a:ea typeface="MS PGothic" pitchFamily="34" charset="-128"/>
              </a:rPr>
              <a:t> to make harder, but: </a:t>
            </a:r>
          </a:p>
          <a:p>
            <a:pPr marL="741363" lvl="1" indent="-284163">
              <a:lnSpc>
                <a:spcPct val="90000"/>
              </a:lnSpc>
              <a:spcBef>
                <a:spcPts val="6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two substitutions make a more complex substitution </a:t>
            </a:r>
          </a:p>
          <a:p>
            <a:pPr marL="741363" lvl="1" indent="-284163">
              <a:lnSpc>
                <a:spcPct val="90000"/>
              </a:lnSpc>
              <a:spcBef>
                <a:spcPts val="6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two transpositions make more complex transposition </a:t>
            </a:r>
          </a:p>
          <a:p>
            <a:pPr marL="741363" lvl="1" indent="-284163">
              <a:lnSpc>
                <a:spcPct val="90000"/>
              </a:lnSpc>
              <a:spcBef>
                <a:spcPts val="6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sz="2000" dirty="0">
                <a:latin typeface="CMSS12"/>
                <a:ea typeface="MS PGothic" pitchFamily="34" charset="-128"/>
              </a:rPr>
              <a:t>but a substitution followed by a transposition makes a new much harder cipher </a:t>
            </a:r>
          </a:p>
          <a:p>
            <a:pPr marL="341313" indent="-341313">
              <a:lnSpc>
                <a:spcPct val="90000"/>
              </a:lnSpc>
              <a:spcBef>
                <a:spcPts val="7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this is bridge from classical to modern ciphers</a:t>
            </a:r>
          </a:p>
          <a:p>
            <a:pPr marL="341313" indent="-341313">
              <a:lnSpc>
                <a:spcPct val="90000"/>
              </a:lnSpc>
              <a:spcBef>
                <a:spcPts val="700"/>
              </a:spcBef>
              <a:buClr>
                <a:srgbClr val="5FAFFF"/>
              </a:buClr>
              <a:buSzPct val="80000"/>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AU" sz="2800" dirty="0">
              <a:latin typeface="Gill Sans MT" pitchFamily="34" charset="0"/>
              <a:ea typeface="MS PGothic" pitchFamily="34" charset="-128"/>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381000" y="304800"/>
            <a:ext cx="8458200" cy="639763"/>
          </a:xfrm>
        </p:spPr>
        <p:txBody>
          <a:bodyPr/>
          <a:lstStyle/>
          <a:p>
            <a:endParaRPr lang="en-US" smtClean="0"/>
          </a:p>
        </p:txBody>
      </p:sp>
      <p:sp>
        <p:nvSpPr>
          <p:cNvPr id="70659" name="Content Placeholder 2"/>
          <p:cNvSpPr>
            <a:spLocks noGrp="1"/>
          </p:cNvSpPr>
          <p:nvPr>
            <p:ph sz="quarter" idx="1"/>
          </p:nvPr>
        </p:nvSpPr>
        <p:spPr>
          <a:xfrm>
            <a:off x="381000" y="990600"/>
            <a:ext cx="8458200" cy="1371600"/>
          </a:xfrm>
        </p:spPr>
        <p:txBody>
          <a:bodyPr/>
          <a:lstStyle/>
          <a:p>
            <a:pPr>
              <a:buFontTx/>
              <a:buBlip>
                <a:blip r:embed="rId2"/>
              </a:buBlip>
            </a:pPr>
            <a:r>
              <a:rPr lang="en-US" smtClean="0">
                <a:solidFill>
                  <a:schemeClr val="tx1"/>
                </a:solidFill>
              </a:rPr>
              <a:t>The transposition cipher can be made significantly more secure by performing more than one stage of transposition. </a:t>
            </a:r>
            <a:r>
              <a:rPr lang="en-US" smtClean="0">
                <a:solidFill>
                  <a:srgbClr val="FF0000"/>
                </a:solidFill>
              </a:rPr>
              <a:t>If we apply previous mapping again:</a:t>
            </a:r>
          </a:p>
        </p:txBody>
      </p:sp>
      <p:pic>
        <p:nvPicPr>
          <p:cNvPr id="70660" name="Picture 2"/>
          <p:cNvPicPr>
            <a:picLocks noChangeAspect="1" noChangeArrowheads="1"/>
          </p:cNvPicPr>
          <p:nvPr/>
        </p:nvPicPr>
        <p:blipFill>
          <a:blip r:embed="rId3"/>
          <a:srcRect/>
          <a:stretch>
            <a:fillRect/>
          </a:stretch>
        </p:blipFill>
        <p:spPr bwMode="auto">
          <a:xfrm>
            <a:off x="2443498" y="2057400"/>
            <a:ext cx="4180804" cy="1600200"/>
          </a:xfrm>
          <a:prstGeom prst="rect">
            <a:avLst/>
          </a:prstGeom>
          <a:noFill/>
          <a:ln w="9525">
            <a:noFill/>
            <a:miter lim="800000"/>
            <a:headEnd/>
            <a:tailEnd/>
          </a:ln>
        </p:spPr>
      </p:pic>
      <p:sp>
        <p:nvSpPr>
          <p:cNvPr id="70661" name="Rectangle 4"/>
          <p:cNvSpPr>
            <a:spLocks noChangeArrowheads="1"/>
          </p:cNvSpPr>
          <p:nvPr/>
        </p:nvSpPr>
        <p:spPr bwMode="auto">
          <a:xfrm>
            <a:off x="685800" y="4038600"/>
            <a:ext cx="8153400" cy="646113"/>
          </a:xfrm>
          <a:prstGeom prst="rect">
            <a:avLst/>
          </a:prstGeom>
          <a:noFill/>
          <a:ln w="9525">
            <a:noFill/>
            <a:miter lim="800000"/>
            <a:headEnd/>
            <a:tailEnd/>
          </a:ln>
        </p:spPr>
        <p:txBody>
          <a:bodyPr>
            <a:spAutoFit/>
          </a:bodyPr>
          <a:lstStyle/>
          <a:p>
            <a:r>
              <a:rPr lang="en-US"/>
              <a:t>To visualize the result of this double transposition, designate the letters in the</a:t>
            </a:r>
          </a:p>
          <a:p>
            <a:r>
              <a:rPr lang="en-US"/>
              <a:t>original plaintext message by the numbers designating their position.</a:t>
            </a:r>
          </a:p>
        </p:txBody>
      </p:sp>
      <p:pic>
        <p:nvPicPr>
          <p:cNvPr id="70662" name="Picture 3"/>
          <p:cNvPicPr>
            <a:picLocks noChangeAspect="1" noChangeArrowheads="1"/>
          </p:cNvPicPr>
          <p:nvPr/>
        </p:nvPicPr>
        <p:blipFill>
          <a:blip r:embed="rId4"/>
          <a:srcRect/>
          <a:stretch>
            <a:fillRect/>
          </a:stretch>
        </p:blipFill>
        <p:spPr bwMode="auto">
          <a:xfrm>
            <a:off x="2285999" y="4953000"/>
            <a:ext cx="5533287" cy="68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381000" y="304800"/>
            <a:ext cx="8458200" cy="639763"/>
          </a:xfrm>
        </p:spPr>
        <p:txBody>
          <a:bodyPr/>
          <a:lstStyle/>
          <a:p>
            <a:endParaRPr lang="en-US" smtClean="0"/>
          </a:p>
        </p:txBody>
      </p:sp>
      <p:sp>
        <p:nvSpPr>
          <p:cNvPr id="71683" name="Content Placeholder 2"/>
          <p:cNvSpPr>
            <a:spLocks noGrp="1"/>
          </p:cNvSpPr>
          <p:nvPr>
            <p:ph sz="quarter" idx="1"/>
          </p:nvPr>
        </p:nvSpPr>
        <p:spPr>
          <a:xfrm>
            <a:off x="381000" y="990600"/>
            <a:ext cx="8458200" cy="609600"/>
          </a:xfrm>
        </p:spPr>
        <p:txBody>
          <a:bodyPr/>
          <a:lstStyle/>
          <a:p>
            <a:pPr>
              <a:buFontTx/>
              <a:buBlip>
                <a:blip r:embed="rId2"/>
              </a:buBlip>
            </a:pPr>
            <a:r>
              <a:rPr lang="en-US" smtClean="0"/>
              <a:t>After the first transposition, we have</a:t>
            </a:r>
          </a:p>
        </p:txBody>
      </p:sp>
      <p:pic>
        <p:nvPicPr>
          <p:cNvPr id="71684" name="Picture 2"/>
          <p:cNvPicPr>
            <a:picLocks noChangeAspect="1" noChangeArrowheads="1"/>
          </p:cNvPicPr>
          <p:nvPr/>
        </p:nvPicPr>
        <p:blipFill>
          <a:blip r:embed="rId3"/>
          <a:srcRect/>
          <a:stretch>
            <a:fillRect/>
          </a:stretch>
        </p:blipFill>
        <p:spPr bwMode="auto">
          <a:xfrm>
            <a:off x="1219200" y="1600200"/>
            <a:ext cx="5618163" cy="685800"/>
          </a:xfrm>
          <a:prstGeom prst="rect">
            <a:avLst/>
          </a:prstGeom>
          <a:noFill/>
          <a:ln w="9525">
            <a:noFill/>
            <a:miter lim="800000"/>
            <a:headEnd/>
            <a:tailEnd/>
          </a:ln>
        </p:spPr>
      </p:pic>
      <p:pic>
        <p:nvPicPr>
          <p:cNvPr id="71685" name="Picture 3"/>
          <p:cNvPicPr>
            <a:picLocks noChangeAspect="1" noChangeArrowheads="1"/>
          </p:cNvPicPr>
          <p:nvPr/>
        </p:nvPicPr>
        <p:blipFill>
          <a:blip r:embed="rId4"/>
          <a:srcRect/>
          <a:stretch>
            <a:fillRect/>
          </a:stretch>
        </p:blipFill>
        <p:spPr bwMode="auto">
          <a:xfrm>
            <a:off x="1219200" y="3886200"/>
            <a:ext cx="5581650" cy="685800"/>
          </a:xfrm>
          <a:prstGeom prst="rect">
            <a:avLst/>
          </a:prstGeom>
          <a:noFill/>
          <a:ln w="9525">
            <a:noFill/>
            <a:miter lim="800000"/>
            <a:headEnd/>
            <a:tailEnd/>
          </a:ln>
        </p:spPr>
      </p:pic>
      <p:sp>
        <p:nvSpPr>
          <p:cNvPr id="71686" name="Rectangle 5"/>
          <p:cNvSpPr>
            <a:spLocks noChangeArrowheads="1"/>
          </p:cNvSpPr>
          <p:nvPr/>
        </p:nvSpPr>
        <p:spPr bwMode="auto">
          <a:xfrm>
            <a:off x="609600" y="3048000"/>
            <a:ext cx="6088063" cy="461963"/>
          </a:xfrm>
          <a:prstGeom prst="rect">
            <a:avLst/>
          </a:prstGeom>
          <a:noFill/>
          <a:ln w="9525">
            <a:noFill/>
            <a:miter lim="800000"/>
            <a:headEnd/>
            <a:tailEnd/>
          </a:ln>
        </p:spPr>
        <p:txBody>
          <a:bodyPr wrap="none">
            <a:spAutoFit/>
          </a:bodyPr>
          <a:lstStyle/>
          <a:p>
            <a:r>
              <a:rPr lang="en-US" sz="2400">
                <a:solidFill>
                  <a:srgbClr val="0000FF"/>
                </a:solidFill>
              </a:rPr>
              <a:t>But after the second transposition, we have</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endParaRPr lang="en-US" smtClean="0"/>
          </a:p>
        </p:txBody>
      </p:sp>
      <p:sp>
        <p:nvSpPr>
          <p:cNvPr id="72707" name="Content Placeholder 2"/>
          <p:cNvSpPr>
            <a:spLocks noGrp="1"/>
          </p:cNvSpPr>
          <p:nvPr>
            <p:ph sz="quarter" idx="1"/>
          </p:nvPr>
        </p:nvSpPr>
        <p:spPr>
          <a:xfrm>
            <a:off x="457200" y="1676400"/>
            <a:ext cx="8229600" cy="1524000"/>
          </a:xfrm>
        </p:spPr>
        <p:txBody>
          <a:bodyPr/>
          <a:lstStyle/>
          <a:p>
            <a:pPr algn="just">
              <a:buFontTx/>
              <a:buBlip>
                <a:blip r:embed="rId2"/>
              </a:buBlip>
            </a:pPr>
            <a:r>
              <a:rPr lang="en-US" dirty="0" smtClean="0">
                <a:solidFill>
                  <a:schemeClr val="tx1"/>
                </a:solidFill>
                <a:latin typeface="Gill Sans MT" pitchFamily="34" charset="0"/>
              </a:rPr>
              <a:t>The example just given suggests that multiple stages of encryption can produce an algorithm that is significantly more difficult to cryptanalyze</a:t>
            </a:r>
          </a:p>
          <a:p>
            <a:pPr algn="just">
              <a:buFontTx/>
              <a:buBlip>
                <a:blip r:embed="rId2"/>
              </a:buBlip>
            </a:pPr>
            <a:r>
              <a:rPr lang="en-US" dirty="0" smtClean="0">
                <a:solidFill>
                  <a:schemeClr val="tx1"/>
                </a:solidFill>
                <a:latin typeface="Gill Sans MT" pitchFamily="34" charset="0"/>
              </a:rPr>
              <a:t>This is as true of substitution ciphers as it is of transposition ciphers.</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r>
              <a:rPr lang="en-US" dirty="0" smtClean="0"/>
              <a:t>S-box</a:t>
            </a:r>
          </a:p>
        </p:txBody>
      </p:sp>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6952593"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4582521"/>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r>
              <a:rPr lang="en-US" dirty="0"/>
              <a:t>P</a:t>
            </a:r>
            <a:r>
              <a:rPr lang="en-US" dirty="0" smtClean="0"/>
              <a:t>-box</a:t>
            </a:r>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38300"/>
            <a:ext cx="7684809"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096967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r>
              <a:rPr lang="en-US" dirty="0"/>
              <a:t>P</a:t>
            </a:r>
            <a:r>
              <a:rPr lang="en-US" smtClean="0"/>
              <a:t>-box</a:t>
            </a:r>
            <a:endParaRPr lang="en-US" dirty="0" smtClean="0"/>
          </a:p>
        </p:txBody>
      </p:sp>
      <p:pic>
        <p:nvPicPr>
          <p:cNvPr id="125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706581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878097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r>
              <a:rPr lang="en-US" dirty="0" smtClean="0"/>
              <a:t>Exclusive-OR</a:t>
            </a:r>
          </a:p>
        </p:txBody>
      </p:sp>
      <p:pic>
        <p:nvPicPr>
          <p:cNvPr id="1269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1447800"/>
            <a:ext cx="6681127"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1828205"/>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381000" y="457200"/>
            <a:ext cx="8458200" cy="639763"/>
          </a:xfrm>
        </p:spPr>
        <p:txBody>
          <a:bodyPr/>
          <a:lstStyle/>
          <a:p>
            <a:r>
              <a:rPr lang="en-US" dirty="0" smtClean="0"/>
              <a:t>Exclusive-OR</a:t>
            </a:r>
          </a:p>
        </p:txBody>
      </p:sp>
      <p:pic>
        <p:nvPicPr>
          <p:cNvPr id="128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24" y="1828800"/>
            <a:ext cx="6467901"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8526989"/>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381000" y="457200"/>
            <a:ext cx="8458200" cy="639763"/>
          </a:xfrm>
        </p:spPr>
        <p:txBody>
          <a:bodyPr/>
          <a:lstStyle/>
          <a:p>
            <a:r>
              <a:rPr lang="en-US" smtClean="0">
                <a:latin typeface="Gill Sans MT" pitchFamily="34" charset="0"/>
              </a:rPr>
              <a:t>Steganography &amp; Cryptography</a:t>
            </a:r>
          </a:p>
        </p:txBody>
      </p:sp>
      <p:sp>
        <p:nvSpPr>
          <p:cNvPr id="78851" name="Content Placeholder 2"/>
          <p:cNvSpPr>
            <a:spLocks noGrp="1"/>
          </p:cNvSpPr>
          <p:nvPr>
            <p:ph sz="quarter" idx="1"/>
          </p:nvPr>
        </p:nvSpPr>
        <p:spPr>
          <a:xfrm>
            <a:off x="457200" y="1447800"/>
            <a:ext cx="8458200" cy="2362200"/>
          </a:xfrm>
        </p:spPr>
        <p:txBody>
          <a:bodyPr/>
          <a:lstStyle/>
          <a:p>
            <a:pPr>
              <a:buFontTx/>
              <a:buBlip>
                <a:blip r:embed="rId2"/>
              </a:buBlip>
            </a:pPr>
            <a:r>
              <a:rPr lang="en-US" smtClean="0">
                <a:solidFill>
                  <a:schemeClr val="tx1"/>
                </a:solidFill>
                <a:latin typeface="Gill Sans MT" pitchFamily="34" charset="0"/>
              </a:rPr>
              <a:t>The methods of </a:t>
            </a:r>
            <a:r>
              <a:rPr lang="en-US" b="1" smtClean="0">
                <a:solidFill>
                  <a:srgbClr val="FF0000"/>
                </a:solidFill>
                <a:latin typeface="Gill Sans MT" pitchFamily="34" charset="0"/>
              </a:rPr>
              <a:t>steganography</a:t>
            </a:r>
            <a:r>
              <a:rPr lang="en-US" b="1" smtClean="0">
                <a:latin typeface="Gill Sans MT" pitchFamily="34" charset="0"/>
              </a:rPr>
              <a:t> conceal the existence of the message, whereas the methods of </a:t>
            </a:r>
            <a:r>
              <a:rPr lang="en-US" b="1" smtClean="0">
                <a:solidFill>
                  <a:srgbClr val="FF0000"/>
                </a:solidFill>
                <a:latin typeface="Gill Sans MT" pitchFamily="34" charset="0"/>
              </a:rPr>
              <a:t>cryptography </a:t>
            </a:r>
            <a:r>
              <a:rPr lang="en-US" smtClean="0">
                <a:solidFill>
                  <a:schemeClr val="tx1"/>
                </a:solidFill>
                <a:latin typeface="Gill Sans MT" pitchFamily="34" charset="0"/>
              </a:rPr>
              <a:t>render the </a:t>
            </a:r>
            <a:r>
              <a:rPr lang="en-US" smtClean="0">
                <a:solidFill>
                  <a:srgbClr val="FF0000"/>
                </a:solidFill>
                <a:latin typeface="Gill Sans MT" pitchFamily="34" charset="0"/>
              </a:rPr>
              <a:t>message unintelligible </a:t>
            </a:r>
            <a:r>
              <a:rPr lang="en-US" smtClean="0">
                <a:solidFill>
                  <a:schemeClr val="tx1"/>
                </a:solidFill>
                <a:latin typeface="Gill Sans MT" pitchFamily="34" charset="0"/>
              </a:rPr>
              <a:t>to outsiders by various transformations of the text</a:t>
            </a: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381000" y="457200"/>
            <a:ext cx="8458200" cy="639763"/>
          </a:xfrm>
        </p:spPr>
        <p:txBody>
          <a:bodyPr/>
          <a:lstStyle/>
          <a:p>
            <a:r>
              <a:rPr lang="en-US" smtClean="0">
                <a:latin typeface="Gill Sans MT" pitchFamily="34" charset="0"/>
              </a:rPr>
              <a:t>Steganography</a:t>
            </a:r>
          </a:p>
        </p:txBody>
      </p:sp>
      <p:sp>
        <p:nvSpPr>
          <p:cNvPr id="79875" name="Content Placeholder 2"/>
          <p:cNvSpPr>
            <a:spLocks noGrp="1"/>
          </p:cNvSpPr>
          <p:nvPr>
            <p:ph sz="quarter" idx="1"/>
          </p:nvPr>
        </p:nvSpPr>
        <p:spPr>
          <a:xfrm>
            <a:off x="457200" y="1219200"/>
            <a:ext cx="8458200" cy="4953000"/>
          </a:xfrm>
        </p:spPr>
        <p:txBody>
          <a:bodyPr>
            <a:normAutofit/>
          </a:bodyPr>
          <a:lstStyle/>
          <a:p>
            <a:pPr>
              <a:lnSpc>
                <a:spcPts val="2400"/>
              </a:lnSpc>
              <a:buFontTx/>
              <a:buBlip>
                <a:blip r:embed="rId2"/>
              </a:buBlip>
            </a:pPr>
            <a:r>
              <a:rPr lang="en-US" sz="2200" smtClean="0">
                <a:solidFill>
                  <a:srgbClr val="339933"/>
                </a:solidFill>
                <a:latin typeface="Gill Sans MT" pitchFamily="34" charset="0"/>
              </a:rPr>
              <a:t>Hide a real message in a fake, but meaningful, message</a:t>
            </a:r>
          </a:p>
          <a:p>
            <a:pPr>
              <a:lnSpc>
                <a:spcPts val="2400"/>
              </a:lnSpc>
              <a:buFontTx/>
              <a:buBlip>
                <a:blip r:embed="rId2"/>
              </a:buBlip>
            </a:pPr>
            <a:r>
              <a:rPr lang="en-US" sz="2200" smtClean="0">
                <a:solidFill>
                  <a:srgbClr val="339933"/>
                </a:solidFill>
                <a:latin typeface="Gill Sans MT" pitchFamily="34" charset="0"/>
              </a:rPr>
              <a:t>Assumes recipient knows the method of hiding</a:t>
            </a:r>
          </a:p>
          <a:p>
            <a:pPr>
              <a:lnSpc>
                <a:spcPts val="2400"/>
              </a:lnSpc>
              <a:buFontTx/>
              <a:buBlip>
                <a:blip r:embed="rId2"/>
              </a:buBlip>
            </a:pPr>
            <a:r>
              <a:rPr lang="en-US" sz="2200" smtClean="0">
                <a:solidFill>
                  <a:srgbClr val="339933"/>
                </a:solidFill>
                <a:latin typeface="Gill Sans MT" pitchFamily="34" charset="0"/>
              </a:rPr>
              <a:t>Examples:</a:t>
            </a:r>
          </a:p>
          <a:p>
            <a:pPr lvl="2">
              <a:lnSpc>
                <a:spcPts val="2400"/>
              </a:lnSpc>
              <a:buFontTx/>
              <a:buChar char="•"/>
            </a:pPr>
            <a:r>
              <a:rPr lang="en-US" smtClean="0">
                <a:solidFill>
                  <a:srgbClr val="C00000"/>
                </a:solidFill>
                <a:latin typeface="Gill Sans MT" pitchFamily="34" charset="0"/>
              </a:rPr>
              <a:t>Selected letters in a document are marked to form the hidden message</a:t>
            </a:r>
          </a:p>
          <a:p>
            <a:pPr lvl="2">
              <a:lnSpc>
                <a:spcPts val="2400"/>
              </a:lnSpc>
              <a:buFontTx/>
              <a:buChar char="•"/>
            </a:pPr>
            <a:r>
              <a:rPr lang="en-US" smtClean="0">
                <a:solidFill>
                  <a:srgbClr val="C00000"/>
                </a:solidFill>
                <a:latin typeface="Gill Sans MT" pitchFamily="34" charset="0"/>
              </a:rPr>
              <a:t>Invisible ink (letters only become visible when exposed to a chemical or heat)</a:t>
            </a:r>
          </a:p>
          <a:p>
            <a:pPr lvl="2">
              <a:lnSpc>
                <a:spcPts val="2400"/>
              </a:lnSpc>
              <a:buFontTx/>
              <a:buChar char="•"/>
            </a:pPr>
            <a:r>
              <a:rPr lang="en-US" smtClean="0">
                <a:solidFill>
                  <a:srgbClr val="C00000"/>
                </a:solidFill>
                <a:latin typeface="Gill Sans MT" pitchFamily="34" charset="0"/>
              </a:rPr>
              <a:t>Using selected bits in images or videos to carry the message</a:t>
            </a:r>
          </a:p>
          <a:p>
            <a:pPr>
              <a:lnSpc>
                <a:spcPts val="2400"/>
              </a:lnSpc>
              <a:buFontTx/>
              <a:buBlip>
                <a:blip r:embed="rId2"/>
              </a:buBlip>
            </a:pPr>
            <a:r>
              <a:rPr lang="en-US" sz="2200" smtClean="0">
                <a:solidFill>
                  <a:schemeClr val="tx1"/>
                </a:solidFill>
                <a:latin typeface="Gill Sans MT" pitchFamily="34" charset="0"/>
              </a:rPr>
              <a:t> Advantages</a:t>
            </a:r>
          </a:p>
          <a:p>
            <a:pPr lvl="1">
              <a:lnSpc>
                <a:spcPts val="2400"/>
              </a:lnSpc>
              <a:buFontTx/>
              <a:buChar char="–"/>
            </a:pPr>
            <a:r>
              <a:rPr lang="en-US" smtClean="0">
                <a:solidFill>
                  <a:srgbClr val="0000FF"/>
                </a:solidFill>
                <a:latin typeface="Gill Sans MT" pitchFamily="34" charset="0"/>
              </a:rPr>
              <a:t>Does not look like you are hiding anything</a:t>
            </a:r>
          </a:p>
          <a:p>
            <a:pPr>
              <a:lnSpc>
                <a:spcPts val="2400"/>
              </a:lnSpc>
              <a:buFontTx/>
              <a:buBlip>
                <a:blip r:embed="rId2"/>
              </a:buBlip>
            </a:pPr>
            <a:r>
              <a:rPr lang="en-US" sz="2200" smtClean="0">
                <a:solidFill>
                  <a:schemeClr val="tx1"/>
                </a:solidFill>
                <a:latin typeface="Gill Sans MT" pitchFamily="34" charset="0"/>
              </a:rPr>
              <a:t>Disadvantages</a:t>
            </a:r>
          </a:p>
          <a:p>
            <a:pPr lvl="1">
              <a:lnSpc>
                <a:spcPts val="2400"/>
              </a:lnSpc>
              <a:buFontTx/>
              <a:buBlip>
                <a:blip r:embed="rId2"/>
              </a:buBlip>
            </a:pPr>
            <a:r>
              <a:rPr lang="en-US" sz="1800" smtClean="0">
                <a:solidFill>
                  <a:srgbClr val="0000FF"/>
                </a:solidFill>
                <a:latin typeface="Gill Sans MT" pitchFamily="34" charset="0"/>
              </a:rPr>
              <a:t>Once attacker knows your method, everything is lost</a:t>
            </a:r>
          </a:p>
          <a:p>
            <a:pPr lvl="1">
              <a:lnSpc>
                <a:spcPts val="2400"/>
              </a:lnSpc>
              <a:buFontTx/>
              <a:buBlip>
                <a:blip r:embed="rId2"/>
              </a:buBlip>
            </a:pPr>
            <a:r>
              <a:rPr lang="en-US" smtClean="0">
                <a:solidFill>
                  <a:srgbClr val="0000FF"/>
                </a:solidFill>
                <a:latin typeface="Gill Sans MT" pitchFamily="34" charset="0"/>
              </a:rPr>
              <a:t>Can be ineffcient (need to send lot of information to carry small message)</a:t>
            </a: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381000" y="228600"/>
            <a:ext cx="8458200" cy="639763"/>
          </a:xfrm>
        </p:spPr>
        <p:txBody>
          <a:bodyPr/>
          <a:lstStyle/>
          <a:p>
            <a:r>
              <a:rPr lang="en-US" smtClean="0"/>
              <a:t>Steganography Example</a:t>
            </a:r>
          </a:p>
        </p:txBody>
      </p:sp>
      <p:sp>
        <p:nvSpPr>
          <p:cNvPr id="80899" name="Rectangle 4"/>
          <p:cNvSpPr>
            <a:spLocks noChangeArrowheads="1"/>
          </p:cNvSpPr>
          <p:nvPr/>
        </p:nvSpPr>
        <p:spPr bwMode="auto">
          <a:xfrm>
            <a:off x="533400" y="838200"/>
            <a:ext cx="7391400" cy="5805488"/>
          </a:xfrm>
          <a:prstGeom prst="rect">
            <a:avLst/>
          </a:prstGeom>
          <a:noFill/>
          <a:ln w="9525">
            <a:noFill/>
            <a:miter lim="800000"/>
            <a:headEnd/>
            <a:tailEnd/>
          </a:ln>
        </p:spPr>
        <p:txBody>
          <a:bodyPr>
            <a:spAutoFit/>
          </a:bodyPr>
          <a:lstStyle/>
          <a:p>
            <a:pPr algn="just">
              <a:lnSpc>
                <a:spcPts val="3200"/>
              </a:lnSpc>
            </a:pPr>
            <a:r>
              <a:rPr lang="en-US" sz="2000">
                <a:latin typeface="Gill Sans MT" pitchFamily="34" charset="0"/>
              </a:rPr>
              <a:t>Dear George,</a:t>
            </a:r>
          </a:p>
          <a:p>
            <a:pPr algn="just">
              <a:lnSpc>
                <a:spcPts val="3200"/>
              </a:lnSpc>
            </a:pPr>
            <a:r>
              <a:rPr lang="en-US" sz="2000">
                <a:latin typeface="Gill Sans MT" pitchFamily="34" charset="0"/>
              </a:rPr>
              <a:t>Greetings to all at Oxford. Many thanks for your</a:t>
            </a:r>
          </a:p>
          <a:p>
            <a:pPr algn="just">
              <a:lnSpc>
                <a:spcPts val="3200"/>
              </a:lnSpc>
            </a:pPr>
            <a:r>
              <a:rPr lang="en-US" sz="2000">
                <a:latin typeface="Gill Sans MT" pitchFamily="34" charset="0"/>
              </a:rPr>
              <a:t>letter and for the Summer examination package.</a:t>
            </a:r>
          </a:p>
          <a:p>
            <a:pPr algn="just">
              <a:lnSpc>
                <a:spcPts val="3200"/>
              </a:lnSpc>
            </a:pPr>
            <a:r>
              <a:rPr lang="en-US" sz="2000">
                <a:latin typeface="Gill Sans MT" pitchFamily="34" charset="0"/>
              </a:rPr>
              <a:t>All Entry Forms and Fee Forms should be ready</a:t>
            </a:r>
          </a:p>
          <a:p>
            <a:pPr algn="just">
              <a:lnSpc>
                <a:spcPts val="3200"/>
              </a:lnSpc>
            </a:pPr>
            <a:r>
              <a:rPr lang="en-US" sz="2000">
                <a:latin typeface="Gill Sans MT" pitchFamily="34" charset="0"/>
              </a:rPr>
              <a:t>for  final despatch to the Syndicate by Friday</a:t>
            </a:r>
          </a:p>
          <a:p>
            <a:pPr algn="just">
              <a:lnSpc>
                <a:spcPts val="3200"/>
              </a:lnSpc>
            </a:pPr>
            <a:r>
              <a:rPr lang="en-US" sz="2000">
                <a:latin typeface="Gill Sans MT" pitchFamily="34" charset="0"/>
              </a:rPr>
              <a:t>20th or at the very latest, I'm told, by the 21st.</a:t>
            </a:r>
          </a:p>
          <a:p>
            <a:pPr algn="just">
              <a:lnSpc>
                <a:spcPts val="3200"/>
              </a:lnSpc>
            </a:pPr>
            <a:r>
              <a:rPr lang="en-US" sz="2000">
                <a:latin typeface="Gill Sans MT" pitchFamily="34" charset="0"/>
              </a:rPr>
              <a:t>Admin has improved here, though there's room</a:t>
            </a:r>
          </a:p>
          <a:p>
            <a:pPr algn="just">
              <a:lnSpc>
                <a:spcPts val="3200"/>
              </a:lnSpc>
            </a:pPr>
            <a:r>
              <a:rPr lang="en-US" sz="2000">
                <a:latin typeface="Gill Sans MT" pitchFamily="34" charset="0"/>
              </a:rPr>
              <a:t>for improvement still; just give us all two or three</a:t>
            </a:r>
          </a:p>
          <a:p>
            <a:pPr algn="just">
              <a:lnSpc>
                <a:spcPts val="3200"/>
              </a:lnSpc>
            </a:pPr>
            <a:r>
              <a:rPr lang="en-US" sz="2000">
                <a:latin typeface="Gill Sans MT" pitchFamily="34" charset="0"/>
              </a:rPr>
              <a:t>more years and we'll really show you! Please</a:t>
            </a:r>
          </a:p>
          <a:p>
            <a:pPr algn="just">
              <a:lnSpc>
                <a:spcPts val="3200"/>
              </a:lnSpc>
            </a:pPr>
            <a:r>
              <a:rPr lang="en-US" sz="2000">
                <a:latin typeface="Gill Sans MT" pitchFamily="34" charset="0"/>
              </a:rPr>
              <a:t>don't let these wretched 16+ proposals destroy</a:t>
            </a:r>
          </a:p>
          <a:p>
            <a:pPr algn="just">
              <a:lnSpc>
                <a:spcPts val="3200"/>
              </a:lnSpc>
            </a:pPr>
            <a:r>
              <a:rPr lang="en-US" sz="2000">
                <a:latin typeface="Gill Sans MT" pitchFamily="34" charset="0"/>
              </a:rPr>
              <a:t>your basic O and A pattern. Certainly this</a:t>
            </a:r>
          </a:p>
          <a:p>
            <a:pPr algn="just">
              <a:lnSpc>
                <a:spcPts val="3200"/>
              </a:lnSpc>
            </a:pPr>
            <a:r>
              <a:rPr lang="en-US" sz="2000">
                <a:latin typeface="Gill Sans MT" pitchFamily="34" charset="0"/>
              </a:rPr>
              <a:t>sort of change, if implemented immediately,</a:t>
            </a:r>
          </a:p>
          <a:p>
            <a:pPr algn="just">
              <a:lnSpc>
                <a:spcPts val="3200"/>
              </a:lnSpc>
            </a:pPr>
            <a:r>
              <a:rPr lang="en-US" sz="2000">
                <a:latin typeface="Gill Sans MT" pitchFamily="34" charset="0"/>
              </a:rPr>
              <a:t>would bring chaos.</a:t>
            </a:r>
          </a:p>
          <a:p>
            <a:pPr algn="just">
              <a:lnSpc>
                <a:spcPts val="3200"/>
              </a:lnSpc>
            </a:pPr>
            <a:r>
              <a:rPr lang="en-US" sz="2000">
                <a:latin typeface="Gill Sans MT" pitchFamily="34" charset="0"/>
              </a:rPr>
              <a:t>Sincerely yours.</a:t>
            </a: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52800" y="3200400"/>
            <a:ext cx="2590800" cy="769441"/>
          </a:xfrm>
          <a:prstGeom prst="rect">
            <a:avLst/>
          </a:prstGeom>
          <a:noFill/>
        </p:spPr>
        <p:txBody>
          <a:bodyPr wrap="square" rtlCol="0">
            <a:spAutoFit/>
          </a:bodyPr>
          <a:lstStyle/>
          <a:p>
            <a:r>
              <a:rPr lang="en-US" sz="4400" dirty="0" smtClean="0"/>
              <a:t>Review</a:t>
            </a:r>
            <a:endParaRPr lang="en-US" sz="4400" dirty="0"/>
          </a:p>
        </p:txBody>
      </p:sp>
    </p:spTree>
    <p:extLst>
      <p:ext uri="{BB962C8B-B14F-4D97-AF65-F5344CB8AC3E}">
        <p14:creationId xmlns:p14="http://schemas.microsoft.com/office/powerpoint/2010/main" val="368352925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93510"/>
            <a:ext cx="721423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96" y="1676400"/>
            <a:ext cx="8229911"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791320"/>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53" y="1560095"/>
            <a:ext cx="8652543"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57200"/>
            <a:ext cx="41338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9994100"/>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95" y="176463"/>
            <a:ext cx="887930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5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177254"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2777293"/>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713" y="1604963"/>
            <a:ext cx="612457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468" y="464024"/>
            <a:ext cx="5038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588217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468" y="464024"/>
            <a:ext cx="5038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5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116" y="1295400"/>
            <a:ext cx="7693378"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751354061"/>
              </p:ext>
            </p:extLst>
          </p:nvPr>
        </p:nvGraphicFramePr>
        <p:xfrm>
          <a:off x="1061326" y="3733800"/>
          <a:ext cx="3200400" cy="2041844"/>
        </p:xfrm>
        <a:graphic>
          <a:graphicData uri="http://schemas.openxmlformats.org/drawingml/2006/table">
            <a:tbl>
              <a:tblPr firstRow="1" bandRow="1">
                <a:tableStyleId>{5C22544A-7EE6-4342-B048-85BDC9FD1C3A}</a:tableStyleId>
              </a:tblPr>
              <a:tblGrid>
                <a:gridCol w="1066800"/>
                <a:gridCol w="1066800"/>
                <a:gridCol w="1066800"/>
              </a:tblGrid>
              <a:tr h="510461">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r>
              <a:tr h="510461">
                <a:tc>
                  <a:txBody>
                    <a:bodyPr/>
                    <a:lstStyle/>
                    <a:p>
                      <a:r>
                        <a:rPr lang="en-US" dirty="0" smtClean="0"/>
                        <a:t>k1</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r>
              <a:tr h="510461">
                <a:tc>
                  <a:txBody>
                    <a:bodyPr/>
                    <a:lstStyle/>
                    <a:p>
                      <a:r>
                        <a:rPr lang="en-US" dirty="0" smtClean="0"/>
                        <a:t>k2</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r>
              <a:tr h="510461">
                <a:tc>
                  <a:txBody>
                    <a:bodyPr/>
                    <a:lstStyle/>
                    <a:p>
                      <a:r>
                        <a:rPr lang="en-US" dirty="0" smtClean="0"/>
                        <a:t>k3</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r>
            </a:tbl>
          </a:graphicData>
        </a:graphic>
      </p:graphicFrame>
      <p:pic>
        <p:nvPicPr>
          <p:cNvPr id="1105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254" y="3657600"/>
            <a:ext cx="2115545" cy="2056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6818532"/>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468" y="464024"/>
            <a:ext cx="5038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3838670072"/>
              </p:ext>
            </p:extLst>
          </p:nvPr>
        </p:nvGraphicFramePr>
        <p:xfrm>
          <a:off x="685800" y="1602108"/>
          <a:ext cx="3200400" cy="2041844"/>
        </p:xfrm>
        <a:graphic>
          <a:graphicData uri="http://schemas.openxmlformats.org/drawingml/2006/table">
            <a:tbl>
              <a:tblPr firstRow="1" bandRow="1">
                <a:tableStyleId>{5C22544A-7EE6-4342-B048-85BDC9FD1C3A}</a:tableStyleId>
              </a:tblPr>
              <a:tblGrid>
                <a:gridCol w="1066800"/>
                <a:gridCol w="1066800"/>
                <a:gridCol w="1066800"/>
              </a:tblGrid>
              <a:tr h="510461">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r>
              <a:tr h="510461">
                <a:tc>
                  <a:txBody>
                    <a:bodyPr/>
                    <a:lstStyle/>
                    <a:p>
                      <a:r>
                        <a:rPr lang="en-US" dirty="0" smtClean="0"/>
                        <a:t>k1</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r>
              <a:tr h="510461">
                <a:tc>
                  <a:txBody>
                    <a:bodyPr/>
                    <a:lstStyle/>
                    <a:p>
                      <a:r>
                        <a:rPr lang="en-US" dirty="0" smtClean="0"/>
                        <a:t>k2</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r>
              <a:tr h="510461">
                <a:tc>
                  <a:txBody>
                    <a:bodyPr/>
                    <a:lstStyle/>
                    <a:p>
                      <a:r>
                        <a:rPr lang="en-US" dirty="0" smtClean="0"/>
                        <a:t>k3</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r>
            </a:tbl>
          </a:graphicData>
        </a:graphic>
      </p:graphicFrame>
      <p:pic>
        <p:nvPicPr>
          <p:cNvPr id="1105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695" y="3657600"/>
            <a:ext cx="2115545" cy="2056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19" name="Picture 3"/>
          <p:cNvPicPr>
            <a:picLocks noChangeAspect="1" noChangeArrowheads="1"/>
          </p:cNvPicPr>
          <p:nvPr/>
        </p:nvPicPr>
        <p:blipFill>
          <a:blip r:embed="rId4">
            <a:biLevel thresh="75000"/>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4495800" y="1600200"/>
            <a:ext cx="4019333" cy="229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33393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1404938"/>
            <a:ext cx="749617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468" y="464024"/>
            <a:ext cx="50387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38227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05000"/>
            <a:ext cx="7202816"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208" y="381000"/>
            <a:ext cx="24384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81827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05000"/>
            <a:ext cx="813684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437" y="457200"/>
            <a:ext cx="49530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841878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189" y="1524000"/>
            <a:ext cx="6090616"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5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33400"/>
            <a:ext cx="49053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84743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
          <p:cNvSpPr txBox="1">
            <a:spLocks noChangeArrowheads="1"/>
          </p:cNvSpPr>
          <p:nvPr/>
        </p:nvSpPr>
        <p:spPr bwMode="auto">
          <a:xfrm>
            <a:off x="457200" y="277813"/>
            <a:ext cx="8382000" cy="788987"/>
          </a:xfrm>
          <a:prstGeom prst="rect">
            <a:avLst/>
          </a:prstGeom>
          <a:noFill/>
          <a:ln w="9525">
            <a:noFill/>
            <a:round/>
            <a:headEnd/>
            <a:tailEnd/>
          </a:ln>
        </p:spPr>
        <p:txBody>
          <a:bodyPr anchor="ctr" anchorCtr="1"/>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dirty="0">
                <a:solidFill>
                  <a:srgbClr val="FF0000"/>
                </a:solidFill>
                <a:latin typeface="CMSS12"/>
                <a:ea typeface="MS PGothic" pitchFamily="34" charset="-128"/>
              </a:rPr>
              <a:t>Summary</a:t>
            </a:r>
          </a:p>
        </p:txBody>
      </p:sp>
      <p:sp>
        <p:nvSpPr>
          <p:cNvPr id="81923" name="Text Box 2"/>
          <p:cNvSpPr txBox="1">
            <a:spLocks noChangeArrowheads="1"/>
          </p:cNvSpPr>
          <p:nvPr/>
        </p:nvSpPr>
        <p:spPr bwMode="auto">
          <a:xfrm>
            <a:off x="419100" y="1417638"/>
            <a:ext cx="8229600" cy="4953000"/>
          </a:xfrm>
          <a:prstGeom prst="rect">
            <a:avLst/>
          </a:prstGeom>
          <a:noFill/>
          <a:ln w="9525">
            <a:noFill/>
            <a:round/>
            <a:headEnd/>
            <a:tailEnd/>
          </a:ln>
        </p:spPr>
        <p:txBody>
          <a:bodyPr/>
          <a:lstStyle/>
          <a:p>
            <a:pPr marL="341313" indent="-341313">
              <a:spcBef>
                <a:spcPts val="800"/>
              </a:spcBef>
              <a:buClr>
                <a:srgbClr val="5FAFFF"/>
              </a:buClr>
              <a:buSzPct val="8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have considered:</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classical cipher techniques and terminology</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err="1">
                <a:latin typeface="CMSS12"/>
                <a:ea typeface="MS PGothic" pitchFamily="34" charset="-128"/>
              </a:rPr>
              <a:t>monoalphabetic</a:t>
            </a:r>
            <a:r>
              <a:rPr lang="en-US" sz="2000" dirty="0">
                <a:latin typeface="CMSS12"/>
                <a:ea typeface="MS PGothic" pitchFamily="34" charset="-128"/>
              </a:rPr>
              <a:t> substitution ciphers</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cryptanalysis using letter frequencies</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err="1">
                <a:latin typeface="CMSS12"/>
                <a:ea typeface="MS PGothic" pitchFamily="34" charset="-128"/>
              </a:rPr>
              <a:t>Playfair</a:t>
            </a:r>
            <a:r>
              <a:rPr lang="en-US" sz="2000" dirty="0">
                <a:latin typeface="CMSS12"/>
                <a:ea typeface="MS PGothic" pitchFamily="34" charset="-128"/>
              </a:rPr>
              <a:t> cipher</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polyalphabetic ciphers</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transposition ciphers</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product ciphers and rotor machines</a:t>
            </a:r>
          </a:p>
          <a:p>
            <a:pPr marL="741363" lvl="1" indent="-284163">
              <a:spcBef>
                <a:spcPts val="700"/>
              </a:spcBef>
              <a:buClr>
                <a:srgbClr val="D9D9FF"/>
              </a:buClr>
              <a:buSzPct val="5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latin typeface="CMSS12"/>
                <a:ea typeface="MS PGothic" pitchFamily="34" charset="-128"/>
              </a:rPr>
              <a:t>steganography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7566</TotalTime>
  <Words>6912</Words>
  <Application>Microsoft Office PowerPoint</Application>
  <PresentationFormat>On-screen Show (4:3)</PresentationFormat>
  <Paragraphs>789</Paragraphs>
  <Slides>164</Slides>
  <Notes>33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164</vt:i4>
      </vt:variant>
    </vt:vector>
  </HeadingPairs>
  <TitlesOfParts>
    <vt:vector size="167" baseType="lpstr">
      <vt:lpstr>Origin</vt:lpstr>
      <vt:lpstr>Worksheet</vt:lpstr>
      <vt:lpstr>Microsoft Excel 97-2003 Worksheet</vt:lpstr>
      <vt:lpstr>Classical Encryption Techniques</vt:lpstr>
      <vt:lpstr>Outline</vt:lpstr>
      <vt:lpstr>Cryptographic Algorithms</vt:lpstr>
      <vt:lpstr>Encryption for Confidentiality</vt:lpstr>
      <vt:lpstr>Model of Encryption for Confidentiality</vt:lpstr>
      <vt:lpstr>Model of Encryption for Confidentiality</vt:lpstr>
      <vt:lpstr>Model of Encryption for Confidentiality</vt:lpstr>
      <vt:lpstr>Terminology</vt:lpstr>
      <vt:lpstr>Symmetric Encryption</vt:lpstr>
      <vt:lpstr>Symmetric Cipher Model</vt:lpstr>
      <vt:lpstr>Requirements and assumptions</vt:lpstr>
      <vt:lpstr>Kerckhoff’s  principle</vt:lpstr>
      <vt:lpstr>Characterizing Cryptographic Systems</vt:lpstr>
      <vt:lpstr>PowerPoint Presentation</vt:lpstr>
      <vt:lpstr>Symmetric Key Encryption for Confidentiality</vt:lpstr>
      <vt:lpstr>Attacks</vt:lpstr>
      <vt:lpstr>Attacks on Block Ciphers</vt:lpstr>
      <vt:lpstr>Cryptanalysis and Brute-Force Attack</vt:lpstr>
      <vt:lpstr>Brute Force  Attack</vt:lpstr>
      <vt:lpstr>    Cryptanalysis</vt:lpstr>
      <vt:lpstr> Cryptanalysis (Cont.)</vt:lpstr>
      <vt:lpstr> Cryptanalysis (Cont.)</vt:lpstr>
      <vt:lpstr> Cryptanalysis (Cont.)</vt:lpstr>
      <vt:lpstr> Cryptanalysis (Cont.)</vt:lpstr>
      <vt:lpstr>Cryptanalysis: Summary</vt:lpstr>
      <vt:lpstr>Exercise</vt:lpstr>
      <vt:lpstr>Cryptography</vt:lpstr>
      <vt:lpstr>Measures of Security</vt:lpstr>
      <vt:lpstr>Motivation for cryptanalysts</vt:lpstr>
      <vt:lpstr>PowerPoint Presentation</vt:lpstr>
      <vt:lpstr>PowerPoint Presentation</vt:lpstr>
      <vt:lpstr>PowerPoint Presentation</vt:lpstr>
      <vt:lpstr>PowerPoint Presentation</vt:lpstr>
      <vt:lpstr>PowerPoint Presentation</vt:lpstr>
      <vt:lpstr>Additive Cipher</vt:lpstr>
      <vt:lpstr>Additive Cipher</vt:lpstr>
      <vt:lpstr>Additive Cipher</vt:lpstr>
      <vt:lpstr>PowerPoint Presentation</vt:lpstr>
      <vt:lpstr>PowerPoint Presentation</vt:lpstr>
      <vt:lpstr>Breaking the Caesar Cipher</vt:lpstr>
      <vt:lpstr>Substitution in other forms: Monoalphabetic Ciphers</vt:lpstr>
      <vt:lpstr>PowerPoint Presentation</vt:lpstr>
      <vt:lpstr>PowerPoint Presentation</vt:lpstr>
      <vt:lpstr>Attacks on Mono-alphabetic Ciphers</vt:lpstr>
      <vt:lpstr>PowerPoint Presentation</vt:lpstr>
      <vt:lpstr>PowerPoint Presentation</vt:lpstr>
      <vt:lpstr>Relative Frequency of Letters in English Text</vt:lpstr>
      <vt:lpstr>Breaking Monoalphabetic Substitution Cipher</vt:lpstr>
      <vt:lpstr>English Letter Frequencies</vt:lpstr>
      <vt:lpstr>Example cryptanalysis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Substitution: Other forms (Cont)</vt:lpstr>
      <vt:lpstr>Poly-alphabetic Ciphers</vt:lpstr>
      <vt:lpstr>PowerPoint Presentation</vt:lpstr>
      <vt:lpstr>PowerPoint Presentation</vt:lpstr>
      <vt:lpstr> Autokey Cipher</vt:lpstr>
      <vt:lpstr>PowerPoint Presentation</vt:lpstr>
      <vt:lpstr>Playfair Cipher</vt:lpstr>
      <vt:lpstr>Playfair Cipher</vt:lpstr>
      <vt:lpstr>Playfair Cipher</vt:lpstr>
      <vt:lpstr>PowerPoint Presentation</vt:lpstr>
      <vt:lpstr>PowerPoint Presentation</vt:lpstr>
      <vt:lpstr>PowerPoint Presentation</vt:lpstr>
      <vt:lpstr>PowerPoint Presentation</vt:lpstr>
      <vt:lpstr>PowerPoint Presentation</vt:lpstr>
      <vt:lpstr>Measuring Effectiveness of the Playfair and other ciphers</vt:lpstr>
      <vt:lpstr>Relative Frequency of Occurrence of Letters</vt:lpstr>
      <vt:lpstr>PowerPoint Presentation</vt:lpstr>
      <vt:lpstr>Playfair Cipher - Is it Breakable?</vt:lpstr>
      <vt:lpstr>Vigenere Cipher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Vigenere Cipher - Is it Breakable?</vt:lpstr>
      <vt:lpstr>PowerPoint Presentation</vt:lpstr>
      <vt:lpstr>PowerPoint Presentation</vt:lpstr>
      <vt:lpstr>PowerPoint Presentation</vt:lpstr>
      <vt:lpstr>PowerPoint Presentation</vt:lpstr>
      <vt:lpstr>Hill Cipher</vt:lpstr>
      <vt:lpstr>Matrix Operations</vt:lpstr>
      <vt:lpstr>Identity Matrix</vt:lpstr>
      <vt:lpstr>Matrix Transpose</vt:lpstr>
      <vt:lpstr>Symmetric Matrices</vt:lpstr>
      <vt:lpstr>Determinants</vt:lpstr>
      <vt:lpstr>Matrix Inverse</vt:lpstr>
      <vt:lpstr>Matrix Inverse (cont’d)</vt:lpstr>
      <vt:lpstr>PowerPoint Presentation</vt:lpstr>
      <vt:lpstr>PowerPoint Presentation</vt:lpstr>
      <vt:lpstr>PowerPoint Presentation</vt:lpstr>
      <vt:lpstr>PowerPoint Presentation</vt:lpstr>
      <vt:lpstr>The Hill Algorithm</vt:lpstr>
      <vt:lpstr>PowerPoint Presentation</vt:lpstr>
      <vt:lpstr>PowerPoint Presentation</vt:lpstr>
      <vt:lpstr>One Time Pad</vt:lpstr>
      <vt:lpstr>Continued</vt:lpstr>
      <vt:lpstr>PowerPoint Presentation</vt:lpstr>
      <vt:lpstr>Vernam Cipher</vt:lpstr>
      <vt:lpstr>PowerPoint Presentation</vt:lpstr>
      <vt:lpstr>PowerPoint Presentation</vt:lpstr>
      <vt:lpstr>Rotor Cipher</vt:lpstr>
      <vt:lpstr>PowerPoint Presentation</vt:lpstr>
      <vt:lpstr>Rotor machines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S-box</vt:lpstr>
      <vt:lpstr>P-box</vt:lpstr>
      <vt:lpstr>P-box</vt:lpstr>
      <vt:lpstr>Exclusive-OR</vt:lpstr>
      <vt:lpstr>Exclusive-OR</vt:lpstr>
      <vt:lpstr>Steganography &amp; Cryptography</vt:lpstr>
      <vt:lpstr>Steganography</vt:lpstr>
      <vt:lpstr>Steganography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ayaan</dc:creator>
  <cp:lastModifiedBy>PGRLAB-9</cp:lastModifiedBy>
  <cp:revision>222</cp:revision>
  <cp:lastPrinted>1601-01-01T00:00:00Z</cp:lastPrinted>
  <dcterms:created xsi:type="dcterms:W3CDTF">1601-01-01T00:00:00Z</dcterms:created>
  <dcterms:modified xsi:type="dcterms:W3CDTF">2022-02-11T04:01:03Z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