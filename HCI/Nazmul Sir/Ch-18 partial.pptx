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7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 autoAdjust="0"/>
    <p:restoredTop sz="94660"/>
  </p:normalViewPr>
  <p:slideViewPr>
    <p:cSldViewPr>
      <p:cViewPr varScale="1">
        <p:scale>
          <a:sx n="105" d="100"/>
          <a:sy n="105" d="100"/>
        </p:scale>
        <p:origin x="15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3F4B3-A27E-4A5E-9CDA-E811CB90742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0A5747-EA4A-4CC4-831B-EB5A56323B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06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87DD-279D-418E-AC3C-E650C49DE40A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ABE9-10E7-4E6B-88A2-B08E39477E7E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B4499-AC7A-450E-9529-DDA580FCB0D9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EB3C-9ECB-4EDC-A71A-DF2776A60315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FCAC-A694-4929-93FB-B45602863702}" type="datetime1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49CE2-180D-49F6-BB51-B969ECD3FE4B}" type="datetime1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B741-CDBB-4B95-8780-7CADF1E5EB7E}" type="datetime1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FB5-BBA3-4B07-9CBC-548337771E0F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E0EB-3839-4551-8714-663C80274F6C}" type="datetime1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CBD52-EE36-4E7A-A519-0877EDB4234C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C66B0-B0F9-4190-A242-BA5E245F513D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EDF04-5603-48BA-93C3-96F09DC7FEE9}" type="datetime1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/>
          </p:cNvSpPr>
          <p:nvPr/>
        </p:nvSpPr>
        <p:spPr>
          <a:xfrm>
            <a:off x="3147060" y="2272029"/>
            <a:ext cx="2774315" cy="6350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000">
                <a:solidFill>
                  <a:srgbClr val="2D005C"/>
                </a:solidFill>
                <a:latin typeface="Verdana"/>
                <a:cs typeface="Verdana"/>
              </a:rPr>
              <a:t>chapter</a:t>
            </a:r>
            <a:r>
              <a:rPr lang="en-US" sz="4000" spc="-130">
                <a:solidFill>
                  <a:srgbClr val="2D005C"/>
                </a:solidFill>
                <a:latin typeface="Verdana"/>
                <a:cs typeface="Verdana"/>
              </a:rPr>
              <a:t> </a:t>
            </a:r>
            <a:r>
              <a:rPr lang="en-US" sz="4000" spc="-25">
                <a:solidFill>
                  <a:srgbClr val="2D005C"/>
                </a:solidFill>
                <a:latin typeface="Verdana"/>
                <a:cs typeface="Verdana"/>
              </a:rPr>
              <a:t>18</a:t>
            </a:r>
            <a:endParaRPr lang="en-US" sz="4000" dirty="0">
              <a:latin typeface="Verdana"/>
              <a:cs typeface="Verdana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2748279" y="3336289"/>
            <a:ext cx="3648710" cy="158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85" marR="5080" indent="-375920">
              <a:lnSpc>
                <a:spcPct val="116100"/>
              </a:lnSpc>
              <a:spcBef>
                <a:spcPts val="100"/>
              </a:spcBef>
            </a:pPr>
            <a:r>
              <a:rPr sz="4400" dirty="0">
                <a:latin typeface="Comic Sans MS"/>
                <a:cs typeface="Comic Sans MS"/>
              </a:rPr>
              <a:t>modelling</a:t>
            </a:r>
            <a:r>
              <a:rPr sz="4400" spc="-50" dirty="0">
                <a:latin typeface="Comic Sans MS"/>
                <a:cs typeface="Comic Sans MS"/>
              </a:rPr>
              <a:t> </a:t>
            </a:r>
            <a:r>
              <a:rPr sz="4400" spc="-20" dirty="0">
                <a:latin typeface="Comic Sans MS"/>
                <a:cs typeface="Comic Sans MS"/>
              </a:rPr>
              <a:t>rich </a:t>
            </a:r>
            <a:r>
              <a:rPr sz="4400" spc="-10" dirty="0">
                <a:latin typeface="Comic Sans MS"/>
                <a:cs typeface="Comic Sans MS"/>
              </a:rPr>
              <a:t>interaction</a:t>
            </a:r>
            <a:endParaRPr sz="440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50818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689" y="403122"/>
            <a:ext cx="877283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18.1 Introduction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Main idea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Traditional HCI models - such as Norman’s execution - evaluation cycle - focus on discrete actions like “click a button” or “press a key.” But in modern systems, interaction is: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Continuous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(gesture movements, real-time video editing).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Multimodal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(voice + gesture, touch + haptic feedback).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Context-aware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(adapts to location, time, or user state).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modelling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is important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Breaks down complex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behaviour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into understandable components.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Predicts potential problems before development.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Supports communication between different stakeholders (designers, engineers, managers).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 scenario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Designing an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 navigation app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User points phone to street.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GPS + camera + orientation sensors combine input.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App overlays arrows in real-time.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Context: Sunlight glare, crowd movement, network speed — all impact interaction.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7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9103" y="762000"/>
            <a:ext cx="88392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18.2.1 The nature of status–event analysis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 way to model a system as a set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(conditions)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(changes).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this works well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Fits the way humans think about cause and effect.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Encourages designers to identify every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system can be in.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Makes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feedback gaps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visible.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principle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Every event should lead to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clear and observable status change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the user.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Design note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Missing or delayed feedback = confusion.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Status: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Printer ready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Printer busy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Event: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Print command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Print completed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Paper jam detected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9147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9103" y="673509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Scenario: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Brian checks his watch repeatedly. Alison checks her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calendar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9104" y="1295400"/>
            <a:ext cx="88391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Abstracted Properties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Watch → continuous status (time changes smoothly).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Calendar → discrete status (specific dates/events).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7:35 arrives (time event). Brian leaves (user action event). Watch alarm rings (system event). Alison notices birthday (perceptual event).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Polling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Brian repeatedly checks his watch. Turning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(time) into an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(7:35 reached).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Actual vs. Perceived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Actual event = 7:35 reached., Perceived event = when Brian notices (7:36).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Granularity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Watch → minutes scale.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Birthday → yearly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535" y="5562600"/>
            <a:ext cx="8991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Idea for HCI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Status and events interact differently depending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continuity, perception, and granularity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Users (and systems) may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poll, perceive, or miss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actual events.</a:t>
            </a:r>
          </a:p>
        </p:txBody>
      </p:sp>
    </p:spTree>
    <p:extLst>
      <p:ext uri="{BB962C8B-B14F-4D97-AF65-F5344CB8AC3E}">
        <p14:creationId xmlns:p14="http://schemas.microsoft.com/office/powerpoint/2010/main" val="33690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8600" y="335846"/>
            <a:ext cx="8487697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18.2.2 Design Implications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Idea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Applications create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events for users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presentation technique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must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match the timescale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the event.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Fast timescale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Critical events:</a:t>
            </a:r>
          </a:p>
          <a:p>
            <a:pPr lvl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Coolant failure in nuclear plant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needs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immediate alarm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(seconds).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Email would be too slow → catastrophic.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Slow timescale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Routine events:</a:t>
            </a:r>
          </a:p>
          <a:p>
            <a:pPr lvl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Stock of 6mm bolts low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reorder within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days/weeks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Red flashing alarm would be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overkill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Everyday mismatch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Brian’s cinema reminder (short-term) → alarm at 7:35 works well.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Alison’s birthday reminder (long-term) → alarm at noon is disruptive.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A calendar notification fits better.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Key Lessons for HCI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Wrong timing can be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dangerous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(too slow) or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annoying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(too fast).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Designers must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predict event timescales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choose suitable techniques: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Alarms/alerts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short timescales.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Calendars/schedules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long timescales.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Simply showing info ≠ user perceives it at the right time.</a:t>
            </a:r>
          </a:p>
        </p:txBody>
      </p:sp>
    </p:spTree>
    <p:extLst>
      <p:ext uri="{BB962C8B-B14F-4D97-AF65-F5344CB8AC3E}">
        <p14:creationId xmlns:p14="http://schemas.microsoft.com/office/powerpoint/2010/main" val="2525252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52400"/>
            <a:ext cx="8305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18.2.3 Naïve psychology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where the user will be looking, Position of mouse, screen, text insertion point</a:t>
            </a:r>
          </a:p>
        </p:txBody>
      </p:sp>
      <p:pic>
        <p:nvPicPr>
          <p:cNvPr id="2050" name="Picture 2" descr="C:\Users\Maj Nazmul\Desktop\1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16" y="1219200"/>
            <a:ext cx="7696200" cy="381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35686" y="5958348"/>
            <a:ext cx="563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18.2.5 Example – screen button feedback – Home Work</a:t>
            </a:r>
          </a:p>
        </p:txBody>
      </p:sp>
    </p:spTree>
    <p:extLst>
      <p:ext uri="{BB962C8B-B14F-4D97-AF65-F5344CB8AC3E}">
        <p14:creationId xmlns:p14="http://schemas.microsoft.com/office/powerpoint/2010/main" val="2972699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0890" y="152400"/>
            <a:ext cx="8686800" cy="6778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As an HCI analyst, you are tasked to model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rich interaction in MIST UNIPLEX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using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status–event analysis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apply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design implications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different timescales of events.</a:t>
            </a:r>
          </a:p>
          <a:p>
            <a:endParaRPr lang="en-US" sz="105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Tasks to do: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Identify statuses and events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UNIPLEX for at least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two scenarios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(a)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Assignment submission workflow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 result publication</a:t>
            </a:r>
          </a:p>
          <a:p>
            <a:pPr lvl="1"/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Draw a status–event diagram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each scenario.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 statuses: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Assignment Pending, Assignment Submitted, Deadline Passed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Example events: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Student uploads file, Deadline reached, Teacher releases grade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Analyze polling vs. event notification: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Do students need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poll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(check repeatedly) for results/assignments?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Or does the system generate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events/alerts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(e.g., push notifications, emails)?</a:t>
            </a:r>
          </a:p>
          <a:p>
            <a:pPr lvl="1"/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Discuss timing mismatches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(Design implications):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What happens if notifications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too slow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(e.g., assignment reminder comes after deadline)?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What happens if they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too fast or disruptive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(e.g., repeated alerts for every minor update)?</a:t>
            </a:r>
          </a:p>
          <a:p>
            <a:pPr lvl="1"/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Propose improvements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 UNIPLEX: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Suggest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better event presentation techniques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short-term (urgent) events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long-term (routine) events.</a:t>
            </a:r>
          </a:p>
        </p:txBody>
      </p:sp>
    </p:spTree>
    <p:extLst>
      <p:ext uri="{BB962C8B-B14F-4D97-AF65-F5344CB8AC3E}">
        <p14:creationId xmlns:p14="http://schemas.microsoft.com/office/powerpoint/2010/main" val="138979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0890" y="990600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Problem Statement: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Expected Outcomes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Students will demonstrate how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status–event analysis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simplifies complex workflows.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They will understand the importance of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matching notification techniques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timescale of events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They will propose design improvements to make MIST UNIPLEX more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user-friendly and efficient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073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743AED-7CD8-B4EF-C399-1EBAE57F9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C0432-68EB-4655-F91D-93C983A5807D}"/>
              </a:ext>
            </a:extLst>
          </p:cNvPr>
          <p:cNvSpPr txBox="1"/>
          <p:nvPr/>
        </p:nvSpPr>
        <p:spPr>
          <a:xfrm>
            <a:off x="609600" y="457200"/>
            <a:ext cx="7924800" cy="26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Assignment Submission Workflow in UNIPLEX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 – Teacher has uploaded assignment instructions, awaiting student submission.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Submitted – Student has uploaded file before deadline.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Approaching – Time is nearing submission cut-off.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Passed (No Submission) – Student missed submission.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Graded – Teacher evaluates and uploads marks/feedback.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Released – Student can view result.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F0F657-0C0E-069C-5D8A-84EE0E315F7F}"/>
              </a:ext>
            </a:extLst>
          </p:cNvPr>
          <p:cNvSpPr txBox="1"/>
          <p:nvPr/>
        </p:nvSpPr>
        <p:spPr>
          <a:xfrm>
            <a:off x="609600" y="3389618"/>
            <a:ext cx="7924800" cy="2474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uploads assignment → Status changes from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Assignment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sends reminder (X days before deadline) → Status remains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uploads assignment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Submitted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reached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Passed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grades submission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Submitted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Graded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publishes grade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Graded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Released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7127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9A32-4596-EBF5-6805-E3CEEAEE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55444A-F69C-5981-2CE2-D6FA823B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803DD-195A-75B6-A7F4-B0FAFF39D72B}"/>
              </a:ext>
            </a:extLst>
          </p:cNvPr>
          <p:cNvSpPr txBox="1"/>
          <p:nvPr/>
        </p:nvSpPr>
        <p:spPr>
          <a:xfrm>
            <a:off x="685800" y="457200"/>
            <a:ext cx="746760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Diagram (Text Form)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Assignment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(Teacher uploads assignment)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Pending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(Student uploads file) ----------------------→ Assignment Submitted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(Deadline reached without submission) → Deadline Passed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Submitted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(Teacher grades)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Graded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 (Grade released)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Released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235D9-0843-7574-31F4-FCBE542ADC36}"/>
              </a:ext>
            </a:extLst>
          </p:cNvPr>
          <p:cNvSpPr txBox="1"/>
          <p:nvPr/>
        </p:nvSpPr>
        <p:spPr>
          <a:xfrm>
            <a:off x="685800" y="3505200"/>
            <a:ext cx="74676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 vs. Event Notification</a:t>
            </a:r>
          </a:p>
          <a:p>
            <a:pPr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practice in UNIPLEX: Students often have to poll (log in repeatedly) to check assignment deadlines, submission confirmation, and grading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design: Introduce event notifications (push notification, SMS/email reminders).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deadline → Reminder alert.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submission → Confirmation alert.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grading → Grade release alert.</a:t>
            </a:r>
          </a:p>
        </p:txBody>
      </p:sp>
    </p:spTree>
    <p:extLst>
      <p:ext uri="{BB962C8B-B14F-4D97-AF65-F5344CB8AC3E}">
        <p14:creationId xmlns:p14="http://schemas.microsoft.com/office/powerpoint/2010/main" val="3571986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17FE9-B1A5-F667-1944-80480A96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6C3FD-F5BC-2392-1697-F039ED159EA8}"/>
              </a:ext>
            </a:extLst>
          </p:cNvPr>
          <p:cNvSpPr txBox="1"/>
          <p:nvPr/>
        </p:nvSpPr>
        <p:spPr>
          <a:xfrm>
            <a:off x="762000" y="381000"/>
            <a:ext cx="8077200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Implications (Timing Issues)</a:t>
            </a:r>
          </a:p>
          <a:p>
            <a:pPr algn="just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slow: Reminder arrives after deadline → Student misses submission.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fast/disruptive: Repeated alerts every few minutes → Annoying and distracting.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approach: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Short-term/urgent → Strong alerts (reminder 24h and 2h before deadline).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Long-term/routine → Calendar integration (assignment release dates, grading release).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83879-DE41-518A-F312-214E88F648C8}"/>
              </a:ext>
            </a:extLst>
          </p:cNvPr>
          <p:cNvSpPr txBox="1"/>
          <p:nvPr/>
        </p:nvSpPr>
        <p:spPr>
          <a:xfrm>
            <a:off x="737616" y="3172563"/>
            <a:ext cx="8077200" cy="19926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Improvements for UNIPLEX</a:t>
            </a:r>
          </a:p>
          <a:p>
            <a:pPr algn="just">
              <a:lnSpc>
                <a:spcPct val="15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 &amp; emails for deadlines and results.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confirmation receipt (so student knows file uploaded successfully).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sync with student device (Google/Outlook Calendar).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tracker dashboard showing assignment lifecycle (Pending → Submitted → Graded).</a:t>
            </a:r>
          </a:p>
        </p:txBody>
      </p:sp>
    </p:spTree>
    <p:extLst>
      <p:ext uri="{BB962C8B-B14F-4D97-AF65-F5344CB8AC3E}">
        <p14:creationId xmlns:p14="http://schemas.microsoft.com/office/powerpoint/2010/main" val="247136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7E0A1F-C2C3-5D07-D8D9-F69673CE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5C651-FF47-3866-9756-02159C8243EE}"/>
              </a:ext>
            </a:extLst>
          </p:cNvPr>
          <p:cNvSpPr txBox="1"/>
          <p:nvPr/>
        </p:nvSpPr>
        <p:spPr>
          <a:xfrm>
            <a:off x="685800" y="1143000"/>
            <a:ext cx="8267700" cy="29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Problem Statement: Attendance Workflow in UNIPLEX</a:t>
            </a:r>
          </a:p>
          <a:p>
            <a:pPr algn="just">
              <a:lnSpc>
                <a:spcPct val="15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asked to analyze how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managed in UNIPLEX using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diagram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the workflow.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whether attendance updates should rely on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attendance process more efficient and user-friendly.</a:t>
            </a:r>
          </a:p>
        </p:txBody>
      </p:sp>
    </p:spTree>
    <p:extLst>
      <p:ext uri="{BB962C8B-B14F-4D97-AF65-F5344CB8AC3E}">
        <p14:creationId xmlns:p14="http://schemas.microsoft.com/office/powerpoint/2010/main" val="1060670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E67F-5593-DD6F-5FD1-61815D638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E90C7D-5EF7-8BBC-7A85-016B657B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7A289-2DD9-0875-3CBB-A578C874A8E2}"/>
              </a:ext>
            </a:extLst>
          </p:cNvPr>
          <p:cNvSpPr txBox="1"/>
          <p:nvPr/>
        </p:nvSpPr>
        <p:spPr>
          <a:xfrm>
            <a:off x="647700" y="304800"/>
            <a:ext cx="8267700" cy="42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Problem Statement: Attendance Workflow in UNIPLEX</a:t>
            </a:r>
          </a:p>
          <a:p>
            <a:pPr algn="just">
              <a:lnSpc>
                <a:spcPct val="150000"/>
              </a:lnSpc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asked to analyze how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managed in UNIPLEX using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analysis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Scheduled, Attendance Pending, Attendance Marked, Attendance Missing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opens attendance sheet, Student marked present/absent, Attendance submitted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status–event diagram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the workflow.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whether attendance updates should rely on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(students checking manually) or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(system alerts).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attendance process more efficient and user-friendly.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Outcome: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understand how to apply status–event analysis to attendance and propose practical design enhancements.</a:t>
            </a:r>
          </a:p>
        </p:txBody>
      </p:sp>
    </p:spTree>
    <p:extLst>
      <p:ext uri="{BB962C8B-B14F-4D97-AF65-F5344CB8AC3E}">
        <p14:creationId xmlns:p14="http://schemas.microsoft.com/office/powerpoint/2010/main" val="69954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1445</Words>
  <Application>Microsoft Office PowerPoint</Application>
  <PresentationFormat>On-screen Show (4:3)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Comic Sans MS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 Nazmul</dc:creator>
  <cp:lastModifiedBy>Mobile Apps Lab 06</cp:lastModifiedBy>
  <cp:revision>26</cp:revision>
  <dcterms:created xsi:type="dcterms:W3CDTF">2006-08-16T00:00:00Z</dcterms:created>
  <dcterms:modified xsi:type="dcterms:W3CDTF">2025-09-10T06:00:40Z</dcterms:modified>
</cp:coreProperties>
</file>