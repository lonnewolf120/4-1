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9144000" cy="51435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iKt7zRxaSj9OJMuG2Km0gk6eRI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0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0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87307ec77_0_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887307ec77_0_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obj">
  <p:cSld name="OBJEC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1183804" y="1730981"/>
            <a:ext cx="6639559" cy="1122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2180054" y="3082516"/>
            <a:ext cx="4632959" cy="726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8"/>
          <p:cNvSpPr txBox="1"/>
          <p:nvPr>
            <p:ph idx="11" type="ftr"/>
          </p:nvPr>
        </p:nvSpPr>
        <p:spPr>
          <a:xfrm>
            <a:off x="73025" y="4910550"/>
            <a:ext cx="5245100" cy="224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384725" y="325956"/>
            <a:ext cx="7166609" cy="605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1" type="ftr"/>
          </p:nvPr>
        </p:nvSpPr>
        <p:spPr>
          <a:xfrm>
            <a:off x="73025" y="4910550"/>
            <a:ext cx="5245100" cy="224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0"/>
          <p:cNvSpPr txBox="1"/>
          <p:nvPr>
            <p:ph type="title"/>
          </p:nvPr>
        </p:nvSpPr>
        <p:spPr>
          <a:xfrm>
            <a:off x="384725" y="325956"/>
            <a:ext cx="7166609" cy="605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1" type="body"/>
          </p:nvPr>
        </p:nvSpPr>
        <p:spPr>
          <a:xfrm>
            <a:off x="481724" y="1094458"/>
            <a:ext cx="8276590" cy="3495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1" type="ftr"/>
          </p:nvPr>
        </p:nvSpPr>
        <p:spPr>
          <a:xfrm>
            <a:off x="73025" y="4910550"/>
            <a:ext cx="5245100" cy="224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1"/>
          <p:cNvSpPr txBox="1"/>
          <p:nvPr>
            <p:ph type="title"/>
          </p:nvPr>
        </p:nvSpPr>
        <p:spPr>
          <a:xfrm>
            <a:off x="384725" y="325956"/>
            <a:ext cx="7166609" cy="605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1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1" type="ftr"/>
          </p:nvPr>
        </p:nvSpPr>
        <p:spPr>
          <a:xfrm>
            <a:off x="73025" y="4910550"/>
            <a:ext cx="5245100" cy="224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2"/>
          <p:cNvSpPr txBox="1"/>
          <p:nvPr>
            <p:ph idx="11" type="ftr"/>
          </p:nvPr>
        </p:nvSpPr>
        <p:spPr>
          <a:xfrm>
            <a:off x="73025" y="4910550"/>
            <a:ext cx="5245100" cy="224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2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/>
          <p:nvPr/>
        </p:nvSpPr>
        <p:spPr>
          <a:xfrm>
            <a:off x="0" y="4896899"/>
            <a:ext cx="8595995" cy="247015"/>
          </a:xfrm>
          <a:custGeom>
            <a:rect b="b" l="l" r="r" t="t"/>
            <a:pathLst>
              <a:path extrusionOk="0" h="247014" w="8595995">
                <a:moveTo>
                  <a:pt x="8595899" y="246599"/>
                </a:moveTo>
                <a:lnTo>
                  <a:pt x="0" y="246599"/>
                </a:lnTo>
                <a:lnTo>
                  <a:pt x="0" y="0"/>
                </a:lnTo>
                <a:lnTo>
                  <a:pt x="8595899" y="0"/>
                </a:lnTo>
                <a:lnTo>
                  <a:pt x="8595899" y="246599"/>
                </a:lnTo>
                <a:close/>
              </a:path>
            </a:pathLst>
          </a:custGeom>
          <a:solidFill>
            <a:srgbClr val="0B539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7"/>
          <p:cNvSpPr/>
          <p:nvPr/>
        </p:nvSpPr>
        <p:spPr>
          <a:xfrm>
            <a:off x="0" y="4896899"/>
            <a:ext cx="8595995" cy="247015"/>
          </a:xfrm>
          <a:custGeom>
            <a:rect b="b" l="l" r="r" t="t"/>
            <a:pathLst>
              <a:path extrusionOk="0" h="247014" w="8595995">
                <a:moveTo>
                  <a:pt x="0" y="0"/>
                </a:moveTo>
                <a:lnTo>
                  <a:pt x="8595899" y="0"/>
                </a:lnTo>
                <a:lnTo>
                  <a:pt x="8595899" y="246599"/>
                </a:lnTo>
                <a:lnTo>
                  <a:pt x="0" y="24659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" name="Google Shape;8;p1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595975" y="4896899"/>
            <a:ext cx="548099" cy="24659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17"/>
          <p:cNvSpPr/>
          <p:nvPr/>
        </p:nvSpPr>
        <p:spPr>
          <a:xfrm>
            <a:off x="8595975" y="4896899"/>
            <a:ext cx="548640" cy="247015"/>
          </a:xfrm>
          <a:custGeom>
            <a:rect b="b" l="l" r="r" t="t"/>
            <a:pathLst>
              <a:path extrusionOk="0" h="247014" w="548640">
                <a:moveTo>
                  <a:pt x="0" y="0"/>
                </a:moveTo>
                <a:lnTo>
                  <a:pt x="548099" y="0"/>
                </a:lnTo>
                <a:lnTo>
                  <a:pt x="548099" y="246599"/>
                </a:lnTo>
                <a:lnTo>
                  <a:pt x="0" y="24659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17"/>
          <p:cNvSpPr txBox="1"/>
          <p:nvPr>
            <p:ph type="title"/>
          </p:nvPr>
        </p:nvSpPr>
        <p:spPr>
          <a:xfrm>
            <a:off x="384725" y="325956"/>
            <a:ext cx="7166609" cy="605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481724" y="1094458"/>
            <a:ext cx="8276590" cy="3495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1" type="ftr"/>
          </p:nvPr>
        </p:nvSpPr>
        <p:spPr>
          <a:xfrm>
            <a:off x="73025" y="4910550"/>
            <a:ext cx="5245100" cy="224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digi.com/blog/post/examples-of-embedded-systems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/>
          <p:cNvSpPr txBox="1"/>
          <p:nvPr>
            <p:ph type="ctrTitle"/>
          </p:nvPr>
        </p:nvSpPr>
        <p:spPr>
          <a:xfrm>
            <a:off x="1183804" y="1730981"/>
            <a:ext cx="6639559" cy="1122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551430" lvl="0" marL="256349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Analog Interfacing and Industrial Control</a:t>
            </a:r>
            <a:endParaRPr sz="3600"/>
          </a:p>
        </p:txBody>
      </p:sp>
      <p:sp>
        <p:nvSpPr>
          <p:cNvPr id="48" name="Google Shape;48;p1"/>
          <p:cNvSpPr txBox="1"/>
          <p:nvPr>
            <p:ph idx="1" type="subTitle"/>
          </p:nvPr>
        </p:nvSpPr>
        <p:spPr>
          <a:xfrm>
            <a:off x="2180049" y="3082525"/>
            <a:ext cx="5643300" cy="7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861060" lvl="0" marL="87312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0B5394"/>
                </a:solidFill>
              </a:rPr>
              <a:t>Course Name: Computer Interfacing </a:t>
            </a:r>
            <a:endParaRPr sz="2300">
              <a:solidFill>
                <a:srgbClr val="0B5394"/>
              </a:solidFill>
            </a:endParaRPr>
          </a:p>
          <a:p>
            <a:pPr indent="-861060" lvl="0" marL="873125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0B5394"/>
                </a:solidFill>
              </a:rPr>
              <a:t>Course Code: CSE-405</a:t>
            </a:r>
            <a:endParaRPr sz="2300"/>
          </a:p>
        </p:txBody>
      </p:sp>
      <p:grpSp>
        <p:nvGrpSpPr>
          <p:cNvPr id="49" name="Google Shape;49;p1"/>
          <p:cNvGrpSpPr/>
          <p:nvPr/>
        </p:nvGrpSpPr>
        <p:grpSpPr>
          <a:xfrm>
            <a:off x="0" y="4896899"/>
            <a:ext cx="9144615" cy="247015"/>
            <a:chOff x="0" y="4896899"/>
            <a:chExt cx="9144615" cy="247015"/>
          </a:xfrm>
        </p:grpSpPr>
        <p:sp>
          <p:nvSpPr>
            <p:cNvPr id="50" name="Google Shape;50;p1"/>
            <p:cNvSpPr/>
            <p:nvPr/>
          </p:nvSpPr>
          <p:spPr>
            <a:xfrm>
              <a:off x="0" y="4896899"/>
              <a:ext cx="8595995" cy="247015"/>
            </a:xfrm>
            <a:custGeom>
              <a:rect b="b" l="l" r="r" t="t"/>
              <a:pathLst>
                <a:path extrusionOk="0" h="247014" w="8595995">
                  <a:moveTo>
                    <a:pt x="8595899" y="246599"/>
                  </a:moveTo>
                  <a:lnTo>
                    <a:pt x="0" y="246599"/>
                  </a:lnTo>
                  <a:lnTo>
                    <a:pt x="0" y="0"/>
                  </a:lnTo>
                  <a:lnTo>
                    <a:pt x="8595899" y="0"/>
                  </a:lnTo>
                  <a:lnTo>
                    <a:pt x="8595899" y="246599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1"/>
            <p:cNvSpPr/>
            <p:nvPr/>
          </p:nvSpPr>
          <p:spPr>
            <a:xfrm>
              <a:off x="0" y="4896899"/>
              <a:ext cx="8595995" cy="247015"/>
            </a:xfrm>
            <a:custGeom>
              <a:rect b="b" l="l" r="r" t="t"/>
              <a:pathLst>
                <a:path extrusionOk="0" h="247014" w="8595995">
                  <a:moveTo>
                    <a:pt x="0" y="0"/>
                  </a:moveTo>
                  <a:lnTo>
                    <a:pt x="8595899" y="0"/>
                  </a:lnTo>
                  <a:lnTo>
                    <a:pt x="85958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2" name="Google Shape;52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595975" y="4896899"/>
              <a:ext cx="548099" cy="24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" name="Google Shape;53;p1"/>
            <p:cNvSpPr/>
            <p:nvPr/>
          </p:nvSpPr>
          <p:spPr>
            <a:xfrm>
              <a:off x="8595975" y="4896899"/>
              <a:ext cx="548640" cy="247015"/>
            </a:xfrm>
            <a:custGeom>
              <a:rect b="b" l="l" r="r" t="t"/>
              <a:pathLst>
                <a:path extrusionOk="0" h="247014" w="548640">
                  <a:moveTo>
                    <a:pt x="0" y="0"/>
                  </a:moveTo>
                  <a:lnTo>
                    <a:pt x="548099" y="0"/>
                  </a:lnTo>
                  <a:lnTo>
                    <a:pt x="5480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" name="Google Shape;54;p1"/>
          <p:cNvSpPr/>
          <p:nvPr/>
        </p:nvSpPr>
        <p:spPr>
          <a:xfrm>
            <a:off x="613974" y="2918099"/>
            <a:ext cx="8047355" cy="0"/>
          </a:xfrm>
          <a:custGeom>
            <a:rect b="b" l="l" r="r" t="t"/>
            <a:pathLst>
              <a:path extrusionOk="0" h="120000" w="8047355">
                <a:moveTo>
                  <a:pt x="0" y="0"/>
                </a:moveTo>
                <a:lnTo>
                  <a:pt x="8046899" y="0"/>
                </a:lnTo>
              </a:path>
            </a:pathLst>
          </a:custGeom>
          <a:noFill/>
          <a:ln cap="flat" cmpd="sng" w="3807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" name="Google Shape;55;p1"/>
          <p:cNvGrpSpPr/>
          <p:nvPr/>
        </p:nvGrpSpPr>
        <p:grpSpPr>
          <a:xfrm>
            <a:off x="217194" y="93299"/>
            <a:ext cx="1249300" cy="1173610"/>
            <a:chOff x="217194" y="93299"/>
            <a:chExt cx="1249300" cy="1173610"/>
          </a:xfrm>
        </p:grpSpPr>
        <p:pic>
          <p:nvPicPr>
            <p:cNvPr id="56" name="Google Shape;56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17194" y="97059"/>
              <a:ext cx="1249300" cy="1169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57;p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7225" y="93299"/>
              <a:ext cx="1134999" cy="10555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8" name="Google Shape;58;p1"/>
          <p:cNvSpPr txBox="1"/>
          <p:nvPr/>
        </p:nvSpPr>
        <p:spPr>
          <a:xfrm>
            <a:off x="4826671" y="65404"/>
            <a:ext cx="414147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525145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Military Institute of Science and Technology Department of Computer Science and Engineering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2"/>
          <p:cNvGrpSpPr/>
          <p:nvPr/>
        </p:nvGrpSpPr>
        <p:grpSpPr>
          <a:xfrm>
            <a:off x="0" y="-124"/>
            <a:ext cx="9144615" cy="5144039"/>
            <a:chOff x="0" y="-124"/>
            <a:chExt cx="9144615" cy="5144039"/>
          </a:xfrm>
        </p:grpSpPr>
        <p:sp>
          <p:nvSpPr>
            <p:cNvPr id="64" name="Google Shape;64;p2"/>
            <p:cNvSpPr/>
            <p:nvPr/>
          </p:nvSpPr>
          <p:spPr>
            <a:xfrm>
              <a:off x="4572000" y="-124"/>
              <a:ext cx="4572000" cy="5143500"/>
            </a:xfrm>
            <a:custGeom>
              <a:rect b="b" l="l" r="r" t="t"/>
              <a:pathLst>
                <a:path extrusionOk="0" h="5143500" w="4572000">
                  <a:moveTo>
                    <a:pt x="45719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571999" y="0"/>
                  </a:lnTo>
                  <a:lnTo>
                    <a:pt x="4571999" y="5143499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0" y="4896900"/>
              <a:ext cx="8595995" cy="247015"/>
            </a:xfrm>
            <a:custGeom>
              <a:rect b="b" l="l" r="r" t="t"/>
              <a:pathLst>
                <a:path extrusionOk="0" h="247014" w="8595995">
                  <a:moveTo>
                    <a:pt x="8595899" y="246599"/>
                  </a:moveTo>
                  <a:lnTo>
                    <a:pt x="0" y="246599"/>
                  </a:lnTo>
                  <a:lnTo>
                    <a:pt x="0" y="0"/>
                  </a:lnTo>
                  <a:lnTo>
                    <a:pt x="8595899" y="0"/>
                  </a:lnTo>
                  <a:lnTo>
                    <a:pt x="8595899" y="246599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0" y="4896900"/>
              <a:ext cx="8595995" cy="247015"/>
            </a:xfrm>
            <a:custGeom>
              <a:rect b="b" l="l" r="r" t="t"/>
              <a:pathLst>
                <a:path extrusionOk="0" h="247014" w="8595995">
                  <a:moveTo>
                    <a:pt x="0" y="0"/>
                  </a:moveTo>
                  <a:lnTo>
                    <a:pt x="8595899" y="0"/>
                  </a:lnTo>
                  <a:lnTo>
                    <a:pt x="85958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7" name="Google Shape;67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595975" y="4896900"/>
              <a:ext cx="548099" cy="24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" name="Google Shape;68;p2"/>
            <p:cNvSpPr/>
            <p:nvPr/>
          </p:nvSpPr>
          <p:spPr>
            <a:xfrm>
              <a:off x="8595975" y="4896900"/>
              <a:ext cx="548640" cy="247015"/>
            </a:xfrm>
            <a:custGeom>
              <a:rect b="b" l="l" r="r" t="t"/>
              <a:pathLst>
                <a:path extrusionOk="0" h="247014" w="548640">
                  <a:moveTo>
                    <a:pt x="0" y="0"/>
                  </a:moveTo>
                  <a:lnTo>
                    <a:pt x="548099" y="0"/>
                  </a:lnTo>
                  <a:lnTo>
                    <a:pt x="5480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" name="Google Shape;69;p2"/>
          <p:cNvSpPr txBox="1"/>
          <p:nvPr/>
        </p:nvSpPr>
        <p:spPr>
          <a:xfrm>
            <a:off x="5012525" y="2045844"/>
            <a:ext cx="3522979" cy="674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57200" lvl="0" marL="469900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1384D"/>
                </a:solidFill>
                <a:latin typeface="MS PGothic"/>
                <a:ea typeface="MS PGothic"/>
                <a:cs typeface="MS PGothic"/>
                <a:sym typeface="MS PGothic"/>
              </a:rPr>
              <a:t>❏	</a:t>
            </a:r>
            <a:r>
              <a:rPr lang="en-US" sz="1850">
                <a:latin typeface="Times New Roman"/>
                <a:ea typeface="Times New Roman"/>
                <a:cs typeface="Times New Roman"/>
                <a:sym typeface="Times New Roman"/>
              </a:rPr>
              <a:t>Microprocessor and Interfacing- Douglas V. Hall (Chapter 10)</a:t>
            </a:r>
            <a:endParaRPr sz="18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2"/>
          <p:cNvSpPr txBox="1"/>
          <p:nvPr>
            <p:ph type="title"/>
          </p:nvPr>
        </p:nvSpPr>
        <p:spPr>
          <a:xfrm>
            <a:off x="480644" y="1955634"/>
            <a:ext cx="3610610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Book Reference</a:t>
            </a:r>
            <a:endParaRPr sz="4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3"/>
          <p:cNvGrpSpPr/>
          <p:nvPr/>
        </p:nvGrpSpPr>
        <p:grpSpPr>
          <a:xfrm>
            <a:off x="0" y="0"/>
            <a:ext cx="9144615" cy="5143914"/>
            <a:chOff x="0" y="0"/>
            <a:chExt cx="9144615" cy="5143914"/>
          </a:xfrm>
        </p:grpSpPr>
        <p:pic>
          <p:nvPicPr>
            <p:cNvPr id="76" name="Google Shape;76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3999" cy="51434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" name="Google Shape;77;p3"/>
            <p:cNvSpPr/>
            <p:nvPr/>
          </p:nvSpPr>
          <p:spPr>
            <a:xfrm>
              <a:off x="0" y="4896899"/>
              <a:ext cx="8595995" cy="247015"/>
            </a:xfrm>
            <a:custGeom>
              <a:rect b="b" l="l" r="r" t="t"/>
              <a:pathLst>
                <a:path extrusionOk="0" h="247014" w="8595995">
                  <a:moveTo>
                    <a:pt x="8595899" y="246599"/>
                  </a:moveTo>
                  <a:lnTo>
                    <a:pt x="0" y="246599"/>
                  </a:lnTo>
                  <a:lnTo>
                    <a:pt x="0" y="0"/>
                  </a:lnTo>
                  <a:lnTo>
                    <a:pt x="8595899" y="0"/>
                  </a:lnTo>
                  <a:lnTo>
                    <a:pt x="8595899" y="246599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0" y="4896899"/>
              <a:ext cx="8595995" cy="247015"/>
            </a:xfrm>
            <a:custGeom>
              <a:rect b="b" l="l" r="r" t="t"/>
              <a:pathLst>
                <a:path extrusionOk="0" h="247014" w="8595995">
                  <a:moveTo>
                    <a:pt x="0" y="0"/>
                  </a:moveTo>
                  <a:lnTo>
                    <a:pt x="8595899" y="0"/>
                  </a:lnTo>
                  <a:lnTo>
                    <a:pt x="85958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9" name="Google Shape;79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95975" y="4896899"/>
              <a:ext cx="548099" cy="24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3"/>
            <p:cNvSpPr/>
            <p:nvPr/>
          </p:nvSpPr>
          <p:spPr>
            <a:xfrm>
              <a:off x="8595975" y="4896899"/>
              <a:ext cx="548640" cy="247015"/>
            </a:xfrm>
            <a:custGeom>
              <a:rect b="b" l="l" r="r" t="t"/>
              <a:pathLst>
                <a:path extrusionOk="0" h="247014" w="548640">
                  <a:moveTo>
                    <a:pt x="0" y="0"/>
                  </a:moveTo>
                  <a:lnTo>
                    <a:pt x="548099" y="0"/>
                  </a:lnTo>
                  <a:lnTo>
                    <a:pt x="5480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" name="Google Shape;81;p3"/>
          <p:cNvSpPr txBox="1"/>
          <p:nvPr>
            <p:ph type="title"/>
          </p:nvPr>
        </p:nvSpPr>
        <p:spPr>
          <a:xfrm>
            <a:off x="2397628" y="2217060"/>
            <a:ext cx="4348480" cy="680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Embedded System</a:t>
            </a:r>
            <a:endParaRPr sz="4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 txBox="1"/>
          <p:nvPr>
            <p:ph type="title"/>
          </p:nvPr>
        </p:nvSpPr>
        <p:spPr>
          <a:xfrm>
            <a:off x="384725" y="325956"/>
            <a:ext cx="7166609" cy="605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87" name="Google Shape;87;p4"/>
          <p:cNvSpPr txBox="1"/>
          <p:nvPr/>
        </p:nvSpPr>
        <p:spPr>
          <a:xfrm>
            <a:off x="238800" y="949400"/>
            <a:ext cx="8718000" cy="38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2700">
            <a:spAutoFit/>
          </a:bodyPr>
          <a:lstStyle/>
          <a:p>
            <a:pPr indent="-362585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50"/>
              <a:buFont typeface="Tahoma"/>
              <a:buChar char="●"/>
            </a:pPr>
            <a:r>
              <a:rPr lang="en-US" sz="1750">
                <a:latin typeface="Times New Roman"/>
                <a:ea typeface="Times New Roman"/>
                <a:cs typeface="Times New Roman"/>
                <a:sym typeface="Times New Roman"/>
              </a:rPr>
              <a:t>A computer hardware system having software embedded in it.</a:t>
            </a:r>
            <a:endParaRPr sz="17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3220" lvl="0" marL="469900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50"/>
              <a:buFont typeface="Tahoma"/>
              <a:buChar char="●"/>
            </a:pPr>
            <a:r>
              <a:rPr lang="en-US" sz="175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lang="en-US" sz="1750">
                <a:latin typeface="Times New Roman"/>
                <a:ea typeface="Times New Roman"/>
                <a:cs typeface="Times New Roman"/>
                <a:sym typeface="Times New Roman"/>
              </a:rPr>
              <a:t>microcontroller or microprocessor based system</a:t>
            </a:r>
            <a:r>
              <a:rPr lang="en-US" sz="1750">
                <a:latin typeface="Times New Roman"/>
                <a:ea typeface="Times New Roman"/>
                <a:cs typeface="Times New Roman"/>
                <a:sym typeface="Times New Roman"/>
              </a:rPr>
              <a:t> which is designed to</a:t>
            </a:r>
            <a:r>
              <a:rPr b="1" lang="en-US" sz="1750">
                <a:latin typeface="Times New Roman"/>
                <a:ea typeface="Times New Roman"/>
                <a:cs typeface="Times New Roman"/>
                <a:sym typeface="Times New Roman"/>
              </a:rPr>
              <a:t> perform a specific task.</a:t>
            </a:r>
            <a:endParaRPr b="1" sz="17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2585" lvl="0" marL="469265" rtl="0" algn="l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Tahoma"/>
              <a:buChar char="●"/>
            </a:pPr>
            <a:r>
              <a:rPr lang="en-US" sz="1750">
                <a:solidFill>
                  <a:srgbClr val="2125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either as an independent system or as a part of a large system.</a:t>
            </a:r>
            <a:endParaRPr sz="17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3220" lvl="0" marL="469900" marR="508634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Tahoma"/>
              <a:buChar char="●"/>
            </a:pPr>
            <a:r>
              <a:rPr lang="en-US" sz="1750">
                <a:solidFill>
                  <a:srgbClr val="2125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the core is an integrated circuit designed to carry out computation for </a:t>
            </a:r>
            <a:r>
              <a:rPr b="1" lang="en-US" sz="1750">
                <a:solidFill>
                  <a:srgbClr val="2125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operations.</a:t>
            </a:r>
            <a:endParaRPr b="1" sz="17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2585" lvl="0" marL="469265" rtl="0" algn="l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SzPts val="1750"/>
              <a:buFont typeface="Tahoma"/>
              <a:buChar char="●"/>
            </a:pPr>
            <a:r>
              <a:rPr lang="en-US" sz="1750">
                <a:latin typeface="Times New Roman"/>
                <a:ea typeface="Times New Roman"/>
                <a:cs typeface="Times New Roman"/>
                <a:sym typeface="Times New Roman"/>
              </a:rPr>
              <a:t>An embedded system has three components</a:t>
            </a:r>
            <a:endParaRPr sz="17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2584" lvl="1" marL="926464" rtl="0" algn="l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SzPts val="1750"/>
              <a:buFont typeface="Tahoma"/>
              <a:buChar char="○"/>
            </a:pPr>
            <a:r>
              <a:rPr lang="en-US" sz="1750">
                <a:latin typeface="Times New Roman"/>
                <a:ea typeface="Times New Roman"/>
                <a:cs typeface="Times New Roman"/>
                <a:sym typeface="Times New Roman"/>
              </a:rPr>
              <a:t>It has hardware.</a:t>
            </a:r>
            <a:endParaRPr sz="17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2584" lvl="1" marL="926464" rtl="0" algn="l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SzPts val="1750"/>
              <a:buFont typeface="Tahoma"/>
              <a:buChar char="○"/>
            </a:pPr>
            <a:r>
              <a:rPr lang="en-US" sz="1750">
                <a:latin typeface="Times New Roman"/>
                <a:ea typeface="Times New Roman"/>
                <a:cs typeface="Times New Roman"/>
                <a:sym typeface="Times New Roman"/>
              </a:rPr>
              <a:t>It has application software.</a:t>
            </a:r>
            <a:endParaRPr sz="17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3219" lvl="1" marL="927100" marR="127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50"/>
              <a:buFont typeface="Tahoma"/>
              <a:buChar char="○"/>
            </a:pPr>
            <a:r>
              <a:rPr lang="en-US" sz="1750">
                <a:latin typeface="Times New Roman"/>
                <a:ea typeface="Times New Roman"/>
                <a:cs typeface="Times New Roman"/>
                <a:sym typeface="Times New Roman"/>
              </a:rPr>
              <a:t>It has </a:t>
            </a:r>
            <a:r>
              <a:rPr b="1" lang="en-US" sz="1750">
                <a:latin typeface="Times New Roman"/>
                <a:ea typeface="Times New Roman"/>
                <a:cs typeface="Times New Roman"/>
                <a:sym typeface="Times New Roman"/>
              </a:rPr>
              <a:t>Real Time Operating system (RTOS)</a:t>
            </a:r>
            <a:r>
              <a:rPr lang="en-US" sz="1750">
                <a:latin typeface="Times New Roman"/>
                <a:ea typeface="Times New Roman"/>
                <a:cs typeface="Times New Roman"/>
                <a:sym typeface="Times New Roman"/>
              </a:rPr>
              <a:t> that defines the way the system works. </a:t>
            </a:r>
            <a:endParaRPr sz="17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3219" lvl="1" marL="927100" marR="127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50"/>
              <a:buFont typeface="Tahoma"/>
              <a:buChar char="○"/>
            </a:pPr>
            <a:r>
              <a:rPr lang="en-US" sz="1750">
                <a:latin typeface="Times New Roman"/>
                <a:ea typeface="Times New Roman"/>
                <a:cs typeface="Times New Roman"/>
                <a:sym typeface="Times New Roman"/>
              </a:rPr>
              <a:t>It sets the rules during the execution of application program.</a:t>
            </a:r>
            <a:endParaRPr sz="17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None/>
            </a:pPr>
            <a:r>
              <a:rPr lang="en-US" sz="1750" u="sng">
                <a:solidFill>
                  <a:srgbClr val="0097A7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https://www.digi.com/blog/post/examples-of-embedded-systems</a:t>
            </a:r>
            <a:endParaRPr sz="17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"/>
          <p:cNvSpPr txBox="1"/>
          <p:nvPr>
            <p:ph type="title"/>
          </p:nvPr>
        </p:nvSpPr>
        <p:spPr>
          <a:xfrm>
            <a:off x="384725" y="325956"/>
            <a:ext cx="7166609" cy="605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08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Basic Structure of An Embedded System</a:t>
            </a:r>
            <a:endParaRPr sz="2700"/>
          </a:p>
        </p:txBody>
      </p:sp>
      <p:pic>
        <p:nvPicPr>
          <p:cNvPr id="93" name="Google Shape;9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186075"/>
            <a:ext cx="8760474" cy="2668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"/>
          <p:cNvSpPr txBox="1"/>
          <p:nvPr>
            <p:ph type="title"/>
          </p:nvPr>
        </p:nvSpPr>
        <p:spPr>
          <a:xfrm>
            <a:off x="384725" y="325956"/>
            <a:ext cx="7166609" cy="605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08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Basic Structure of An Embedded System</a:t>
            </a:r>
            <a:endParaRPr sz="2700"/>
          </a:p>
        </p:txBody>
      </p:sp>
      <p:sp>
        <p:nvSpPr>
          <p:cNvPr id="99" name="Google Shape;99;p6"/>
          <p:cNvSpPr txBox="1"/>
          <p:nvPr>
            <p:ph idx="1" type="body"/>
          </p:nvPr>
        </p:nvSpPr>
        <p:spPr>
          <a:xfrm>
            <a:off x="481724" y="1094458"/>
            <a:ext cx="8276700" cy="37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5760" lvl="0" marL="377825" marR="5080" rtl="0" algn="just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Char char="●"/>
            </a:pPr>
            <a:r>
              <a:rPr lang="en-US"/>
              <a:t>Sensor: </a:t>
            </a:r>
            <a:r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It measures the </a:t>
            </a:r>
            <a:r>
              <a:rPr lang="en-US"/>
              <a:t>physical quantity and converts it to an electrical signal </a:t>
            </a:r>
            <a:r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which can be read by an observer or by any  </a:t>
            </a:r>
            <a:r>
              <a:rPr lang="en-US"/>
              <a:t>electronic instrument like an A/D</a:t>
            </a:r>
            <a:r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 converter. A sensor stores the measure</a:t>
            </a:r>
            <a:r>
              <a:rPr lang="en-US"/>
              <a:t>d quantity to the memory.</a:t>
            </a:r>
            <a:endParaRPr/>
          </a:p>
          <a:p>
            <a:pPr indent="-365760" lvl="0" marL="377825" marR="17780" rtl="0" algn="just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Char char="●"/>
            </a:pPr>
            <a:r>
              <a:rPr lang="en-US"/>
              <a:t>A-D Converter: </a:t>
            </a:r>
            <a:r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An analog-to-digital converter</a:t>
            </a:r>
            <a:r>
              <a:rPr lang="en-US"/>
              <a:t> converts the analog signal sent by the sensor</a:t>
            </a:r>
            <a:r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 into a digital signal.</a:t>
            </a:r>
            <a:endParaRPr/>
          </a:p>
          <a:p>
            <a:pPr indent="-365760" lvl="0" marL="377825" marR="33020" rtl="0" algn="just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Char char="●"/>
            </a:pPr>
            <a:r>
              <a:rPr lang="en-US"/>
              <a:t>Processor &amp; ASICs:  </a:t>
            </a:r>
            <a:r>
              <a:rPr lang="en-US"/>
              <a:t>Processors process the data to measure the output</a:t>
            </a:r>
            <a:r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 and store it to the memory.</a:t>
            </a:r>
            <a:endParaRPr/>
          </a:p>
          <a:p>
            <a:pPr indent="-365760" lvl="0" marL="377825" marR="54610" rtl="0" algn="just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Char char="●"/>
            </a:pPr>
            <a:r>
              <a:rPr lang="en-US"/>
              <a:t>D-A Converter: </a:t>
            </a:r>
            <a:r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/>
              <a:t>digital-to-analog converter converts the  digital data fed by the 	processor to analog data</a:t>
            </a:r>
            <a:endParaRPr/>
          </a:p>
          <a:p>
            <a:pPr indent="-365760" lvl="0" marL="377825" marR="30480" rtl="0" algn="just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Char char="●"/>
            </a:pPr>
            <a:r>
              <a:rPr lang="en-US"/>
              <a:t>Actuator: </a:t>
            </a:r>
            <a:r>
              <a:rPr b="0" lang="en-US"/>
              <a:t>An actuator converts an electrical signal into physical action (movement, heat, pressure, rotation, etc.). It executes commands from the processor to control the physical world.</a:t>
            </a:r>
            <a:endParaRPr b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7"/>
          <p:cNvGrpSpPr/>
          <p:nvPr/>
        </p:nvGrpSpPr>
        <p:grpSpPr>
          <a:xfrm>
            <a:off x="0" y="0"/>
            <a:ext cx="9144615" cy="5143914"/>
            <a:chOff x="0" y="0"/>
            <a:chExt cx="9144615" cy="5143914"/>
          </a:xfrm>
        </p:grpSpPr>
        <p:pic>
          <p:nvPicPr>
            <p:cNvPr id="105" name="Google Shape;105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3999" cy="51434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" name="Google Shape;106;p7"/>
            <p:cNvSpPr/>
            <p:nvPr/>
          </p:nvSpPr>
          <p:spPr>
            <a:xfrm>
              <a:off x="0" y="4896899"/>
              <a:ext cx="8595995" cy="247015"/>
            </a:xfrm>
            <a:custGeom>
              <a:rect b="b" l="l" r="r" t="t"/>
              <a:pathLst>
                <a:path extrusionOk="0" h="247014" w="8595995">
                  <a:moveTo>
                    <a:pt x="8595899" y="246599"/>
                  </a:moveTo>
                  <a:lnTo>
                    <a:pt x="0" y="246599"/>
                  </a:lnTo>
                  <a:lnTo>
                    <a:pt x="0" y="0"/>
                  </a:lnTo>
                  <a:lnTo>
                    <a:pt x="8595899" y="0"/>
                  </a:lnTo>
                  <a:lnTo>
                    <a:pt x="8595899" y="246599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7"/>
            <p:cNvSpPr/>
            <p:nvPr/>
          </p:nvSpPr>
          <p:spPr>
            <a:xfrm>
              <a:off x="0" y="4896899"/>
              <a:ext cx="8595995" cy="247015"/>
            </a:xfrm>
            <a:custGeom>
              <a:rect b="b" l="l" r="r" t="t"/>
              <a:pathLst>
                <a:path extrusionOk="0" h="247014" w="8595995">
                  <a:moveTo>
                    <a:pt x="0" y="0"/>
                  </a:moveTo>
                  <a:lnTo>
                    <a:pt x="8595899" y="0"/>
                  </a:lnTo>
                  <a:lnTo>
                    <a:pt x="85958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8" name="Google Shape;108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95975" y="4896899"/>
              <a:ext cx="548099" cy="24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" name="Google Shape;109;p7"/>
            <p:cNvSpPr/>
            <p:nvPr/>
          </p:nvSpPr>
          <p:spPr>
            <a:xfrm>
              <a:off x="8595975" y="4896899"/>
              <a:ext cx="548640" cy="247015"/>
            </a:xfrm>
            <a:custGeom>
              <a:rect b="b" l="l" r="r" t="t"/>
              <a:pathLst>
                <a:path extrusionOk="0" h="247014" w="548640">
                  <a:moveTo>
                    <a:pt x="0" y="0"/>
                  </a:moveTo>
                  <a:lnTo>
                    <a:pt x="548099" y="0"/>
                  </a:lnTo>
                  <a:lnTo>
                    <a:pt x="5480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" name="Google Shape;110;p7"/>
          <p:cNvSpPr txBox="1"/>
          <p:nvPr>
            <p:ph type="title"/>
          </p:nvPr>
        </p:nvSpPr>
        <p:spPr>
          <a:xfrm>
            <a:off x="2838223" y="2217050"/>
            <a:ext cx="5041800" cy="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D/A Converter</a:t>
            </a:r>
            <a:endParaRPr sz="4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"/>
          <p:cNvSpPr txBox="1"/>
          <p:nvPr>
            <p:ph type="title"/>
          </p:nvPr>
        </p:nvSpPr>
        <p:spPr>
          <a:xfrm>
            <a:off x="384725" y="325956"/>
            <a:ext cx="7166609" cy="605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9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D/A Converter: Operation</a:t>
            </a:r>
            <a:endParaRPr/>
          </a:p>
        </p:txBody>
      </p:sp>
      <p:sp>
        <p:nvSpPr>
          <p:cNvPr id="116" name="Google Shape;116;p8"/>
          <p:cNvSpPr txBox="1"/>
          <p:nvPr/>
        </p:nvSpPr>
        <p:spPr>
          <a:xfrm>
            <a:off x="418224" y="945190"/>
            <a:ext cx="8416800" cy="37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7029" lvl="0" marL="442594" marR="89916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Font typeface="Tahoma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The purpose of a Digital to Analog converter is to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convert a binary word to a proportional current or voltage.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7029" lvl="0" marL="442594" marR="569595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Font typeface="Tahoma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In a simple 4 bit D/A converter ,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inverting input of the circuit is referred to as the summing point.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6394" lvl="0" marL="442594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800"/>
              <a:buFont typeface="Tahoma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When one of the switches is closed,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 current will flow from -V to the summing point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6394" lvl="0" marL="442594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800"/>
              <a:buFont typeface="Tahoma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The equation of O/P voltage,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 V</a:t>
            </a:r>
            <a:r>
              <a:rPr b="1" baseline="-25000" lang="en-US" sz="1800">
                <a:latin typeface="Times New Roman"/>
                <a:ea typeface="Times New Roman"/>
                <a:cs typeface="Times New Roman"/>
                <a:sym typeface="Times New Roman"/>
              </a:rPr>
              <a:t>out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= - Rf/ R (V</a:t>
            </a:r>
            <a:r>
              <a:rPr b="1" baseline="-25000" lang="en-US" sz="1800">
                <a:latin typeface="Times New Roman"/>
                <a:ea typeface="Times New Roman"/>
                <a:cs typeface="Times New Roman"/>
                <a:sym typeface="Times New Roman"/>
              </a:rPr>
              <a:t>ref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6394" lvl="0" marL="442594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800"/>
              <a:buFont typeface="Tahoma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If we close the switch D0 ,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 V</a:t>
            </a:r>
            <a:r>
              <a:rPr b="1" baseline="-25000" lang="en-US" sz="1800">
                <a:latin typeface="Times New Roman"/>
                <a:ea typeface="Times New Roman"/>
                <a:cs typeface="Times New Roman"/>
                <a:sym typeface="Times New Roman"/>
              </a:rPr>
              <a:t>out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= - 10/ 100(-5) = 0.5 V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6394" lvl="0" marL="442594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800"/>
              <a:buFont typeface="Tahoma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If we close the switch D0 &amp; D1 ,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 V</a:t>
            </a:r>
            <a:r>
              <a:rPr b="1" baseline="-25000" lang="en-US" sz="1800">
                <a:latin typeface="Times New Roman"/>
                <a:ea typeface="Times New Roman"/>
                <a:cs typeface="Times New Roman"/>
                <a:sym typeface="Times New Roman"/>
              </a:rPr>
              <a:t>out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= - 10/ 33.33(-5) = 1.5 V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7029" lvl="0" marL="442594" marR="812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Font typeface="Tahoma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The point here is that,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binary weighted resistors produce currents	which are summed by the op amp to produce a proportional output voltage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7029" lvl="0" marL="442594" marR="939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Font typeface="Tahoma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The heart of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a D/A converter is a set of binary weighted current sources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which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can be switched on or off according to a binary word applied to its input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"/>
          <p:cNvSpPr txBox="1"/>
          <p:nvPr>
            <p:ph type="title"/>
          </p:nvPr>
        </p:nvSpPr>
        <p:spPr>
          <a:xfrm>
            <a:off x="384725" y="325956"/>
            <a:ext cx="7166609" cy="605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D/A Converter</a:t>
            </a:r>
            <a:endParaRPr/>
          </a:p>
        </p:txBody>
      </p:sp>
      <p:pic>
        <p:nvPicPr>
          <p:cNvPr id="122" name="Google Shape;12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1825" y="1054400"/>
            <a:ext cx="5216024" cy="292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"/>
          <p:cNvSpPr txBox="1"/>
          <p:nvPr>
            <p:ph type="title"/>
          </p:nvPr>
        </p:nvSpPr>
        <p:spPr>
          <a:xfrm>
            <a:off x="384725" y="478350"/>
            <a:ext cx="63258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D/A Converter: Characteristics</a:t>
            </a:r>
            <a:endParaRPr/>
          </a:p>
        </p:txBody>
      </p:sp>
      <p:sp>
        <p:nvSpPr>
          <p:cNvPr id="128" name="Google Shape;128;p10"/>
          <p:cNvSpPr txBox="1"/>
          <p:nvPr/>
        </p:nvSpPr>
        <p:spPr>
          <a:xfrm>
            <a:off x="481575" y="1408326"/>
            <a:ext cx="7302600" cy="30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2225">
            <a:spAutoFit/>
          </a:bodyPr>
          <a:lstStyle/>
          <a:p>
            <a:pPr indent="0" lvl="0" marL="5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Resolution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6395" lvl="0" marL="507365" rtl="0" algn="l">
              <a:lnSpc>
                <a:spcPct val="100000"/>
              </a:lnSpc>
              <a:spcBef>
                <a:spcPts val="1025"/>
              </a:spcBef>
              <a:spcAft>
                <a:spcPts val="0"/>
              </a:spcAft>
              <a:buSzPts val="1800"/>
              <a:buFont typeface="Tahoma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This is determined by the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number of bits in the input binary word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6395" lvl="0" marL="507365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800"/>
              <a:buFont typeface="Tahoma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 converter with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8 binary inputs has 2</a:t>
            </a:r>
            <a:r>
              <a:rPr b="1" baseline="30000" lang="en-US" sz="1800">
                <a:latin typeface="Times New Roman"/>
                <a:ea typeface="Times New Roman"/>
                <a:cs typeface="Times New Roman"/>
                <a:sym typeface="Times New Roman"/>
              </a:rPr>
              <a:t>8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output levels.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6395" lvl="0" marL="507365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800"/>
              <a:buFont typeface="Tahoma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Thus its resolution is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1 part in 256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0800" rtl="0" algn="l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6395" lvl="0" marL="507365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800"/>
              <a:buFont typeface="Tahoma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12 bit converter has a resolution of 1 part in 2</a:t>
            </a:r>
            <a:r>
              <a:rPr baseline="30000" lang="en-US" sz="1800">
                <a:latin typeface="Times New Roman"/>
                <a:ea typeface="Times New Roman"/>
                <a:cs typeface="Times New Roman"/>
                <a:sym typeface="Times New Roman"/>
              </a:rPr>
              <a:t>12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or 4096.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6395" lvl="0" marL="507365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800"/>
              <a:buFont typeface="Tahoma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Resolution is sometimes expressed in percentage.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7030" lvl="0" marL="508000" marR="558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Font typeface="Tahoma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The resolution of an 8 bit converter can be expressed as a percentage is (1/256)*100 percent or 0.39 percent.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"/>
          <p:cNvSpPr txBox="1"/>
          <p:nvPr>
            <p:ph type="title"/>
          </p:nvPr>
        </p:nvSpPr>
        <p:spPr>
          <a:xfrm>
            <a:off x="384725" y="402150"/>
            <a:ext cx="68262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D/A Converter: Characteristics</a:t>
            </a:r>
            <a:endParaRPr/>
          </a:p>
        </p:txBody>
      </p:sp>
      <p:sp>
        <p:nvSpPr>
          <p:cNvPr id="134" name="Google Shape;134;p11"/>
          <p:cNvSpPr txBox="1"/>
          <p:nvPr/>
        </p:nvSpPr>
        <p:spPr>
          <a:xfrm>
            <a:off x="467400" y="846450"/>
            <a:ext cx="8750700" cy="11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2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1F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scale output voltage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7030" lvl="0" marL="469900" marR="5080" rtl="0" algn="l">
              <a:lnSpc>
                <a:spcPct val="114999"/>
              </a:lnSpc>
              <a:spcBef>
                <a:spcPts val="700"/>
              </a:spcBef>
              <a:spcAft>
                <a:spcPts val="0"/>
              </a:spcAft>
              <a:buSzPts val="1800"/>
              <a:buFont typeface="Tahoma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The maximum output voltage of a converter will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always have a value 1 least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5080" rtl="0" algn="l">
              <a:lnSpc>
                <a:spcPct val="114999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significant bit less than the named value.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11"/>
          <p:cNvSpPr txBox="1"/>
          <p:nvPr/>
        </p:nvSpPr>
        <p:spPr>
          <a:xfrm>
            <a:off x="467400" y="1970666"/>
            <a:ext cx="8366759" cy="1780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2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125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6395" lvl="0" marL="469265" rtl="0" algn="l">
              <a:lnSpc>
                <a:spcPct val="100000"/>
              </a:lnSpc>
              <a:spcBef>
                <a:spcPts val="1025"/>
              </a:spcBef>
              <a:spcAft>
                <a:spcPts val="0"/>
              </a:spcAft>
              <a:buSzPts val="1800"/>
              <a:buFont typeface="Tahoma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12 bit, 10-V converter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6395" lvl="0" marL="469265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800"/>
              <a:buFont typeface="Tahoma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The value of 1 LSB = (10V)/4096 = 2.44mV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6395" lvl="0" marL="469265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800"/>
              <a:buFont typeface="Tahoma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The highest voltage output for the converter when it is properly adjusted will then be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: (10 – 0.0024)V or 9.9976V.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887307ec77_0_0"/>
          <p:cNvSpPr txBox="1"/>
          <p:nvPr>
            <p:ph type="title"/>
          </p:nvPr>
        </p:nvSpPr>
        <p:spPr>
          <a:xfrm>
            <a:off x="384725" y="402150"/>
            <a:ext cx="68262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D/A Converter: Characteristics</a:t>
            </a:r>
            <a:endParaRPr/>
          </a:p>
        </p:txBody>
      </p:sp>
      <p:sp>
        <p:nvSpPr>
          <p:cNvPr id="141" name="Google Shape;141;g3887307ec77_0_0"/>
          <p:cNvSpPr txBox="1"/>
          <p:nvPr/>
        </p:nvSpPr>
        <p:spPr>
          <a:xfrm>
            <a:off x="388650" y="1015666"/>
            <a:ext cx="8366700" cy="26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2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125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Q) An n bit D/A converter has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 full scale output of 5V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But actually it is 4.6875V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what is the value of n?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A) Actual output = full scale output - (full scale output / 2^n) 4.6875 = 5 - 5/(2^n)-1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325"/>
              </a:spcBef>
              <a:spcAft>
                <a:spcPts val="0"/>
              </a:spcAft>
              <a:buSzPts val="1800"/>
              <a:buFont typeface="Tahoma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So, n=4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6395" lvl="0" marL="469265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800"/>
              <a:buFont typeface="Tahoma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value of 1 LSB = (10V)/4096 = 2.44mV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6395" lvl="0" marL="469265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800"/>
              <a:buFont typeface="Tahoma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The highest voltage output for the converter when it is properly adjusted will then be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: (10 – 0.0024)V or 9.9976V.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p12"/>
          <p:cNvGrpSpPr/>
          <p:nvPr/>
        </p:nvGrpSpPr>
        <p:grpSpPr>
          <a:xfrm>
            <a:off x="0" y="4896899"/>
            <a:ext cx="9144615" cy="247015"/>
            <a:chOff x="0" y="4896899"/>
            <a:chExt cx="9144615" cy="247015"/>
          </a:xfrm>
        </p:grpSpPr>
        <p:sp>
          <p:nvSpPr>
            <p:cNvPr id="147" name="Google Shape;147;p12"/>
            <p:cNvSpPr/>
            <p:nvPr/>
          </p:nvSpPr>
          <p:spPr>
            <a:xfrm>
              <a:off x="0" y="4896899"/>
              <a:ext cx="8595995" cy="247015"/>
            </a:xfrm>
            <a:custGeom>
              <a:rect b="b" l="l" r="r" t="t"/>
              <a:pathLst>
                <a:path extrusionOk="0" h="247014" w="8595995">
                  <a:moveTo>
                    <a:pt x="8595899" y="246599"/>
                  </a:moveTo>
                  <a:lnTo>
                    <a:pt x="0" y="246599"/>
                  </a:lnTo>
                  <a:lnTo>
                    <a:pt x="0" y="0"/>
                  </a:lnTo>
                  <a:lnTo>
                    <a:pt x="8595899" y="0"/>
                  </a:lnTo>
                  <a:lnTo>
                    <a:pt x="8595899" y="246599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2"/>
            <p:cNvSpPr/>
            <p:nvPr/>
          </p:nvSpPr>
          <p:spPr>
            <a:xfrm>
              <a:off x="0" y="4896899"/>
              <a:ext cx="8595995" cy="247015"/>
            </a:xfrm>
            <a:custGeom>
              <a:rect b="b" l="l" r="r" t="t"/>
              <a:pathLst>
                <a:path extrusionOk="0" h="247014" w="8595995">
                  <a:moveTo>
                    <a:pt x="0" y="0"/>
                  </a:moveTo>
                  <a:lnTo>
                    <a:pt x="8595899" y="0"/>
                  </a:lnTo>
                  <a:lnTo>
                    <a:pt x="85958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9" name="Google Shape;149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595975" y="4896899"/>
              <a:ext cx="548099" cy="24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" name="Google Shape;150;p12"/>
            <p:cNvSpPr/>
            <p:nvPr/>
          </p:nvSpPr>
          <p:spPr>
            <a:xfrm>
              <a:off x="8595975" y="4896899"/>
              <a:ext cx="548640" cy="247015"/>
            </a:xfrm>
            <a:custGeom>
              <a:rect b="b" l="l" r="r" t="t"/>
              <a:pathLst>
                <a:path extrusionOk="0" h="247014" w="548640">
                  <a:moveTo>
                    <a:pt x="0" y="0"/>
                  </a:moveTo>
                  <a:lnTo>
                    <a:pt x="548099" y="0"/>
                  </a:lnTo>
                  <a:lnTo>
                    <a:pt x="5480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1" name="Google Shape;151;p12"/>
          <p:cNvSpPr txBox="1"/>
          <p:nvPr>
            <p:ph type="title"/>
          </p:nvPr>
        </p:nvSpPr>
        <p:spPr>
          <a:xfrm>
            <a:off x="384725" y="478350"/>
            <a:ext cx="61467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D/A Converter: Characteristics</a:t>
            </a:r>
            <a:endParaRPr/>
          </a:p>
        </p:txBody>
      </p:sp>
      <p:sp>
        <p:nvSpPr>
          <p:cNvPr id="152" name="Google Shape;152;p12"/>
          <p:cNvSpPr txBox="1"/>
          <p:nvPr/>
        </p:nvSpPr>
        <p:spPr>
          <a:xfrm>
            <a:off x="315000" y="900350"/>
            <a:ext cx="8725200" cy="39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1F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7030" lvl="0" marL="469900" marR="1397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Font typeface="Tahoma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The accuracy specification for a D/A converter is	a comparison between the actual output and the expected output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6395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ahoma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It is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specified as a percentage of the full scale output voltage or current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6395" lvl="0" marL="469265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Font typeface="Tahoma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If the converter has a output of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10V and ± 0.2 percent accuracy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6395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ahoma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Maximum error for any output will be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 0.002 * 10V or 20mV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1F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Linearity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7030" lvl="0" marL="469900" marR="508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Font typeface="Tahoma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Linearity is the measure of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how much the output ramp deviates from a straight line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as the converter is stepped from no switches on to all switches on.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7030" lvl="0" marL="4699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ahoma"/>
              <a:buChar char="●"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Ideally the deviation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of the output from a straight line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should be no greater than ± ½ the value of LSB to maintain overall accuracy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"/>
          <p:cNvSpPr txBox="1"/>
          <p:nvPr>
            <p:ph type="title"/>
          </p:nvPr>
        </p:nvSpPr>
        <p:spPr>
          <a:xfrm>
            <a:off x="384725" y="325956"/>
            <a:ext cx="7166609" cy="605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D/A Converter: Characteristics</a:t>
            </a:r>
            <a:endParaRPr/>
          </a:p>
        </p:txBody>
      </p:sp>
      <p:sp>
        <p:nvSpPr>
          <p:cNvPr id="158" name="Google Shape;158;p13"/>
          <p:cNvSpPr txBox="1"/>
          <p:nvPr>
            <p:ph idx="1" type="body"/>
          </p:nvPr>
        </p:nvSpPr>
        <p:spPr>
          <a:xfrm>
            <a:off x="481724" y="1094458"/>
            <a:ext cx="8276700" cy="28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Settling Time</a:t>
            </a:r>
            <a:endParaRPr/>
          </a:p>
          <a:p>
            <a:pPr indent="-367029" lvl="0" marL="455294" marR="3302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Char char="●"/>
            </a:pPr>
            <a:r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When we change the binary word applied to the input of a converter , the output will change to the appropriate new value</a:t>
            </a:r>
            <a:endParaRPr/>
          </a:p>
          <a:p>
            <a:pPr indent="-367029" lvl="0" marL="455294" marR="29209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Char char="●"/>
            </a:pPr>
            <a:r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The output may overshoot the correct value, “ring” for a while before finally settling down to the correct value</a:t>
            </a:r>
            <a:endParaRPr/>
          </a:p>
          <a:p>
            <a:pPr indent="-367029" lvl="0" marL="455294" marR="19304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Char char="●"/>
            </a:pPr>
            <a:r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The time the output takes to get within</a:t>
            </a:r>
            <a:r>
              <a:rPr lang="en-US"/>
              <a:t> ± ½ LSB of the final value is called settling time</a:t>
            </a:r>
            <a:endParaRPr/>
          </a:p>
          <a:p>
            <a:pPr indent="-367029" lvl="0" marL="455294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Char char="●"/>
            </a:pPr>
            <a:r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This specification is important, because if a converter is operated at too high frequency, it may not have time to settle to one value before it is switched to the next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/>
          <p:cNvSpPr txBox="1"/>
          <p:nvPr>
            <p:ph type="title"/>
          </p:nvPr>
        </p:nvSpPr>
        <p:spPr>
          <a:xfrm>
            <a:off x="384725" y="325950"/>
            <a:ext cx="83628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D/A Converter: Interfacing to Microcomputers</a:t>
            </a:r>
            <a:endParaRPr/>
          </a:p>
        </p:txBody>
      </p:sp>
      <p:sp>
        <p:nvSpPr>
          <p:cNvPr id="164" name="Google Shape;164;p14"/>
          <p:cNvSpPr txBox="1"/>
          <p:nvPr/>
        </p:nvSpPr>
        <p:spPr>
          <a:xfrm>
            <a:off x="405524" y="945190"/>
            <a:ext cx="8131809" cy="3811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7030" lvl="0" marL="379095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Font typeface="Tahoma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The inputs of the D/A circuit can be connected directly to the microcomputer output port.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7030" lvl="0" marL="379095" marR="471805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Font typeface="Tahoma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Thus interfacing an 8 bit converter involves simply connecting the inputs of the converter to an output port.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800"/>
              <a:buFont typeface="Tahoma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For some application we need to interface a 12 bit converter to a microcomputer.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800"/>
              <a:buFont typeface="Tahoma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If we are working with a system which has an 8 bit data bus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7030" lvl="1" marL="836294" marR="7366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Font typeface="Tahoma"/>
              <a:buChar char="○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The first thought might be – to connect the lower 8 inputs of the 12 bit converter to one output port and upper 4 bits to another port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7030" lvl="1" marL="836294" marR="33401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Font typeface="Tahoma"/>
              <a:buChar char="○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In that case, we could send the lower 8 bits with one write operation and the upper 4 bits with another write operation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7030" lvl="1" marL="836294" marR="608965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Font typeface="Tahoma"/>
              <a:buChar char="○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Time between the two writes introduces a potential problem in this approach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"/>
          <p:cNvSpPr txBox="1"/>
          <p:nvPr>
            <p:ph type="title"/>
          </p:nvPr>
        </p:nvSpPr>
        <p:spPr>
          <a:xfrm>
            <a:off x="384725" y="325950"/>
            <a:ext cx="8091000" cy="5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D/A Converter: Interfacing to Microcomputers</a:t>
            </a:r>
            <a:endParaRPr/>
          </a:p>
        </p:txBody>
      </p:sp>
      <p:sp>
        <p:nvSpPr>
          <p:cNvPr id="170" name="Google Shape;170;p15"/>
          <p:cNvSpPr txBox="1"/>
          <p:nvPr/>
        </p:nvSpPr>
        <p:spPr>
          <a:xfrm>
            <a:off x="467400" y="936926"/>
            <a:ext cx="8229600" cy="3693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7030" lvl="0" marL="469900" marR="145415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ahoma"/>
              <a:buChar char="●"/>
            </a:pPr>
            <a:r>
              <a:rPr lang="en-US" sz="18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we want to change the pattern of a 12 bit converter from 0000 1111 1111 to 0001 0000 0000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7030" lvl="0" marL="4699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ahoma"/>
              <a:buChar char="●"/>
            </a:pPr>
            <a:r>
              <a:rPr lang="en-US" sz="18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we will write the lower 8 bits, the output will go from 0000 1111 1111 to 0000 0000 0000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7030" lvl="0" marL="469900" marR="1638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ahoma"/>
              <a:buChar char="●"/>
            </a:pPr>
            <a:r>
              <a:rPr lang="en-US" sz="18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we will write the upper 4 bits the output will go back up to the desired 0001 0000 0000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7030" lvl="0" marL="469900" marR="2806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ahoma"/>
              <a:buChar char="●"/>
            </a:pPr>
            <a:r>
              <a:rPr lang="en-US" sz="18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point here is that for the time between the two writes the output will go to an unwanted value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6395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ahoma"/>
              <a:buChar char="●"/>
            </a:pPr>
            <a:r>
              <a:rPr lang="en-US" sz="18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many systems this could be disastrous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6395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ahoma"/>
              <a:buChar char="●"/>
            </a:pPr>
            <a:r>
              <a:rPr lang="en-US" sz="18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cure of this problem is to put latches on the input lines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7030" lvl="0" marL="469900" marR="977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ahoma"/>
              <a:buChar char="●"/>
            </a:pPr>
            <a:r>
              <a:rPr lang="en-US" sz="18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latches can be loaded separately and then strobed together to pass all 12 bits to the D/A converter at the same time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"/>
          <p:cNvSpPr txBox="1"/>
          <p:nvPr>
            <p:ph type="title"/>
          </p:nvPr>
        </p:nvSpPr>
        <p:spPr>
          <a:xfrm>
            <a:off x="1595299" y="1506625"/>
            <a:ext cx="6751800" cy="14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00">
                <a:latin typeface="Arial"/>
                <a:ea typeface="Arial"/>
                <a:cs typeface="Arial"/>
                <a:sym typeface="Arial"/>
              </a:rPr>
              <a:t>Thank You</a:t>
            </a:r>
            <a:endParaRPr sz="9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5510148" y="1188461"/>
            <a:ext cx="19050" cy="19050"/>
          </a:xfrm>
          <a:custGeom>
            <a:rect b="b" l="l" r="r" t="t"/>
            <a:pathLst>
              <a:path extrusionOk="0" h="19050" w="19050">
                <a:moveTo>
                  <a:pt x="0" y="9525"/>
                </a:moveTo>
                <a:lnTo>
                  <a:pt x="2789" y="2789"/>
                </a:lnTo>
                <a:lnTo>
                  <a:pt x="9525" y="0"/>
                </a:lnTo>
                <a:lnTo>
                  <a:pt x="16260" y="2789"/>
                </a:lnTo>
                <a:lnTo>
                  <a:pt x="19050" y="9525"/>
                </a:lnTo>
                <a:lnTo>
                  <a:pt x="16260" y="16260"/>
                </a:lnTo>
                <a:lnTo>
                  <a:pt x="9525" y="19050"/>
                </a:lnTo>
                <a:lnTo>
                  <a:pt x="2789" y="16260"/>
                </a:lnTo>
                <a:lnTo>
                  <a:pt x="0" y="9525"/>
                </a:lnTo>
                <a:close/>
              </a:path>
            </a:pathLst>
          </a:custGeom>
          <a:solidFill>
            <a:srgbClr val="25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7A7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2025-09-07T02:41:01Z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2025-09-07T00:00:00Z</vt:filetime>
  </property>
  <property fmtid="{D5CDD505-2E9C-101B-9397-08002B2CF9AE}" pid="3" name="Creator">
    <vt:lpwstr>Google</vt:lpwstr>
  </property>
  <property fmtid="{D5CDD505-2E9C-101B-9397-08002B2CF9AE}" pid="4" name="LastSaved">
    <vt:filetime>2025-09-07T00:00:00Z</vt:filetime>
  </property>
</Properties>
</file>