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iB8eHwuwftXiw7fSN1KgN7tfbz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customschemas.google.com/relationships/presentationmetadata" Target="metadata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9dd7f54e8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79dd7f54e8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22e3a9c5ac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122e3a9c5a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">
              <a:solidFill>
                <a:schemeClr val="dk1"/>
              </a:solidFill>
              <a:highlight>
                <a:srgbClr val="E4E8EE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dd7f54e8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79dd7f54e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">
              <a:solidFill>
                <a:schemeClr val="dk1"/>
              </a:solidFill>
              <a:highlight>
                <a:srgbClr val="E4E8EE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9dd7f54e8_0_7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79dd7f54e8_0_77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dd7f54e8_0_14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79dd7f54e8_0_14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9dd7f54e8_0_20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79dd7f54e8_0_207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5433d5866_0_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85433d5866_0_2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5433d5866_0_7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85433d5866_0_74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5433d5866_0_13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85433d5866_0_137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5433d5866_0_18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85433d5866_0_18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5433d5866_0_25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85433d5866_0_25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5433d5866_0_31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85433d5866_0_31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5460031d5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85460031d5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5460031d5_0_1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85460031d5_0_12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5460031d5_0_9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85460031d5_0_91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5460031d5_0_7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85460031d5_0_7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8566d975cb_0_7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8566d975cb_0_7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566d975cb_0_9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8566d975cb_0_97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8567684150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8567684150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567684150_0_6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8567684150_0_62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567684150_0_12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8567684150_0_127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8567684150_0_22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8567684150_0_22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8567684150_0_15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8567684150_0_157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8567684150_0_18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8567684150_0_18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567684150_0_19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8567684150_0_19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8567684150_0_20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8567684150_0_207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8567684150_0_218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8567684150_0_218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8567684150_0_62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8567684150_0_62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8567684150_0_61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8567684150_0_61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8567684150_0_24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8567684150_0_244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8567684150_0_36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8567684150_0_36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8567684150_0_30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8567684150_0_30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8567684150_0_42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8567684150_0_42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8567684150_0_478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8567684150_0_478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8567684150_0_54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8567684150_0_547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063f586a90_0_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1063f586a9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05c72e76e4_0_10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105c72e76e4_0_10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105c72e76e4_0_10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05c72e76e4_0_10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g105c72e76e4_0_10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g105c72e76e4_0_10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5c72e76e4_0_106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" name="Google Shape;19;g105c72e76e4_0_106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105c72e76e4_0_10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5c72e76e4_0_105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105c72e76e4_0_105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" name="Google Shape;24;g105c72e76e4_0_105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" name="Google Shape;25;g105c72e76e4_0_105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g105c72e76e4_0_10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105c72e76e4_0_10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g105c72e76e4_0_10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105c72e76e4_0_10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g105c72e76e4_0_10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g105c72e76e4_0_10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g105c72e76e4_0_10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05c72e76e4_0_10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g105c72e76e4_0_10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05c72e76e4_0_10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g105c72e76e4_0_10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g105c72e76e4_0_10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05c72e76e4_0_10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g105c72e76e4_0_10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05c72e76e4_0_106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105c72e76e4_0_10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05c72e76e4_0_10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g379dd7f54e8_0_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g379dd7f54e8_0_56"/>
          <p:cNvSpPr/>
          <p:nvPr/>
        </p:nvSpPr>
        <p:spPr>
          <a:xfrm>
            <a:off x="0" y="4896899"/>
            <a:ext cx="8595995" cy="247014"/>
          </a:xfrm>
          <a:custGeom>
            <a:rect b="b" l="l" r="r" t="t"/>
            <a:pathLst>
              <a:path extrusionOk="0" h="247014" w="8595995">
                <a:moveTo>
                  <a:pt x="8595899" y="246599"/>
                </a:moveTo>
                <a:lnTo>
                  <a:pt x="0" y="246599"/>
                </a:lnTo>
                <a:lnTo>
                  <a:pt x="0" y="0"/>
                </a:lnTo>
                <a:lnTo>
                  <a:pt x="8595899" y="0"/>
                </a:lnTo>
                <a:lnTo>
                  <a:pt x="8595899" y="246599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79dd7f54e8_0_56"/>
          <p:cNvSpPr/>
          <p:nvPr/>
        </p:nvSpPr>
        <p:spPr>
          <a:xfrm>
            <a:off x="0" y="4896899"/>
            <a:ext cx="8595995" cy="247014"/>
          </a:xfrm>
          <a:custGeom>
            <a:rect b="b" l="l" r="r" t="t"/>
            <a:pathLst>
              <a:path extrusionOk="0" h="247014" w="8595995">
                <a:moveTo>
                  <a:pt x="0" y="0"/>
                </a:moveTo>
                <a:lnTo>
                  <a:pt x="8595899" y="0"/>
                </a:lnTo>
                <a:lnTo>
                  <a:pt x="8595899" y="246599"/>
                </a:lnTo>
                <a:lnTo>
                  <a:pt x="0" y="2465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" name="Google Shape;54;g379dd7f54e8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975" y="4896899"/>
            <a:ext cx="548099" cy="2465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379dd7f54e8_0_56"/>
          <p:cNvSpPr/>
          <p:nvPr/>
        </p:nvSpPr>
        <p:spPr>
          <a:xfrm>
            <a:off x="8595975" y="4896899"/>
            <a:ext cx="548640" cy="247014"/>
          </a:xfrm>
          <a:custGeom>
            <a:rect b="b" l="l" r="r" t="t"/>
            <a:pathLst>
              <a:path extrusionOk="0" h="247014" w="548640">
                <a:moveTo>
                  <a:pt x="0" y="0"/>
                </a:moveTo>
                <a:lnTo>
                  <a:pt x="548099" y="0"/>
                </a:lnTo>
                <a:lnTo>
                  <a:pt x="548099" y="246599"/>
                </a:lnTo>
                <a:lnTo>
                  <a:pt x="0" y="2465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79dd7f54e8_0_56"/>
          <p:cNvSpPr txBox="1"/>
          <p:nvPr>
            <p:ph type="title"/>
          </p:nvPr>
        </p:nvSpPr>
        <p:spPr>
          <a:xfrm>
            <a:off x="384725" y="494103"/>
            <a:ext cx="6192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g379dd7f54e8_0_56"/>
          <p:cNvSpPr txBox="1"/>
          <p:nvPr>
            <p:ph idx="11" type="ftr"/>
          </p:nvPr>
        </p:nvSpPr>
        <p:spPr>
          <a:xfrm>
            <a:off x="73025" y="4910550"/>
            <a:ext cx="52452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79dd7f54e8_0_5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79dd7f54e8_0_56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9dd7f54e8_0_137"/>
          <p:cNvSpPr txBox="1"/>
          <p:nvPr>
            <p:ph type="title"/>
          </p:nvPr>
        </p:nvSpPr>
        <p:spPr>
          <a:xfrm>
            <a:off x="384725" y="494103"/>
            <a:ext cx="6192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g379dd7f54e8_0_137"/>
          <p:cNvSpPr txBox="1"/>
          <p:nvPr>
            <p:ph idx="1" type="body"/>
          </p:nvPr>
        </p:nvSpPr>
        <p:spPr>
          <a:xfrm>
            <a:off x="4159250" y="2312352"/>
            <a:ext cx="4780200" cy="17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500">
                <a:solidFill>
                  <a:srgbClr val="0077D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79dd7f54e8_0_137"/>
          <p:cNvSpPr txBox="1"/>
          <p:nvPr>
            <p:ph idx="11" type="ftr"/>
          </p:nvPr>
        </p:nvSpPr>
        <p:spPr>
          <a:xfrm>
            <a:off x="73025" y="4910550"/>
            <a:ext cx="52452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79dd7f54e8_0_13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79dd7f54e8_0_137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5460031d5_0_154"/>
          <p:cNvSpPr txBox="1"/>
          <p:nvPr>
            <p:ph idx="11" type="ftr"/>
          </p:nvPr>
        </p:nvSpPr>
        <p:spPr>
          <a:xfrm>
            <a:off x="73025" y="4910550"/>
            <a:ext cx="52452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85460031d5_0_15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85460031d5_0_154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567684150_0_56"/>
          <p:cNvSpPr txBox="1"/>
          <p:nvPr>
            <p:ph type="ctrTitle"/>
          </p:nvPr>
        </p:nvSpPr>
        <p:spPr>
          <a:xfrm>
            <a:off x="1351388" y="2217060"/>
            <a:ext cx="64413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g38567684150_0_56"/>
          <p:cNvSpPr txBox="1"/>
          <p:nvPr>
            <p:ph idx="1" type="subTitle"/>
          </p:nvPr>
        </p:nvSpPr>
        <p:spPr>
          <a:xfrm>
            <a:off x="2180054" y="3082516"/>
            <a:ext cx="46329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500">
                <a:solidFill>
                  <a:srgbClr val="0077D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8567684150_0_56"/>
          <p:cNvSpPr txBox="1"/>
          <p:nvPr>
            <p:ph idx="11" type="ftr"/>
          </p:nvPr>
        </p:nvSpPr>
        <p:spPr>
          <a:xfrm>
            <a:off x="73025" y="4910550"/>
            <a:ext cx="52452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8567684150_0_5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8567684150_0_56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567684150_0_603"/>
          <p:cNvSpPr/>
          <p:nvPr/>
        </p:nvSpPr>
        <p:spPr>
          <a:xfrm>
            <a:off x="393700" y="581025"/>
            <a:ext cx="4965700" cy="355600"/>
          </a:xfrm>
          <a:custGeom>
            <a:rect b="b" l="l" r="r" t="t"/>
            <a:pathLst>
              <a:path extrusionOk="0" h="355600" w="4965700">
                <a:moveTo>
                  <a:pt x="4965700" y="0"/>
                </a:moveTo>
                <a:lnTo>
                  <a:pt x="0" y="0"/>
                </a:lnTo>
                <a:lnTo>
                  <a:pt x="0" y="355600"/>
                </a:lnTo>
                <a:lnTo>
                  <a:pt x="4965700" y="355600"/>
                </a:lnTo>
                <a:lnTo>
                  <a:pt x="4965700" y="0"/>
                </a:lnTo>
                <a:close/>
              </a:path>
            </a:pathLst>
          </a:custGeom>
          <a:solidFill>
            <a:srgbClr val="FFEF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8567684150_0_603"/>
          <p:cNvSpPr/>
          <p:nvPr/>
        </p:nvSpPr>
        <p:spPr>
          <a:xfrm>
            <a:off x="0" y="4896899"/>
            <a:ext cx="8595995" cy="247014"/>
          </a:xfrm>
          <a:custGeom>
            <a:rect b="b" l="l" r="r" t="t"/>
            <a:pathLst>
              <a:path extrusionOk="0" h="247014" w="8595995">
                <a:moveTo>
                  <a:pt x="8595899" y="246599"/>
                </a:moveTo>
                <a:lnTo>
                  <a:pt x="0" y="246599"/>
                </a:lnTo>
                <a:lnTo>
                  <a:pt x="0" y="0"/>
                </a:lnTo>
                <a:lnTo>
                  <a:pt x="8595899" y="0"/>
                </a:lnTo>
                <a:lnTo>
                  <a:pt x="8595899" y="246599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8567684150_0_603"/>
          <p:cNvSpPr/>
          <p:nvPr/>
        </p:nvSpPr>
        <p:spPr>
          <a:xfrm>
            <a:off x="0" y="4896899"/>
            <a:ext cx="8595995" cy="247014"/>
          </a:xfrm>
          <a:custGeom>
            <a:rect b="b" l="l" r="r" t="t"/>
            <a:pathLst>
              <a:path extrusionOk="0" h="247014" w="8595995">
                <a:moveTo>
                  <a:pt x="0" y="0"/>
                </a:moveTo>
                <a:lnTo>
                  <a:pt x="8595899" y="0"/>
                </a:lnTo>
                <a:lnTo>
                  <a:pt x="8595899" y="246599"/>
                </a:lnTo>
                <a:lnTo>
                  <a:pt x="0" y="2465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g38567684150_0_6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75" y="4896899"/>
            <a:ext cx="548099" cy="2465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8567684150_0_603"/>
          <p:cNvSpPr/>
          <p:nvPr/>
        </p:nvSpPr>
        <p:spPr>
          <a:xfrm>
            <a:off x="8595975" y="4896899"/>
            <a:ext cx="548640" cy="247014"/>
          </a:xfrm>
          <a:custGeom>
            <a:rect b="b" l="l" r="r" t="t"/>
            <a:pathLst>
              <a:path extrusionOk="0" h="247014" w="548640">
                <a:moveTo>
                  <a:pt x="0" y="0"/>
                </a:moveTo>
                <a:lnTo>
                  <a:pt x="548099" y="0"/>
                </a:lnTo>
                <a:lnTo>
                  <a:pt x="548099" y="246599"/>
                </a:lnTo>
                <a:lnTo>
                  <a:pt x="0" y="2465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8567684150_0_603"/>
          <p:cNvSpPr txBox="1"/>
          <p:nvPr>
            <p:ph type="title"/>
          </p:nvPr>
        </p:nvSpPr>
        <p:spPr>
          <a:xfrm>
            <a:off x="384725" y="494103"/>
            <a:ext cx="6192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g38567684150_0_603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8567684150_0_603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8567684150_0_603"/>
          <p:cNvSpPr txBox="1"/>
          <p:nvPr>
            <p:ph idx="11" type="ftr"/>
          </p:nvPr>
        </p:nvSpPr>
        <p:spPr>
          <a:xfrm>
            <a:off x="73025" y="4910550"/>
            <a:ext cx="52452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8567684150_0_60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8567684150_0_603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5c72e76e4_0_10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05c72e76e4_0_10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05c72e76e4_0_10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2.jpg"/><Relationship Id="rId5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9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30.jpg"/><Relationship Id="rId9" Type="http://schemas.openxmlformats.org/officeDocument/2006/relationships/image" Target="../media/image17.png"/><Relationship Id="rId5" Type="http://schemas.openxmlformats.org/officeDocument/2006/relationships/image" Target="../media/image5.png"/><Relationship Id="rId6" Type="http://schemas.openxmlformats.org/officeDocument/2006/relationships/image" Target="../media/image26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35.jpg"/><Relationship Id="rId5" Type="http://schemas.openxmlformats.org/officeDocument/2006/relationships/image" Target="../media/image2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image" Target="../media/image41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41.gif"/><Relationship Id="rId5" Type="http://schemas.openxmlformats.org/officeDocument/2006/relationships/image" Target="../media/image33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3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Relationship Id="rId4" Type="http://schemas.openxmlformats.org/officeDocument/2006/relationships/image" Target="../media/image42.jpg"/><Relationship Id="rId5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jpg"/><Relationship Id="rId4" Type="http://schemas.openxmlformats.org/officeDocument/2006/relationships/image" Target="../media/image40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414900" y="1591675"/>
            <a:ext cx="81810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 and Transducers</a:t>
            </a:r>
            <a:endParaRPr b="1" sz="30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81175" y="1836175"/>
            <a:ext cx="2985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86450" y="3021175"/>
            <a:ext cx="7221600" cy="12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b="1" i="0" lang="en" sz="2300" u="none" cap="none" strike="noStrike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Name: Computer Interfacing</a:t>
            </a:r>
            <a:endParaRPr b="1" i="0" sz="2300" u="none" cap="none" strike="noStrike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b="1" i="0" lang="en" sz="2300" u="none" cap="none" strike="noStrike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CSE-405</a:t>
            </a:r>
            <a:br>
              <a:rPr b="1" i="0" lang="en" sz="2300" u="none" cap="none" strike="noStrike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2300" u="none" cap="none" strike="noStrike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0" y="48969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0" y="4896900"/>
            <a:ext cx="8595900" cy="2466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8595975" y="4896900"/>
            <a:ext cx="548100" cy="246600"/>
          </a:xfrm>
          <a:prstGeom prst="rect">
            <a:avLst/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"/>
          <p:cNvCxnSpPr/>
          <p:nvPr/>
        </p:nvCxnSpPr>
        <p:spPr>
          <a:xfrm>
            <a:off x="613975" y="2918100"/>
            <a:ext cx="8046900" cy="0"/>
          </a:xfrm>
          <a:prstGeom prst="straightConnector1">
            <a:avLst/>
          </a:prstGeom>
          <a:noFill/>
          <a:ln cap="flat" cmpd="sng" w="381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247225" y="93299"/>
            <a:ext cx="1135000" cy="10555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3960000" dist="66675">
              <a:srgbClr val="000000">
                <a:alpha val="66666"/>
              </a:srgbClr>
            </a:outerShdw>
          </a:effectLst>
        </p:spPr>
      </p:pic>
      <p:sp>
        <p:nvSpPr>
          <p:cNvPr id="100" name="Google Shape;100;p1"/>
          <p:cNvSpPr txBox="1"/>
          <p:nvPr/>
        </p:nvSpPr>
        <p:spPr>
          <a:xfrm>
            <a:off x="3248050" y="0"/>
            <a:ext cx="57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Military Institute of Science and Technology </a:t>
            </a:r>
            <a:endParaRPr b="1" i="0" sz="1500" u="none" cap="none" strike="noStrike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i="0" sz="1500" u="none" cap="none" strike="noStrike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g379dd7f54e8_0_0"/>
          <p:cNvGrpSpPr/>
          <p:nvPr/>
        </p:nvGrpSpPr>
        <p:grpSpPr>
          <a:xfrm>
            <a:off x="0" y="-124"/>
            <a:ext cx="9144615" cy="5144038"/>
            <a:chOff x="0" y="-124"/>
            <a:chExt cx="9144615" cy="5144038"/>
          </a:xfrm>
        </p:grpSpPr>
        <p:sp>
          <p:nvSpPr>
            <p:cNvPr id="106" name="Google Shape;106;g379dd7f54e8_0_0"/>
            <p:cNvSpPr/>
            <p:nvPr/>
          </p:nvSpPr>
          <p:spPr>
            <a:xfrm>
              <a:off x="4572000" y="-124"/>
              <a:ext cx="4572000" cy="5143500"/>
            </a:xfrm>
            <a:custGeom>
              <a:rect b="b" l="l" r="r" t="t"/>
              <a:pathLst>
                <a:path extrusionOk="0" h="5143500" w="45720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g379dd7f54e8_0_0"/>
            <p:cNvSpPr/>
            <p:nvPr/>
          </p:nvSpPr>
          <p:spPr>
            <a:xfrm>
              <a:off x="0" y="4896900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79dd7f54e8_0_0"/>
            <p:cNvSpPr/>
            <p:nvPr/>
          </p:nvSpPr>
          <p:spPr>
            <a:xfrm>
              <a:off x="0" y="4896900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9" name="Google Shape;109;g379dd7f54e8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900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g379dd7f54e8_0_0"/>
            <p:cNvSpPr/>
            <p:nvPr/>
          </p:nvSpPr>
          <p:spPr>
            <a:xfrm>
              <a:off x="8595975" y="4896900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g379dd7f54e8_0_0"/>
          <p:cNvSpPr txBox="1"/>
          <p:nvPr/>
        </p:nvSpPr>
        <p:spPr>
          <a:xfrm>
            <a:off x="5012525" y="2045844"/>
            <a:ext cx="35229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699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1384D"/>
                </a:solidFill>
                <a:latin typeface="MS PGothic"/>
                <a:ea typeface="MS PGothic"/>
                <a:cs typeface="MS PGothic"/>
                <a:sym typeface="MS PGothic"/>
              </a:rPr>
              <a:t>❏	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Microprocessor and Interfacing- Douglas V. Hall (Chapter 10)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79dd7f54e8_0_0"/>
          <p:cNvSpPr txBox="1"/>
          <p:nvPr>
            <p:ph type="title"/>
          </p:nvPr>
        </p:nvSpPr>
        <p:spPr>
          <a:xfrm>
            <a:off x="480644" y="1955634"/>
            <a:ext cx="3610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Book Reference</a:t>
            </a:r>
            <a:endParaRPr sz="4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22e3a9c5ac_0_31"/>
          <p:cNvSpPr txBox="1"/>
          <p:nvPr/>
        </p:nvSpPr>
        <p:spPr>
          <a:xfrm>
            <a:off x="0" y="48969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122e3a9c5ac_0_31"/>
          <p:cNvSpPr/>
          <p:nvPr/>
        </p:nvSpPr>
        <p:spPr>
          <a:xfrm>
            <a:off x="0" y="4896900"/>
            <a:ext cx="8595900" cy="2466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122e3a9c5ac_0_31"/>
          <p:cNvSpPr/>
          <p:nvPr/>
        </p:nvSpPr>
        <p:spPr>
          <a:xfrm>
            <a:off x="8595975" y="4896900"/>
            <a:ext cx="548100" cy="246600"/>
          </a:xfrm>
          <a:prstGeom prst="rect">
            <a:avLst/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122e3a9c5ac_0_31"/>
          <p:cNvSpPr txBox="1"/>
          <p:nvPr>
            <p:ph type="title"/>
          </p:nvPr>
        </p:nvSpPr>
        <p:spPr>
          <a:xfrm>
            <a:off x="65275" y="50625"/>
            <a:ext cx="8595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 sz="2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122e3a9c5ac_0_31"/>
          <p:cNvSpPr txBox="1"/>
          <p:nvPr/>
        </p:nvSpPr>
        <p:spPr>
          <a:xfrm>
            <a:off x="65275" y="579225"/>
            <a:ext cx="87126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sensor is a physical device that detects or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senses changes in any physical quantity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energy- heat, light, pressure, humidity, motion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sensor’s output is analog in nature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sensors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themselves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(eg, piezoelectric crystal), whereas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passive sensors require external power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transducer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physical device that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converts one form of energy into another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Electrical transducer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converts other forms of energy into an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electrical signal.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Transducer is made of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sensor and a signal conditioning circuit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transducer can generate analog as well as a digital output.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9dd7f54e8_0_66"/>
          <p:cNvSpPr txBox="1"/>
          <p:nvPr/>
        </p:nvSpPr>
        <p:spPr>
          <a:xfrm>
            <a:off x="0" y="48969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79dd7f54e8_0_66"/>
          <p:cNvSpPr/>
          <p:nvPr/>
        </p:nvSpPr>
        <p:spPr>
          <a:xfrm>
            <a:off x="0" y="4896900"/>
            <a:ext cx="8595900" cy="2466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79dd7f54e8_0_66"/>
          <p:cNvSpPr/>
          <p:nvPr/>
        </p:nvSpPr>
        <p:spPr>
          <a:xfrm>
            <a:off x="8595975" y="4896900"/>
            <a:ext cx="548100" cy="246600"/>
          </a:xfrm>
          <a:prstGeom prst="rect">
            <a:avLst/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79dd7f54e8_0_66"/>
          <p:cNvSpPr txBox="1"/>
          <p:nvPr>
            <p:ph type="title"/>
          </p:nvPr>
        </p:nvSpPr>
        <p:spPr>
          <a:xfrm>
            <a:off x="64875" y="50750"/>
            <a:ext cx="8595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 sz="24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sensors</a:t>
            </a:r>
            <a:endParaRPr b="1" sz="2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g379dd7f54e8_0_66"/>
          <p:cNvSpPr txBox="1"/>
          <p:nvPr/>
        </p:nvSpPr>
        <p:spPr>
          <a:xfrm>
            <a:off x="149525" y="407325"/>
            <a:ext cx="87126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 Sensors: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Photodiode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Solar Cell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Force Sensors: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Strain Gauge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Cell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Pressure Sensors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Pressure Gauge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Manometer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LVDT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Temperature Sensors: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Thermistor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g379dd7f54e8_0_77"/>
          <p:cNvGrpSpPr/>
          <p:nvPr/>
        </p:nvGrpSpPr>
        <p:grpSpPr>
          <a:xfrm>
            <a:off x="0" y="0"/>
            <a:ext cx="9144615" cy="5143913"/>
            <a:chOff x="0" y="0"/>
            <a:chExt cx="9144615" cy="5143913"/>
          </a:xfrm>
        </p:grpSpPr>
        <p:pic>
          <p:nvPicPr>
            <p:cNvPr id="136" name="Google Shape;136;g379dd7f54e8_0_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g379dd7f54e8_0_77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g379dd7f54e8_0_77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9" name="Google Shape;139;g379dd7f54e8_0_7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g379dd7f54e8_0_77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g379dd7f54e8_0_77"/>
          <p:cNvSpPr txBox="1"/>
          <p:nvPr/>
        </p:nvSpPr>
        <p:spPr>
          <a:xfrm>
            <a:off x="3059575" y="2217050"/>
            <a:ext cx="40899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	Sensors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g379dd7f54e8_0_143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147" name="Google Shape;147;g379dd7f54e8_0_143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g379dd7f54e8_0_143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9" name="Google Shape;149;g379dd7f54e8_0_1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g379dd7f54e8_0_143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g379dd7f54e8_0_143"/>
          <p:cNvSpPr txBox="1"/>
          <p:nvPr>
            <p:ph type="title"/>
          </p:nvPr>
        </p:nvSpPr>
        <p:spPr>
          <a:xfrm>
            <a:off x="406150" y="151053"/>
            <a:ext cx="6192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Light Dependent Resistor (LDR)</a:t>
            </a:r>
            <a:endParaRPr sz="2600"/>
          </a:p>
        </p:txBody>
      </p:sp>
      <p:sp>
        <p:nvSpPr>
          <p:cNvPr id="152" name="Google Shape;152;g379dd7f54e8_0_143"/>
          <p:cNvSpPr txBox="1"/>
          <p:nvPr/>
        </p:nvSpPr>
        <p:spPr>
          <a:xfrm>
            <a:off x="492400" y="838160"/>
            <a:ext cx="8569500" cy="4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 glass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window allows light to fall on a zigzag pattern of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cadmium sulfide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whose r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esistance depends on the amount of light present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Resistance vary from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15 MΩ (in dark) to 15 kΩ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(in bright light)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Advantages-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Inexpensive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Durable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Sensitive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Disadvantages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Photoresistor have very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 response time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stable with temperature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get damaged if temperature gets too high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: light measurement need not be precise- e.g- streetlight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g379dd7f54e8_0_1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2203" y="1632452"/>
            <a:ext cx="2022421" cy="2012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79dd7f54e8_0_1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8476" y="1967813"/>
            <a:ext cx="2047158" cy="1341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g379dd7f54e8_0_207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160" name="Google Shape;160;g379dd7f54e8_0_207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g379dd7f54e8_0_207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2" name="Google Shape;162;g379dd7f54e8_0_2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g379dd7f54e8_0_207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g379dd7f54e8_0_207"/>
          <p:cNvSpPr txBox="1"/>
          <p:nvPr>
            <p:ph type="title"/>
          </p:nvPr>
        </p:nvSpPr>
        <p:spPr>
          <a:xfrm>
            <a:off x="384725" y="494103"/>
            <a:ext cx="6192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LDR</a:t>
            </a:r>
            <a:r>
              <a:rPr lang="en" sz="2600"/>
              <a:t>—Working</a:t>
            </a:r>
            <a:r>
              <a:rPr lang="en" sz="2600"/>
              <a:t> Principle in Streetlight</a:t>
            </a:r>
            <a:endParaRPr sz="2600"/>
          </a:p>
        </p:txBody>
      </p:sp>
      <p:sp>
        <p:nvSpPr>
          <p:cNvPr id="165" name="Google Shape;165;g379dd7f54e8_0_207"/>
          <p:cNvSpPr txBox="1"/>
          <p:nvPr/>
        </p:nvSpPr>
        <p:spPr>
          <a:xfrm>
            <a:off x="397624" y="1233975"/>
            <a:ext cx="45960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Streetlight contain a photoresistor, a transistor drive and a mechanical relay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dark,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resistance of photoresistor goes up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379095" marR="62674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Increases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the voltage on the base of the transistor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79dd7f54e8_0_207"/>
          <p:cNvSpPr txBox="1"/>
          <p:nvPr/>
        </p:nvSpPr>
        <p:spPr>
          <a:xfrm>
            <a:off x="1162900" y="2950875"/>
            <a:ext cx="27402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transistor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turns 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Turns on relay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Switches on the lamp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g379dd7f54e8_0_2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1025" y="1436360"/>
            <a:ext cx="3554375" cy="2551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g385433d5866_0_2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173" name="Google Shape;173;g385433d5866_0_2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g385433d5866_0_2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5" name="Google Shape;175;g385433d5866_0_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g385433d5866_0_2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g385433d5866_0_2"/>
          <p:cNvSpPr txBox="1"/>
          <p:nvPr>
            <p:ph type="title"/>
          </p:nvPr>
        </p:nvSpPr>
        <p:spPr>
          <a:xfrm>
            <a:off x="73025" y="46206"/>
            <a:ext cx="17418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Photodiode</a:t>
            </a:r>
            <a:endParaRPr/>
          </a:p>
        </p:txBody>
      </p:sp>
      <p:sp>
        <p:nvSpPr>
          <p:cNvPr id="178" name="Google Shape;178;g385433d5866_0_2"/>
          <p:cNvSpPr txBox="1"/>
          <p:nvPr/>
        </p:nvSpPr>
        <p:spPr>
          <a:xfrm>
            <a:off x="73025" y="528600"/>
            <a:ext cx="5742900" cy="3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marR="50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Light is allowed to fall on the junction of a specially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constructed silicon diode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just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Reverse leakage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current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increases linearly as the amount of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light increases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just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Leakage current is converted into proportional voltage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85445" rtl="0" algn="just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can be used for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smoke detection.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just">
              <a:spcBef>
                <a:spcPts val="44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Put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gallium arsenide infrared LED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one side and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photodetector circuit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the other side or the smokestack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just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Smoke absorbs light-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the amount of light arriving the photodetector is the measure of smoke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just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Infrared LED is used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—photodiode is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more sensitive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to light wavelength in the infrared region.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g385433d5866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4650" y="1240949"/>
            <a:ext cx="2943624" cy="169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g385433d5866_0_74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185" name="Google Shape;185;g385433d5866_0_74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g385433d5866_0_74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7" name="Google Shape;187;g385433d5866_0_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g385433d5866_0_74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" name="Google Shape;189;g385433d5866_0_74"/>
          <p:cNvSpPr txBox="1"/>
          <p:nvPr>
            <p:ph type="title"/>
          </p:nvPr>
        </p:nvSpPr>
        <p:spPr>
          <a:xfrm>
            <a:off x="384725" y="478356"/>
            <a:ext cx="152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Solar Cell</a:t>
            </a:r>
            <a:endParaRPr/>
          </a:p>
        </p:txBody>
      </p:sp>
      <p:pic>
        <p:nvPicPr>
          <p:cNvPr id="190" name="Google Shape;190;g385433d5866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5400" y="1170124"/>
            <a:ext cx="3686174" cy="295274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85433d5866_0_74"/>
          <p:cNvSpPr txBox="1"/>
          <p:nvPr/>
        </p:nvSpPr>
        <p:spPr>
          <a:xfrm>
            <a:off x="384725" y="1054100"/>
            <a:ext cx="7954500" cy="3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6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-382269" lvl="0" marL="718820" marR="4704080" rtl="0" algn="l">
              <a:lnSpc>
                <a:spcPct val="114999"/>
              </a:lnSpc>
              <a:spcBef>
                <a:spcPts val="900"/>
              </a:spcBef>
              <a:spcAft>
                <a:spcPts val="0"/>
              </a:spcAft>
              <a:buSzPts val="2000"/>
              <a:buChar char="●"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Very heavily doped silicon PN Junctions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2269" lvl="0" marL="718820" marR="404431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Light shining on the solar cell causes a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reverse current to flow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2269" lvl="0" marL="718820" marR="4029075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Solar cells can be connected in series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and parallel array to produce a solar power supply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5433d5866_0_137"/>
          <p:cNvSpPr txBox="1"/>
          <p:nvPr>
            <p:ph type="title"/>
          </p:nvPr>
        </p:nvSpPr>
        <p:spPr>
          <a:xfrm>
            <a:off x="2079412" y="2217060"/>
            <a:ext cx="49809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Temperature Sensors</a:t>
            </a:r>
            <a:endParaRPr sz="4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5433d5866_0_186"/>
          <p:cNvSpPr txBox="1"/>
          <p:nvPr>
            <p:ph type="title"/>
          </p:nvPr>
        </p:nvSpPr>
        <p:spPr>
          <a:xfrm>
            <a:off x="384725" y="494103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Semiconductor Temperature Sensors</a:t>
            </a:r>
            <a:endParaRPr/>
          </a:p>
        </p:txBody>
      </p:sp>
      <p:sp>
        <p:nvSpPr>
          <p:cNvPr id="202" name="Google Shape;202;g385433d5866_0_186"/>
          <p:cNvSpPr txBox="1"/>
          <p:nvPr/>
        </p:nvSpPr>
        <p:spPr>
          <a:xfrm>
            <a:off x="554200" y="982900"/>
            <a:ext cx="6460500" cy="30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Two types of semiconductor temperature sensors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Temperature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-Sensitive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Voltage Sources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Temperature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-Sensitive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Current Sources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Temperature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-Sensitive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Voltage Sources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LM35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469900" marR="73533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Voltage output increases by 10 mV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each degree celsius in temperature increases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Output adjust to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0 V for 0° C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Sensor gives output for temperature range of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-55° to +150°C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3" name="Google Shape;203;g385433d5866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6625" y="1579200"/>
            <a:ext cx="2865673" cy="1985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g385433d5866_0_186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205" name="Google Shape;205;g385433d5866_0_186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g385433d5866_0_186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7" name="Google Shape;207;g385433d5866_0_1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g385433d5866_0_186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g385433d5866_0_253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214" name="Google Shape;214;g385433d5866_0_253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g385433d5866_0_253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6" name="Google Shape;216;g385433d5866_0_2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g385433d5866_0_253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g385433d5866_0_253"/>
          <p:cNvSpPr txBox="1"/>
          <p:nvPr>
            <p:ph type="title"/>
          </p:nvPr>
        </p:nvSpPr>
        <p:spPr>
          <a:xfrm>
            <a:off x="67925" y="0"/>
            <a:ext cx="24375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Thermocouples</a:t>
            </a:r>
            <a:endParaRPr/>
          </a:p>
        </p:txBody>
      </p:sp>
      <p:sp>
        <p:nvSpPr>
          <p:cNvPr id="219" name="Google Shape;219;g385433d5866_0_253"/>
          <p:cNvSpPr txBox="1"/>
          <p:nvPr/>
        </p:nvSpPr>
        <p:spPr>
          <a:xfrm>
            <a:off x="114475" y="443700"/>
            <a:ext cx="8763900" cy="3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59410" lvl="0" marL="37147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thermocouple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is a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 junction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between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 two different metals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that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produces a voltage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related to a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 temperature difference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37147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When two different metals are put in contact ,a small voltage is produced between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them—the Seebeck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 effect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37147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Developed voltage depends on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1" marL="82867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1700"/>
              <a:buChar char="○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Type of metals used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1" marL="828675" rtl="0" algn="l">
              <a:lnSpc>
                <a:spcPct val="100000"/>
              </a:lnSpc>
              <a:spcBef>
                <a:spcPts val="309"/>
              </a:spcBef>
              <a:spcAft>
                <a:spcPts val="0"/>
              </a:spcAft>
              <a:buSzPts val="1700"/>
              <a:buChar char="○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Temperature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9410" lvl="0" marL="371475" marR="33718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The developed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voltage increases between 7 and 75 µV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each degree celsius increase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in temperature- depending on the metal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37147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A thermocouple junction made of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iron and constantan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is called a type ‘J Thermocouple’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1" marL="82867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Temperature range : -184 to +760 degree Celsius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37147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Thermocouple junction can be made of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platinum and alloy of platinum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-rhodium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1" marL="82867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Temperature range : 0 to 1600 degree Celsius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g385433d5866_0_316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225" name="Google Shape;225;g385433d5866_0_316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g385433d5866_0_316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7" name="Google Shape;227;g385433d5866_0_3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g385433d5866_0_316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" name="Google Shape;229;g385433d5866_0_316"/>
          <p:cNvSpPr txBox="1"/>
          <p:nvPr>
            <p:ph type="title"/>
          </p:nvPr>
        </p:nvSpPr>
        <p:spPr>
          <a:xfrm>
            <a:off x="73025" y="82125"/>
            <a:ext cx="68400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Thermocouples - 3 main problems</a:t>
            </a:r>
            <a:endParaRPr/>
          </a:p>
        </p:txBody>
      </p:sp>
      <p:sp>
        <p:nvSpPr>
          <p:cNvPr id="230" name="Google Shape;230;g385433d5866_0_316"/>
          <p:cNvSpPr txBox="1"/>
          <p:nvPr/>
        </p:nvSpPr>
        <p:spPr>
          <a:xfrm>
            <a:off x="158725" y="621525"/>
            <a:ext cx="8904300" cy="3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 Output is very small and need to be amplified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a great deal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A reference junction of same metal must be connected in series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with the junction used to make the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measurement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Because thermocouple reading is meaningless without comparing it to another, more accurate temperature sensor,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usually a reference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The difference between the voltages across the two thermocouples goes as input to the amplifier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It's impossible to tell which thermocouple is causing a change in voltage if both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temperatures are changing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g385433d5866_0_316"/>
          <p:cNvSpPr txBox="1"/>
          <p:nvPr/>
        </p:nvSpPr>
        <p:spPr>
          <a:xfrm>
            <a:off x="1077225" y="3292950"/>
            <a:ext cx="76425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-343535" lvl="0" marL="35623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One end of the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thermocouple—the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hot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junction—is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thermally attached to the object to be measured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169" lvl="0" marL="356235" marR="59055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The other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end of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the thermocouple—the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cold junction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—is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placed into an ice bath to hold it at a constant temperature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g385460031d5_0_0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237" name="Google Shape;237;g385460031d5_0_0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g385460031d5_0_0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9" name="Google Shape;239;g385460031d5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g385460031d5_0_0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g385460031d5_0_0"/>
          <p:cNvSpPr txBox="1"/>
          <p:nvPr>
            <p:ph type="title"/>
          </p:nvPr>
        </p:nvSpPr>
        <p:spPr>
          <a:xfrm>
            <a:off x="73025" y="82125"/>
            <a:ext cx="68400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Thermocouples - 3 main problems</a:t>
            </a:r>
            <a:endParaRPr/>
          </a:p>
        </p:txBody>
      </p:sp>
      <p:sp>
        <p:nvSpPr>
          <p:cNvPr id="242" name="Google Shape;242;g385460031d5_0_0"/>
          <p:cNvSpPr txBox="1"/>
          <p:nvPr/>
        </p:nvSpPr>
        <p:spPr>
          <a:xfrm>
            <a:off x="158725" y="621525"/>
            <a:ext cx="89043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voltages do not change linearly with temperature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9410" lvl="1" marL="469900" marR="5080" rtl="0" algn="l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Analog circuitry is needed which changes the gain of an amplifier according to the value of the signa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g385460031d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8450" y="1999049"/>
            <a:ext cx="4782874" cy="230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g385460031d5_0_12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249" name="Google Shape;249;g385460031d5_0_12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g385460031d5_0_12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1" name="Google Shape;251;g385460031d5_0_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g385460031d5_0_12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g385460031d5_0_12"/>
          <p:cNvSpPr txBox="1"/>
          <p:nvPr>
            <p:ph type="title"/>
          </p:nvPr>
        </p:nvSpPr>
        <p:spPr>
          <a:xfrm>
            <a:off x="518200" y="396053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Thermocouple math problem</a:t>
            </a:r>
            <a:endParaRPr/>
          </a:p>
        </p:txBody>
      </p:sp>
      <p:sp>
        <p:nvSpPr>
          <p:cNvPr id="254" name="Google Shape;254;g385460031d5_0_12"/>
          <p:cNvSpPr txBox="1"/>
          <p:nvPr/>
        </p:nvSpPr>
        <p:spPr>
          <a:xfrm>
            <a:off x="543600" y="1261790"/>
            <a:ext cx="81897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Suppose the measured output voltage between measuring junction and reference junction using thermocouple is 3.41mV. Reference junction temperature is 22 C.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g385460031d5_0_12"/>
          <p:cNvSpPr txBox="1"/>
          <p:nvPr/>
        </p:nvSpPr>
        <p:spPr>
          <a:xfrm>
            <a:off x="518200" y="1871390"/>
            <a:ext cx="76575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What will be the temperature of the measuring junction? </a:t>
            </a:r>
            <a:r>
              <a:rPr baseline="30000" lang="en" sz="2250">
                <a:solidFill>
                  <a:srgbClr val="0077D4"/>
                </a:solidFill>
                <a:latin typeface="Arial"/>
                <a:ea typeface="Arial"/>
                <a:cs typeface="Arial"/>
                <a:sym typeface="Arial"/>
              </a:rPr>
              <a:t>Also find the seebeck</a:t>
            </a:r>
            <a:endParaRPr baseline="30000" sz="22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g385460031d5_0_91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261" name="Google Shape;261;g385460031d5_0_91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g385460031d5_0_91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3" name="Google Shape;263;g385460031d5_0_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g385460031d5_0_91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" name="Google Shape;265;g385460031d5_0_91"/>
          <p:cNvGrpSpPr/>
          <p:nvPr/>
        </p:nvGrpSpPr>
        <p:grpSpPr>
          <a:xfrm>
            <a:off x="2802425" y="-4369"/>
            <a:ext cx="3259648" cy="4663164"/>
            <a:chOff x="2802425" y="-4369"/>
            <a:chExt cx="3259648" cy="4663164"/>
          </a:xfrm>
        </p:grpSpPr>
        <p:pic>
          <p:nvPicPr>
            <p:cNvPr id="266" name="Google Shape;266;g385460031d5_0_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02425" y="129600"/>
              <a:ext cx="3259648" cy="45291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g385460031d5_0_9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93375" y="3217437"/>
              <a:ext cx="15240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g385460031d5_0_9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21007" y="561094"/>
              <a:ext cx="250600" cy="128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g385460031d5_0_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11758" y="535228"/>
              <a:ext cx="178368" cy="1307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g385460031d5_0_9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836842" y="-4369"/>
              <a:ext cx="116664" cy="1433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g385460031d5_0_9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215537" y="1343078"/>
              <a:ext cx="470377" cy="1321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g385460031d5_0_9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950966" y="1377246"/>
              <a:ext cx="91388" cy="66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g385460031d5_0_9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342257" y="33779"/>
              <a:ext cx="84748" cy="123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g385460031d5_0_9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583445" y="6284"/>
              <a:ext cx="103138" cy="1386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g385460031d5_0_75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280" name="Google Shape;280;g385460031d5_0_75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g385460031d5_0_75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2" name="Google Shape;282;g385460031d5_0_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g385460031d5_0_75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" name="Google Shape;284;g385460031d5_0_75"/>
          <p:cNvSpPr txBox="1"/>
          <p:nvPr>
            <p:ph type="title"/>
          </p:nvPr>
        </p:nvSpPr>
        <p:spPr>
          <a:xfrm>
            <a:off x="518200" y="396053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Thermocouple math problem</a:t>
            </a:r>
            <a:endParaRPr/>
          </a:p>
        </p:txBody>
      </p:sp>
      <p:sp>
        <p:nvSpPr>
          <p:cNvPr id="285" name="Google Shape;285;g385460031d5_0_75"/>
          <p:cNvSpPr txBox="1"/>
          <p:nvPr/>
        </p:nvSpPr>
        <p:spPr>
          <a:xfrm>
            <a:off x="543600" y="1261790"/>
            <a:ext cx="81897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Suppose the measured output voltage between measuring junction and reference junction using thermocouple is 3.41mV. Reference junction temperature is 22 C.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g385460031d5_0_75"/>
          <p:cNvSpPr txBox="1"/>
          <p:nvPr/>
        </p:nvSpPr>
        <p:spPr>
          <a:xfrm>
            <a:off x="518200" y="1871390"/>
            <a:ext cx="76575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What will be the temperature of the measuring junction? </a:t>
            </a:r>
            <a:r>
              <a:rPr baseline="30000" lang="en" sz="2250">
                <a:solidFill>
                  <a:srgbClr val="0077D4"/>
                </a:solidFill>
                <a:latin typeface="Arial"/>
                <a:ea typeface="Arial"/>
                <a:cs typeface="Arial"/>
                <a:sym typeface="Arial"/>
              </a:rPr>
              <a:t>Also find the seebeck</a:t>
            </a:r>
            <a:endParaRPr baseline="30000" sz="2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85460031d5_0_75"/>
          <p:cNvSpPr txBox="1"/>
          <p:nvPr/>
        </p:nvSpPr>
        <p:spPr>
          <a:xfrm>
            <a:off x="629469" y="2405151"/>
            <a:ext cx="1576800" cy="19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12700" marR="321945" rtl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know, Vout = Vh - Vc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9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Vout = a (Th - Tc)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46355" rtl="0" algn="l">
              <a:lnSpc>
                <a:spcPct val="111333"/>
              </a:lnSpc>
              <a:spcBef>
                <a:spcPts val="965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Vout=3.41mV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46355" rtl="0" algn="l">
              <a:lnSpc>
                <a:spcPct val="111333"/>
              </a:lnSpc>
              <a:spcBef>
                <a:spcPts val="965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Tc=22 degree C Th=?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g385460031d5_0_75"/>
          <p:cNvSpPr txBox="1"/>
          <p:nvPr>
            <p:ph idx="1" type="body"/>
          </p:nvPr>
        </p:nvSpPr>
        <p:spPr>
          <a:xfrm>
            <a:off x="4159250" y="2312350"/>
            <a:ext cx="4780200" cy="20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5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table,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2419350" rtl="0" algn="l">
              <a:lnSpc>
                <a:spcPct val="111333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T=22 C, V=0.879 mV So, Vc=0.879 mV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Thus, Vout=Vh-Vc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41655" marR="2974975" rtl="0" algn="l">
              <a:lnSpc>
                <a:spcPct val="111333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3.41=Vh-0.879 Vh=4.289mV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11333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From table, when V=4.289 approx., T= 104 or 105 C So, Th= 105 (4.289 close to 4.303 thann 4.262)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g385460031d5_0_75"/>
          <p:cNvSpPr txBox="1"/>
          <p:nvPr/>
        </p:nvSpPr>
        <p:spPr>
          <a:xfrm>
            <a:off x="4211525" y="4378455"/>
            <a:ext cx="25782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a=3.41/(105-22) = 0.0411</a:t>
            </a:r>
            <a:endParaRPr sz="15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g385460031d5_0_75"/>
          <p:cNvSpPr/>
          <p:nvPr/>
        </p:nvSpPr>
        <p:spPr>
          <a:xfrm>
            <a:off x="5162654" y="2558369"/>
            <a:ext cx="55879" cy="43814"/>
          </a:xfrm>
          <a:custGeom>
            <a:rect b="b" l="l" r="r" t="t"/>
            <a:pathLst>
              <a:path extrusionOk="0" h="43814" w="55879">
                <a:moveTo>
                  <a:pt x="19890" y="3853"/>
                </a:moveTo>
                <a:lnTo>
                  <a:pt x="20183" y="3853"/>
                </a:lnTo>
                <a:lnTo>
                  <a:pt x="20549" y="3853"/>
                </a:lnTo>
                <a:lnTo>
                  <a:pt x="20914" y="3853"/>
                </a:lnTo>
                <a:lnTo>
                  <a:pt x="21542" y="3963"/>
                </a:lnTo>
                <a:lnTo>
                  <a:pt x="22083" y="3853"/>
                </a:lnTo>
                <a:lnTo>
                  <a:pt x="22624" y="3743"/>
                </a:lnTo>
                <a:lnTo>
                  <a:pt x="23148" y="3450"/>
                </a:lnTo>
                <a:lnTo>
                  <a:pt x="23794" y="3194"/>
                </a:lnTo>
                <a:lnTo>
                  <a:pt x="24441" y="2939"/>
                </a:lnTo>
                <a:lnTo>
                  <a:pt x="25153" y="2604"/>
                </a:lnTo>
                <a:lnTo>
                  <a:pt x="25961" y="2319"/>
                </a:lnTo>
                <a:lnTo>
                  <a:pt x="26771" y="2033"/>
                </a:lnTo>
                <a:lnTo>
                  <a:pt x="27675" y="1734"/>
                </a:lnTo>
                <a:lnTo>
                  <a:pt x="28647" y="1483"/>
                </a:lnTo>
                <a:lnTo>
                  <a:pt x="29619" y="1232"/>
                </a:lnTo>
                <a:lnTo>
                  <a:pt x="30686" y="1002"/>
                </a:lnTo>
                <a:lnTo>
                  <a:pt x="31794" y="810"/>
                </a:lnTo>
                <a:lnTo>
                  <a:pt x="32901" y="618"/>
                </a:lnTo>
                <a:lnTo>
                  <a:pt x="34087" y="461"/>
                </a:lnTo>
                <a:lnTo>
                  <a:pt x="35294" y="332"/>
                </a:lnTo>
                <a:lnTo>
                  <a:pt x="36501" y="202"/>
                </a:lnTo>
                <a:lnTo>
                  <a:pt x="37874" y="0"/>
                </a:lnTo>
                <a:lnTo>
                  <a:pt x="39035" y="33"/>
                </a:lnTo>
                <a:lnTo>
                  <a:pt x="40196" y="67"/>
                </a:lnTo>
                <a:lnTo>
                  <a:pt x="41209" y="314"/>
                </a:lnTo>
                <a:lnTo>
                  <a:pt x="42260" y="533"/>
                </a:lnTo>
                <a:lnTo>
                  <a:pt x="43310" y="752"/>
                </a:lnTo>
                <a:lnTo>
                  <a:pt x="44301" y="1073"/>
                </a:lnTo>
                <a:lnTo>
                  <a:pt x="45337" y="1347"/>
                </a:lnTo>
                <a:lnTo>
                  <a:pt x="46373" y="1622"/>
                </a:lnTo>
                <a:lnTo>
                  <a:pt x="47514" y="1815"/>
                </a:lnTo>
                <a:lnTo>
                  <a:pt x="48476" y="2180"/>
                </a:lnTo>
                <a:lnTo>
                  <a:pt x="49439" y="2546"/>
                </a:lnTo>
                <a:lnTo>
                  <a:pt x="50351" y="2972"/>
                </a:lnTo>
                <a:lnTo>
                  <a:pt x="51112" y="3540"/>
                </a:lnTo>
                <a:lnTo>
                  <a:pt x="51874" y="4108"/>
                </a:lnTo>
                <a:lnTo>
                  <a:pt x="52517" y="4797"/>
                </a:lnTo>
                <a:lnTo>
                  <a:pt x="53049" y="5589"/>
                </a:lnTo>
                <a:lnTo>
                  <a:pt x="53581" y="6382"/>
                </a:lnTo>
                <a:lnTo>
                  <a:pt x="53980" y="7305"/>
                </a:lnTo>
                <a:lnTo>
                  <a:pt x="54306" y="8295"/>
                </a:lnTo>
                <a:lnTo>
                  <a:pt x="54633" y="9284"/>
                </a:lnTo>
                <a:lnTo>
                  <a:pt x="54842" y="10387"/>
                </a:lnTo>
                <a:lnTo>
                  <a:pt x="55010" y="11526"/>
                </a:lnTo>
                <a:lnTo>
                  <a:pt x="55179" y="12665"/>
                </a:lnTo>
                <a:lnTo>
                  <a:pt x="55257" y="13890"/>
                </a:lnTo>
                <a:lnTo>
                  <a:pt x="55318" y="15130"/>
                </a:lnTo>
                <a:lnTo>
                  <a:pt x="55379" y="16369"/>
                </a:lnTo>
                <a:lnTo>
                  <a:pt x="55379" y="17666"/>
                </a:lnTo>
                <a:lnTo>
                  <a:pt x="55376" y="18965"/>
                </a:lnTo>
                <a:lnTo>
                  <a:pt x="55372" y="20264"/>
                </a:lnTo>
                <a:lnTo>
                  <a:pt x="55333" y="21596"/>
                </a:lnTo>
                <a:lnTo>
                  <a:pt x="55298" y="22923"/>
                </a:lnTo>
                <a:lnTo>
                  <a:pt x="55263" y="24250"/>
                </a:lnTo>
                <a:lnTo>
                  <a:pt x="55211" y="25593"/>
                </a:lnTo>
                <a:lnTo>
                  <a:pt x="55166" y="26928"/>
                </a:lnTo>
                <a:lnTo>
                  <a:pt x="55121" y="28263"/>
                </a:lnTo>
                <a:lnTo>
                  <a:pt x="55071" y="29602"/>
                </a:lnTo>
                <a:lnTo>
                  <a:pt x="55029" y="30934"/>
                </a:lnTo>
                <a:lnTo>
                  <a:pt x="54988" y="32266"/>
                </a:lnTo>
                <a:lnTo>
                  <a:pt x="55057" y="33704"/>
                </a:lnTo>
                <a:lnTo>
                  <a:pt x="54914" y="34918"/>
                </a:lnTo>
                <a:lnTo>
                  <a:pt x="54770" y="36131"/>
                </a:lnTo>
                <a:lnTo>
                  <a:pt x="54559" y="37265"/>
                </a:lnTo>
                <a:lnTo>
                  <a:pt x="54169" y="38213"/>
                </a:lnTo>
                <a:lnTo>
                  <a:pt x="53781" y="39161"/>
                </a:lnTo>
                <a:lnTo>
                  <a:pt x="50178" y="42137"/>
                </a:lnTo>
                <a:lnTo>
                  <a:pt x="49268" y="42533"/>
                </a:lnTo>
                <a:lnTo>
                  <a:pt x="43597" y="43334"/>
                </a:lnTo>
                <a:lnTo>
                  <a:pt x="42373" y="43402"/>
                </a:lnTo>
                <a:lnTo>
                  <a:pt x="41078" y="43395"/>
                </a:lnTo>
                <a:lnTo>
                  <a:pt x="39780" y="43384"/>
                </a:lnTo>
                <a:lnTo>
                  <a:pt x="38482" y="43374"/>
                </a:lnTo>
                <a:lnTo>
                  <a:pt x="37141" y="43321"/>
                </a:lnTo>
                <a:lnTo>
                  <a:pt x="35807" y="43274"/>
                </a:lnTo>
                <a:lnTo>
                  <a:pt x="34473" y="43227"/>
                </a:lnTo>
                <a:lnTo>
                  <a:pt x="33119" y="43159"/>
                </a:lnTo>
                <a:lnTo>
                  <a:pt x="31774" y="43102"/>
                </a:lnTo>
                <a:lnTo>
                  <a:pt x="30429" y="43044"/>
                </a:lnTo>
                <a:lnTo>
                  <a:pt x="29078" y="42981"/>
                </a:lnTo>
                <a:lnTo>
                  <a:pt x="27737" y="42928"/>
                </a:lnTo>
                <a:lnTo>
                  <a:pt x="19751" y="42677"/>
                </a:lnTo>
                <a:lnTo>
                  <a:pt x="18432" y="42648"/>
                </a:lnTo>
                <a:lnTo>
                  <a:pt x="17011" y="42736"/>
                </a:lnTo>
                <a:lnTo>
                  <a:pt x="15812" y="42609"/>
                </a:lnTo>
                <a:lnTo>
                  <a:pt x="14614" y="42481"/>
                </a:lnTo>
                <a:lnTo>
                  <a:pt x="13604" y="42177"/>
                </a:lnTo>
                <a:lnTo>
                  <a:pt x="12560" y="41912"/>
                </a:lnTo>
                <a:lnTo>
                  <a:pt x="11516" y="41648"/>
                </a:lnTo>
                <a:lnTo>
                  <a:pt x="10446" y="41418"/>
                </a:lnTo>
                <a:lnTo>
                  <a:pt x="9547" y="41020"/>
                </a:lnTo>
                <a:lnTo>
                  <a:pt x="8648" y="40622"/>
                </a:lnTo>
                <a:lnTo>
                  <a:pt x="7949" y="40030"/>
                </a:lnTo>
                <a:lnTo>
                  <a:pt x="7165" y="39523"/>
                </a:lnTo>
                <a:lnTo>
                  <a:pt x="6381" y="39017"/>
                </a:lnTo>
                <a:lnTo>
                  <a:pt x="5547" y="38564"/>
                </a:lnTo>
                <a:lnTo>
                  <a:pt x="4845" y="37979"/>
                </a:lnTo>
                <a:lnTo>
                  <a:pt x="4142" y="37394"/>
                </a:lnTo>
                <a:lnTo>
                  <a:pt x="3492" y="36758"/>
                </a:lnTo>
                <a:lnTo>
                  <a:pt x="2950" y="36014"/>
                </a:lnTo>
                <a:lnTo>
                  <a:pt x="2407" y="35271"/>
                </a:lnTo>
                <a:lnTo>
                  <a:pt x="263" y="27117"/>
                </a:lnTo>
                <a:lnTo>
                  <a:pt x="154" y="25938"/>
                </a:lnTo>
                <a:lnTo>
                  <a:pt x="0" y="24584"/>
                </a:lnTo>
                <a:lnTo>
                  <a:pt x="75" y="23438"/>
                </a:lnTo>
                <a:lnTo>
                  <a:pt x="150" y="22293"/>
                </a:lnTo>
                <a:lnTo>
                  <a:pt x="451" y="21288"/>
                </a:lnTo>
                <a:lnTo>
                  <a:pt x="715" y="20245"/>
                </a:lnTo>
                <a:lnTo>
                  <a:pt x="980" y="19201"/>
                </a:lnTo>
                <a:lnTo>
                  <a:pt x="1238" y="18213"/>
                </a:lnTo>
                <a:lnTo>
                  <a:pt x="1662" y="17178"/>
                </a:lnTo>
                <a:lnTo>
                  <a:pt x="2085" y="16144"/>
                </a:lnTo>
                <a:lnTo>
                  <a:pt x="2607" y="15002"/>
                </a:lnTo>
                <a:lnTo>
                  <a:pt x="3258" y="14038"/>
                </a:lnTo>
                <a:lnTo>
                  <a:pt x="3909" y="13074"/>
                </a:lnTo>
                <a:lnTo>
                  <a:pt x="4693" y="12160"/>
                </a:lnTo>
                <a:lnTo>
                  <a:pt x="5567" y="11395"/>
                </a:lnTo>
                <a:lnTo>
                  <a:pt x="6440" y="10630"/>
                </a:lnTo>
                <a:lnTo>
                  <a:pt x="7552" y="9985"/>
                </a:lnTo>
                <a:lnTo>
                  <a:pt x="8498" y="9450"/>
                </a:lnTo>
                <a:lnTo>
                  <a:pt x="9444" y="8915"/>
                </a:lnTo>
                <a:lnTo>
                  <a:pt x="10784" y="8395"/>
                </a:lnTo>
                <a:lnTo>
                  <a:pt x="11241" y="8184"/>
                </a:lnTo>
              </a:path>
            </a:pathLst>
          </a:custGeom>
          <a:noFill/>
          <a:ln cap="flat" cmpd="sng" w="19050">
            <a:solidFill>
              <a:srgbClr val="004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g385460031d5_0_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0584" y="3578400"/>
            <a:ext cx="73792" cy="89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g38566d975cb_0_73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297" name="Google Shape;297;g38566d975cb_0_73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g38566d975cb_0_73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9" name="Google Shape;299;g38566d975cb_0_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g38566d975cb_0_73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1" name="Google Shape;301;g38566d975cb_0_73"/>
          <p:cNvSpPr txBox="1"/>
          <p:nvPr>
            <p:ph type="title"/>
          </p:nvPr>
        </p:nvSpPr>
        <p:spPr>
          <a:xfrm>
            <a:off x="384725" y="494103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Resistance Temperature Detector (RTD)</a:t>
            </a:r>
            <a:endParaRPr/>
          </a:p>
        </p:txBody>
      </p:sp>
      <p:sp>
        <p:nvSpPr>
          <p:cNvPr id="302" name="Google Shape;302;g38566d975cb_0_73"/>
          <p:cNvSpPr txBox="1"/>
          <p:nvPr/>
        </p:nvSpPr>
        <p:spPr>
          <a:xfrm>
            <a:off x="660400" y="1355725"/>
            <a:ext cx="7930500" cy="350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2425" lvl="0" marL="352425" rtl="0" algn="l">
              <a:lnSpc>
                <a:spcPct val="95588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Resistance Temperature Detector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is another commonly used Temperature Sensor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2425" lvl="0" marL="352425" rtl="0" algn="l">
              <a:lnSpc>
                <a:spcPct val="95588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It is actually a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resistor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which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change value with a change in temperature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2425" lvl="0" marL="352425" rtl="0" algn="l">
              <a:lnSpc>
                <a:spcPct val="95588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It consists of a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wire or a thin film of platinum or a nickel wire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2425" lvl="0" marL="352425" rtl="0" algn="l">
              <a:lnSpc>
                <a:spcPct val="95588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Response of RTDs is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non-linea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r but they have excellent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lnSpc>
                <a:spcPct val="95588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○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Stability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(This is the sensor's ability to maintain a consistent output when a constant input is applied)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lnSpc>
                <a:spcPct val="95588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○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Repeatability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(is the sensor's ability to give the same output or reading under repeated identical conditions.)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95588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It is useful for measures in the range of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-250 to +850° C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95588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The resistance of an RTD increases with an increase in temperature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95588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Change in the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resistance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converted into a proportional voltage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95588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Used where precise temperature measurement is needed 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g38566d975cb_0_97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308" name="Google Shape;308;g38566d975cb_0_97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g38566d975cb_0_97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0" name="Google Shape;310;g38566d975cb_0_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g38566d975cb_0_97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" name="Google Shape;312;g38566d975cb_0_97"/>
          <p:cNvSpPr txBox="1"/>
          <p:nvPr>
            <p:ph type="title"/>
          </p:nvPr>
        </p:nvSpPr>
        <p:spPr>
          <a:xfrm>
            <a:off x="384725" y="478356"/>
            <a:ext cx="17610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Thermistor</a:t>
            </a:r>
            <a:endParaRPr/>
          </a:p>
        </p:txBody>
      </p:sp>
      <p:sp>
        <p:nvSpPr>
          <p:cNvPr id="313" name="Google Shape;313;g38566d975cb_0_97"/>
          <p:cNvSpPr txBox="1"/>
          <p:nvPr/>
        </p:nvSpPr>
        <p:spPr>
          <a:xfrm>
            <a:off x="459950" y="1195000"/>
            <a:ext cx="74724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•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Thermistors consists of</a:t>
            </a: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 semiconductor materials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•"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Resistance decreases nonlinearly with temperature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•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Relatively inexpensive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•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Very fast response time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•"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Applicable where precise measurement is not required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g38566d975cb_0_9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g38567684150_0_0"/>
          <p:cNvGrpSpPr/>
          <p:nvPr/>
        </p:nvGrpSpPr>
        <p:grpSpPr>
          <a:xfrm>
            <a:off x="0" y="0"/>
            <a:ext cx="9144615" cy="5143913"/>
            <a:chOff x="0" y="0"/>
            <a:chExt cx="9144615" cy="5143913"/>
          </a:xfrm>
        </p:grpSpPr>
        <p:pic>
          <p:nvPicPr>
            <p:cNvPr id="320" name="Google Shape;320;g38567684150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g38567684150_0_0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g38567684150_0_0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3" name="Google Shape;323;g38567684150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g38567684150_0_0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g38567684150_0_0"/>
          <p:cNvSpPr txBox="1"/>
          <p:nvPr>
            <p:ph type="ctrTitle"/>
          </p:nvPr>
        </p:nvSpPr>
        <p:spPr>
          <a:xfrm>
            <a:off x="1351388" y="2217060"/>
            <a:ext cx="64413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Force and Pressure Sensors</a:t>
            </a:r>
            <a:endParaRPr sz="4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g38567684150_0_62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331" name="Google Shape;331;g38567684150_0_62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g38567684150_0_62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3" name="Google Shape;333;g38567684150_0_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g38567684150_0_62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g38567684150_0_62"/>
          <p:cNvSpPr txBox="1"/>
          <p:nvPr>
            <p:ph type="title"/>
          </p:nvPr>
        </p:nvSpPr>
        <p:spPr>
          <a:xfrm>
            <a:off x="384725" y="494103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Strain Gages</a:t>
            </a:r>
            <a:endParaRPr/>
          </a:p>
        </p:txBody>
      </p:sp>
      <p:sp>
        <p:nvSpPr>
          <p:cNvPr id="336" name="Google Shape;336;g38567684150_0_62"/>
          <p:cNvSpPr txBox="1"/>
          <p:nvPr/>
        </p:nvSpPr>
        <p:spPr>
          <a:xfrm>
            <a:off x="720874" y="937794"/>
            <a:ext cx="7516500" cy="4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66395" lvl="0" marL="37909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It is a small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resisto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 whose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value changes when its length is changed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just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It is made of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thin wire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thin foil or semiconductor material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just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One end of a piece of spring steel is attached to a fixed surface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just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strain gage is glued on the top of the flexible bar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just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force or weight to be measured is applied to the unattached end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of the bar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325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As the applied force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bend the bar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, the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strain gage is stretched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increasing its resistance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325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Since the a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mount that the bar is bent is directly proportional to the applied force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325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change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in the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resistance will be proportional to the applied force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32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32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g38567684150_0_62"/>
          <p:cNvSpPr txBox="1"/>
          <p:nvPr/>
        </p:nvSpPr>
        <p:spPr>
          <a:xfrm>
            <a:off x="2870107" y="3273707"/>
            <a:ext cx="5966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g38567684150_0_127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343" name="Google Shape;343;g38567684150_0_127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g38567684150_0_127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5" name="Google Shape;345;g38567684150_0_1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g38567684150_0_127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7" name="Google Shape;347;g38567684150_0_127"/>
          <p:cNvSpPr txBox="1"/>
          <p:nvPr>
            <p:ph type="title"/>
          </p:nvPr>
        </p:nvSpPr>
        <p:spPr>
          <a:xfrm>
            <a:off x="71075" y="65478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Strain Gages</a:t>
            </a:r>
            <a:endParaRPr/>
          </a:p>
        </p:txBody>
      </p:sp>
      <p:sp>
        <p:nvSpPr>
          <p:cNvPr id="348" name="Google Shape;348;g38567684150_0_127"/>
          <p:cNvSpPr txBox="1"/>
          <p:nvPr/>
        </p:nvSpPr>
        <p:spPr>
          <a:xfrm>
            <a:off x="145900" y="598100"/>
            <a:ext cx="4942800" cy="3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If current is passed through the strain gage,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then the change in voltage across the strain gage will be proportional to the applied force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Unfortunately the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resistance of strain gage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element also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changes with the temperature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Two Strain gage elements are mounted at right angles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If the elements are connected in a balanced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–bridge configuration,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any change in the resistance due to temperature will have no effect on the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differential output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of the bridge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49" name="Google Shape;349;g38567684150_0_127"/>
          <p:cNvGrpSpPr/>
          <p:nvPr/>
        </p:nvGrpSpPr>
        <p:grpSpPr>
          <a:xfrm>
            <a:off x="5715896" y="509170"/>
            <a:ext cx="2770390" cy="4217362"/>
            <a:chOff x="5715961" y="509175"/>
            <a:chExt cx="2658214" cy="4046596"/>
          </a:xfrm>
        </p:grpSpPr>
        <p:pic>
          <p:nvPicPr>
            <p:cNvPr id="350" name="Google Shape;350;g38567684150_0_1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43350" y="2849297"/>
              <a:ext cx="2230820" cy="1706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g38567684150_0_1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961" y="509175"/>
              <a:ext cx="2658214" cy="20505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g38567684150_0_229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357" name="Google Shape;357;g38567684150_0_229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g38567684150_0_229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9" name="Google Shape;359;g38567684150_0_2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" name="Google Shape;360;g38567684150_0_229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1" name="Google Shape;361;g38567684150_0_229"/>
          <p:cNvSpPr txBox="1"/>
          <p:nvPr>
            <p:ph type="title"/>
          </p:nvPr>
        </p:nvSpPr>
        <p:spPr>
          <a:xfrm>
            <a:off x="71075" y="65478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Strain Gages</a:t>
            </a:r>
            <a:endParaRPr/>
          </a:p>
        </p:txBody>
      </p:sp>
      <p:pic>
        <p:nvPicPr>
          <p:cNvPr id="362" name="Google Shape;362;g38567684150_0_229" title="Screenshot (10).png"/>
          <p:cNvPicPr preferRelativeResize="0"/>
          <p:nvPr/>
        </p:nvPicPr>
        <p:blipFill rotWithShape="1">
          <a:blip r:embed="rId4">
            <a:alphaModFix/>
          </a:blip>
          <a:srcRect b="21310" l="26657" r="30587" t="37462"/>
          <a:stretch/>
        </p:blipFill>
        <p:spPr>
          <a:xfrm>
            <a:off x="3091850" y="1380575"/>
            <a:ext cx="3104925" cy="168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g38567684150_0_157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368" name="Google Shape;368;g38567684150_0_157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g38567684150_0_157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0" name="Google Shape;370;g38567684150_0_1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g38567684150_0_157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g38567684150_0_157"/>
          <p:cNvSpPr txBox="1"/>
          <p:nvPr>
            <p:ph type="title"/>
          </p:nvPr>
        </p:nvSpPr>
        <p:spPr>
          <a:xfrm>
            <a:off x="71075" y="65478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Strain Gages</a:t>
            </a:r>
            <a:endParaRPr/>
          </a:p>
        </p:txBody>
      </p:sp>
      <p:pic>
        <p:nvPicPr>
          <p:cNvPr id="373" name="Google Shape;373;g38567684150_0_157" title="Screenshot (2).png"/>
          <p:cNvPicPr preferRelativeResize="0"/>
          <p:nvPr/>
        </p:nvPicPr>
        <p:blipFill rotWithShape="1">
          <a:blip r:embed="rId4">
            <a:alphaModFix/>
          </a:blip>
          <a:srcRect b="14153" l="0" r="0" t="14793"/>
          <a:stretch/>
        </p:blipFill>
        <p:spPr>
          <a:xfrm>
            <a:off x="940963" y="1121225"/>
            <a:ext cx="7262076" cy="2901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g38567684150_0_185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379" name="Google Shape;379;g38567684150_0_185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g38567684150_0_185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1" name="Google Shape;381;g38567684150_0_1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2" name="Google Shape;382;g38567684150_0_185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3" name="Google Shape;383;g38567684150_0_185"/>
          <p:cNvSpPr txBox="1"/>
          <p:nvPr>
            <p:ph type="title"/>
          </p:nvPr>
        </p:nvSpPr>
        <p:spPr>
          <a:xfrm>
            <a:off x="71075" y="65478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Strain Gages</a:t>
            </a:r>
            <a:endParaRPr/>
          </a:p>
        </p:txBody>
      </p:sp>
      <p:pic>
        <p:nvPicPr>
          <p:cNvPr id="384" name="Google Shape;384;g38567684150_0_185" title="Screenshot (4).png"/>
          <p:cNvPicPr preferRelativeResize="0"/>
          <p:nvPr/>
        </p:nvPicPr>
        <p:blipFill rotWithShape="1">
          <a:blip r:embed="rId4">
            <a:alphaModFix/>
          </a:blip>
          <a:srcRect b="10552" l="2043" r="7121" t="13913"/>
          <a:stretch/>
        </p:blipFill>
        <p:spPr>
          <a:xfrm>
            <a:off x="1241450" y="1098300"/>
            <a:ext cx="6596650" cy="308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g38567684150_0_196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390" name="Google Shape;390;g38567684150_0_196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g38567684150_0_196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92" name="Google Shape;392;g38567684150_0_19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" name="Google Shape;393;g38567684150_0_196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4" name="Google Shape;394;g38567684150_0_196"/>
          <p:cNvSpPr txBox="1"/>
          <p:nvPr>
            <p:ph type="title"/>
          </p:nvPr>
        </p:nvSpPr>
        <p:spPr>
          <a:xfrm>
            <a:off x="71075" y="65478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Strain Gages</a:t>
            </a:r>
            <a:endParaRPr/>
          </a:p>
        </p:txBody>
      </p:sp>
      <p:pic>
        <p:nvPicPr>
          <p:cNvPr id="395" name="Google Shape;395;g38567684150_0_196" title="Screenshot (5).png"/>
          <p:cNvPicPr preferRelativeResize="0"/>
          <p:nvPr/>
        </p:nvPicPr>
        <p:blipFill rotWithShape="1">
          <a:blip r:embed="rId4">
            <a:alphaModFix/>
          </a:blip>
          <a:srcRect b="8125" l="887" r="4683" t="13516"/>
          <a:stretch/>
        </p:blipFill>
        <p:spPr>
          <a:xfrm>
            <a:off x="1199625" y="1161025"/>
            <a:ext cx="6858000" cy="31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g38567684150_0_207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401" name="Google Shape;401;g38567684150_0_207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g38567684150_0_207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3" name="Google Shape;403;g38567684150_0_2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g38567684150_0_207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5" name="Google Shape;405;g38567684150_0_207"/>
          <p:cNvSpPr txBox="1"/>
          <p:nvPr>
            <p:ph type="title"/>
          </p:nvPr>
        </p:nvSpPr>
        <p:spPr>
          <a:xfrm>
            <a:off x="71075" y="65478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Strain Gages</a:t>
            </a:r>
            <a:endParaRPr/>
          </a:p>
        </p:txBody>
      </p:sp>
      <p:pic>
        <p:nvPicPr>
          <p:cNvPr id="406" name="Google Shape;406;g38567684150_0_207" title="Screenshot (8).png"/>
          <p:cNvPicPr preferRelativeResize="0"/>
          <p:nvPr/>
        </p:nvPicPr>
        <p:blipFill rotWithShape="1">
          <a:blip r:embed="rId4">
            <a:alphaModFix/>
          </a:blip>
          <a:srcRect b="9415" l="4202" r="3230" t="11464"/>
          <a:stretch/>
        </p:blipFill>
        <p:spPr>
          <a:xfrm>
            <a:off x="1147350" y="1025150"/>
            <a:ext cx="6722100" cy="323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g38567684150_0_218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412" name="Google Shape;412;g38567684150_0_218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g38567684150_0_218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4" name="Google Shape;414;g38567684150_0_2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" name="Google Shape;415;g38567684150_0_218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6" name="Google Shape;416;g38567684150_0_218"/>
          <p:cNvSpPr txBox="1"/>
          <p:nvPr>
            <p:ph type="title"/>
          </p:nvPr>
        </p:nvSpPr>
        <p:spPr>
          <a:xfrm>
            <a:off x="71075" y="65478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Strain Gages</a:t>
            </a:r>
            <a:endParaRPr/>
          </a:p>
        </p:txBody>
      </p:sp>
      <p:pic>
        <p:nvPicPr>
          <p:cNvPr id="417" name="Google Shape;417;g38567684150_0_218" title="Screenshot (9).png"/>
          <p:cNvPicPr preferRelativeResize="0"/>
          <p:nvPr/>
        </p:nvPicPr>
        <p:blipFill rotWithShape="1">
          <a:blip r:embed="rId4">
            <a:alphaModFix/>
          </a:blip>
          <a:srcRect b="8143" l="6501" r="13028" t="12717"/>
          <a:stretch/>
        </p:blipFill>
        <p:spPr>
          <a:xfrm>
            <a:off x="500050" y="1176700"/>
            <a:ext cx="4515374" cy="29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g38567684150_0_218" title="instrumentationtools.com_strain-gauge-animation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0550" y="1176700"/>
            <a:ext cx="3823774" cy="29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g38567684150_0_629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424" name="Google Shape;424;g38567684150_0_629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g38567684150_0_629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6" name="Google Shape;426;g38567684150_0_6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g38567684150_0_629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8" name="Google Shape;428;g38567684150_0_629"/>
          <p:cNvSpPr txBox="1"/>
          <p:nvPr>
            <p:ph type="title"/>
          </p:nvPr>
        </p:nvSpPr>
        <p:spPr>
          <a:xfrm>
            <a:off x="71075" y="65478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Strain Gages</a:t>
            </a:r>
            <a:endParaRPr/>
          </a:p>
        </p:txBody>
      </p:sp>
      <p:pic>
        <p:nvPicPr>
          <p:cNvPr id="429" name="Google Shape;429;g38567684150_0_629" title="instrumentationtools.com_strain-gauge-animation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0550" y="1176700"/>
            <a:ext cx="3823774" cy="290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g38567684150_0_629" title="32st0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600" y="1441015"/>
            <a:ext cx="4638675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8567684150_0_615"/>
          <p:cNvSpPr/>
          <p:nvPr/>
        </p:nvSpPr>
        <p:spPr>
          <a:xfrm>
            <a:off x="393700" y="581025"/>
            <a:ext cx="838200" cy="355600"/>
          </a:xfrm>
          <a:custGeom>
            <a:rect b="b" l="l" r="r" t="t"/>
            <a:pathLst>
              <a:path extrusionOk="0" h="355600" w="838200">
                <a:moveTo>
                  <a:pt x="838200" y="0"/>
                </a:moveTo>
                <a:lnTo>
                  <a:pt x="0" y="0"/>
                </a:lnTo>
                <a:lnTo>
                  <a:pt x="0" y="355600"/>
                </a:lnTo>
                <a:lnTo>
                  <a:pt x="838200" y="355600"/>
                </a:lnTo>
                <a:lnTo>
                  <a:pt x="838200" y="0"/>
                </a:lnTo>
                <a:close/>
              </a:path>
            </a:pathLst>
          </a:custGeom>
          <a:solidFill>
            <a:srgbClr val="FFEF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8567684150_0_615"/>
          <p:cNvSpPr txBox="1"/>
          <p:nvPr>
            <p:ph type="title"/>
          </p:nvPr>
        </p:nvSpPr>
        <p:spPr>
          <a:xfrm>
            <a:off x="384725" y="494103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</a:t>
            </a:r>
            <a:endParaRPr/>
          </a:p>
        </p:txBody>
      </p:sp>
      <p:sp>
        <p:nvSpPr>
          <p:cNvPr id="437" name="Google Shape;437;g38567684150_0_615"/>
          <p:cNvSpPr txBox="1"/>
          <p:nvPr/>
        </p:nvSpPr>
        <p:spPr>
          <a:xfrm>
            <a:off x="543600" y="1258790"/>
            <a:ext cx="84417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362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For a balance bridge: stretch resistor are 4Ω and compressed resistor are 2Ω. Vin is 5V. Find Vout.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8567684150_0_244"/>
          <p:cNvSpPr/>
          <p:nvPr/>
        </p:nvSpPr>
        <p:spPr>
          <a:xfrm>
            <a:off x="393700" y="581025"/>
            <a:ext cx="838200" cy="355600"/>
          </a:xfrm>
          <a:custGeom>
            <a:rect b="b" l="l" r="r" t="t"/>
            <a:pathLst>
              <a:path extrusionOk="0" h="355600" w="838200">
                <a:moveTo>
                  <a:pt x="838200" y="0"/>
                </a:moveTo>
                <a:lnTo>
                  <a:pt x="0" y="0"/>
                </a:lnTo>
                <a:lnTo>
                  <a:pt x="0" y="355600"/>
                </a:lnTo>
                <a:lnTo>
                  <a:pt x="838200" y="355600"/>
                </a:lnTo>
                <a:lnTo>
                  <a:pt x="838200" y="0"/>
                </a:lnTo>
                <a:close/>
              </a:path>
            </a:pathLst>
          </a:custGeom>
          <a:solidFill>
            <a:srgbClr val="FFEF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3" name="Google Shape;443;g38567684150_0_244"/>
          <p:cNvGrpSpPr/>
          <p:nvPr/>
        </p:nvGrpSpPr>
        <p:grpSpPr>
          <a:xfrm>
            <a:off x="0" y="2151294"/>
            <a:ext cx="9144615" cy="2992619"/>
            <a:chOff x="0" y="2151294"/>
            <a:chExt cx="9144615" cy="2992619"/>
          </a:xfrm>
        </p:grpSpPr>
        <p:sp>
          <p:nvSpPr>
            <p:cNvPr id="444" name="Google Shape;444;g38567684150_0_244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g38567684150_0_244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6" name="Google Shape;446;g38567684150_0_2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7" name="Google Shape;447;g38567684150_0_244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8" name="Google Shape;448;g38567684150_0_2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279" y="2151294"/>
              <a:ext cx="3422826" cy="27018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g38567684150_0_244"/>
            <p:cNvSpPr/>
            <p:nvPr/>
          </p:nvSpPr>
          <p:spPr>
            <a:xfrm>
              <a:off x="3494401" y="4204099"/>
              <a:ext cx="283210" cy="213995"/>
            </a:xfrm>
            <a:custGeom>
              <a:rect b="b" l="l" r="r" t="t"/>
              <a:pathLst>
                <a:path extrusionOk="0" h="213995" w="283210">
                  <a:moveTo>
                    <a:pt x="182" y="102878"/>
                  </a:moveTo>
                  <a:lnTo>
                    <a:pt x="182" y="102878"/>
                  </a:lnTo>
                  <a:lnTo>
                    <a:pt x="182" y="54661"/>
                  </a:lnTo>
                  <a:lnTo>
                    <a:pt x="0" y="51308"/>
                  </a:lnTo>
                  <a:lnTo>
                    <a:pt x="182" y="48487"/>
                  </a:lnTo>
                  <a:lnTo>
                    <a:pt x="365" y="45666"/>
                  </a:lnTo>
                  <a:lnTo>
                    <a:pt x="670" y="43107"/>
                  </a:lnTo>
                  <a:lnTo>
                    <a:pt x="7777" y="32403"/>
                  </a:lnTo>
                  <a:lnTo>
                    <a:pt x="9278" y="31571"/>
                  </a:lnTo>
                  <a:lnTo>
                    <a:pt x="11021" y="30898"/>
                  </a:lnTo>
                  <a:lnTo>
                    <a:pt x="12842" y="30688"/>
                  </a:lnTo>
                  <a:lnTo>
                    <a:pt x="14663" y="30477"/>
                  </a:lnTo>
                  <a:lnTo>
                    <a:pt x="16667" y="30822"/>
                  </a:lnTo>
                  <a:lnTo>
                    <a:pt x="18703" y="31141"/>
                  </a:lnTo>
                  <a:lnTo>
                    <a:pt x="20740" y="31460"/>
                  </a:lnTo>
                  <a:lnTo>
                    <a:pt x="22898" y="31707"/>
                  </a:lnTo>
                  <a:lnTo>
                    <a:pt x="25062" y="32602"/>
                  </a:lnTo>
                  <a:lnTo>
                    <a:pt x="27225" y="33497"/>
                  </a:lnTo>
                  <a:lnTo>
                    <a:pt x="29642" y="34932"/>
                  </a:lnTo>
                  <a:lnTo>
                    <a:pt x="31684" y="36511"/>
                  </a:lnTo>
                  <a:lnTo>
                    <a:pt x="33725" y="38089"/>
                  </a:lnTo>
                  <a:lnTo>
                    <a:pt x="35495" y="40057"/>
                  </a:lnTo>
                  <a:lnTo>
                    <a:pt x="37312" y="42075"/>
                  </a:lnTo>
                  <a:lnTo>
                    <a:pt x="39129" y="44093"/>
                  </a:lnTo>
                  <a:lnTo>
                    <a:pt x="40823" y="46357"/>
                  </a:lnTo>
                  <a:lnTo>
                    <a:pt x="42583" y="48617"/>
                  </a:lnTo>
                  <a:lnTo>
                    <a:pt x="44343" y="50876"/>
                  </a:lnTo>
                  <a:lnTo>
                    <a:pt x="46076" y="53270"/>
                  </a:lnTo>
                  <a:lnTo>
                    <a:pt x="47875" y="55632"/>
                  </a:lnTo>
                  <a:lnTo>
                    <a:pt x="49673" y="57993"/>
                  </a:lnTo>
                  <a:lnTo>
                    <a:pt x="51497" y="60410"/>
                  </a:lnTo>
                  <a:lnTo>
                    <a:pt x="53374" y="62786"/>
                  </a:lnTo>
                  <a:lnTo>
                    <a:pt x="55251" y="65163"/>
                  </a:lnTo>
                  <a:lnTo>
                    <a:pt x="57175" y="67363"/>
                  </a:lnTo>
                  <a:lnTo>
                    <a:pt x="59138" y="69891"/>
                  </a:lnTo>
                  <a:lnTo>
                    <a:pt x="61100" y="72419"/>
                  </a:lnTo>
                  <a:lnTo>
                    <a:pt x="63113" y="75233"/>
                  </a:lnTo>
                  <a:lnTo>
                    <a:pt x="65150" y="77955"/>
                  </a:lnTo>
                  <a:lnTo>
                    <a:pt x="67187" y="80677"/>
                  </a:lnTo>
                  <a:lnTo>
                    <a:pt x="76615" y="94286"/>
                  </a:lnTo>
                  <a:lnTo>
                    <a:pt x="78138" y="96910"/>
                  </a:lnTo>
                  <a:lnTo>
                    <a:pt x="84466" y="116196"/>
                  </a:lnTo>
                  <a:lnTo>
                    <a:pt x="84812" y="118468"/>
                  </a:lnTo>
                  <a:lnTo>
                    <a:pt x="84976" y="120683"/>
                  </a:lnTo>
                  <a:lnTo>
                    <a:pt x="85104" y="122884"/>
                  </a:lnTo>
                  <a:lnTo>
                    <a:pt x="85232" y="125085"/>
                  </a:lnTo>
                  <a:lnTo>
                    <a:pt x="85237" y="127246"/>
                  </a:lnTo>
                  <a:lnTo>
                    <a:pt x="85235" y="129403"/>
                  </a:lnTo>
                  <a:lnTo>
                    <a:pt x="85232" y="131560"/>
                  </a:lnTo>
                  <a:lnTo>
                    <a:pt x="85157" y="133693"/>
                  </a:lnTo>
                  <a:lnTo>
                    <a:pt x="85090" y="135826"/>
                  </a:lnTo>
                  <a:lnTo>
                    <a:pt x="85023" y="137960"/>
                  </a:lnTo>
                  <a:lnTo>
                    <a:pt x="84921" y="140080"/>
                  </a:lnTo>
                  <a:lnTo>
                    <a:pt x="84833" y="142205"/>
                  </a:lnTo>
                  <a:lnTo>
                    <a:pt x="84744" y="144329"/>
                  </a:lnTo>
                  <a:lnTo>
                    <a:pt x="84828" y="146632"/>
                  </a:lnTo>
                  <a:lnTo>
                    <a:pt x="84562" y="148573"/>
                  </a:lnTo>
                  <a:lnTo>
                    <a:pt x="81458" y="156460"/>
                  </a:lnTo>
                  <a:lnTo>
                    <a:pt x="80510" y="157693"/>
                  </a:lnTo>
                  <a:lnTo>
                    <a:pt x="79562" y="158927"/>
                  </a:lnTo>
                  <a:lnTo>
                    <a:pt x="78471" y="160010"/>
                  </a:lnTo>
                  <a:lnTo>
                    <a:pt x="77548" y="161255"/>
                  </a:lnTo>
                  <a:lnTo>
                    <a:pt x="76625" y="162501"/>
                  </a:lnTo>
                  <a:lnTo>
                    <a:pt x="75908" y="163946"/>
                  </a:lnTo>
                  <a:lnTo>
                    <a:pt x="74972" y="165169"/>
                  </a:lnTo>
                  <a:lnTo>
                    <a:pt x="74036" y="166392"/>
                  </a:lnTo>
                  <a:lnTo>
                    <a:pt x="72897" y="167407"/>
                  </a:lnTo>
                  <a:lnTo>
                    <a:pt x="71930" y="168593"/>
                  </a:lnTo>
                  <a:lnTo>
                    <a:pt x="70964" y="169779"/>
                  </a:lnTo>
                  <a:lnTo>
                    <a:pt x="70173" y="171138"/>
                  </a:lnTo>
                  <a:lnTo>
                    <a:pt x="69173" y="172287"/>
                  </a:lnTo>
                  <a:lnTo>
                    <a:pt x="57067" y="179501"/>
                  </a:lnTo>
                  <a:lnTo>
                    <a:pt x="55342" y="179923"/>
                  </a:lnTo>
                  <a:lnTo>
                    <a:pt x="53293" y="180386"/>
                  </a:lnTo>
                  <a:lnTo>
                    <a:pt x="51555" y="180430"/>
                  </a:lnTo>
                  <a:lnTo>
                    <a:pt x="49818" y="180475"/>
                  </a:lnTo>
                  <a:lnTo>
                    <a:pt x="48091" y="180285"/>
                  </a:lnTo>
                  <a:lnTo>
                    <a:pt x="46643" y="179768"/>
                  </a:lnTo>
                  <a:lnTo>
                    <a:pt x="45194" y="179251"/>
                  </a:lnTo>
                  <a:lnTo>
                    <a:pt x="37251" y="169792"/>
                  </a:lnTo>
                  <a:lnTo>
                    <a:pt x="36215" y="168102"/>
                  </a:lnTo>
                  <a:lnTo>
                    <a:pt x="35179" y="166413"/>
                  </a:lnTo>
                  <a:lnTo>
                    <a:pt x="33988" y="164838"/>
                  </a:lnTo>
                  <a:lnTo>
                    <a:pt x="32981" y="163177"/>
                  </a:lnTo>
                  <a:lnTo>
                    <a:pt x="31974" y="161516"/>
                  </a:lnTo>
                  <a:lnTo>
                    <a:pt x="30994" y="159866"/>
                  </a:lnTo>
                  <a:lnTo>
                    <a:pt x="30173" y="158136"/>
                  </a:lnTo>
                  <a:lnTo>
                    <a:pt x="29352" y="156406"/>
                  </a:lnTo>
                  <a:lnTo>
                    <a:pt x="28643" y="154633"/>
                  </a:lnTo>
                  <a:lnTo>
                    <a:pt x="28054" y="152798"/>
                  </a:lnTo>
                  <a:lnTo>
                    <a:pt x="27466" y="150962"/>
                  </a:lnTo>
                  <a:lnTo>
                    <a:pt x="27196" y="148882"/>
                  </a:lnTo>
                  <a:lnTo>
                    <a:pt x="26641" y="147123"/>
                  </a:lnTo>
                  <a:lnTo>
                    <a:pt x="26086" y="145364"/>
                  </a:lnTo>
                  <a:lnTo>
                    <a:pt x="25351" y="143849"/>
                  </a:lnTo>
                  <a:lnTo>
                    <a:pt x="24725" y="142244"/>
                  </a:lnTo>
                  <a:lnTo>
                    <a:pt x="24098" y="140640"/>
                  </a:lnTo>
                  <a:lnTo>
                    <a:pt x="23621" y="139117"/>
                  </a:lnTo>
                  <a:lnTo>
                    <a:pt x="22883" y="137497"/>
                  </a:lnTo>
                  <a:lnTo>
                    <a:pt x="22144" y="135877"/>
                  </a:lnTo>
                  <a:lnTo>
                    <a:pt x="21146" y="134244"/>
                  </a:lnTo>
                  <a:lnTo>
                    <a:pt x="20294" y="132526"/>
                  </a:lnTo>
                  <a:lnTo>
                    <a:pt x="19443" y="130809"/>
                  </a:lnTo>
                  <a:lnTo>
                    <a:pt x="18537" y="129032"/>
                  </a:lnTo>
                  <a:lnTo>
                    <a:pt x="17773" y="127193"/>
                  </a:lnTo>
                  <a:lnTo>
                    <a:pt x="14822" y="117333"/>
                  </a:lnTo>
                  <a:lnTo>
                    <a:pt x="14237" y="115473"/>
                  </a:lnTo>
                  <a:lnTo>
                    <a:pt x="13652" y="113612"/>
                  </a:lnTo>
                  <a:lnTo>
                    <a:pt x="12870" y="112004"/>
                  </a:lnTo>
                  <a:lnTo>
                    <a:pt x="12205" y="110323"/>
                  </a:lnTo>
                  <a:lnTo>
                    <a:pt x="11538" y="108642"/>
                  </a:lnTo>
                  <a:lnTo>
                    <a:pt x="10834" y="107058"/>
                  </a:lnTo>
                  <a:lnTo>
                    <a:pt x="10241" y="105387"/>
                  </a:lnTo>
                  <a:lnTo>
                    <a:pt x="6969" y="90772"/>
                  </a:lnTo>
                  <a:lnTo>
                    <a:pt x="6785" y="89180"/>
                  </a:lnTo>
                  <a:lnTo>
                    <a:pt x="6601" y="87589"/>
                  </a:lnTo>
                  <a:lnTo>
                    <a:pt x="6306" y="86365"/>
                  </a:lnTo>
                  <a:lnTo>
                    <a:pt x="6399" y="85357"/>
                  </a:lnTo>
                  <a:lnTo>
                    <a:pt x="6492" y="84350"/>
                  </a:lnTo>
                  <a:lnTo>
                    <a:pt x="6761" y="83498"/>
                  </a:lnTo>
                  <a:lnTo>
                    <a:pt x="7341" y="83136"/>
                  </a:lnTo>
                  <a:lnTo>
                    <a:pt x="7922" y="82775"/>
                  </a:lnTo>
                  <a:lnTo>
                    <a:pt x="8975" y="82801"/>
                  </a:lnTo>
                  <a:lnTo>
                    <a:pt x="9884" y="83189"/>
                  </a:lnTo>
                  <a:lnTo>
                    <a:pt x="10792" y="83578"/>
                  </a:lnTo>
                  <a:lnTo>
                    <a:pt x="11510" y="84587"/>
                  </a:lnTo>
                  <a:lnTo>
                    <a:pt x="12794" y="85467"/>
                  </a:lnTo>
                  <a:lnTo>
                    <a:pt x="21480" y="90100"/>
                  </a:lnTo>
                  <a:lnTo>
                    <a:pt x="23599" y="91324"/>
                  </a:lnTo>
                  <a:lnTo>
                    <a:pt x="25718" y="92548"/>
                  </a:lnTo>
                  <a:lnTo>
                    <a:pt x="28014" y="94124"/>
                  </a:lnTo>
                  <a:lnTo>
                    <a:pt x="30297" y="95811"/>
                  </a:lnTo>
                  <a:lnTo>
                    <a:pt x="32580" y="97499"/>
                  </a:lnTo>
                  <a:lnTo>
                    <a:pt x="34954" y="99451"/>
                  </a:lnTo>
                  <a:lnTo>
                    <a:pt x="37296" y="101449"/>
                  </a:lnTo>
                  <a:lnTo>
                    <a:pt x="39638" y="103446"/>
                  </a:lnTo>
                  <a:lnTo>
                    <a:pt x="42011" y="105802"/>
                  </a:lnTo>
                  <a:lnTo>
                    <a:pt x="44350" y="107798"/>
                  </a:lnTo>
                  <a:lnTo>
                    <a:pt x="46689" y="109794"/>
                  </a:lnTo>
                  <a:lnTo>
                    <a:pt x="49024" y="111586"/>
                  </a:lnTo>
                  <a:lnTo>
                    <a:pt x="51330" y="113425"/>
                  </a:lnTo>
                  <a:lnTo>
                    <a:pt x="53635" y="115263"/>
                  </a:lnTo>
                  <a:lnTo>
                    <a:pt x="55919" y="117199"/>
                  </a:lnTo>
                  <a:lnTo>
                    <a:pt x="58181" y="118829"/>
                  </a:lnTo>
                  <a:lnTo>
                    <a:pt x="60443" y="120460"/>
                  </a:lnTo>
                  <a:lnTo>
                    <a:pt x="62862" y="121773"/>
                  </a:lnTo>
                  <a:lnTo>
                    <a:pt x="64900" y="123204"/>
                  </a:lnTo>
                  <a:lnTo>
                    <a:pt x="66938" y="124635"/>
                  </a:lnTo>
                  <a:lnTo>
                    <a:pt x="68648" y="126145"/>
                  </a:lnTo>
                  <a:lnTo>
                    <a:pt x="70410" y="127417"/>
                  </a:lnTo>
                  <a:lnTo>
                    <a:pt x="72173" y="128688"/>
                  </a:lnTo>
                  <a:lnTo>
                    <a:pt x="73786" y="129857"/>
                  </a:lnTo>
                  <a:lnTo>
                    <a:pt x="75476" y="130831"/>
                  </a:lnTo>
                  <a:lnTo>
                    <a:pt x="77167" y="131807"/>
                  </a:lnTo>
                  <a:lnTo>
                    <a:pt x="79004" y="132423"/>
                  </a:lnTo>
                  <a:lnTo>
                    <a:pt x="80554" y="133267"/>
                  </a:lnTo>
                  <a:lnTo>
                    <a:pt x="82104" y="134111"/>
                  </a:lnTo>
                  <a:lnTo>
                    <a:pt x="83376" y="134895"/>
                  </a:lnTo>
                  <a:lnTo>
                    <a:pt x="84775" y="135895"/>
                  </a:lnTo>
                  <a:lnTo>
                    <a:pt x="86173" y="136896"/>
                  </a:lnTo>
                  <a:lnTo>
                    <a:pt x="87495" y="138178"/>
                  </a:lnTo>
                  <a:lnTo>
                    <a:pt x="88946" y="139269"/>
                  </a:lnTo>
                  <a:lnTo>
                    <a:pt x="90396" y="140360"/>
                  </a:lnTo>
                  <a:lnTo>
                    <a:pt x="98518" y="144975"/>
                  </a:lnTo>
                  <a:lnTo>
                    <a:pt x="100098" y="145512"/>
                  </a:lnTo>
                  <a:lnTo>
                    <a:pt x="101651" y="145789"/>
                  </a:lnTo>
                  <a:lnTo>
                    <a:pt x="102954" y="145662"/>
                  </a:lnTo>
                  <a:lnTo>
                    <a:pt x="104257" y="145534"/>
                  </a:lnTo>
                  <a:lnTo>
                    <a:pt x="105392" y="145198"/>
                  </a:lnTo>
                  <a:lnTo>
                    <a:pt x="106334" y="144212"/>
                  </a:lnTo>
                  <a:lnTo>
                    <a:pt x="107277" y="143226"/>
                  </a:lnTo>
                  <a:lnTo>
                    <a:pt x="108009" y="141544"/>
                  </a:lnTo>
                  <a:lnTo>
                    <a:pt x="108612" y="139748"/>
                  </a:lnTo>
                  <a:lnTo>
                    <a:pt x="109215" y="137953"/>
                  </a:lnTo>
                  <a:lnTo>
                    <a:pt x="110796" y="115890"/>
                  </a:lnTo>
                  <a:lnTo>
                    <a:pt x="110747" y="112852"/>
                  </a:lnTo>
                  <a:lnTo>
                    <a:pt x="110702" y="109939"/>
                  </a:lnTo>
                  <a:lnTo>
                    <a:pt x="110658" y="107026"/>
                  </a:lnTo>
                  <a:lnTo>
                    <a:pt x="110578" y="104006"/>
                  </a:lnTo>
                  <a:lnTo>
                    <a:pt x="110509" y="101120"/>
                  </a:lnTo>
                  <a:lnTo>
                    <a:pt x="110441" y="98235"/>
                  </a:lnTo>
                  <a:lnTo>
                    <a:pt x="110360" y="95372"/>
                  </a:lnTo>
                  <a:lnTo>
                    <a:pt x="110291" y="92625"/>
                  </a:lnTo>
                  <a:lnTo>
                    <a:pt x="110222" y="89879"/>
                  </a:lnTo>
                  <a:lnTo>
                    <a:pt x="110154" y="87216"/>
                  </a:lnTo>
                  <a:lnTo>
                    <a:pt x="110096" y="84640"/>
                  </a:lnTo>
                  <a:lnTo>
                    <a:pt x="110039" y="82065"/>
                  </a:lnTo>
                  <a:lnTo>
                    <a:pt x="109989" y="79589"/>
                  </a:lnTo>
                  <a:lnTo>
                    <a:pt x="109947" y="77172"/>
                  </a:lnTo>
                  <a:lnTo>
                    <a:pt x="109906" y="74754"/>
                  </a:lnTo>
                  <a:lnTo>
                    <a:pt x="110056" y="72428"/>
                  </a:lnTo>
                  <a:lnTo>
                    <a:pt x="109846" y="70135"/>
                  </a:lnTo>
                  <a:lnTo>
                    <a:pt x="109637" y="67842"/>
                  </a:lnTo>
                  <a:lnTo>
                    <a:pt x="109130" y="65620"/>
                  </a:lnTo>
                  <a:lnTo>
                    <a:pt x="108690" y="63414"/>
                  </a:lnTo>
                  <a:lnTo>
                    <a:pt x="108249" y="61207"/>
                  </a:lnTo>
                  <a:lnTo>
                    <a:pt x="107684" y="59051"/>
                  </a:lnTo>
                  <a:lnTo>
                    <a:pt x="107203" y="56897"/>
                  </a:lnTo>
                  <a:lnTo>
                    <a:pt x="106722" y="54744"/>
                  </a:lnTo>
                  <a:lnTo>
                    <a:pt x="106222" y="52256"/>
                  </a:lnTo>
                  <a:lnTo>
                    <a:pt x="104110" y="45048"/>
                  </a:lnTo>
                  <a:lnTo>
                    <a:pt x="103898" y="45097"/>
                  </a:lnTo>
                  <a:lnTo>
                    <a:pt x="103685" y="45146"/>
                  </a:lnTo>
                  <a:lnTo>
                    <a:pt x="103351" y="45565"/>
                  </a:lnTo>
                  <a:lnTo>
                    <a:pt x="103409" y="46629"/>
                  </a:lnTo>
                  <a:lnTo>
                    <a:pt x="103469" y="47692"/>
                  </a:lnTo>
                  <a:lnTo>
                    <a:pt x="103883" y="49356"/>
                  </a:lnTo>
                  <a:lnTo>
                    <a:pt x="104250" y="51477"/>
                  </a:lnTo>
                  <a:lnTo>
                    <a:pt x="104618" y="53597"/>
                  </a:lnTo>
                  <a:lnTo>
                    <a:pt x="105154" y="56514"/>
                  </a:lnTo>
                  <a:lnTo>
                    <a:pt x="105613" y="59350"/>
                  </a:lnTo>
                  <a:lnTo>
                    <a:pt x="106072" y="62186"/>
                  </a:lnTo>
                  <a:lnTo>
                    <a:pt x="106577" y="65234"/>
                  </a:lnTo>
                  <a:lnTo>
                    <a:pt x="107004" y="68495"/>
                  </a:lnTo>
                  <a:lnTo>
                    <a:pt x="107431" y="71755"/>
                  </a:lnTo>
                  <a:lnTo>
                    <a:pt x="107652" y="75446"/>
                  </a:lnTo>
                  <a:lnTo>
                    <a:pt x="108173" y="78912"/>
                  </a:lnTo>
                  <a:lnTo>
                    <a:pt x="108694" y="82378"/>
                  </a:lnTo>
                  <a:lnTo>
                    <a:pt x="109467" y="85945"/>
                  </a:lnTo>
                  <a:lnTo>
                    <a:pt x="110129" y="89291"/>
                  </a:lnTo>
                  <a:lnTo>
                    <a:pt x="110791" y="92636"/>
                  </a:lnTo>
                  <a:lnTo>
                    <a:pt x="111343" y="95901"/>
                  </a:lnTo>
                  <a:lnTo>
                    <a:pt x="112145" y="98982"/>
                  </a:lnTo>
                  <a:lnTo>
                    <a:pt x="112948" y="102063"/>
                  </a:lnTo>
                  <a:lnTo>
                    <a:pt x="114026" y="104987"/>
                  </a:lnTo>
                  <a:lnTo>
                    <a:pt x="114945" y="107778"/>
                  </a:lnTo>
                  <a:lnTo>
                    <a:pt x="115865" y="110569"/>
                  </a:lnTo>
                  <a:lnTo>
                    <a:pt x="116657" y="113008"/>
                  </a:lnTo>
                  <a:lnTo>
                    <a:pt x="117661" y="115727"/>
                  </a:lnTo>
                  <a:lnTo>
                    <a:pt x="118666" y="118447"/>
                  </a:lnTo>
                  <a:lnTo>
                    <a:pt x="119911" y="121325"/>
                  </a:lnTo>
                  <a:lnTo>
                    <a:pt x="120970" y="124094"/>
                  </a:lnTo>
                  <a:lnTo>
                    <a:pt x="122028" y="126863"/>
                  </a:lnTo>
                  <a:lnTo>
                    <a:pt x="123106" y="129654"/>
                  </a:lnTo>
                  <a:lnTo>
                    <a:pt x="124012" y="132343"/>
                  </a:lnTo>
                  <a:lnTo>
                    <a:pt x="127435" y="145446"/>
                  </a:lnTo>
                  <a:lnTo>
                    <a:pt x="128063" y="147685"/>
                  </a:lnTo>
                  <a:lnTo>
                    <a:pt x="128691" y="149924"/>
                  </a:lnTo>
                  <a:lnTo>
                    <a:pt x="129491" y="151779"/>
                  </a:lnTo>
                  <a:lnTo>
                    <a:pt x="130171" y="153661"/>
                  </a:lnTo>
                  <a:lnTo>
                    <a:pt x="130852" y="155543"/>
                  </a:lnTo>
                  <a:lnTo>
                    <a:pt x="131554" y="157228"/>
                  </a:lnTo>
                  <a:lnTo>
                    <a:pt x="132145" y="158977"/>
                  </a:lnTo>
                  <a:lnTo>
                    <a:pt x="132736" y="160726"/>
                  </a:lnTo>
                  <a:lnTo>
                    <a:pt x="133087" y="162587"/>
                  </a:lnTo>
                  <a:lnTo>
                    <a:pt x="133716" y="164155"/>
                  </a:lnTo>
                  <a:lnTo>
                    <a:pt x="134344" y="165723"/>
                  </a:lnTo>
                  <a:lnTo>
                    <a:pt x="135009" y="167173"/>
                  </a:lnTo>
                  <a:lnTo>
                    <a:pt x="135914" y="168383"/>
                  </a:lnTo>
                  <a:lnTo>
                    <a:pt x="136820" y="169594"/>
                  </a:lnTo>
                  <a:lnTo>
                    <a:pt x="137893" y="170593"/>
                  </a:lnTo>
                  <a:lnTo>
                    <a:pt x="139149" y="171419"/>
                  </a:lnTo>
                  <a:lnTo>
                    <a:pt x="140405" y="172245"/>
                  </a:lnTo>
                  <a:lnTo>
                    <a:pt x="141865" y="172848"/>
                  </a:lnTo>
                  <a:lnTo>
                    <a:pt x="143448" y="173341"/>
                  </a:lnTo>
                  <a:lnTo>
                    <a:pt x="145031" y="173835"/>
                  </a:lnTo>
                  <a:lnTo>
                    <a:pt x="146985" y="174320"/>
                  </a:lnTo>
                  <a:lnTo>
                    <a:pt x="148645" y="174381"/>
                  </a:lnTo>
                  <a:lnTo>
                    <a:pt x="150304" y="174442"/>
                  </a:lnTo>
                  <a:lnTo>
                    <a:pt x="151990" y="174237"/>
                  </a:lnTo>
                  <a:lnTo>
                    <a:pt x="153406" y="173706"/>
                  </a:lnTo>
                  <a:lnTo>
                    <a:pt x="154823" y="173175"/>
                  </a:lnTo>
                  <a:lnTo>
                    <a:pt x="156088" y="172295"/>
                  </a:lnTo>
                  <a:lnTo>
                    <a:pt x="157141" y="171193"/>
                  </a:lnTo>
                  <a:lnTo>
                    <a:pt x="158195" y="170090"/>
                  </a:lnTo>
                  <a:lnTo>
                    <a:pt x="159035" y="168657"/>
                  </a:lnTo>
                  <a:lnTo>
                    <a:pt x="159728" y="167090"/>
                  </a:lnTo>
                  <a:lnTo>
                    <a:pt x="160421" y="165525"/>
                  </a:lnTo>
                  <a:lnTo>
                    <a:pt x="160723" y="163693"/>
                  </a:lnTo>
                  <a:lnTo>
                    <a:pt x="161301" y="161796"/>
                  </a:lnTo>
                  <a:lnTo>
                    <a:pt x="161878" y="159899"/>
                  </a:lnTo>
                  <a:lnTo>
                    <a:pt x="162590" y="157815"/>
                  </a:lnTo>
                  <a:lnTo>
                    <a:pt x="163195" y="155709"/>
                  </a:lnTo>
                  <a:lnTo>
                    <a:pt x="163800" y="153604"/>
                  </a:lnTo>
                  <a:lnTo>
                    <a:pt x="164413" y="151382"/>
                  </a:lnTo>
                  <a:lnTo>
                    <a:pt x="164928" y="149165"/>
                  </a:lnTo>
                  <a:lnTo>
                    <a:pt x="165443" y="146948"/>
                  </a:lnTo>
                  <a:lnTo>
                    <a:pt x="165903" y="144669"/>
                  </a:lnTo>
                  <a:lnTo>
                    <a:pt x="166286" y="142408"/>
                  </a:lnTo>
                  <a:lnTo>
                    <a:pt x="166669" y="140147"/>
                  </a:lnTo>
                  <a:lnTo>
                    <a:pt x="166974" y="137862"/>
                  </a:lnTo>
                  <a:lnTo>
                    <a:pt x="167225" y="135598"/>
                  </a:lnTo>
                  <a:lnTo>
                    <a:pt x="167477" y="133334"/>
                  </a:lnTo>
                  <a:lnTo>
                    <a:pt x="167653" y="131069"/>
                  </a:lnTo>
                  <a:lnTo>
                    <a:pt x="167796" y="128822"/>
                  </a:lnTo>
                  <a:lnTo>
                    <a:pt x="167939" y="126576"/>
                  </a:lnTo>
                  <a:lnTo>
                    <a:pt x="168020" y="124341"/>
                  </a:lnTo>
                  <a:lnTo>
                    <a:pt x="168085" y="122120"/>
                  </a:lnTo>
                  <a:lnTo>
                    <a:pt x="168150" y="119899"/>
                  </a:lnTo>
                  <a:lnTo>
                    <a:pt x="168170" y="117693"/>
                  </a:lnTo>
                  <a:lnTo>
                    <a:pt x="168184" y="115498"/>
                  </a:lnTo>
                  <a:lnTo>
                    <a:pt x="168199" y="113302"/>
                  </a:lnTo>
                  <a:lnTo>
                    <a:pt x="168185" y="111121"/>
                  </a:lnTo>
                  <a:lnTo>
                    <a:pt x="168171" y="108945"/>
                  </a:lnTo>
                  <a:lnTo>
                    <a:pt x="168159" y="106770"/>
                  </a:lnTo>
                  <a:lnTo>
                    <a:pt x="168130" y="104606"/>
                  </a:lnTo>
                  <a:lnTo>
                    <a:pt x="168105" y="102445"/>
                  </a:lnTo>
                  <a:lnTo>
                    <a:pt x="168081" y="100284"/>
                  </a:lnTo>
                  <a:lnTo>
                    <a:pt x="168049" y="98132"/>
                  </a:lnTo>
                  <a:lnTo>
                    <a:pt x="168023" y="95980"/>
                  </a:lnTo>
                  <a:lnTo>
                    <a:pt x="167997" y="93829"/>
                  </a:lnTo>
                  <a:lnTo>
                    <a:pt x="167970" y="91682"/>
                  </a:lnTo>
                  <a:lnTo>
                    <a:pt x="167947" y="89536"/>
                  </a:lnTo>
                  <a:lnTo>
                    <a:pt x="167925" y="87390"/>
                  </a:lnTo>
                  <a:lnTo>
                    <a:pt x="167904" y="85246"/>
                  </a:lnTo>
                  <a:lnTo>
                    <a:pt x="167888" y="83101"/>
                  </a:lnTo>
                  <a:lnTo>
                    <a:pt x="167871" y="80957"/>
                  </a:lnTo>
                  <a:lnTo>
                    <a:pt x="167857" y="78814"/>
                  </a:lnTo>
                  <a:lnTo>
                    <a:pt x="167846" y="76670"/>
                  </a:lnTo>
                  <a:lnTo>
                    <a:pt x="167835" y="74526"/>
                  </a:lnTo>
                  <a:lnTo>
                    <a:pt x="167807" y="63800"/>
                  </a:lnTo>
                  <a:lnTo>
                    <a:pt x="167804" y="62019"/>
                  </a:lnTo>
                  <a:lnTo>
                    <a:pt x="167803" y="60483"/>
                  </a:lnTo>
                  <a:lnTo>
                    <a:pt x="167803" y="59552"/>
                  </a:lnTo>
                  <a:lnTo>
                    <a:pt x="167802" y="58622"/>
                  </a:lnTo>
                  <a:lnTo>
                    <a:pt x="167802" y="58017"/>
                  </a:lnTo>
                  <a:lnTo>
                    <a:pt x="167803" y="58217"/>
                  </a:lnTo>
                  <a:lnTo>
                    <a:pt x="167804" y="58418"/>
                  </a:lnTo>
                  <a:lnTo>
                    <a:pt x="167805" y="59295"/>
                  </a:lnTo>
                  <a:lnTo>
                    <a:pt x="167806" y="60758"/>
                  </a:lnTo>
                  <a:lnTo>
                    <a:pt x="167807" y="62221"/>
                  </a:lnTo>
                  <a:lnTo>
                    <a:pt x="167625" y="64420"/>
                  </a:lnTo>
                  <a:lnTo>
                    <a:pt x="167809" y="66996"/>
                  </a:lnTo>
                  <a:lnTo>
                    <a:pt x="167993" y="69572"/>
                  </a:lnTo>
                  <a:lnTo>
                    <a:pt x="168482" y="72972"/>
                  </a:lnTo>
                  <a:lnTo>
                    <a:pt x="168909" y="76215"/>
                  </a:lnTo>
                  <a:lnTo>
                    <a:pt x="169335" y="79458"/>
                  </a:lnTo>
                  <a:lnTo>
                    <a:pt x="169711" y="82698"/>
                  </a:lnTo>
                  <a:lnTo>
                    <a:pt x="170369" y="86454"/>
                  </a:lnTo>
                  <a:lnTo>
                    <a:pt x="171027" y="90209"/>
                  </a:lnTo>
                  <a:lnTo>
                    <a:pt x="172013" y="94645"/>
                  </a:lnTo>
                  <a:lnTo>
                    <a:pt x="172858" y="98749"/>
                  </a:lnTo>
                  <a:lnTo>
                    <a:pt x="173702" y="102853"/>
                  </a:lnTo>
                  <a:lnTo>
                    <a:pt x="174461" y="106767"/>
                  </a:lnTo>
                  <a:lnTo>
                    <a:pt x="175438" y="111079"/>
                  </a:lnTo>
                  <a:lnTo>
                    <a:pt x="176415" y="115391"/>
                  </a:lnTo>
                  <a:lnTo>
                    <a:pt x="177661" y="120023"/>
                  </a:lnTo>
                  <a:lnTo>
                    <a:pt x="178721" y="124619"/>
                  </a:lnTo>
                  <a:lnTo>
                    <a:pt x="183369" y="147587"/>
                  </a:lnTo>
                  <a:lnTo>
                    <a:pt x="184247" y="151646"/>
                  </a:lnTo>
                  <a:lnTo>
                    <a:pt x="185125" y="155704"/>
                  </a:lnTo>
                  <a:lnTo>
                    <a:pt x="186174" y="159493"/>
                  </a:lnTo>
                  <a:lnTo>
                    <a:pt x="187064" y="163004"/>
                  </a:lnTo>
                  <a:lnTo>
                    <a:pt x="187954" y="166515"/>
                  </a:lnTo>
                  <a:lnTo>
                    <a:pt x="188840" y="169705"/>
                  </a:lnTo>
                  <a:lnTo>
                    <a:pt x="189585" y="172711"/>
                  </a:lnTo>
                  <a:lnTo>
                    <a:pt x="190329" y="175717"/>
                  </a:lnTo>
                  <a:lnTo>
                    <a:pt x="190984" y="178430"/>
                  </a:lnTo>
                  <a:lnTo>
                    <a:pt x="191529" y="181038"/>
                  </a:lnTo>
                  <a:lnTo>
                    <a:pt x="192075" y="183645"/>
                  </a:lnTo>
                  <a:lnTo>
                    <a:pt x="192502" y="186025"/>
                  </a:lnTo>
                  <a:lnTo>
                    <a:pt x="192855" y="188355"/>
                  </a:lnTo>
                  <a:lnTo>
                    <a:pt x="193208" y="190686"/>
                  </a:lnTo>
                  <a:lnTo>
                    <a:pt x="193267" y="192859"/>
                  </a:lnTo>
                  <a:lnTo>
                    <a:pt x="193647" y="195021"/>
                  </a:lnTo>
                  <a:lnTo>
                    <a:pt x="194026" y="197182"/>
                  </a:lnTo>
                  <a:lnTo>
                    <a:pt x="197808" y="206371"/>
                  </a:lnTo>
                  <a:lnTo>
                    <a:pt x="198906" y="207806"/>
                  </a:lnTo>
                  <a:lnTo>
                    <a:pt x="200241" y="208972"/>
                  </a:lnTo>
                  <a:lnTo>
                    <a:pt x="201720" y="209935"/>
                  </a:lnTo>
                  <a:lnTo>
                    <a:pt x="203199" y="210898"/>
                  </a:lnTo>
                  <a:lnTo>
                    <a:pt x="204898" y="211587"/>
                  </a:lnTo>
                  <a:lnTo>
                    <a:pt x="206682" y="212151"/>
                  </a:lnTo>
                  <a:lnTo>
                    <a:pt x="208465" y="212714"/>
                  </a:lnTo>
                  <a:lnTo>
                    <a:pt x="210605" y="213230"/>
                  </a:lnTo>
                  <a:lnTo>
                    <a:pt x="212421" y="213316"/>
                  </a:lnTo>
                  <a:lnTo>
                    <a:pt x="214236" y="213400"/>
                  </a:lnTo>
                  <a:lnTo>
                    <a:pt x="215867" y="213195"/>
                  </a:lnTo>
                  <a:lnTo>
                    <a:pt x="217573" y="212661"/>
                  </a:lnTo>
                  <a:lnTo>
                    <a:pt x="219278" y="212127"/>
                  </a:lnTo>
                  <a:lnTo>
                    <a:pt x="220926" y="211230"/>
                  </a:lnTo>
                  <a:lnTo>
                    <a:pt x="222651" y="210111"/>
                  </a:lnTo>
                  <a:lnTo>
                    <a:pt x="224377" y="208994"/>
                  </a:lnTo>
                  <a:lnTo>
                    <a:pt x="226301" y="207721"/>
                  </a:lnTo>
                  <a:lnTo>
                    <a:pt x="227926" y="205952"/>
                  </a:lnTo>
                  <a:lnTo>
                    <a:pt x="229551" y="204185"/>
                  </a:lnTo>
                  <a:lnTo>
                    <a:pt x="230921" y="201844"/>
                  </a:lnTo>
                  <a:lnTo>
                    <a:pt x="232402" y="199503"/>
                  </a:lnTo>
                  <a:lnTo>
                    <a:pt x="233883" y="197163"/>
                  </a:lnTo>
                  <a:lnTo>
                    <a:pt x="235474" y="194686"/>
                  </a:lnTo>
                  <a:lnTo>
                    <a:pt x="236814" y="191909"/>
                  </a:lnTo>
                  <a:lnTo>
                    <a:pt x="245650" y="151327"/>
                  </a:lnTo>
                  <a:lnTo>
                    <a:pt x="245865" y="147308"/>
                  </a:lnTo>
                  <a:lnTo>
                    <a:pt x="245957" y="143306"/>
                  </a:lnTo>
                  <a:lnTo>
                    <a:pt x="246028" y="139258"/>
                  </a:lnTo>
                  <a:lnTo>
                    <a:pt x="246099" y="135210"/>
                  </a:lnTo>
                  <a:lnTo>
                    <a:pt x="246088" y="131144"/>
                  </a:lnTo>
                  <a:lnTo>
                    <a:pt x="246074" y="127039"/>
                  </a:lnTo>
                  <a:lnTo>
                    <a:pt x="246061" y="122934"/>
                  </a:lnTo>
                  <a:lnTo>
                    <a:pt x="246000" y="118613"/>
                  </a:lnTo>
                  <a:lnTo>
                    <a:pt x="245947" y="114630"/>
                  </a:lnTo>
                  <a:lnTo>
                    <a:pt x="245894" y="110646"/>
                  </a:lnTo>
                  <a:lnTo>
                    <a:pt x="246002" y="106933"/>
                  </a:lnTo>
                  <a:lnTo>
                    <a:pt x="245755" y="103139"/>
                  </a:lnTo>
                  <a:lnTo>
                    <a:pt x="245508" y="99345"/>
                  </a:lnTo>
                  <a:lnTo>
                    <a:pt x="244950" y="95470"/>
                  </a:lnTo>
                  <a:lnTo>
                    <a:pt x="244466" y="91869"/>
                  </a:lnTo>
                  <a:lnTo>
                    <a:pt x="243982" y="88267"/>
                  </a:lnTo>
                  <a:lnTo>
                    <a:pt x="243370" y="84787"/>
                  </a:lnTo>
                  <a:lnTo>
                    <a:pt x="242849" y="81528"/>
                  </a:lnTo>
                  <a:lnTo>
                    <a:pt x="242328" y="78270"/>
                  </a:lnTo>
                  <a:lnTo>
                    <a:pt x="241975" y="75214"/>
                  </a:lnTo>
                  <a:lnTo>
                    <a:pt x="241342" y="72315"/>
                  </a:lnTo>
                  <a:lnTo>
                    <a:pt x="240709" y="69416"/>
                  </a:lnTo>
                  <a:lnTo>
                    <a:pt x="239815" y="66727"/>
                  </a:lnTo>
                  <a:lnTo>
                    <a:pt x="239050" y="64135"/>
                  </a:lnTo>
                  <a:lnTo>
                    <a:pt x="238286" y="61544"/>
                  </a:lnTo>
                  <a:lnTo>
                    <a:pt x="237639" y="59129"/>
                  </a:lnTo>
                  <a:lnTo>
                    <a:pt x="236756" y="56767"/>
                  </a:lnTo>
                  <a:lnTo>
                    <a:pt x="235873" y="54404"/>
                  </a:lnTo>
                  <a:lnTo>
                    <a:pt x="234729" y="52172"/>
                  </a:lnTo>
                  <a:lnTo>
                    <a:pt x="233754" y="49960"/>
                  </a:lnTo>
                  <a:lnTo>
                    <a:pt x="232780" y="47749"/>
                  </a:lnTo>
                  <a:lnTo>
                    <a:pt x="231764" y="45622"/>
                  </a:lnTo>
                  <a:lnTo>
                    <a:pt x="230909" y="43496"/>
                  </a:lnTo>
                  <a:lnTo>
                    <a:pt x="230054" y="41371"/>
                  </a:lnTo>
                  <a:lnTo>
                    <a:pt x="229458" y="39292"/>
                  </a:lnTo>
                  <a:lnTo>
                    <a:pt x="228626" y="37206"/>
                  </a:lnTo>
                  <a:lnTo>
                    <a:pt x="227794" y="35119"/>
                  </a:lnTo>
                  <a:lnTo>
                    <a:pt x="226778" y="33054"/>
                  </a:lnTo>
                  <a:lnTo>
                    <a:pt x="225916" y="30976"/>
                  </a:lnTo>
                  <a:lnTo>
                    <a:pt x="225054" y="28898"/>
                  </a:lnTo>
                  <a:lnTo>
                    <a:pt x="224366" y="26642"/>
                  </a:lnTo>
                  <a:lnTo>
                    <a:pt x="223453" y="24739"/>
                  </a:lnTo>
                  <a:lnTo>
                    <a:pt x="222540" y="22836"/>
                  </a:lnTo>
                  <a:lnTo>
                    <a:pt x="221403" y="21233"/>
                  </a:lnTo>
                  <a:lnTo>
                    <a:pt x="220436" y="19559"/>
                  </a:lnTo>
                  <a:lnTo>
                    <a:pt x="219470" y="17884"/>
                  </a:lnTo>
                  <a:lnTo>
                    <a:pt x="218484" y="16333"/>
                  </a:lnTo>
                  <a:lnTo>
                    <a:pt x="217656" y="14692"/>
                  </a:lnTo>
                  <a:lnTo>
                    <a:pt x="216827" y="13050"/>
                  </a:lnTo>
                  <a:lnTo>
                    <a:pt x="216084" y="11423"/>
                  </a:lnTo>
                  <a:lnTo>
                    <a:pt x="215465" y="9712"/>
                  </a:lnTo>
                  <a:lnTo>
                    <a:pt x="214846" y="8001"/>
                  </a:lnTo>
                  <a:lnTo>
                    <a:pt x="214352" y="5882"/>
                  </a:lnTo>
                  <a:lnTo>
                    <a:pt x="213943" y="4427"/>
                  </a:lnTo>
                  <a:lnTo>
                    <a:pt x="213534" y="2973"/>
                  </a:lnTo>
                  <a:lnTo>
                    <a:pt x="213247" y="1698"/>
                  </a:lnTo>
                  <a:lnTo>
                    <a:pt x="213013" y="984"/>
                  </a:lnTo>
                  <a:lnTo>
                    <a:pt x="212779" y="270"/>
                  </a:lnTo>
                  <a:lnTo>
                    <a:pt x="212645" y="0"/>
                  </a:lnTo>
                  <a:lnTo>
                    <a:pt x="212345" y="2937"/>
                  </a:lnTo>
                  <a:lnTo>
                    <a:pt x="212366" y="4781"/>
                  </a:lnTo>
                  <a:lnTo>
                    <a:pt x="212385" y="6714"/>
                  </a:lnTo>
                  <a:lnTo>
                    <a:pt x="212405" y="8648"/>
                  </a:lnTo>
                  <a:lnTo>
                    <a:pt x="212450" y="10687"/>
                  </a:lnTo>
                  <a:lnTo>
                    <a:pt x="212489" y="13442"/>
                  </a:lnTo>
                  <a:lnTo>
                    <a:pt x="212528" y="16196"/>
                  </a:lnTo>
                  <a:lnTo>
                    <a:pt x="212395" y="19630"/>
                  </a:lnTo>
                  <a:lnTo>
                    <a:pt x="212620" y="23240"/>
                  </a:lnTo>
                  <a:lnTo>
                    <a:pt x="212844" y="26851"/>
                  </a:lnTo>
                  <a:lnTo>
                    <a:pt x="213376" y="30947"/>
                  </a:lnTo>
                  <a:lnTo>
                    <a:pt x="213837" y="35102"/>
                  </a:lnTo>
                  <a:lnTo>
                    <a:pt x="214300" y="39256"/>
                  </a:lnTo>
                  <a:lnTo>
                    <a:pt x="214707" y="43718"/>
                  </a:lnTo>
                  <a:lnTo>
                    <a:pt x="215392" y="48170"/>
                  </a:lnTo>
                  <a:lnTo>
                    <a:pt x="216077" y="52622"/>
                  </a:lnTo>
                  <a:lnTo>
                    <a:pt x="217084" y="57238"/>
                  </a:lnTo>
                  <a:lnTo>
                    <a:pt x="217946" y="61812"/>
                  </a:lnTo>
                  <a:lnTo>
                    <a:pt x="218809" y="66386"/>
                  </a:lnTo>
                  <a:lnTo>
                    <a:pt x="219580" y="71209"/>
                  </a:lnTo>
                  <a:lnTo>
                    <a:pt x="220567" y="75614"/>
                  </a:lnTo>
                  <a:lnTo>
                    <a:pt x="221554" y="80020"/>
                  </a:lnTo>
                  <a:lnTo>
                    <a:pt x="222806" y="84126"/>
                  </a:lnTo>
                  <a:lnTo>
                    <a:pt x="223870" y="88246"/>
                  </a:lnTo>
                  <a:lnTo>
                    <a:pt x="224935" y="92367"/>
                  </a:lnTo>
                  <a:lnTo>
                    <a:pt x="225849" y="96330"/>
                  </a:lnTo>
                  <a:lnTo>
                    <a:pt x="226955" y="100338"/>
                  </a:lnTo>
                  <a:lnTo>
                    <a:pt x="228060" y="104346"/>
                  </a:lnTo>
                  <a:lnTo>
                    <a:pt x="229380" y="108477"/>
                  </a:lnTo>
                  <a:lnTo>
                    <a:pt x="230500" y="112296"/>
                  </a:lnTo>
                  <a:lnTo>
                    <a:pt x="231620" y="116115"/>
                  </a:lnTo>
                  <a:lnTo>
                    <a:pt x="232737" y="119627"/>
                  </a:lnTo>
                  <a:lnTo>
                    <a:pt x="233674" y="123250"/>
                  </a:lnTo>
                  <a:lnTo>
                    <a:pt x="234612" y="126873"/>
                  </a:lnTo>
                  <a:lnTo>
                    <a:pt x="235254" y="130576"/>
                  </a:lnTo>
                  <a:lnTo>
                    <a:pt x="236123" y="134033"/>
                  </a:lnTo>
                  <a:lnTo>
                    <a:pt x="236992" y="137490"/>
                  </a:lnTo>
                  <a:lnTo>
                    <a:pt x="238018" y="140841"/>
                  </a:lnTo>
                  <a:lnTo>
                    <a:pt x="238888" y="143992"/>
                  </a:lnTo>
                  <a:lnTo>
                    <a:pt x="239758" y="147144"/>
                  </a:lnTo>
                  <a:lnTo>
                    <a:pt x="240620" y="150115"/>
                  </a:lnTo>
                  <a:lnTo>
                    <a:pt x="241342" y="152944"/>
                  </a:lnTo>
                  <a:lnTo>
                    <a:pt x="242065" y="155773"/>
                  </a:lnTo>
                  <a:lnTo>
                    <a:pt x="242515" y="158596"/>
                  </a:lnTo>
                  <a:lnTo>
                    <a:pt x="243223" y="160965"/>
                  </a:lnTo>
                  <a:lnTo>
                    <a:pt x="243932" y="163334"/>
                  </a:lnTo>
                  <a:lnTo>
                    <a:pt x="244830" y="165239"/>
                  </a:lnTo>
                  <a:lnTo>
                    <a:pt x="245594" y="167158"/>
                  </a:lnTo>
                  <a:lnTo>
                    <a:pt x="246358" y="169077"/>
                  </a:lnTo>
                  <a:lnTo>
                    <a:pt x="246962" y="170746"/>
                  </a:lnTo>
                  <a:lnTo>
                    <a:pt x="247807" y="172480"/>
                  </a:lnTo>
                  <a:lnTo>
                    <a:pt x="248651" y="174213"/>
                  </a:lnTo>
                  <a:lnTo>
                    <a:pt x="249554" y="176029"/>
                  </a:lnTo>
                  <a:lnTo>
                    <a:pt x="250661" y="177557"/>
                  </a:lnTo>
                  <a:lnTo>
                    <a:pt x="251767" y="179085"/>
                  </a:lnTo>
                  <a:lnTo>
                    <a:pt x="253031" y="180301"/>
                  </a:lnTo>
                  <a:lnTo>
                    <a:pt x="254445" y="181650"/>
                  </a:lnTo>
                  <a:lnTo>
                    <a:pt x="255860" y="182998"/>
                  </a:lnTo>
                  <a:lnTo>
                    <a:pt x="257638" y="184255"/>
                  </a:lnTo>
                  <a:lnTo>
                    <a:pt x="259148" y="185650"/>
                  </a:lnTo>
                  <a:lnTo>
                    <a:pt x="260660" y="187045"/>
                  </a:lnTo>
                  <a:lnTo>
                    <a:pt x="262027" y="188656"/>
                  </a:lnTo>
                  <a:lnTo>
                    <a:pt x="263512" y="190020"/>
                  </a:lnTo>
                  <a:lnTo>
                    <a:pt x="264997" y="191384"/>
                  </a:lnTo>
                  <a:lnTo>
                    <a:pt x="266474" y="192533"/>
                  </a:lnTo>
                  <a:lnTo>
                    <a:pt x="268059" y="193832"/>
                  </a:lnTo>
                  <a:lnTo>
                    <a:pt x="269644" y="195131"/>
                  </a:lnTo>
                  <a:lnTo>
                    <a:pt x="271290" y="196585"/>
                  </a:lnTo>
                  <a:lnTo>
                    <a:pt x="273021" y="197813"/>
                  </a:lnTo>
                  <a:lnTo>
                    <a:pt x="282386" y="203299"/>
                  </a:lnTo>
                  <a:lnTo>
                    <a:pt x="283174" y="203719"/>
                  </a:lnTo>
                </a:path>
              </a:pathLst>
            </a:custGeom>
            <a:noFill/>
            <a:ln cap="flat" cmpd="sng" w="19050">
              <a:solidFill>
                <a:srgbClr val="004D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g38567684150_0_244"/>
            <p:cNvSpPr/>
            <p:nvPr/>
          </p:nvSpPr>
          <p:spPr>
            <a:xfrm>
              <a:off x="3688011" y="4313425"/>
              <a:ext cx="135254" cy="0"/>
            </a:xfrm>
            <a:custGeom>
              <a:rect b="b" l="l" r="r" t="t"/>
              <a:pathLst>
                <a:path extrusionOk="0" h="120000" w="135254">
                  <a:moveTo>
                    <a:pt x="0" y="0"/>
                  </a:moveTo>
                  <a:lnTo>
                    <a:pt x="0" y="0"/>
                  </a:lnTo>
                  <a:lnTo>
                    <a:pt x="133813" y="0"/>
                  </a:lnTo>
                  <a:lnTo>
                    <a:pt x="134698" y="0"/>
                  </a:lnTo>
                </a:path>
              </a:pathLst>
            </a:custGeom>
            <a:noFill/>
            <a:ln cap="flat" cmpd="sng" w="19050">
              <a:solidFill>
                <a:srgbClr val="004D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1" name="Google Shape;451;g38567684150_0_244"/>
          <p:cNvSpPr txBox="1"/>
          <p:nvPr>
            <p:ph type="title"/>
          </p:nvPr>
        </p:nvSpPr>
        <p:spPr>
          <a:xfrm>
            <a:off x="384725" y="494103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</a:t>
            </a:r>
            <a:endParaRPr/>
          </a:p>
        </p:txBody>
      </p:sp>
      <p:sp>
        <p:nvSpPr>
          <p:cNvPr id="452" name="Google Shape;452;g38567684150_0_244"/>
          <p:cNvSpPr txBox="1"/>
          <p:nvPr/>
        </p:nvSpPr>
        <p:spPr>
          <a:xfrm>
            <a:off x="543600" y="1258790"/>
            <a:ext cx="8441700" cy="28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362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For a balance bridge: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stretch resistor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are 4Ω and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compressed resistor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are 2Ω. Vin is 5V. Find Vout.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46705" rtl="0" algn="just">
              <a:lnSpc>
                <a:spcPct val="8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 = [ (R4 / R4+R2) - (R3 / R3+R1) ] * Vin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46705" rtl="0" algn="just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R4 &gt; R3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46705" marR="5080" rtl="0" algn="just">
              <a:lnSpc>
                <a:spcPct val="111428"/>
              </a:lnSpc>
              <a:spcBef>
                <a:spcPts val="1195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R1,R4 is a pair. R2,R3 is a pair. If one of the pair are the compressed resistors, then the other are stretched resistors. Stretched resistors have greater resistance than the compressed ones.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46705" rtl="0" algn="just">
              <a:lnSpc>
                <a:spcPct val="115714"/>
              </a:lnSpc>
              <a:spcBef>
                <a:spcPts val="1065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R1=R4 and R2=R3, then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46705" rtl="0" algn="just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 = [ (stretched / stretched+compressed) - (compressed / stretched+compressed) ] * Vin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46705" rtl="0" algn="just">
              <a:lnSpc>
                <a:spcPct val="115714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from the question,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46705" rtl="0" algn="just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 = [(4/ 4+2) - (2 / 4+2)] * 5 = 1.67V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g38567684150_0_365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458" name="Google Shape;458;g38567684150_0_365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g38567684150_0_365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60" name="Google Shape;460;g38567684150_0_3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1" name="Google Shape;461;g38567684150_0_365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2" name="Google Shape;462;g38567684150_0_365"/>
          <p:cNvSpPr txBox="1"/>
          <p:nvPr>
            <p:ph type="title"/>
          </p:nvPr>
        </p:nvSpPr>
        <p:spPr>
          <a:xfrm>
            <a:off x="384725" y="494100"/>
            <a:ext cx="81015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Linear Variable Differential Transformers</a:t>
            </a:r>
            <a:endParaRPr sz="2700"/>
          </a:p>
        </p:txBody>
      </p:sp>
      <p:sp>
        <p:nvSpPr>
          <p:cNvPr id="463" name="Google Shape;463;g38567684150_0_365"/>
          <p:cNvSpPr txBox="1"/>
          <p:nvPr/>
        </p:nvSpPr>
        <p:spPr>
          <a:xfrm>
            <a:off x="507049" y="1006133"/>
            <a:ext cx="5580300" cy="3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phase relationship between the output signal and the input signal is an indication of which direction the core moved from the center position.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379095" marR="1778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amplitude of the output signal is linearly proportional to how far the core moves from the center position.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79095" marR="58547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Thus an LVDT can be used directly in this form to measure displacement or position.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379095" marR="3556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If we add a spring so that a force is required to move the core, then the voltage out of LVDT will be proportional to the force applied to the core.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4" name="Google Shape;464;g38567684150_0_3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0553" y="1522849"/>
            <a:ext cx="3211649" cy="2097799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g38567684150_0_365"/>
          <p:cNvSpPr txBox="1"/>
          <p:nvPr/>
        </p:nvSpPr>
        <p:spPr>
          <a:xfrm>
            <a:off x="6309880" y="3668528"/>
            <a:ext cx="6522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77D4"/>
                </a:solidFill>
                <a:latin typeface="Arial"/>
                <a:ea typeface="Arial"/>
                <a:cs typeface="Arial"/>
                <a:sym typeface="Arial"/>
              </a:rPr>
              <a:t>Es1=Es2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77D4"/>
                </a:solidFill>
                <a:latin typeface="Arial"/>
                <a:ea typeface="Arial"/>
                <a:cs typeface="Arial"/>
                <a:sym typeface="Arial"/>
              </a:rPr>
              <a:t>So Vout=0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8567684150_0_365"/>
          <p:cNvSpPr txBox="1"/>
          <p:nvPr/>
        </p:nvSpPr>
        <p:spPr>
          <a:xfrm>
            <a:off x="7986242" y="3571818"/>
            <a:ext cx="726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77D4"/>
                </a:solidFill>
                <a:latin typeface="Arial"/>
                <a:ea typeface="Arial"/>
                <a:cs typeface="Arial"/>
                <a:sym typeface="Arial"/>
              </a:rPr>
              <a:t>Es1&gt;Es2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77D4"/>
                </a:solidFill>
                <a:latin typeface="Arial"/>
                <a:ea typeface="Arial"/>
                <a:cs typeface="Arial"/>
                <a:sym typeface="Arial"/>
              </a:rPr>
              <a:t>So Vout = 0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g38567684150_0_303"/>
          <p:cNvGrpSpPr/>
          <p:nvPr/>
        </p:nvGrpSpPr>
        <p:grpSpPr>
          <a:xfrm>
            <a:off x="0" y="4896899"/>
            <a:ext cx="9144615" cy="247014"/>
            <a:chOff x="0" y="4896899"/>
            <a:chExt cx="9144615" cy="247014"/>
          </a:xfrm>
        </p:grpSpPr>
        <p:sp>
          <p:nvSpPr>
            <p:cNvPr id="472" name="Google Shape;472;g38567684150_0_303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g38567684150_0_303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4" name="Google Shape;474;g38567684150_0_3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g38567684150_0_303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6" name="Google Shape;476;g38567684150_0_303"/>
          <p:cNvSpPr txBox="1"/>
          <p:nvPr>
            <p:ph type="title"/>
          </p:nvPr>
        </p:nvSpPr>
        <p:spPr>
          <a:xfrm>
            <a:off x="384725" y="494100"/>
            <a:ext cx="74115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Linear Variable Differential Transformers</a:t>
            </a:r>
            <a:endParaRPr sz="2700"/>
          </a:p>
        </p:txBody>
      </p:sp>
      <p:sp>
        <p:nvSpPr>
          <p:cNvPr id="477" name="Google Shape;477;g38567684150_0_303"/>
          <p:cNvSpPr txBox="1"/>
          <p:nvPr/>
        </p:nvSpPr>
        <p:spPr>
          <a:xfrm>
            <a:off x="468555" y="1024810"/>
            <a:ext cx="8119800" cy="3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425">
            <a:spAutoFit/>
          </a:bodyPr>
          <a:lstStyle/>
          <a:p>
            <a:pPr indent="-358775" lvl="0" marL="371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LVDT is a transducer often used to measure force, pressure or position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37147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Basic structure of an LVDT consists of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1" marL="82867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Three coils of wire wound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1 Primary, 2 secondaries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1" marL="82867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1700"/>
              <a:buChar char="○"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A movable iron core (armature).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371475" rtl="0" algn="l">
              <a:lnSpc>
                <a:spcPct val="100000"/>
              </a:lnSpc>
              <a:spcBef>
                <a:spcPts val="309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An ac excitation signal of 20 kHz is applied to the primary.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9410" lvl="0" marL="37147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The secondaries are connected in opposition such that the voltage induced in one opposes the voltage induced in the other.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37147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If the core is centered , then the induced voltages are equal and cancel each other.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37147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So there is no net output voltage.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9410" lvl="0" marL="371475" marR="381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If the coil is moved off center, coupling to one secondary coil will be stronger, so that the coil will produce a greater output voltage.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37147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Result- a net output voltage.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8567684150_0_429"/>
          <p:cNvSpPr txBox="1"/>
          <p:nvPr>
            <p:ph type="title"/>
          </p:nvPr>
        </p:nvSpPr>
        <p:spPr>
          <a:xfrm>
            <a:off x="3019667" y="2217060"/>
            <a:ext cx="3104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Flow Sensors</a:t>
            </a:r>
            <a:endParaRPr sz="43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8567684150_0_478"/>
          <p:cNvSpPr txBox="1"/>
          <p:nvPr>
            <p:ph type="title"/>
          </p:nvPr>
        </p:nvSpPr>
        <p:spPr>
          <a:xfrm>
            <a:off x="384725" y="494103"/>
            <a:ext cx="619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Paddle Wheel</a:t>
            </a:r>
            <a:endParaRPr/>
          </a:p>
        </p:txBody>
      </p:sp>
      <p:sp>
        <p:nvSpPr>
          <p:cNvPr id="488" name="Google Shape;488;g38567684150_0_478"/>
          <p:cNvSpPr txBox="1"/>
          <p:nvPr/>
        </p:nvSpPr>
        <p:spPr>
          <a:xfrm>
            <a:off x="384724" y="1095619"/>
            <a:ext cx="5250900" cy="28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We can use a paddle wheel in the flow.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379095" marR="37846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rate at which the paddle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wheel turns is proportional to the rate of flow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of a liquid or gas.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An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optical encoder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can be attached to the shaft of the paddle wheel to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produce digital information as to how fast the paddle wheel is turning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379095" marR="162560" rtl="0" algn="l">
              <a:lnSpc>
                <a:spcPct val="114999"/>
              </a:lnSpc>
              <a:spcBef>
                <a:spcPts val="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Optical encoder converts motion into a sequence of digital pulses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89" name="Google Shape;489;g38567684150_0_478"/>
          <p:cNvGrpSpPr/>
          <p:nvPr/>
        </p:nvGrpSpPr>
        <p:grpSpPr>
          <a:xfrm>
            <a:off x="6436675" y="816625"/>
            <a:ext cx="2344114" cy="3927872"/>
            <a:chOff x="6436675" y="816625"/>
            <a:chExt cx="2344114" cy="3927872"/>
          </a:xfrm>
        </p:grpSpPr>
        <p:pic>
          <p:nvPicPr>
            <p:cNvPr id="490" name="Google Shape;490;g38567684150_0_4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36675" y="816625"/>
              <a:ext cx="1853523" cy="19276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1" name="Google Shape;491;g38567684150_0_4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06575" y="2896700"/>
              <a:ext cx="2274214" cy="18477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2" name="Google Shape;492;g38567684150_0_478"/>
          <p:cNvSpPr txBox="1"/>
          <p:nvPr>
            <p:ph idx="11" type="ftr"/>
          </p:nvPr>
        </p:nvSpPr>
        <p:spPr>
          <a:xfrm>
            <a:off x="73025" y="4910550"/>
            <a:ext cx="524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Prepared by: Nuzhat Tabassum, Asst. Prof, Dept of CSE, MIST</a:t>
            </a:r>
            <a:endParaRPr/>
          </a:p>
        </p:txBody>
      </p:sp>
      <p:grpSp>
        <p:nvGrpSpPr>
          <p:cNvPr id="493" name="Google Shape;493;g38567684150_0_478"/>
          <p:cNvGrpSpPr/>
          <p:nvPr/>
        </p:nvGrpSpPr>
        <p:grpSpPr>
          <a:xfrm>
            <a:off x="188175" y="4896474"/>
            <a:ext cx="9144615" cy="247014"/>
            <a:chOff x="0" y="4896899"/>
            <a:chExt cx="9144615" cy="247014"/>
          </a:xfrm>
        </p:grpSpPr>
        <p:sp>
          <p:nvSpPr>
            <p:cNvPr id="494" name="Google Shape;494;g38567684150_0_478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g38567684150_0_478"/>
            <p:cNvSpPr/>
            <p:nvPr/>
          </p:nvSpPr>
          <p:spPr>
            <a:xfrm>
              <a:off x="0" y="4896899"/>
              <a:ext cx="8595995" cy="247014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96" name="Google Shape;496;g38567684150_0_47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g38567684150_0_478"/>
            <p:cNvSpPr/>
            <p:nvPr/>
          </p:nvSpPr>
          <p:spPr>
            <a:xfrm>
              <a:off x="8595975" y="4896899"/>
              <a:ext cx="548640" cy="247014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8567684150_0_547"/>
          <p:cNvSpPr txBox="1"/>
          <p:nvPr>
            <p:ph type="title"/>
          </p:nvPr>
        </p:nvSpPr>
        <p:spPr>
          <a:xfrm>
            <a:off x="384725" y="478356"/>
            <a:ext cx="4981500" cy="44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Differential pressure Transducer</a:t>
            </a:r>
            <a:endParaRPr/>
          </a:p>
        </p:txBody>
      </p:sp>
      <p:sp>
        <p:nvSpPr>
          <p:cNvPr id="503" name="Google Shape;503;g38567684150_0_547"/>
          <p:cNvSpPr txBox="1"/>
          <p:nvPr/>
        </p:nvSpPr>
        <p:spPr>
          <a:xfrm>
            <a:off x="481724" y="1021390"/>
            <a:ext cx="4267200" cy="3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2286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 wire mesh or screen is put in the pipe to create some resistance.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379095" marR="257175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Flow through this resistance produces a difference in pressure between the two sides of the screen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379095" marR="245745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pressure transducer gives an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output proportional to the difference in the pressure between the two sides of the resistance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379095" marR="50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Thus the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output of a pressure transducer is proportional to the flow of a liquid or gas through the pipe.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04" name="Google Shape;504;g38567684150_0_547"/>
          <p:cNvGrpSpPr/>
          <p:nvPr/>
        </p:nvGrpSpPr>
        <p:grpSpPr>
          <a:xfrm>
            <a:off x="5529650" y="1017722"/>
            <a:ext cx="2360155" cy="3726777"/>
            <a:chOff x="5529650" y="1017722"/>
            <a:chExt cx="2360155" cy="3726777"/>
          </a:xfrm>
        </p:grpSpPr>
        <p:pic>
          <p:nvPicPr>
            <p:cNvPr id="505" name="Google Shape;505;g38567684150_0_5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29650" y="1017722"/>
              <a:ext cx="2205074" cy="1653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g38567684150_0_5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57575" y="2823922"/>
              <a:ext cx="1832230" cy="1920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063f586a90_0_60"/>
          <p:cNvSpPr txBox="1"/>
          <p:nvPr/>
        </p:nvSpPr>
        <p:spPr>
          <a:xfrm>
            <a:off x="481175" y="1836175"/>
            <a:ext cx="2985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1063f586a90_0_60"/>
          <p:cNvSpPr txBox="1"/>
          <p:nvPr/>
        </p:nvSpPr>
        <p:spPr>
          <a:xfrm>
            <a:off x="0" y="48969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1063f586a90_0_60"/>
          <p:cNvSpPr/>
          <p:nvPr/>
        </p:nvSpPr>
        <p:spPr>
          <a:xfrm>
            <a:off x="0" y="4896900"/>
            <a:ext cx="8595900" cy="2466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1063f586a90_0_60"/>
          <p:cNvSpPr/>
          <p:nvPr/>
        </p:nvSpPr>
        <p:spPr>
          <a:xfrm>
            <a:off x="8595975" y="4896900"/>
            <a:ext cx="548100" cy="246600"/>
          </a:xfrm>
          <a:prstGeom prst="rect">
            <a:avLst/>
          </a:prstGeom>
          <a:gradFill>
            <a:gsLst>
              <a:gs pos="0">
                <a:srgbClr val="BFBFBF"/>
              </a:gs>
              <a:gs pos="100000">
                <a:srgbClr val="73737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1063f586a90_0_60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 sz="9300">
                <a:solidFill>
                  <a:srgbClr val="0B5394"/>
                </a:solidFill>
              </a:rPr>
              <a:t>Thank You</a:t>
            </a:r>
            <a:endParaRPr b="1" sz="93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