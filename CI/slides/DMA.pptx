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2" roundtripDataSignature="AMtx7mjKJmwhKS/qwYHDJLsgeQE3ImrT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6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f4c31d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75f4c31d9a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55376e43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755376e43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5f4c31d9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75f4c31d9a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7a06b60b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77a06b60bc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7a06b60b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77a06b60bc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8"/>
          <p:cNvSpPr txBox="1"/>
          <p:nvPr>
            <p:ph type="ctrTitle"/>
          </p:nvPr>
        </p:nvSpPr>
        <p:spPr>
          <a:xfrm>
            <a:off x="228600" y="556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0"/>
          <p:cNvSpPr txBox="1"/>
          <p:nvPr>
            <p:ph type="title"/>
          </p:nvPr>
        </p:nvSpPr>
        <p:spPr>
          <a:xfrm>
            <a:off x="152400" y="762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0"/>
          <p:cNvSpPr txBox="1"/>
          <p:nvPr>
            <p:ph idx="1" type="body"/>
          </p:nvPr>
        </p:nvSpPr>
        <p:spPr>
          <a:xfrm>
            <a:off x="152400" y="1295400"/>
            <a:ext cx="8915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1" name="Google Shape;21;p60"/>
          <p:cNvSpPr txBox="1"/>
          <p:nvPr>
            <p:ph idx="12" type="sldNum"/>
          </p:nvPr>
        </p:nvSpPr>
        <p:spPr>
          <a:xfrm>
            <a:off x="4800600" y="63246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1"/>
          <p:cNvSpPr txBox="1"/>
          <p:nvPr>
            <p:ph type="title"/>
          </p:nvPr>
        </p:nvSpPr>
        <p:spPr>
          <a:xfrm>
            <a:off x="152400" y="762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1"/>
          <p:cNvSpPr txBox="1"/>
          <p:nvPr>
            <p:ph idx="12" type="sldNum"/>
          </p:nvPr>
        </p:nvSpPr>
        <p:spPr>
          <a:xfrm>
            <a:off x="4800600" y="63246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2"/>
          <p:cNvSpPr txBox="1"/>
          <p:nvPr>
            <p:ph type="title"/>
          </p:nvPr>
        </p:nvSpPr>
        <p:spPr>
          <a:xfrm>
            <a:off x="152400" y="762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2"/>
          <p:cNvSpPr txBox="1"/>
          <p:nvPr>
            <p:ph idx="1" type="body"/>
          </p:nvPr>
        </p:nvSpPr>
        <p:spPr>
          <a:xfrm>
            <a:off x="152400" y="1295400"/>
            <a:ext cx="43815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8" name="Google Shape;28;p62"/>
          <p:cNvSpPr txBox="1"/>
          <p:nvPr>
            <p:ph idx="2" type="body"/>
          </p:nvPr>
        </p:nvSpPr>
        <p:spPr>
          <a:xfrm>
            <a:off x="4686300" y="1295400"/>
            <a:ext cx="43815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9" name="Google Shape;29;p62"/>
          <p:cNvSpPr txBox="1"/>
          <p:nvPr>
            <p:ph idx="12" type="sldNum"/>
          </p:nvPr>
        </p:nvSpPr>
        <p:spPr>
          <a:xfrm>
            <a:off x="4800600" y="63246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3"/>
          <p:cNvSpPr txBox="1"/>
          <p:nvPr>
            <p:ph type="title"/>
          </p:nvPr>
        </p:nvSpPr>
        <p:spPr>
          <a:xfrm rot="5400000">
            <a:off x="4943475" y="1971675"/>
            <a:ext cx="6019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3"/>
          <p:cNvSpPr txBox="1"/>
          <p:nvPr>
            <p:ph idx="1" type="body"/>
          </p:nvPr>
        </p:nvSpPr>
        <p:spPr>
          <a:xfrm rot="5400000">
            <a:off x="409575" y="-180975"/>
            <a:ext cx="6019800" cy="653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33" name="Google Shape;33;p63"/>
          <p:cNvSpPr txBox="1"/>
          <p:nvPr>
            <p:ph idx="12" type="sldNum"/>
          </p:nvPr>
        </p:nvSpPr>
        <p:spPr>
          <a:xfrm>
            <a:off x="4800600" y="63246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4"/>
          <p:cNvSpPr txBox="1"/>
          <p:nvPr>
            <p:ph type="title"/>
          </p:nvPr>
        </p:nvSpPr>
        <p:spPr>
          <a:xfrm>
            <a:off x="152400" y="762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4"/>
          <p:cNvSpPr txBox="1"/>
          <p:nvPr>
            <p:ph idx="1" type="body"/>
          </p:nvPr>
        </p:nvSpPr>
        <p:spPr>
          <a:xfrm rot="5400000">
            <a:off x="2209800" y="-762000"/>
            <a:ext cx="48006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37" name="Google Shape;37;p64"/>
          <p:cNvSpPr txBox="1"/>
          <p:nvPr>
            <p:ph idx="12" type="sldNum"/>
          </p:nvPr>
        </p:nvSpPr>
        <p:spPr>
          <a:xfrm>
            <a:off x="4800600" y="63246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6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2" name="Google Shape;42;p65"/>
          <p:cNvSpPr txBox="1"/>
          <p:nvPr>
            <p:ph idx="12" type="sldNum"/>
          </p:nvPr>
        </p:nvSpPr>
        <p:spPr>
          <a:xfrm>
            <a:off x="4800600" y="63246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6" name="Google Shape;46;p6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7" name="Google Shape;47;p66"/>
          <p:cNvSpPr txBox="1"/>
          <p:nvPr>
            <p:ph idx="12" type="sldNum"/>
          </p:nvPr>
        </p:nvSpPr>
        <p:spPr>
          <a:xfrm>
            <a:off x="4800600" y="63246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7"/>
          <p:cNvSpPr txBox="1"/>
          <p:nvPr>
            <p:ph idx="12" type="sldNum"/>
          </p:nvPr>
        </p:nvSpPr>
        <p:spPr>
          <a:xfrm>
            <a:off x="4800600" y="63246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3" name="Google Shape;53;p6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4" name="Google Shape;54;p6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6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68"/>
          <p:cNvSpPr txBox="1"/>
          <p:nvPr>
            <p:ph idx="12" type="sldNum"/>
          </p:nvPr>
        </p:nvSpPr>
        <p:spPr>
          <a:xfrm>
            <a:off x="4800600" y="63246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60" name="Google Shape;60;p69"/>
          <p:cNvSpPr txBox="1"/>
          <p:nvPr>
            <p:ph idx="12" type="sldNum"/>
          </p:nvPr>
        </p:nvSpPr>
        <p:spPr>
          <a:xfrm>
            <a:off x="4800600" y="63246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7"/>
          <p:cNvSpPr txBox="1"/>
          <p:nvPr>
            <p:ph type="title"/>
          </p:nvPr>
        </p:nvSpPr>
        <p:spPr>
          <a:xfrm>
            <a:off x="152400" y="762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7"/>
          <p:cNvSpPr txBox="1"/>
          <p:nvPr>
            <p:ph idx="1" type="body"/>
          </p:nvPr>
        </p:nvSpPr>
        <p:spPr>
          <a:xfrm>
            <a:off x="152400" y="1295400"/>
            <a:ext cx="8915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D4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D4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0D4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0D4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0D4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0D4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9"/>
          <p:cNvSpPr txBox="1"/>
          <p:nvPr>
            <p:ph type="title"/>
          </p:nvPr>
        </p:nvSpPr>
        <p:spPr>
          <a:xfrm>
            <a:off x="152400" y="762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9"/>
          <p:cNvSpPr txBox="1"/>
          <p:nvPr>
            <p:ph idx="1" type="body"/>
          </p:nvPr>
        </p:nvSpPr>
        <p:spPr>
          <a:xfrm>
            <a:off x="152400" y="1295400"/>
            <a:ext cx="8915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D4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D4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0D4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0D4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0D4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0D4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9"/>
          <p:cNvSpPr txBox="1"/>
          <p:nvPr/>
        </p:nvSpPr>
        <p:spPr>
          <a:xfrm>
            <a:off x="5562600" y="6319837"/>
            <a:ext cx="3505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©2009 by Pearson Education, Inc.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Upper Saddle River, New Jersey 07458 • All rights reserved.</a:t>
            </a:r>
            <a:endParaRPr/>
          </a:p>
        </p:txBody>
      </p:sp>
      <p:cxnSp>
        <p:nvCxnSpPr>
          <p:cNvPr id="14" name="Google Shape;14;p59"/>
          <p:cNvCxnSpPr/>
          <p:nvPr/>
        </p:nvCxnSpPr>
        <p:spPr>
          <a:xfrm>
            <a:off x="0" y="6248400"/>
            <a:ext cx="9140825" cy="0"/>
          </a:xfrm>
          <a:prstGeom prst="straightConnector1">
            <a:avLst/>
          </a:prstGeom>
          <a:noFill/>
          <a:ln cap="flat" cmpd="sng" w="28575">
            <a:solidFill>
              <a:srgbClr val="0033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" name="Google Shape;15;p59"/>
          <p:cNvSpPr txBox="1"/>
          <p:nvPr/>
        </p:nvSpPr>
        <p:spPr>
          <a:xfrm>
            <a:off x="762000" y="6248400"/>
            <a:ext cx="4495800" cy="623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Intel Microprocessors: </a:t>
            </a:r>
            <a:r>
              <a:rPr b="0" i="1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8086/8088, 80186/80188, 80286, 80386, 80486 Pentium,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Pentium Pro Processor, Pentium II, Pentium, 4, and Core2 with 64-bit Extensions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Architecture, Programming, and Interfacing, </a:t>
            </a: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Eighth Edition</a:t>
            </a:r>
            <a:br>
              <a:rPr b="0" i="1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Barry B. Brey</a:t>
            </a:r>
            <a:endParaRPr/>
          </a:p>
        </p:txBody>
      </p:sp>
      <p:sp>
        <p:nvSpPr>
          <p:cNvPr id="16" name="Google Shape;16;p59"/>
          <p:cNvSpPr txBox="1"/>
          <p:nvPr>
            <p:ph idx="12" type="sldNum"/>
          </p:nvPr>
        </p:nvSpPr>
        <p:spPr>
          <a:xfrm>
            <a:off x="4800600" y="63246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  <p:pic>
        <p:nvPicPr>
          <p:cNvPr descr="Pearson_100K" id="17" name="Google Shape;17;p5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400800"/>
            <a:ext cx="806450" cy="31273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17.png"/><Relationship Id="rId5" Type="http://schemas.openxmlformats.org/officeDocument/2006/relationships/oleObject" Target="../embeddings/oleObject1.bin"/><Relationship Id="rId6" Type="http://schemas.openxmlformats.org/officeDocument/2006/relationships/oleObject" Target="../embeddings/oleObject1.bin"/><Relationship Id="rId7" Type="http://schemas.openxmlformats.org/officeDocument/2006/relationships/image" Target="../media/image1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type="ctrTitle"/>
          </p:nvPr>
        </p:nvSpPr>
        <p:spPr>
          <a:xfrm>
            <a:off x="152400" y="5638800"/>
            <a:ext cx="876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Chapter 13:  Direct Memory Access</a:t>
            </a:r>
            <a:b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  and DMA-Controlled I/O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182562" y="-269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r>
              <a:rPr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2"/>
          <p:cNvSpPr txBox="1"/>
          <p:nvPr>
            <p:ph idx="1" type="body"/>
          </p:nvPr>
        </p:nvSpPr>
        <p:spPr>
          <a:xfrm>
            <a:off x="182562" y="692150"/>
            <a:ext cx="849312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600"/>
              <a:buFont typeface="Times New Roman"/>
              <a:buChar char="•"/>
            </a:pP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DMA I/O technique provides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the </a:t>
            </a: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while the microprocessor is </a:t>
            </a:r>
            <a:r>
              <a:rPr i="0" lang="en-US" sz="26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temporarily disabled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600"/>
              <a:buFont typeface="Times New Roman"/>
              <a:buChar char="•"/>
            </a:pP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allows data to be 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transferred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memory and I/O at a speed limited by the speed of the  memory component and the DMA controller (</a:t>
            </a:r>
            <a:r>
              <a:rPr i="0" lang="en-US" sz="26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 to 150 M-bytes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transfer rates).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600"/>
              <a:buFont typeface="Arial"/>
              <a:buChar char="•"/>
            </a:pP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common purposes of DMA are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DRAM refresh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displays for refreshing the screen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disk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memory system write and read 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also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-speed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memory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-to-memory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transfer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5f4c31d9a_0_10"/>
          <p:cNvSpPr txBox="1"/>
          <p:nvPr>
            <p:ph type="title"/>
          </p:nvPr>
        </p:nvSpPr>
        <p:spPr>
          <a:xfrm>
            <a:off x="182562" y="-269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3600" u="none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r>
              <a:rPr i="0" lang="en-US" sz="3600" u="none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g375f4c31d9a_0_10"/>
          <p:cNvSpPr txBox="1"/>
          <p:nvPr>
            <p:ph idx="1" type="body"/>
          </p:nvPr>
        </p:nvSpPr>
        <p:spPr>
          <a:xfrm>
            <a:off x="182549" y="692150"/>
            <a:ext cx="88572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DMA is designed by Intel to transfer data at the fastest rate.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It allows the device to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transfer the data directly to/from memory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without any interference of the CPU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Using a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DMA controller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the device requests the CPU to hold its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data, address and control bus, so the device is free to transfer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data directly to/from the memory.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The DMA data transfer is initiated only after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receiving HLDA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signal from the CPU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Programmed I/O and Interrupt driven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I/O are the alternative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methods of data transferring against Direct Memory Access(DMA)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37" y="765175"/>
            <a:ext cx="7781925" cy="504031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 txBox="1"/>
          <p:nvPr/>
        </p:nvSpPr>
        <p:spPr>
          <a:xfrm>
            <a:off x="114300" y="5805487"/>
            <a:ext cx="8915400" cy="360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Ref.-</a:t>
            </a:r>
            <a:r>
              <a:rPr b="1" i="0" lang="en-US" sz="1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Microprocessors &amp; Interfacing by Douglas V. Hall, 2</a:t>
            </a:r>
            <a:r>
              <a:rPr b="1" baseline="30000" i="0" lang="en-US" sz="1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b="1" i="0" lang="en-US" sz="1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Edition, Pp. 348-351)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228600" y="44450"/>
            <a:ext cx="8664575" cy="720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Block diagram showing how a DMA controller operates in a microcomputer system.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55376e431_1_0"/>
          <p:cNvSpPr txBox="1"/>
          <p:nvPr/>
        </p:nvSpPr>
        <p:spPr>
          <a:xfrm>
            <a:off x="228600" y="44450"/>
            <a:ext cx="86646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Block diagram showing how a DMA controller operates in a microcomputer system.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g3755376e431_1_0" title="hjk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225" y="1040250"/>
            <a:ext cx="71247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/>
          <p:nvPr>
            <p:ph type="title"/>
          </p:nvPr>
        </p:nvSpPr>
        <p:spPr>
          <a:xfrm>
            <a:off x="76200" y="90476"/>
            <a:ext cx="91440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000" u="none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DMA OPERATION </a:t>
            </a:r>
            <a:endParaRPr sz="30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4"/>
          <p:cNvSpPr txBox="1"/>
          <p:nvPr>
            <p:ph idx="1" type="body"/>
          </p:nvPr>
        </p:nvSpPr>
        <p:spPr>
          <a:xfrm>
            <a:off x="182550" y="912800"/>
            <a:ext cx="8961300" cy="47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•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control signals are used to request and acknowledge a </a:t>
            </a:r>
            <a:r>
              <a:rPr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memory access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(DMA) transfer in the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microprocessor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-based system.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i="0" lang="en-US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</a:t>
            </a: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</a:t>
            </a: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</a:t>
            </a:r>
            <a:r>
              <a:rPr i="0" lang="en-US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input</a:t>
            </a: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to </a:t>
            </a:r>
            <a:r>
              <a:rPr i="0" lang="en-US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</a:t>
            </a: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b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action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i="0" lang="en-US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HLDA pin</a:t>
            </a: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</a:t>
            </a:r>
            <a:r>
              <a:rPr i="0" lang="en-US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</a:t>
            </a:r>
            <a:r>
              <a:rPr i="0" lang="en-US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acknowledges</a:t>
            </a:r>
            <a:b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DMA action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/>
        </p:nvSpPr>
        <p:spPr>
          <a:xfrm>
            <a:off x="154062" y="1171975"/>
            <a:ext cx="88359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○"/>
            </a:pPr>
            <a:r>
              <a:rPr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processor recognizes the hold, it stops executing software and enters hold cycles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○"/>
            </a:pPr>
            <a:r>
              <a:rPr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 input has </a:t>
            </a:r>
            <a:r>
              <a:rPr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priority</a:t>
            </a:r>
            <a:r>
              <a:rPr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 or NMI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○"/>
            </a:pPr>
            <a:r>
              <a:rPr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only microprocessor pin that has a higher priority than a HOLD is the RESET pin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5"/>
          <p:cNvSpPr txBox="1"/>
          <p:nvPr>
            <p:ph type="title"/>
          </p:nvPr>
        </p:nvSpPr>
        <p:spPr>
          <a:xfrm>
            <a:off x="76200" y="90476"/>
            <a:ext cx="91440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0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DMA OPERATION </a:t>
            </a:r>
            <a:endParaRPr sz="30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5f4c31d9a_0_26"/>
          <p:cNvSpPr txBox="1"/>
          <p:nvPr/>
        </p:nvSpPr>
        <p:spPr>
          <a:xfrm>
            <a:off x="76200" y="669825"/>
            <a:ext cx="8835900" cy="53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1" marL="9144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Initially, when any device has to send data between the device and the memory, the device has to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DMA request (DRQ) to DMA controller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○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DMA controller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sends Hold request (HRQ) to the CPU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waits for the CPU to assert the HLDA.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○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Then the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microprocessor leaves the contro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over the data bus,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bus, and control bus; and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acknowledges the HOLD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through HLDA signal.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○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Now the CPU is in HOLD state and the DMA controller has to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the operations over buses between the CPU, memory,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I/O devices.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g375f4c31d9a_0_26"/>
          <p:cNvSpPr txBox="1"/>
          <p:nvPr>
            <p:ph type="title"/>
          </p:nvPr>
        </p:nvSpPr>
        <p:spPr>
          <a:xfrm>
            <a:off x="76200" y="1"/>
            <a:ext cx="91440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0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DMA OPERATION </a:t>
            </a:r>
            <a:endParaRPr sz="30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000" u="none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DMA Definitions </a:t>
            </a:r>
            <a:endParaRPr sz="30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8"/>
          <p:cNvSpPr txBox="1"/>
          <p:nvPr>
            <p:ph idx="1" type="body"/>
          </p:nvPr>
        </p:nvSpPr>
        <p:spPr>
          <a:xfrm>
            <a:off x="182550" y="912800"/>
            <a:ext cx="8915400" cy="5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200"/>
              <a:buFont typeface="Times New Roman"/>
              <a:buChar char="•"/>
            </a:pPr>
            <a:r>
              <a:rPr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memory accesses normally occur between an I/O device and memory without the use of the microprocessor.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7429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200"/>
              <a:buFont typeface="Arial"/>
              <a:buChar char="–"/>
            </a:pPr>
            <a:r>
              <a:rPr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read</a:t>
            </a:r>
            <a:r>
              <a:rPr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transfers data </a:t>
            </a:r>
            <a:r>
              <a:rPr b="1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memory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I/O device </a:t>
            </a:r>
            <a:endParaRPr b="1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7429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A DMA read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causes both the MRDC and IOWC signals to activate simultaneously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7429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200"/>
              <a:buFont typeface="Arial"/>
              <a:buChar char="–"/>
            </a:pPr>
            <a:r>
              <a:rPr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write</a:t>
            </a:r>
            <a:r>
              <a:rPr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transfers data </a:t>
            </a:r>
            <a:r>
              <a:rPr b="1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an I/O device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memory</a:t>
            </a:r>
            <a:endParaRPr b="1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7429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A DMA write causes the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MWTC and IORC signals to both activate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34290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0D4000"/>
              </a:buClr>
              <a:buSzPts val="2200"/>
              <a:buFont typeface="Times New Roman"/>
              <a:buChar char="•"/>
            </a:pPr>
            <a:r>
              <a:rPr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&amp; I/O</a:t>
            </a:r>
            <a:r>
              <a:rPr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controlled </a:t>
            </a:r>
            <a:r>
              <a:rPr i="0" lang="en-US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simultaneously</a:t>
            </a:r>
            <a:r>
              <a:rPr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34290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data transfer speed is determined by the speed of the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memory device or a DMA controller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that often controls DMA transfers.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type="title"/>
          </p:nvPr>
        </p:nvSpPr>
        <p:spPr>
          <a:xfrm>
            <a:off x="76200" y="90476"/>
            <a:ext cx="9144000" cy="10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000" u="none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8237 DMA CONTROLLER </a:t>
            </a:r>
            <a:endParaRPr sz="3000">
              <a:solidFill>
                <a:srgbClr val="3D85C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>
            <a:off x="182562" y="912812"/>
            <a:ext cx="8961437" cy="467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600"/>
              <a:buFont typeface="Times New Roman"/>
              <a:buChar char="•"/>
            </a:pP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8237 </a:t>
            </a:r>
            <a:r>
              <a:rPr i="0" lang="en-US" sz="2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supplies 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&amp; I/O with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signals and memory address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information during the DMA transfer.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600"/>
              <a:buFont typeface="Times New Roman"/>
              <a:buChar char="–"/>
            </a:pP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actually a special-purpose microprocessor</a:t>
            </a:r>
            <a:b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whose job is high-speed data transfer between memory and I/O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429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0D4000"/>
              </a:buClr>
              <a:buSzPts val="2600"/>
              <a:buFont typeface="Times New Roman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It has 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four channels,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which can be used over four I/O devices.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429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0D4000"/>
              </a:buClr>
              <a:buSzPts val="2600"/>
              <a:buFont typeface="Times New Roman"/>
              <a:buChar char="•"/>
            </a:pP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13–3 shows the pin-out and block diagram of the 8237 </a:t>
            </a:r>
            <a:r>
              <a:rPr i="0" lang="en-US" sz="2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programmable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DMA controller.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13–3</a:t>
            </a:r>
            <a:r>
              <a:rPr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The 8237A-5 programmable DMA controller. (a) Block diagram and (b) pin-out. (Courtesy of Intel Corporation.)</a:t>
            </a:r>
            <a:br>
              <a:rPr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836612"/>
            <a:ext cx="8856662" cy="5256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254425" y="715400"/>
            <a:ext cx="8643300" cy="50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•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is not a discrete component in modern microprocessor-based systems.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–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appears within many system controller </a:t>
            </a:r>
            <a:r>
              <a:rPr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chip sets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•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is a </a:t>
            </a:r>
            <a:r>
              <a:rPr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four-channel device compatible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8086/8088, adequate for small systems.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–"/>
            </a:pPr>
            <a:r>
              <a:rPr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expandable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any number of DMA channel inputs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•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is capable of DMA transfers at rates up to </a:t>
            </a:r>
            <a:r>
              <a:rPr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1.6M bytes per second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–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channel is capable of addressing a </a:t>
            </a:r>
            <a:r>
              <a:rPr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64K-byte section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memory and transfer up to 64K bytes with a single programming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66750" y="1"/>
            <a:ext cx="9144000" cy="10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000" u="none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8237 DMA CONTROLLER </a:t>
            </a:r>
            <a:endParaRPr sz="3000">
              <a:solidFill>
                <a:srgbClr val="3D85C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3200" u="none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Internal Registers</a:t>
            </a:r>
            <a:r>
              <a:rPr b="1" i="0" lang="en-US" sz="3000" u="none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3000" u="none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solidFill>
                <a:srgbClr val="3D85C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82562" y="8207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</a:t>
            </a:r>
            <a:r>
              <a:rPr b="1"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6"/>
          <p:cNvSpPr txBox="1"/>
          <p:nvPr>
            <p:ph idx="1" type="body"/>
          </p:nvPr>
        </p:nvSpPr>
        <p:spPr>
          <a:xfrm>
            <a:off x="182562" y="1643062"/>
            <a:ext cx="8915400" cy="430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600"/>
              <a:buFont typeface="Arial"/>
              <a:buChar char="•"/>
            </a:pP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600" u="none">
                <a:latin typeface="Times New Roman"/>
                <a:ea typeface="Times New Roman"/>
                <a:cs typeface="Times New Roman"/>
                <a:sym typeface="Times New Roman"/>
              </a:rPr>
              <a:t>current address register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holds a 16-bit memory address used for the DMA transfer.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600"/>
              <a:buFont typeface="Times New Roman"/>
              <a:buChar char="–"/>
            </a:pP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channel has its own current address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for this purpose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429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0D4000"/>
              </a:buClr>
              <a:buSzPts val="2600"/>
              <a:buFont typeface="Times New Roman"/>
              <a:buChar char="•"/>
            </a:pP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byte of data is transferred during a DMA operation, CAR is either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incremented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decremented</a:t>
            </a: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600"/>
              <a:buFont typeface="Times New Roman"/>
              <a:buChar char="–"/>
            </a:pPr>
            <a:r>
              <a:rPr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depending on how it is programmed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Internal Registers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82562" y="8207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CWCR</a:t>
            </a:r>
            <a:r>
              <a:rPr b="1" i="0" lang="en-US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7"/>
          <p:cNvSpPr txBox="1"/>
          <p:nvPr>
            <p:ph idx="1" type="body"/>
          </p:nvPr>
        </p:nvSpPr>
        <p:spPr>
          <a:xfrm>
            <a:off x="182562" y="1643062"/>
            <a:ext cx="8915400" cy="3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Arial"/>
              <a:buChar char="•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word count register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programs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channel for the number of bytes (up to 64K) transferred during a DMA action.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•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loaded into this register is one less than the number of bytes transferred.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if a </a:t>
            </a:r>
            <a:r>
              <a:rPr i="0" lang="en-US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loaded to </a:t>
            </a:r>
            <a:r>
              <a:rPr i="0" lang="en-US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CWCR</a:t>
            </a: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</a:t>
            </a:r>
            <a:b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bytes</a:t>
            </a: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transferred during the DMA action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Internal Registers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t/>
            </a:r>
            <a:endParaRPr b="1" sz="4000"/>
          </a:p>
        </p:txBody>
      </p:sp>
      <p:sp>
        <p:nvSpPr>
          <p:cNvPr id="152" name="Google Shape;152;p18"/>
          <p:cNvSpPr txBox="1"/>
          <p:nvPr/>
        </p:nvSpPr>
        <p:spPr>
          <a:xfrm>
            <a:off x="182562" y="8207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 and BWC</a:t>
            </a:r>
            <a:r>
              <a:rPr b="1" i="0" lang="en-US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8"/>
          <p:cNvSpPr txBox="1"/>
          <p:nvPr>
            <p:ph idx="1" type="body"/>
          </p:nvPr>
        </p:nvSpPr>
        <p:spPr>
          <a:xfrm>
            <a:off x="182562" y="1643062"/>
            <a:ext cx="8915400" cy="423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Arial"/>
              <a:buChar char="•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address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(BA) and </a:t>
            </a:r>
            <a:r>
              <a:rPr b="1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word count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(BWC) registers are used when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auto-initialization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selected for a channel.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•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auto-initialization mode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these registers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used to reload the CAR and CWCR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DMA action is completed.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the same count and address to be used</a:t>
            </a:r>
            <a:b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transfer data from the same memory area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Internal Registers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182562" y="8207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 </a:t>
            </a: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60" name="Google Shape;160;p19"/>
          <p:cNvSpPr txBox="1"/>
          <p:nvPr>
            <p:ph idx="1" type="body"/>
          </p:nvPr>
        </p:nvSpPr>
        <p:spPr>
          <a:xfrm>
            <a:off x="182550" y="1643050"/>
            <a:ext cx="8532300" cy="45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Arial"/>
              <a:buChar char="•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 register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programs the operation of the 8237 DMA controller.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•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register uses bit position 0 to select the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memory-to-memory </a:t>
            </a:r>
            <a:r>
              <a:rPr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transfer mode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memory-to-memory DMA transfers use DMA </a:t>
            </a:r>
            <a:r>
              <a:rPr b="1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0 to hold the source address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</a:t>
            </a:r>
            <a:r>
              <a:rPr b="1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1 holds</a:t>
            </a: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b="1"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 address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8237A-5 command register. (Courtesy of Intel Corporation.)</a:t>
            </a:r>
            <a:br>
              <a:rPr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G13_004_0135026458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400" y="666750"/>
            <a:ext cx="5232400" cy="55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Internal Registers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t/>
            </a:r>
            <a:endParaRPr b="1" sz="4000"/>
          </a:p>
        </p:txBody>
      </p:sp>
      <p:sp>
        <p:nvSpPr>
          <p:cNvPr id="172" name="Google Shape;172;p21"/>
          <p:cNvSpPr txBox="1"/>
          <p:nvPr/>
        </p:nvSpPr>
        <p:spPr>
          <a:xfrm>
            <a:off x="182562" y="8207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</a:t>
            </a: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73" name="Google Shape;173;p21"/>
          <p:cNvSpPr txBox="1"/>
          <p:nvPr>
            <p:ph idx="1" type="body"/>
          </p:nvPr>
        </p:nvSpPr>
        <p:spPr>
          <a:xfrm>
            <a:off x="182550" y="1643050"/>
            <a:ext cx="8961600" cy="43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Arial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 register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programs the mode of operation for a channel.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Times New Roman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channel has its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 mode register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selected by bit positions 1 and 0.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remaining bits of the mode register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operation,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auto-initialization, increment/decrement, and mode for the channel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Figure 13–5</a:t>
            </a: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 8237A-5 mode register. (Courtesy of Intel Corporation.)</a:t>
            </a:r>
            <a:b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descr="FG13_005_0135026458"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500" y="1143000"/>
            <a:ext cx="4697412" cy="45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Internal Registers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t/>
            </a:r>
            <a:endParaRPr b="1" sz="4000"/>
          </a:p>
        </p:txBody>
      </p:sp>
      <p:sp>
        <p:nvSpPr>
          <p:cNvPr id="185" name="Google Shape;185;p23"/>
          <p:cNvSpPr txBox="1"/>
          <p:nvPr/>
        </p:nvSpPr>
        <p:spPr>
          <a:xfrm>
            <a:off x="182562" y="8207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 </a:t>
            </a:r>
            <a:r>
              <a:rPr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182562" y="1643062"/>
            <a:ext cx="8915400" cy="2649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Arial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bus request register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used to request</a:t>
            </a:r>
            <a:b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DMA transfer via software.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useful in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memory-to-memory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transfers,</a:t>
            </a:r>
            <a:b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an external signal is not available to</a:t>
            </a:r>
            <a:b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 the DMA transfer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Figure 13–6</a:t>
            </a: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 8237A-5 request register. (Courtesy of Intel Corporation.)</a:t>
            </a:r>
            <a:b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descr="FG13_006_0135026458" id="192" name="Google Shape;1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00" y="1600200"/>
            <a:ext cx="7275512" cy="3656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Internal Registers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t/>
            </a:r>
            <a:endParaRPr b="1" sz="4000"/>
          </a:p>
        </p:txBody>
      </p:sp>
      <p:sp>
        <p:nvSpPr>
          <p:cNvPr id="198" name="Google Shape;198;p25"/>
          <p:cNvSpPr txBox="1"/>
          <p:nvPr/>
        </p:nvSpPr>
        <p:spPr>
          <a:xfrm>
            <a:off x="182562" y="8207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MRSR </a:t>
            </a:r>
            <a:r>
              <a:rPr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182562" y="1643062"/>
            <a:ext cx="89154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Arial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mask register set/reset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sets or clears the channel mask.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mask is set (1), the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is disabled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RESET  signal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sets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channel masks</a:t>
            </a:r>
            <a:b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disable them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Figure 13–7</a:t>
            </a: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 8237A-5 mask register set/reset mode. (Courtesy of Intel Corporation.)</a:t>
            </a:r>
            <a:b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descr="FG13_007_0135026458" id="205" name="Google Shape;2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" y="1866900"/>
            <a:ext cx="7335837" cy="312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Internal Registers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t/>
            </a:r>
            <a:endParaRPr b="1" sz="4000"/>
          </a:p>
        </p:txBody>
      </p:sp>
      <p:sp>
        <p:nvSpPr>
          <p:cNvPr id="211" name="Google Shape;211;p27"/>
          <p:cNvSpPr txBox="1"/>
          <p:nvPr/>
        </p:nvSpPr>
        <p:spPr>
          <a:xfrm>
            <a:off x="182562" y="8207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MSR </a:t>
            </a:r>
            <a:r>
              <a:rPr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7"/>
          <p:cNvSpPr txBox="1"/>
          <p:nvPr>
            <p:ph idx="1" type="body"/>
          </p:nvPr>
        </p:nvSpPr>
        <p:spPr>
          <a:xfrm>
            <a:off x="182562" y="1643062"/>
            <a:ext cx="8915400" cy="2135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Arial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mask register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clears or sets all of</a:t>
            </a:r>
            <a:b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masks with one command instead of individual channels, as with the MRSR.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13–8</a:t>
            </a:r>
            <a:r>
              <a:rPr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8237A-5 mask register. (Courtesy of Intel Corporation.)</a:t>
            </a:r>
            <a:br>
              <a:rPr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G13_008_0135026458" id="218" name="Google Shape;2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" y="1282700"/>
            <a:ext cx="7334250" cy="4310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3D85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Internal Registers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t/>
            </a:r>
            <a:endParaRPr b="1" sz="4000"/>
          </a:p>
        </p:txBody>
      </p:sp>
      <p:sp>
        <p:nvSpPr>
          <p:cNvPr id="224" name="Google Shape;224;p29"/>
          <p:cNvSpPr txBox="1"/>
          <p:nvPr/>
        </p:nvSpPr>
        <p:spPr>
          <a:xfrm>
            <a:off x="182562" y="8207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 </a:t>
            </a:r>
            <a:r>
              <a:rPr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9"/>
          <p:cNvSpPr txBox="1"/>
          <p:nvPr>
            <p:ph idx="1" type="body"/>
          </p:nvPr>
        </p:nvSpPr>
        <p:spPr>
          <a:xfrm>
            <a:off x="182562" y="1643062"/>
            <a:ext cx="8915400" cy="2135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Arial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register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shows status of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DMA channel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 bits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indicate if the channel has reached i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ts terminal count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(transferred all its bytes).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Times New Roman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terminal count is reached, the</a:t>
            </a:r>
            <a:b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transfer is terminated for most modes</a:t>
            </a:r>
            <a:b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operation.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bits indicate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whether the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DREQ</a:t>
            </a:r>
            <a:b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given channel is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13–9</a:t>
            </a:r>
            <a:r>
              <a:rPr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8237A-5 status register. (Courtesy of Intel Corporation.)</a:t>
            </a:r>
            <a:br>
              <a:rPr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G13_009_0135026458" id="231" name="Google Shape;23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1485900"/>
            <a:ext cx="7302500" cy="38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600" u="none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Commands </a:t>
            </a:r>
            <a:endParaRPr sz="36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31"/>
          <p:cNvSpPr txBox="1"/>
          <p:nvPr>
            <p:ph idx="1" type="body"/>
          </p:nvPr>
        </p:nvSpPr>
        <p:spPr>
          <a:xfrm>
            <a:off x="182562" y="912812"/>
            <a:ext cx="8915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Times New Roman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software commands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used to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the operation of the 8237.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Times New Roman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commands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have a binary bit pattern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as do various control registers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within the 8237.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output to the correct port number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the software command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Times New Roman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13–10 shows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 port assignments</a:t>
            </a: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access all registers and the software commands.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13–10</a:t>
            </a:r>
            <a:r>
              <a:rPr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8237A-5 command and control port assignments. (Courtesy of Intel Corporation.)</a:t>
            </a:r>
            <a:br>
              <a:rPr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G13_010_0135026458" id="243" name="Google Shape;2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0" y="765175"/>
            <a:ext cx="5976937" cy="53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6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Commands </a:t>
            </a:r>
            <a:endParaRPr sz="36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t/>
            </a:r>
            <a:endParaRPr b="1" sz="4000"/>
          </a:p>
        </p:txBody>
      </p:sp>
      <p:sp>
        <p:nvSpPr>
          <p:cNvPr id="249" name="Google Shape;249;p33"/>
          <p:cNvSpPr txBox="1"/>
          <p:nvPr/>
        </p:nvSpPr>
        <p:spPr>
          <a:xfrm>
            <a:off x="182562" y="990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1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clear 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3"/>
          <p:cNvSpPr txBox="1"/>
          <p:nvPr>
            <p:ph idx="1" type="body"/>
          </p:nvPr>
        </p:nvSpPr>
        <p:spPr>
          <a:xfrm>
            <a:off x="182549" y="1643050"/>
            <a:ext cx="9596100" cy="21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Times New Roman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Acts exactly the same as the RESET signal</a:t>
            </a:r>
            <a:b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8237.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with the RESET signal, this command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disables all channels</a:t>
            </a:r>
            <a:endParaRPr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33"/>
          <p:cNvSpPr txBox="1"/>
          <p:nvPr/>
        </p:nvSpPr>
        <p:spPr>
          <a:xfrm>
            <a:off x="180975" y="40147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1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mask register 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3"/>
          <p:cNvSpPr txBox="1"/>
          <p:nvPr/>
        </p:nvSpPr>
        <p:spPr>
          <a:xfrm>
            <a:off x="180975" y="4646612"/>
            <a:ext cx="8915400" cy="2135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Times New Roman"/>
              <a:buChar char="•"/>
            </a:pPr>
            <a:r>
              <a:rPr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all four DMA channels</a:t>
            </a:r>
            <a:r>
              <a:rPr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6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Commands </a:t>
            </a:r>
            <a:endParaRPr sz="36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t/>
            </a:r>
            <a:endParaRPr b="1" sz="4000"/>
          </a:p>
        </p:txBody>
      </p:sp>
      <p:sp>
        <p:nvSpPr>
          <p:cNvPr id="258" name="Google Shape;258;p34"/>
          <p:cNvSpPr txBox="1"/>
          <p:nvPr/>
        </p:nvSpPr>
        <p:spPr>
          <a:xfrm>
            <a:off x="182562" y="9906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1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the first/last flip-flop</a:t>
            </a:r>
            <a:r>
              <a:rPr b="1" i="1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34"/>
          <p:cNvSpPr txBox="1"/>
          <p:nvPr>
            <p:ph idx="1" type="body"/>
          </p:nvPr>
        </p:nvSpPr>
        <p:spPr>
          <a:xfrm>
            <a:off x="182562" y="1643062"/>
            <a:ext cx="8915400" cy="2135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Times New Roman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Clears the first/last (F/L) flip-flop within 8237.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Times New Roman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F/L flip-flop selects which byte (low or high order) is read/written in the current address and current count registers.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i="0" lang="en-US" sz="2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F/L = 0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low-order byte is selected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i="0" lang="en-US" sz="2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F/L = 1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high-order byte is selected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3200"/>
              <a:buFont typeface="Times New Roman"/>
              <a:buChar char="•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read or write to the address or count register automatically toggles the F/L flip-flop.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type="title"/>
          </p:nvPr>
        </p:nvSpPr>
        <p:spPr>
          <a:xfrm>
            <a:off x="182562" y="12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0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the Address and Count Registers </a:t>
            </a:r>
            <a:endParaRPr sz="3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5"/>
          <p:cNvSpPr txBox="1"/>
          <p:nvPr>
            <p:ph idx="1" type="body"/>
          </p:nvPr>
        </p:nvSpPr>
        <p:spPr>
          <a:xfrm>
            <a:off x="182562" y="1487487"/>
            <a:ext cx="8915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•"/>
            </a:pPr>
            <a:r>
              <a:rPr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13–11 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I/O port locations for programming the count and address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registers for each channel.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•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state of the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F/L flip-flop determines whether the LSB or MSB is programmed. 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–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state is unknown, count and address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could be programmed incorrectly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•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important to disable the DMA channel before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address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count are programmed.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13–11</a:t>
            </a:r>
            <a:r>
              <a:rPr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8237A-5 DMA channel I/O port addresses. (Courtesy of Intel Corporation.)</a:t>
            </a:r>
            <a:br>
              <a:rPr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725" y="692150"/>
            <a:ext cx="8210550" cy="547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>
            <p:ph idx="1" type="body"/>
          </p:nvPr>
        </p:nvSpPr>
        <p:spPr>
          <a:xfrm>
            <a:off x="154050" y="1436129"/>
            <a:ext cx="8835900" cy="3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steps 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required to program the 8237: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–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 The F/L flip-flop is cleared using a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F/L command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–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 the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is disabled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–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 LSB &amp; MSB of the address are programmed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–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(4) LSB &amp; MSB of the count are programmed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•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these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operations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performed, the channel is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programmed and ready to use.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–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programming is required to select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 of operation before the channel is enabled and started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37"/>
          <p:cNvSpPr txBox="1"/>
          <p:nvPr>
            <p:ph type="title"/>
          </p:nvPr>
        </p:nvSpPr>
        <p:spPr>
          <a:xfrm>
            <a:off x="182562" y="12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0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the</a:t>
            </a:r>
            <a:r>
              <a:rPr b="1" lang="en-US" sz="3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8237</a:t>
            </a:r>
            <a:r>
              <a:rPr b="1" i="0" lang="en-US" sz="30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>
            <p:ph type="title"/>
          </p:nvPr>
        </p:nvSpPr>
        <p:spPr>
          <a:xfrm>
            <a:off x="182562" y="107012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0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8237 Connected to the 80X86</a:t>
            </a:r>
            <a:endParaRPr sz="3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8"/>
          <p:cNvSpPr txBox="1"/>
          <p:nvPr>
            <p:ph idx="1" type="body"/>
          </p:nvPr>
        </p:nvSpPr>
        <p:spPr>
          <a:xfrm>
            <a:off x="182562" y="912812"/>
            <a:ext cx="8493125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3000"/>
              <a:buFont typeface="Times New Roman"/>
              <a:buChar char="•"/>
            </a:pPr>
            <a:r>
              <a:rPr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address enable (AEN) output of 8237 controls the output pins of the latches and outputs of the 74LS257 (E).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7429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D4000"/>
              </a:buClr>
              <a:buSzPts val="3000"/>
              <a:buFont typeface="Times New Roman"/>
              <a:buChar char="–"/>
            </a:pPr>
            <a:r>
              <a:rPr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normal operation (AEN=0), latches A &amp; C and the multiplexer (E) provide address</a:t>
            </a:r>
            <a:br>
              <a:rPr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 bits A</a:t>
            </a:r>
            <a:r>
              <a:rPr baseline="-25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r>
              <a:rPr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–A</a:t>
            </a:r>
            <a:r>
              <a:rPr baseline="-25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</a:t>
            </a:r>
            <a:r>
              <a:rPr baseline="-25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–A</a:t>
            </a:r>
            <a:r>
              <a:rPr baseline="-25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i="0" sz="3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0D4000"/>
              </a:buClr>
              <a:buSzPts val="3000"/>
              <a:buFont typeface="Times New Roman"/>
              <a:buChar char="•"/>
            </a:pPr>
            <a:r>
              <a:rPr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 </a:t>
            </a:r>
            <a:r>
              <a:rPr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13-12</a:t>
            </a:r>
            <a:r>
              <a:rPr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9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13–12</a:t>
            </a:r>
            <a:r>
              <a:rPr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Complete 8088 minimum mode DMA system.</a:t>
            </a:r>
            <a:br>
              <a:rPr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9" name="Google Shape;28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4662" y="442912"/>
            <a:ext cx="4792662" cy="557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06425"/>
            <a:ext cx="4389437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>
            <p:ph idx="1" type="body"/>
          </p:nvPr>
        </p:nvSpPr>
        <p:spPr>
          <a:xfrm>
            <a:off x="308100" y="755178"/>
            <a:ext cx="8835900" cy="4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•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multiplexer provides the system control signals as long as the 80X86 is in control of the system.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–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a DMA action (AEN=1), latches A &amp; C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disabled along with the multiplexer (E)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–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latches D and B now provide address bits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–A</a:t>
            </a:r>
            <a:r>
              <a:rPr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</a:t>
            </a:r>
            <a:r>
              <a:rPr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–A</a:t>
            </a:r>
            <a:r>
              <a:rPr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•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bus bits A</a:t>
            </a:r>
            <a:r>
              <a:rPr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–A</a:t>
            </a:r>
            <a:r>
              <a:rPr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provided directly by the 8237 and contain part of the DMA transfer address.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2400"/>
              <a:buFont typeface="Times New Roman"/>
              <a:buChar char="•"/>
            </a:pPr>
            <a:r>
              <a:rPr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DMA controller provides control signals.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40"/>
          <p:cNvSpPr txBox="1"/>
          <p:nvPr>
            <p:ph type="title"/>
          </p:nvPr>
        </p:nvSpPr>
        <p:spPr>
          <a:xfrm>
            <a:off x="182562" y="107012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0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8237 Connected to the 80X86</a:t>
            </a:r>
            <a:endParaRPr sz="3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>
            <p:ph idx="1" type="body"/>
          </p:nvPr>
        </p:nvSpPr>
        <p:spPr>
          <a:xfrm>
            <a:off x="381000" y="1493837"/>
            <a:ext cx="4038600" cy="4672012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Normal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AEN=0</a:t>
            </a:r>
            <a:r>
              <a:rPr b="0" i="0" lang="en-US" sz="280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A, C, E         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A	        A</a:t>
            </a:r>
            <a:r>
              <a:rPr b="1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-A</a:t>
            </a:r>
            <a:r>
              <a:rPr b="1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Directly        A</a:t>
            </a:r>
            <a:r>
              <a:rPr b="1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-A</a:t>
            </a:r>
            <a:r>
              <a:rPr b="1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C	        A</a:t>
            </a:r>
            <a:r>
              <a:rPr b="1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-A</a:t>
            </a:r>
            <a:r>
              <a:rPr b="1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302" name="Google Shape;302;p41"/>
          <p:cNvSpPr txBox="1"/>
          <p:nvPr>
            <p:ph idx="1" type="body"/>
          </p:nvPr>
        </p:nvSpPr>
        <p:spPr>
          <a:xfrm>
            <a:off x="4648200" y="1493837"/>
            <a:ext cx="4038600" cy="467201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DMA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AEN=1,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B, D         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B	       A</a:t>
            </a:r>
            <a:r>
              <a:rPr b="1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-A</a:t>
            </a:r>
            <a:r>
              <a:rPr b="1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D	       A</a:t>
            </a:r>
            <a:r>
              <a:rPr b="1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-A</a:t>
            </a:r>
            <a:r>
              <a:rPr b="1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Directly        A</a:t>
            </a:r>
            <a:r>
              <a:rPr b="1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-A</a:t>
            </a:r>
            <a:r>
              <a:rPr b="1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03" name="Google Shape;303;p41"/>
          <p:cNvSpPr/>
          <p:nvPr/>
        </p:nvSpPr>
        <p:spPr>
          <a:xfrm>
            <a:off x="1807325" y="3605850"/>
            <a:ext cx="6858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1"/>
          <p:cNvSpPr/>
          <p:nvPr/>
        </p:nvSpPr>
        <p:spPr>
          <a:xfrm>
            <a:off x="2286000" y="4338637"/>
            <a:ext cx="6858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1"/>
          <p:cNvSpPr/>
          <p:nvPr/>
        </p:nvSpPr>
        <p:spPr>
          <a:xfrm>
            <a:off x="1873350" y="4920312"/>
            <a:ext cx="6858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1"/>
          <p:cNvSpPr/>
          <p:nvPr/>
        </p:nvSpPr>
        <p:spPr>
          <a:xfrm>
            <a:off x="2286000" y="3005137"/>
            <a:ext cx="6858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1"/>
          <p:cNvSpPr/>
          <p:nvPr/>
        </p:nvSpPr>
        <p:spPr>
          <a:xfrm>
            <a:off x="6478587" y="2990850"/>
            <a:ext cx="6858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1"/>
          <p:cNvSpPr/>
          <p:nvPr/>
        </p:nvSpPr>
        <p:spPr>
          <a:xfrm>
            <a:off x="6098987" y="3646487"/>
            <a:ext cx="6858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1"/>
          <p:cNvSpPr/>
          <p:nvPr/>
        </p:nvSpPr>
        <p:spPr>
          <a:xfrm>
            <a:off x="6098987" y="4252625"/>
            <a:ext cx="6858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1"/>
          <p:cNvSpPr/>
          <p:nvPr/>
        </p:nvSpPr>
        <p:spPr>
          <a:xfrm>
            <a:off x="6478587" y="4986337"/>
            <a:ext cx="6858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1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8237 Connected to the 80X86</a:t>
            </a:r>
            <a:br>
              <a:rPr b="1" i="0" lang="en-US" sz="4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-US" sz="40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r>
              <a:rPr b="1" i="0" lang="en-US" sz="40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7a06b60bc_0_9"/>
          <p:cNvSpPr txBox="1"/>
          <p:nvPr/>
        </p:nvSpPr>
        <p:spPr>
          <a:xfrm>
            <a:off x="0" y="0"/>
            <a:ext cx="9102600" cy="9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 8086 microprocessor system uses the 8237A DMA controller to transfer a block of data. The DMA controller is connected in I/O mapped I/O space with the following port assignments: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Channel 0 Address Register: 70H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Channel 1 Address Register: 72H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Channel 1 Count Register: 73H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Mode Register: 7BH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Command Register: 78H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Request Register: 79H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Single Mask Register: 7FH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Page Latch (A16–A19): 10H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Clear First/Last Flip-Flop: 7CH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system must transfer 512 bytes of data from I/O port (address 40H) to a memory buffer starting at 2000:1000H. Assume incrementing addresses and single transfer mode.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Describe step by step how the microprocessor programs the DMA controller registers before the transfer begins.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After programming, explain how the actual transfer is carried out by the DMA controller until all bytes are moved.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7a06b60bc_0_40"/>
          <p:cNvSpPr txBox="1"/>
          <p:nvPr/>
        </p:nvSpPr>
        <p:spPr>
          <a:xfrm>
            <a:off x="0" y="0"/>
            <a:ext cx="9102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Describe step by step how the microprocessor programs the DMA controller registers before the transfer begins.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After programming, explain how the actual transfer is carried out by the DMA controller until all bytes are moved.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000" u="non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Memory-to-Memory Transfer with the 8237 </a:t>
            </a:r>
            <a:endParaRPr sz="3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42"/>
          <p:cNvSpPr txBox="1"/>
          <p:nvPr>
            <p:ph idx="1" type="body"/>
          </p:nvPr>
        </p:nvSpPr>
        <p:spPr>
          <a:xfrm>
            <a:off x="228612" y="1028700"/>
            <a:ext cx="8915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•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Memory-to-memory transfer is much more powerful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•"/>
            </a:pPr>
            <a:r>
              <a:rPr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8237 requires only 2.0 </a:t>
            </a:r>
            <a:r>
              <a:rPr i="1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µ</a:t>
            </a:r>
            <a:r>
              <a:rPr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per byte, which is over twice as fast as a software data transfer.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•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not true if an 80386, 80846, or Pentium is in use in the system.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type="title"/>
          </p:nvPr>
        </p:nvSpPr>
        <p:spPr>
          <a:xfrm>
            <a:off x="182562" y="9048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1" lang="en-US" sz="3000" u="non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Memory-to-Memory DMA Transfer</a:t>
            </a:r>
            <a:r>
              <a:rPr b="1" i="0" lang="en-US" sz="3000" u="non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43"/>
          <p:cNvSpPr txBox="1"/>
          <p:nvPr>
            <p:ph idx="1" type="body"/>
          </p:nvPr>
        </p:nvSpPr>
        <p:spPr>
          <a:xfrm>
            <a:off x="182562" y="831400"/>
            <a:ext cx="8915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•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contents of memory locations </a:t>
            </a:r>
            <a:r>
              <a:rPr i="0" lang="en-US" sz="2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10000H–13FFFH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to be transferred to locations </a:t>
            </a:r>
            <a:r>
              <a:rPr i="0" lang="en-US" sz="28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14000H–17FFFH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–"/>
            </a:pPr>
            <a:r>
              <a:rPr i="0" lang="en-US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accomplished with the DMA controller</a:t>
            </a:r>
            <a:endParaRPr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D4000"/>
              </a:buClr>
              <a:buSzPts val="2800"/>
              <a:buFont typeface="Times New Roman"/>
              <a:buChar char="•"/>
            </a:pPr>
            <a:r>
              <a:rPr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13–1 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the software required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initialize the 8237 and program latch B in Figure 13–12 for this DMA transfer.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6375" y="44450"/>
            <a:ext cx="6191250" cy="66976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9" name="Google Shape;339;p44"/>
          <p:cNvGraphicFramePr/>
          <p:nvPr/>
        </p:nvGraphicFramePr>
        <p:xfrm>
          <a:off x="1908175" y="5445125"/>
          <a:ext cx="1368425" cy="215900"/>
        </p:xfrm>
        <a:graphic>
          <a:graphicData uri="http://schemas.openxmlformats.org/presentationml/2006/ole">
            <mc:AlternateContent>
              <mc:Choice Requires="v">
                <p:oleObj r:id="rId5" imgH="215900" imgW="1368425" progId="Photoshop.Image.7" spid="_x0000_s1">
                  <p:embed/>
                </p:oleObj>
              </mc:Choice>
              <mc:Fallback>
                <p:oleObj r:id="rId6" imgH="215900" imgW="1368425" progId="Photoshop.Image.7">
                  <p:embed/>
                  <p:pic>
                    <p:nvPicPr>
                      <p:cNvPr id="339" name="Google Shape;339;p44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908175" y="5445125"/>
                        <a:ext cx="136842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987" y="957262"/>
            <a:ext cx="6856412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987" y="3836987"/>
            <a:ext cx="6172200" cy="218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087" y="342900"/>
            <a:ext cx="1778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5"/>
          <p:cNvSpPr txBox="1"/>
          <p:nvPr/>
        </p:nvSpPr>
        <p:spPr>
          <a:xfrm>
            <a:off x="2484437" y="323850"/>
            <a:ext cx="12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(Cont.)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"/>
          <p:cNvSpPr txBox="1"/>
          <p:nvPr/>
        </p:nvSpPr>
        <p:spPr>
          <a:xfrm>
            <a:off x="1774350" y="1551500"/>
            <a:ext cx="5298300" cy="28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i="1" sz="6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2008-08-11T14:17:25Z</dcterms:created>
  <dc:creator>Karen Bretz</dc:creator>
</cp:coreProperties>
</file>