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slides/slide186.xml" ContentType="application/vnd.openxmlformats-officedocument.presentationml.slide+xml"/>
  <Override PartName="/ppt/slides/slide187.xml" ContentType="application/vnd.openxmlformats-officedocument.presentationml.slide+xml"/>
  <Override PartName="/ppt/slides/slide188.xml" ContentType="application/vnd.openxmlformats-officedocument.presentationml.slide+xml"/>
  <Override PartName="/ppt/slides/slide189.xml" ContentType="application/vnd.openxmlformats-officedocument.presentationml.slide+xml"/>
  <Override PartName="/ppt/slides/slide190.xml" ContentType="application/vnd.openxmlformats-officedocument.presentationml.slide+xml"/>
  <Override PartName="/ppt/slides/slide191.xml" ContentType="application/vnd.openxmlformats-officedocument.presentationml.slide+xml"/>
  <Override PartName="/ppt/slides/slide192.xml" ContentType="application/vnd.openxmlformats-officedocument.presentationml.slide+xml"/>
  <Override PartName="/ppt/slides/slide193.xml" ContentType="application/vnd.openxmlformats-officedocument.presentationml.slide+xml"/>
  <Override PartName="/ppt/slides/slide194.xml" ContentType="application/vnd.openxmlformats-officedocument.presentationml.slide+xml"/>
  <Override PartName="/ppt/slides/slide195.xml" ContentType="application/vnd.openxmlformats-officedocument.presentationml.slide+xml"/>
  <Override PartName="/ppt/slides/slide196.xml" ContentType="application/vnd.openxmlformats-officedocument.presentationml.slide+xml"/>
  <Override PartName="/ppt/slides/slide197.xml" ContentType="application/vnd.openxmlformats-officedocument.presentationml.slide+xml"/>
  <Override PartName="/ppt/slides/slide19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00"/>
  </p:notesMasterIdLst>
  <p:handoutMasterIdLst>
    <p:handoutMasterId r:id="rId201"/>
  </p:handout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411" r:id="rId48"/>
    <p:sldId id="408" r:id="rId49"/>
    <p:sldId id="409" r:id="rId50"/>
    <p:sldId id="412" r:id="rId51"/>
    <p:sldId id="413" r:id="rId52"/>
    <p:sldId id="414" r:id="rId53"/>
    <p:sldId id="415" r:id="rId54"/>
    <p:sldId id="416" r:id="rId55"/>
    <p:sldId id="417" r:id="rId56"/>
    <p:sldId id="418" r:id="rId57"/>
    <p:sldId id="419" r:id="rId58"/>
    <p:sldId id="420" r:id="rId59"/>
    <p:sldId id="421" r:id="rId60"/>
    <p:sldId id="422" r:id="rId61"/>
    <p:sldId id="423" r:id="rId62"/>
    <p:sldId id="424" r:id="rId63"/>
    <p:sldId id="425" r:id="rId64"/>
    <p:sldId id="426" r:id="rId65"/>
    <p:sldId id="427" r:id="rId66"/>
    <p:sldId id="428" r:id="rId67"/>
    <p:sldId id="429" r:id="rId68"/>
    <p:sldId id="430" r:id="rId69"/>
    <p:sldId id="431" r:id="rId70"/>
    <p:sldId id="432" r:id="rId71"/>
    <p:sldId id="433" r:id="rId72"/>
    <p:sldId id="434" r:id="rId73"/>
    <p:sldId id="435" r:id="rId74"/>
    <p:sldId id="436" r:id="rId75"/>
    <p:sldId id="437" r:id="rId76"/>
    <p:sldId id="438" r:id="rId77"/>
    <p:sldId id="439" r:id="rId78"/>
    <p:sldId id="440" r:id="rId79"/>
    <p:sldId id="441" r:id="rId80"/>
    <p:sldId id="442" r:id="rId81"/>
    <p:sldId id="443" r:id="rId82"/>
    <p:sldId id="444" r:id="rId83"/>
    <p:sldId id="445" r:id="rId84"/>
    <p:sldId id="446" r:id="rId85"/>
    <p:sldId id="447" r:id="rId86"/>
    <p:sldId id="448" r:id="rId87"/>
    <p:sldId id="449" r:id="rId88"/>
    <p:sldId id="450" r:id="rId89"/>
    <p:sldId id="451" r:id="rId90"/>
    <p:sldId id="452" r:id="rId91"/>
    <p:sldId id="453" r:id="rId92"/>
    <p:sldId id="454" r:id="rId93"/>
    <p:sldId id="455" r:id="rId94"/>
    <p:sldId id="456" r:id="rId95"/>
    <p:sldId id="457" r:id="rId96"/>
    <p:sldId id="458" r:id="rId97"/>
    <p:sldId id="459" r:id="rId98"/>
    <p:sldId id="460" r:id="rId99"/>
    <p:sldId id="461" r:id="rId100"/>
    <p:sldId id="462" r:id="rId101"/>
    <p:sldId id="463" r:id="rId102"/>
    <p:sldId id="464" r:id="rId103"/>
    <p:sldId id="465" r:id="rId104"/>
    <p:sldId id="466" r:id="rId105"/>
    <p:sldId id="467" r:id="rId106"/>
    <p:sldId id="468" r:id="rId107"/>
    <p:sldId id="469" r:id="rId108"/>
    <p:sldId id="470" r:id="rId109"/>
    <p:sldId id="471" r:id="rId110"/>
    <p:sldId id="472" r:id="rId111"/>
    <p:sldId id="473" r:id="rId112"/>
    <p:sldId id="474" r:id="rId113"/>
    <p:sldId id="475" r:id="rId114"/>
    <p:sldId id="476" r:id="rId115"/>
    <p:sldId id="477" r:id="rId116"/>
    <p:sldId id="478" r:id="rId117"/>
    <p:sldId id="479" r:id="rId118"/>
    <p:sldId id="480" r:id="rId119"/>
    <p:sldId id="481" r:id="rId120"/>
    <p:sldId id="482" r:id="rId121"/>
    <p:sldId id="483" r:id="rId122"/>
    <p:sldId id="484" r:id="rId123"/>
    <p:sldId id="485" r:id="rId124"/>
    <p:sldId id="486" r:id="rId125"/>
    <p:sldId id="328" r:id="rId126"/>
    <p:sldId id="330" r:id="rId127"/>
    <p:sldId id="331" r:id="rId128"/>
    <p:sldId id="487" r:id="rId129"/>
    <p:sldId id="488" r:id="rId130"/>
    <p:sldId id="489" r:id="rId131"/>
    <p:sldId id="490" r:id="rId132"/>
    <p:sldId id="491" r:id="rId133"/>
    <p:sldId id="492" r:id="rId134"/>
    <p:sldId id="493" r:id="rId135"/>
    <p:sldId id="494" r:id="rId136"/>
    <p:sldId id="342" r:id="rId137"/>
    <p:sldId id="343" r:id="rId138"/>
    <p:sldId id="344" r:id="rId139"/>
    <p:sldId id="345" r:id="rId140"/>
    <p:sldId id="347" r:id="rId141"/>
    <p:sldId id="349" r:id="rId142"/>
    <p:sldId id="350" r:id="rId143"/>
    <p:sldId id="351" r:id="rId144"/>
    <p:sldId id="352" r:id="rId145"/>
    <p:sldId id="353" r:id="rId146"/>
    <p:sldId id="354" r:id="rId147"/>
    <p:sldId id="356" r:id="rId148"/>
    <p:sldId id="357" r:id="rId149"/>
    <p:sldId id="358" r:id="rId150"/>
    <p:sldId id="359" r:id="rId151"/>
    <p:sldId id="360" r:id="rId152"/>
    <p:sldId id="361" r:id="rId153"/>
    <p:sldId id="362" r:id="rId154"/>
    <p:sldId id="363" r:id="rId155"/>
    <p:sldId id="364" r:id="rId156"/>
    <p:sldId id="365" r:id="rId157"/>
    <p:sldId id="366" r:id="rId158"/>
    <p:sldId id="367" r:id="rId159"/>
    <p:sldId id="368" r:id="rId160"/>
    <p:sldId id="369" r:id="rId161"/>
    <p:sldId id="370" r:id="rId162"/>
    <p:sldId id="371" r:id="rId163"/>
    <p:sldId id="372" r:id="rId164"/>
    <p:sldId id="373" r:id="rId165"/>
    <p:sldId id="374" r:id="rId166"/>
    <p:sldId id="375" r:id="rId167"/>
    <p:sldId id="376" r:id="rId168"/>
    <p:sldId id="377" r:id="rId169"/>
    <p:sldId id="378" r:id="rId170"/>
    <p:sldId id="379" r:id="rId171"/>
    <p:sldId id="380" r:id="rId172"/>
    <p:sldId id="381" r:id="rId173"/>
    <p:sldId id="382" r:id="rId174"/>
    <p:sldId id="383" r:id="rId175"/>
    <p:sldId id="384" r:id="rId176"/>
    <p:sldId id="385" r:id="rId177"/>
    <p:sldId id="386" r:id="rId178"/>
    <p:sldId id="387" r:id="rId179"/>
    <p:sldId id="388" r:id="rId180"/>
    <p:sldId id="389" r:id="rId181"/>
    <p:sldId id="390" r:id="rId182"/>
    <p:sldId id="391" r:id="rId183"/>
    <p:sldId id="392" r:id="rId184"/>
    <p:sldId id="393" r:id="rId185"/>
    <p:sldId id="394" r:id="rId186"/>
    <p:sldId id="395" r:id="rId187"/>
    <p:sldId id="396" r:id="rId188"/>
    <p:sldId id="397" r:id="rId189"/>
    <p:sldId id="398" r:id="rId190"/>
    <p:sldId id="399" r:id="rId191"/>
    <p:sldId id="400" r:id="rId192"/>
    <p:sldId id="401" r:id="rId193"/>
    <p:sldId id="402" r:id="rId194"/>
    <p:sldId id="403" r:id="rId195"/>
    <p:sldId id="404" r:id="rId196"/>
    <p:sldId id="405" r:id="rId197"/>
    <p:sldId id="406" r:id="rId198"/>
    <p:sldId id="407" r:id="rId19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D7D3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>
      <p:cViewPr varScale="1">
        <p:scale>
          <a:sx n="53" d="100"/>
          <a:sy n="53" d="100"/>
        </p:scale>
        <p:origin x="18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63" Type="http://schemas.openxmlformats.org/officeDocument/2006/relationships/slide" Target="slides/slide62.xml"/><Relationship Id="rId84" Type="http://schemas.openxmlformats.org/officeDocument/2006/relationships/slide" Target="slides/slide83.xml"/><Relationship Id="rId138" Type="http://schemas.openxmlformats.org/officeDocument/2006/relationships/slide" Target="slides/slide137.xml"/><Relationship Id="rId159" Type="http://schemas.openxmlformats.org/officeDocument/2006/relationships/slide" Target="slides/slide158.xml"/><Relationship Id="rId170" Type="http://schemas.openxmlformats.org/officeDocument/2006/relationships/slide" Target="slides/slide169.xml"/><Relationship Id="rId191" Type="http://schemas.openxmlformats.org/officeDocument/2006/relationships/slide" Target="slides/slide190.xml"/><Relationship Id="rId205" Type="http://schemas.openxmlformats.org/officeDocument/2006/relationships/tableStyles" Target="tableStyles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53" Type="http://schemas.openxmlformats.org/officeDocument/2006/relationships/slide" Target="slides/slide52.xml"/><Relationship Id="rId74" Type="http://schemas.openxmlformats.org/officeDocument/2006/relationships/slide" Target="slides/slide73.xml"/><Relationship Id="rId128" Type="http://schemas.openxmlformats.org/officeDocument/2006/relationships/slide" Target="slides/slide127.xml"/><Relationship Id="rId149" Type="http://schemas.openxmlformats.org/officeDocument/2006/relationships/slide" Target="slides/slide148.xml"/><Relationship Id="rId5" Type="http://schemas.openxmlformats.org/officeDocument/2006/relationships/slide" Target="slides/slide4.xml"/><Relationship Id="rId95" Type="http://schemas.openxmlformats.org/officeDocument/2006/relationships/slide" Target="slides/slide94.xml"/><Relationship Id="rId160" Type="http://schemas.openxmlformats.org/officeDocument/2006/relationships/slide" Target="slides/slide159.xml"/><Relationship Id="rId181" Type="http://schemas.openxmlformats.org/officeDocument/2006/relationships/slide" Target="slides/slide180.xml"/><Relationship Id="rId22" Type="http://schemas.openxmlformats.org/officeDocument/2006/relationships/slide" Target="slides/slide21.xml"/><Relationship Id="rId43" Type="http://schemas.openxmlformats.org/officeDocument/2006/relationships/slide" Target="slides/slide42.xml"/><Relationship Id="rId64" Type="http://schemas.openxmlformats.org/officeDocument/2006/relationships/slide" Target="slides/slide63.xml"/><Relationship Id="rId118" Type="http://schemas.openxmlformats.org/officeDocument/2006/relationships/slide" Target="slides/slide117.xml"/><Relationship Id="rId139" Type="http://schemas.openxmlformats.org/officeDocument/2006/relationships/slide" Target="slides/slide138.xml"/><Relationship Id="rId85" Type="http://schemas.openxmlformats.org/officeDocument/2006/relationships/slide" Target="slides/slide84.xml"/><Relationship Id="rId150" Type="http://schemas.openxmlformats.org/officeDocument/2006/relationships/slide" Target="slides/slide149.xml"/><Relationship Id="rId171" Type="http://schemas.openxmlformats.org/officeDocument/2006/relationships/slide" Target="slides/slide170.xml"/><Relationship Id="rId192" Type="http://schemas.openxmlformats.org/officeDocument/2006/relationships/slide" Target="slides/slide191.xml"/><Relationship Id="rId12" Type="http://schemas.openxmlformats.org/officeDocument/2006/relationships/slide" Target="slides/slide11.xml"/><Relationship Id="rId33" Type="http://schemas.openxmlformats.org/officeDocument/2006/relationships/slide" Target="slides/slide32.xml"/><Relationship Id="rId108" Type="http://schemas.openxmlformats.org/officeDocument/2006/relationships/slide" Target="slides/slide107.xml"/><Relationship Id="rId129" Type="http://schemas.openxmlformats.org/officeDocument/2006/relationships/slide" Target="slides/slide128.xml"/><Relationship Id="rId54" Type="http://schemas.openxmlformats.org/officeDocument/2006/relationships/slide" Target="slides/slide53.xml"/><Relationship Id="rId75" Type="http://schemas.openxmlformats.org/officeDocument/2006/relationships/slide" Target="slides/slide74.xml"/><Relationship Id="rId96" Type="http://schemas.openxmlformats.org/officeDocument/2006/relationships/slide" Target="slides/slide95.xml"/><Relationship Id="rId140" Type="http://schemas.openxmlformats.org/officeDocument/2006/relationships/slide" Target="slides/slide139.xml"/><Relationship Id="rId161" Type="http://schemas.openxmlformats.org/officeDocument/2006/relationships/slide" Target="slides/slide160.xml"/><Relationship Id="rId182" Type="http://schemas.openxmlformats.org/officeDocument/2006/relationships/slide" Target="slides/slide18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119" Type="http://schemas.openxmlformats.org/officeDocument/2006/relationships/slide" Target="slides/slide118.xml"/><Relationship Id="rId44" Type="http://schemas.openxmlformats.org/officeDocument/2006/relationships/slide" Target="slides/slide43.xml"/><Relationship Id="rId65" Type="http://schemas.openxmlformats.org/officeDocument/2006/relationships/slide" Target="slides/slide64.xml"/><Relationship Id="rId86" Type="http://schemas.openxmlformats.org/officeDocument/2006/relationships/slide" Target="slides/slide85.xml"/><Relationship Id="rId130" Type="http://schemas.openxmlformats.org/officeDocument/2006/relationships/slide" Target="slides/slide129.xml"/><Relationship Id="rId151" Type="http://schemas.openxmlformats.org/officeDocument/2006/relationships/slide" Target="slides/slide150.xml"/><Relationship Id="rId172" Type="http://schemas.openxmlformats.org/officeDocument/2006/relationships/slide" Target="slides/slide171.xml"/><Relationship Id="rId193" Type="http://schemas.openxmlformats.org/officeDocument/2006/relationships/slide" Target="slides/slide192.xml"/><Relationship Id="rId13" Type="http://schemas.openxmlformats.org/officeDocument/2006/relationships/slide" Target="slides/slide12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20" Type="http://schemas.openxmlformats.org/officeDocument/2006/relationships/slide" Target="slides/slide119.xml"/><Relationship Id="rId141" Type="http://schemas.openxmlformats.org/officeDocument/2006/relationships/slide" Target="slides/slide140.xml"/><Relationship Id="rId7" Type="http://schemas.openxmlformats.org/officeDocument/2006/relationships/slide" Target="slides/slide6.xml"/><Relationship Id="rId162" Type="http://schemas.openxmlformats.org/officeDocument/2006/relationships/slide" Target="slides/slide161.xml"/><Relationship Id="rId183" Type="http://schemas.openxmlformats.org/officeDocument/2006/relationships/slide" Target="slides/slide182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131" Type="http://schemas.openxmlformats.org/officeDocument/2006/relationships/slide" Target="slides/slide130.xml"/><Relationship Id="rId136" Type="http://schemas.openxmlformats.org/officeDocument/2006/relationships/slide" Target="slides/slide135.xml"/><Relationship Id="rId157" Type="http://schemas.openxmlformats.org/officeDocument/2006/relationships/slide" Target="slides/slide156.xml"/><Relationship Id="rId178" Type="http://schemas.openxmlformats.org/officeDocument/2006/relationships/slide" Target="slides/slide177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52" Type="http://schemas.openxmlformats.org/officeDocument/2006/relationships/slide" Target="slides/slide151.xml"/><Relationship Id="rId173" Type="http://schemas.openxmlformats.org/officeDocument/2006/relationships/slide" Target="slides/slide172.xml"/><Relationship Id="rId194" Type="http://schemas.openxmlformats.org/officeDocument/2006/relationships/slide" Target="slides/slide193.xml"/><Relationship Id="rId199" Type="http://schemas.openxmlformats.org/officeDocument/2006/relationships/slide" Target="slides/slide198.xml"/><Relationship Id="rId203" Type="http://schemas.openxmlformats.org/officeDocument/2006/relationships/viewProps" Target="view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26" Type="http://schemas.openxmlformats.org/officeDocument/2006/relationships/slide" Target="slides/slide125.xml"/><Relationship Id="rId147" Type="http://schemas.openxmlformats.org/officeDocument/2006/relationships/slide" Target="slides/slide146.xml"/><Relationship Id="rId168" Type="http://schemas.openxmlformats.org/officeDocument/2006/relationships/slide" Target="slides/slide167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142" Type="http://schemas.openxmlformats.org/officeDocument/2006/relationships/slide" Target="slides/slide141.xml"/><Relationship Id="rId163" Type="http://schemas.openxmlformats.org/officeDocument/2006/relationships/slide" Target="slides/slide162.xml"/><Relationship Id="rId184" Type="http://schemas.openxmlformats.org/officeDocument/2006/relationships/slide" Target="slides/slide183.xml"/><Relationship Id="rId189" Type="http://schemas.openxmlformats.org/officeDocument/2006/relationships/slide" Target="slides/slide188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slide" Target="slides/slide115.xml"/><Relationship Id="rId137" Type="http://schemas.openxmlformats.org/officeDocument/2006/relationships/slide" Target="slides/slide136.xml"/><Relationship Id="rId158" Type="http://schemas.openxmlformats.org/officeDocument/2006/relationships/slide" Target="slides/slide157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32" Type="http://schemas.openxmlformats.org/officeDocument/2006/relationships/slide" Target="slides/slide131.xml"/><Relationship Id="rId153" Type="http://schemas.openxmlformats.org/officeDocument/2006/relationships/slide" Target="slides/slide152.xml"/><Relationship Id="rId174" Type="http://schemas.openxmlformats.org/officeDocument/2006/relationships/slide" Target="slides/slide173.xml"/><Relationship Id="rId179" Type="http://schemas.openxmlformats.org/officeDocument/2006/relationships/slide" Target="slides/slide178.xml"/><Relationship Id="rId195" Type="http://schemas.openxmlformats.org/officeDocument/2006/relationships/slide" Target="slides/slide194.xml"/><Relationship Id="rId190" Type="http://schemas.openxmlformats.org/officeDocument/2006/relationships/slide" Target="slides/slide189.xml"/><Relationship Id="rId204" Type="http://schemas.openxmlformats.org/officeDocument/2006/relationships/theme" Target="theme/theme1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27" Type="http://schemas.openxmlformats.org/officeDocument/2006/relationships/slide" Target="slides/slide12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143" Type="http://schemas.openxmlformats.org/officeDocument/2006/relationships/slide" Target="slides/slide142.xml"/><Relationship Id="rId148" Type="http://schemas.openxmlformats.org/officeDocument/2006/relationships/slide" Target="slides/slide147.xml"/><Relationship Id="rId164" Type="http://schemas.openxmlformats.org/officeDocument/2006/relationships/slide" Target="slides/slide163.xml"/><Relationship Id="rId169" Type="http://schemas.openxmlformats.org/officeDocument/2006/relationships/slide" Target="slides/slide168.xml"/><Relationship Id="rId185" Type="http://schemas.openxmlformats.org/officeDocument/2006/relationships/slide" Target="slides/slide184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80" Type="http://schemas.openxmlformats.org/officeDocument/2006/relationships/slide" Target="slides/slide179.xml"/><Relationship Id="rId26" Type="http://schemas.openxmlformats.org/officeDocument/2006/relationships/slide" Target="slides/slide25.xml"/><Relationship Id="rId47" Type="http://schemas.openxmlformats.org/officeDocument/2006/relationships/slide" Target="slides/slide46.xml"/><Relationship Id="rId68" Type="http://schemas.openxmlformats.org/officeDocument/2006/relationships/slide" Target="slides/slide67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33" Type="http://schemas.openxmlformats.org/officeDocument/2006/relationships/slide" Target="slides/slide132.xml"/><Relationship Id="rId154" Type="http://schemas.openxmlformats.org/officeDocument/2006/relationships/slide" Target="slides/slide153.xml"/><Relationship Id="rId175" Type="http://schemas.openxmlformats.org/officeDocument/2006/relationships/slide" Target="slides/slide174.xml"/><Relationship Id="rId196" Type="http://schemas.openxmlformats.org/officeDocument/2006/relationships/slide" Target="slides/slide195.xml"/><Relationship Id="rId200" Type="http://schemas.openxmlformats.org/officeDocument/2006/relationships/notesMaster" Target="notesMasters/notesMaster1.xml"/><Relationship Id="rId16" Type="http://schemas.openxmlformats.org/officeDocument/2006/relationships/slide" Target="slides/slide15.xml"/><Relationship Id="rId37" Type="http://schemas.openxmlformats.org/officeDocument/2006/relationships/slide" Target="slides/slide36.xml"/><Relationship Id="rId58" Type="http://schemas.openxmlformats.org/officeDocument/2006/relationships/slide" Target="slides/slide57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slide" Target="slides/slide122.xml"/><Relationship Id="rId144" Type="http://schemas.openxmlformats.org/officeDocument/2006/relationships/slide" Target="slides/slide143.xml"/><Relationship Id="rId90" Type="http://schemas.openxmlformats.org/officeDocument/2006/relationships/slide" Target="slides/slide89.xml"/><Relationship Id="rId165" Type="http://schemas.openxmlformats.org/officeDocument/2006/relationships/slide" Target="slides/slide164.xml"/><Relationship Id="rId186" Type="http://schemas.openxmlformats.org/officeDocument/2006/relationships/slide" Target="slides/slide185.xml"/><Relationship Id="rId27" Type="http://schemas.openxmlformats.org/officeDocument/2006/relationships/slide" Target="slides/slide26.xml"/><Relationship Id="rId48" Type="http://schemas.openxmlformats.org/officeDocument/2006/relationships/slide" Target="slides/slide47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34" Type="http://schemas.openxmlformats.org/officeDocument/2006/relationships/slide" Target="slides/slide133.xml"/><Relationship Id="rId80" Type="http://schemas.openxmlformats.org/officeDocument/2006/relationships/slide" Target="slides/slide79.xml"/><Relationship Id="rId155" Type="http://schemas.openxmlformats.org/officeDocument/2006/relationships/slide" Target="slides/slide154.xml"/><Relationship Id="rId176" Type="http://schemas.openxmlformats.org/officeDocument/2006/relationships/slide" Target="slides/slide175.xml"/><Relationship Id="rId197" Type="http://schemas.openxmlformats.org/officeDocument/2006/relationships/slide" Target="slides/slide196.xml"/><Relationship Id="rId201" Type="http://schemas.openxmlformats.org/officeDocument/2006/relationships/handoutMaster" Target="handoutMasters/handoutMaster1.xml"/><Relationship Id="rId17" Type="http://schemas.openxmlformats.org/officeDocument/2006/relationships/slide" Target="slides/slide16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24" Type="http://schemas.openxmlformats.org/officeDocument/2006/relationships/slide" Target="slides/slide123.xml"/><Relationship Id="rId70" Type="http://schemas.openxmlformats.org/officeDocument/2006/relationships/slide" Target="slides/slide69.xml"/><Relationship Id="rId91" Type="http://schemas.openxmlformats.org/officeDocument/2006/relationships/slide" Target="slides/slide90.xml"/><Relationship Id="rId145" Type="http://schemas.openxmlformats.org/officeDocument/2006/relationships/slide" Target="slides/slide144.xml"/><Relationship Id="rId166" Type="http://schemas.openxmlformats.org/officeDocument/2006/relationships/slide" Target="slides/slide165.xml"/><Relationship Id="rId187" Type="http://schemas.openxmlformats.org/officeDocument/2006/relationships/slide" Target="slides/slide186.xml"/><Relationship Id="rId1" Type="http://schemas.openxmlformats.org/officeDocument/2006/relationships/slideMaster" Target="slideMasters/slideMaster1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60" Type="http://schemas.openxmlformats.org/officeDocument/2006/relationships/slide" Target="slides/slide59.xml"/><Relationship Id="rId81" Type="http://schemas.openxmlformats.org/officeDocument/2006/relationships/slide" Target="slides/slide80.xml"/><Relationship Id="rId135" Type="http://schemas.openxmlformats.org/officeDocument/2006/relationships/slide" Target="slides/slide134.xml"/><Relationship Id="rId156" Type="http://schemas.openxmlformats.org/officeDocument/2006/relationships/slide" Target="slides/slide155.xml"/><Relationship Id="rId177" Type="http://schemas.openxmlformats.org/officeDocument/2006/relationships/slide" Target="slides/slide176.xml"/><Relationship Id="rId198" Type="http://schemas.openxmlformats.org/officeDocument/2006/relationships/slide" Target="slides/slide197.xml"/><Relationship Id="rId202" Type="http://schemas.openxmlformats.org/officeDocument/2006/relationships/presProps" Target="presProps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50" Type="http://schemas.openxmlformats.org/officeDocument/2006/relationships/slide" Target="slides/slide49.xml"/><Relationship Id="rId104" Type="http://schemas.openxmlformats.org/officeDocument/2006/relationships/slide" Target="slides/slide103.xml"/><Relationship Id="rId125" Type="http://schemas.openxmlformats.org/officeDocument/2006/relationships/slide" Target="slides/slide124.xml"/><Relationship Id="rId146" Type="http://schemas.openxmlformats.org/officeDocument/2006/relationships/slide" Target="slides/slide145.xml"/><Relationship Id="rId167" Type="http://schemas.openxmlformats.org/officeDocument/2006/relationships/slide" Target="slides/slide166.xml"/><Relationship Id="rId188" Type="http://schemas.openxmlformats.org/officeDocument/2006/relationships/slide" Target="slides/slide187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6C064A-D61B-4B21-B757-51A9B82445B8}" type="datetimeFigureOut">
              <a:rPr lang="en-US" smtClean="0"/>
              <a:t>8/20/2025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0305E07-67EA-4042-A3F6-853A8AD8D2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  <a:t>8/20/2025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8/20/2025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8/20/2025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8/20/2025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8/20/2025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8/20/2025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8/20/2025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8/20/2025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8/20/2025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8/20/2025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8/20/2025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8/20/2025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1C593-65D0-4073-BCC9-577B9352EA97}" type="datetimeFigureOut">
              <a:rPr lang="en-US" smtClean="0"/>
              <a:t>8/20/2025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tags" Target="../tags/tag6.xml"/><Relationship Id="rId2" Type="http://schemas.openxmlformats.org/officeDocument/2006/relationships/tags" Target="../tags/tag5.xml"/><Relationship Id="rId1" Type="http://schemas.openxmlformats.org/officeDocument/2006/relationships/tags" Target="../tags/tag4.xml"/><Relationship Id="rId4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tags" Target="../tags/tag9.xml"/><Relationship Id="rId2" Type="http://schemas.openxmlformats.org/officeDocument/2006/relationships/tags" Target="../tags/tag8.xml"/><Relationship Id="rId1" Type="http://schemas.openxmlformats.org/officeDocument/2006/relationships/tags" Target="../tags/tag7.xml"/><Relationship Id="rId4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tags" Target="../tags/tag10.xml"/><Relationship Id="rId4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tags" Target="../tags/tag15.xml"/><Relationship Id="rId2" Type="http://schemas.openxmlformats.org/officeDocument/2006/relationships/tags" Target="../tags/tag14.xml"/><Relationship Id="rId1" Type="http://schemas.openxmlformats.org/officeDocument/2006/relationships/tags" Target="../tags/tag13.xml"/><Relationship Id="rId4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tags" Target="../tags/tag18.xml"/><Relationship Id="rId2" Type="http://schemas.openxmlformats.org/officeDocument/2006/relationships/tags" Target="../tags/tag17.xml"/><Relationship Id="rId1" Type="http://schemas.openxmlformats.org/officeDocument/2006/relationships/tags" Target="../tags/tag16.xml"/><Relationship Id="rId4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tags" Target="../tags/tag21.xml"/><Relationship Id="rId2" Type="http://schemas.openxmlformats.org/officeDocument/2006/relationships/tags" Target="../tags/tag20.xml"/><Relationship Id="rId1" Type="http://schemas.openxmlformats.org/officeDocument/2006/relationships/tags" Target="../tags/tag19.xml"/><Relationship Id="rId4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tags" Target="../tags/tag24.xml"/><Relationship Id="rId2" Type="http://schemas.openxmlformats.org/officeDocument/2006/relationships/tags" Target="../tags/tag23.xml"/><Relationship Id="rId1" Type="http://schemas.openxmlformats.org/officeDocument/2006/relationships/tags" Target="../tags/tag22.xml"/><Relationship Id="rId4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tags" Target="../tags/tag27.xml"/><Relationship Id="rId2" Type="http://schemas.openxmlformats.org/officeDocument/2006/relationships/tags" Target="../tags/tag26.xml"/><Relationship Id="rId1" Type="http://schemas.openxmlformats.org/officeDocument/2006/relationships/tags" Target="../tags/tag25.xml"/><Relationship Id="rId4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tags" Target="../tags/tag30.xml"/><Relationship Id="rId2" Type="http://schemas.openxmlformats.org/officeDocument/2006/relationships/tags" Target="../tags/tag29.xml"/><Relationship Id="rId1" Type="http://schemas.openxmlformats.org/officeDocument/2006/relationships/tags" Target="../tags/tag28.xml"/><Relationship Id="rId4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tags" Target="../tags/tag33.xml"/><Relationship Id="rId2" Type="http://schemas.openxmlformats.org/officeDocument/2006/relationships/tags" Target="../tags/tag32.xml"/><Relationship Id="rId1" Type="http://schemas.openxmlformats.org/officeDocument/2006/relationships/tags" Target="../tags/tag31.xml"/><Relationship Id="rId4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tags" Target="../tags/tag36.xml"/><Relationship Id="rId2" Type="http://schemas.openxmlformats.org/officeDocument/2006/relationships/tags" Target="../tags/tag35.xml"/><Relationship Id="rId1" Type="http://schemas.openxmlformats.org/officeDocument/2006/relationships/tags" Target="../tags/tag34.xml"/><Relationship Id="rId4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tags" Target="../tags/tag39.xml"/><Relationship Id="rId2" Type="http://schemas.openxmlformats.org/officeDocument/2006/relationships/tags" Target="../tags/tag38.xml"/><Relationship Id="rId1" Type="http://schemas.openxmlformats.org/officeDocument/2006/relationships/tags" Target="../tags/tag37.xml"/><Relationship Id="rId4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tags" Target="../tags/tag42.xml"/><Relationship Id="rId2" Type="http://schemas.openxmlformats.org/officeDocument/2006/relationships/tags" Target="../tags/tag41.xml"/><Relationship Id="rId1" Type="http://schemas.openxmlformats.org/officeDocument/2006/relationships/tags" Target="../tags/tag40.xml"/><Relationship Id="rId4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tags" Target="../tags/tag45.xml"/><Relationship Id="rId2" Type="http://schemas.openxmlformats.org/officeDocument/2006/relationships/tags" Target="../tags/tag44.xml"/><Relationship Id="rId1" Type="http://schemas.openxmlformats.org/officeDocument/2006/relationships/tags" Target="../tags/tag43.xml"/><Relationship Id="rId4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tags" Target="../tags/tag48.xml"/><Relationship Id="rId2" Type="http://schemas.openxmlformats.org/officeDocument/2006/relationships/tags" Target="../tags/tag47.xml"/><Relationship Id="rId1" Type="http://schemas.openxmlformats.org/officeDocument/2006/relationships/tags" Target="../tags/tag46.xml"/><Relationship Id="rId4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tags" Target="../tags/tag51.xml"/><Relationship Id="rId2" Type="http://schemas.openxmlformats.org/officeDocument/2006/relationships/tags" Target="../tags/tag50.xml"/><Relationship Id="rId1" Type="http://schemas.openxmlformats.org/officeDocument/2006/relationships/tags" Target="../tags/tag49.xml"/><Relationship Id="rId4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tags" Target="../tags/tag54.xml"/><Relationship Id="rId2" Type="http://schemas.openxmlformats.org/officeDocument/2006/relationships/tags" Target="../tags/tag53.xml"/><Relationship Id="rId1" Type="http://schemas.openxmlformats.org/officeDocument/2006/relationships/tags" Target="../tags/tag52.xml"/><Relationship Id="rId4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tags" Target="../tags/tag57.xml"/><Relationship Id="rId2" Type="http://schemas.openxmlformats.org/officeDocument/2006/relationships/tags" Target="../tags/tag56.xml"/><Relationship Id="rId1" Type="http://schemas.openxmlformats.org/officeDocument/2006/relationships/tags" Target="../tags/tag55.xml"/><Relationship Id="rId4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tags" Target="../tags/tag60.xml"/><Relationship Id="rId2" Type="http://schemas.openxmlformats.org/officeDocument/2006/relationships/tags" Target="../tags/tag59.xml"/><Relationship Id="rId1" Type="http://schemas.openxmlformats.org/officeDocument/2006/relationships/tags" Target="../tags/tag58.xml"/><Relationship Id="rId4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tags" Target="../tags/tag63.xml"/><Relationship Id="rId2" Type="http://schemas.openxmlformats.org/officeDocument/2006/relationships/tags" Target="../tags/tag62.xml"/><Relationship Id="rId1" Type="http://schemas.openxmlformats.org/officeDocument/2006/relationships/tags" Target="../tags/tag61.xml"/><Relationship Id="rId4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tags" Target="../tags/tag66.xml"/><Relationship Id="rId2" Type="http://schemas.openxmlformats.org/officeDocument/2006/relationships/tags" Target="../tags/tag65.xml"/><Relationship Id="rId1" Type="http://schemas.openxmlformats.org/officeDocument/2006/relationships/tags" Target="../tags/tag64.xml"/><Relationship Id="rId4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tags" Target="../tags/tag69.xml"/><Relationship Id="rId2" Type="http://schemas.openxmlformats.org/officeDocument/2006/relationships/tags" Target="../tags/tag68.xml"/><Relationship Id="rId1" Type="http://schemas.openxmlformats.org/officeDocument/2006/relationships/tags" Target="../tags/tag67.xml"/><Relationship Id="rId4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tags" Target="../tags/tag72.xml"/><Relationship Id="rId2" Type="http://schemas.openxmlformats.org/officeDocument/2006/relationships/tags" Target="../tags/tag71.xml"/><Relationship Id="rId1" Type="http://schemas.openxmlformats.org/officeDocument/2006/relationships/tags" Target="../tags/tag70.xml"/><Relationship Id="rId4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tags" Target="../tags/tag75.xml"/><Relationship Id="rId2" Type="http://schemas.openxmlformats.org/officeDocument/2006/relationships/tags" Target="../tags/tag74.xml"/><Relationship Id="rId1" Type="http://schemas.openxmlformats.org/officeDocument/2006/relationships/tags" Target="../tags/tag73.xml"/><Relationship Id="rId4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tags" Target="../tags/tag78.xml"/><Relationship Id="rId2" Type="http://schemas.openxmlformats.org/officeDocument/2006/relationships/tags" Target="../tags/tag77.xml"/><Relationship Id="rId1" Type="http://schemas.openxmlformats.org/officeDocument/2006/relationships/tags" Target="../tags/tag76.xml"/><Relationship Id="rId4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tags" Target="../tags/tag81.xml"/><Relationship Id="rId2" Type="http://schemas.openxmlformats.org/officeDocument/2006/relationships/tags" Target="../tags/tag80.xml"/><Relationship Id="rId1" Type="http://schemas.openxmlformats.org/officeDocument/2006/relationships/tags" Target="../tags/tag79.xml"/><Relationship Id="rId4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tags" Target="../tags/tag84.xml"/><Relationship Id="rId2" Type="http://schemas.openxmlformats.org/officeDocument/2006/relationships/tags" Target="../tags/tag83.xml"/><Relationship Id="rId1" Type="http://schemas.openxmlformats.org/officeDocument/2006/relationships/tags" Target="../tags/tag82.xml"/><Relationship Id="rId4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tags" Target="../tags/tag87.xml"/><Relationship Id="rId2" Type="http://schemas.openxmlformats.org/officeDocument/2006/relationships/tags" Target="../tags/tag86.xml"/><Relationship Id="rId1" Type="http://schemas.openxmlformats.org/officeDocument/2006/relationships/tags" Target="../tags/tag85.xml"/><Relationship Id="rId4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tags" Target="../tags/tag90.xml"/><Relationship Id="rId2" Type="http://schemas.openxmlformats.org/officeDocument/2006/relationships/tags" Target="../tags/tag89.xml"/><Relationship Id="rId1" Type="http://schemas.openxmlformats.org/officeDocument/2006/relationships/tags" Target="../tags/tag88.xml"/><Relationship Id="rId4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tags" Target="../tags/tag93.xml"/><Relationship Id="rId2" Type="http://schemas.openxmlformats.org/officeDocument/2006/relationships/tags" Target="../tags/tag92.xml"/><Relationship Id="rId1" Type="http://schemas.openxmlformats.org/officeDocument/2006/relationships/tags" Target="../tags/tag91.xml"/><Relationship Id="rId4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tags" Target="../tags/tag96.xml"/><Relationship Id="rId2" Type="http://schemas.openxmlformats.org/officeDocument/2006/relationships/tags" Target="../tags/tag95.xml"/><Relationship Id="rId1" Type="http://schemas.openxmlformats.org/officeDocument/2006/relationships/tags" Target="../tags/tag94.xml"/><Relationship Id="rId4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tags" Target="../tags/tag99.xml"/><Relationship Id="rId2" Type="http://schemas.openxmlformats.org/officeDocument/2006/relationships/tags" Target="../tags/tag98.xml"/><Relationship Id="rId1" Type="http://schemas.openxmlformats.org/officeDocument/2006/relationships/tags" Target="../tags/tag97.xml"/><Relationship Id="rId4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tags" Target="../tags/tag102.xml"/><Relationship Id="rId2" Type="http://schemas.openxmlformats.org/officeDocument/2006/relationships/tags" Target="../tags/tag101.xml"/><Relationship Id="rId1" Type="http://schemas.openxmlformats.org/officeDocument/2006/relationships/tags" Target="../tags/tag100.xml"/><Relationship Id="rId4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tags" Target="../tags/tag105.xml"/><Relationship Id="rId2" Type="http://schemas.openxmlformats.org/officeDocument/2006/relationships/tags" Target="../tags/tag104.xml"/><Relationship Id="rId1" Type="http://schemas.openxmlformats.org/officeDocument/2006/relationships/tags" Target="../tags/tag103.xml"/><Relationship Id="rId4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tags" Target="../tags/tag108.xml"/><Relationship Id="rId2" Type="http://schemas.openxmlformats.org/officeDocument/2006/relationships/tags" Target="../tags/tag107.xml"/><Relationship Id="rId1" Type="http://schemas.openxmlformats.org/officeDocument/2006/relationships/tags" Target="../tags/tag106.xml"/><Relationship Id="rId4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tags" Target="../tags/tag111.xml"/><Relationship Id="rId2" Type="http://schemas.openxmlformats.org/officeDocument/2006/relationships/tags" Target="../tags/tag110.xml"/><Relationship Id="rId1" Type="http://schemas.openxmlformats.org/officeDocument/2006/relationships/tags" Target="../tags/tag109.xml"/><Relationship Id="rId4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tags" Target="../tags/tag114.xml"/><Relationship Id="rId2" Type="http://schemas.openxmlformats.org/officeDocument/2006/relationships/tags" Target="../tags/tag113.xml"/><Relationship Id="rId1" Type="http://schemas.openxmlformats.org/officeDocument/2006/relationships/tags" Target="../tags/tag112.xml"/><Relationship Id="rId4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15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16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17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18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19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20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21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2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23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24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25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26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27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28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29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30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31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3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33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34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35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36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37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38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39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40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41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4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43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44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45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46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47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48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49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50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51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52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53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54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55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56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57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58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59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60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61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62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63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64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65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66.xml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67.xml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68.xml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69.xml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70.xml"/></Relationships>
</file>

<file path=ppt/slides/_rels/slide9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71.xml"/></Relationships>
</file>

<file path=ppt/slides/_rels/slide10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72.xml"/></Relationships>
</file>

<file path=ppt/slides/_rels/slide10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73.xml"/></Relationships>
</file>

<file path=ppt/slides/_rels/slide10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74.xml"/></Relationships>
</file>

<file path=ppt/slides/_rels/slide10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75.xml"/></Relationships>
</file>

<file path=ppt/slides/_rels/slide10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76.xml"/></Relationships>
</file>

<file path=ppt/slides/_rels/slide10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77.xml"/></Relationships>
</file>

<file path=ppt/slides/_rels/slide10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78.xml"/></Relationships>
</file>

<file path=ppt/slides/_rels/slide10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79.xml"/></Relationships>
</file>

<file path=ppt/slides/_rels/slide10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80.xml"/></Relationships>
</file>

<file path=ppt/slides/_rels/slide10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81.xml"/></Relationships>
</file>

<file path=ppt/slides/_rels/slide1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82.xml"/></Relationships>
</file>

<file path=ppt/slides/_rels/slide1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83.xml"/></Relationships>
</file>

<file path=ppt/slides/_rels/slide1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84.xml"/></Relationships>
</file>

<file path=ppt/slides/_rels/slide1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85.xml"/></Relationships>
</file>

<file path=ppt/slides/_rels/slide1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86.xml"/></Relationships>
</file>

<file path=ppt/slides/_rels/slide1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87.xml"/></Relationships>
</file>

<file path=ppt/slides/_rels/slide1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88.xml"/></Relationships>
</file>

<file path=ppt/slides/_rels/slide1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89.xml"/></Relationships>
</file>

<file path=ppt/slides/_rels/slide1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90.xml"/></Relationships>
</file>

<file path=ppt/slides/_rels/slide1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91.xml"/></Relationships>
</file>

<file path=ppt/slides/_rels/slide1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92.xml"/></Relationships>
</file>

<file path=ppt/slides/_rels/slide1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93.xml"/></Relationships>
</file>

<file path=ppt/slides/_rels/slide1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94.xml"/></Relationships>
</file>

<file path=ppt/slides/_rels/slide1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95.xml"/></Relationships>
</file>

<file path=ppt/slides/_rels/slide1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96.xml"/></Relationships>
</file>

<file path=ppt/slides/_rels/slide1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97.xml"/></Relationships>
</file>

<file path=ppt/slides/_rels/slide12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98.xml"/></Relationships>
</file>

<file path=ppt/slides/_rels/slide12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99.xml"/></Relationships>
</file>

<file path=ppt/slides/_rels/slide12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00.xml"/></Relationships>
</file>

<file path=ppt/slides/_rels/slide12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01.xml"/></Relationships>
</file>

<file path=ppt/slides/_rels/slide13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02.xml"/></Relationships>
</file>

<file path=ppt/slides/_rels/slide13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03.xml"/></Relationships>
</file>

<file path=ppt/slides/_rels/slide13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04.xml"/></Relationships>
</file>

<file path=ppt/slides/_rels/slide13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05.xml"/></Relationships>
</file>

<file path=ppt/slides/_rels/slide13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06.xml"/></Relationships>
</file>

<file path=ppt/slides/_rels/slide13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07.xml"/></Relationships>
</file>

<file path=ppt/slides/_rels/slide13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08.xml"/></Relationships>
</file>

<file path=ppt/slides/_rels/slide13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09.xml"/></Relationships>
</file>

<file path=ppt/slides/_rels/slide13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10.xml"/></Relationships>
</file>

<file path=ppt/slides/_rels/slide1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11.xml"/></Relationships>
</file>

<file path=ppt/slides/_rels/slide14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12.xml"/></Relationships>
</file>

<file path=ppt/slides/_rels/slide14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13.xml"/></Relationships>
</file>

<file path=ppt/slides/_rels/slide14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14.xml"/></Relationships>
</file>

<file path=ppt/slides/_rels/slide14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15.xml"/></Relationships>
</file>

<file path=ppt/slides/_rels/slide14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16.xml"/></Relationships>
</file>

<file path=ppt/slides/_rels/slide14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17.xml"/></Relationships>
</file>

<file path=ppt/slides/_rels/slide14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18.xml"/></Relationships>
</file>

<file path=ppt/slides/_rels/slide14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19.xml"/></Relationships>
</file>

<file path=ppt/slides/_rels/slide14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20.xml"/></Relationships>
</file>

<file path=ppt/slides/_rels/slide15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21.xml"/></Relationships>
</file>

<file path=ppt/slides/_rels/slide15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22.xml"/></Relationships>
</file>

<file path=ppt/slides/_rels/slide15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23.xml"/></Relationships>
</file>

<file path=ppt/slides/_rels/slide15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24.xml"/></Relationships>
</file>

<file path=ppt/slides/_rels/slide15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25.xml"/></Relationships>
</file>

<file path=ppt/slides/_rels/slide15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26.xml"/></Relationships>
</file>

<file path=ppt/slides/_rels/slide15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27.xml"/></Relationships>
</file>

<file path=ppt/slides/_rels/slide15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28.xml"/></Relationships>
</file>

<file path=ppt/slides/_rels/slide1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29.xml"/></Relationships>
</file>

<file path=ppt/slides/_rels/slide16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30.xml"/></Relationships>
</file>

<file path=ppt/slides/_rels/slide16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31.xml"/></Relationships>
</file>

<file path=ppt/slides/_rels/slide16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32.xml"/></Relationships>
</file>

<file path=ppt/slides/_rels/slide16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33.xml"/></Relationships>
</file>

<file path=ppt/slides/_rels/slide16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34.xml"/></Relationships>
</file>

<file path=ppt/slides/_rels/slide16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35.xml"/></Relationships>
</file>

<file path=ppt/slides/_rels/slide16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36.xml"/></Relationships>
</file>

<file path=ppt/slides/_rels/slide16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37.xml"/></Relationships>
</file>

<file path=ppt/slides/_rels/slide16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38.xml"/></Relationships>
</file>

<file path=ppt/slides/_rels/slide16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39.xml"/></Relationships>
</file>

<file path=ppt/slides/_rels/slide17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40.xml"/></Relationships>
</file>

<file path=ppt/slides/_rels/slide17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41.xml"/></Relationships>
</file>

<file path=ppt/slides/_rels/slide17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42.xml"/></Relationships>
</file>

<file path=ppt/slides/_rels/slide17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43.xml"/></Relationships>
</file>

<file path=ppt/slides/_rels/slide17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44.xml"/></Relationships>
</file>

<file path=ppt/slides/_rels/slide17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45.xml"/></Relationships>
</file>

<file path=ppt/slides/_rels/slide17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46.xml"/></Relationships>
</file>

<file path=ppt/slides/_rels/slide17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47.xml"/></Relationships>
</file>

<file path=ppt/slides/_rels/slide17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48.xml"/></Relationships>
</file>

<file path=ppt/slides/_rels/slide17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49.xml"/></Relationships>
</file>

<file path=ppt/slides/_rels/slide18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50.xml"/></Relationships>
</file>

<file path=ppt/slides/_rels/slide18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51.xml"/></Relationships>
</file>

<file path=ppt/slides/_rels/slide18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52.xml"/></Relationships>
</file>

<file path=ppt/slides/_rels/slide18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53.xml"/></Relationships>
</file>

<file path=ppt/slides/_rels/slide18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54.xml"/></Relationships>
</file>

<file path=ppt/slides/_rels/slide18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55.xml"/></Relationships>
</file>

<file path=ppt/slides/_rels/slide18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56.xml"/></Relationships>
</file>

<file path=ppt/slides/_rels/slide18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57.xml"/></Relationships>
</file>

<file path=ppt/slides/_rels/slide18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58.xml"/></Relationships>
</file>

<file path=ppt/slides/_rels/slide18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59.xml"/></Relationships>
</file>

<file path=ppt/slides/_rels/slide19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60.xml"/></Relationships>
</file>

<file path=ppt/slides/_rels/slide19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61.xml"/></Relationships>
</file>

<file path=ppt/slides/_rels/slide19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62.xml"/></Relationships>
</file>

<file path=ppt/slides/_rels/slide19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63.xml"/></Relationships>
</file>

<file path=ppt/slides/_rels/slide19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64.xml"/></Relationships>
</file>

<file path=ppt/slides/_rels/slide19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65.xml"/></Relationships>
</file>

<file path=ppt/slides/_rels/slide19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66.xml"/></Relationships>
</file>

<file path=ppt/slides/_rels/slide19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67.xml"/></Relationships>
</file>

<file path=ppt/slides/_rels/slide1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2234883"/>
            <a:ext cx="9144000" cy="2387600"/>
          </a:xfrm>
        </p:spPr>
        <p:txBody>
          <a:bodyPr>
            <a:normAutofit fontScale="90000"/>
          </a:bodyPr>
          <a:lstStyle/>
          <a:p>
            <a:r>
              <a:rPr lang="en-US" dirty="0"/>
              <a:t>Region Growing </a:t>
            </a:r>
            <a:br>
              <a:rPr lang="en-US" dirty="0"/>
            </a:br>
            <a:r>
              <a:rPr lang="en-US" dirty="0"/>
              <a:t>and</a:t>
            </a:r>
            <a:br>
              <a:rPr lang="en-US" dirty="0"/>
            </a:br>
            <a:r>
              <a:rPr lang="en-US" dirty="0"/>
              <a:t>Region Splitting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Why Region-based Segmentation?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955800"/>
          </a:xfrm>
        </p:spPr>
        <p:txBody>
          <a:bodyPr/>
          <a:lstStyle/>
          <a:p>
            <a:r>
              <a:rPr lang="en-US"/>
              <a:t>Edges and Threshold sometimes do not give good results for segmentation</a:t>
            </a:r>
          </a:p>
          <a:p>
            <a:r>
              <a:rPr lang="en-US"/>
              <a:t>Region-based segmentation is based on the connectivity of similar pixels in a region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4925" y="3573780"/>
            <a:ext cx="9582150" cy="311467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/>
              <a:t>Region-based Segmentation</a:t>
            </a:r>
          </a:p>
        </p:txBody>
      </p:sp>
      <p:sp>
        <p:nvSpPr>
          <p:cNvPr id="4" name="Title 1"/>
          <p:cNvSpPr>
            <a:spLocks noGrp="1"/>
          </p:cNvSpPr>
          <p:nvPr/>
        </p:nvSpPr>
        <p:spPr>
          <a:xfrm>
            <a:off x="6604635" y="3738880"/>
            <a:ext cx="5208905" cy="13258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/>
              <a:t>Region Splitting</a:t>
            </a:r>
          </a:p>
        </p:txBody>
      </p:sp>
      <p:sp>
        <p:nvSpPr>
          <p:cNvPr id="5" name="Title 1"/>
          <p:cNvSpPr>
            <a:spLocks noGrp="1"/>
          </p:cNvSpPr>
          <p:nvPr/>
        </p:nvSpPr>
        <p:spPr>
          <a:xfrm>
            <a:off x="720725" y="3738880"/>
            <a:ext cx="4419600" cy="13258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/>
              <a:t>Region Growing</a:t>
            </a:r>
          </a:p>
        </p:txBody>
      </p:sp>
      <p:cxnSp>
        <p:nvCxnSpPr>
          <p:cNvPr id="6" name="Straight Arrow Connector 5"/>
          <p:cNvCxnSpPr>
            <a:stCxn id="2" idx="2"/>
            <a:endCxn id="5" idx="0"/>
          </p:cNvCxnSpPr>
          <p:nvPr/>
        </p:nvCxnSpPr>
        <p:spPr>
          <a:xfrm flipH="1">
            <a:off x="2930525" y="1691005"/>
            <a:ext cx="3165475" cy="2047875"/>
          </a:xfrm>
          <a:prstGeom prst="straightConnector1">
            <a:avLst/>
          </a:prstGeom>
          <a:ln w="31750" cap="rnd">
            <a:solidFill>
              <a:schemeClr val="tx1"/>
            </a:solidFill>
            <a:round/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7" name="Straight Arrow Connector 6"/>
          <p:cNvCxnSpPr>
            <a:endCxn id="4" idx="0"/>
          </p:cNvCxnSpPr>
          <p:nvPr/>
        </p:nvCxnSpPr>
        <p:spPr>
          <a:xfrm>
            <a:off x="6090920" y="1692275"/>
            <a:ext cx="3118485" cy="2046605"/>
          </a:xfrm>
          <a:prstGeom prst="straightConnector1">
            <a:avLst/>
          </a:prstGeom>
          <a:ln w="31750" cap="rnd">
            <a:solidFill>
              <a:schemeClr val="tx1"/>
            </a:solidFill>
            <a:round/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4" grpId="1"/>
      <p:bldP spid="5" grpId="0"/>
      <p:bldP spid="5" grpId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766060"/>
            <a:ext cx="10515600" cy="1325563"/>
          </a:xfrm>
        </p:spPr>
        <p:txBody>
          <a:bodyPr/>
          <a:lstStyle/>
          <a:p>
            <a:pPr algn="ctr"/>
            <a:r>
              <a:rPr lang="en-US"/>
              <a:t>Region Growing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Case 1: Initial Point is given</a:t>
            </a:r>
          </a:p>
        </p:txBody>
      </p:sp>
      <p:graphicFrame>
        <p:nvGraphicFramePr>
          <p:cNvPr id="4" name="Table 3"/>
          <p:cNvGraphicFramePr/>
          <p:nvPr>
            <p:custDataLst>
              <p:tags r:id="rId1"/>
            </p:custDataLst>
          </p:nvPr>
        </p:nvGraphicFramePr>
        <p:xfrm>
          <a:off x="1838325" y="3429000"/>
          <a:ext cx="4269740" cy="1524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674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674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674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6743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 Box 4"/>
          <p:cNvSpPr txBox="1"/>
          <p:nvPr/>
        </p:nvSpPr>
        <p:spPr>
          <a:xfrm>
            <a:off x="996950" y="1616075"/>
            <a:ext cx="1040574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400"/>
              <a:t>Apply region growing on the following image with initial point at (2, 2) and threshold value as 2. Use 4-connectivity.</a:t>
            </a:r>
          </a:p>
        </p:txBody>
      </p:sp>
      <p:graphicFrame>
        <p:nvGraphicFramePr>
          <p:cNvPr id="6" name="Table 5"/>
          <p:cNvGraphicFramePr/>
          <p:nvPr>
            <p:custDataLst>
              <p:tags r:id="rId2"/>
            </p:custDataLst>
          </p:nvPr>
        </p:nvGraphicFramePr>
        <p:xfrm>
          <a:off x="1838325" y="3048000"/>
          <a:ext cx="4279900" cy="381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699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699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699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699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" name="Table 6"/>
          <p:cNvGraphicFramePr/>
          <p:nvPr>
            <p:custDataLst>
              <p:tags r:id="rId3"/>
            </p:custDataLst>
          </p:nvPr>
        </p:nvGraphicFramePr>
        <p:xfrm>
          <a:off x="1313815" y="3429000"/>
          <a:ext cx="524510" cy="1524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245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Case 1: Initial Point is given</a:t>
            </a:r>
          </a:p>
        </p:txBody>
      </p:sp>
      <p:graphicFrame>
        <p:nvGraphicFramePr>
          <p:cNvPr id="4" name="Table 3"/>
          <p:cNvGraphicFramePr/>
          <p:nvPr>
            <p:custDataLst>
              <p:tags r:id="rId1"/>
            </p:custDataLst>
          </p:nvPr>
        </p:nvGraphicFramePr>
        <p:xfrm>
          <a:off x="1838325" y="3429000"/>
          <a:ext cx="4269740" cy="1524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674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674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674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6743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 Box 4"/>
          <p:cNvSpPr txBox="1"/>
          <p:nvPr/>
        </p:nvSpPr>
        <p:spPr>
          <a:xfrm>
            <a:off x="996950" y="1616075"/>
            <a:ext cx="1040574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400"/>
              <a:t>Apply region growing on the following image with initial point at </a:t>
            </a:r>
            <a:r>
              <a:rPr lang="en-US" sz="2400">
                <a:solidFill>
                  <a:schemeClr val="tx1"/>
                </a:solidFill>
              </a:rPr>
              <a:t>(2, 2)</a:t>
            </a:r>
            <a:r>
              <a:rPr lang="en-US" sz="2400"/>
              <a:t> and threshold value as 2. Use 4-connectivity.</a:t>
            </a:r>
          </a:p>
        </p:txBody>
      </p:sp>
      <p:graphicFrame>
        <p:nvGraphicFramePr>
          <p:cNvPr id="6" name="Table 5"/>
          <p:cNvGraphicFramePr/>
          <p:nvPr>
            <p:custDataLst>
              <p:tags r:id="rId2"/>
            </p:custDataLst>
          </p:nvPr>
        </p:nvGraphicFramePr>
        <p:xfrm>
          <a:off x="1838325" y="3048000"/>
          <a:ext cx="4279900" cy="381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699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699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699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699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" name="Table 6"/>
          <p:cNvGraphicFramePr/>
          <p:nvPr>
            <p:custDataLst>
              <p:tags r:id="rId3"/>
            </p:custDataLst>
          </p:nvPr>
        </p:nvGraphicFramePr>
        <p:xfrm>
          <a:off x="1313815" y="3429000"/>
          <a:ext cx="524510" cy="1524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245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" name="Text Box 2"/>
          <p:cNvSpPr txBox="1"/>
          <p:nvPr/>
        </p:nvSpPr>
        <p:spPr>
          <a:xfrm>
            <a:off x="8157845" y="3429000"/>
            <a:ext cx="22688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/>
              <a:t>T=2</a:t>
            </a:r>
          </a:p>
        </p:txBody>
      </p:sp>
      <p:sp>
        <p:nvSpPr>
          <p:cNvPr id="8" name="Text Box 7"/>
          <p:cNvSpPr txBox="1"/>
          <p:nvPr/>
        </p:nvSpPr>
        <p:spPr>
          <a:xfrm>
            <a:off x="8157845" y="4182110"/>
            <a:ext cx="22688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/>
              <a:t>4-Connectivity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" grpId="1"/>
      <p:bldP spid="8" grpId="0"/>
      <p:bldP spid="8" grpId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Case 1: Initial Point is given</a:t>
            </a:r>
          </a:p>
        </p:txBody>
      </p:sp>
      <p:graphicFrame>
        <p:nvGraphicFramePr>
          <p:cNvPr id="4" name="Table 3"/>
          <p:cNvGraphicFramePr/>
          <p:nvPr>
            <p:custDataLst>
              <p:tags r:id="rId1"/>
            </p:custDataLst>
          </p:nvPr>
        </p:nvGraphicFramePr>
        <p:xfrm>
          <a:off x="1838325" y="3429000"/>
          <a:ext cx="4269740" cy="1524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674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674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674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6743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 Box 4"/>
          <p:cNvSpPr txBox="1"/>
          <p:nvPr/>
        </p:nvSpPr>
        <p:spPr>
          <a:xfrm>
            <a:off x="996950" y="1616075"/>
            <a:ext cx="1040574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400"/>
              <a:t>Apply region growing on the following image with initial point at </a:t>
            </a:r>
            <a:r>
              <a:rPr lang="en-US" sz="2400">
                <a:solidFill>
                  <a:schemeClr val="tx1"/>
                </a:solidFill>
              </a:rPr>
              <a:t>(2, 2)</a:t>
            </a:r>
            <a:r>
              <a:rPr lang="en-US" sz="2400"/>
              <a:t> and threshold value as 2. Use 4-connectivity.</a:t>
            </a:r>
          </a:p>
        </p:txBody>
      </p:sp>
      <p:graphicFrame>
        <p:nvGraphicFramePr>
          <p:cNvPr id="6" name="Table 5"/>
          <p:cNvGraphicFramePr/>
          <p:nvPr>
            <p:custDataLst>
              <p:tags r:id="rId2"/>
            </p:custDataLst>
          </p:nvPr>
        </p:nvGraphicFramePr>
        <p:xfrm>
          <a:off x="1838325" y="3048000"/>
          <a:ext cx="4279900" cy="381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699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699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699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699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" name="Table 6"/>
          <p:cNvGraphicFramePr/>
          <p:nvPr>
            <p:custDataLst>
              <p:tags r:id="rId3"/>
            </p:custDataLst>
          </p:nvPr>
        </p:nvGraphicFramePr>
        <p:xfrm>
          <a:off x="1313815" y="3429000"/>
          <a:ext cx="524510" cy="1524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245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" name="Text Box 2"/>
          <p:cNvSpPr txBox="1"/>
          <p:nvPr/>
        </p:nvSpPr>
        <p:spPr>
          <a:xfrm>
            <a:off x="8157845" y="3429000"/>
            <a:ext cx="22688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/>
              <a:t>T=2</a:t>
            </a:r>
          </a:p>
        </p:txBody>
      </p:sp>
      <p:sp>
        <p:nvSpPr>
          <p:cNvPr id="8" name="Text Box 7"/>
          <p:cNvSpPr txBox="1"/>
          <p:nvPr/>
        </p:nvSpPr>
        <p:spPr>
          <a:xfrm>
            <a:off x="8157845" y="4182110"/>
            <a:ext cx="22688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/>
              <a:t>4-Connectivity</a:t>
            </a:r>
          </a:p>
        </p:txBody>
      </p:sp>
      <p:sp>
        <p:nvSpPr>
          <p:cNvPr id="9" name="Text Box 8"/>
          <p:cNvSpPr txBox="1"/>
          <p:nvPr/>
        </p:nvSpPr>
        <p:spPr>
          <a:xfrm>
            <a:off x="3585845" y="5627370"/>
            <a:ext cx="52279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/>
              <a:t>Condition -&gt; Absolute Value &lt;= 2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8" grpId="0"/>
      <p:bldP spid="9" grpId="0"/>
      <p:bldP spid="9" grpId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Case 1: Initial Point is given</a:t>
            </a:r>
          </a:p>
        </p:txBody>
      </p:sp>
      <p:graphicFrame>
        <p:nvGraphicFramePr>
          <p:cNvPr id="4" name="Table 3"/>
          <p:cNvGraphicFramePr/>
          <p:nvPr>
            <p:custDataLst>
              <p:tags r:id="rId1"/>
            </p:custDataLst>
          </p:nvPr>
        </p:nvGraphicFramePr>
        <p:xfrm>
          <a:off x="1838325" y="3429000"/>
          <a:ext cx="4269740" cy="1524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674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674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674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6743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 Box 4"/>
          <p:cNvSpPr txBox="1"/>
          <p:nvPr/>
        </p:nvSpPr>
        <p:spPr>
          <a:xfrm>
            <a:off x="996950" y="1616075"/>
            <a:ext cx="1040574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400"/>
              <a:t>Apply region growing on the following image with initial point at </a:t>
            </a:r>
            <a:r>
              <a:rPr lang="en-US" sz="2400">
                <a:solidFill>
                  <a:schemeClr val="tx1"/>
                </a:solidFill>
              </a:rPr>
              <a:t>(2, 2)</a:t>
            </a:r>
            <a:r>
              <a:rPr lang="en-US" sz="2400"/>
              <a:t> and threshold value as 2. Use 4-connectivity.</a:t>
            </a:r>
          </a:p>
        </p:txBody>
      </p:sp>
      <p:graphicFrame>
        <p:nvGraphicFramePr>
          <p:cNvPr id="6" name="Table 5"/>
          <p:cNvGraphicFramePr/>
          <p:nvPr>
            <p:custDataLst>
              <p:tags r:id="rId2"/>
            </p:custDataLst>
          </p:nvPr>
        </p:nvGraphicFramePr>
        <p:xfrm>
          <a:off x="1838325" y="3048000"/>
          <a:ext cx="4279900" cy="381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699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699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699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699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" name="Table 6"/>
          <p:cNvGraphicFramePr/>
          <p:nvPr>
            <p:custDataLst>
              <p:tags r:id="rId3"/>
            </p:custDataLst>
          </p:nvPr>
        </p:nvGraphicFramePr>
        <p:xfrm>
          <a:off x="1313815" y="3429000"/>
          <a:ext cx="524510" cy="1524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245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" name="Text Box 2"/>
          <p:cNvSpPr txBox="1"/>
          <p:nvPr/>
        </p:nvSpPr>
        <p:spPr>
          <a:xfrm>
            <a:off x="8157845" y="3429000"/>
            <a:ext cx="22688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/>
              <a:t>T=2</a:t>
            </a:r>
          </a:p>
        </p:txBody>
      </p:sp>
      <p:sp>
        <p:nvSpPr>
          <p:cNvPr id="8" name="Text Box 7"/>
          <p:cNvSpPr txBox="1"/>
          <p:nvPr/>
        </p:nvSpPr>
        <p:spPr>
          <a:xfrm>
            <a:off x="8157845" y="4182110"/>
            <a:ext cx="22688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/>
              <a:t>4-Connectivity</a:t>
            </a:r>
          </a:p>
        </p:txBody>
      </p:sp>
      <p:sp>
        <p:nvSpPr>
          <p:cNvPr id="9" name="Text Box 8"/>
          <p:cNvSpPr txBox="1"/>
          <p:nvPr/>
        </p:nvSpPr>
        <p:spPr>
          <a:xfrm>
            <a:off x="1838325" y="5627370"/>
            <a:ext cx="139827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/>
              <a:t>|6-7|=1</a:t>
            </a:r>
          </a:p>
        </p:txBody>
      </p:sp>
      <p:sp>
        <p:nvSpPr>
          <p:cNvPr id="10" name="Text Box 9"/>
          <p:cNvSpPr txBox="1"/>
          <p:nvPr/>
        </p:nvSpPr>
        <p:spPr>
          <a:xfrm>
            <a:off x="3236595" y="5627370"/>
            <a:ext cx="139827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400"/>
              <a:t>&lt;=2</a:t>
            </a:r>
          </a:p>
        </p:txBody>
      </p:sp>
      <p:sp>
        <p:nvSpPr>
          <p:cNvPr id="11" name="Text Box 10"/>
          <p:cNvSpPr txBox="1"/>
          <p:nvPr/>
        </p:nvSpPr>
        <p:spPr>
          <a:xfrm>
            <a:off x="4634865" y="5627370"/>
            <a:ext cx="508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400">
                <a:solidFill>
                  <a:srgbClr val="00B050"/>
                </a:solidFill>
              </a:rPr>
              <a:t>✔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8" grpId="0"/>
      <p:bldP spid="9" grpId="0"/>
      <p:bldP spid="9" grpId="1"/>
      <p:bldP spid="10" grpId="0"/>
      <p:bldP spid="10" grpId="1"/>
      <p:bldP spid="11" grpId="0"/>
      <p:bldP spid="11" grpId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Case 1: Initial Point is given</a:t>
            </a:r>
          </a:p>
        </p:txBody>
      </p:sp>
      <p:graphicFrame>
        <p:nvGraphicFramePr>
          <p:cNvPr id="4" name="Table 3"/>
          <p:cNvGraphicFramePr/>
          <p:nvPr>
            <p:custDataLst>
              <p:tags r:id="rId1"/>
            </p:custDataLst>
          </p:nvPr>
        </p:nvGraphicFramePr>
        <p:xfrm>
          <a:off x="1838325" y="3429000"/>
          <a:ext cx="4269740" cy="1524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674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674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674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6743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 Box 4"/>
          <p:cNvSpPr txBox="1"/>
          <p:nvPr/>
        </p:nvSpPr>
        <p:spPr>
          <a:xfrm>
            <a:off x="996950" y="1616075"/>
            <a:ext cx="1040574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400"/>
              <a:t>Apply region growing on the following image with initial point at </a:t>
            </a:r>
            <a:r>
              <a:rPr lang="en-US" sz="2400">
                <a:solidFill>
                  <a:schemeClr val="tx1"/>
                </a:solidFill>
              </a:rPr>
              <a:t>(2, 2)</a:t>
            </a:r>
            <a:r>
              <a:rPr lang="en-US" sz="2400"/>
              <a:t> and threshold value as 2. Use 4-connectivity.</a:t>
            </a:r>
          </a:p>
        </p:txBody>
      </p:sp>
      <p:graphicFrame>
        <p:nvGraphicFramePr>
          <p:cNvPr id="6" name="Table 5"/>
          <p:cNvGraphicFramePr/>
          <p:nvPr>
            <p:custDataLst>
              <p:tags r:id="rId2"/>
            </p:custDataLst>
          </p:nvPr>
        </p:nvGraphicFramePr>
        <p:xfrm>
          <a:off x="1838325" y="3048000"/>
          <a:ext cx="4279900" cy="381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699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699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699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699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" name="Table 6"/>
          <p:cNvGraphicFramePr/>
          <p:nvPr>
            <p:custDataLst>
              <p:tags r:id="rId3"/>
            </p:custDataLst>
          </p:nvPr>
        </p:nvGraphicFramePr>
        <p:xfrm>
          <a:off x="1313815" y="3429000"/>
          <a:ext cx="524510" cy="1524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245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" name="Text Box 2"/>
          <p:cNvSpPr txBox="1"/>
          <p:nvPr/>
        </p:nvSpPr>
        <p:spPr>
          <a:xfrm>
            <a:off x="8157845" y="3429000"/>
            <a:ext cx="22688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/>
              <a:t>T=2</a:t>
            </a:r>
          </a:p>
        </p:txBody>
      </p:sp>
      <p:sp>
        <p:nvSpPr>
          <p:cNvPr id="8" name="Text Box 7"/>
          <p:cNvSpPr txBox="1"/>
          <p:nvPr/>
        </p:nvSpPr>
        <p:spPr>
          <a:xfrm>
            <a:off x="8157845" y="4182110"/>
            <a:ext cx="22688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/>
              <a:t>4-Connectivity</a:t>
            </a:r>
          </a:p>
        </p:txBody>
      </p:sp>
      <p:sp>
        <p:nvSpPr>
          <p:cNvPr id="9" name="Text Box 8"/>
          <p:cNvSpPr txBox="1"/>
          <p:nvPr/>
        </p:nvSpPr>
        <p:spPr>
          <a:xfrm>
            <a:off x="1838325" y="5627370"/>
            <a:ext cx="139827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/>
              <a:t>|6-7|=1</a:t>
            </a:r>
          </a:p>
        </p:txBody>
      </p:sp>
      <p:sp>
        <p:nvSpPr>
          <p:cNvPr id="10" name="Text Box 9"/>
          <p:cNvSpPr txBox="1"/>
          <p:nvPr/>
        </p:nvSpPr>
        <p:spPr>
          <a:xfrm>
            <a:off x="3236595" y="5627370"/>
            <a:ext cx="139827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400"/>
              <a:t>&lt;=2</a:t>
            </a:r>
          </a:p>
        </p:txBody>
      </p:sp>
      <p:sp>
        <p:nvSpPr>
          <p:cNvPr id="11" name="Text Box 10"/>
          <p:cNvSpPr txBox="1"/>
          <p:nvPr/>
        </p:nvSpPr>
        <p:spPr>
          <a:xfrm>
            <a:off x="4634865" y="5627370"/>
            <a:ext cx="508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400">
                <a:solidFill>
                  <a:srgbClr val="00B050"/>
                </a:solidFill>
              </a:rPr>
              <a:t>✔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Case 1: Initial Point is given</a:t>
            </a:r>
          </a:p>
        </p:txBody>
      </p:sp>
      <p:graphicFrame>
        <p:nvGraphicFramePr>
          <p:cNvPr id="4" name="Table 3"/>
          <p:cNvGraphicFramePr/>
          <p:nvPr>
            <p:custDataLst>
              <p:tags r:id="rId1"/>
            </p:custDataLst>
          </p:nvPr>
        </p:nvGraphicFramePr>
        <p:xfrm>
          <a:off x="1838325" y="3429000"/>
          <a:ext cx="4269740" cy="1524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674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674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674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6743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 Box 4"/>
          <p:cNvSpPr txBox="1"/>
          <p:nvPr/>
        </p:nvSpPr>
        <p:spPr>
          <a:xfrm>
            <a:off x="996950" y="1616075"/>
            <a:ext cx="1040574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400"/>
              <a:t>Apply region growing on the following image with initial point at </a:t>
            </a:r>
            <a:r>
              <a:rPr lang="en-US" sz="2400">
                <a:solidFill>
                  <a:schemeClr val="tx1"/>
                </a:solidFill>
              </a:rPr>
              <a:t>(2, 2)</a:t>
            </a:r>
            <a:r>
              <a:rPr lang="en-US" sz="2400"/>
              <a:t> and threshold value as 2. Use 4-connectivity.</a:t>
            </a:r>
          </a:p>
        </p:txBody>
      </p:sp>
      <p:graphicFrame>
        <p:nvGraphicFramePr>
          <p:cNvPr id="6" name="Table 5"/>
          <p:cNvGraphicFramePr/>
          <p:nvPr>
            <p:custDataLst>
              <p:tags r:id="rId2"/>
            </p:custDataLst>
          </p:nvPr>
        </p:nvGraphicFramePr>
        <p:xfrm>
          <a:off x="1838325" y="3048000"/>
          <a:ext cx="4279900" cy="381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699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699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699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699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" name="Table 6"/>
          <p:cNvGraphicFramePr/>
          <p:nvPr>
            <p:custDataLst>
              <p:tags r:id="rId3"/>
            </p:custDataLst>
          </p:nvPr>
        </p:nvGraphicFramePr>
        <p:xfrm>
          <a:off x="1313815" y="3429000"/>
          <a:ext cx="524510" cy="1524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245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" name="Text Box 2"/>
          <p:cNvSpPr txBox="1"/>
          <p:nvPr/>
        </p:nvSpPr>
        <p:spPr>
          <a:xfrm>
            <a:off x="8157845" y="3429000"/>
            <a:ext cx="22688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/>
              <a:t>T=2</a:t>
            </a:r>
          </a:p>
        </p:txBody>
      </p:sp>
      <p:sp>
        <p:nvSpPr>
          <p:cNvPr id="8" name="Text Box 7"/>
          <p:cNvSpPr txBox="1"/>
          <p:nvPr/>
        </p:nvSpPr>
        <p:spPr>
          <a:xfrm>
            <a:off x="8157845" y="4182110"/>
            <a:ext cx="22688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/>
              <a:t>4-Connectivity</a:t>
            </a:r>
          </a:p>
        </p:txBody>
      </p:sp>
      <p:sp>
        <p:nvSpPr>
          <p:cNvPr id="9" name="Text Box 8"/>
          <p:cNvSpPr txBox="1"/>
          <p:nvPr/>
        </p:nvSpPr>
        <p:spPr>
          <a:xfrm>
            <a:off x="1838325" y="5627370"/>
            <a:ext cx="139827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/>
              <a:t>|3-7|=4</a:t>
            </a:r>
          </a:p>
        </p:txBody>
      </p:sp>
      <p:sp>
        <p:nvSpPr>
          <p:cNvPr id="10" name="Text Box 9"/>
          <p:cNvSpPr txBox="1"/>
          <p:nvPr/>
        </p:nvSpPr>
        <p:spPr>
          <a:xfrm>
            <a:off x="3236595" y="5627370"/>
            <a:ext cx="139827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400"/>
              <a:t>&lt;=2</a:t>
            </a:r>
          </a:p>
        </p:txBody>
      </p:sp>
      <p:sp>
        <p:nvSpPr>
          <p:cNvPr id="11" name="Text Box 10"/>
          <p:cNvSpPr txBox="1"/>
          <p:nvPr/>
        </p:nvSpPr>
        <p:spPr>
          <a:xfrm>
            <a:off x="4634865" y="5627370"/>
            <a:ext cx="508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400">
                <a:solidFill>
                  <a:srgbClr val="FF0000"/>
                </a:solidFill>
              </a:rPr>
              <a:t>X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8" grpId="0"/>
      <p:bldP spid="9" grpId="0"/>
      <p:bldP spid="9" grpId="1"/>
      <p:bldP spid="10" grpId="0"/>
      <p:bldP spid="10" grpId="1"/>
      <p:bldP spid="11" grpId="0"/>
      <p:bldP spid="11" grpId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Case 1: Initial Point is given</a:t>
            </a:r>
          </a:p>
        </p:txBody>
      </p:sp>
      <p:graphicFrame>
        <p:nvGraphicFramePr>
          <p:cNvPr id="4" name="Table 3"/>
          <p:cNvGraphicFramePr/>
          <p:nvPr>
            <p:custDataLst>
              <p:tags r:id="rId1"/>
            </p:custDataLst>
          </p:nvPr>
        </p:nvGraphicFramePr>
        <p:xfrm>
          <a:off x="1838325" y="3429000"/>
          <a:ext cx="4269740" cy="1524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674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674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674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6743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 Box 4"/>
          <p:cNvSpPr txBox="1"/>
          <p:nvPr/>
        </p:nvSpPr>
        <p:spPr>
          <a:xfrm>
            <a:off x="996950" y="1616075"/>
            <a:ext cx="1040574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400"/>
              <a:t>Apply region growing on the following image with initial point at </a:t>
            </a:r>
            <a:r>
              <a:rPr lang="en-US" sz="2400">
                <a:solidFill>
                  <a:schemeClr val="tx1"/>
                </a:solidFill>
              </a:rPr>
              <a:t>(2, 2)</a:t>
            </a:r>
            <a:r>
              <a:rPr lang="en-US" sz="2400"/>
              <a:t> and threshold value as 2. Use 4-connectivity.</a:t>
            </a:r>
          </a:p>
        </p:txBody>
      </p:sp>
      <p:graphicFrame>
        <p:nvGraphicFramePr>
          <p:cNvPr id="6" name="Table 5"/>
          <p:cNvGraphicFramePr/>
          <p:nvPr>
            <p:custDataLst>
              <p:tags r:id="rId2"/>
            </p:custDataLst>
          </p:nvPr>
        </p:nvGraphicFramePr>
        <p:xfrm>
          <a:off x="1838325" y="3048000"/>
          <a:ext cx="4279900" cy="381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699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699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699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699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" name="Table 6"/>
          <p:cNvGraphicFramePr/>
          <p:nvPr>
            <p:custDataLst>
              <p:tags r:id="rId3"/>
            </p:custDataLst>
          </p:nvPr>
        </p:nvGraphicFramePr>
        <p:xfrm>
          <a:off x="1313815" y="3429000"/>
          <a:ext cx="524510" cy="1524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245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" name="Text Box 2"/>
          <p:cNvSpPr txBox="1"/>
          <p:nvPr/>
        </p:nvSpPr>
        <p:spPr>
          <a:xfrm>
            <a:off x="8157845" y="3429000"/>
            <a:ext cx="22688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/>
              <a:t>T=2</a:t>
            </a:r>
          </a:p>
        </p:txBody>
      </p:sp>
      <p:sp>
        <p:nvSpPr>
          <p:cNvPr id="8" name="Text Box 7"/>
          <p:cNvSpPr txBox="1"/>
          <p:nvPr/>
        </p:nvSpPr>
        <p:spPr>
          <a:xfrm>
            <a:off x="8157845" y="4182110"/>
            <a:ext cx="22688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/>
              <a:t>4-Connectivity</a:t>
            </a:r>
          </a:p>
        </p:txBody>
      </p:sp>
      <p:sp>
        <p:nvSpPr>
          <p:cNvPr id="9" name="Text Box 8"/>
          <p:cNvSpPr txBox="1"/>
          <p:nvPr/>
        </p:nvSpPr>
        <p:spPr>
          <a:xfrm>
            <a:off x="1838325" y="5627370"/>
            <a:ext cx="139827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/>
              <a:t>|3-7|=4</a:t>
            </a:r>
          </a:p>
        </p:txBody>
      </p:sp>
      <p:sp>
        <p:nvSpPr>
          <p:cNvPr id="10" name="Text Box 9"/>
          <p:cNvSpPr txBox="1"/>
          <p:nvPr/>
        </p:nvSpPr>
        <p:spPr>
          <a:xfrm>
            <a:off x="3236595" y="5627370"/>
            <a:ext cx="139827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400"/>
              <a:t>&lt;=2</a:t>
            </a:r>
          </a:p>
        </p:txBody>
      </p:sp>
      <p:sp>
        <p:nvSpPr>
          <p:cNvPr id="11" name="Text Box 10"/>
          <p:cNvSpPr txBox="1"/>
          <p:nvPr/>
        </p:nvSpPr>
        <p:spPr>
          <a:xfrm>
            <a:off x="4634865" y="5627370"/>
            <a:ext cx="508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400">
                <a:solidFill>
                  <a:srgbClr val="FF0000"/>
                </a:solidFill>
                <a:sym typeface="+mn-ea"/>
              </a:rPr>
              <a:t>X</a:t>
            </a:r>
            <a:endParaRPr lang="en-US" sz="2400">
              <a:solidFill>
                <a:srgbClr val="00B050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Case 1: Initial Point is given</a:t>
            </a:r>
          </a:p>
        </p:txBody>
      </p:sp>
      <p:graphicFrame>
        <p:nvGraphicFramePr>
          <p:cNvPr id="4" name="Table 3"/>
          <p:cNvGraphicFramePr/>
          <p:nvPr>
            <p:custDataLst>
              <p:tags r:id="rId1"/>
            </p:custDataLst>
          </p:nvPr>
        </p:nvGraphicFramePr>
        <p:xfrm>
          <a:off x="1838325" y="3429000"/>
          <a:ext cx="4269740" cy="1524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674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674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674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6743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 Box 4"/>
          <p:cNvSpPr txBox="1"/>
          <p:nvPr/>
        </p:nvSpPr>
        <p:spPr>
          <a:xfrm>
            <a:off x="996950" y="1616075"/>
            <a:ext cx="1040574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400"/>
              <a:t>Apply region growing on the following image with initial point at </a:t>
            </a:r>
            <a:r>
              <a:rPr lang="en-US" sz="2400">
                <a:solidFill>
                  <a:schemeClr val="tx1"/>
                </a:solidFill>
              </a:rPr>
              <a:t>(2, 2)</a:t>
            </a:r>
            <a:r>
              <a:rPr lang="en-US" sz="2400"/>
              <a:t> and threshold value as 2. Use 4-connectivity.</a:t>
            </a:r>
          </a:p>
        </p:txBody>
      </p:sp>
      <p:graphicFrame>
        <p:nvGraphicFramePr>
          <p:cNvPr id="6" name="Table 5"/>
          <p:cNvGraphicFramePr/>
          <p:nvPr>
            <p:custDataLst>
              <p:tags r:id="rId2"/>
            </p:custDataLst>
          </p:nvPr>
        </p:nvGraphicFramePr>
        <p:xfrm>
          <a:off x="1838325" y="3048000"/>
          <a:ext cx="4279900" cy="381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699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699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699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699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" name="Table 6"/>
          <p:cNvGraphicFramePr/>
          <p:nvPr>
            <p:custDataLst>
              <p:tags r:id="rId3"/>
            </p:custDataLst>
          </p:nvPr>
        </p:nvGraphicFramePr>
        <p:xfrm>
          <a:off x="1313815" y="3429000"/>
          <a:ext cx="524510" cy="1524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245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" name="Text Box 2"/>
          <p:cNvSpPr txBox="1"/>
          <p:nvPr/>
        </p:nvSpPr>
        <p:spPr>
          <a:xfrm>
            <a:off x="8157845" y="3429000"/>
            <a:ext cx="22688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/>
              <a:t>T=2</a:t>
            </a:r>
          </a:p>
        </p:txBody>
      </p:sp>
      <p:sp>
        <p:nvSpPr>
          <p:cNvPr id="8" name="Text Box 7"/>
          <p:cNvSpPr txBox="1"/>
          <p:nvPr/>
        </p:nvSpPr>
        <p:spPr>
          <a:xfrm>
            <a:off x="8157845" y="4182110"/>
            <a:ext cx="22688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/>
              <a:t>4-Connectivity</a:t>
            </a:r>
          </a:p>
        </p:txBody>
      </p:sp>
      <p:sp>
        <p:nvSpPr>
          <p:cNvPr id="9" name="Text Box 8"/>
          <p:cNvSpPr txBox="1"/>
          <p:nvPr/>
        </p:nvSpPr>
        <p:spPr>
          <a:xfrm>
            <a:off x="1838325" y="5627370"/>
            <a:ext cx="139827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/>
              <a:t>|5-7|=2</a:t>
            </a:r>
          </a:p>
        </p:txBody>
      </p:sp>
      <p:sp>
        <p:nvSpPr>
          <p:cNvPr id="10" name="Text Box 9"/>
          <p:cNvSpPr txBox="1"/>
          <p:nvPr/>
        </p:nvSpPr>
        <p:spPr>
          <a:xfrm>
            <a:off x="3236595" y="5627370"/>
            <a:ext cx="139827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400"/>
              <a:t>&lt;=2</a:t>
            </a:r>
          </a:p>
        </p:txBody>
      </p:sp>
      <p:sp>
        <p:nvSpPr>
          <p:cNvPr id="11" name="Text Box 10"/>
          <p:cNvSpPr txBox="1"/>
          <p:nvPr/>
        </p:nvSpPr>
        <p:spPr>
          <a:xfrm>
            <a:off x="4634865" y="5627370"/>
            <a:ext cx="508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400">
                <a:solidFill>
                  <a:srgbClr val="00B050"/>
                </a:solidFill>
                <a:sym typeface="+mn-ea"/>
              </a:rPr>
              <a:t>✔</a:t>
            </a:r>
            <a:endParaRPr lang="en-US" sz="240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8" grpId="0"/>
      <p:bldP spid="9" grpId="0"/>
      <p:bldP spid="9" grpId="1"/>
      <p:bldP spid="10" grpId="0"/>
      <p:bldP spid="10" grpId="1"/>
      <p:bldP spid="11" grpId="0"/>
      <p:bldP spid="11" grpId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Case 1: Initial Point is given</a:t>
            </a:r>
          </a:p>
        </p:txBody>
      </p:sp>
      <p:graphicFrame>
        <p:nvGraphicFramePr>
          <p:cNvPr id="4" name="Table 3"/>
          <p:cNvGraphicFramePr/>
          <p:nvPr>
            <p:custDataLst>
              <p:tags r:id="rId1"/>
            </p:custDataLst>
          </p:nvPr>
        </p:nvGraphicFramePr>
        <p:xfrm>
          <a:off x="1838325" y="3429000"/>
          <a:ext cx="4269740" cy="1524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674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674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674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6743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 Box 4"/>
          <p:cNvSpPr txBox="1"/>
          <p:nvPr/>
        </p:nvSpPr>
        <p:spPr>
          <a:xfrm>
            <a:off x="996950" y="1616075"/>
            <a:ext cx="1040574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400"/>
              <a:t>Apply region growing on the following image with initial point at </a:t>
            </a:r>
            <a:r>
              <a:rPr lang="en-US" sz="2400">
                <a:solidFill>
                  <a:schemeClr val="tx1"/>
                </a:solidFill>
              </a:rPr>
              <a:t>(2, 2)</a:t>
            </a:r>
            <a:r>
              <a:rPr lang="en-US" sz="2400"/>
              <a:t> and threshold value as 2. Use 4-connectivity.</a:t>
            </a:r>
          </a:p>
        </p:txBody>
      </p:sp>
      <p:graphicFrame>
        <p:nvGraphicFramePr>
          <p:cNvPr id="6" name="Table 5"/>
          <p:cNvGraphicFramePr/>
          <p:nvPr>
            <p:custDataLst>
              <p:tags r:id="rId2"/>
            </p:custDataLst>
          </p:nvPr>
        </p:nvGraphicFramePr>
        <p:xfrm>
          <a:off x="1838325" y="3048000"/>
          <a:ext cx="4279900" cy="381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699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699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699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699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" name="Table 6"/>
          <p:cNvGraphicFramePr/>
          <p:nvPr>
            <p:custDataLst>
              <p:tags r:id="rId3"/>
            </p:custDataLst>
          </p:nvPr>
        </p:nvGraphicFramePr>
        <p:xfrm>
          <a:off x="1313815" y="3429000"/>
          <a:ext cx="524510" cy="1524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245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" name="Text Box 2"/>
          <p:cNvSpPr txBox="1"/>
          <p:nvPr/>
        </p:nvSpPr>
        <p:spPr>
          <a:xfrm>
            <a:off x="8157845" y="3429000"/>
            <a:ext cx="22688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/>
              <a:t>T=2</a:t>
            </a:r>
          </a:p>
        </p:txBody>
      </p:sp>
      <p:sp>
        <p:nvSpPr>
          <p:cNvPr id="8" name="Text Box 7"/>
          <p:cNvSpPr txBox="1"/>
          <p:nvPr/>
        </p:nvSpPr>
        <p:spPr>
          <a:xfrm>
            <a:off x="8157845" y="4182110"/>
            <a:ext cx="22688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/>
              <a:t>4-Connectivity</a:t>
            </a:r>
          </a:p>
        </p:txBody>
      </p:sp>
      <p:sp>
        <p:nvSpPr>
          <p:cNvPr id="9" name="Text Box 8"/>
          <p:cNvSpPr txBox="1"/>
          <p:nvPr/>
        </p:nvSpPr>
        <p:spPr>
          <a:xfrm>
            <a:off x="1838325" y="5627370"/>
            <a:ext cx="139827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/>
              <a:t>|5-7|=2</a:t>
            </a:r>
          </a:p>
        </p:txBody>
      </p:sp>
      <p:sp>
        <p:nvSpPr>
          <p:cNvPr id="10" name="Text Box 9"/>
          <p:cNvSpPr txBox="1"/>
          <p:nvPr/>
        </p:nvSpPr>
        <p:spPr>
          <a:xfrm>
            <a:off x="3236595" y="5627370"/>
            <a:ext cx="139827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400"/>
              <a:t>&lt;=2</a:t>
            </a:r>
          </a:p>
        </p:txBody>
      </p:sp>
      <p:sp>
        <p:nvSpPr>
          <p:cNvPr id="11" name="Text Box 10"/>
          <p:cNvSpPr txBox="1"/>
          <p:nvPr/>
        </p:nvSpPr>
        <p:spPr>
          <a:xfrm>
            <a:off x="4634865" y="5627370"/>
            <a:ext cx="508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400">
                <a:solidFill>
                  <a:srgbClr val="00B050"/>
                </a:solidFill>
              </a:rPr>
              <a:t>✔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Case 1: Initial Point is given</a:t>
            </a:r>
          </a:p>
        </p:txBody>
      </p:sp>
      <p:graphicFrame>
        <p:nvGraphicFramePr>
          <p:cNvPr id="4" name="Table 3"/>
          <p:cNvGraphicFramePr/>
          <p:nvPr>
            <p:custDataLst>
              <p:tags r:id="rId1"/>
            </p:custDataLst>
          </p:nvPr>
        </p:nvGraphicFramePr>
        <p:xfrm>
          <a:off x="1838325" y="3429000"/>
          <a:ext cx="4269740" cy="1524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674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674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674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6743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 Box 4"/>
          <p:cNvSpPr txBox="1"/>
          <p:nvPr/>
        </p:nvSpPr>
        <p:spPr>
          <a:xfrm>
            <a:off x="996950" y="1616075"/>
            <a:ext cx="1040574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400"/>
              <a:t>Apply region growing on the following image with initial point at </a:t>
            </a:r>
            <a:r>
              <a:rPr lang="en-US" sz="2400">
                <a:solidFill>
                  <a:schemeClr val="tx1"/>
                </a:solidFill>
              </a:rPr>
              <a:t>(2, 2)</a:t>
            </a:r>
            <a:r>
              <a:rPr lang="en-US" sz="2400"/>
              <a:t> and threshold value as 2. Use 4-connectivity.</a:t>
            </a:r>
          </a:p>
        </p:txBody>
      </p:sp>
      <p:graphicFrame>
        <p:nvGraphicFramePr>
          <p:cNvPr id="6" name="Table 5"/>
          <p:cNvGraphicFramePr/>
          <p:nvPr>
            <p:custDataLst>
              <p:tags r:id="rId2"/>
            </p:custDataLst>
          </p:nvPr>
        </p:nvGraphicFramePr>
        <p:xfrm>
          <a:off x="1838325" y="3048000"/>
          <a:ext cx="4279900" cy="381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699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699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699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699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" name="Table 6"/>
          <p:cNvGraphicFramePr/>
          <p:nvPr>
            <p:custDataLst>
              <p:tags r:id="rId3"/>
            </p:custDataLst>
          </p:nvPr>
        </p:nvGraphicFramePr>
        <p:xfrm>
          <a:off x="1313815" y="3429000"/>
          <a:ext cx="524510" cy="1524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245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" name="Text Box 2"/>
          <p:cNvSpPr txBox="1"/>
          <p:nvPr/>
        </p:nvSpPr>
        <p:spPr>
          <a:xfrm>
            <a:off x="8157845" y="3429000"/>
            <a:ext cx="22688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/>
              <a:t>T=2</a:t>
            </a:r>
          </a:p>
        </p:txBody>
      </p:sp>
      <p:sp>
        <p:nvSpPr>
          <p:cNvPr id="8" name="Text Box 7"/>
          <p:cNvSpPr txBox="1"/>
          <p:nvPr/>
        </p:nvSpPr>
        <p:spPr>
          <a:xfrm>
            <a:off x="8157845" y="4182110"/>
            <a:ext cx="22688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/>
              <a:t>4-Connectivity</a:t>
            </a:r>
          </a:p>
        </p:txBody>
      </p:sp>
      <p:sp>
        <p:nvSpPr>
          <p:cNvPr id="9" name="Text Box 8"/>
          <p:cNvSpPr txBox="1"/>
          <p:nvPr/>
        </p:nvSpPr>
        <p:spPr>
          <a:xfrm>
            <a:off x="1838325" y="5627370"/>
            <a:ext cx="139827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/>
              <a:t>|4-7|=3</a:t>
            </a:r>
          </a:p>
        </p:txBody>
      </p:sp>
      <p:sp>
        <p:nvSpPr>
          <p:cNvPr id="10" name="Text Box 9"/>
          <p:cNvSpPr txBox="1"/>
          <p:nvPr/>
        </p:nvSpPr>
        <p:spPr>
          <a:xfrm>
            <a:off x="3236595" y="5627370"/>
            <a:ext cx="139827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400"/>
              <a:t>&lt;=2</a:t>
            </a:r>
          </a:p>
        </p:txBody>
      </p:sp>
      <p:sp>
        <p:nvSpPr>
          <p:cNvPr id="11" name="Text Box 10"/>
          <p:cNvSpPr txBox="1"/>
          <p:nvPr/>
        </p:nvSpPr>
        <p:spPr>
          <a:xfrm>
            <a:off x="4634865" y="5627370"/>
            <a:ext cx="508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400">
                <a:solidFill>
                  <a:srgbClr val="FF0000"/>
                </a:solidFill>
                <a:sym typeface="+mn-ea"/>
              </a:rPr>
              <a:t>X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8" grpId="0"/>
      <p:bldP spid="9" grpId="0"/>
      <p:bldP spid="9" grpId="1"/>
      <p:bldP spid="10" grpId="0"/>
      <p:bldP spid="10" grpId="1"/>
      <p:bldP spid="11" grpId="0"/>
      <p:bldP spid="11" grpId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Case 1: Initial Point is given</a:t>
            </a:r>
          </a:p>
        </p:txBody>
      </p:sp>
      <p:graphicFrame>
        <p:nvGraphicFramePr>
          <p:cNvPr id="4" name="Table 3"/>
          <p:cNvGraphicFramePr/>
          <p:nvPr>
            <p:custDataLst>
              <p:tags r:id="rId1"/>
            </p:custDataLst>
          </p:nvPr>
        </p:nvGraphicFramePr>
        <p:xfrm>
          <a:off x="1838325" y="3429000"/>
          <a:ext cx="4269740" cy="1524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674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674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674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6743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 Box 4"/>
          <p:cNvSpPr txBox="1"/>
          <p:nvPr/>
        </p:nvSpPr>
        <p:spPr>
          <a:xfrm>
            <a:off x="996950" y="1616075"/>
            <a:ext cx="1040574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400"/>
              <a:t>Apply region growing on the following image with initial point at </a:t>
            </a:r>
            <a:r>
              <a:rPr lang="en-US" sz="2400">
                <a:solidFill>
                  <a:schemeClr val="tx1"/>
                </a:solidFill>
              </a:rPr>
              <a:t>(2, 2)</a:t>
            </a:r>
            <a:r>
              <a:rPr lang="en-US" sz="2400"/>
              <a:t> and threshold value as 2. Use 4-connectivity.</a:t>
            </a:r>
          </a:p>
        </p:txBody>
      </p:sp>
      <p:graphicFrame>
        <p:nvGraphicFramePr>
          <p:cNvPr id="6" name="Table 5"/>
          <p:cNvGraphicFramePr/>
          <p:nvPr>
            <p:custDataLst>
              <p:tags r:id="rId2"/>
            </p:custDataLst>
          </p:nvPr>
        </p:nvGraphicFramePr>
        <p:xfrm>
          <a:off x="1838325" y="3048000"/>
          <a:ext cx="4279900" cy="381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699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699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699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699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" name="Table 6"/>
          <p:cNvGraphicFramePr/>
          <p:nvPr>
            <p:custDataLst>
              <p:tags r:id="rId3"/>
            </p:custDataLst>
          </p:nvPr>
        </p:nvGraphicFramePr>
        <p:xfrm>
          <a:off x="1313815" y="3429000"/>
          <a:ext cx="524510" cy="1524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245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" name="Text Box 2"/>
          <p:cNvSpPr txBox="1"/>
          <p:nvPr/>
        </p:nvSpPr>
        <p:spPr>
          <a:xfrm>
            <a:off x="8157845" y="3429000"/>
            <a:ext cx="22688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/>
              <a:t>T=2</a:t>
            </a:r>
          </a:p>
        </p:txBody>
      </p:sp>
      <p:sp>
        <p:nvSpPr>
          <p:cNvPr id="8" name="Text Box 7"/>
          <p:cNvSpPr txBox="1"/>
          <p:nvPr/>
        </p:nvSpPr>
        <p:spPr>
          <a:xfrm>
            <a:off x="8157845" y="4182110"/>
            <a:ext cx="22688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/>
              <a:t>4-Connectivity</a:t>
            </a:r>
          </a:p>
        </p:txBody>
      </p:sp>
      <p:sp>
        <p:nvSpPr>
          <p:cNvPr id="9" name="Text Box 8"/>
          <p:cNvSpPr txBox="1"/>
          <p:nvPr/>
        </p:nvSpPr>
        <p:spPr>
          <a:xfrm>
            <a:off x="1838325" y="5627370"/>
            <a:ext cx="139827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/>
              <a:t>|4-7|=3</a:t>
            </a:r>
          </a:p>
        </p:txBody>
      </p:sp>
      <p:sp>
        <p:nvSpPr>
          <p:cNvPr id="10" name="Text Box 9"/>
          <p:cNvSpPr txBox="1"/>
          <p:nvPr/>
        </p:nvSpPr>
        <p:spPr>
          <a:xfrm>
            <a:off x="3236595" y="5627370"/>
            <a:ext cx="139827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400"/>
              <a:t>&lt;=2</a:t>
            </a:r>
          </a:p>
        </p:txBody>
      </p:sp>
      <p:sp>
        <p:nvSpPr>
          <p:cNvPr id="11" name="Text Box 10"/>
          <p:cNvSpPr txBox="1"/>
          <p:nvPr/>
        </p:nvSpPr>
        <p:spPr>
          <a:xfrm>
            <a:off x="4634865" y="5627370"/>
            <a:ext cx="508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400">
                <a:solidFill>
                  <a:srgbClr val="FF0000"/>
                </a:solidFill>
                <a:sym typeface="+mn-ea"/>
              </a:rPr>
              <a:t>X</a:t>
            </a:r>
            <a:endParaRPr lang="en-US" sz="2400">
              <a:solidFill>
                <a:srgbClr val="00B050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Case 1: Initial Point is given</a:t>
            </a:r>
          </a:p>
        </p:txBody>
      </p:sp>
      <p:graphicFrame>
        <p:nvGraphicFramePr>
          <p:cNvPr id="4" name="Table 3"/>
          <p:cNvGraphicFramePr/>
          <p:nvPr>
            <p:custDataLst>
              <p:tags r:id="rId1"/>
            </p:custDataLst>
          </p:nvPr>
        </p:nvGraphicFramePr>
        <p:xfrm>
          <a:off x="1838325" y="3429000"/>
          <a:ext cx="4269740" cy="1524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674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674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674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6743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 Box 4"/>
          <p:cNvSpPr txBox="1"/>
          <p:nvPr/>
        </p:nvSpPr>
        <p:spPr>
          <a:xfrm>
            <a:off x="996950" y="1616075"/>
            <a:ext cx="1040574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400"/>
              <a:t>Apply region growing on the following image with initial point at </a:t>
            </a:r>
            <a:r>
              <a:rPr lang="en-US" sz="2400">
                <a:solidFill>
                  <a:schemeClr val="tx1"/>
                </a:solidFill>
              </a:rPr>
              <a:t>(2, 2)</a:t>
            </a:r>
            <a:r>
              <a:rPr lang="en-US" sz="2400"/>
              <a:t> and threshold value as 2. Use 4-connectivity.</a:t>
            </a:r>
          </a:p>
        </p:txBody>
      </p:sp>
      <p:graphicFrame>
        <p:nvGraphicFramePr>
          <p:cNvPr id="6" name="Table 5"/>
          <p:cNvGraphicFramePr/>
          <p:nvPr>
            <p:custDataLst>
              <p:tags r:id="rId2"/>
            </p:custDataLst>
          </p:nvPr>
        </p:nvGraphicFramePr>
        <p:xfrm>
          <a:off x="1838325" y="3048000"/>
          <a:ext cx="4279900" cy="381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699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699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699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699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" name="Table 6"/>
          <p:cNvGraphicFramePr/>
          <p:nvPr>
            <p:custDataLst>
              <p:tags r:id="rId3"/>
            </p:custDataLst>
          </p:nvPr>
        </p:nvGraphicFramePr>
        <p:xfrm>
          <a:off x="1313815" y="3429000"/>
          <a:ext cx="524510" cy="1524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245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" name="Text Box 2"/>
          <p:cNvSpPr txBox="1"/>
          <p:nvPr/>
        </p:nvSpPr>
        <p:spPr>
          <a:xfrm>
            <a:off x="8157845" y="3429000"/>
            <a:ext cx="22688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/>
              <a:t>T=2</a:t>
            </a:r>
          </a:p>
        </p:txBody>
      </p:sp>
      <p:sp>
        <p:nvSpPr>
          <p:cNvPr id="8" name="Text Box 7"/>
          <p:cNvSpPr txBox="1"/>
          <p:nvPr/>
        </p:nvSpPr>
        <p:spPr>
          <a:xfrm>
            <a:off x="8157845" y="4182110"/>
            <a:ext cx="22688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/>
              <a:t>4-Connectivity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Case 1: Initial Point is given</a:t>
            </a:r>
          </a:p>
        </p:txBody>
      </p:sp>
      <p:graphicFrame>
        <p:nvGraphicFramePr>
          <p:cNvPr id="4" name="Table 3"/>
          <p:cNvGraphicFramePr/>
          <p:nvPr>
            <p:custDataLst>
              <p:tags r:id="rId1"/>
            </p:custDataLst>
          </p:nvPr>
        </p:nvGraphicFramePr>
        <p:xfrm>
          <a:off x="1838325" y="3429000"/>
          <a:ext cx="4269740" cy="1524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674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674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674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6743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 Box 4"/>
          <p:cNvSpPr txBox="1"/>
          <p:nvPr/>
        </p:nvSpPr>
        <p:spPr>
          <a:xfrm>
            <a:off x="996950" y="1616075"/>
            <a:ext cx="1040574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400"/>
              <a:t>Apply region growing on the following image with initial point at </a:t>
            </a:r>
            <a:r>
              <a:rPr lang="en-US" sz="2400">
                <a:solidFill>
                  <a:schemeClr val="tx1"/>
                </a:solidFill>
              </a:rPr>
              <a:t>(2, 2)</a:t>
            </a:r>
            <a:r>
              <a:rPr lang="en-US" sz="2400"/>
              <a:t> and threshold value as 2. Use 4-connectivity.</a:t>
            </a:r>
          </a:p>
        </p:txBody>
      </p:sp>
      <p:graphicFrame>
        <p:nvGraphicFramePr>
          <p:cNvPr id="6" name="Table 5"/>
          <p:cNvGraphicFramePr/>
          <p:nvPr>
            <p:custDataLst>
              <p:tags r:id="rId2"/>
            </p:custDataLst>
          </p:nvPr>
        </p:nvGraphicFramePr>
        <p:xfrm>
          <a:off x="1838325" y="3048000"/>
          <a:ext cx="4279900" cy="381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699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699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699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699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" name="Table 6"/>
          <p:cNvGraphicFramePr/>
          <p:nvPr>
            <p:custDataLst>
              <p:tags r:id="rId3"/>
            </p:custDataLst>
          </p:nvPr>
        </p:nvGraphicFramePr>
        <p:xfrm>
          <a:off x="1313815" y="3429000"/>
          <a:ext cx="524510" cy="1524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245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" name="Text Box 2"/>
          <p:cNvSpPr txBox="1"/>
          <p:nvPr/>
        </p:nvSpPr>
        <p:spPr>
          <a:xfrm>
            <a:off x="8157845" y="3429000"/>
            <a:ext cx="22688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/>
              <a:t>T=2</a:t>
            </a:r>
          </a:p>
        </p:txBody>
      </p:sp>
      <p:sp>
        <p:nvSpPr>
          <p:cNvPr id="8" name="Text Box 7"/>
          <p:cNvSpPr txBox="1"/>
          <p:nvPr/>
        </p:nvSpPr>
        <p:spPr>
          <a:xfrm>
            <a:off x="8157845" y="4182110"/>
            <a:ext cx="22688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/>
              <a:t>4-Connectivity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Case 1: Initial Point is given</a:t>
            </a:r>
          </a:p>
        </p:txBody>
      </p:sp>
      <p:graphicFrame>
        <p:nvGraphicFramePr>
          <p:cNvPr id="4" name="Table 3"/>
          <p:cNvGraphicFramePr/>
          <p:nvPr>
            <p:custDataLst>
              <p:tags r:id="rId1"/>
            </p:custDataLst>
          </p:nvPr>
        </p:nvGraphicFramePr>
        <p:xfrm>
          <a:off x="1838325" y="3429000"/>
          <a:ext cx="4269740" cy="1524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674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674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674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6743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 Box 4"/>
          <p:cNvSpPr txBox="1"/>
          <p:nvPr/>
        </p:nvSpPr>
        <p:spPr>
          <a:xfrm>
            <a:off x="996950" y="1616075"/>
            <a:ext cx="1040574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400"/>
              <a:t>Apply region growing on the following image with initial point at </a:t>
            </a:r>
            <a:r>
              <a:rPr lang="en-US" sz="2400">
                <a:solidFill>
                  <a:schemeClr val="tx1"/>
                </a:solidFill>
              </a:rPr>
              <a:t>(2, 2)</a:t>
            </a:r>
            <a:r>
              <a:rPr lang="en-US" sz="2400"/>
              <a:t> and threshold value as 2. Use 4-connectivity.</a:t>
            </a:r>
          </a:p>
        </p:txBody>
      </p:sp>
      <p:graphicFrame>
        <p:nvGraphicFramePr>
          <p:cNvPr id="6" name="Table 5"/>
          <p:cNvGraphicFramePr/>
          <p:nvPr>
            <p:custDataLst>
              <p:tags r:id="rId2"/>
            </p:custDataLst>
          </p:nvPr>
        </p:nvGraphicFramePr>
        <p:xfrm>
          <a:off x="1838325" y="3048000"/>
          <a:ext cx="4279900" cy="381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699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699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699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699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" name="Table 6"/>
          <p:cNvGraphicFramePr/>
          <p:nvPr>
            <p:custDataLst>
              <p:tags r:id="rId3"/>
            </p:custDataLst>
          </p:nvPr>
        </p:nvGraphicFramePr>
        <p:xfrm>
          <a:off x="1313815" y="3429000"/>
          <a:ext cx="524510" cy="1524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245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" name="Text Box 2"/>
          <p:cNvSpPr txBox="1"/>
          <p:nvPr/>
        </p:nvSpPr>
        <p:spPr>
          <a:xfrm>
            <a:off x="8157845" y="3429000"/>
            <a:ext cx="22688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/>
              <a:t>T=2</a:t>
            </a:r>
          </a:p>
        </p:txBody>
      </p:sp>
      <p:sp>
        <p:nvSpPr>
          <p:cNvPr id="8" name="Text Box 7"/>
          <p:cNvSpPr txBox="1"/>
          <p:nvPr/>
        </p:nvSpPr>
        <p:spPr>
          <a:xfrm>
            <a:off x="8157845" y="4182110"/>
            <a:ext cx="22688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/>
              <a:t>4-Connectivity</a:t>
            </a:r>
          </a:p>
        </p:txBody>
      </p:sp>
      <p:sp>
        <p:nvSpPr>
          <p:cNvPr id="9" name="Text Box 8"/>
          <p:cNvSpPr txBox="1"/>
          <p:nvPr/>
        </p:nvSpPr>
        <p:spPr>
          <a:xfrm>
            <a:off x="1838325" y="5627370"/>
            <a:ext cx="139827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/>
              <a:t>|5-6|=1</a:t>
            </a:r>
          </a:p>
        </p:txBody>
      </p:sp>
      <p:sp>
        <p:nvSpPr>
          <p:cNvPr id="10" name="Text Box 9"/>
          <p:cNvSpPr txBox="1"/>
          <p:nvPr/>
        </p:nvSpPr>
        <p:spPr>
          <a:xfrm>
            <a:off x="3236595" y="5627370"/>
            <a:ext cx="139827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400"/>
              <a:t>&lt;=2</a:t>
            </a:r>
          </a:p>
        </p:txBody>
      </p:sp>
      <p:sp>
        <p:nvSpPr>
          <p:cNvPr id="11" name="Text Box 10"/>
          <p:cNvSpPr txBox="1"/>
          <p:nvPr/>
        </p:nvSpPr>
        <p:spPr>
          <a:xfrm>
            <a:off x="4634865" y="5627370"/>
            <a:ext cx="508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400">
                <a:solidFill>
                  <a:srgbClr val="00B050"/>
                </a:solidFill>
              </a:rPr>
              <a:t>✔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8" grpId="0"/>
      <p:bldP spid="9" grpId="0"/>
      <p:bldP spid="9" grpId="1"/>
      <p:bldP spid="10" grpId="0"/>
      <p:bldP spid="10" grpId="1"/>
      <p:bldP spid="11" grpId="0"/>
      <p:bldP spid="11" grpId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Case 1: Initial Point is given</a:t>
            </a:r>
          </a:p>
        </p:txBody>
      </p:sp>
      <p:graphicFrame>
        <p:nvGraphicFramePr>
          <p:cNvPr id="4" name="Table 3"/>
          <p:cNvGraphicFramePr/>
          <p:nvPr>
            <p:custDataLst>
              <p:tags r:id="rId1"/>
            </p:custDataLst>
          </p:nvPr>
        </p:nvGraphicFramePr>
        <p:xfrm>
          <a:off x="1838325" y="3429000"/>
          <a:ext cx="4269740" cy="1524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674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674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674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6743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 Box 4"/>
          <p:cNvSpPr txBox="1"/>
          <p:nvPr/>
        </p:nvSpPr>
        <p:spPr>
          <a:xfrm>
            <a:off x="996950" y="1616075"/>
            <a:ext cx="1040574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400"/>
              <a:t>Apply region growing on the following image with initial point at </a:t>
            </a:r>
            <a:r>
              <a:rPr lang="en-US" sz="2400">
                <a:solidFill>
                  <a:schemeClr val="tx1"/>
                </a:solidFill>
              </a:rPr>
              <a:t>(2, 2)</a:t>
            </a:r>
            <a:r>
              <a:rPr lang="en-US" sz="2400"/>
              <a:t> and threshold value as 2. Use 4-connectivity.</a:t>
            </a:r>
          </a:p>
        </p:txBody>
      </p:sp>
      <p:graphicFrame>
        <p:nvGraphicFramePr>
          <p:cNvPr id="6" name="Table 5"/>
          <p:cNvGraphicFramePr/>
          <p:nvPr>
            <p:custDataLst>
              <p:tags r:id="rId2"/>
            </p:custDataLst>
          </p:nvPr>
        </p:nvGraphicFramePr>
        <p:xfrm>
          <a:off x="1838325" y="3048000"/>
          <a:ext cx="4279900" cy="381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699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699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699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699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" name="Table 6"/>
          <p:cNvGraphicFramePr/>
          <p:nvPr>
            <p:custDataLst>
              <p:tags r:id="rId3"/>
            </p:custDataLst>
          </p:nvPr>
        </p:nvGraphicFramePr>
        <p:xfrm>
          <a:off x="1313815" y="3429000"/>
          <a:ext cx="524510" cy="1524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245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" name="Text Box 2"/>
          <p:cNvSpPr txBox="1"/>
          <p:nvPr/>
        </p:nvSpPr>
        <p:spPr>
          <a:xfrm>
            <a:off x="8157845" y="3429000"/>
            <a:ext cx="22688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/>
              <a:t>T=2</a:t>
            </a:r>
          </a:p>
        </p:txBody>
      </p:sp>
      <p:sp>
        <p:nvSpPr>
          <p:cNvPr id="8" name="Text Box 7"/>
          <p:cNvSpPr txBox="1"/>
          <p:nvPr/>
        </p:nvSpPr>
        <p:spPr>
          <a:xfrm>
            <a:off x="8157845" y="4182110"/>
            <a:ext cx="22688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/>
              <a:t>4-Connectivity</a:t>
            </a:r>
          </a:p>
        </p:txBody>
      </p:sp>
      <p:sp>
        <p:nvSpPr>
          <p:cNvPr id="9" name="Text Box 8"/>
          <p:cNvSpPr txBox="1"/>
          <p:nvPr/>
        </p:nvSpPr>
        <p:spPr>
          <a:xfrm>
            <a:off x="1838325" y="5627370"/>
            <a:ext cx="139827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/>
              <a:t>|5-6|=1</a:t>
            </a:r>
          </a:p>
        </p:txBody>
      </p:sp>
      <p:sp>
        <p:nvSpPr>
          <p:cNvPr id="10" name="Text Box 9"/>
          <p:cNvSpPr txBox="1"/>
          <p:nvPr/>
        </p:nvSpPr>
        <p:spPr>
          <a:xfrm>
            <a:off x="3236595" y="5627370"/>
            <a:ext cx="139827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400"/>
              <a:t>&lt;=2</a:t>
            </a:r>
          </a:p>
        </p:txBody>
      </p:sp>
      <p:sp>
        <p:nvSpPr>
          <p:cNvPr id="11" name="Text Box 10"/>
          <p:cNvSpPr txBox="1"/>
          <p:nvPr/>
        </p:nvSpPr>
        <p:spPr>
          <a:xfrm>
            <a:off x="4634865" y="5627370"/>
            <a:ext cx="508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400">
                <a:solidFill>
                  <a:srgbClr val="00B050"/>
                </a:solidFill>
              </a:rPr>
              <a:t>✔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Case 1: Initial Point is given</a:t>
            </a:r>
          </a:p>
        </p:txBody>
      </p:sp>
      <p:graphicFrame>
        <p:nvGraphicFramePr>
          <p:cNvPr id="4" name="Table 3"/>
          <p:cNvGraphicFramePr/>
          <p:nvPr>
            <p:custDataLst>
              <p:tags r:id="rId1"/>
            </p:custDataLst>
          </p:nvPr>
        </p:nvGraphicFramePr>
        <p:xfrm>
          <a:off x="1838325" y="3429000"/>
          <a:ext cx="4269740" cy="1524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674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674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674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6743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 Box 4"/>
          <p:cNvSpPr txBox="1"/>
          <p:nvPr/>
        </p:nvSpPr>
        <p:spPr>
          <a:xfrm>
            <a:off x="996950" y="1616075"/>
            <a:ext cx="1040574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400"/>
              <a:t>Apply region growing on the following image with initial point at </a:t>
            </a:r>
            <a:r>
              <a:rPr lang="en-US" sz="2400">
                <a:solidFill>
                  <a:schemeClr val="tx1"/>
                </a:solidFill>
              </a:rPr>
              <a:t>(2, 2)</a:t>
            </a:r>
            <a:r>
              <a:rPr lang="en-US" sz="2400"/>
              <a:t> and threshold value as 2. Use 4-connectivity.</a:t>
            </a:r>
          </a:p>
        </p:txBody>
      </p:sp>
      <p:graphicFrame>
        <p:nvGraphicFramePr>
          <p:cNvPr id="6" name="Table 5"/>
          <p:cNvGraphicFramePr/>
          <p:nvPr>
            <p:custDataLst>
              <p:tags r:id="rId2"/>
            </p:custDataLst>
          </p:nvPr>
        </p:nvGraphicFramePr>
        <p:xfrm>
          <a:off x="1838325" y="3048000"/>
          <a:ext cx="4279900" cy="381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699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699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699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699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" name="Table 6"/>
          <p:cNvGraphicFramePr/>
          <p:nvPr>
            <p:custDataLst>
              <p:tags r:id="rId3"/>
            </p:custDataLst>
          </p:nvPr>
        </p:nvGraphicFramePr>
        <p:xfrm>
          <a:off x="1313815" y="3429000"/>
          <a:ext cx="524510" cy="1524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245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" name="Text Box 2"/>
          <p:cNvSpPr txBox="1"/>
          <p:nvPr/>
        </p:nvSpPr>
        <p:spPr>
          <a:xfrm>
            <a:off x="8157845" y="3429000"/>
            <a:ext cx="22688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/>
              <a:t>T=2</a:t>
            </a:r>
          </a:p>
        </p:txBody>
      </p:sp>
      <p:sp>
        <p:nvSpPr>
          <p:cNvPr id="8" name="Text Box 7"/>
          <p:cNvSpPr txBox="1"/>
          <p:nvPr/>
        </p:nvSpPr>
        <p:spPr>
          <a:xfrm>
            <a:off x="8157845" y="4182110"/>
            <a:ext cx="22688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/>
              <a:t>4-Connectivity</a:t>
            </a:r>
          </a:p>
        </p:txBody>
      </p:sp>
      <p:sp>
        <p:nvSpPr>
          <p:cNvPr id="9" name="Text Box 8"/>
          <p:cNvSpPr txBox="1"/>
          <p:nvPr/>
        </p:nvSpPr>
        <p:spPr>
          <a:xfrm>
            <a:off x="1838325" y="5627370"/>
            <a:ext cx="139827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/>
              <a:t>|2-6|=4</a:t>
            </a:r>
          </a:p>
        </p:txBody>
      </p:sp>
      <p:sp>
        <p:nvSpPr>
          <p:cNvPr id="10" name="Text Box 9"/>
          <p:cNvSpPr txBox="1"/>
          <p:nvPr/>
        </p:nvSpPr>
        <p:spPr>
          <a:xfrm>
            <a:off x="3236595" y="5627370"/>
            <a:ext cx="139827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400"/>
              <a:t>&lt;=2</a:t>
            </a:r>
          </a:p>
        </p:txBody>
      </p:sp>
      <p:sp>
        <p:nvSpPr>
          <p:cNvPr id="11" name="Text Box 10"/>
          <p:cNvSpPr txBox="1"/>
          <p:nvPr/>
        </p:nvSpPr>
        <p:spPr>
          <a:xfrm>
            <a:off x="4634865" y="5627370"/>
            <a:ext cx="508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400">
                <a:solidFill>
                  <a:srgbClr val="FF0000"/>
                </a:solidFill>
              </a:rPr>
              <a:t>X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8" grpId="0"/>
      <p:bldP spid="9" grpId="0"/>
      <p:bldP spid="9" grpId="1"/>
      <p:bldP spid="10" grpId="0"/>
      <p:bldP spid="10" grpId="1"/>
      <p:bldP spid="11" grpId="0"/>
      <p:bldP spid="11" grpId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Case 1: Initial Point is given</a:t>
            </a:r>
          </a:p>
        </p:txBody>
      </p:sp>
      <p:graphicFrame>
        <p:nvGraphicFramePr>
          <p:cNvPr id="4" name="Table 3"/>
          <p:cNvGraphicFramePr/>
          <p:nvPr>
            <p:custDataLst>
              <p:tags r:id="rId1"/>
            </p:custDataLst>
          </p:nvPr>
        </p:nvGraphicFramePr>
        <p:xfrm>
          <a:off x="1838325" y="3429000"/>
          <a:ext cx="4269740" cy="1524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674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674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674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6743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 Box 4"/>
          <p:cNvSpPr txBox="1"/>
          <p:nvPr/>
        </p:nvSpPr>
        <p:spPr>
          <a:xfrm>
            <a:off x="996950" y="1616075"/>
            <a:ext cx="1040574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400"/>
              <a:t>Apply region growing on the following image with initial point at </a:t>
            </a:r>
            <a:r>
              <a:rPr lang="en-US" sz="2400">
                <a:solidFill>
                  <a:schemeClr val="tx1"/>
                </a:solidFill>
              </a:rPr>
              <a:t>(2, 2)</a:t>
            </a:r>
            <a:r>
              <a:rPr lang="en-US" sz="2400"/>
              <a:t> and threshold value as 2. Use 4-connectivity.</a:t>
            </a:r>
          </a:p>
        </p:txBody>
      </p:sp>
      <p:graphicFrame>
        <p:nvGraphicFramePr>
          <p:cNvPr id="6" name="Table 5"/>
          <p:cNvGraphicFramePr/>
          <p:nvPr>
            <p:custDataLst>
              <p:tags r:id="rId2"/>
            </p:custDataLst>
          </p:nvPr>
        </p:nvGraphicFramePr>
        <p:xfrm>
          <a:off x="1838325" y="3048000"/>
          <a:ext cx="4279900" cy="381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699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699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699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699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" name="Table 6"/>
          <p:cNvGraphicFramePr/>
          <p:nvPr>
            <p:custDataLst>
              <p:tags r:id="rId3"/>
            </p:custDataLst>
          </p:nvPr>
        </p:nvGraphicFramePr>
        <p:xfrm>
          <a:off x="1313815" y="3429000"/>
          <a:ext cx="524510" cy="1524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245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" name="Text Box 2"/>
          <p:cNvSpPr txBox="1"/>
          <p:nvPr/>
        </p:nvSpPr>
        <p:spPr>
          <a:xfrm>
            <a:off x="8157845" y="3429000"/>
            <a:ext cx="22688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/>
              <a:t>T=2</a:t>
            </a:r>
          </a:p>
        </p:txBody>
      </p:sp>
      <p:sp>
        <p:nvSpPr>
          <p:cNvPr id="8" name="Text Box 7"/>
          <p:cNvSpPr txBox="1"/>
          <p:nvPr/>
        </p:nvSpPr>
        <p:spPr>
          <a:xfrm>
            <a:off x="8157845" y="4182110"/>
            <a:ext cx="22688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/>
              <a:t>4-Connectivity</a:t>
            </a:r>
          </a:p>
        </p:txBody>
      </p:sp>
      <p:sp>
        <p:nvSpPr>
          <p:cNvPr id="9" name="Text Box 8"/>
          <p:cNvSpPr txBox="1"/>
          <p:nvPr/>
        </p:nvSpPr>
        <p:spPr>
          <a:xfrm>
            <a:off x="1838325" y="5627370"/>
            <a:ext cx="139827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/>
              <a:t>|2-6|=4</a:t>
            </a:r>
          </a:p>
        </p:txBody>
      </p:sp>
      <p:sp>
        <p:nvSpPr>
          <p:cNvPr id="10" name="Text Box 9"/>
          <p:cNvSpPr txBox="1"/>
          <p:nvPr/>
        </p:nvSpPr>
        <p:spPr>
          <a:xfrm>
            <a:off x="3236595" y="5627370"/>
            <a:ext cx="139827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400"/>
              <a:t>&lt;=2</a:t>
            </a:r>
          </a:p>
        </p:txBody>
      </p:sp>
      <p:sp>
        <p:nvSpPr>
          <p:cNvPr id="11" name="Text Box 10"/>
          <p:cNvSpPr txBox="1"/>
          <p:nvPr/>
        </p:nvSpPr>
        <p:spPr>
          <a:xfrm>
            <a:off x="4634865" y="5627370"/>
            <a:ext cx="508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400">
                <a:solidFill>
                  <a:srgbClr val="FF0000"/>
                </a:solidFill>
              </a:rPr>
              <a:t>X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Case 1: Initial Point is given</a:t>
            </a:r>
          </a:p>
        </p:txBody>
      </p:sp>
      <p:graphicFrame>
        <p:nvGraphicFramePr>
          <p:cNvPr id="4" name="Table 3"/>
          <p:cNvGraphicFramePr/>
          <p:nvPr>
            <p:custDataLst>
              <p:tags r:id="rId1"/>
            </p:custDataLst>
          </p:nvPr>
        </p:nvGraphicFramePr>
        <p:xfrm>
          <a:off x="1838325" y="3429000"/>
          <a:ext cx="4269740" cy="1524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674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674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674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6743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 Box 4"/>
          <p:cNvSpPr txBox="1"/>
          <p:nvPr/>
        </p:nvSpPr>
        <p:spPr>
          <a:xfrm>
            <a:off x="996950" y="1616075"/>
            <a:ext cx="1040574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400"/>
              <a:t>Apply region growing on the following image with initial point at </a:t>
            </a:r>
            <a:r>
              <a:rPr lang="en-US" sz="2400">
                <a:solidFill>
                  <a:schemeClr val="tx1"/>
                </a:solidFill>
              </a:rPr>
              <a:t>(2, 2)</a:t>
            </a:r>
            <a:r>
              <a:rPr lang="en-US" sz="2400"/>
              <a:t> and threshold value as 2. Use 4-connectivity.</a:t>
            </a:r>
          </a:p>
        </p:txBody>
      </p:sp>
      <p:graphicFrame>
        <p:nvGraphicFramePr>
          <p:cNvPr id="6" name="Table 5"/>
          <p:cNvGraphicFramePr/>
          <p:nvPr>
            <p:custDataLst>
              <p:tags r:id="rId2"/>
            </p:custDataLst>
          </p:nvPr>
        </p:nvGraphicFramePr>
        <p:xfrm>
          <a:off x="1838325" y="3048000"/>
          <a:ext cx="4279900" cy="381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699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699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699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699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" name="Table 6"/>
          <p:cNvGraphicFramePr/>
          <p:nvPr>
            <p:custDataLst>
              <p:tags r:id="rId3"/>
            </p:custDataLst>
          </p:nvPr>
        </p:nvGraphicFramePr>
        <p:xfrm>
          <a:off x="1313815" y="3429000"/>
          <a:ext cx="524510" cy="1524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245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" name="Text Box 2"/>
          <p:cNvSpPr txBox="1"/>
          <p:nvPr/>
        </p:nvSpPr>
        <p:spPr>
          <a:xfrm>
            <a:off x="8157845" y="3429000"/>
            <a:ext cx="22688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/>
              <a:t>T=2</a:t>
            </a:r>
          </a:p>
        </p:txBody>
      </p:sp>
      <p:sp>
        <p:nvSpPr>
          <p:cNvPr id="8" name="Text Box 7"/>
          <p:cNvSpPr txBox="1"/>
          <p:nvPr/>
        </p:nvSpPr>
        <p:spPr>
          <a:xfrm>
            <a:off x="8157845" y="4182110"/>
            <a:ext cx="22688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/>
              <a:t>4-Connectivity</a:t>
            </a:r>
          </a:p>
        </p:txBody>
      </p:sp>
      <p:sp>
        <p:nvSpPr>
          <p:cNvPr id="9" name="Text Box 8"/>
          <p:cNvSpPr txBox="1"/>
          <p:nvPr/>
        </p:nvSpPr>
        <p:spPr>
          <a:xfrm>
            <a:off x="1838325" y="5627370"/>
            <a:ext cx="139827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/>
              <a:t>|1-6|=5</a:t>
            </a:r>
          </a:p>
        </p:txBody>
      </p:sp>
      <p:sp>
        <p:nvSpPr>
          <p:cNvPr id="10" name="Text Box 9"/>
          <p:cNvSpPr txBox="1"/>
          <p:nvPr/>
        </p:nvSpPr>
        <p:spPr>
          <a:xfrm>
            <a:off x="3236595" y="5627370"/>
            <a:ext cx="139827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400"/>
              <a:t>&lt;=2</a:t>
            </a:r>
          </a:p>
        </p:txBody>
      </p:sp>
      <p:sp>
        <p:nvSpPr>
          <p:cNvPr id="11" name="Text Box 10"/>
          <p:cNvSpPr txBox="1"/>
          <p:nvPr/>
        </p:nvSpPr>
        <p:spPr>
          <a:xfrm>
            <a:off x="4634865" y="5627370"/>
            <a:ext cx="508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400">
                <a:solidFill>
                  <a:srgbClr val="FF0000"/>
                </a:solidFill>
              </a:rPr>
              <a:t>X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8" grpId="0"/>
      <p:bldP spid="9" grpId="0"/>
      <p:bldP spid="9" grpId="1"/>
      <p:bldP spid="10" grpId="0"/>
      <p:bldP spid="10" grpId="1"/>
      <p:bldP spid="11" grpId="0"/>
      <p:bldP spid="11" grpId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Case 1: Initial Point is given</a:t>
            </a:r>
          </a:p>
        </p:txBody>
      </p:sp>
      <p:graphicFrame>
        <p:nvGraphicFramePr>
          <p:cNvPr id="4" name="Table 3"/>
          <p:cNvGraphicFramePr/>
          <p:nvPr>
            <p:custDataLst>
              <p:tags r:id="rId1"/>
            </p:custDataLst>
          </p:nvPr>
        </p:nvGraphicFramePr>
        <p:xfrm>
          <a:off x="1838325" y="3429000"/>
          <a:ext cx="4269740" cy="1524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674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674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674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6743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 Box 4"/>
          <p:cNvSpPr txBox="1"/>
          <p:nvPr/>
        </p:nvSpPr>
        <p:spPr>
          <a:xfrm>
            <a:off x="996950" y="1616075"/>
            <a:ext cx="1040574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400"/>
              <a:t>Apply region growing on the following image with initial point at </a:t>
            </a:r>
            <a:r>
              <a:rPr lang="en-US" sz="2400">
                <a:solidFill>
                  <a:schemeClr val="tx1"/>
                </a:solidFill>
              </a:rPr>
              <a:t>(2, 2)</a:t>
            </a:r>
            <a:r>
              <a:rPr lang="en-US" sz="2400"/>
              <a:t> and threshold value as 2. Use 4-connectivity.</a:t>
            </a:r>
          </a:p>
        </p:txBody>
      </p:sp>
      <p:graphicFrame>
        <p:nvGraphicFramePr>
          <p:cNvPr id="6" name="Table 5"/>
          <p:cNvGraphicFramePr/>
          <p:nvPr>
            <p:custDataLst>
              <p:tags r:id="rId2"/>
            </p:custDataLst>
          </p:nvPr>
        </p:nvGraphicFramePr>
        <p:xfrm>
          <a:off x="1838325" y="3048000"/>
          <a:ext cx="4279900" cy="381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699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699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699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699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" name="Table 6"/>
          <p:cNvGraphicFramePr/>
          <p:nvPr>
            <p:custDataLst>
              <p:tags r:id="rId3"/>
            </p:custDataLst>
          </p:nvPr>
        </p:nvGraphicFramePr>
        <p:xfrm>
          <a:off x="1313815" y="3429000"/>
          <a:ext cx="524510" cy="1524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245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" name="Text Box 2"/>
          <p:cNvSpPr txBox="1"/>
          <p:nvPr/>
        </p:nvSpPr>
        <p:spPr>
          <a:xfrm>
            <a:off x="8157845" y="3429000"/>
            <a:ext cx="22688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/>
              <a:t>T=2</a:t>
            </a:r>
          </a:p>
        </p:txBody>
      </p:sp>
      <p:sp>
        <p:nvSpPr>
          <p:cNvPr id="8" name="Text Box 7"/>
          <p:cNvSpPr txBox="1"/>
          <p:nvPr/>
        </p:nvSpPr>
        <p:spPr>
          <a:xfrm>
            <a:off x="8157845" y="4182110"/>
            <a:ext cx="22688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/>
              <a:t>4-Connectivity</a:t>
            </a:r>
          </a:p>
        </p:txBody>
      </p:sp>
      <p:sp>
        <p:nvSpPr>
          <p:cNvPr id="9" name="Text Box 8"/>
          <p:cNvSpPr txBox="1"/>
          <p:nvPr/>
        </p:nvSpPr>
        <p:spPr>
          <a:xfrm>
            <a:off x="1838325" y="5627370"/>
            <a:ext cx="139827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ym typeface="+mn-ea"/>
              </a:rPr>
              <a:t>|1-6|=5</a:t>
            </a:r>
            <a:endParaRPr lang="en-US" sz="2400"/>
          </a:p>
        </p:txBody>
      </p:sp>
      <p:sp>
        <p:nvSpPr>
          <p:cNvPr id="10" name="Text Box 9"/>
          <p:cNvSpPr txBox="1"/>
          <p:nvPr/>
        </p:nvSpPr>
        <p:spPr>
          <a:xfrm>
            <a:off x="3236595" y="5627370"/>
            <a:ext cx="139827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400"/>
              <a:t>&lt;=2</a:t>
            </a:r>
          </a:p>
        </p:txBody>
      </p:sp>
      <p:sp>
        <p:nvSpPr>
          <p:cNvPr id="11" name="Text Box 10"/>
          <p:cNvSpPr txBox="1"/>
          <p:nvPr/>
        </p:nvSpPr>
        <p:spPr>
          <a:xfrm>
            <a:off x="4634865" y="5627370"/>
            <a:ext cx="508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400">
                <a:solidFill>
                  <a:srgbClr val="FF0000"/>
                </a:solidFill>
              </a:rPr>
              <a:t>X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Case 1: Initial Point is given</a:t>
            </a:r>
          </a:p>
        </p:txBody>
      </p:sp>
      <p:graphicFrame>
        <p:nvGraphicFramePr>
          <p:cNvPr id="4" name="Table 3"/>
          <p:cNvGraphicFramePr/>
          <p:nvPr>
            <p:custDataLst>
              <p:tags r:id="rId1"/>
            </p:custDataLst>
          </p:nvPr>
        </p:nvGraphicFramePr>
        <p:xfrm>
          <a:off x="1838325" y="3429000"/>
          <a:ext cx="4269740" cy="1524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674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674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674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6743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 Box 4"/>
          <p:cNvSpPr txBox="1"/>
          <p:nvPr/>
        </p:nvSpPr>
        <p:spPr>
          <a:xfrm>
            <a:off x="996950" y="1616075"/>
            <a:ext cx="1040574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400"/>
              <a:t>Apply region growing on the following image with initial point at </a:t>
            </a:r>
            <a:r>
              <a:rPr lang="en-US" sz="2400">
                <a:solidFill>
                  <a:schemeClr val="tx1"/>
                </a:solidFill>
              </a:rPr>
              <a:t>(2, 2)</a:t>
            </a:r>
            <a:r>
              <a:rPr lang="en-US" sz="2400"/>
              <a:t> and threshold value as 2. Use 4-connectivity.</a:t>
            </a:r>
          </a:p>
        </p:txBody>
      </p:sp>
      <p:graphicFrame>
        <p:nvGraphicFramePr>
          <p:cNvPr id="6" name="Table 5"/>
          <p:cNvGraphicFramePr/>
          <p:nvPr>
            <p:custDataLst>
              <p:tags r:id="rId2"/>
            </p:custDataLst>
          </p:nvPr>
        </p:nvGraphicFramePr>
        <p:xfrm>
          <a:off x="1838325" y="3048000"/>
          <a:ext cx="4279900" cy="381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699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699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699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699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" name="Table 6"/>
          <p:cNvGraphicFramePr/>
          <p:nvPr>
            <p:custDataLst>
              <p:tags r:id="rId3"/>
            </p:custDataLst>
          </p:nvPr>
        </p:nvGraphicFramePr>
        <p:xfrm>
          <a:off x="1313815" y="3429000"/>
          <a:ext cx="524510" cy="1524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245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" name="Text Box 2"/>
          <p:cNvSpPr txBox="1"/>
          <p:nvPr/>
        </p:nvSpPr>
        <p:spPr>
          <a:xfrm>
            <a:off x="8157845" y="3429000"/>
            <a:ext cx="22688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/>
              <a:t>T=2</a:t>
            </a:r>
          </a:p>
        </p:txBody>
      </p:sp>
      <p:sp>
        <p:nvSpPr>
          <p:cNvPr id="8" name="Text Box 7"/>
          <p:cNvSpPr txBox="1"/>
          <p:nvPr/>
        </p:nvSpPr>
        <p:spPr>
          <a:xfrm>
            <a:off x="8157845" y="4182110"/>
            <a:ext cx="22688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/>
              <a:t>4-Connectivity</a:t>
            </a:r>
          </a:p>
        </p:txBody>
      </p:sp>
      <p:sp>
        <p:nvSpPr>
          <p:cNvPr id="9" name="Text Box 8"/>
          <p:cNvSpPr txBox="1"/>
          <p:nvPr/>
        </p:nvSpPr>
        <p:spPr>
          <a:xfrm>
            <a:off x="1838325" y="5627370"/>
            <a:ext cx="139827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/>
              <a:t>|7-6|=1</a:t>
            </a:r>
          </a:p>
        </p:txBody>
      </p:sp>
      <p:sp>
        <p:nvSpPr>
          <p:cNvPr id="10" name="Text Box 9"/>
          <p:cNvSpPr txBox="1"/>
          <p:nvPr/>
        </p:nvSpPr>
        <p:spPr>
          <a:xfrm>
            <a:off x="3236595" y="5627370"/>
            <a:ext cx="139827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400"/>
              <a:t>&lt;=2</a:t>
            </a:r>
          </a:p>
        </p:txBody>
      </p:sp>
      <p:sp>
        <p:nvSpPr>
          <p:cNvPr id="11" name="Text Box 10"/>
          <p:cNvSpPr txBox="1"/>
          <p:nvPr/>
        </p:nvSpPr>
        <p:spPr>
          <a:xfrm>
            <a:off x="4634865" y="5627370"/>
            <a:ext cx="508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400">
                <a:solidFill>
                  <a:srgbClr val="00B050"/>
                </a:solidFill>
                <a:sym typeface="+mn-ea"/>
              </a:rPr>
              <a:t>✔</a:t>
            </a:r>
            <a:endParaRPr lang="en-US" sz="240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8" grpId="0"/>
      <p:bldP spid="9" grpId="0"/>
      <p:bldP spid="9" grpId="1"/>
      <p:bldP spid="10" grpId="0"/>
      <p:bldP spid="10" grpId="1"/>
      <p:bldP spid="11" grpId="0"/>
      <p:bldP spid="11" grpId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Case 1: Initial Point is given</a:t>
            </a:r>
          </a:p>
        </p:txBody>
      </p:sp>
      <p:graphicFrame>
        <p:nvGraphicFramePr>
          <p:cNvPr id="4" name="Table 3"/>
          <p:cNvGraphicFramePr/>
          <p:nvPr>
            <p:custDataLst>
              <p:tags r:id="rId1"/>
            </p:custDataLst>
          </p:nvPr>
        </p:nvGraphicFramePr>
        <p:xfrm>
          <a:off x="1838325" y="3429000"/>
          <a:ext cx="4269740" cy="1524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674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674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674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6743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 Box 4"/>
          <p:cNvSpPr txBox="1"/>
          <p:nvPr/>
        </p:nvSpPr>
        <p:spPr>
          <a:xfrm>
            <a:off x="996950" y="1616075"/>
            <a:ext cx="1040574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400"/>
              <a:t>Apply region growing on the following image with initial point at </a:t>
            </a:r>
            <a:r>
              <a:rPr lang="en-US" sz="2400">
                <a:solidFill>
                  <a:schemeClr val="tx1"/>
                </a:solidFill>
              </a:rPr>
              <a:t>(2, 2)</a:t>
            </a:r>
            <a:r>
              <a:rPr lang="en-US" sz="2400"/>
              <a:t> and threshold value as 2. Use 4-connectivity.</a:t>
            </a:r>
          </a:p>
        </p:txBody>
      </p:sp>
      <p:graphicFrame>
        <p:nvGraphicFramePr>
          <p:cNvPr id="6" name="Table 5"/>
          <p:cNvGraphicFramePr/>
          <p:nvPr>
            <p:custDataLst>
              <p:tags r:id="rId2"/>
            </p:custDataLst>
          </p:nvPr>
        </p:nvGraphicFramePr>
        <p:xfrm>
          <a:off x="1838325" y="3048000"/>
          <a:ext cx="4279900" cy="381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699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699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699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699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" name="Table 6"/>
          <p:cNvGraphicFramePr/>
          <p:nvPr>
            <p:custDataLst>
              <p:tags r:id="rId3"/>
            </p:custDataLst>
          </p:nvPr>
        </p:nvGraphicFramePr>
        <p:xfrm>
          <a:off x="1313815" y="3429000"/>
          <a:ext cx="524510" cy="1524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245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" name="Text Box 2"/>
          <p:cNvSpPr txBox="1"/>
          <p:nvPr/>
        </p:nvSpPr>
        <p:spPr>
          <a:xfrm>
            <a:off x="8157845" y="3429000"/>
            <a:ext cx="22688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/>
              <a:t>T=2</a:t>
            </a:r>
          </a:p>
        </p:txBody>
      </p:sp>
      <p:sp>
        <p:nvSpPr>
          <p:cNvPr id="8" name="Text Box 7"/>
          <p:cNvSpPr txBox="1"/>
          <p:nvPr/>
        </p:nvSpPr>
        <p:spPr>
          <a:xfrm>
            <a:off x="8157845" y="4182110"/>
            <a:ext cx="22688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/>
              <a:t>4-Connectivity</a:t>
            </a:r>
          </a:p>
        </p:txBody>
      </p:sp>
      <p:sp>
        <p:nvSpPr>
          <p:cNvPr id="9" name="Text Box 8"/>
          <p:cNvSpPr txBox="1"/>
          <p:nvPr/>
        </p:nvSpPr>
        <p:spPr>
          <a:xfrm>
            <a:off x="1838325" y="5627370"/>
            <a:ext cx="139827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ym typeface="+mn-ea"/>
              </a:rPr>
              <a:t>|7-6|=1</a:t>
            </a:r>
            <a:endParaRPr lang="en-US" sz="2400"/>
          </a:p>
        </p:txBody>
      </p:sp>
      <p:sp>
        <p:nvSpPr>
          <p:cNvPr id="10" name="Text Box 9"/>
          <p:cNvSpPr txBox="1"/>
          <p:nvPr/>
        </p:nvSpPr>
        <p:spPr>
          <a:xfrm>
            <a:off x="3236595" y="5627370"/>
            <a:ext cx="139827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400"/>
              <a:t>&lt;=2</a:t>
            </a:r>
          </a:p>
        </p:txBody>
      </p:sp>
      <p:sp>
        <p:nvSpPr>
          <p:cNvPr id="11" name="Text Box 10"/>
          <p:cNvSpPr txBox="1"/>
          <p:nvPr/>
        </p:nvSpPr>
        <p:spPr>
          <a:xfrm>
            <a:off x="4634865" y="5627370"/>
            <a:ext cx="508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400">
                <a:solidFill>
                  <a:srgbClr val="00B050"/>
                </a:solidFill>
                <a:sym typeface="+mn-ea"/>
              </a:rPr>
              <a:t>✔</a:t>
            </a:r>
            <a:endParaRPr lang="en-US" sz="240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Case 1: Initial Point is given</a:t>
            </a:r>
          </a:p>
        </p:txBody>
      </p:sp>
      <p:graphicFrame>
        <p:nvGraphicFramePr>
          <p:cNvPr id="4" name="Table 3"/>
          <p:cNvGraphicFramePr/>
          <p:nvPr>
            <p:custDataLst>
              <p:tags r:id="rId1"/>
            </p:custDataLst>
          </p:nvPr>
        </p:nvGraphicFramePr>
        <p:xfrm>
          <a:off x="1838325" y="3429000"/>
          <a:ext cx="4269740" cy="1524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674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674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674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6743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 Box 4"/>
          <p:cNvSpPr txBox="1"/>
          <p:nvPr/>
        </p:nvSpPr>
        <p:spPr>
          <a:xfrm>
            <a:off x="996950" y="1616075"/>
            <a:ext cx="1040574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400"/>
              <a:t>Apply region growing on the following image with initial point at </a:t>
            </a:r>
            <a:r>
              <a:rPr lang="en-US" sz="2400">
                <a:solidFill>
                  <a:schemeClr val="tx1"/>
                </a:solidFill>
              </a:rPr>
              <a:t>(2, 2)</a:t>
            </a:r>
            <a:r>
              <a:rPr lang="en-US" sz="2400"/>
              <a:t> and threshold value as 2. Use 4-connectivity.</a:t>
            </a:r>
          </a:p>
        </p:txBody>
      </p:sp>
      <p:graphicFrame>
        <p:nvGraphicFramePr>
          <p:cNvPr id="6" name="Table 5"/>
          <p:cNvGraphicFramePr/>
          <p:nvPr>
            <p:custDataLst>
              <p:tags r:id="rId2"/>
            </p:custDataLst>
          </p:nvPr>
        </p:nvGraphicFramePr>
        <p:xfrm>
          <a:off x="1838325" y="3048000"/>
          <a:ext cx="4279900" cy="381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699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699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699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699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" name="Table 6"/>
          <p:cNvGraphicFramePr/>
          <p:nvPr>
            <p:custDataLst>
              <p:tags r:id="rId3"/>
            </p:custDataLst>
          </p:nvPr>
        </p:nvGraphicFramePr>
        <p:xfrm>
          <a:off x="1313815" y="3429000"/>
          <a:ext cx="524510" cy="1524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245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" name="Text Box 2"/>
          <p:cNvSpPr txBox="1"/>
          <p:nvPr/>
        </p:nvSpPr>
        <p:spPr>
          <a:xfrm>
            <a:off x="8157845" y="3429000"/>
            <a:ext cx="22688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/>
              <a:t>T=2</a:t>
            </a:r>
          </a:p>
        </p:txBody>
      </p:sp>
      <p:sp>
        <p:nvSpPr>
          <p:cNvPr id="8" name="Text Box 7"/>
          <p:cNvSpPr txBox="1"/>
          <p:nvPr/>
        </p:nvSpPr>
        <p:spPr>
          <a:xfrm>
            <a:off x="8157845" y="4182110"/>
            <a:ext cx="22688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/>
              <a:t>4-Connectivity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Case 1: Initial Point is given</a:t>
            </a:r>
          </a:p>
        </p:txBody>
      </p:sp>
      <p:graphicFrame>
        <p:nvGraphicFramePr>
          <p:cNvPr id="4" name="Table 3"/>
          <p:cNvGraphicFramePr/>
          <p:nvPr>
            <p:custDataLst>
              <p:tags r:id="rId1"/>
            </p:custDataLst>
          </p:nvPr>
        </p:nvGraphicFramePr>
        <p:xfrm>
          <a:off x="1838325" y="3429000"/>
          <a:ext cx="4269740" cy="1524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674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674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674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6743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 Box 4"/>
          <p:cNvSpPr txBox="1"/>
          <p:nvPr/>
        </p:nvSpPr>
        <p:spPr>
          <a:xfrm>
            <a:off x="996950" y="1616075"/>
            <a:ext cx="1040574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400"/>
              <a:t>Apply region growing on the following image with initial point at </a:t>
            </a:r>
            <a:r>
              <a:rPr lang="en-US" sz="2400">
                <a:solidFill>
                  <a:schemeClr val="tx1"/>
                </a:solidFill>
              </a:rPr>
              <a:t>(2, 2)</a:t>
            </a:r>
            <a:r>
              <a:rPr lang="en-US" sz="2400"/>
              <a:t> and threshold value as 2. Use 4-connectivity.</a:t>
            </a:r>
          </a:p>
        </p:txBody>
      </p:sp>
      <p:graphicFrame>
        <p:nvGraphicFramePr>
          <p:cNvPr id="6" name="Table 5"/>
          <p:cNvGraphicFramePr/>
          <p:nvPr>
            <p:custDataLst>
              <p:tags r:id="rId2"/>
            </p:custDataLst>
          </p:nvPr>
        </p:nvGraphicFramePr>
        <p:xfrm>
          <a:off x="1838325" y="3048000"/>
          <a:ext cx="4279900" cy="381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699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699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699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699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" name="Table 6"/>
          <p:cNvGraphicFramePr/>
          <p:nvPr>
            <p:custDataLst>
              <p:tags r:id="rId3"/>
            </p:custDataLst>
          </p:nvPr>
        </p:nvGraphicFramePr>
        <p:xfrm>
          <a:off x="1313815" y="3429000"/>
          <a:ext cx="524510" cy="1524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245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" name="Text Box 2"/>
          <p:cNvSpPr txBox="1"/>
          <p:nvPr/>
        </p:nvSpPr>
        <p:spPr>
          <a:xfrm>
            <a:off x="8157845" y="3429000"/>
            <a:ext cx="22688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/>
              <a:t>T=2</a:t>
            </a:r>
          </a:p>
        </p:txBody>
      </p:sp>
      <p:sp>
        <p:nvSpPr>
          <p:cNvPr id="8" name="Text Box 7"/>
          <p:cNvSpPr txBox="1"/>
          <p:nvPr/>
        </p:nvSpPr>
        <p:spPr>
          <a:xfrm>
            <a:off x="8157845" y="4182110"/>
            <a:ext cx="22688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/>
              <a:t>4-Connectivity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Case 1: Initial Point is given</a:t>
            </a:r>
          </a:p>
        </p:txBody>
      </p:sp>
      <p:graphicFrame>
        <p:nvGraphicFramePr>
          <p:cNvPr id="4" name="Table 3"/>
          <p:cNvGraphicFramePr/>
          <p:nvPr>
            <p:custDataLst>
              <p:tags r:id="rId1"/>
            </p:custDataLst>
          </p:nvPr>
        </p:nvGraphicFramePr>
        <p:xfrm>
          <a:off x="1838325" y="3429000"/>
          <a:ext cx="4269740" cy="1524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674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674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674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6743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 Box 4"/>
          <p:cNvSpPr txBox="1"/>
          <p:nvPr/>
        </p:nvSpPr>
        <p:spPr>
          <a:xfrm>
            <a:off x="996950" y="1616075"/>
            <a:ext cx="1040574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400"/>
              <a:t>Apply region growing on the following image with initial point at </a:t>
            </a:r>
            <a:r>
              <a:rPr lang="en-US" sz="2400">
                <a:solidFill>
                  <a:schemeClr val="tx1"/>
                </a:solidFill>
              </a:rPr>
              <a:t>(2, 2)</a:t>
            </a:r>
            <a:r>
              <a:rPr lang="en-US" sz="2400"/>
              <a:t> and threshold value as 2. Use 4-connectivity.</a:t>
            </a:r>
          </a:p>
        </p:txBody>
      </p:sp>
      <p:graphicFrame>
        <p:nvGraphicFramePr>
          <p:cNvPr id="6" name="Table 5"/>
          <p:cNvGraphicFramePr/>
          <p:nvPr>
            <p:custDataLst>
              <p:tags r:id="rId2"/>
            </p:custDataLst>
          </p:nvPr>
        </p:nvGraphicFramePr>
        <p:xfrm>
          <a:off x="1838325" y="3048000"/>
          <a:ext cx="4279900" cy="381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699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699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699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699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" name="Table 6"/>
          <p:cNvGraphicFramePr/>
          <p:nvPr>
            <p:custDataLst>
              <p:tags r:id="rId3"/>
            </p:custDataLst>
          </p:nvPr>
        </p:nvGraphicFramePr>
        <p:xfrm>
          <a:off x="1313815" y="3429000"/>
          <a:ext cx="524510" cy="1524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245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" name="Text Box 2"/>
          <p:cNvSpPr txBox="1"/>
          <p:nvPr/>
        </p:nvSpPr>
        <p:spPr>
          <a:xfrm>
            <a:off x="8157845" y="3429000"/>
            <a:ext cx="22688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/>
              <a:t>T=2</a:t>
            </a:r>
          </a:p>
        </p:txBody>
      </p:sp>
      <p:sp>
        <p:nvSpPr>
          <p:cNvPr id="8" name="Text Box 7"/>
          <p:cNvSpPr txBox="1"/>
          <p:nvPr/>
        </p:nvSpPr>
        <p:spPr>
          <a:xfrm>
            <a:off x="8157845" y="4182110"/>
            <a:ext cx="22688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/>
              <a:t>4-Connectivity</a:t>
            </a:r>
          </a:p>
        </p:txBody>
      </p:sp>
      <p:sp>
        <p:nvSpPr>
          <p:cNvPr id="12" name="Text Box 11"/>
          <p:cNvSpPr txBox="1"/>
          <p:nvPr/>
        </p:nvSpPr>
        <p:spPr>
          <a:xfrm>
            <a:off x="1838325" y="5627370"/>
            <a:ext cx="139827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/>
              <a:t>|2-5|=3</a:t>
            </a:r>
          </a:p>
        </p:txBody>
      </p:sp>
      <p:sp>
        <p:nvSpPr>
          <p:cNvPr id="13" name="Text Box 12"/>
          <p:cNvSpPr txBox="1"/>
          <p:nvPr/>
        </p:nvSpPr>
        <p:spPr>
          <a:xfrm>
            <a:off x="3236595" y="5627370"/>
            <a:ext cx="139827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400"/>
              <a:t>&lt;=2</a:t>
            </a:r>
          </a:p>
        </p:txBody>
      </p:sp>
      <p:sp>
        <p:nvSpPr>
          <p:cNvPr id="14" name="Text Box 13"/>
          <p:cNvSpPr txBox="1"/>
          <p:nvPr/>
        </p:nvSpPr>
        <p:spPr>
          <a:xfrm>
            <a:off x="4634865" y="5627370"/>
            <a:ext cx="508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400">
                <a:solidFill>
                  <a:srgbClr val="FF0000"/>
                </a:solidFill>
              </a:rPr>
              <a:t>X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8" grpId="0"/>
      <p:bldP spid="12" grpId="0"/>
      <p:bldP spid="12" grpId="1"/>
      <p:bldP spid="13" grpId="0"/>
      <p:bldP spid="13" grpId="1"/>
      <p:bldP spid="14" grpId="0"/>
      <p:bldP spid="14" grpId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Case 1: Initial Point is given</a:t>
            </a:r>
          </a:p>
        </p:txBody>
      </p:sp>
      <p:graphicFrame>
        <p:nvGraphicFramePr>
          <p:cNvPr id="4" name="Table 3"/>
          <p:cNvGraphicFramePr/>
          <p:nvPr>
            <p:custDataLst>
              <p:tags r:id="rId1"/>
            </p:custDataLst>
          </p:nvPr>
        </p:nvGraphicFramePr>
        <p:xfrm>
          <a:off x="1838325" y="3429000"/>
          <a:ext cx="4269740" cy="1524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674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674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674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6743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 Box 4"/>
          <p:cNvSpPr txBox="1"/>
          <p:nvPr/>
        </p:nvSpPr>
        <p:spPr>
          <a:xfrm>
            <a:off x="996950" y="1616075"/>
            <a:ext cx="1040574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400"/>
              <a:t>Apply region growing on the following image with initial point at </a:t>
            </a:r>
            <a:r>
              <a:rPr lang="en-US" sz="2400">
                <a:solidFill>
                  <a:schemeClr val="tx1"/>
                </a:solidFill>
              </a:rPr>
              <a:t>(2, 2)</a:t>
            </a:r>
            <a:r>
              <a:rPr lang="en-US" sz="2400"/>
              <a:t> and threshold value as 2. Use 4-connectivity.</a:t>
            </a:r>
          </a:p>
        </p:txBody>
      </p:sp>
      <p:graphicFrame>
        <p:nvGraphicFramePr>
          <p:cNvPr id="6" name="Table 5"/>
          <p:cNvGraphicFramePr/>
          <p:nvPr>
            <p:custDataLst>
              <p:tags r:id="rId2"/>
            </p:custDataLst>
          </p:nvPr>
        </p:nvGraphicFramePr>
        <p:xfrm>
          <a:off x="1838325" y="3048000"/>
          <a:ext cx="4279900" cy="381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699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699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699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699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" name="Table 6"/>
          <p:cNvGraphicFramePr/>
          <p:nvPr>
            <p:custDataLst>
              <p:tags r:id="rId3"/>
            </p:custDataLst>
          </p:nvPr>
        </p:nvGraphicFramePr>
        <p:xfrm>
          <a:off x="1313815" y="3429000"/>
          <a:ext cx="524510" cy="1524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245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" name="Text Box 2"/>
          <p:cNvSpPr txBox="1"/>
          <p:nvPr/>
        </p:nvSpPr>
        <p:spPr>
          <a:xfrm>
            <a:off x="8157845" y="3429000"/>
            <a:ext cx="22688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/>
              <a:t>T=2</a:t>
            </a:r>
          </a:p>
        </p:txBody>
      </p:sp>
      <p:sp>
        <p:nvSpPr>
          <p:cNvPr id="8" name="Text Box 7"/>
          <p:cNvSpPr txBox="1"/>
          <p:nvPr/>
        </p:nvSpPr>
        <p:spPr>
          <a:xfrm>
            <a:off x="8157845" y="4182110"/>
            <a:ext cx="22688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/>
              <a:t>4-Connectivity</a:t>
            </a:r>
          </a:p>
        </p:txBody>
      </p:sp>
      <p:sp>
        <p:nvSpPr>
          <p:cNvPr id="12" name="Text Box 11"/>
          <p:cNvSpPr txBox="1"/>
          <p:nvPr/>
        </p:nvSpPr>
        <p:spPr>
          <a:xfrm>
            <a:off x="1838325" y="5627370"/>
            <a:ext cx="139827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/>
              <a:t>|2-5|=3</a:t>
            </a:r>
          </a:p>
        </p:txBody>
      </p:sp>
      <p:sp>
        <p:nvSpPr>
          <p:cNvPr id="13" name="Text Box 12"/>
          <p:cNvSpPr txBox="1"/>
          <p:nvPr/>
        </p:nvSpPr>
        <p:spPr>
          <a:xfrm>
            <a:off x="3236595" y="5627370"/>
            <a:ext cx="139827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400"/>
              <a:t>&lt;=2</a:t>
            </a:r>
          </a:p>
        </p:txBody>
      </p:sp>
      <p:sp>
        <p:nvSpPr>
          <p:cNvPr id="14" name="Text Box 13"/>
          <p:cNvSpPr txBox="1"/>
          <p:nvPr/>
        </p:nvSpPr>
        <p:spPr>
          <a:xfrm>
            <a:off x="4634865" y="5627370"/>
            <a:ext cx="508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400">
                <a:solidFill>
                  <a:srgbClr val="FF0000"/>
                </a:solidFill>
              </a:rPr>
              <a:t>X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Case 1: Initial Point is given</a:t>
            </a:r>
          </a:p>
        </p:txBody>
      </p:sp>
      <p:graphicFrame>
        <p:nvGraphicFramePr>
          <p:cNvPr id="4" name="Table 3"/>
          <p:cNvGraphicFramePr/>
          <p:nvPr>
            <p:custDataLst>
              <p:tags r:id="rId1"/>
            </p:custDataLst>
          </p:nvPr>
        </p:nvGraphicFramePr>
        <p:xfrm>
          <a:off x="1838325" y="3429000"/>
          <a:ext cx="4269740" cy="1524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674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674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674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6743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 Box 4"/>
          <p:cNvSpPr txBox="1"/>
          <p:nvPr/>
        </p:nvSpPr>
        <p:spPr>
          <a:xfrm>
            <a:off x="996950" y="1616075"/>
            <a:ext cx="1040574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400"/>
              <a:t>Apply region growing on the following image with initial point at </a:t>
            </a:r>
            <a:r>
              <a:rPr lang="en-US" sz="2400">
                <a:solidFill>
                  <a:schemeClr val="tx1"/>
                </a:solidFill>
              </a:rPr>
              <a:t>(2, 2)</a:t>
            </a:r>
            <a:r>
              <a:rPr lang="en-US" sz="2400"/>
              <a:t> and threshold value as 2. Use 4-connectivity.</a:t>
            </a:r>
          </a:p>
        </p:txBody>
      </p:sp>
      <p:graphicFrame>
        <p:nvGraphicFramePr>
          <p:cNvPr id="6" name="Table 5"/>
          <p:cNvGraphicFramePr/>
          <p:nvPr>
            <p:custDataLst>
              <p:tags r:id="rId2"/>
            </p:custDataLst>
          </p:nvPr>
        </p:nvGraphicFramePr>
        <p:xfrm>
          <a:off x="1838325" y="3048000"/>
          <a:ext cx="4279900" cy="381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699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699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699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699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" name="Table 6"/>
          <p:cNvGraphicFramePr/>
          <p:nvPr>
            <p:custDataLst>
              <p:tags r:id="rId3"/>
            </p:custDataLst>
          </p:nvPr>
        </p:nvGraphicFramePr>
        <p:xfrm>
          <a:off x="1313815" y="3429000"/>
          <a:ext cx="524510" cy="1524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245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" name="Text Box 2"/>
          <p:cNvSpPr txBox="1"/>
          <p:nvPr/>
        </p:nvSpPr>
        <p:spPr>
          <a:xfrm>
            <a:off x="8157845" y="3429000"/>
            <a:ext cx="22688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/>
              <a:t>T=2</a:t>
            </a:r>
          </a:p>
        </p:txBody>
      </p:sp>
      <p:sp>
        <p:nvSpPr>
          <p:cNvPr id="8" name="Text Box 7"/>
          <p:cNvSpPr txBox="1"/>
          <p:nvPr/>
        </p:nvSpPr>
        <p:spPr>
          <a:xfrm>
            <a:off x="8157845" y="4182110"/>
            <a:ext cx="22688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/>
              <a:t>4-Connectivity</a:t>
            </a:r>
          </a:p>
        </p:txBody>
      </p:sp>
      <p:sp>
        <p:nvSpPr>
          <p:cNvPr id="12" name="Text Box 11"/>
          <p:cNvSpPr txBox="1"/>
          <p:nvPr/>
        </p:nvSpPr>
        <p:spPr>
          <a:xfrm>
            <a:off x="1838325" y="5627370"/>
            <a:ext cx="139827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/>
              <a:t>|1-5|=4</a:t>
            </a:r>
          </a:p>
        </p:txBody>
      </p:sp>
      <p:sp>
        <p:nvSpPr>
          <p:cNvPr id="13" name="Text Box 12"/>
          <p:cNvSpPr txBox="1"/>
          <p:nvPr/>
        </p:nvSpPr>
        <p:spPr>
          <a:xfrm>
            <a:off x="3236595" y="5627370"/>
            <a:ext cx="139827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400"/>
              <a:t>&lt;=2</a:t>
            </a:r>
          </a:p>
        </p:txBody>
      </p:sp>
      <p:sp>
        <p:nvSpPr>
          <p:cNvPr id="14" name="Text Box 13"/>
          <p:cNvSpPr txBox="1"/>
          <p:nvPr/>
        </p:nvSpPr>
        <p:spPr>
          <a:xfrm>
            <a:off x="4634865" y="5627370"/>
            <a:ext cx="508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400">
                <a:solidFill>
                  <a:srgbClr val="FF0000"/>
                </a:solidFill>
              </a:rPr>
              <a:t>X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8" grpId="0"/>
      <p:bldP spid="12" grpId="0"/>
      <p:bldP spid="12" grpId="1"/>
      <p:bldP spid="13" grpId="0"/>
      <p:bldP spid="13" grpId="1"/>
      <p:bldP spid="14" grpId="0"/>
      <p:bldP spid="14" grpId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Case 1: Initial Point is given</a:t>
            </a:r>
          </a:p>
        </p:txBody>
      </p:sp>
      <p:graphicFrame>
        <p:nvGraphicFramePr>
          <p:cNvPr id="4" name="Table 3"/>
          <p:cNvGraphicFramePr/>
          <p:nvPr>
            <p:custDataLst>
              <p:tags r:id="rId1"/>
            </p:custDataLst>
          </p:nvPr>
        </p:nvGraphicFramePr>
        <p:xfrm>
          <a:off x="1838325" y="3429000"/>
          <a:ext cx="4269740" cy="1524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674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674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674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6743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 Box 4"/>
          <p:cNvSpPr txBox="1"/>
          <p:nvPr/>
        </p:nvSpPr>
        <p:spPr>
          <a:xfrm>
            <a:off x="996950" y="1616075"/>
            <a:ext cx="1040574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400"/>
              <a:t>Apply region growing on the following image with initial point at </a:t>
            </a:r>
            <a:r>
              <a:rPr lang="en-US" sz="2400">
                <a:solidFill>
                  <a:schemeClr val="tx1"/>
                </a:solidFill>
              </a:rPr>
              <a:t>(2, 2)</a:t>
            </a:r>
            <a:r>
              <a:rPr lang="en-US" sz="2400"/>
              <a:t> and threshold value as 2. Use 4-connectivity.</a:t>
            </a:r>
          </a:p>
        </p:txBody>
      </p:sp>
      <p:graphicFrame>
        <p:nvGraphicFramePr>
          <p:cNvPr id="6" name="Table 5"/>
          <p:cNvGraphicFramePr/>
          <p:nvPr>
            <p:custDataLst>
              <p:tags r:id="rId2"/>
            </p:custDataLst>
          </p:nvPr>
        </p:nvGraphicFramePr>
        <p:xfrm>
          <a:off x="1838325" y="3048000"/>
          <a:ext cx="4279900" cy="381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699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699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699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699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" name="Table 6"/>
          <p:cNvGraphicFramePr/>
          <p:nvPr>
            <p:custDataLst>
              <p:tags r:id="rId3"/>
            </p:custDataLst>
          </p:nvPr>
        </p:nvGraphicFramePr>
        <p:xfrm>
          <a:off x="1313815" y="3429000"/>
          <a:ext cx="524510" cy="1524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245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" name="Text Box 2"/>
          <p:cNvSpPr txBox="1"/>
          <p:nvPr/>
        </p:nvSpPr>
        <p:spPr>
          <a:xfrm>
            <a:off x="8157845" y="3429000"/>
            <a:ext cx="22688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/>
              <a:t>T=2</a:t>
            </a:r>
          </a:p>
        </p:txBody>
      </p:sp>
      <p:sp>
        <p:nvSpPr>
          <p:cNvPr id="8" name="Text Box 7"/>
          <p:cNvSpPr txBox="1"/>
          <p:nvPr/>
        </p:nvSpPr>
        <p:spPr>
          <a:xfrm>
            <a:off x="8157845" y="4182110"/>
            <a:ext cx="22688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/>
              <a:t>4-Connectivity</a:t>
            </a:r>
          </a:p>
        </p:txBody>
      </p:sp>
      <p:sp>
        <p:nvSpPr>
          <p:cNvPr id="12" name="Text Box 11"/>
          <p:cNvSpPr txBox="1"/>
          <p:nvPr/>
        </p:nvSpPr>
        <p:spPr>
          <a:xfrm>
            <a:off x="1838325" y="5627370"/>
            <a:ext cx="139827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ym typeface="+mn-ea"/>
              </a:rPr>
              <a:t>|1-5|=4</a:t>
            </a:r>
            <a:endParaRPr lang="en-US" sz="2400"/>
          </a:p>
        </p:txBody>
      </p:sp>
      <p:sp>
        <p:nvSpPr>
          <p:cNvPr id="13" name="Text Box 12"/>
          <p:cNvSpPr txBox="1"/>
          <p:nvPr/>
        </p:nvSpPr>
        <p:spPr>
          <a:xfrm>
            <a:off x="3236595" y="5627370"/>
            <a:ext cx="139827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400"/>
              <a:t>&lt;=2</a:t>
            </a:r>
          </a:p>
        </p:txBody>
      </p:sp>
      <p:sp>
        <p:nvSpPr>
          <p:cNvPr id="14" name="Text Box 13"/>
          <p:cNvSpPr txBox="1"/>
          <p:nvPr/>
        </p:nvSpPr>
        <p:spPr>
          <a:xfrm>
            <a:off x="4634865" y="5627370"/>
            <a:ext cx="508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400">
                <a:solidFill>
                  <a:srgbClr val="FF0000"/>
                </a:solidFill>
              </a:rPr>
              <a:t>X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Case 1: Initial Point is given</a:t>
            </a:r>
          </a:p>
        </p:txBody>
      </p:sp>
      <p:graphicFrame>
        <p:nvGraphicFramePr>
          <p:cNvPr id="4" name="Table 3"/>
          <p:cNvGraphicFramePr/>
          <p:nvPr>
            <p:custDataLst>
              <p:tags r:id="rId1"/>
            </p:custDataLst>
          </p:nvPr>
        </p:nvGraphicFramePr>
        <p:xfrm>
          <a:off x="1838325" y="3429000"/>
          <a:ext cx="4269740" cy="1524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674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674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674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6743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 Box 4"/>
          <p:cNvSpPr txBox="1"/>
          <p:nvPr/>
        </p:nvSpPr>
        <p:spPr>
          <a:xfrm>
            <a:off x="996950" y="1616075"/>
            <a:ext cx="1040574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400"/>
              <a:t>Apply region growing on the following image with initial point at </a:t>
            </a:r>
            <a:r>
              <a:rPr lang="en-US" sz="2400">
                <a:solidFill>
                  <a:schemeClr val="tx1"/>
                </a:solidFill>
              </a:rPr>
              <a:t>(2, 2)</a:t>
            </a:r>
            <a:r>
              <a:rPr lang="en-US" sz="2400"/>
              <a:t> and threshold value as 2. Use 4-connectivity.</a:t>
            </a:r>
          </a:p>
        </p:txBody>
      </p:sp>
      <p:graphicFrame>
        <p:nvGraphicFramePr>
          <p:cNvPr id="6" name="Table 5"/>
          <p:cNvGraphicFramePr/>
          <p:nvPr>
            <p:custDataLst>
              <p:tags r:id="rId2"/>
            </p:custDataLst>
          </p:nvPr>
        </p:nvGraphicFramePr>
        <p:xfrm>
          <a:off x="1838325" y="3048000"/>
          <a:ext cx="4279900" cy="381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699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699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699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699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" name="Table 6"/>
          <p:cNvGraphicFramePr/>
          <p:nvPr>
            <p:custDataLst>
              <p:tags r:id="rId3"/>
            </p:custDataLst>
          </p:nvPr>
        </p:nvGraphicFramePr>
        <p:xfrm>
          <a:off x="1313815" y="3429000"/>
          <a:ext cx="524510" cy="1524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245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" name="Text Box 2"/>
          <p:cNvSpPr txBox="1"/>
          <p:nvPr/>
        </p:nvSpPr>
        <p:spPr>
          <a:xfrm>
            <a:off x="8157845" y="3429000"/>
            <a:ext cx="22688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/>
              <a:t>T=2</a:t>
            </a:r>
          </a:p>
        </p:txBody>
      </p:sp>
      <p:sp>
        <p:nvSpPr>
          <p:cNvPr id="8" name="Text Box 7"/>
          <p:cNvSpPr txBox="1"/>
          <p:nvPr/>
        </p:nvSpPr>
        <p:spPr>
          <a:xfrm>
            <a:off x="8157845" y="4182110"/>
            <a:ext cx="22688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/>
              <a:t>4-Connectivity</a:t>
            </a:r>
          </a:p>
        </p:txBody>
      </p:sp>
      <p:sp>
        <p:nvSpPr>
          <p:cNvPr id="12" name="Text Box 11"/>
          <p:cNvSpPr txBox="1"/>
          <p:nvPr/>
        </p:nvSpPr>
        <p:spPr>
          <a:xfrm>
            <a:off x="1838325" y="5627370"/>
            <a:ext cx="139827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/>
              <a:t>|6-5|=1</a:t>
            </a:r>
          </a:p>
        </p:txBody>
      </p:sp>
      <p:sp>
        <p:nvSpPr>
          <p:cNvPr id="13" name="Text Box 12"/>
          <p:cNvSpPr txBox="1"/>
          <p:nvPr/>
        </p:nvSpPr>
        <p:spPr>
          <a:xfrm>
            <a:off x="3236595" y="5627370"/>
            <a:ext cx="139827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400"/>
              <a:t>&lt;=2</a:t>
            </a:r>
          </a:p>
        </p:txBody>
      </p:sp>
      <p:sp>
        <p:nvSpPr>
          <p:cNvPr id="14" name="Text Box 13"/>
          <p:cNvSpPr txBox="1"/>
          <p:nvPr/>
        </p:nvSpPr>
        <p:spPr>
          <a:xfrm>
            <a:off x="4634865" y="5627370"/>
            <a:ext cx="508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400">
                <a:solidFill>
                  <a:srgbClr val="00B050"/>
                </a:solidFill>
                <a:sym typeface="+mn-ea"/>
              </a:rPr>
              <a:t>✔</a:t>
            </a:r>
            <a:endParaRPr lang="en-US" sz="240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8" grpId="0"/>
      <p:bldP spid="12" grpId="0"/>
      <p:bldP spid="12" grpId="1"/>
      <p:bldP spid="13" grpId="0"/>
      <p:bldP spid="13" grpId="1"/>
      <p:bldP spid="14" grpId="0"/>
      <p:bldP spid="14" grpId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Case 1: Initial Point is given</a:t>
            </a:r>
          </a:p>
        </p:txBody>
      </p:sp>
      <p:graphicFrame>
        <p:nvGraphicFramePr>
          <p:cNvPr id="4" name="Table 3"/>
          <p:cNvGraphicFramePr/>
          <p:nvPr>
            <p:custDataLst>
              <p:tags r:id="rId1"/>
            </p:custDataLst>
          </p:nvPr>
        </p:nvGraphicFramePr>
        <p:xfrm>
          <a:off x="1838325" y="3429000"/>
          <a:ext cx="4269740" cy="1524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674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674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674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6743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 Box 4"/>
          <p:cNvSpPr txBox="1"/>
          <p:nvPr/>
        </p:nvSpPr>
        <p:spPr>
          <a:xfrm>
            <a:off x="996950" y="1616075"/>
            <a:ext cx="1040574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400"/>
              <a:t>Apply region growing on the following image with initial point at </a:t>
            </a:r>
            <a:r>
              <a:rPr lang="en-US" sz="2400">
                <a:solidFill>
                  <a:schemeClr val="tx1"/>
                </a:solidFill>
              </a:rPr>
              <a:t>(2, 2)</a:t>
            </a:r>
            <a:r>
              <a:rPr lang="en-US" sz="2400"/>
              <a:t> and threshold value as 2. Use 4-connectivity.</a:t>
            </a:r>
          </a:p>
        </p:txBody>
      </p:sp>
      <p:graphicFrame>
        <p:nvGraphicFramePr>
          <p:cNvPr id="6" name="Table 5"/>
          <p:cNvGraphicFramePr/>
          <p:nvPr>
            <p:custDataLst>
              <p:tags r:id="rId2"/>
            </p:custDataLst>
          </p:nvPr>
        </p:nvGraphicFramePr>
        <p:xfrm>
          <a:off x="1838325" y="3048000"/>
          <a:ext cx="4279900" cy="381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699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699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699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699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" name="Table 6"/>
          <p:cNvGraphicFramePr/>
          <p:nvPr>
            <p:custDataLst>
              <p:tags r:id="rId3"/>
            </p:custDataLst>
          </p:nvPr>
        </p:nvGraphicFramePr>
        <p:xfrm>
          <a:off x="1313815" y="3429000"/>
          <a:ext cx="524510" cy="1524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245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" name="Text Box 2"/>
          <p:cNvSpPr txBox="1"/>
          <p:nvPr/>
        </p:nvSpPr>
        <p:spPr>
          <a:xfrm>
            <a:off x="8157845" y="3429000"/>
            <a:ext cx="22688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/>
              <a:t>T=2</a:t>
            </a:r>
          </a:p>
        </p:txBody>
      </p:sp>
      <p:sp>
        <p:nvSpPr>
          <p:cNvPr id="8" name="Text Box 7"/>
          <p:cNvSpPr txBox="1"/>
          <p:nvPr/>
        </p:nvSpPr>
        <p:spPr>
          <a:xfrm>
            <a:off x="8157845" y="4182110"/>
            <a:ext cx="22688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/>
              <a:t>4-Connectivity</a:t>
            </a:r>
          </a:p>
        </p:txBody>
      </p:sp>
      <p:sp>
        <p:nvSpPr>
          <p:cNvPr id="12" name="Text Box 11"/>
          <p:cNvSpPr txBox="1"/>
          <p:nvPr/>
        </p:nvSpPr>
        <p:spPr>
          <a:xfrm>
            <a:off x="1838325" y="5627370"/>
            <a:ext cx="139827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ym typeface="+mn-ea"/>
              </a:rPr>
              <a:t>|6-5|=1</a:t>
            </a:r>
            <a:endParaRPr lang="en-US" sz="2400"/>
          </a:p>
        </p:txBody>
      </p:sp>
      <p:sp>
        <p:nvSpPr>
          <p:cNvPr id="13" name="Text Box 12"/>
          <p:cNvSpPr txBox="1"/>
          <p:nvPr/>
        </p:nvSpPr>
        <p:spPr>
          <a:xfrm>
            <a:off x="3236595" y="5627370"/>
            <a:ext cx="139827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400"/>
              <a:t>&lt;=2</a:t>
            </a:r>
          </a:p>
        </p:txBody>
      </p:sp>
      <p:sp>
        <p:nvSpPr>
          <p:cNvPr id="14" name="Text Box 13"/>
          <p:cNvSpPr txBox="1"/>
          <p:nvPr/>
        </p:nvSpPr>
        <p:spPr>
          <a:xfrm>
            <a:off x="4634865" y="5627370"/>
            <a:ext cx="508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400">
                <a:solidFill>
                  <a:srgbClr val="00B050"/>
                </a:solidFill>
                <a:sym typeface="+mn-ea"/>
              </a:rPr>
              <a:t>✔</a:t>
            </a:r>
            <a:endParaRPr lang="en-US" sz="240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Case 1: Initial Point is given</a:t>
            </a:r>
          </a:p>
        </p:txBody>
      </p:sp>
      <p:graphicFrame>
        <p:nvGraphicFramePr>
          <p:cNvPr id="4" name="Table 3"/>
          <p:cNvGraphicFramePr/>
          <p:nvPr>
            <p:custDataLst>
              <p:tags r:id="rId1"/>
            </p:custDataLst>
          </p:nvPr>
        </p:nvGraphicFramePr>
        <p:xfrm>
          <a:off x="1838325" y="3429000"/>
          <a:ext cx="4269740" cy="1524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674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674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674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6743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 Box 4"/>
          <p:cNvSpPr txBox="1"/>
          <p:nvPr/>
        </p:nvSpPr>
        <p:spPr>
          <a:xfrm>
            <a:off x="996950" y="1616075"/>
            <a:ext cx="1040574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400"/>
              <a:t>Apply region growing on the following image with initial point at </a:t>
            </a:r>
            <a:r>
              <a:rPr lang="en-US" sz="2400">
                <a:solidFill>
                  <a:schemeClr val="tx1"/>
                </a:solidFill>
              </a:rPr>
              <a:t>(2, 2)</a:t>
            </a:r>
            <a:r>
              <a:rPr lang="en-US" sz="2400"/>
              <a:t> and threshold value as 2. Use 4-connectivity.</a:t>
            </a:r>
          </a:p>
        </p:txBody>
      </p:sp>
      <p:graphicFrame>
        <p:nvGraphicFramePr>
          <p:cNvPr id="6" name="Table 5"/>
          <p:cNvGraphicFramePr/>
          <p:nvPr>
            <p:custDataLst>
              <p:tags r:id="rId2"/>
            </p:custDataLst>
          </p:nvPr>
        </p:nvGraphicFramePr>
        <p:xfrm>
          <a:off x="1838325" y="3048000"/>
          <a:ext cx="4279900" cy="381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699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699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699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699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" name="Table 6"/>
          <p:cNvGraphicFramePr/>
          <p:nvPr>
            <p:custDataLst>
              <p:tags r:id="rId3"/>
            </p:custDataLst>
          </p:nvPr>
        </p:nvGraphicFramePr>
        <p:xfrm>
          <a:off x="1313815" y="3429000"/>
          <a:ext cx="524510" cy="1524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245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" name="Text Box 2"/>
          <p:cNvSpPr txBox="1"/>
          <p:nvPr/>
        </p:nvSpPr>
        <p:spPr>
          <a:xfrm>
            <a:off x="8157845" y="3429000"/>
            <a:ext cx="22688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/>
              <a:t>T=2</a:t>
            </a:r>
          </a:p>
        </p:txBody>
      </p:sp>
      <p:sp>
        <p:nvSpPr>
          <p:cNvPr id="8" name="Text Box 7"/>
          <p:cNvSpPr txBox="1"/>
          <p:nvPr/>
        </p:nvSpPr>
        <p:spPr>
          <a:xfrm>
            <a:off x="8157845" y="4182110"/>
            <a:ext cx="22688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/>
              <a:t>4-Connectivity</a:t>
            </a:r>
          </a:p>
        </p:txBody>
      </p:sp>
      <p:sp>
        <p:nvSpPr>
          <p:cNvPr id="12" name="Text Box 11"/>
          <p:cNvSpPr txBox="1"/>
          <p:nvPr/>
        </p:nvSpPr>
        <p:spPr>
          <a:xfrm>
            <a:off x="1838325" y="5627370"/>
            <a:ext cx="139827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/>
              <a:t>|4-5|=1</a:t>
            </a:r>
          </a:p>
        </p:txBody>
      </p:sp>
      <p:sp>
        <p:nvSpPr>
          <p:cNvPr id="13" name="Text Box 12"/>
          <p:cNvSpPr txBox="1"/>
          <p:nvPr/>
        </p:nvSpPr>
        <p:spPr>
          <a:xfrm>
            <a:off x="3236595" y="5627370"/>
            <a:ext cx="139827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400"/>
              <a:t>&lt;=2</a:t>
            </a:r>
          </a:p>
        </p:txBody>
      </p:sp>
      <p:sp>
        <p:nvSpPr>
          <p:cNvPr id="14" name="Text Box 13"/>
          <p:cNvSpPr txBox="1"/>
          <p:nvPr/>
        </p:nvSpPr>
        <p:spPr>
          <a:xfrm>
            <a:off x="4634865" y="5627370"/>
            <a:ext cx="508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400">
                <a:solidFill>
                  <a:srgbClr val="00B050"/>
                </a:solidFill>
                <a:sym typeface="+mn-ea"/>
              </a:rPr>
              <a:t>✔</a:t>
            </a:r>
            <a:endParaRPr lang="en-US" sz="2400">
              <a:solidFill>
                <a:srgbClr val="FF0000"/>
              </a:solidFill>
            </a:endParaRPr>
          </a:p>
        </p:txBody>
      </p:sp>
      <p:sp>
        <p:nvSpPr>
          <p:cNvPr id="9" name="Text Box 8"/>
          <p:cNvSpPr txBox="1"/>
          <p:nvPr/>
        </p:nvSpPr>
        <p:spPr>
          <a:xfrm>
            <a:off x="1965325" y="6214745"/>
            <a:ext cx="846137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/>
              <a:t>But 4 already red marked. So, it’ll not be accepted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8" grpId="0"/>
      <p:bldP spid="12" grpId="0"/>
      <p:bldP spid="12" grpId="1"/>
      <p:bldP spid="13" grpId="0"/>
      <p:bldP spid="13" grpId="1"/>
      <p:bldP spid="14" grpId="0"/>
      <p:bldP spid="14" grpId="1"/>
      <p:bldP spid="9" grpId="0"/>
      <p:bldP spid="9" grpId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Case 1: Initial Point is given</a:t>
            </a:r>
          </a:p>
        </p:txBody>
      </p:sp>
      <p:graphicFrame>
        <p:nvGraphicFramePr>
          <p:cNvPr id="4" name="Table 3"/>
          <p:cNvGraphicFramePr/>
          <p:nvPr>
            <p:custDataLst>
              <p:tags r:id="rId1"/>
            </p:custDataLst>
          </p:nvPr>
        </p:nvGraphicFramePr>
        <p:xfrm>
          <a:off x="1838325" y="3429000"/>
          <a:ext cx="4269740" cy="1524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674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674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674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6743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 Box 4"/>
          <p:cNvSpPr txBox="1"/>
          <p:nvPr/>
        </p:nvSpPr>
        <p:spPr>
          <a:xfrm>
            <a:off x="996950" y="1616075"/>
            <a:ext cx="1040574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400"/>
              <a:t>Apply region growing on the following image with initial point at </a:t>
            </a:r>
            <a:r>
              <a:rPr lang="en-US" sz="2400">
                <a:solidFill>
                  <a:schemeClr val="tx1"/>
                </a:solidFill>
              </a:rPr>
              <a:t>(2, 2)</a:t>
            </a:r>
            <a:r>
              <a:rPr lang="en-US" sz="2400"/>
              <a:t> and threshold value as 2. Use 4-connectivity.</a:t>
            </a:r>
          </a:p>
        </p:txBody>
      </p:sp>
      <p:graphicFrame>
        <p:nvGraphicFramePr>
          <p:cNvPr id="6" name="Table 5"/>
          <p:cNvGraphicFramePr/>
          <p:nvPr>
            <p:custDataLst>
              <p:tags r:id="rId2"/>
            </p:custDataLst>
          </p:nvPr>
        </p:nvGraphicFramePr>
        <p:xfrm>
          <a:off x="1838325" y="3048000"/>
          <a:ext cx="4279900" cy="381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699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699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699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699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" name="Table 6"/>
          <p:cNvGraphicFramePr/>
          <p:nvPr>
            <p:custDataLst>
              <p:tags r:id="rId3"/>
            </p:custDataLst>
          </p:nvPr>
        </p:nvGraphicFramePr>
        <p:xfrm>
          <a:off x="1313815" y="3429000"/>
          <a:ext cx="524510" cy="1524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245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" name="Text Box 2"/>
          <p:cNvSpPr txBox="1"/>
          <p:nvPr/>
        </p:nvSpPr>
        <p:spPr>
          <a:xfrm>
            <a:off x="8157845" y="3429000"/>
            <a:ext cx="22688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/>
              <a:t>T=2</a:t>
            </a:r>
          </a:p>
        </p:txBody>
      </p:sp>
      <p:sp>
        <p:nvSpPr>
          <p:cNvPr id="8" name="Text Box 7"/>
          <p:cNvSpPr txBox="1"/>
          <p:nvPr/>
        </p:nvSpPr>
        <p:spPr>
          <a:xfrm>
            <a:off x="8157845" y="4182110"/>
            <a:ext cx="22688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/>
              <a:t>4-Connectivity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Case 1: Initial Point is given</a:t>
            </a:r>
          </a:p>
        </p:txBody>
      </p:sp>
      <p:graphicFrame>
        <p:nvGraphicFramePr>
          <p:cNvPr id="4" name="Table 3"/>
          <p:cNvGraphicFramePr/>
          <p:nvPr>
            <p:custDataLst>
              <p:tags r:id="rId1"/>
            </p:custDataLst>
          </p:nvPr>
        </p:nvGraphicFramePr>
        <p:xfrm>
          <a:off x="1838325" y="3429000"/>
          <a:ext cx="4269740" cy="1524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674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674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674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6743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 Box 4"/>
          <p:cNvSpPr txBox="1"/>
          <p:nvPr/>
        </p:nvSpPr>
        <p:spPr>
          <a:xfrm>
            <a:off x="996950" y="1616075"/>
            <a:ext cx="1040574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400"/>
              <a:t>Apply region growing on the following image with initial point at </a:t>
            </a:r>
            <a:r>
              <a:rPr lang="en-US" sz="2400">
                <a:solidFill>
                  <a:schemeClr val="tx1"/>
                </a:solidFill>
              </a:rPr>
              <a:t>(2, 2)</a:t>
            </a:r>
            <a:r>
              <a:rPr lang="en-US" sz="2400"/>
              <a:t> and threshold value as 2. Use 4-connectivity.</a:t>
            </a:r>
          </a:p>
        </p:txBody>
      </p:sp>
      <p:graphicFrame>
        <p:nvGraphicFramePr>
          <p:cNvPr id="6" name="Table 5"/>
          <p:cNvGraphicFramePr/>
          <p:nvPr>
            <p:custDataLst>
              <p:tags r:id="rId2"/>
            </p:custDataLst>
          </p:nvPr>
        </p:nvGraphicFramePr>
        <p:xfrm>
          <a:off x="1838325" y="3048000"/>
          <a:ext cx="4279900" cy="381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699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699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699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699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" name="Table 6"/>
          <p:cNvGraphicFramePr/>
          <p:nvPr>
            <p:custDataLst>
              <p:tags r:id="rId3"/>
            </p:custDataLst>
          </p:nvPr>
        </p:nvGraphicFramePr>
        <p:xfrm>
          <a:off x="1313815" y="3429000"/>
          <a:ext cx="524510" cy="1524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245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" name="Text Box 2"/>
          <p:cNvSpPr txBox="1"/>
          <p:nvPr/>
        </p:nvSpPr>
        <p:spPr>
          <a:xfrm>
            <a:off x="8157845" y="3429000"/>
            <a:ext cx="22688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/>
              <a:t>T=2</a:t>
            </a:r>
          </a:p>
        </p:txBody>
      </p:sp>
      <p:sp>
        <p:nvSpPr>
          <p:cNvPr id="8" name="Text Box 7"/>
          <p:cNvSpPr txBox="1"/>
          <p:nvPr/>
        </p:nvSpPr>
        <p:spPr>
          <a:xfrm>
            <a:off x="8157845" y="4182110"/>
            <a:ext cx="22688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/>
              <a:t>4-Connectivity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Case 1: Initial Point is given</a:t>
            </a:r>
          </a:p>
        </p:txBody>
      </p:sp>
      <p:graphicFrame>
        <p:nvGraphicFramePr>
          <p:cNvPr id="4" name="Table 3"/>
          <p:cNvGraphicFramePr/>
          <p:nvPr>
            <p:custDataLst>
              <p:tags r:id="rId1"/>
            </p:custDataLst>
          </p:nvPr>
        </p:nvGraphicFramePr>
        <p:xfrm>
          <a:off x="1838325" y="3429000"/>
          <a:ext cx="4269740" cy="1524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674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674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674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6743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 Box 4"/>
          <p:cNvSpPr txBox="1"/>
          <p:nvPr/>
        </p:nvSpPr>
        <p:spPr>
          <a:xfrm>
            <a:off x="996950" y="1616075"/>
            <a:ext cx="1040574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400"/>
              <a:t>Apply region growing on the following image with initial point at </a:t>
            </a:r>
            <a:r>
              <a:rPr lang="en-US" sz="2400">
                <a:solidFill>
                  <a:schemeClr val="tx1"/>
                </a:solidFill>
              </a:rPr>
              <a:t>(2, 2)</a:t>
            </a:r>
            <a:r>
              <a:rPr lang="en-US" sz="2400"/>
              <a:t> and threshold value as 2. Use 4-connectivity.</a:t>
            </a:r>
          </a:p>
        </p:txBody>
      </p:sp>
      <p:graphicFrame>
        <p:nvGraphicFramePr>
          <p:cNvPr id="6" name="Table 5"/>
          <p:cNvGraphicFramePr/>
          <p:nvPr>
            <p:custDataLst>
              <p:tags r:id="rId2"/>
            </p:custDataLst>
          </p:nvPr>
        </p:nvGraphicFramePr>
        <p:xfrm>
          <a:off x="1838325" y="3048000"/>
          <a:ext cx="4279900" cy="381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699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699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699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699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" name="Table 6"/>
          <p:cNvGraphicFramePr/>
          <p:nvPr>
            <p:custDataLst>
              <p:tags r:id="rId3"/>
            </p:custDataLst>
          </p:nvPr>
        </p:nvGraphicFramePr>
        <p:xfrm>
          <a:off x="1313815" y="3429000"/>
          <a:ext cx="524510" cy="1524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245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" name="Text Box 2"/>
          <p:cNvSpPr txBox="1"/>
          <p:nvPr/>
        </p:nvSpPr>
        <p:spPr>
          <a:xfrm>
            <a:off x="8157845" y="3429000"/>
            <a:ext cx="22688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/>
              <a:t>T=2</a:t>
            </a:r>
          </a:p>
        </p:txBody>
      </p:sp>
      <p:sp>
        <p:nvSpPr>
          <p:cNvPr id="8" name="Text Box 7"/>
          <p:cNvSpPr txBox="1"/>
          <p:nvPr/>
        </p:nvSpPr>
        <p:spPr>
          <a:xfrm>
            <a:off x="8157845" y="4182110"/>
            <a:ext cx="22688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/>
              <a:t>4-Connectivity</a:t>
            </a:r>
          </a:p>
        </p:txBody>
      </p:sp>
      <p:sp>
        <p:nvSpPr>
          <p:cNvPr id="12" name="Text Box 11"/>
          <p:cNvSpPr txBox="1"/>
          <p:nvPr/>
        </p:nvSpPr>
        <p:spPr>
          <a:xfrm>
            <a:off x="1838325" y="5627370"/>
            <a:ext cx="139827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/>
              <a:t>|2-5|=3</a:t>
            </a:r>
          </a:p>
        </p:txBody>
      </p:sp>
      <p:sp>
        <p:nvSpPr>
          <p:cNvPr id="13" name="Text Box 12"/>
          <p:cNvSpPr txBox="1"/>
          <p:nvPr/>
        </p:nvSpPr>
        <p:spPr>
          <a:xfrm>
            <a:off x="3236595" y="5627370"/>
            <a:ext cx="139827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400"/>
              <a:t>&lt;=2</a:t>
            </a:r>
          </a:p>
        </p:txBody>
      </p:sp>
      <p:sp>
        <p:nvSpPr>
          <p:cNvPr id="14" name="Text Box 13"/>
          <p:cNvSpPr txBox="1"/>
          <p:nvPr/>
        </p:nvSpPr>
        <p:spPr>
          <a:xfrm>
            <a:off x="4634865" y="5627370"/>
            <a:ext cx="508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400">
                <a:solidFill>
                  <a:srgbClr val="FF0000"/>
                </a:solidFill>
              </a:rPr>
              <a:t>X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8" grpId="0"/>
      <p:bldP spid="12" grpId="0"/>
      <p:bldP spid="12" grpId="1"/>
      <p:bldP spid="13" grpId="0"/>
      <p:bldP spid="13" grpId="1"/>
      <p:bldP spid="14" grpId="0"/>
      <p:bldP spid="14" grpId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Case 1: Initial Point is given</a:t>
            </a:r>
          </a:p>
        </p:txBody>
      </p:sp>
      <p:graphicFrame>
        <p:nvGraphicFramePr>
          <p:cNvPr id="4" name="Table 3"/>
          <p:cNvGraphicFramePr/>
          <p:nvPr>
            <p:custDataLst>
              <p:tags r:id="rId1"/>
            </p:custDataLst>
          </p:nvPr>
        </p:nvGraphicFramePr>
        <p:xfrm>
          <a:off x="1838325" y="3429000"/>
          <a:ext cx="4269740" cy="1524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674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674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674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6743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 Box 4"/>
          <p:cNvSpPr txBox="1"/>
          <p:nvPr/>
        </p:nvSpPr>
        <p:spPr>
          <a:xfrm>
            <a:off x="996950" y="1616075"/>
            <a:ext cx="1040574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400"/>
              <a:t>Apply region growing on the following image with initial point at </a:t>
            </a:r>
            <a:r>
              <a:rPr lang="en-US" sz="2400">
                <a:solidFill>
                  <a:schemeClr val="tx1"/>
                </a:solidFill>
              </a:rPr>
              <a:t>(2, 2)</a:t>
            </a:r>
            <a:r>
              <a:rPr lang="en-US" sz="2400"/>
              <a:t> and threshold value as 2. Use 4-connectivity.</a:t>
            </a:r>
          </a:p>
        </p:txBody>
      </p:sp>
      <p:graphicFrame>
        <p:nvGraphicFramePr>
          <p:cNvPr id="6" name="Table 5"/>
          <p:cNvGraphicFramePr/>
          <p:nvPr>
            <p:custDataLst>
              <p:tags r:id="rId2"/>
            </p:custDataLst>
          </p:nvPr>
        </p:nvGraphicFramePr>
        <p:xfrm>
          <a:off x="1838325" y="3048000"/>
          <a:ext cx="4279900" cy="381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699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699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699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699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" name="Table 6"/>
          <p:cNvGraphicFramePr/>
          <p:nvPr>
            <p:custDataLst>
              <p:tags r:id="rId3"/>
            </p:custDataLst>
          </p:nvPr>
        </p:nvGraphicFramePr>
        <p:xfrm>
          <a:off x="1313815" y="3429000"/>
          <a:ext cx="524510" cy="1524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245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" name="Text Box 2"/>
          <p:cNvSpPr txBox="1"/>
          <p:nvPr/>
        </p:nvSpPr>
        <p:spPr>
          <a:xfrm>
            <a:off x="8157845" y="3429000"/>
            <a:ext cx="22688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/>
              <a:t>T=2</a:t>
            </a:r>
          </a:p>
        </p:txBody>
      </p:sp>
      <p:sp>
        <p:nvSpPr>
          <p:cNvPr id="8" name="Text Box 7"/>
          <p:cNvSpPr txBox="1"/>
          <p:nvPr/>
        </p:nvSpPr>
        <p:spPr>
          <a:xfrm>
            <a:off x="8157845" y="4182110"/>
            <a:ext cx="22688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/>
              <a:t>4-Connectivity</a:t>
            </a:r>
          </a:p>
        </p:txBody>
      </p:sp>
      <p:sp>
        <p:nvSpPr>
          <p:cNvPr id="12" name="Text Box 11"/>
          <p:cNvSpPr txBox="1"/>
          <p:nvPr/>
        </p:nvSpPr>
        <p:spPr>
          <a:xfrm>
            <a:off x="1838325" y="5627370"/>
            <a:ext cx="139827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/>
              <a:t>|2-5|=3</a:t>
            </a:r>
          </a:p>
        </p:txBody>
      </p:sp>
      <p:sp>
        <p:nvSpPr>
          <p:cNvPr id="13" name="Text Box 12"/>
          <p:cNvSpPr txBox="1"/>
          <p:nvPr/>
        </p:nvSpPr>
        <p:spPr>
          <a:xfrm>
            <a:off x="3236595" y="5627370"/>
            <a:ext cx="139827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400"/>
              <a:t>&lt;=2</a:t>
            </a:r>
          </a:p>
        </p:txBody>
      </p:sp>
      <p:sp>
        <p:nvSpPr>
          <p:cNvPr id="14" name="Text Box 13"/>
          <p:cNvSpPr txBox="1"/>
          <p:nvPr/>
        </p:nvSpPr>
        <p:spPr>
          <a:xfrm>
            <a:off x="4634865" y="5627370"/>
            <a:ext cx="508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400">
                <a:solidFill>
                  <a:srgbClr val="FF0000"/>
                </a:solidFill>
              </a:rPr>
              <a:t>X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Case 1: Initial Point is given</a:t>
            </a:r>
          </a:p>
        </p:txBody>
      </p:sp>
      <p:graphicFrame>
        <p:nvGraphicFramePr>
          <p:cNvPr id="4" name="Table 3"/>
          <p:cNvGraphicFramePr/>
          <p:nvPr>
            <p:custDataLst>
              <p:tags r:id="rId1"/>
            </p:custDataLst>
          </p:nvPr>
        </p:nvGraphicFramePr>
        <p:xfrm>
          <a:off x="1838325" y="3429000"/>
          <a:ext cx="4269740" cy="1524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674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674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674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6743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 Box 4"/>
          <p:cNvSpPr txBox="1"/>
          <p:nvPr/>
        </p:nvSpPr>
        <p:spPr>
          <a:xfrm>
            <a:off x="996950" y="1616075"/>
            <a:ext cx="1040574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400"/>
              <a:t>Apply region growing on the following image with initial point at </a:t>
            </a:r>
            <a:r>
              <a:rPr lang="en-US" sz="2400">
                <a:solidFill>
                  <a:schemeClr val="tx1"/>
                </a:solidFill>
              </a:rPr>
              <a:t>(2, 2)</a:t>
            </a:r>
            <a:r>
              <a:rPr lang="en-US" sz="2400"/>
              <a:t> and threshold value as 2. Use 4-connectivity.</a:t>
            </a:r>
          </a:p>
        </p:txBody>
      </p:sp>
      <p:graphicFrame>
        <p:nvGraphicFramePr>
          <p:cNvPr id="6" name="Table 5"/>
          <p:cNvGraphicFramePr/>
          <p:nvPr>
            <p:custDataLst>
              <p:tags r:id="rId2"/>
            </p:custDataLst>
          </p:nvPr>
        </p:nvGraphicFramePr>
        <p:xfrm>
          <a:off x="1838325" y="3048000"/>
          <a:ext cx="4279900" cy="381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699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699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699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699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" name="Table 6"/>
          <p:cNvGraphicFramePr/>
          <p:nvPr>
            <p:custDataLst>
              <p:tags r:id="rId3"/>
            </p:custDataLst>
          </p:nvPr>
        </p:nvGraphicFramePr>
        <p:xfrm>
          <a:off x="1313815" y="3429000"/>
          <a:ext cx="524510" cy="1524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245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" name="Text Box 2"/>
          <p:cNvSpPr txBox="1"/>
          <p:nvPr/>
        </p:nvSpPr>
        <p:spPr>
          <a:xfrm>
            <a:off x="8157845" y="3429000"/>
            <a:ext cx="22688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/>
              <a:t>T=2</a:t>
            </a:r>
          </a:p>
        </p:txBody>
      </p:sp>
      <p:sp>
        <p:nvSpPr>
          <p:cNvPr id="8" name="Text Box 7"/>
          <p:cNvSpPr txBox="1"/>
          <p:nvPr/>
        </p:nvSpPr>
        <p:spPr>
          <a:xfrm>
            <a:off x="8157845" y="4182110"/>
            <a:ext cx="22688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/>
              <a:t>4-Connectivity</a:t>
            </a:r>
          </a:p>
        </p:txBody>
      </p:sp>
      <p:sp>
        <p:nvSpPr>
          <p:cNvPr id="12" name="Text Box 11"/>
          <p:cNvSpPr txBox="1"/>
          <p:nvPr/>
        </p:nvSpPr>
        <p:spPr>
          <a:xfrm>
            <a:off x="1838325" y="5627370"/>
            <a:ext cx="139827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/>
              <a:t>|7-5|=2</a:t>
            </a:r>
          </a:p>
        </p:txBody>
      </p:sp>
      <p:sp>
        <p:nvSpPr>
          <p:cNvPr id="13" name="Text Box 12"/>
          <p:cNvSpPr txBox="1"/>
          <p:nvPr/>
        </p:nvSpPr>
        <p:spPr>
          <a:xfrm>
            <a:off x="3236595" y="5627370"/>
            <a:ext cx="139827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400"/>
              <a:t>&lt;=2</a:t>
            </a:r>
          </a:p>
        </p:txBody>
      </p:sp>
      <p:sp>
        <p:nvSpPr>
          <p:cNvPr id="14" name="Text Box 13"/>
          <p:cNvSpPr txBox="1"/>
          <p:nvPr/>
        </p:nvSpPr>
        <p:spPr>
          <a:xfrm>
            <a:off x="4634865" y="5627370"/>
            <a:ext cx="508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400">
                <a:solidFill>
                  <a:srgbClr val="00B050"/>
                </a:solidFill>
                <a:sym typeface="+mn-ea"/>
              </a:rPr>
              <a:t>✔</a:t>
            </a:r>
            <a:endParaRPr lang="en-US" sz="240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8" grpId="0"/>
      <p:bldP spid="12" grpId="0"/>
      <p:bldP spid="12" grpId="1"/>
      <p:bldP spid="13" grpId="0"/>
      <p:bldP spid="13" grpId="1"/>
      <p:bldP spid="14" grpId="0"/>
      <p:bldP spid="14" grpId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Case 1: Initial Point is given</a:t>
            </a:r>
          </a:p>
        </p:txBody>
      </p:sp>
      <p:graphicFrame>
        <p:nvGraphicFramePr>
          <p:cNvPr id="4" name="Table 3"/>
          <p:cNvGraphicFramePr/>
          <p:nvPr>
            <p:custDataLst>
              <p:tags r:id="rId1"/>
            </p:custDataLst>
          </p:nvPr>
        </p:nvGraphicFramePr>
        <p:xfrm>
          <a:off x="1838325" y="3429000"/>
          <a:ext cx="4269740" cy="1524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674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674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674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6743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 Box 4"/>
          <p:cNvSpPr txBox="1"/>
          <p:nvPr/>
        </p:nvSpPr>
        <p:spPr>
          <a:xfrm>
            <a:off x="996950" y="1616075"/>
            <a:ext cx="1040574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400"/>
              <a:t>Apply region growing on the following image with initial point at </a:t>
            </a:r>
            <a:r>
              <a:rPr lang="en-US" sz="2400">
                <a:solidFill>
                  <a:schemeClr val="tx1"/>
                </a:solidFill>
              </a:rPr>
              <a:t>(2, 2)</a:t>
            </a:r>
            <a:r>
              <a:rPr lang="en-US" sz="2400"/>
              <a:t> and threshold value as 2. Use 4-connectivity.</a:t>
            </a:r>
          </a:p>
        </p:txBody>
      </p:sp>
      <p:graphicFrame>
        <p:nvGraphicFramePr>
          <p:cNvPr id="6" name="Table 5"/>
          <p:cNvGraphicFramePr/>
          <p:nvPr>
            <p:custDataLst>
              <p:tags r:id="rId2"/>
            </p:custDataLst>
          </p:nvPr>
        </p:nvGraphicFramePr>
        <p:xfrm>
          <a:off x="1838325" y="3048000"/>
          <a:ext cx="4279900" cy="381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699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699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699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699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" name="Table 6"/>
          <p:cNvGraphicFramePr/>
          <p:nvPr>
            <p:custDataLst>
              <p:tags r:id="rId3"/>
            </p:custDataLst>
          </p:nvPr>
        </p:nvGraphicFramePr>
        <p:xfrm>
          <a:off x="1313815" y="3429000"/>
          <a:ext cx="524510" cy="1524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245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" name="Text Box 2"/>
          <p:cNvSpPr txBox="1"/>
          <p:nvPr/>
        </p:nvSpPr>
        <p:spPr>
          <a:xfrm>
            <a:off x="8157845" y="3429000"/>
            <a:ext cx="22688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/>
              <a:t>T=2</a:t>
            </a:r>
          </a:p>
        </p:txBody>
      </p:sp>
      <p:sp>
        <p:nvSpPr>
          <p:cNvPr id="8" name="Text Box 7"/>
          <p:cNvSpPr txBox="1"/>
          <p:nvPr/>
        </p:nvSpPr>
        <p:spPr>
          <a:xfrm>
            <a:off x="8157845" y="4182110"/>
            <a:ext cx="22688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/>
              <a:t>4-Connectivity</a:t>
            </a:r>
          </a:p>
        </p:txBody>
      </p:sp>
      <p:sp>
        <p:nvSpPr>
          <p:cNvPr id="12" name="Text Box 11"/>
          <p:cNvSpPr txBox="1"/>
          <p:nvPr/>
        </p:nvSpPr>
        <p:spPr>
          <a:xfrm>
            <a:off x="1838325" y="5627370"/>
            <a:ext cx="139827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ym typeface="+mn-ea"/>
              </a:rPr>
              <a:t>|7-5|=2</a:t>
            </a:r>
            <a:endParaRPr lang="en-US" sz="2400"/>
          </a:p>
        </p:txBody>
      </p:sp>
      <p:sp>
        <p:nvSpPr>
          <p:cNvPr id="13" name="Text Box 12"/>
          <p:cNvSpPr txBox="1"/>
          <p:nvPr/>
        </p:nvSpPr>
        <p:spPr>
          <a:xfrm>
            <a:off x="3236595" y="5627370"/>
            <a:ext cx="139827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400"/>
              <a:t>&lt;=2</a:t>
            </a:r>
          </a:p>
        </p:txBody>
      </p:sp>
      <p:sp>
        <p:nvSpPr>
          <p:cNvPr id="14" name="Text Box 13"/>
          <p:cNvSpPr txBox="1"/>
          <p:nvPr/>
        </p:nvSpPr>
        <p:spPr>
          <a:xfrm>
            <a:off x="4634865" y="5627370"/>
            <a:ext cx="508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400">
                <a:solidFill>
                  <a:srgbClr val="00B050"/>
                </a:solidFill>
                <a:sym typeface="+mn-ea"/>
              </a:rPr>
              <a:t>✔</a:t>
            </a:r>
            <a:endParaRPr lang="en-US" sz="240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Case 1: Initial Point is given</a:t>
            </a:r>
          </a:p>
        </p:txBody>
      </p:sp>
      <p:graphicFrame>
        <p:nvGraphicFramePr>
          <p:cNvPr id="4" name="Table 3"/>
          <p:cNvGraphicFramePr/>
          <p:nvPr>
            <p:custDataLst>
              <p:tags r:id="rId1"/>
            </p:custDataLst>
          </p:nvPr>
        </p:nvGraphicFramePr>
        <p:xfrm>
          <a:off x="1838325" y="3429000"/>
          <a:ext cx="4269740" cy="1524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674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674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674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6743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 Box 4"/>
          <p:cNvSpPr txBox="1"/>
          <p:nvPr/>
        </p:nvSpPr>
        <p:spPr>
          <a:xfrm>
            <a:off x="996950" y="1616075"/>
            <a:ext cx="1040574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400"/>
              <a:t>Apply region growing on the following image with initial point at </a:t>
            </a:r>
            <a:r>
              <a:rPr lang="en-US" sz="2400">
                <a:solidFill>
                  <a:schemeClr val="tx1"/>
                </a:solidFill>
              </a:rPr>
              <a:t>(2, 2)</a:t>
            </a:r>
            <a:r>
              <a:rPr lang="en-US" sz="2400"/>
              <a:t> and threshold value as 2. Use 4-connectivity.</a:t>
            </a:r>
          </a:p>
        </p:txBody>
      </p:sp>
      <p:graphicFrame>
        <p:nvGraphicFramePr>
          <p:cNvPr id="6" name="Table 5"/>
          <p:cNvGraphicFramePr/>
          <p:nvPr>
            <p:custDataLst>
              <p:tags r:id="rId2"/>
            </p:custDataLst>
          </p:nvPr>
        </p:nvGraphicFramePr>
        <p:xfrm>
          <a:off x="1838325" y="3048000"/>
          <a:ext cx="4279900" cy="381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699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699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699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699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" name="Table 6"/>
          <p:cNvGraphicFramePr/>
          <p:nvPr>
            <p:custDataLst>
              <p:tags r:id="rId3"/>
            </p:custDataLst>
          </p:nvPr>
        </p:nvGraphicFramePr>
        <p:xfrm>
          <a:off x="1313815" y="3429000"/>
          <a:ext cx="524510" cy="1524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245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" name="Text Box 2"/>
          <p:cNvSpPr txBox="1"/>
          <p:nvPr/>
        </p:nvSpPr>
        <p:spPr>
          <a:xfrm>
            <a:off x="8157845" y="3429000"/>
            <a:ext cx="22688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/>
              <a:t>T=2</a:t>
            </a:r>
          </a:p>
        </p:txBody>
      </p:sp>
      <p:sp>
        <p:nvSpPr>
          <p:cNvPr id="8" name="Text Box 7"/>
          <p:cNvSpPr txBox="1"/>
          <p:nvPr/>
        </p:nvSpPr>
        <p:spPr>
          <a:xfrm>
            <a:off x="8157845" y="4182110"/>
            <a:ext cx="22688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/>
              <a:t>4-Connectivity</a:t>
            </a:r>
          </a:p>
        </p:txBody>
      </p:sp>
      <p:sp>
        <p:nvSpPr>
          <p:cNvPr id="12" name="Text Box 11"/>
          <p:cNvSpPr txBox="1"/>
          <p:nvPr/>
        </p:nvSpPr>
        <p:spPr>
          <a:xfrm>
            <a:off x="1838325" y="5627370"/>
            <a:ext cx="139827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/>
              <a:t>|1-5|=4</a:t>
            </a:r>
          </a:p>
        </p:txBody>
      </p:sp>
      <p:sp>
        <p:nvSpPr>
          <p:cNvPr id="13" name="Text Box 12"/>
          <p:cNvSpPr txBox="1"/>
          <p:nvPr/>
        </p:nvSpPr>
        <p:spPr>
          <a:xfrm>
            <a:off x="3236595" y="5627370"/>
            <a:ext cx="139827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400"/>
              <a:t>&lt;=2</a:t>
            </a:r>
          </a:p>
        </p:txBody>
      </p:sp>
      <p:sp>
        <p:nvSpPr>
          <p:cNvPr id="14" name="Text Box 13"/>
          <p:cNvSpPr txBox="1"/>
          <p:nvPr/>
        </p:nvSpPr>
        <p:spPr>
          <a:xfrm>
            <a:off x="4634865" y="5627370"/>
            <a:ext cx="508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400">
                <a:solidFill>
                  <a:srgbClr val="FF0000"/>
                </a:solidFill>
                <a:sym typeface="+mn-ea"/>
              </a:rPr>
              <a:t>X</a:t>
            </a:r>
            <a:endParaRPr lang="en-US" sz="240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8" grpId="0"/>
      <p:bldP spid="12" grpId="0"/>
      <p:bldP spid="12" grpId="1"/>
      <p:bldP spid="13" grpId="0"/>
      <p:bldP spid="13" grpId="1"/>
      <p:bldP spid="14" grpId="0"/>
      <p:bldP spid="14" grpId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Case 1: Initial Point is given</a:t>
            </a:r>
          </a:p>
        </p:txBody>
      </p:sp>
      <p:graphicFrame>
        <p:nvGraphicFramePr>
          <p:cNvPr id="4" name="Table 3"/>
          <p:cNvGraphicFramePr/>
          <p:nvPr>
            <p:custDataLst>
              <p:tags r:id="rId1"/>
            </p:custDataLst>
          </p:nvPr>
        </p:nvGraphicFramePr>
        <p:xfrm>
          <a:off x="1838325" y="3429000"/>
          <a:ext cx="4269740" cy="1524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674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674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674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6743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 Box 4"/>
          <p:cNvSpPr txBox="1"/>
          <p:nvPr/>
        </p:nvSpPr>
        <p:spPr>
          <a:xfrm>
            <a:off x="996950" y="1616075"/>
            <a:ext cx="1040574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400"/>
              <a:t>Apply region growing on the following image with initial point at </a:t>
            </a:r>
            <a:r>
              <a:rPr lang="en-US" sz="2400">
                <a:solidFill>
                  <a:schemeClr val="tx1"/>
                </a:solidFill>
              </a:rPr>
              <a:t>(2, 2)</a:t>
            </a:r>
            <a:r>
              <a:rPr lang="en-US" sz="2400"/>
              <a:t> and threshold value as 2. Use 4-connectivity.</a:t>
            </a:r>
          </a:p>
        </p:txBody>
      </p:sp>
      <p:graphicFrame>
        <p:nvGraphicFramePr>
          <p:cNvPr id="6" name="Table 5"/>
          <p:cNvGraphicFramePr/>
          <p:nvPr>
            <p:custDataLst>
              <p:tags r:id="rId2"/>
            </p:custDataLst>
          </p:nvPr>
        </p:nvGraphicFramePr>
        <p:xfrm>
          <a:off x="1838325" y="3048000"/>
          <a:ext cx="4279900" cy="381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699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699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699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699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" name="Table 6"/>
          <p:cNvGraphicFramePr/>
          <p:nvPr>
            <p:custDataLst>
              <p:tags r:id="rId3"/>
            </p:custDataLst>
          </p:nvPr>
        </p:nvGraphicFramePr>
        <p:xfrm>
          <a:off x="1313815" y="3429000"/>
          <a:ext cx="524510" cy="1524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245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" name="Text Box 2"/>
          <p:cNvSpPr txBox="1"/>
          <p:nvPr/>
        </p:nvSpPr>
        <p:spPr>
          <a:xfrm>
            <a:off x="8157845" y="3429000"/>
            <a:ext cx="22688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/>
              <a:t>T=2</a:t>
            </a:r>
          </a:p>
        </p:txBody>
      </p:sp>
      <p:sp>
        <p:nvSpPr>
          <p:cNvPr id="8" name="Text Box 7"/>
          <p:cNvSpPr txBox="1"/>
          <p:nvPr/>
        </p:nvSpPr>
        <p:spPr>
          <a:xfrm>
            <a:off x="8157845" y="4182110"/>
            <a:ext cx="22688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/>
              <a:t>4-Connectivity</a:t>
            </a:r>
          </a:p>
        </p:txBody>
      </p:sp>
      <p:sp>
        <p:nvSpPr>
          <p:cNvPr id="12" name="Text Box 11"/>
          <p:cNvSpPr txBox="1"/>
          <p:nvPr/>
        </p:nvSpPr>
        <p:spPr>
          <a:xfrm>
            <a:off x="1838325" y="5627370"/>
            <a:ext cx="139827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ym typeface="+mn-ea"/>
              </a:rPr>
              <a:t>|1-5|=4</a:t>
            </a:r>
            <a:endParaRPr lang="en-US" sz="2400"/>
          </a:p>
        </p:txBody>
      </p:sp>
      <p:sp>
        <p:nvSpPr>
          <p:cNvPr id="13" name="Text Box 12"/>
          <p:cNvSpPr txBox="1"/>
          <p:nvPr/>
        </p:nvSpPr>
        <p:spPr>
          <a:xfrm>
            <a:off x="3236595" y="5627370"/>
            <a:ext cx="139827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400"/>
              <a:t>&lt;=2</a:t>
            </a:r>
          </a:p>
        </p:txBody>
      </p:sp>
      <p:sp>
        <p:nvSpPr>
          <p:cNvPr id="14" name="Text Box 13"/>
          <p:cNvSpPr txBox="1"/>
          <p:nvPr/>
        </p:nvSpPr>
        <p:spPr>
          <a:xfrm>
            <a:off x="4634865" y="5627370"/>
            <a:ext cx="508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400">
                <a:solidFill>
                  <a:srgbClr val="FF0000"/>
                </a:solidFill>
                <a:sym typeface="+mn-ea"/>
              </a:rPr>
              <a:t>X</a:t>
            </a:r>
            <a:endParaRPr lang="en-US" sz="240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Case 1: Initial Point is given</a:t>
            </a:r>
          </a:p>
        </p:txBody>
      </p:sp>
      <p:graphicFrame>
        <p:nvGraphicFramePr>
          <p:cNvPr id="4" name="Table 3"/>
          <p:cNvGraphicFramePr/>
          <p:nvPr>
            <p:custDataLst>
              <p:tags r:id="rId1"/>
            </p:custDataLst>
          </p:nvPr>
        </p:nvGraphicFramePr>
        <p:xfrm>
          <a:off x="1838325" y="3429000"/>
          <a:ext cx="4269740" cy="1524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674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674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674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6743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 Box 4"/>
          <p:cNvSpPr txBox="1"/>
          <p:nvPr/>
        </p:nvSpPr>
        <p:spPr>
          <a:xfrm>
            <a:off x="996950" y="1616075"/>
            <a:ext cx="1040574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400"/>
              <a:t>Apply region growing on the following image with initial point at </a:t>
            </a:r>
            <a:r>
              <a:rPr lang="en-US" sz="2400">
                <a:solidFill>
                  <a:schemeClr val="tx1"/>
                </a:solidFill>
              </a:rPr>
              <a:t>(2, 2)</a:t>
            </a:r>
            <a:r>
              <a:rPr lang="en-US" sz="2400"/>
              <a:t> and threshold value as 2. Use 4-connectivity.</a:t>
            </a:r>
          </a:p>
        </p:txBody>
      </p:sp>
      <p:sp>
        <p:nvSpPr>
          <p:cNvPr id="3" name="Text Box 2"/>
          <p:cNvSpPr txBox="1"/>
          <p:nvPr/>
        </p:nvSpPr>
        <p:spPr>
          <a:xfrm>
            <a:off x="8157845" y="3429000"/>
            <a:ext cx="22688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/>
              <a:t>T=2</a:t>
            </a:r>
          </a:p>
        </p:txBody>
      </p:sp>
      <p:sp>
        <p:nvSpPr>
          <p:cNvPr id="8" name="Text Box 7"/>
          <p:cNvSpPr txBox="1"/>
          <p:nvPr/>
        </p:nvSpPr>
        <p:spPr>
          <a:xfrm>
            <a:off x="8157845" y="4182110"/>
            <a:ext cx="22688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/>
              <a:t>4-Connectivity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Case 1: Initial Point is given</a:t>
            </a:r>
          </a:p>
        </p:txBody>
      </p:sp>
      <p:graphicFrame>
        <p:nvGraphicFramePr>
          <p:cNvPr id="4" name="Table 3"/>
          <p:cNvGraphicFramePr/>
          <p:nvPr>
            <p:custDataLst>
              <p:tags r:id="rId1"/>
            </p:custDataLst>
          </p:nvPr>
        </p:nvGraphicFramePr>
        <p:xfrm>
          <a:off x="1838325" y="3429000"/>
          <a:ext cx="4269740" cy="1524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674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674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674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6743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 Box 4"/>
          <p:cNvSpPr txBox="1"/>
          <p:nvPr/>
        </p:nvSpPr>
        <p:spPr>
          <a:xfrm>
            <a:off x="996950" y="1616075"/>
            <a:ext cx="1040574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400"/>
              <a:t>Apply region growing on the following image with initial point at </a:t>
            </a:r>
            <a:r>
              <a:rPr lang="en-US" sz="2400">
                <a:solidFill>
                  <a:schemeClr val="tx1"/>
                </a:solidFill>
              </a:rPr>
              <a:t>(2, 2)</a:t>
            </a:r>
            <a:r>
              <a:rPr lang="en-US" sz="2400"/>
              <a:t> and threshold value as 2. Use 4-connectivity.</a:t>
            </a:r>
          </a:p>
        </p:txBody>
      </p:sp>
      <p:sp>
        <p:nvSpPr>
          <p:cNvPr id="8" name="Text Box 7"/>
          <p:cNvSpPr txBox="1"/>
          <p:nvPr/>
        </p:nvSpPr>
        <p:spPr>
          <a:xfrm>
            <a:off x="8041005" y="3960495"/>
            <a:ext cx="22688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/>
              <a:t>Result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8" grpId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Case 2: Seed value given</a:t>
            </a:r>
          </a:p>
        </p:txBody>
      </p:sp>
      <p:graphicFrame>
        <p:nvGraphicFramePr>
          <p:cNvPr id="4" name="Table 3"/>
          <p:cNvGraphicFramePr/>
          <p:nvPr>
            <p:custDataLst>
              <p:tags r:id="rId1"/>
            </p:custDataLst>
          </p:nvPr>
        </p:nvGraphicFramePr>
        <p:xfrm>
          <a:off x="1838325" y="2940685"/>
          <a:ext cx="4269740" cy="3048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337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371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37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3371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3371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3371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3371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3371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Text Box 4"/>
          <p:cNvSpPr txBox="1"/>
          <p:nvPr/>
        </p:nvSpPr>
        <p:spPr>
          <a:xfrm>
            <a:off x="996950" y="1616075"/>
            <a:ext cx="1040574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400"/>
              <a:t>Apply region growing on the following image with seed point as 6 and threshold value as 3.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ym typeface="+mn-ea"/>
              </a:rPr>
              <a:t>Case 2: Seed value given</a:t>
            </a:r>
            <a:endParaRPr lang="en-US"/>
          </a:p>
        </p:txBody>
      </p:sp>
      <p:graphicFrame>
        <p:nvGraphicFramePr>
          <p:cNvPr id="4" name="Table 3"/>
          <p:cNvGraphicFramePr/>
          <p:nvPr>
            <p:custDataLst>
              <p:tags r:id="rId1"/>
            </p:custDataLst>
          </p:nvPr>
        </p:nvGraphicFramePr>
        <p:xfrm>
          <a:off x="1838325" y="2940685"/>
          <a:ext cx="4269740" cy="3048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337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371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37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3371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3371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3371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3371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3371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Text Box 4"/>
          <p:cNvSpPr txBox="1"/>
          <p:nvPr/>
        </p:nvSpPr>
        <p:spPr>
          <a:xfrm>
            <a:off x="996950" y="1616075"/>
            <a:ext cx="1040574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400"/>
              <a:t>Apply region growing on the following image with seed point as 6 and threshold value as 3.</a:t>
            </a:r>
          </a:p>
        </p:txBody>
      </p:sp>
      <p:sp>
        <p:nvSpPr>
          <p:cNvPr id="3" name="Text Box 2"/>
          <p:cNvSpPr txBox="1"/>
          <p:nvPr/>
        </p:nvSpPr>
        <p:spPr>
          <a:xfrm>
            <a:off x="8157845" y="3429000"/>
            <a:ext cx="22688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/>
              <a:t>Seed Value=6</a:t>
            </a:r>
          </a:p>
        </p:txBody>
      </p:sp>
      <p:sp>
        <p:nvSpPr>
          <p:cNvPr id="8" name="Text Box 7"/>
          <p:cNvSpPr txBox="1"/>
          <p:nvPr/>
        </p:nvSpPr>
        <p:spPr>
          <a:xfrm>
            <a:off x="8157845" y="4182110"/>
            <a:ext cx="22688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/>
              <a:t>T=3</a:t>
            </a:r>
          </a:p>
        </p:txBody>
      </p:sp>
      <p:sp>
        <p:nvSpPr>
          <p:cNvPr id="6" name="Text Box 5"/>
          <p:cNvSpPr txBox="1"/>
          <p:nvPr/>
        </p:nvSpPr>
        <p:spPr>
          <a:xfrm>
            <a:off x="8157845" y="4935220"/>
            <a:ext cx="226885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/>
              <a:t>8-Connectivity</a:t>
            </a:r>
          </a:p>
          <a:p>
            <a:pPr algn="ctr"/>
            <a:r>
              <a:rPr lang="en-US" sz="2400"/>
              <a:t>(By default)</a:t>
            </a:r>
          </a:p>
        </p:txBody>
      </p:sp>
      <p:sp>
        <p:nvSpPr>
          <p:cNvPr id="9" name="Text Box 8"/>
          <p:cNvSpPr txBox="1"/>
          <p:nvPr/>
        </p:nvSpPr>
        <p:spPr>
          <a:xfrm>
            <a:off x="3481705" y="6200140"/>
            <a:ext cx="52279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/>
              <a:t>Condition -&gt; Absolute Value &lt;= 3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8" grpId="0"/>
      <p:bldP spid="8" grpId="1"/>
      <p:bldP spid="6" grpId="0"/>
      <p:bldP spid="6" grpId="1"/>
      <p:bldP spid="9" grpId="0"/>
      <p:bldP spid="9" grpId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ym typeface="+mn-ea"/>
              </a:rPr>
              <a:t>Case 2: Seed value given</a:t>
            </a:r>
            <a:endParaRPr lang="en-US"/>
          </a:p>
        </p:txBody>
      </p:sp>
      <p:sp>
        <p:nvSpPr>
          <p:cNvPr id="5" name="Text Box 4"/>
          <p:cNvSpPr txBox="1"/>
          <p:nvPr/>
        </p:nvSpPr>
        <p:spPr>
          <a:xfrm>
            <a:off x="996950" y="1616075"/>
            <a:ext cx="1040574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400"/>
              <a:t>Apply region growing on the following image with seed point as 6 and threshold value as 3.</a:t>
            </a:r>
          </a:p>
        </p:txBody>
      </p:sp>
      <p:sp>
        <p:nvSpPr>
          <p:cNvPr id="3" name="Text Box 2"/>
          <p:cNvSpPr txBox="1"/>
          <p:nvPr/>
        </p:nvSpPr>
        <p:spPr>
          <a:xfrm>
            <a:off x="8157845" y="3429000"/>
            <a:ext cx="22688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/>
              <a:t>Seed Value=6</a:t>
            </a:r>
          </a:p>
        </p:txBody>
      </p:sp>
      <p:sp>
        <p:nvSpPr>
          <p:cNvPr id="8" name="Text Box 7"/>
          <p:cNvSpPr txBox="1"/>
          <p:nvPr/>
        </p:nvSpPr>
        <p:spPr>
          <a:xfrm>
            <a:off x="8157845" y="4182110"/>
            <a:ext cx="22688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/>
              <a:t>T=3</a:t>
            </a:r>
          </a:p>
        </p:txBody>
      </p:sp>
      <p:sp>
        <p:nvSpPr>
          <p:cNvPr id="6" name="Text Box 5"/>
          <p:cNvSpPr txBox="1"/>
          <p:nvPr/>
        </p:nvSpPr>
        <p:spPr>
          <a:xfrm>
            <a:off x="8157845" y="4935220"/>
            <a:ext cx="226885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/>
              <a:t>8-Connectivity</a:t>
            </a:r>
          </a:p>
          <a:p>
            <a:pPr algn="ctr"/>
            <a:r>
              <a:rPr lang="en-US" sz="2400"/>
              <a:t>(By default)</a:t>
            </a:r>
          </a:p>
        </p:txBody>
      </p:sp>
      <p:sp>
        <p:nvSpPr>
          <p:cNvPr id="9" name="Text Box 8"/>
          <p:cNvSpPr txBox="1"/>
          <p:nvPr/>
        </p:nvSpPr>
        <p:spPr>
          <a:xfrm>
            <a:off x="3481705" y="6200140"/>
            <a:ext cx="52279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/>
              <a:t>Condition -&gt; Absolute Value &lt;= 3</a:t>
            </a:r>
          </a:p>
        </p:txBody>
      </p:sp>
      <p:graphicFrame>
        <p:nvGraphicFramePr>
          <p:cNvPr id="7" name="Table 6"/>
          <p:cNvGraphicFramePr/>
          <p:nvPr>
            <p:custDataLst>
              <p:tags r:id="rId1"/>
            </p:custDataLst>
          </p:nvPr>
        </p:nvGraphicFramePr>
        <p:xfrm>
          <a:off x="1838325" y="2940685"/>
          <a:ext cx="4269740" cy="3048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337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371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37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3371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3371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3371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3371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3371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ym typeface="+mn-ea"/>
              </a:rPr>
              <a:t>Case 2: Seed value given</a:t>
            </a:r>
            <a:endParaRPr lang="en-US"/>
          </a:p>
        </p:txBody>
      </p:sp>
      <p:sp>
        <p:nvSpPr>
          <p:cNvPr id="5" name="Text Box 4"/>
          <p:cNvSpPr txBox="1"/>
          <p:nvPr/>
        </p:nvSpPr>
        <p:spPr>
          <a:xfrm>
            <a:off x="996950" y="1616075"/>
            <a:ext cx="1040574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400"/>
              <a:t>Apply region growing on the following image with seed point as 6 and threshold value as 3.</a:t>
            </a:r>
          </a:p>
        </p:txBody>
      </p:sp>
      <p:sp>
        <p:nvSpPr>
          <p:cNvPr id="3" name="Text Box 2"/>
          <p:cNvSpPr txBox="1"/>
          <p:nvPr/>
        </p:nvSpPr>
        <p:spPr>
          <a:xfrm>
            <a:off x="8157845" y="3429000"/>
            <a:ext cx="22688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/>
              <a:t>Seed Value=6</a:t>
            </a:r>
          </a:p>
        </p:txBody>
      </p:sp>
      <p:sp>
        <p:nvSpPr>
          <p:cNvPr id="8" name="Text Box 7"/>
          <p:cNvSpPr txBox="1"/>
          <p:nvPr/>
        </p:nvSpPr>
        <p:spPr>
          <a:xfrm>
            <a:off x="8157845" y="4182110"/>
            <a:ext cx="22688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/>
              <a:t>T=3</a:t>
            </a:r>
          </a:p>
        </p:txBody>
      </p:sp>
      <p:sp>
        <p:nvSpPr>
          <p:cNvPr id="6" name="Text Box 5"/>
          <p:cNvSpPr txBox="1"/>
          <p:nvPr/>
        </p:nvSpPr>
        <p:spPr>
          <a:xfrm>
            <a:off x="8157845" y="4935220"/>
            <a:ext cx="226885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/>
              <a:t>8-Connectivity</a:t>
            </a:r>
          </a:p>
          <a:p>
            <a:pPr algn="ctr"/>
            <a:r>
              <a:rPr lang="en-US" sz="2400"/>
              <a:t>(By default)</a:t>
            </a:r>
          </a:p>
        </p:txBody>
      </p:sp>
      <p:sp>
        <p:nvSpPr>
          <p:cNvPr id="9" name="Text Box 8"/>
          <p:cNvSpPr txBox="1"/>
          <p:nvPr/>
        </p:nvSpPr>
        <p:spPr>
          <a:xfrm>
            <a:off x="3481705" y="6200140"/>
            <a:ext cx="52279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/>
              <a:t>Condition -&gt; Absolute Value &lt;= 3</a:t>
            </a:r>
          </a:p>
        </p:txBody>
      </p:sp>
      <p:graphicFrame>
        <p:nvGraphicFramePr>
          <p:cNvPr id="7" name="Table 6"/>
          <p:cNvGraphicFramePr/>
          <p:nvPr>
            <p:custDataLst>
              <p:tags r:id="rId1"/>
            </p:custDataLst>
          </p:nvPr>
        </p:nvGraphicFramePr>
        <p:xfrm>
          <a:off x="1838325" y="2940685"/>
          <a:ext cx="4269740" cy="3048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337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371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37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3371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3371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3371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3371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3371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0" name="Text Box 9"/>
          <p:cNvSpPr txBox="1"/>
          <p:nvPr/>
        </p:nvSpPr>
        <p:spPr>
          <a:xfrm>
            <a:off x="6443980" y="3808095"/>
            <a:ext cx="155829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/>
              <a:t>7-3=4</a:t>
            </a:r>
          </a:p>
        </p:txBody>
      </p:sp>
      <p:sp>
        <p:nvSpPr>
          <p:cNvPr id="11" name="Text Box 10"/>
          <p:cNvSpPr txBox="1"/>
          <p:nvPr/>
        </p:nvSpPr>
        <p:spPr>
          <a:xfrm>
            <a:off x="6443980" y="4561205"/>
            <a:ext cx="155829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/>
              <a:t>Range</a:t>
            </a:r>
          </a:p>
          <a:p>
            <a:pPr algn="ctr"/>
            <a:r>
              <a:rPr lang="en-US" sz="2400"/>
              <a:t>[4,7]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8" grpId="0"/>
      <p:bldP spid="6" grpId="0"/>
      <p:bldP spid="9" grpId="0"/>
      <p:bldP spid="10" grpId="0"/>
      <p:bldP spid="10" grpId="1"/>
      <p:bldP spid="11" grpId="0"/>
      <p:bldP spid="11" grpId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ym typeface="+mn-ea"/>
              </a:rPr>
              <a:t>Case 2: Seed value given</a:t>
            </a:r>
            <a:endParaRPr lang="en-US"/>
          </a:p>
        </p:txBody>
      </p:sp>
      <p:sp>
        <p:nvSpPr>
          <p:cNvPr id="5" name="Text Box 4"/>
          <p:cNvSpPr txBox="1"/>
          <p:nvPr/>
        </p:nvSpPr>
        <p:spPr>
          <a:xfrm>
            <a:off x="996950" y="1616075"/>
            <a:ext cx="1040574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400"/>
              <a:t>Apply region growing on the following image with seed point as 6 and threshold value as 3.</a:t>
            </a:r>
          </a:p>
        </p:txBody>
      </p:sp>
      <p:sp>
        <p:nvSpPr>
          <p:cNvPr id="3" name="Text Box 2"/>
          <p:cNvSpPr txBox="1"/>
          <p:nvPr/>
        </p:nvSpPr>
        <p:spPr>
          <a:xfrm>
            <a:off x="8157845" y="3429000"/>
            <a:ext cx="22688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/>
              <a:t>Seed Value=6</a:t>
            </a:r>
          </a:p>
        </p:txBody>
      </p:sp>
      <p:sp>
        <p:nvSpPr>
          <p:cNvPr id="8" name="Text Box 7"/>
          <p:cNvSpPr txBox="1"/>
          <p:nvPr/>
        </p:nvSpPr>
        <p:spPr>
          <a:xfrm>
            <a:off x="8157845" y="4182110"/>
            <a:ext cx="22688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/>
              <a:t>T=3</a:t>
            </a:r>
          </a:p>
        </p:txBody>
      </p:sp>
      <p:sp>
        <p:nvSpPr>
          <p:cNvPr id="6" name="Text Box 5"/>
          <p:cNvSpPr txBox="1"/>
          <p:nvPr/>
        </p:nvSpPr>
        <p:spPr>
          <a:xfrm>
            <a:off x="8157845" y="4935220"/>
            <a:ext cx="226885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/>
              <a:t>8-Connectivity</a:t>
            </a:r>
          </a:p>
          <a:p>
            <a:pPr algn="ctr"/>
            <a:r>
              <a:rPr lang="en-US" sz="2400"/>
              <a:t>(By default)</a:t>
            </a:r>
          </a:p>
        </p:txBody>
      </p:sp>
      <p:sp>
        <p:nvSpPr>
          <p:cNvPr id="9" name="Text Box 8"/>
          <p:cNvSpPr txBox="1"/>
          <p:nvPr/>
        </p:nvSpPr>
        <p:spPr>
          <a:xfrm>
            <a:off x="3481705" y="6200140"/>
            <a:ext cx="52279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rgbClr val="00B050"/>
                </a:solidFill>
                <a:sym typeface="+mn-ea"/>
              </a:rPr>
              <a:t>5 is in the Range [4-7]</a:t>
            </a:r>
            <a:endParaRPr lang="en-US" sz="2400"/>
          </a:p>
        </p:txBody>
      </p:sp>
      <p:graphicFrame>
        <p:nvGraphicFramePr>
          <p:cNvPr id="7" name="Table 6"/>
          <p:cNvGraphicFramePr/>
          <p:nvPr>
            <p:custDataLst>
              <p:tags r:id="rId1"/>
            </p:custDataLst>
          </p:nvPr>
        </p:nvGraphicFramePr>
        <p:xfrm>
          <a:off x="1838325" y="2940685"/>
          <a:ext cx="4269740" cy="3048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337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371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37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3371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3371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3371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3371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3371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1" name="Text Box 10"/>
          <p:cNvSpPr txBox="1"/>
          <p:nvPr/>
        </p:nvSpPr>
        <p:spPr>
          <a:xfrm>
            <a:off x="6443980" y="3808095"/>
            <a:ext cx="155829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/>
              <a:t>7-3=4</a:t>
            </a:r>
          </a:p>
        </p:txBody>
      </p:sp>
      <p:sp>
        <p:nvSpPr>
          <p:cNvPr id="12" name="Text Box 11"/>
          <p:cNvSpPr txBox="1"/>
          <p:nvPr/>
        </p:nvSpPr>
        <p:spPr>
          <a:xfrm>
            <a:off x="6443980" y="4561205"/>
            <a:ext cx="155829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/>
              <a:t>Range</a:t>
            </a:r>
          </a:p>
          <a:p>
            <a:pPr algn="ctr"/>
            <a:r>
              <a:rPr lang="en-US" sz="2400"/>
              <a:t>[4,7]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8" grpId="0"/>
      <p:bldP spid="6" grpId="0"/>
      <p:bldP spid="9" grpId="0"/>
      <p:bldP spid="9" grpId="1"/>
      <p:bldP spid="11" grpId="0"/>
      <p:bldP spid="12" grpId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ym typeface="+mn-ea"/>
              </a:rPr>
              <a:t>Case 2: Seed value given</a:t>
            </a:r>
            <a:endParaRPr lang="en-US"/>
          </a:p>
        </p:txBody>
      </p:sp>
      <p:sp>
        <p:nvSpPr>
          <p:cNvPr id="5" name="Text Box 4"/>
          <p:cNvSpPr txBox="1"/>
          <p:nvPr/>
        </p:nvSpPr>
        <p:spPr>
          <a:xfrm>
            <a:off x="996950" y="1616075"/>
            <a:ext cx="1040574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400"/>
              <a:t>Apply region growing on the following image with seed point as 6 and threshold value as 3.</a:t>
            </a:r>
          </a:p>
        </p:txBody>
      </p:sp>
      <p:sp>
        <p:nvSpPr>
          <p:cNvPr id="3" name="Text Box 2"/>
          <p:cNvSpPr txBox="1"/>
          <p:nvPr/>
        </p:nvSpPr>
        <p:spPr>
          <a:xfrm>
            <a:off x="8157845" y="3429000"/>
            <a:ext cx="22688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/>
              <a:t>Seed Value=6</a:t>
            </a:r>
          </a:p>
        </p:txBody>
      </p:sp>
      <p:sp>
        <p:nvSpPr>
          <p:cNvPr id="8" name="Text Box 7"/>
          <p:cNvSpPr txBox="1"/>
          <p:nvPr/>
        </p:nvSpPr>
        <p:spPr>
          <a:xfrm>
            <a:off x="8157845" y="4182110"/>
            <a:ext cx="22688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/>
              <a:t>T=3</a:t>
            </a:r>
          </a:p>
        </p:txBody>
      </p:sp>
      <p:sp>
        <p:nvSpPr>
          <p:cNvPr id="6" name="Text Box 5"/>
          <p:cNvSpPr txBox="1"/>
          <p:nvPr/>
        </p:nvSpPr>
        <p:spPr>
          <a:xfrm>
            <a:off x="8157845" y="4935220"/>
            <a:ext cx="226885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/>
              <a:t>8-Connectivity</a:t>
            </a:r>
          </a:p>
          <a:p>
            <a:pPr algn="ctr"/>
            <a:r>
              <a:rPr lang="en-US" sz="2400"/>
              <a:t>(By default)</a:t>
            </a:r>
          </a:p>
        </p:txBody>
      </p:sp>
      <p:sp>
        <p:nvSpPr>
          <p:cNvPr id="9" name="Text Box 8"/>
          <p:cNvSpPr txBox="1"/>
          <p:nvPr/>
        </p:nvSpPr>
        <p:spPr>
          <a:xfrm>
            <a:off x="3481705" y="6200140"/>
            <a:ext cx="52279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rgbClr val="00B050"/>
                </a:solidFill>
                <a:sym typeface="+mn-ea"/>
              </a:rPr>
              <a:t>5 is in the Range [4-7]</a:t>
            </a:r>
            <a:endParaRPr lang="en-US" sz="2400"/>
          </a:p>
        </p:txBody>
      </p:sp>
      <p:graphicFrame>
        <p:nvGraphicFramePr>
          <p:cNvPr id="7" name="Table 6"/>
          <p:cNvGraphicFramePr/>
          <p:nvPr>
            <p:custDataLst>
              <p:tags r:id="rId1"/>
            </p:custDataLst>
          </p:nvPr>
        </p:nvGraphicFramePr>
        <p:xfrm>
          <a:off x="1838325" y="2940685"/>
          <a:ext cx="4269740" cy="3048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337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371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37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3371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3371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3371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3371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3371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1" name="Text Box 10"/>
          <p:cNvSpPr txBox="1"/>
          <p:nvPr/>
        </p:nvSpPr>
        <p:spPr>
          <a:xfrm>
            <a:off x="6443980" y="3808095"/>
            <a:ext cx="155829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/>
              <a:t>7-3=4</a:t>
            </a:r>
          </a:p>
        </p:txBody>
      </p:sp>
      <p:sp>
        <p:nvSpPr>
          <p:cNvPr id="12" name="Text Box 11"/>
          <p:cNvSpPr txBox="1"/>
          <p:nvPr/>
        </p:nvSpPr>
        <p:spPr>
          <a:xfrm>
            <a:off x="6443980" y="4561205"/>
            <a:ext cx="155829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/>
              <a:t>Range</a:t>
            </a:r>
          </a:p>
          <a:p>
            <a:pPr algn="ctr"/>
            <a:r>
              <a:rPr lang="en-US" sz="2400"/>
              <a:t>[4,7]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ym typeface="+mn-ea"/>
              </a:rPr>
              <a:t>Case 2: Seed value given</a:t>
            </a:r>
            <a:endParaRPr lang="en-US"/>
          </a:p>
        </p:txBody>
      </p:sp>
      <p:sp>
        <p:nvSpPr>
          <p:cNvPr id="5" name="Text Box 4"/>
          <p:cNvSpPr txBox="1"/>
          <p:nvPr/>
        </p:nvSpPr>
        <p:spPr>
          <a:xfrm>
            <a:off x="996950" y="1616075"/>
            <a:ext cx="1040574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400"/>
              <a:t>Apply region growing on the following image with seed point as 6 and threshold value as 3.</a:t>
            </a:r>
          </a:p>
        </p:txBody>
      </p:sp>
      <p:sp>
        <p:nvSpPr>
          <p:cNvPr id="3" name="Text Box 2"/>
          <p:cNvSpPr txBox="1"/>
          <p:nvPr/>
        </p:nvSpPr>
        <p:spPr>
          <a:xfrm>
            <a:off x="8157845" y="3429000"/>
            <a:ext cx="22688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/>
              <a:t>Seed Value=6</a:t>
            </a:r>
          </a:p>
        </p:txBody>
      </p:sp>
      <p:sp>
        <p:nvSpPr>
          <p:cNvPr id="8" name="Text Box 7"/>
          <p:cNvSpPr txBox="1"/>
          <p:nvPr/>
        </p:nvSpPr>
        <p:spPr>
          <a:xfrm>
            <a:off x="8157845" y="4182110"/>
            <a:ext cx="22688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/>
              <a:t>T=3</a:t>
            </a:r>
          </a:p>
        </p:txBody>
      </p:sp>
      <p:sp>
        <p:nvSpPr>
          <p:cNvPr id="6" name="Text Box 5"/>
          <p:cNvSpPr txBox="1"/>
          <p:nvPr/>
        </p:nvSpPr>
        <p:spPr>
          <a:xfrm>
            <a:off x="8157845" y="4935220"/>
            <a:ext cx="226885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/>
              <a:t>8-Connectivity</a:t>
            </a:r>
          </a:p>
          <a:p>
            <a:pPr algn="ctr"/>
            <a:r>
              <a:rPr lang="en-US" sz="2400"/>
              <a:t>(By default)</a:t>
            </a:r>
          </a:p>
        </p:txBody>
      </p:sp>
      <p:sp>
        <p:nvSpPr>
          <p:cNvPr id="9" name="Text Box 8"/>
          <p:cNvSpPr txBox="1"/>
          <p:nvPr/>
        </p:nvSpPr>
        <p:spPr>
          <a:xfrm>
            <a:off x="3481705" y="6200140"/>
            <a:ext cx="52279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rgbClr val="00B050"/>
                </a:solidFill>
                <a:sym typeface="+mn-ea"/>
              </a:rPr>
              <a:t>7 is in the Range [4-7]</a:t>
            </a:r>
            <a:endParaRPr lang="en-US" sz="2400"/>
          </a:p>
        </p:txBody>
      </p:sp>
      <p:graphicFrame>
        <p:nvGraphicFramePr>
          <p:cNvPr id="7" name="Table 6"/>
          <p:cNvGraphicFramePr/>
          <p:nvPr>
            <p:custDataLst>
              <p:tags r:id="rId1"/>
            </p:custDataLst>
          </p:nvPr>
        </p:nvGraphicFramePr>
        <p:xfrm>
          <a:off x="1838325" y="2940685"/>
          <a:ext cx="4269740" cy="3048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337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371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37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3371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3371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3371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3371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3371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1" name="Text Box 10"/>
          <p:cNvSpPr txBox="1"/>
          <p:nvPr/>
        </p:nvSpPr>
        <p:spPr>
          <a:xfrm>
            <a:off x="6443980" y="3808095"/>
            <a:ext cx="155829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/>
              <a:t>7-3=4</a:t>
            </a:r>
          </a:p>
        </p:txBody>
      </p:sp>
      <p:sp>
        <p:nvSpPr>
          <p:cNvPr id="12" name="Text Box 11"/>
          <p:cNvSpPr txBox="1"/>
          <p:nvPr/>
        </p:nvSpPr>
        <p:spPr>
          <a:xfrm>
            <a:off x="6443980" y="4561205"/>
            <a:ext cx="155829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/>
              <a:t>Range</a:t>
            </a:r>
          </a:p>
          <a:p>
            <a:pPr algn="ctr"/>
            <a:r>
              <a:rPr lang="en-US" sz="2400"/>
              <a:t>[4,7]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8" grpId="0"/>
      <p:bldP spid="6" grpId="0"/>
      <p:bldP spid="9" grpId="0"/>
      <p:bldP spid="9" grpId="1"/>
      <p:bldP spid="11" grpId="0"/>
      <p:bldP spid="12" grpId="0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ym typeface="+mn-ea"/>
              </a:rPr>
              <a:t>Case 2: Seed value given</a:t>
            </a:r>
            <a:endParaRPr lang="en-US"/>
          </a:p>
        </p:txBody>
      </p:sp>
      <p:sp>
        <p:nvSpPr>
          <p:cNvPr id="5" name="Text Box 4"/>
          <p:cNvSpPr txBox="1"/>
          <p:nvPr/>
        </p:nvSpPr>
        <p:spPr>
          <a:xfrm>
            <a:off x="996950" y="1616075"/>
            <a:ext cx="1040574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400"/>
              <a:t>Apply region growing on the following image with seed point as 6 and threshold value as 3.</a:t>
            </a:r>
          </a:p>
        </p:txBody>
      </p:sp>
      <p:sp>
        <p:nvSpPr>
          <p:cNvPr id="3" name="Text Box 2"/>
          <p:cNvSpPr txBox="1"/>
          <p:nvPr/>
        </p:nvSpPr>
        <p:spPr>
          <a:xfrm>
            <a:off x="8157845" y="3429000"/>
            <a:ext cx="22688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/>
              <a:t>Seed Value=6</a:t>
            </a:r>
          </a:p>
        </p:txBody>
      </p:sp>
      <p:sp>
        <p:nvSpPr>
          <p:cNvPr id="8" name="Text Box 7"/>
          <p:cNvSpPr txBox="1"/>
          <p:nvPr/>
        </p:nvSpPr>
        <p:spPr>
          <a:xfrm>
            <a:off x="8157845" y="4182110"/>
            <a:ext cx="22688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/>
              <a:t>T=3</a:t>
            </a:r>
          </a:p>
        </p:txBody>
      </p:sp>
      <p:sp>
        <p:nvSpPr>
          <p:cNvPr id="6" name="Text Box 5"/>
          <p:cNvSpPr txBox="1"/>
          <p:nvPr/>
        </p:nvSpPr>
        <p:spPr>
          <a:xfrm>
            <a:off x="8157845" y="4935220"/>
            <a:ext cx="226885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/>
              <a:t>8-Connectivity</a:t>
            </a:r>
          </a:p>
          <a:p>
            <a:pPr algn="ctr"/>
            <a:r>
              <a:rPr lang="en-US" sz="2400"/>
              <a:t>(By default)</a:t>
            </a:r>
          </a:p>
        </p:txBody>
      </p:sp>
      <p:sp>
        <p:nvSpPr>
          <p:cNvPr id="9" name="Text Box 8"/>
          <p:cNvSpPr txBox="1"/>
          <p:nvPr/>
        </p:nvSpPr>
        <p:spPr>
          <a:xfrm>
            <a:off x="3481705" y="6200140"/>
            <a:ext cx="52279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rgbClr val="00B050"/>
                </a:solidFill>
                <a:sym typeface="+mn-ea"/>
              </a:rPr>
              <a:t>7 is in the Range [4-7]</a:t>
            </a:r>
            <a:endParaRPr lang="en-US" sz="2400"/>
          </a:p>
        </p:txBody>
      </p:sp>
      <p:graphicFrame>
        <p:nvGraphicFramePr>
          <p:cNvPr id="7" name="Table 6"/>
          <p:cNvGraphicFramePr/>
          <p:nvPr>
            <p:custDataLst>
              <p:tags r:id="rId1"/>
            </p:custDataLst>
          </p:nvPr>
        </p:nvGraphicFramePr>
        <p:xfrm>
          <a:off x="1838325" y="2940685"/>
          <a:ext cx="4269740" cy="3048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337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371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37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3371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3371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3371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3371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3371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1" name="Text Box 10"/>
          <p:cNvSpPr txBox="1"/>
          <p:nvPr/>
        </p:nvSpPr>
        <p:spPr>
          <a:xfrm>
            <a:off x="6443980" y="3808095"/>
            <a:ext cx="155829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/>
              <a:t>7-3=4</a:t>
            </a:r>
          </a:p>
        </p:txBody>
      </p:sp>
      <p:sp>
        <p:nvSpPr>
          <p:cNvPr id="12" name="Text Box 11"/>
          <p:cNvSpPr txBox="1"/>
          <p:nvPr/>
        </p:nvSpPr>
        <p:spPr>
          <a:xfrm>
            <a:off x="6443980" y="4561205"/>
            <a:ext cx="155829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/>
              <a:t>Range</a:t>
            </a:r>
          </a:p>
          <a:p>
            <a:pPr algn="ctr"/>
            <a:r>
              <a:rPr lang="en-US" sz="2400"/>
              <a:t>[4,7]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ym typeface="+mn-ea"/>
              </a:rPr>
              <a:t>Case 2: Seed value given</a:t>
            </a:r>
            <a:endParaRPr lang="en-US"/>
          </a:p>
        </p:txBody>
      </p:sp>
      <p:sp>
        <p:nvSpPr>
          <p:cNvPr id="5" name="Text Box 4"/>
          <p:cNvSpPr txBox="1"/>
          <p:nvPr/>
        </p:nvSpPr>
        <p:spPr>
          <a:xfrm>
            <a:off x="996950" y="1616075"/>
            <a:ext cx="1040574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400"/>
              <a:t>Apply region growing on the following image with seed point as 6 and threshold value as 3.</a:t>
            </a:r>
          </a:p>
        </p:txBody>
      </p:sp>
      <p:sp>
        <p:nvSpPr>
          <p:cNvPr id="3" name="Text Box 2"/>
          <p:cNvSpPr txBox="1"/>
          <p:nvPr/>
        </p:nvSpPr>
        <p:spPr>
          <a:xfrm>
            <a:off x="8157845" y="3429000"/>
            <a:ext cx="22688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/>
              <a:t>Seed Value=6</a:t>
            </a:r>
          </a:p>
        </p:txBody>
      </p:sp>
      <p:sp>
        <p:nvSpPr>
          <p:cNvPr id="8" name="Text Box 7"/>
          <p:cNvSpPr txBox="1"/>
          <p:nvPr/>
        </p:nvSpPr>
        <p:spPr>
          <a:xfrm>
            <a:off x="8157845" y="4182110"/>
            <a:ext cx="22688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/>
              <a:t>T=3</a:t>
            </a:r>
          </a:p>
        </p:txBody>
      </p:sp>
      <p:sp>
        <p:nvSpPr>
          <p:cNvPr id="6" name="Text Box 5"/>
          <p:cNvSpPr txBox="1"/>
          <p:nvPr/>
        </p:nvSpPr>
        <p:spPr>
          <a:xfrm>
            <a:off x="8157845" y="4935220"/>
            <a:ext cx="226885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/>
              <a:t>8-Connectivity</a:t>
            </a:r>
          </a:p>
          <a:p>
            <a:pPr algn="ctr"/>
            <a:r>
              <a:rPr lang="en-US" sz="2400"/>
              <a:t>(By default)</a:t>
            </a:r>
          </a:p>
        </p:txBody>
      </p:sp>
      <p:sp>
        <p:nvSpPr>
          <p:cNvPr id="9" name="Text Box 8"/>
          <p:cNvSpPr txBox="1"/>
          <p:nvPr/>
        </p:nvSpPr>
        <p:spPr>
          <a:xfrm>
            <a:off x="3481705" y="6200140"/>
            <a:ext cx="52279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rgbClr val="00B050"/>
                </a:solidFill>
                <a:sym typeface="+mn-ea"/>
              </a:rPr>
              <a:t>7 is in the Range [4-7]</a:t>
            </a:r>
            <a:endParaRPr lang="en-US" sz="2400"/>
          </a:p>
        </p:txBody>
      </p:sp>
      <p:graphicFrame>
        <p:nvGraphicFramePr>
          <p:cNvPr id="7" name="Table 6"/>
          <p:cNvGraphicFramePr/>
          <p:nvPr>
            <p:custDataLst>
              <p:tags r:id="rId1"/>
            </p:custDataLst>
          </p:nvPr>
        </p:nvGraphicFramePr>
        <p:xfrm>
          <a:off x="1838325" y="2940685"/>
          <a:ext cx="4269740" cy="3048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337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371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37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3371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3371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3371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3371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3371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1" name="Text Box 10"/>
          <p:cNvSpPr txBox="1"/>
          <p:nvPr/>
        </p:nvSpPr>
        <p:spPr>
          <a:xfrm>
            <a:off x="6443980" y="3808095"/>
            <a:ext cx="155829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/>
              <a:t>7-3=4</a:t>
            </a:r>
          </a:p>
        </p:txBody>
      </p:sp>
      <p:sp>
        <p:nvSpPr>
          <p:cNvPr id="12" name="Text Box 11"/>
          <p:cNvSpPr txBox="1"/>
          <p:nvPr/>
        </p:nvSpPr>
        <p:spPr>
          <a:xfrm>
            <a:off x="6443980" y="4561205"/>
            <a:ext cx="155829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/>
              <a:t>Range</a:t>
            </a:r>
          </a:p>
          <a:p>
            <a:pPr algn="ctr"/>
            <a:r>
              <a:rPr lang="en-US" sz="2400"/>
              <a:t>[4,7]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8" grpId="0"/>
      <p:bldP spid="6" grpId="0"/>
      <p:bldP spid="9" grpId="0"/>
      <p:bldP spid="9" grpId="1"/>
      <p:bldP spid="11" grpId="0"/>
      <p:bldP spid="12" grpId="0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ym typeface="+mn-ea"/>
              </a:rPr>
              <a:t>Case 2: Seed value given</a:t>
            </a:r>
            <a:endParaRPr lang="en-US"/>
          </a:p>
        </p:txBody>
      </p:sp>
      <p:sp>
        <p:nvSpPr>
          <p:cNvPr id="5" name="Text Box 4"/>
          <p:cNvSpPr txBox="1"/>
          <p:nvPr/>
        </p:nvSpPr>
        <p:spPr>
          <a:xfrm>
            <a:off x="996950" y="1616075"/>
            <a:ext cx="1040574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400"/>
              <a:t>Apply region growing on the following image with seed point as 6 and threshold value as 3.</a:t>
            </a:r>
          </a:p>
        </p:txBody>
      </p:sp>
      <p:sp>
        <p:nvSpPr>
          <p:cNvPr id="3" name="Text Box 2"/>
          <p:cNvSpPr txBox="1"/>
          <p:nvPr/>
        </p:nvSpPr>
        <p:spPr>
          <a:xfrm>
            <a:off x="8157845" y="3429000"/>
            <a:ext cx="22688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/>
              <a:t>Seed Value=6</a:t>
            </a:r>
          </a:p>
        </p:txBody>
      </p:sp>
      <p:sp>
        <p:nvSpPr>
          <p:cNvPr id="8" name="Text Box 7"/>
          <p:cNvSpPr txBox="1"/>
          <p:nvPr/>
        </p:nvSpPr>
        <p:spPr>
          <a:xfrm>
            <a:off x="8157845" y="4182110"/>
            <a:ext cx="22688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/>
              <a:t>T=3</a:t>
            </a:r>
          </a:p>
        </p:txBody>
      </p:sp>
      <p:sp>
        <p:nvSpPr>
          <p:cNvPr id="6" name="Text Box 5"/>
          <p:cNvSpPr txBox="1"/>
          <p:nvPr/>
        </p:nvSpPr>
        <p:spPr>
          <a:xfrm>
            <a:off x="8157845" y="4935220"/>
            <a:ext cx="226885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/>
              <a:t>8-Connectivity</a:t>
            </a:r>
          </a:p>
          <a:p>
            <a:pPr algn="ctr"/>
            <a:r>
              <a:rPr lang="en-US" sz="2400"/>
              <a:t>(By default)</a:t>
            </a:r>
          </a:p>
        </p:txBody>
      </p:sp>
      <p:sp>
        <p:nvSpPr>
          <p:cNvPr id="9" name="Text Box 8"/>
          <p:cNvSpPr txBox="1"/>
          <p:nvPr/>
        </p:nvSpPr>
        <p:spPr>
          <a:xfrm>
            <a:off x="3481705" y="6200140"/>
            <a:ext cx="52279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rgbClr val="00B050"/>
                </a:solidFill>
                <a:sym typeface="+mn-ea"/>
              </a:rPr>
              <a:t>7 is in the Range [4-7]</a:t>
            </a:r>
            <a:endParaRPr lang="en-US" sz="2400"/>
          </a:p>
        </p:txBody>
      </p:sp>
      <p:graphicFrame>
        <p:nvGraphicFramePr>
          <p:cNvPr id="7" name="Table 6"/>
          <p:cNvGraphicFramePr/>
          <p:nvPr>
            <p:custDataLst>
              <p:tags r:id="rId1"/>
            </p:custDataLst>
          </p:nvPr>
        </p:nvGraphicFramePr>
        <p:xfrm>
          <a:off x="1838325" y="2940685"/>
          <a:ext cx="4269740" cy="3048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337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371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37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3371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3371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3371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3371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3371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1" name="Text Box 10"/>
          <p:cNvSpPr txBox="1"/>
          <p:nvPr/>
        </p:nvSpPr>
        <p:spPr>
          <a:xfrm>
            <a:off x="6443980" y="3808095"/>
            <a:ext cx="155829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/>
              <a:t>7-3=4</a:t>
            </a:r>
          </a:p>
        </p:txBody>
      </p:sp>
      <p:sp>
        <p:nvSpPr>
          <p:cNvPr id="12" name="Text Box 11"/>
          <p:cNvSpPr txBox="1"/>
          <p:nvPr/>
        </p:nvSpPr>
        <p:spPr>
          <a:xfrm>
            <a:off x="6443980" y="4561205"/>
            <a:ext cx="155829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/>
              <a:t>Range</a:t>
            </a:r>
          </a:p>
          <a:p>
            <a:pPr algn="ctr"/>
            <a:r>
              <a:rPr lang="en-US" sz="2400"/>
              <a:t>[4,7]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ym typeface="+mn-ea"/>
              </a:rPr>
              <a:t>Case 2: Seed value given</a:t>
            </a:r>
            <a:endParaRPr lang="en-US"/>
          </a:p>
        </p:txBody>
      </p:sp>
      <p:sp>
        <p:nvSpPr>
          <p:cNvPr id="5" name="Text Box 4"/>
          <p:cNvSpPr txBox="1"/>
          <p:nvPr/>
        </p:nvSpPr>
        <p:spPr>
          <a:xfrm>
            <a:off x="996950" y="1616075"/>
            <a:ext cx="1040574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400"/>
              <a:t>Apply region growing on the following image with seed point as 6 and threshold value as 3.</a:t>
            </a:r>
          </a:p>
        </p:txBody>
      </p:sp>
      <p:sp>
        <p:nvSpPr>
          <p:cNvPr id="3" name="Text Box 2"/>
          <p:cNvSpPr txBox="1"/>
          <p:nvPr/>
        </p:nvSpPr>
        <p:spPr>
          <a:xfrm>
            <a:off x="8157845" y="3429000"/>
            <a:ext cx="22688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/>
              <a:t>Seed Value=6</a:t>
            </a:r>
          </a:p>
        </p:txBody>
      </p:sp>
      <p:sp>
        <p:nvSpPr>
          <p:cNvPr id="8" name="Text Box 7"/>
          <p:cNvSpPr txBox="1"/>
          <p:nvPr/>
        </p:nvSpPr>
        <p:spPr>
          <a:xfrm>
            <a:off x="8157845" y="4182110"/>
            <a:ext cx="22688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/>
              <a:t>T=3</a:t>
            </a:r>
          </a:p>
        </p:txBody>
      </p:sp>
      <p:sp>
        <p:nvSpPr>
          <p:cNvPr id="6" name="Text Box 5"/>
          <p:cNvSpPr txBox="1"/>
          <p:nvPr/>
        </p:nvSpPr>
        <p:spPr>
          <a:xfrm>
            <a:off x="8157845" y="4935220"/>
            <a:ext cx="226885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/>
              <a:t>8-Connectivity</a:t>
            </a:r>
          </a:p>
          <a:p>
            <a:pPr algn="ctr"/>
            <a:r>
              <a:rPr lang="en-US" sz="2400"/>
              <a:t>(By default)</a:t>
            </a:r>
          </a:p>
        </p:txBody>
      </p:sp>
      <p:sp>
        <p:nvSpPr>
          <p:cNvPr id="9" name="Text Box 8"/>
          <p:cNvSpPr txBox="1"/>
          <p:nvPr/>
        </p:nvSpPr>
        <p:spPr>
          <a:xfrm>
            <a:off x="3481705" y="6200140"/>
            <a:ext cx="52279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rgbClr val="00B050"/>
                </a:solidFill>
                <a:sym typeface="+mn-ea"/>
              </a:rPr>
              <a:t>7 is in the Range [4-7]</a:t>
            </a:r>
            <a:endParaRPr lang="en-US" sz="2400"/>
          </a:p>
        </p:txBody>
      </p:sp>
      <p:graphicFrame>
        <p:nvGraphicFramePr>
          <p:cNvPr id="7" name="Table 6"/>
          <p:cNvGraphicFramePr/>
          <p:nvPr>
            <p:custDataLst>
              <p:tags r:id="rId1"/>
            </p:custDataLst>
          </p:nvPr>
        </p:nvGraphicFramePr>
        <p:xfrm>
          <a:off x="1838325" y="2940685"/>
          <a:ext cx="4269740" cy="3048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337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371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37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3371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3371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3371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3371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3371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1" name="Text Box 10"/>
          <p:cNvSpPr txBox="1"/>
          <p:nvPr/>
        </p:nvSpPr>
        <p:spPr>
          <a:xfrm>
            <a:off x="6443980" y="3808095"/>
            <a:ext cx="155829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/>
              <a:t>7-3=4</a:t>
            </a:r>
          </a:p>
        </p:txBody>
      </p:sp>
      <p:sp>
        <p:nvSpPr>
          <p:cNvPr id="12" name="Text Box 11"/>
          <p:cNvSpPr txBox="1"/>
          <p:nvPr/>
        </p:nvSpPr>
        <p:spPr>
          <a:xfrm>
            <a:off x="6443980" y="4561205"/>
            <a:ext cx="155829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/>
              <a:t>Range</a:t>
            </a:r>
          </a:p>
          <a:p>
            <a:pPr algn="ctr"/>
            <a:r>
              <a:rPr lang="en-US" sz="2400"/>
              <a:t>[4,7]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8" grpId="0"/>
      <p:bldP spid="6" grpId="0"/>
      <p:bldP spid="9" grpId="0"/>
      <p:bldP spid="9" grpId="1"/>
      <p:bldP spid="11" grpId="0"/>
      <p:bldP spid="12" grpId="0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ym typeface="+mn-ea"/>
              </a:rPr>
              <a:t>Case 2: Seed value given</a:t>
            </a:r>
            <a:endParaRPr lang="en-US"/>
          </a:p>
        </p:txBody>
      </p:sp>
      <p:sp>
        <p:nvSpPr>
          <p:cNvPr id="5" name="Text Box 4"/>
          <p:cNvSpPr txBox="1"/>
          <p:nvPr/>
        </p:nvSpPr>
        <p:spPr>
          <a:xfrm>
            <a:off x="996950" y="1616075"/>
            <a:ext cx="1040574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400"/>
              <a:t>Apply region growing on the following image with seed point as 6 and threshold value as 3.</a:t>
            </a:r>
          </a:p>
        </p:txBody>
      </p:sp>
      <p:sp>
        <p:nvSpPr>
          <p:cNvPr id="3" name="Text Box 2"/>
          <p:cNvSpPr txBox="1"/>
          <p:nvPr/>
        </p:nvSpPr>
        <p:spPr>
          <a:xfrm>
            <a:off x="8157845" y="3429000"/>
            <a:ext cx="22688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/>
              <a:t>Seed Value=6</a:t>
            </a:r>
          </a:p>
        </p:txBody>
      </p:sp>
      <p:sp>
        <p:nvSpPr>
          <p:cNvPr id="8" name="Text Box 7"/>
          <p:cNvSpPr txBox="1"/>
          <p:nvPr/>
        </p:nvSpPr>
        <p:spPr>
          <a:xfrm>
            <a:off x="8157845" y="4182110"/>
            <a:ext cx="22688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/>
              <a:t>T=3</a:t>
            </a:r>
          </a:p>
        </p:txBody>
      </p:sp>
      <p:sp>
        <p:nvSpPr>
          <p:cNvPr id="6" name="Text Box 5"/>
          <p:cNvSpPr txBox="1"/>
          <p:nvPr/>
        </p:nvSpPr>
        <p:spPr>
          <a:xfrm>
            <a:off x="8157845" y="4935220"/>
            <a:ext cx="226885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/>
              <a:t>8-Connectivity</a:t>
            </a:r>
          </a:p>
          <a:p>
            <a:pPr algn="ctr"/>
            <a:r>
              <a:rPr lang="en-US" sz="2400"/>
              <a:t>(By default)</a:t>
            </a:r>
          </a:p>
        </p:txBody>
      </p:sp>
      <p:sp>
        <p:nvSpPr>
          <p:cNvPr id="9" name="Text Box 8"/>
          <p:cNvSpPr txBox="1"/>
          <p:nvPr/>
        </p:nvSpPr>
        <p:spPr>
          <a:xfrm>
            <a:off x="3481705" y="6200140"/>
            <a:ext cx="52279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rgbClr val="00B050"/>
                </a:solidFill>
                <a:sym typeface="+mn-ea"/>
              </a:rPr>
              <a:t>7 is in the Range [4-7]</a:t>
            </a:r>
            <a:endParaRPr lang="en-US" sz="2400"/>
          </a:p>
        </p:txBody>
      </p:sp>
      <p:graphicFrame>
        <p:nvGraphicFramePr>
          <p:cNvPr id="7" name="Table 6"/>
          <p:cNvGraphicFramePr/>
          <p:nvPr>
            <p:custDataLst>
              <p:tags r:id="rId1"/>
            </p:custDataLst>
          </p:nvPr>
        </p:nvGraphicFramePr>
        <p:xfrm>
          <a:off x="1838325" y="2940685"/>
          <a:ext cx="4269740" cy="3048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337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371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37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3371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3371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3371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3371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3371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1" name="Text Box 10"/>
          <p:cNvSpPr txBox="1"/>
          <p:nvPr/>
        </p:nvSpPr>
        <p:spPr>
          <a:xfrm>
            <a:off x="6443980" y="3808095"/>
            <a:ext cx="155829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/>
              <a:t>7-3=4</a:t>
            </a:r>
          </a:p>
        </p:txBody>
      </p:sp>
      <p:sp>
        <p:nvSpPr>
          <p:cNvPr id="12" name="Text Box 11"/>
          <p:cNvSpPr txBox="1"/>
          <p:nvPr/>
        </p:nvSpPr>
        <p:spPr>
          <a:xfrm>
            <a:off x="6443980" y="4561205"/>
            <a:ext cx="155829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/>
              <a:t>Range</a:t>
            </a:r>
          </a:p>
          <a:p>
            <a:pPr algn="ctr"/>
            <a:r>
              <a:rPr lang="en-US" sz="2400"/>
              <a:t>[4,7]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ym typeface="+mn-ea"/>
              </a:rPr>
              <a:t>Case 2: Seed value given</a:t>
            </a:r>
            <a:endParaRPr lang="en-US"/>
          </a:p>
        </p:txBody>
      </p:sp>
      <p:sp>
        <p:nvSpPr>
          <p:cNvPr id="5" name="Text Box 4"/>
          <p:cNvSpPr txBox="1"/>
          <p:nvPr/>
        </p:nvSpPr>
        <p:spPr>
          <a:xfrm>
            <a:off x="996950" y="1616075"/>
            <a:ext cx="1040574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400"/>
              <a:t>Apply region growing on the following image with seed point as 6 and threshold value as 3.</a:t>
            </a:r>
          </a:p>
        </p:txBody>
      </p:sp>
      <p:sp>
        <p:nvSpPr>
          <p:cNvPr id="3" name="Text Box 2"/>
          <p:cNvSpPr txBox="1"/>
          <p:nvPr/>
        </p:nvSpPr>
        <p:spPr>
          <a:xfrm>
            <a:off x="8157845" y="3429000"/>
            <a:ext cx="22688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/>
              <a:t>Seed Value=6</a:t>
            </a:r>
          </a:p>
        </p:txBody>
      </p:sp>
      <p:sp>
        <p:nvSpPr>
          <p:cNvPr id="8" name="Text Box 7"/>
          <p:cNvSpPr txBox="1"/>
          <p:nvPr/>
        </p:nvSpPr>
        <p:spPr>
          <a:xfrm>
            <a:off x="8157845" y="4182110"/>
            <a:ext cx="22688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/>
              <a:t>T=3</a:t>
            </a:r>
          </a:p>
        </p:txBody>
      </p:sp>
      <p:sp>
        <p:nvSpPr>
          <p:cNvPr id="6" name="Text Box 5"/>
          <p:cNvSpPr txBox="1"/>
          <p:nvPr/>
        </p:nvSpPr>
        <p:spPr>
          <a:xfrm>
            <a:off x="8157845" y="4935220"/>
            <a:ext cx="226885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/>
              <a:t>8-Connectivity</a:t>
            </a:r>
          </a:p>
          <a:p>
            <a:pPr algn="ctr"/>
            <a:r>
              <a:rPr lang="en-US" sz="2400"/>
              <a:t>(By default)</a:t>
            </a:r>
          </a:p>
        </p:txBody>
      </p:sp>
      <p:sp>
        <p:nvSpPr>
          <p:cNvPr id="9" name="Text Box 8"/>
          <p:cNvSpPr txBox="1"/>
          <p:nvPr/>
        </p:nvSpPr>
        <p:spPr>
          <a:xfrm>
            <a:off x="3481705" y="6200140"/>
            <a:ext cx="52279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rgbClr val="00B050"/>
                </a:solidFill>
                <a:sym typeface="+mn-ea"/>
              </a:rPr>
              <a:t>7 is in the Range [4-7]</a:t>
            </a:r>
            <a:endParaRPr lang="en-US" sz="2400"/>
          </a:p>
        </p:txBody>
      </p:sp>
      <p:graphicFrame>
        <p:nvGraphicFramePr>
          <p:cNvPr id="7" name="Table 6"/>
          <p:cNvGraphicFramePr/>
          <p:nvPr>
            <p:custDataLst>
              <p:tags r:id="rId1"/>
            </p:custDataLst>
          </p:nvPr>
        </p:nvGraphicFramePr>
        <p:xfrm>
          <a:off x="1838325" y="2940685"/>
          <a:ext cx="4269740" cy="3048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337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371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37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3371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3371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3371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3371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3371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1" name="Text Box 10"/>
          <p:cNvSpPr txBox="1"/>
          <p:nvPr/>
        </p:nvSpPr>
        <p:spPr>
          <a:xfrm>
            <a:off x="6443980" y="3808095"/>
            <a:ext cx="155829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/>
              <a:t>7-3=4</a:t>
            </a:r>
          </a:p>
        </p:txBody>
      </p:sp>
      <p:sp>
        <p:nvSpPr>
          <p:cNvPr id="12" name="Text Box 11"/>
          <p:cNvSpPr txBox="1"/>
          <p:nvPr/>
        </p:nvSpPr>
        <p:spPr>
          <a:xfrm>
            <a:off x="6443980" y="4561205"/>
            <a:ext cx="155829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/>
              <a:t>Range</a:t>
            </a:r>
          </a:p>
          <a:p>
            <a:pPr algn="ctr"/>
            <a:r>
              <a:rPr lang="en-US" sz="2400"/>
              <a:t>[4,7]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8" grpId="0"/>
      <p:bldP spid="6" grpId="0"/>
      <p:bldP spid="9" grpId="0"/>
      <p:bldP spid="9" grpId="1"/>
      <p:bldP spid="11" grpId="0"/>
      <p:bldP spid="12" grpId="0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ym typeface="+mn-ea"/>
              </a:rPr>
              <a:t>Case 2: Seed value given</a:t>
            </a:r>
            <a:endParaRPr lang="en-US"/>
          </a:p>
        </p:txBody>
      </p:sp>
      <p:sp>
        <p:nvSpPr>
          <p:cNvPr id="5" name="Text Box 4"/>
          <p:cNvSpPr txBox="1"/>
          <p:nvPr/>
        </p:nvSpPr>
        <p:spPr>
          <a:xfrm>
            <a:off x="996950" y="1616075"/>
            <a:ext cx="1040574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400"/>
              <a:t>Apply region growing on the following image with seed point as 6 and threshold value as 3.</a:t>
            </a:r>
          </a:p>
        </p:txBody>
      </p:sp>
      <p:sp>
        <p:nvSpPr>
          <p:cNvPr id="3" name="Text Box 2"/>
          <p:cNvSpPr txBox="1"/>
          <p:nvPr/>
        </p:nvSpPr>
        <p:spPr>
          <a:xfrm>
            <a:off x="8157845" y="3429000"/>
            <a:ext cx="22688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/>
              <a:t>Seed Value=6</a:t>
            </a:r>
          </a:p>
        </p:txBody>
      </p:sp>
      <p:sp>
        <p:nvSpPr>
          <p:cNvPr id="8" name="Text Box 7"/>
          <p:cNvSpPr txBox="1"/>
          <p:nvPr/>
        </p:nvSpPr>
        <p:spPr>
          <a:xfrm>
            <a:off x="8157845" y="4182110"/>
            <a:ext cx="22688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/>
              <a:t>T=3</a:t>
            </a:r>
          </a:p>
        </p:txBody>
      </p:sp>
      <p:sp>
        <p:nvSpPr>
          <p:cNvPr id="6" name="Text Box 5"/>
          <p:cNvSpPr txBox="1"/>
          <p:nvPr/>
        </p:nvSpPr>
        <p:spPr>
          <a:xfrm>
            <a:off x="8157845" y="4935220"/>
            <a:ext cx="226885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/>
              <a:t>8-Connectivity</a:t>
            </a:r>
          </a:p>
          <a:p>
            <a:pPr algn="ctr"/>
            <a:r>
              <a:rPr lang="en-US" sz="2400"/>
              <a:t>(By default)</a:t>
            </a:r>
          </a:p>
        </p:txBody>
      </p:sp>
      <p:sp>
        <p:nvSpPr>
          <p:cNvPr id="9" name="Text Box 8"/>
          <p:cNvSpPr txBox="1"/>
          <p:nvPr/>
        </p:nvSpPr>
        <p:spPr>
          <a:xfrm>
            <a:off x="3481705" y="6200140"/>
            <a:ext cx="52279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rgbClr val="00B050"/>
                </a:solidFill>
                <a:sym typeface="+mn-ea"/>
              </a:rPr>
              <a:t>7 is in the Range [4-7]</a:t>
            </a:r>
            <a:endParaRPr lang="en-US" sz="2400"/>
          </a:p>
        </p:txBody>
      </p:sp>
      <p:graphicFrame>
        <p:nvGraphicFramePr>
          <p:cNvPr id="7" name="Table 6"/>
          <p:cNvGraphicFramePr/>
          <p:nvPr>
            <p:custDataLst>
              <p:tags r:id="rId1"/>
            </p:custDataLst>
          </p:nvPr>
        </p:nvGraphicFramePr>
        <p:xfrm>
          <a:off x="1838325" y="2940685"/>
          <a:ext cx="4269740" cy="3048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337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371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37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3371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3371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3371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3371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3371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1" name="Text Box 10"/>
          <p:cNvSpPr txBox="1"/>
          <p:nvPr/>
        </p:nvSpPr>
        <p:spPr>
          <a:xfrm>
            <a:off x="6443980" y="3808095"/>
            <a:ext cx="155829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/>
              <a:t>7-3=4</a:t>
            </a:r>
          </a:p>
        </p:txBody>
      </p:sp>
      <p:sp>
        <p:nvSpPr>
          <p:cNvPr id="12" name="Text Box 11"/>
          <p:cNvSpPr txBox="1"/>
          <p:nvPr/>
        </p:nvSpPr>
        <p:spPr>
          <a:xfrm>
            <a:off x="6443980" y="4561205"/>
            <a:ext cx="155829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/>
              <a:t>Range</a:t>
            </a:r>
          </a:p>
          <a:p>
            <a:pPr algn="ctr"/>
            <a:r>
              <a:rPr lang="en-US" sz="2400"/>
              <a:t>[4,7]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ym typeface="+mn-ea"/>
              </a:rPr>
              <a:t>Case 2: Seed value given</a:t>
            </a:r>
            <a:endParaRPr lang="en-US"/>
          </a:p>
        </p:txBody>
      </p:sp>
      <p:sp>
        <p:nvSpPr>
          <p:cNvPr id="5" name="Text Box 4"/>
          <p:cNvSpPr txBox="1"/>
          <p:nvPr/>
        </p:nvSpPr>
        <p:spPr>
          <a:xfrm>
            <a:off x="996950" y="1616075"/>
            <a:ext cx="1040574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400"/>
              <a:t>Apply region growing on the following image with seed point as 6 and threshold value as 3.</a:t>
            </a:r>
          </a:p>
        </p:txBody>
      </p:sp>
      <p:sp>
        <p:nvSpPr>
          <p:cNvPr id="3" name="Text Box 2"/>
          <p:cNvSpPr txBox="1"/>
          <p:nvPr/>
        </p:nvSpPr>
        <p:spPr>
          <a:xfrm>
            <a:off x="8157845" y="3429000"/>
            <a:ext cx="22688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/>
              <a:t>Seed Value=6</a:t>
            </a:r>
          </a:p>
        </p:txBody>
      </p:sp>
      <p:sp>
        <p:nvSpPr>
          <p:cNvPr id="8" name="Text Box 7"/>
          <p:cNvSpPr txBox="1"/>
          <p:nvPr/>
        </p:nvSpPr>
        <p:spPr>
          <a:xfrm>
            <a:off x="8157845" y="4182110"/>
            <a:ext cx="22688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/>
              <a:t>T=3</a:t>
            </a:r>
          </a:p>
        </p:txBody>
      </p:sp>
      <p:sp>
        <p:nvSpPr>
          <p:cNvPr id="6" name="Text Box 5"/>
          <p:cNvSpPr txBox="1"/>
          <p:nvPr/>
        </p:nvSpPr>
        <p:spPr>
          <a:xfrm>
            <a:off x="8157845" y="4935220"/>
            <a:ext cx="226885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/>
              <a:t>8-Connectivity</a:t>
            </a:r>
          </a:p>
          <a:p>
            <a:pPr algn="ctr"/>
            <a:r>
              <a:rPr lang="en-US" sz="2400"/>
              <a:t>(By default)</a:t>
            </a:r>
          </a:p>
        </p:txBody>
      </p:sp>
      <p:sp>
        <p:nvSpPr>
          <p:cNvPr id="9" name="Text Box 8"/>
          <p:cNvSpPr txBox="1"/>
          <p:nvPr/>
        </p:nvSpPr>
        <p:spPr>
          <a:xfrm>
            <a:off x="3481705" y="6200140"/>
            <a:ext cx="52279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rgbClr val="00B050"/>
                </a:solidFill>
                <a:sym typeface="+mn-ea"/>
              </a:rPr>
              <a:t>5 is in the Range [4-7]</a:t>
            </a:r>
            <a:endParaRPr lang="en-US" sz="2400"/>
          </a:p>
        </p:txBody>
      </p:sp>
      <p:graphicFrame>
        <p:nvGraphicFramePr>
          <p:cNvPr id="7" name="Table 6"/>
          <p:cNvGraphicFramePr/>
          <p:nvPr>
            <p:custDataLst>
              <p:tags r:id="rId1"/>
            </p:custDataLst>
          </p:nvPr>
        </p:nvGraphicFramePr>
        <p:xfrm>
          <a:off x="1838325" y="2940685"/>
          <a:ext cx="4269740" cy="3048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337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371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37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3371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3371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3371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3371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3371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1" name="Text Box 10"/>
          <p:cNvSpPr txBox="1"/>
          <p:nvPr/>
        </p:nvSpPr>
        <p:spPr>
          <a:xfrm>
            <a:off x="6443980" y="3808095"/>
            <a:ext cx="155829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/>
              <a:t>7-3=4</a:t>
            </a:r>
          </a:p>
        </p:txBody>
      </p:sp>
      <p:sp>
        <p:nvSpPr>
          <p:cNvPr id="12" name="Text Box 11"/>
          <p:cNvSpPr txBox="1"/>
          <p:nvPr/>
        </p:nvSpPr>
        <p:spPr>
          <a:xfrm>
            <a:off x="6443980" y="4561205"/>
            <a:ext cx="155829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/>
              <a:t>Range</a:t>
            </a:r>
          </a:p>
          <a:p>
            <a:pPr algn="ctr"/>
            <a:r>
              <a:rPr lang="en-US" sz="2400"/>
              <a:t>[4,7]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8" grpId="0"/>
      <p:bldP spid="6" grpId="0"/>
      <p:bldP spid="9" grpId="0"/>
      <p:bldP spid="9" grpId="1"/>
      <p:bldP spid="11" grpId="0"/>
      <p:bldP spid="12" grpId="0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ym typeface="+mn-ea"/>
              </a:rPr>
              <a:t>Case 2: Seed value given</a:t>
            </a:r>
            <a:endParaRPr lang="en-US"/>
          </a:p>
        </p:txBody>
      </p:sp>
      <p:sp>
        <p:nvSpPr>
          <p:cNvPr id="5" name="Text Box 4"/>
          <p:cNvSpPr txBox="1"/>
          <p:nvPr/>
        </p:nvSpPr>
        <p:spPr>
          <a:xfrm>
            <a:off x="996950" y="1616075"/>
            <a:ext cx="1040574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400"/>
              <a:t>Apply region growing on the following image with seed point as 6 and threshold value as 3.</a:t>
            </a:r>
          </a:p>
        </p:txBody>
      </p:sp>
      <p:sp>
        <p:nvSpPr>
          <p:cNvPr id="3" name="Text Box 2"/>
          <p:cNvSpPr txBox="1"/>
          <p:nvPr/>
        </p:nvSpPr>
        <p:spPr>
          <a:xfrm>
            <a:off x="8157845" y="3429000"/>
            <a:ext cx="22688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/>
              <a:t>Seed Value=6</a:t>
            </a:r>
          </a:p>
        </p:txBody>
      </p:sp>
      <p:sp>
        <p:nvSpPr>
          <p:cNvPr id="8" name="Text Box 7"/>
          <p:cNvSpPr txBox="1"/>
          <p:nvPr/>
        </p:nvSpPr>
        <p:spPr>
          <a:xfrm>
            <a:off x="8157845" y="4182110"/>
            <a:ext cx="22688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/>
              <a:t>T=3</a:t>
            </a:r>
          </a:p>
        </p:txBody>
      </p:sp>
      <p:sp>
        <p:nvSpPr>
          <p:cNvPr id="6" name="Text Box 5"/>
          <p:cNvSpPr txBox="1"/>
          <p:nvPr/>
        </p:nvSpPr>
        <p:spPr>
          <a:xfrm>
            <a:off x="8157845" y="4935220"/>
            <a:ext cx="226885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/>
              <a:t>8-Connectivity</a:t>
            </a:r>
          </a:p>
          <a:p>
            <a:pPr algn="ctr"/>
            <a:r>
              <a:rPr lang="en-US" sz="2400"/>
              <a:t>(By default)</a:t>
            </a:r>
          </a:p>
        </p:txBody>
      </p:sp>
      <p:sp>
        <p:nvSpPr>
          <p:cNvPr id="9" name="Text Box 8"/>
          <p:cNvSpPr txBox="1"/>
          <p:nvPr/>
        </p:nvSpPr>
        <p:spPr>
          <a:xfrm>
            <a:off x="3481705" y="6200140"/>
            <a:ext cx="52279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rgbClr val="00B050"/>
                </a:solidFill>
                <a:sym typeface="+mn-ea"/>
              </a:rPr>
              <a:t>5 is in the Range [4-7]</a:t>
            </a:r>
            <a:endParaRPr lang="en-US" sz="2400"/>
          </a:p>
        </p:txBody>
      </p:sp>
      <p:graphicFrame>
        <p:nvGraphicFramePr>
          <p:cNvPr id="7" name="Table 6"/>
          <p:cNvGraphicFramePr/>
          <p:nvPr>
            <p:custDataLst>
              <p:tags r:id="rId1"/>
            </p:custDataLst>
          </p:nvPr>
        </p:nvGraphicFramePr>
        <p:xfrm>
          <a:off x="1838325" y="2940685"/>
          <a:ext cx="4269740" cy="3048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337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371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37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3371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3371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3371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3371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3371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1" name="Text Box 10"/>
          <p:cNvSpPr txBox="1"/>
          <p:nvPr/>
        </p:nvSpPr>
        <p:spPr>
          <a:xfrm>
            <a:off x="6443980" y="3808095"/>
            <a:ext cx="155829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/>
              <a:t>7-3=4</a:t>
            </a:r>
          </a:p>
        </p:txBody>
      </p:sp>
      <p:sp>
        <p:nvSpPr>
          <p:cNvPr id="12" name="Text Box 11"/>
          <p:cNvSpPr txBox="1"/>
          <p:nvPr/>
        </p:nvSpPr>
        <p:spPr>
          <a:xfrm>
            <a:off x="6443980" y="4561205"/>
            <a:ext cx="155829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/>
              <a:t>Range</a:t>
            </a:r>
          </a:p>
          <a:p>
            <a:pPr algn="ctr"/>
            <a:r>
              <a:rPr lang="en-US" sz="2400"/>
              <a:t>[4,7]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ym typeface="+mn-ea"/>
              </a:rPr>
              <a:t>Case 2: Seed value given</a:t>
            </a:r>
            <a:endParaRPr lang="en-US"/>
          </a:p>
        </p:txBody>
      </p:sp>
      <p:sp>
        <p:nvSpPr>
          <p:cNvPr id="5" name="Text Box 4"/>
          <p:cNvSpPr txBox="1"/>
          <p:nvPr/>
        </p:nvSpPr>
        <p:spPr>
          <a:xfrm>
            <a:off x="996950" y="1616075"/>
            <a:ext cx="1040574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400"/>
              <a:t>Apply region growing on the following image with seed point as 6 and threshold value as 3.</a:t>
            </a:r>
          </a:p>
        </p:txBody>
      </p:sp>
      <p:sp>
        <p:nvSpPr>
          <p:cNvPr id="3" name="Text Box 2"/>
          <p:cNvSpPr txBox="1"/>
          <p:nvPr/>
        </p:nvSpPr>
        <p:spPr>
          <a:xfrm>
            <a:off x="8157845" y="3429000"/>
            <a:ext cx="22688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/>
              <a:t>Seed Value=6</a:t>
            </a:r>
          </a:p>
        </p:txBody>
      </p:sp>
      <p:sp>
        <p:nvSpPr>
          <p:cNvPr id="8" name="Text Box 7"/>
          <p:cNvSpPr txBox="1"/>
          <p:nvPr/>
        </p:nvSpPr>
        <p:spPr>
          <a:xfrm>
            <a:off x="8157845" y="4182110"/>
            <a:ext cx="22688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/>
              <a:t>T=3</a:t>
            </a:r>
          </a:p>
        </p:txBody>
      </p:sp>
      <p:sp>
        <p:nvSpPr>
          <p:cNvPr id="6" name="Text Box 5"/>
          <p:cNvSpPr txBox="1"/>
          <p:nvPr/>
        </p:nvSpPr>
        <p:spPr>
          <a:xfrm>
            <a:off x="8157845" y="4935220"/>
            <a:ext cx="226885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/>
              <a:t>8-Connectivity</a:t>
            </a:r>
          </a:p>
          <a:p>
            <a:pPr algn="ctr"/>
            <a:r>
              <a:rPr lang="en-US" sz="2400"/>
              <a:t>(By default)</a:t>
            </a:r>
          </a:p>
        </p:txBody>
      </p:sp>
      <p:sp>
        <p:nvSpPr>
          <p:cNvPr id="9" name="Text Box 8"/>
          <p:cNvSpPr txBox="1"/>
          <p:nvPr/>
        </p:nvSpPr>
        <p:spPr>
          <a:xfrm>
            <a:off x="3481705" y="6200140"/>
            <a:ext cx="52279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rgbClr val="00B050"/>
                </a:solidFill>
                <a:sym typeface="+mn-ea"/>
              </a:rPr>
              <a:t>5 is in the Range [4-7]</a:t>
            </a:r>
            <a:endParaRPr lang="en-US" sz="2400"/>
          </a:p>
        </p:txBody>
      </p:sp>
      <p:graphicFrame>
        <p:nvGraphicFramePr>
          <p:cNvPr id="7" name="Table 6"/>
          <p:cNvGraphicFramePr/>
          <p:nvPr>
            <p:custDataLst>
              <p:tags r:id="rId1"/>
            </p:custDataLst>
          </p:nvPr>
        </p:nvGraphicFramePr>
        <p:xfrm>
          <a:off x="1838325" y="2940685"/>
          <a:ext cx="4269740" cy="3048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337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371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37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3371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3371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3371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3371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3371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1" name="Text Box 10"/>
          <p:cNvSpPr txBox="1"/>
          <p:nvPr/>
        </p:nvSpPr>
        <p:spPr>
          <a:xfrm>
            <a:off x="6443980" y="3808095"/>
            <a:ext cx="155829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/>
              <a:t>7-3=4</a:t>
            </a:r>
          </a:p>
        </p:txBody>
      </p:sp>
      <p:sp>
        <p:nvSpPr>
          <p:cNvPr id="12" name="Text Box 11"/>
          <p:cNvSpPr txBox="1"/>
          <p:nvPr/>
        </p:nvSpPr>
        <p:spPr>
          <a:xfrm>
            <a:off x="6443980" y="4561205"/>
            <a:ext cx="155829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/>
              <a:t>Range</a:t>
            </a:r>
          </a:p>
          <a:p>
            <a:pPr algn="ctr"/>
            <a:r>
              <a:rPr lang="en-US" sz="2400"/>
              <a:t>[4,7]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8" grpId="0"/>
      <p:bldP spid="6" grpId="0"/>
      <p:bldP spid="9" grpId="0"/>
      <p:bldP spid="9" grpId="1"/>
      <p:bldP spid="11" grpId="0"/>
      <p:bldP spid="12" grpId="0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ym typeface="+mn-ea"/>
              </a:rPr>
              <a:t>Case 2: Seed value given</a:t>
            </a:r>
            <a:endParaRPr lang="en-US"/>
          </a:p>
        </p:txBody>
      </p:sp>
      <p:sp>
        <p:nvSpPr>
          <p:cNvPr id="5" name="Text Box 4"/>
          <p:cNvSpPr txBox="1"/>
          <p:nvPr/>
        </p:nvSpPr>
        <p:spPr>
          <a:xfrm>
            <a:off x="996950" y="1616075"/>
            <a:ext cx="1040574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400"/>
              <a:t>Apply region growing on the following image with seed point as 6 and threshold value as 3.</a:t>
            </a:r>
          </a:p>
        </p:txBody>
      </p:sp>
      <p:sp>
        <p:nvSpPr>
          <p:cNvPr id="3" name="Text Box 2"/>
          <p:cNvSpPr txBox="1"/>
          <p:nvPr/>
        </p:nvSpPr>
        <p:spPr>
          <a:xfrm>
            <a:off x="8157845" y="3429000"/>
            <a:ext cx="22688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/>
              <a:t>Seed Value=6</a:t>
            </a:r>
          </a:p>
        </p:txBody>
      </p:sp>
      <p:sp>
        <p:nvSpPr>
          <p:cNvPr id="8" name="Text Box 7"/>
          <p:cNvSpPr txBox="1"/>
          <p:nvPr/>
        </p:nvSpPr>
        <p:spPr>
          <a:xfrm>
            <a:off x="8157845" y="4182110"/>
            <a:ext cx="22688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/>
              <a:t>T=3</a:t>
            </a:r>
          </a:p>
        </p:txBody>
      </p:sp>
      <p:sp>
        <p:nvSpPr>
          <p:cNvPr id="6" name="Text Box 5"/>
          <p:cNvSpPr txBox="1"/>
          <p:nvPr/>
        </p:nvSpPr>
        <p:spPr>
          <a:xfrm>
            <a:off x="8157845" y="4935220"/>
            <a:ext cx="226885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/>
              <a:t>8-Connectivity</a:t>
            </a:r>
          </a:p>
          <a:p>
            <a:pPr algn="ctr"/>
            <a:r>
              <a:rPr lang="en-US" sz="2400"/>
              <a:t>(By default)</a:t>
            </a:r>
          </a:p>
        </p:txBody>
      </p:sp>
      <p:sp>
        <p:nvSpPr>
          <p:cNvPr id="9" name="Text Box 8"/>
          <p:cNvSpPr txBox="1"/>
          <p:nvPr/>
        </p:nvSpPr>
        <p:spPr>
          <a:xfrm>
            <a:off x="3481705" y="6200140"/>
            <a:ext cx="52279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rgbClr val="00B050"/>
                </a:solidFill>
                <a:sym typeface="+mn-ea"/>
              </a:rPr>
              <a:t>5 is in the Range [4-7]</a:t>
            </a:r>
            <a:endParaRPr lang="en-US" sz="2400"/>
          </a:p>
        </p:txBody>
      </p:sp>
      <p:graphicFrame>
        <p:nvGraphicFramePr>
          <p:cNvPr id="7" name="Table 6"/>
          <p:cNvGraphicFramePr/>
          <p:nvPr>
            <p:custDataLst>
              <p:tags r:id="rId1"/>
            </p:custDataLst>
          </p:nvPr>
        </p:nvGraphicFramePr>
        <p:xfrm>
          <a:off x="1838325" y="2940685"/>
          <a:ext cx="4269740" cy="3048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337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371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37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3371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3371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3371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3371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3371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1" name="Text Box 10"/>
          <p:cNvSpPr txBox="1"/>
          <p:nvPr/>
        </p:nvSpPr>
        <p:spPr>
          <a:xfrm>
            <a:off x="6443980" y="3808095"/>
            <a:ext cx="155829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/>
              <a:t>7-3=4</a:t>
            </a:r>
          </a:p>
        </p:txBody>
      </p:sp>
      <p:sp>
        <p:nvSpPr>
          <p:cNvPr id="12" name="Text Box 11"/>
          <p:cNvSpPr txBox="1"/>
          <p:nvPr/>
        </p:nvSpPr>
        <p:spPr>
          <a:xfrm>
            <a:off x="6443980" y="4561205"/>
            <a:ext cx="155829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/>
              <a:t>Range</a:t>
            </a:r>
          </a:p>
          <a:p>
            <a:pPr algn="ctr"/>
            <a:r>
              <a:rPr lang="en-US" sz="2400"/>
              <a:t>[4,7]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ym typeface="+mn-ea"/>
              </a:rPr>
              <a:t>Case 2: Seed value given</a:t>
            </a:r>
            <a:endParaRPr lang="en-US"/>
          </a:p>
        </p:txBody>
      </p:sp>
      <p:sp>
        <p:nvSpPr>
          <p:cNvPr id="5" name="Text Box 4"/>
          <p:cNvSpPr txBox="1"/>
          <p:nvPr/>
        </p:nvSpPr>
        <p:spPr>
          <a:xfrm>
            <a:off x="996950" y="1616075"/>
            <a:ext cx="1040574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400"/>
              <a:t>Apply region growing on the following image with seed point as 6 and threshold value as 3.</a:t>
            </a:r>
          </a:p>
        </p:txBody>
      </p:sp>
      <p:sp>
        <p:nvSpPr>
          <p:cNvPr id="3" name="Text Box 2"/>
          <p:cNvSpPr txBox="1"/>
          <p:nvPr/>
        </p:nvSpPr>
        <p:spPr>
          <a:xfrm>
            <a:off x="8157845" y="3429000"/>
            <a:ext cx="22688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/>
              <a:t>Seed Value=6</a:t>
            </a:r>
          </a:p>
        </p:txBody>
      </p:sp>
      <p:sp>
        <p:nvSpPr>
          <p:cNvPr id="8" name="Text Box 7"/>
          <p:cNvSpPr txBox="1"/>
          <p:nvPr/>
        </p:nvSpPr>
        <p:spPr>
          <a:xfrm>
            <a:off x="8157845" y="4182110"/>
            <a:ext cx="22688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/>
              <a:t>T=3</a:t>
            </a:r>
          </a:p>
        </p:txBody>
      </p:sp>
      <p:sp>
        <p:nvSpPr>
          <p:cNvPr id="6" name="Text Box 5"/>
          <p:cNvSpPr txBox="1"/>
          <p:nvPr/>
        </p:nvSpPr>
        <p:spPr>
          <a:xfrm>
            <a:off x="8157845" y="4935220"/>
            <a:ext cx="226885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/>
              <a:t>8-Connectivity</a:t>
            </a:r>
          </a:p>
          <a:p>
            <a:pPr algn="ctr"/>
            <a:r>
              <a:rPr lang="en-US" sz="2400"/>
              <a:t>(By default)</a:t>
            </a:r>
          </a:p>
        </p:txBody>
      </p:sp>
      <p:sp>
        <p:nvSpPr>
          <p:cNvPr id="9" name="Text Box 8"/>
          <p:cNvSpPr txBox="1"/>
          <p:nvPr/>
        </p:nvSpPr>
        <p:spPr>
          <a:xfrm>
            <a:off x="3481705" y="6200140"/>
            <a:ext cx="52279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rgbClr val="00B050"/>
                </a:solidFill>
                <a:sym typeface="+mn-ea"/>
              </a:rPr>
              <a:t>4 is in the Range [4-7]</a:t>
            </a:r>
            <a:endParaRPr lang="en-US" sz="2400"/>
          </a:p>
        </p:txBody>
      </p:sp>
      <p:graphicFrame>
        <p:nvGraphicFramePr>
          <p:cNvPr id="7" name="Table 6"/>
          <p:cNvGraphicFramePr/>
          <p:nvPr>
            <p:custDataLst>
              <p:tags r:id="rId1"/>
            </p:custDataLst>
          </p:nvPr>
        </p:nvGraphicFramePr>
        <p:xfrm>
          <a:off x="1838325" y="2940685"/>
          <a:ext cx="4269740" cy="3048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337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371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37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3371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3371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3371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3371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3371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1" name="Text Box 10"/>
          <p:cNvSpPr txBox="1"/>
          <p:nvPr/>
        </p:nvSpPr>
        <p:spPr>
          <a:xfrm>
            <a:off x="6443980" y="3808095"/>
            <a:ext cx="155829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/>
              <a:t>7-3=4</a:t>
            </a:r>
          </a:p>
        </p:txBody>
      </p:sp>
      <p:sp>
        <p:nvSpPr>
          <p:cNvPr id="12" name="Text Box 11"/>
          <p:cNvSpPr txBox="1"/>
          <p:nvPr/>
        </p:nvSpPr>
        <p:spPr>
          <a:xfrm>
            <a:off x="6443980" y="4561205"/>
            <a:ext cx="155829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/>
              <a:t>Range</a:t>
            </a:r>
          </a:p>
          <a:p>
            <a:pPr algn="ctr"/>
            <a:r>
              <a:rPr lang="en-US" sz="2400"/>
              <a:t>[4,7]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8" grpId="0"/>
      <p:bldP spid="6" grpId="0"/>
      <p:bldP spid="9" grpId="0"/>
      <p:bldP spid="9" grpId="1"/>
      <p:bldP spid="11" grpId="0"/>
      <p:bldP spid="12" grpId="0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ym typeface="+mn-ea"/>
              </a:rPr>
              <a:t>Case 2: Seed value given</a:t>
            </a:r>
            <a:endParaRPr lang="en-US"/>
          </a:p>
        </p:txBody>
      </p:sp>
      <p:sp>
        <p:nvSpPr>
          <p:cNvPr id="5" name="Text Box 4"/>
          <p:cNvSpPr txBox="1"/>
          <p:nvPr/>
        </p:nvSpPr>
        <p:spPr>
          <a:xfrm>
            <a:off x="996950" y="1616075"/>
            <a:ext cx="1040574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400"/>
              <a:t>Apply region growing on the following image with seed point as 6 and threshold value as 3.</a:t>
            </a:r>
          </a:p>
        </p:txBody>
      </p:sp>
      <p:sp>
        <p:nvSpPr>
          <p:cNvPr id="3" name="Text Box 2"/>
          <p:cNvSpPr txBox="1"/>
          <p:nvPr/>
        </p:nvSpPr>
        <p:spPr>
          <a:xfrm>
            <a:off x="8157845" y="3429000"/>
            <a:ext cx="22688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/>
              <a:t>Seed Value=6</a:t>
            </a:r>
          </a:p>
        </p:txBody>
      </p:sp>
      <p:sp>
        <p:nvSpPr>
          <p:cNvPr id="8" name="Text Box 7"/>
          <p:cNvSpPr txBox="1"/>
          <p:nvPr/>
        </p:nvSpPr>
        <p:spPr>
          <a:xfrm>
            <a:off x="8157845" y="4182110"/>
            <a:ext cx="22688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/>
              <a:t>T=3</a:t>
            </a:r>
          </a:p>
        </p:txBody>
      </p:sp>
      <p:sp>
        <p:nvSpPr>
          <p:cNvPr id="6" name="Text Box 5"/>
          <p:cNvSpPr txBox="1"/>
          <p:nvPr/>
        </p:nvSpPr>
        <p:spPr>
          <a:xfrm>
            <a:off x="8157845" y="4935220"/>
            <a:ext cx="226885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/>
              <a:t>8-Connectivity</a:t>
            </a:r>
          </a:p>
          <a:p>
            <a:pPr algn="ctr"/>
            <a:r>
              <a:rPr lang="en-US" sz="2400"/>
              <a:t>(By default)</a:t>
            </a:r>
          </a:p>
        </p:txBody>
      </p:sp>
      <p:sp>
        <p:nvSpPr>
          <p:cNvPr id="9" name="Text Box 8"/>
          <p:cNvSpPr txBox="1"/>
          <p:nvPr/>
        </p:nvSpPr>
        <p:spPr>
          <a:xfrm>
            <a:off x="3481705" y="6200140"/>
            <a:ext cx="52279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rgbClr val="00B050"/>
                </a:solidFill>
                <a:sym typeface="+mn-ea"/>
              </a:rPr>
              <a:t>4 is in the Range [4-7]</a:t>
            </a:r>
            <a:endParaRPr lang="en-US" sz="2400"/>
          </a:p>
        </p:txBody>
      </p:sp>
      <p:graphicFrame>
        <p:nvGraphicFramePr>
          <p:cNvPr id="7" name="Table 6"/>
          <p:cNvGraphicFramePr/>
          <p:nvPr>
            <p:custDataLst>
              <p:tags r:id="rId1"/>
            </p:custDataLst>
          </p:nvPr>
        </p:nvGraphicFramePr>
        <p:xfrm>
          <a:off x="1838325" y="2940685"/>
          <a:ext cx="4269740" cy="3048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337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371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37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3371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3371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3371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3371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3371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1" name="Text Box 10"/>
          <p:cNvSpPr txBox="1"/>
          <p:nvPr/>
        </p:nvSpPr>
        <p:spPr>
          <a:xfrm>
            <a:off x="6443980" y="3808095"/>
            <a:ext cx="155829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/>
              <a:t>7-3=4</a:t>
            </a:r>
          </a:p>
        </p:txBody>
      </p:sp>
      <p:sp>
        <p:nvSpPr>
          <p:cNvPr id="12" name="Text Box 11"/>
          <p:cNvSpPr txBox="1"/>
          <p:nvPr/>
        </p:nvSpPr>
        <p:spPr>
          <a:xfrm>
            <a:off x="6443980" y="4561205"/>
            <a:ext cx="155829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/>
              <a:t>Range</a:t>
            </a:r>
          </a:p>
          <a:p>
            <a:pPr algn="ctr"/>
            <a:r>
              <a:rPr lang="en-US" sz="2400"/>
              <a:t>[4,7]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ym typeface="+mn-ea"/>
              </a:rPr>
              <a:t>Case 2: Seed value given</a:t>
            </a:r>
            <a:endParaRPr lang="en-US"/>
          </a:p>
        </p:txBody>
      </p:sp>
      <p:sp>
        <p:nvSpPr>
          <p:cNvPr id="5" name="Text Box 4"/>
          <p:cNvSpPr txBox="1"/>
          <p:nvPr/>
        </p:nvSpPr>
        <p:spPr>
          <a:xfrm>
            <a:off x="996950" y="1616075"/>
            <a:ext cx="1040574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400"/>
              <a:t>Apply region growing on the following image with seed point as 6 and threshold value as 3.</a:t>
            </a:r>
          </a:p>
        </p:txBody>
      </p:sp>
      <p:sp>
        <p:nvSpPr>
          <p:cNvPr id="3" name="Text Box 2"/>
          <p:cNvSpPr txBox="1"/>
          <p:nvPr/>
        </p:nvSpPr>
        <p:spPr>
          <a:xfrm>
            <a:off x="8157845" y="3429000"/>
            <a:ext cx="22688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/>
              <a:t>Seed Value=6</a:t>
            </a:r>
          </a:p>
        </p:txBody>
      </p:sp>
      <p:sp>
        <p:nvSpPr>
          <p:cNvPr id="8" name="Text Box 7"/>
          <p:cNvSpPr txBox="1"/>
          <p:nvPr/>
        </p:nvSpPr>
        <p:spPr>
          <a:xfrm>
            <a:off x="8157845" y="4182110"/>
            <a:ext cx="22688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/>
              <a:t>T=3</a:t>
            </a:r>
          </a:p>
        </p:txBody>
      </p:sp>
      <p:sp>
        <p:nvSpPr>
          <p:cNvPr id="6" name="Text Box 5"/>
          <p:cNvSpPr txBox="1"/>
          <p:nvPr/>
        </p:nvSpPr>
        <p:spPr>
          <a:xfrm>
            <a:off x="8157845" y="4935220"/>
            <a:ext cx="226885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/>
              <a:t>8-Connectivity</a:t>
            </a:r>
          </a:p>
          <a:p>
            <a:pPr algn="ctr"/>
            <a:r>
              <a:rPr lang="en-US" sz="2400"/>
              <a:t>(By default)</a:t>
            </a:r>
          </a:p>
        </p:txBody>
      </p:sp>
      <p:sp>
        <p:nvSpPr>
          <p:cNvPr id="9" name="Text Box 8"/>
          <p:cNvSpPr txBox="1"/>
          <p:nvPr/>
        </p:nvSpPr>
        <p:spPr>
          <a:xfrm>
            <a:off x="3481705" y="6200140"/>
            <a:ext cx="52279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rgbClr val="00B050"/>
                </a:solidFill>
                <a:sym typeface="+mn-ea"/>
              </a:rPr>
              <a:t>7 is in the Range [4-7]</a:t>
            </a:r>
            <a:endParaRPr lang="en-US" sz="2400"/>
          </a:p>
        </p:txBody>
      </p:sp>
      <p:graphicFrame>
        <p:nvGraphicFramePr>
          <p:cNvPr id="7" name="Table 6"/>
          <p:cNvGraphicFramePr/>
          <p:nvPr>
            <p:custDataLst>
              <p:tags r:id="rId1"/>
            </p:custDataLst>
          </p:nvPr>
        </p:nvGraphicFramePr>
        <p:xfrm>
          <a:off x="1838325" y="2940685"/>
          <a:ext cx="4269740" cy="3048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337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371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37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3371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3371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3371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3371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3371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1" name="Text Box 10"/>
          <p:cNvSpPr txBox="1"/>
          <p:nvPr/>
        </p:nvSpPr>
        <p:spPr>
          <a:xfrm>
            <a:off x="6443980" y="3808095"/>
            <a:ext cx="155829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/>
              <a:t>7-3=4</a:t>
            </a:r>
          </a:p>
        </p:txBody>
      </p:sp>
      <p:sp>
        <p:nvSpPr>
          <p:cNvPr id="12" name="Text Box 11"/>
          <p:cNvSpPr txBox="1"/>
          <p:nvPr/>
        </p:nvSpPr>
        <p:spPr>
          <a:xfrm>
            <a:off x="6443980" y="4561205"/>
            <a:ext cx="155829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/>
              <a:t>Range</a:t>
            </a:r>
          </a:p>
          <a:p>
            <a:pPr algn="ctr"/>
            <a:r>
              <a:rPr lang="en-US" sz="2400"/>
              <a:t>[4,7]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8" grpId="0"/>
      <p:bldP spid="6" grpId="0"/>
      <p:bldP spid="9" grpId="0"/>
      <p:bldP spid="9" grpId="1"/>
      <p:bldP spid="11" grpId="0"/>
      <p:bldP spid="12" grpId="0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ym typeface="+mn-ea"/>
              </a:rPr>
              <a:t>Case 2: Seed value given</a:t>
            </a:r>
            <a:endParaRPr lang="en-US"/>
          </a:p>
        </p:txBody>
      </p:sp>
      <p:sp>
        <p:nvSpPr>
          <p:cNvPr id="5" name="Text Box 4"/>
          <p:cNvSpPr txBox="1"/>
          <p:nvPr/>
        </p:nvSpPr>
        <p:spPr>
          <a:xfrm>
            <a:off x="996950" y="1616075"/>
            <a:ext cx="1040574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400"/>
              <a:t>Apply region growing on the following image with seed point as 6 and threshold value as 3.</a:t>
            </a:r>
          </a:p>
        </p:txBody>
      </p:sp>
      <p:sp>
        <p:nvSpPr>
          <p:cNvPr id="3" name="Text Box 2"/>
          <p:cNvSpPr txBox="1"/>
          <p:nvPr/>
        </p:nvSpPr>
        <p:spPr>
          <a:xfrm>
            <a:off x="8157845" y="3429000"/>
            <a:ext cx="22688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/>
              <a:t>Seed Value=6</a:t>
            </a:r>
          </a:p>
        </p:txBody>
      </p:sp>
      <p:sp>
        <p:nvSpPr>
          <p:cNvPr id="8" name="Text Box 7"/>
          <p:cNvSpPr txBox="1"/>
          <p:nvPr/>
        </p:nvSpPr>
        <p:spPr>
          <a:xfrm>
            <a:off x="8157845" y="4182110"/>
            <a:ext cx="22688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/>
              <a:t>T=3</a:t>
            </a:r>
          </a:p>
        </p:txBody>
      </p:sp>
      <p:sp>
        <p:nvSpPr>
          <p:cNvPr id="6" name="Text Box 5"/>
          <p:cNvSpPr txBox="1"/>
          <p:nvPr/>
        </p:nvSpPr>
        <p:spPr>
          <a:xfrm>
            <a:off x="8157845" y="4935220"/>
            <a:ext cx="226885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/>
              <a:t>8-Connectivity</a:t>
            </a:r>
          </a:p>
          <a:p>
            <a:pPr algn="ctr"/>
            <a:r>
              <a:rPr lang="en-US" sz="2400"/>
              <a:t>(By default)</a:t>
            </a:r>
          </a:p>
        </p:txBody>
      </p:sp>
      <p:sp>
        <p:nvSpPr>
          <p:cNvPr id="9" name="Text Box 8"/>
          <p:cNvSpPr txBox="1"/>
          <p:nvPr/>
        </p:nvSpPr>
        <p:spPr>
          <a:xfrm>
            <a:off x="3481705" y="6200140"/>
            <a:ext cx="52279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rgbClr val="00B050"/>
                </a:solidFill>
                <a:sym typeface="+mn-ea"/>
              </a:rPr>
              <a:t>7 is in the Range [4-7]</a:t>
            </a:r>
            <a:endParaRPr lang="en-US" sz="2400"/>
          </a:p>
        </p:txBody>
      </p:sp>
      <p:graphicFrame>
        <p:nvGraphicFramePr>
          <p:cNvPr id="7" name="Table 6"/>
          <p:cNvGraphicFramePr/>
          <p:nvPr>
            <p:custDataLst>
              <p:tags r:id="rId1"/>
            </p:custDataLst>
          </p:nvPr>
        </p:nvGraphicFramePr>
        <p:xfrm>
          <a:off x="1838325" y="2940685"/>
          <a:ext cx="4269740" cy="3048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337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371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37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3371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3371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3371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3371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3371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1" name="Text Box 10"/>
          <p:cNvSpPr txBox="1"/>
          <p:nvPr/>
        </p:nvSpPr>
        <p:spPr>
          <a:xfrm>
            <a:off x="6443980" y="3808095"/>
            <a:ext cx="155829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/>
              <a:t>7-3=4</a:t>
            </a:r>
          </a:p>
        </p:txBody>
      </p:sp>
      <p:sp>
        <p:nvSpPr>
          <p:cNvPr id="12" name="Text Box 11"/>
          <p:cNvSpPr txBox="1"/>
          <p:nvPr/>
        </p:nvSpPr>
        <p:spPr>
          <a:xfrm>
            <a:off x="6443980" y="4561205"/>
            <a:ext cx="155829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/>
              <a:t>Range</a:t>
            </a:r>
          </a:p>
          <a:p>
            <a:pPr algn="ctr"/>
            <a:r>
              <a:rPr lang="en-US" sz="2400"/>
              <a:t>[4,7]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ym typeface="+mn-ea"/>
              </a:rPr>
              <a:t>Case 2: Seed value given</a:t>
            </a:r>
            <a:endParaRPr lang="en-US"/>
          </a:p>
        </p:txBody>
      </p:sp>
      <p:sp>
        <p:nvSpPr>
          <p:cNvPr id="5" name="Text Box 4"/>
          <p:cNvSpPr txBox="1"/>
          <p:nvPr/>
        </p:nvSpPr>
        <p:spPr>
          <a:xfrm>
            <a:off x="996950" y="1616075"/>
            <a:ext cx="1040574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400"/>
              <a:t>Apply region growing on the following image with seed point as 6 and threshold value as 3.</a:t>
            </a:r>
          </a:p>
        </p:txBody>
      </p:sp>
      <p:sp>
        <p:nvSpPr>
          <p:cNvPr id="3" name="Text Box 2"/>
          <p:cNvSpPr txBox="1"/>
          <p:nvPr/>
        </p:nvSpPr>
        <p:spPr>
          <a:xfrm>
            <a:off x="8157845" y="3429000"/>
            <a:ext cx="22688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/>
              <a:t>Seed Value=6</a:t>
            </a:r>
          </a:p>
        </p:txBody>
      </p:sp>
      <p:sp>
        <p:nvSpPr>
          <p:cNvPr id="8" name="Text Box 7"/>
          <p:cNvSpPr txBox="1"/>
          <p:nvPr/>
        </p:nvSpPr>
        <p:spPr>
          <a:xfrm>
            <a:off x="8157845" y="4182110"/>
            <a:ext cx="22688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/>
              <a:t>T=3</a:t>
            </a:r>
          </a:p>
        </p:txBody>
      </p:sp>
      <p:sp>
        <p:nvSpPr>
          <p:cNvPr id="6" name="Text Box 5"/>
          <p:cNvSpPr txBox="1"/>
          <p:nvPr/>
        </p:nvSpPr>
        <p:spPr>
          <a:xfrm>
            <a:off x="8157845" y="4935220"/>
            <a:ext cx="226885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/>
              <a:t>8-Connectivity</a:t>
            </a:r>
          </a:p>
          <a:p>
            <a:pPr algn="ctr"/>
            <a:r>
              <a:rPr lang="en-US" sz="2400"/>
              <a:t>(By default)</a:t>
            </a:r>
          </a:p>
        </p:txBody>
      </p:sp>
      <p:sp>
        <p:nvSpPr>
          <p:cNvPr id="9" name="Text Box 8"/>
          <p:cNvSpPr txBox="1"/>
          <p:nvPr/>
        </p:nvSpPr>
        <p:spPr>
          <a:xfrm>
            <a:off x="3481705" y="6200140"/>
            <a:ext cx="52279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rgbClr val="00B050"/>
                </a:solidFill>
                <a:sym typeface="+mn-ea"/>
              </a:rPr>
              <a:t>4 is in the Range [4-7]</a:t>
            </a:r>
            <a:endParaRPr lang="en-US" sz="2400"/>
          </a:p>
        </p:txBody>
      </p:sp>
      <p:graphicFrame>
        <p:nvGraphicFramePr>
          <p:cNvPr id="7" name="Table 6"/>
          <p:cNvGraphicFramePr/>
          <p:nvPr>
            <p:custDataLst>
              <p:tags r:id="rId1"/>
            </p:custDataLst>
          </p:nvPr>
        </p:nvGraphicFramePr>
        <p:xfrm>
          <a:off x="1838325" y="2940685"/>
          <a:ext cx="4269740" cy="3048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337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371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37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3371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3371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3371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3371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3371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1" name="Text Box 10"/>
          <p:cNvSpPr txBox="1"/>
          <p:nvPr/>
        </p:nvSpPr>
        <p:spPr>
          <a:xfrm>
            <a:off x="6443980" y="3808095"/>
            <a:ext cx="155829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/>
              <a:t>7-3=4</a:t>
            </a:r>
          </a:p>
        </p:txBody>
      </p:sp>
      <p:sp>
        <p:nvSpPr>
          <p:cNvPr id="12" name="Text Box 11"/>
          <p:cNvSpPr txBox="1"/>
          <p:nvPr/>
        </p:nvSpPr>
        <p:spPr>
          <a:xfrm>
            <a:off x="6443980" y="4561205"/>
            <a:ext cx="155829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/>
              <a:t>Range</a:t>
            </a:r>
          </a:p>
          <a:p>
            <a:pPr algn="ctr"/>
            <a:r>
              <a:rPr lang="en-US" sz="2400"/>
              <a:t>[4,7]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8" grpId="0"/>
      <p:bldP spid="6" grpId="0"/>
      <p:bldP spid="9" grpId="0"/>
      <p:bldP spid="9" grpId="1"/>
      <p:bldP spid="11" grpId="0"/>
      <p:bldP spid="12" grpId="0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ym typeface="+mn-ea"/>
              </a:rPr>
              <a:t>Case 2: Seed value given</a:t>
            </a:r>
            <a:endParaRPr lang="en-US"/>
          </a:p>
        </p:txBody>
      </p:sp>
      <p:sp>
        <p:nvSpPr>
          <p:cNvPr id="5" name="Text Box 4"/>
          <p:cNvSpPr txBox="1"/>
          <p:nvPr/>
        </p:nvSpPr>
        <p:spPr>
          <a:xfrm>
            <a:off x="996950" y="1616075"/>
            <a:ext cx="1040574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400"/>
              <a:t>Apply region growing on the following image with seed point as 6 and threshold value as 3.</a:t>
            </a:r>
          </a:p>
        </p:txBody>
      </p:sp>
      <p:sp>
        <p:nvSpPr>
          <p:cNvPr id="3" name="Text Box 2"/>
          <p:cNvSpPr txBox="1"/>
          <p:nvPr/>
        </p:nvSpPr>
        <p:spPr>
          <a:xfrm>
            <a:off x="8157845" y="3429000"/>
            <a:ext cx="22688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/>
              <a:t>Seed Value=6</a:t>
            </a:r>
          </a:p>
        </p:txBody>
      </p:sp>
      <p:sp>
        <p:nvSpPr>
          <p:cNvPr id="8" name="Text Box 7"/>
          <p:cNvSpPr txBox="1"/>
          <p:nvPr/>
        </p:nvSpPr>
        <p:spPr>
          <a:xfrm>
            <a:off x="8157845" y="4182110"/>
            <a:ext cx="22688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/>
              <a:t>T=3</a:t>
            </a:r>
          </a:p>
        </p:txBody>
      </p:sp>
      <p:sp>
        <p:nvSpPr>
          <p:cNvPr id="6" name="Text Box 5"/>
          <p:cNvSpPr txBox="1"/>
          <p:nvPr/>
        </p:nvSpPr>
        <p:spPr>
          <a:xfrm>
            <a:off x="8157845" y="4935220"/>
            <a:ext cx="226885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/>
              <a:t>8-Connectivity</a:t>
            </a:r>
          </a:p>
          <a:p>
            <a:pPr algn="ctr"/>
            <a:r>
              <a:rPr lang="en-US" sz="2400"/>
              <a:t>(By default)</a:t>
            </a:r>
          </a:p>
        </p:txBody>
      </p:sp>
      <p:sp>
        <p:nvSpPr>
          <p:cNvPr id="9" name="Text Box 8"/>
          <p:cNvSpPr txBox="1"/>
          <p:nvPr/>
        </p:nvSpPr>
        <p:spPr>
          <a:xfrm>
            <a:off x="3481705" y="6200140"/>
            <a:ext cx="52279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rgbClr val="00B050"/>
                </a:solidFill>
                <a:sym typeface="+mn-ea"/>
              </a:rPr>
              <a:t>4 is in the Range [4-7]</a:t>
            </a:r>
            <a:endParaRPr lang="en-US" sz="2400"/>
          </a:p>
        </p:txBody>
      </p:sp>
      <p:graphicFrame>
        <p:nvGraphicFramePr>
          <p:cNvPr id="7" name="Table 6"/>
          <p:cNvGraphicFramePr/>
          <p:nvPr>
            <p:custDataLst>
              <p:tags r:id="rId1"/>
            </p:custDataLst>
          </p:nvPr>
        </p:nvGraphicFramePr>
        <p:xfrm>
          <a:off x="1838325" y="2940685"/>
          <a:ext cx="4269740" cy="3048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337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371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37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3371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3371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3371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3371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3371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1" name="Text Box 10"/>
          <p:cNvSpPr txBox="1"/>
          <p:nvPr/>
        </p:nvSpPr>
        <p:spPr>
          <a:xfrm>
            <a:off x="6443980" y="3808095"/>
            <a:ext cx="155829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/>
              <a:t>7-3=4</a:t>
            </a:r>
          </a:p>
        </p:txBody>
      </p:sp>
      <p:sp>
        <p:nvSpPr>
          <p:cNvPr id="12" name="Text Box 11"/>
          <p:cNvSpPr txBox="1"/>
          <p:nvPr/>
        </p:nvSpPr>
        <p:spPr>
          <a:xfrm>
            <a:off x="6443980" y="4561205"/>
            <a:ext cx="155829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/>
              <a:t>Range</a:t>
            </a:r>
          </a:p>
          <a:p>
            <a:pPr algn="ctr"/>
            <a:r>
              <a:rPr lang="en-US" sz="2400"/>
              <a:t>[4,7]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ym typeface="+mn-ea"/>
              </a:rPr>
              <a:t>Case 2: Seed value given</a:t>
            </a:r>
            <a:endParaRPr lang="en-US"/>
          </a:p>
        </p:txBody>
      </p:sp>
      <p:sp>
        <p:nvSpPr>
          <p:cNvPr id="5" name="Text Box 4"/>
          <p:cNvSpPr txBox="1"/>
          <p:nvPr/>
        </p:nvSpPr>
        <p:spPr>
          <a:xfrm>
            <a:off x="996950" y="1616075"/>
            <a:ext cx="1040574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400"/>
              <a:t>Apply region growing on the following image with seed point as 6 and threshold value as 3.</a:t>
            </a:r>
          </a:p>
        </p:txBody>
      </p:sp>
      <p:sp>
        <p:nvSpPr>
          <p:cNvPr id="3" name="Text Box 2"/>
          <p:cNvSpPr txBox="1"/>
          <p:nvPr/>
        </p:nvSpPr>
        <p:spPr>
          <a:xfrm>
            <a:off x="8157845" y="3429000"/>
            <a:ext cx="22688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/>
              <a:t>Seed Value=6</a:t>
            </a:r>
          </a:p>
        </p:txBody>
      </p:sp>
      <p:sp>
        <p:nvSpPr>
          <p:cNvPr id="8" name="Text Box 7"/>
          <p:cNvSpPr txBox="1"/>
          <p:nvPr/>
        </p:nvSpPr>
        <p:spPr>
          <a:xfrm>
            <a:off x="8157845" y="4182110"/>
            <a:ext cx="22688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/>
              <a:t>T=3</a:t>
            </a:r>
          </a:p>
        </p:txBody>
      </p:sp>
      <p:sp>
        <p:nvSpPr>
          <p:cNvPr id="6" name="Text Box 5"/>
          <p:cNvSpPr txBox="1"/>
          <p:nvPr/>
        </p:nvSpPr>
        <p:spPr>
          <a:xfrm>
            <a:off x="8157845" y="4935220"/>
            <a:ext cx="226885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/>
              <a:t>8-Connectivity</a:t>
            </a:r>
          </a:p>
          <a:p>
            <a:pPr algn="ctr"/>
            <a:r>
              <a:rPr lang="en-US" sz="2400"/>
              <a:t>(By default)</a:t>
            </a:r>
          </a:p>
        </p:txBody>
      </p:sp>
      <p:sp>
        <p:nvSpPr>
          <p:cNvPr id="9" name="Text Box 8"/>
          <p:cNvSpPr txBox="1"/>
          <p:nvPr/>
        </p:nvSpPr>
        <p:spPr>
          <a:xfrm>
            <a:off x="3481705" y="6200140"/>
            <a:ext cx="52279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rgbClr val="00B050"/>
                </a:solidFill>
                <a:sym typeface="+mn-ea"/>
              </a:rPr>
              <a:t>4 is in the Range [4-7]</a:t>
            </a:r>
            <a:endParaRPr lang="en-US" sz="2400"/>
          </a:p>
        </p:txBody>
      </p:sp>
      <p:graphicFrame>
        <p:nvGraphicFramePr>
          <p:cNvPr id="7" name="Table 6"/>
          <p:cNvGraphicFramePr/>
          <p:nvPr>
            <p:custDataLst>
              <p:tags r:id="rId1"/>
            </p:custDataLst>
          </p:nvPr>
        </p:nvGraphicFramePr>
        <p:xfrm>
          <a:off x="1838325" y="2940685"/>
          <a:ext cx="4269740" cy="3048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337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371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37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3371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3371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3371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3371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3371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1" name="Text Box 10"/>
          <p:cNvSpPr txBox="1"/>
          <p:nvPr/>
        </p:nvSpPr>
        <p:spPr>
          <a:xfrm>
            <a:off x="6443980" y="3808095"/>
            <a:ext cx="155829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/>
              <a:t>7-3=4</a:t>
            </a:r>
          </a:p>
        </p:txBody>
      </p:sp>
      <p:sp>
        <p:nvSpPr>
          <p:cNvPr id="12" name="Text Box 11"/>
          <p:cNvSpPr txBox="1"/>
          <p:nvPr/>
        </p:nvSpPr>
        <p:spPr>
          <a:xfrm>
            <a:off x="6443980" y="4561205"/>
            <a:ext cx="155829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/>
              <a:t>Range</a:t>
            </a:r>
          </a:p>
          <a:p>
            <a:pPr algn="ctr"/>
            <a:r>
              <a:rPr lang="en-US" sz="2400"/>
              <a:t>[4,7]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8" grpId="0"/>
      <p:bldP spid="6" grpId="0"/>
      <p:bldP spid="9" grpId="0"/>
      <p:bldP spid="9" grpId="1"/>
      <p:bldP spid="11" grpId="0"/>
      <p:bldP spid="12" grpId="0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ym typeface="+mn-ea"/>
              </a:rPr>
              <a:t>Case 2: Seed value given</a:t>
            </a:r>
            <a:endParaRPr lang="en-US"/>
          </a:p>
        </p:txBody>
      </p:sp>
      <p:sp>
        <p:nvSpPr>
          <p:cNvPr id="5" name="Text Box 4"/>
          <p:cNvSpPr txBox="1"/>
          <p:nvPr/>
        </p:nvSpPr>
        <p:spPr>
          <a:xfrm>
            <a:off x="996950" y="1616075"/>
            <a:ext cx="1040574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400"/>
              <a:t>Apply region growing on the following image with seed point as 6 and threshold value as 3.</a:t>
            </a:r>
          </a:p>
        </p:txBody>
      </p:sp>
      <p:sp>
        <p:nvSpPr>
          <p:cNvPr id="3" name="Text Box 2"/>
          <p:cNvSpPr txBox="1"/>
          <p:nvPr/>
        </p:nvSpPr>
        <p:spPr>
          <a:xfrm>
            <a:off x="8157845" y="3429000"/>
            <a:ext cx="22688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/>
              <a:t>Seed Value=6</a:t>
            </a:r>
          </a:p>
        </p:txBody>
      </p:sp>
      <p:sp>
        <p:nvSpPr>
          <p:cNvPr id="8" name="Text Box 7"/>
          <p:cNvSpPr txBox="1"/>
          <p:nvPr/>
        </p:nvSpPr>
        <p:spPr>
          <a:xfrm>
            <a:off x="8157845" y="4182110"/>
            <a:ext cx="22688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/>
              <a:t>T=3</a:t>
            </a:r>
          </a:p>
        </p:txBody>
      </p:sp>
      <p:sp>
        <p:nvSpPr>
          <p:cNvPr id="6" name="Text Box 5"/>
          <p:cNvSpPr txBox="1"/>
          <p:nvPr/>
        </p:nvSpPr>
        <p:spPr>
          <a:xfrm>
            <a:off x="8157845" y="4935220"/>
            <a:ext cx="226885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/>
              <a:t>8-Connectivity</a:t>
            </a:r>
          </a:p>
          <a:p>
            <a:pPr algn="ctr"/>
            <a:r>
              <a:rPr lang="en-US" sz="2400"/>
              <a:t>(By default)</a:t>
            </a:r>
          </a:p>
        </p:txBody>
      </p:sp>
      <p:sp>
        <p:nvSpPr>
          <p:cNvPr id="9" name="Text Box 8"/>
          <p:cNvSpPr txBox="1"/>
          <p:nvPr/>
        </p:nvSpPr>
        <p:spPr>
          <a:xfrm>
            <a:off x="3481705" y="6200140"/>
            <a:ext cx="52279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rgbClr val="00B050"/>
                </a:solidFill>
                <a:sym typeface="+mn-ea"/>
              </a:rPr>
              <a:t>4 is in the Range [4-7]</a:t>
            </a:r>
            <a:endParaRPr lang="en-US" sz="2400"/>
          </a:p>
        </p:txBody>
      </p:sp>
      <p:graphicFrame>
        <p:nvGraphicFramePr>
          <p:cNvPr id="7" name="Table 6"/>
          <p:cNvGraphicFramePr/>
          <p:nvPr>
            <p:custDataLst>
              <p:tags r:id="rId1"/>
            </p:custDataLst>
          </p:nvPr>
        </p:nvGraphicFramePr>
        <p:xfrm>
          <a:off x="1838325" y="2940685"/>
          <a:ext cx="4269740" cy="3048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337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371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37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3371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3371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3371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3371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3371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1" name="Text Box 10"/>
          <p:cNvSpPr txBox="1"/>
          <p:nvPr/>
        </p:nvSpPr>
        <p:spPr>
          <a:xfrm>
            <a:off x="6443980" y="3808095"/>
            <a:ext cx="155829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/>
              <a:t>7-3=4</a:t>
            </a:r>
          </a:p>
        </p:txBody>
      </p:sp>
      <p:sp>
        <p:nvSpPr>
          <p:cNvPr id="12" name="Text Box 11"/>
          <p:cNvSpPr txBox="1"/>
          <p:nvPr/>
        </p:nvSpPr>
        <p:spPr>
          <a:xfrm>
            <a:off x="6443980" y="4561205"/>
            <a:ext cx="155829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/>
              <a:t>Range</a:t>
            </a:r>
          </a:p>
          <a:p>
            <a:pPr algn="ctr"/>
            <a:r>
              <a:rPr lang="en-US" sz="2400"/>
              <a:t>[4,7]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ym typeface="+mn-ea"/>
              </a:rPr>
              <a:t>Case 2: Seed value given</a:t>
            </a:r>
            <a:endParaRPr lang="en-US"/>
          </a:p>
        </p:txBody>
      </p:sp>
      <p:sp>
        <p:nvSpPr>
          <p:cNvPr id="5" name="Text Box 4"/>
          <p:cNvSpPr txBox="1"/>
          <p:nvPr/>
        </p:nvSpPr>
        <p:spPr>
          <a:xfrm>
            <a:off x="996950" y="1616075"/>
            <a:ext cx="1040574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400"/>
              <a:t>Apply region growing on the following image with seed point as 6 and threshold value as 3.</a:t>
            </a:r>
          </a:p>
        </p:txBody>
      </p:sp>
      <p:sp>
        <p:nvSpPr>
          <p:cNvPr id="3" name="Text Box 2"/>
          <p:cNvSpPr txBox="1"/>
          <p:nvPr/>
        </p:nvSpPr>
        <p:spPr>
          <a:xfrm>
            <a:off x="8157845" y="3429000"/>
            <a:ext cx="22688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/>
              <a:t>Seed Value=6</a:t>
            </a:r>
          </a:p>
        </p:txBody>
      </p:sp>
      <p:sp>
        <p:nvSpPr>
          <p:cNvPr id="8" name="Text Box 7"/>
          <p:cNvSpPr txBox="1"/>
          <p:nvPr/>
        </p:nvSpPr>
        <p:spPr>
          <a:xfrm>
            <a:off x="8157845" y="4182110"/>
            <a:ext cx="22688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/>
              <a:t>T=3</a:t>
            </a:r>
          </a:p>
        </p:txBody>
      </p:sp>
      <p:sp>
        <p:nvSpPr>
          <p:cNvPr id="6" name="Text Box 5"/>
          <p:cNvSpPr txBox="1"/>
          <p:nvPr/>
        </p:nvSpPr>
        <p:spPr>
          <a:xfrm>
            <a:off x="8157845" y="4935220"/>
            <a:ext cx="226885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/>
              <a:t>8-Connectivity</a:t>
            </a:r>
          </a:p>
          <a:p>
            <a:pPr algn="ctr"/>
            <a:r>
              <a:rPr lang="en-US" sz="2400"/>
              <a:t>(By default)</a:t>
            </a:r>
          </a:p>
        </p:txBody>
      </p:sp>
      <p:sp>
        <p:nvSpPr>
          <p:cNvPr id="9" name="Text Box 8"/>
          <p:cNvSpPr txBox="1"/>
          <p:nvPr/>
        </p:nvSpPr>
        <p:spPr>
          <a:xfrm>
            <a:off x="3481705" y="6200140"/>
            <a:ext cx="52279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rgbClr val="00B050"/>
                </a:solidFill>
                <a:sym typeface="+mn-ea"/>
              </a:rPr>
              <a:t>5 is in the Range [4-7]</a:t>
            </a:r>
            <a:endParaRPr lang="en-US" sz="2400"/>
          </a:p>
        </p:txBody>
      </p:sp>
      <p:graphicFrame>
        <p:nvGraphicFramePr>
          <p:cNvPr id="7" name="Table 6"/>
          <p:cNvGraphicFramePr/>
          <p:nvPr>
            <p:custDataLst>
              <p:tags r:id="rId1"/>
            </p:custDataLst>
          </p:nvPr>
        </p:nvGraphicFramePr>
        <p:xfrm>
          <a:off x="1838325" y="2940685"/>
          <a:ext cx="4269740" cy="3048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337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371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37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3371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3371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3371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3371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3371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1" name="Text Box 10"/>
          <p:cNvSpPr txBox="1"/>
          <p:nvPr/>
        </p:nvSpPr>
        <p:spPr>
          <a:xfrm>
            <a:off x="6443980" y="3808095"/>
            <a:ext cx="155829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/>
              <a:t>7-3=4</a:t>
            </a:r>
          </a:p>
        </p:txBody>
      </p:sp>
      <p:sp>
        <p:nvSpPr>
          <p:cNvPr id="12" name="Text Box 11"/>
          <p:cNvSpPr txBox="1"/>
          <p:nvPr/>
        </p:nvSpPr>
        <p:spPr>
          <a:xfrm>
            <a:off x="6443980" y="4561205"/>
            <a:ext cx="155829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/>
              <a:t>Range</a:t>
            </a:r>
          </a:p>
          <a:p>
            <a:pPr algn="ctr"/>
            <a:r>
              <a:rPr lang="en-US" sz="2400"/>
              <a:t>[4,7]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8" grpId="0"/>
      <p:bldP spid="6" grpId="0"/>
      <p:bldP spid="9" grpId="0"/>
      <p:bldP spid="9" grpId="1"/>
      <p:bldP spid="11" grpId="0"/>
      <p:bldP spid="12" grpId="0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ym typeface="+mn-ea"/>
              </a:rPr>
              <a:t>Case 2: Seed value given</a:t>
            </a:r>
            <a:endParaRPr lang="en-US"/>
          </a:p>
        </p:txBody>
      </p:sp>
      <p:sp>
        <p:nvSpPr>
          <p:cNvPr id="5" name="Text Box 4"/>
          <p:cNvSpPr txBox="1"/>
          <p:nvPr/>
        </p:nvSpPr>
        <p:spPr>
          <a:xfrm>
            <a:off x="996950" y="1616075"/>
            <a:ext cx="1040574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400"/>
              <a:t>Apply region growing on the following image with seed point as 6 and threshold value as 3.</a:t>
            </a:r>
          </a:p>
        </p:txBody>
      </p:sp>
      <p:sp>
        <p:nvSpPr>
          <p:cNvPr id="3" name="Text Box 2"/>
          <p:cNvSpPr txBox="1"/>
          <p:nvPr/>
        </p:nvSpPr>
        <p:spPr>
          <a:xfrm>
            <a:off x="8157845" y="3429000"/>
            <a:ext cx="22688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/>
              <a:t>Seed Value=6</a:t>
            </a:r>
          </a:p>
        </p:txBody>
      </p:sp>
      <p:sp>
        <p:nvSpPr>
          <p:cNvPr id="8" name="Text Box 7"/>
          <p:cNvSpPr txBox="1"/>
          <p:nvPr/>
        </p:nvSpPr>
        <p:spPr>
          <a:xfrm>
            <a:off x="8157845" y="4182110"/>
            <a:ext cx="22688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/>
              <a:t>T=3</a:t>
            </a:r>
          </a:p>
        </p:txBody>
      </p:sp>
      <p:sp>
        <p:nvSpPr>
          <p:cNvPr id="6" name="Text Box 5"/>
          <p:cNvSpPr txBox="1"/>
          <p:nvPr/>
        </p:nvSpPr>
        <p:spPr>
          <a:xfrm>
            <a:off x="8157845" y="4935220"/>
            <a:ext cx="226885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/>
              <a:t>8-Connectivity</a:t>
            </a:r>
          </a:p>
          <a:p>
            <a:pPr algn="ctr"/>
            <a:r>
              <a:rPr lang="en-US" sz="2400"/>
              <a:t>(By default)</a:t>
            </a:r>
          </a:p>
        </p:txBody>
      </p:sp>
      <p:sp>
        <p:nvSpPr>
          <p:cNvPr id="9" name="Text Box 8"/>
          <p:cNvSpPr txBox="1"/>
          <p:nvPr/>
        </p:nvSpPr>
        <p:spPr>
          <a:xfrm>
            <a:off x="3481705" y="6200140"/>
            <a:ext cx="52279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rgbClr val="00B050"/>
                </a:solidFill>
                <a:sym typeface="+mn-ea"/>
              </a:rPr>
              <a:t>5 is in the Range [4-7]</a:t>
            </a:r>
            <a:endParaRPr lang="en-US" sz="2400"/>
          </a:p>
        </p:txBody>
      </p:sp>
      <p:graphicFrame>
        <p:nvGraphicFramePr>
          <p:cNvPr id="7" name="Table 6"/>
          <p:cNvGraphicFramePr/>
          <p:nvPr>
            <p:custDataLst>
              <p:tags r:id="rId1"/>
            </p:custDataLst>
          </p:nvPr>
        </p:nvGraphicFramePr>
        <p:xfrm>
          <a:off x="1838325" y="2940685"/>
          <a:ext cx="4269740" cy="3048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337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371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37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3371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3371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3371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3371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3371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1" name="Text Box 10"/>
          <p:cNvSpPr txBox="1"/>
          <p:nvPr/>
        </p:nvSpPr>
        <p:spPr>
          <a:xfrm>
            <a:off x="6443980" y="3808095"/>
            <a:ext cx="155829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/>
              <a:t>7-3=4</a:t>
            </a:r>
          </a:p>
        </p:txBody>
      </p:sp>
      <p:sp>
        <p:nvSpPr>
          <p:cNvPr id="12" name="Text Box 11"/>
          <p:cNvSpPr txBox="1"/>
          <p:nvPr/>
        </p:nvSpPr>
        <p:spPr>
          <a:xfrm>
            <a:off x="6443980" y="4561205"/>
            <a:ext cx="155829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/>
              <a:t>Range</a:t>
            </a:r>
          </a:p>
          <a:p>
            <a:pPr algn="ctr"/>
            <a:r>
              <a:rPr lang="en-US" sz="2400"/>
              <a:t>[4,7]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ym typeface="+mn-ea"/>
              </a:rPr>
              <a:t>Case 2: Seed value given</a:t>
            </a:r>
            <a:endParaRPr lang="en-US"/>
          </a:p>
        </p:txBody>
      </p:sp>
      <p:sp>
        <p:nvSpPr>
          <p:cNvPr id="5" name="Text Box 4"/>
          <p:cNvSpPr txBox="1"/>
          <p:nvPr/>
        </p:nvSpPr>
        <p:spPr>
          <a:xfrm>
            <a:off x="996950" y="1616075"/>
            <a:ext cx="1040574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400"/>
              <a:t>Apply region growing on the following image with seed point as 6 and threshold value as 3.</a:t>
            </a:r>
          </a:p>
        </p:txBody>
      </p:sp>
      <p:sp>
        <p:nvSpPr>
          <p:cNvPr id="3" name="Text Box 2"/>
          <p:cNvSpPr txBox="1"/>
          <p:nvPr/>
        </p:nvSpPr>
        <p:spPr>
          <a:xfrm>
            <a:off x="8157845" y="3429000"/>
            <a:ext cx="22688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/>
              <a:t>Seed Value=6</a:t>
            </a:r>
          </a:p>
        </p:txBody>
      </p:sp>
      <p:sp>
        <p:nvSpPr>
          <p:cNvPr id="8" name="Text Box 7"/>
          <p:cNvSpPr txBox="1"/>
          <p:nvPr/>
        </p:nvSpPr>
        <p:spPr>
          <a:xfrm>
            <a:off x="8157845" y="4182110"/>
            <a:ext cx="22688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/>
              <a:t>T=3</a:t>
            </a:r>
          </a:p>
        </p:txBody>
      </p:sp>
      <p:sp>
        <p:nvSpPr>
          <p:cNvPr id="6" name="Text Box 5"/>
          <p:cNvSpPr txBox="1"/>
          <p:nvPr/>
        </p:nvSpPr>
        <p:spPr>
          <a:xfrm>
            <a:off x="8157845" y="4935220"/>
            <a:ext cx="226885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/>
              <a:t>8-Connectivity</a:t>
            </a:r>
          </a:p>
          <a:p>
            <a:pPr algn="ctr"/>
            <a:r>
              <a:rPr lang="en-US" sz="2400"/>
              <a:t>(By default)</a:t>
            </a:r>
          </a:p>
        </p:txBody>
      </p:sp>
      <p:sp>
        <p:nvSpPr>
          <p:cNvPr id="9" name="Text Box 8"/>
          <p:cNvSpPr txBox="1"/>
          <p:nvPr/>
        </p:nvSpPr>
        <p:spPr>
          <a:xfrm>
            <a:off x="3481705" y="6200140"/>
            <a:ext cx="52279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rgbClr val="00B050"/>
                </a:solidFill>
                <a:sym typeface="+mn-ea"/>
              </a:rPr>
              <a:t>5 is in the Range [4-7]</a:t>
            </a:r>
            <a:endParaRPr lang="en-US" sz="2400"/>
          </a:p>
        </p:txBody>
      </p:sp>
      <p:graphicFrame>
        <p:nvGraphicFramePr>
          <p:cNvPr id="7" name="Table 6"/>
          <p:cNvGraphicFramePr/>
          <p:nvPr>
            <p:custDataLst>
              <p:tags r:id="rId1"/>
            </p:custDataLst>
          </p:nvPr>
        </p:nvGraphicFramePr>
        <p:xfrm>
          <a:off x="1838325" y="2940685"/>
          <a:ext cx="4269740" cy="3048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337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371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37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3371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3371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3371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3371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3371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1" name="Text Box 10"/>
          <p:cNvSpPr txBox="1"/>
          <p:nvPr/>
        </p:nvSpPr>
        <p:spPr>
          <a:xfrm>
            <a:off x="6443980" y="3808095"/>
            <a:ext cx="155829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/>
              <a:t>7-3=4</a:t>
            </a:r>
          </a:p>
        </p:txBody>
      </p:sp>
      <p:sp>
        <p:nvSpPr>
          <p:cNvPr id="12" name="Text Box 11"/>
          <p:cNvSpPr txBox="1"/>
          <p:nvPr/>
        </p:nvSpPr>
        <p:spPr>
          <a:xfrm>
            <a:off x="6443980" y="4561205"/>
            <a:ext cx="155829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/>
              <a:t>Range</a:t>
            </a:r>
          </a:p>
          <a:p>
            <a:pPr algn="ctr"/>
            <a:r>
              <a:rPr lang="en-US" sz="2400"/>
              <a:t>[4,7]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8" grpId="0"/>
      <p:bldP spid="6" grpId="0"/>
      <p:bldP spid="9" grpId="0"/>
      <p:bldP spid="9" grpId="1"/>
      <p:bldP spid="11" grpId="0"/>
      <p:bldP spid="12" grpId="0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ym typeface="+mn-ea"/>
              </a:rPr>
              <a:t>Case 2: Seed value given</a:t>
            </a:r>
            <a:endParaRPr lang="en-US"/>
          </a:p>
        </p:txBody>
      </p:sp>
      <p:sp>
        <p:nvSpPr>
          <p:cNvPr id="5" name="Text Box 4"/>
          <p:cNvSpPr txBox="1"/>
          <p:nvPr/>
        </p:nvSpPr>
        <p:spPr>
          <a:xfrm>
            <a:off x="996950" y="1616075"/>
            <a:ext cx="1040574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400"/>
              <a:t>Apply region growing on the following image with seed point as 6 and threshold value as 3.</a:t>
            </a:r>
          </a:p>
        </p:txBody>
      </p:sp>
      <p:sp>
        <p:nvSpPr>
          <p:cNvPr id="3" name="Text Box 2"/>
          <p:cNvSpPr txBox="1"/>
          <p:nvPr/>
        </p:nvSpPr>
        <p:spPr>
          <a:xfrm>
            <a:off x="8157845" y="3429000"/>
            <a:ext cx="22688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/>
              <a:t>Seed Value=6</a:t>
            </a:r>
          </a:p>
        </p:txBody>
      </p:sp>
      <p:sp>
        <p:nvSpPr>
          <p:cNvPr id="8" name="Text Box 7"/>
          <p:cNvSpPr txBox="1"/>
          <p:nvPr/>
        </p:nvSpPr>
        <p:spPr>
          <a:xfrm>
            <a:off x="8157845" y="4182110"/>
            <a:ext cx="22688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/>
              <a:t>T=3</a:t>
            </a:r>
          </a:p>
        </p:txBody>
      </p:sp>
      <p:sp>
        <p:nvSpPr>
          <p:cNvPr id="6" name="Text Box 5"/>
          <p:cNvSpPr txBox="1"/>
          <p:nvPr/>
        </p:nvSpPr>
        <p:spPr>
          <a:xfrm>
            <a:off x="8157845" y="4935220"/>
            <a:ext cx="226885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/>
              <a:t>8-Connectivity</a:t>
            </a:r>
          </a:p>
          <a:p>
            <a:pPr algn="ctr"/>
            <a:r>
              <a:rPr lang="en-US" sz="2400"/>
              <a:t>(By default)</a:t>
            </a:r>
          </a:p>
        </p:txBody>
      </p:sp>
      <p:sp>
        <p:nvSpPr>
          <p:cNvPr id="9" name="Text Box 8"/>
          <p:cNvSpPr txBox="1"/>
          <p:nvPr/>
        </p:nvSpPr>
        <p:spPr>
          <a:xfrm>
            <a:off x="3481705" y="6200140"/>
            <a:ext cx="52279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rgbClr val="00B050"/>
                </a:solidFill>
                <a:sym typeface="+mn-ea"/>
              </a:rPr>
              <a:t>5 is in the Range [4-7]</a:t>
            </a:r>
            <a:endParaRPr lang="en-US" sz="2400"/>
          </a:p>
        </p:txBody>
      </p:sp>
      <p:graphicFrame>
        <p:nvGraphicFramePr>
          <p:cNvPr id="7" name="Table 6"/>
          <p:cNvGraphicFramePr/>
          <p:nvPr>
            <p:custDataLst>
              <p:tags r:id="rId1"/>
            </p:custDataLst>
          </p:nvPr>
        </p:nvGraphicFramePr>
        <p:xfrm>
          <a:off x="1838325" y="2940685"/>
          <a:ext cx="4269740" cy="3048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337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371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37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3371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3371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3371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3371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3371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1" name="Text Box 10"/>
          <p:cNvSpPr txBox="1"/>
          <p:nvPr/>
        </p:nvSpPr>
        <p:spPr>
          <a:xfrm>
            <a:off x="6443980" y="3808095"/>
            <a:ext cx="155829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/>
              <a:t>7-3=4</a:t>
            </a:r>
          </a:p>
        </p:txBody>
      </p:sp>
      <p:sp>
        <p:nvSpPr>
          <p:cNvPr id="12" name="Text Box 11"/>
          <p:cNvSpPr txBox="1"/>
          <p:nvPr/>
        </p:nvSpPr>
        <p:spPr>
          <a:xfrm>
            <a:off x="6443980" y="4561205"/>
            <a:ext cx="155829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/>
              <a:t>Range</a:t>
            </a:r>
          </a:p>
          <a:p>
            <a:pPr algn="ctr"/>
            <a:r>
              <a:rPr lang="en-US" sz="2400"/>
              <a:t>[4,7]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ym typeface="+mn-ea"/>
              </a:rPr>
              <a:t>Case 2: Seed value given</a:t>
            </a:r>
            <a:endParaRPr lang="en-US"/>
          </a:p>
        </p:txBody>
      </p:sp>
      <p:sp>
        <p:nvSpPr>
          <p:cNvPr id="5" name="Text Box 4"/>
          <p:cNvSpPr txBox="1"/>
          <p:nvPr/>
        </p:nvSpPr>
        <p:spPr>
          <a:xfrm>
            <a:off x="996950" y="1616075"/>
            <a:ext cx="1040574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400"/>
              <a:t>Apply region growing on the following image with seed point as 6 and threshold value as 3.</a:t>
            </a:r>
          </a:p>
        </p:txBody>
      </p:sp>
      <p:sp>
        <p:nvSpPr>
          <p:cNvPr id="3" name="Text Box 2"/>
          <p:cNvSpPr txBox="1"/>
          <p:nvPr/>
        </p:nvSpPr>
        <p:spPr>
          <a:xfrm>
            <a:off x="8157845" y="3429000"/>
            <a:ext cx="22688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/>
              <a:t>Seed Value=6</a:t>
            </a:r>
          </a:p>
        </p:txBody>
      </p:sp>
      <p:sp>
        <p:nvSpPr>
          <p:cNvPr id="8" name="Text Box 7"/>
          <p:cNvSpPr txBox="1"/>
          <p:nvPr/>
        </p:nvSpPr>
        <p:spPr>
          <a:xfrm>
            <a:off x="8157845" y="4182110"/>
            <a:ext cx="22688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/>
              <a:t>T=3</a:t>
            </a:r>
          </a:p>
        </p:txBody>
      </p:sp>
      <p:sp>
        <p:nvSpPr>
          <p:cNvPr id="6" name="Text Box 5"/>
          <p:cNvSpPr txBox="1"/>
          <p:nvPr/>
        </p:nvSpPr>
        <p:spPr>
          <a:xfrm>
            <a:off x="8157845" y="4935220"/>
            <a:ext cx="226885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/>
              <a:t>8-Connectivity</a:t>
            </a:r>
          </a:p>
          <a:p>
            <a:pPr algn="ctr"/>
            <a:r>
              <a:rPr lang="en-US" sz="2400"/>
              <a:t>(By default)</a:t>
            </a:r>
          </a:p>
        </p:txBody>
      </p:sp>
      <p:sp>
        <p:nvSpPr>
          <p:cNvPr id="9" name="Text Box 8"/>
          <p:cNvSpPr txBox="1"/>
          <p:nvPr/>
        </p:nvSpPr>
        <p:spPr>
          <a:xfrm>
            <a:off x="3481705" y="6200140"/>
            <a:ext cx="52279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rgbClr val="00B050"/>
                </a:solidFill>
                <a:sym typeface="+mn-ea"/>
              </a:rPr>
              <a:t>4 is in the Range [4-7]</a:t>
            </a:r>
            <a:endParaRPr lang="en-US" sz="2400"/>
          </a:p>
        </p:txBody>
      </p:sp>
      <p:graphicFrame>
        <p:nvGraphicFramePr>
          <p:cNvPr id="7" name="Table 6"/>
          <p:cNvGraphicFramePr/>
          <p:nvPr>
            <p:custDataLst>
              <p:tags r:id="rId1"/>
            </p:custDataLst>
          </p:nvPr>
        </p:nvGraphicFramePr>
        <p:xfrm>
          <a:off x="1838325" y="2940685"/>
          <a:ext cx="4269740" cy="3048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337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371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37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3371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3371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3371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3371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3371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1" name="Text Box 10"/>
          <p:cNvSpPr txBox="1"/>
          <p:nvPr/>
        </p:nvSpPr>
        <p:spPr>
          <a:xfrm>
            <a:off x="6443980" y="3808095"/>
            <a:ext cx="155829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/>
              <a:t>7-3=4</a:t>
            </a:r>
          </a:p>
        </p:txBody>
      </p:sp>
      <p:sp>
        <p:nvSpPr>
          <p:cNvPr id="12" name="Text Box 11"/>
          <p:cNvSpPr txBox="1"/>
          <p:nvPr/>
        </p:nvSpPr>
        <p:spPr>
          <a:xfrm>
            <a:off x="6443980" y="4561205"/>
            <a:ext cx="155829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/>
              <a:t>Range</a:t>
            </a:r>
          </a:p>
          <a:p>
            <a:pPr algn="ctr"/>
            <a:r>
              <a:rPr lang="en-US" sz="2400"/>
              <a:t>[4,7]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8" grpId="0"/>
      <p:bldP spid="6" grpId="0"/>
      <p:bldP spid="9" grpId="0"/>
      <p:bldP spid="9" grpId="1"/>
      <p:bldP spid="11" grpId="0"/>
      <p:bldP spid="12" grpId="0"/>
    </p:bld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ym typeface="+mn-ea"/>
              </a:rPr>
              <a:t>Case 2: Seed value given</a:t>
            </a:r>
            <a:endParaRPr lang="en-US"/>
          </a:p>
        </p:txBody>
      </p:sp>
      <p:sp>
        <p:nvSpPr>
          <p:cNvPr id="5" name="Text Box 4"/>
          <p:cNvSpPr txBox="1"/>
          <p:nvPr/>
        </p:nvSpPr>
        <p:spPr>
          <a:xfrm>
            <a:off x="996950" y="1616075"/>
            <a:ext cx="1040574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400"/>
              <a:t>Apply region growing on the following image with seed point as 6 and threshold value as 3.</a:t>
            </a:r>
          </a:p>
        </p:txBody>
      </p:sp>
      <p:sp>
        <p:nvSpPr>
          <p:cNvPr id="3" name="Text Box 2"/>
          <p:cNvSpPr txBox="1"/>
          <p:nvPr/>
        </p:nvSpPr>
        <p:spPr>
          <a:xfrm>
            <a:off x="8157845" y="3429000"/>
            <a:ext cx="22688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/>
              <a:t>Seed Value=6</a:t>
            </a:r>
          </a:p>
        </p:txBody>
      </p:sp>
      <p:sp>
        <p:nvSpPr>
          <p:cNvPr id="8" name="Text Box 7"/>
          <p:cNvSpPr txBox="1"/>
          <p:nvPr/>
        </p:nvSpPr>
        <p:spPr>
          <a:xfrm>
            <a:off x="8157845" y="4182110"/>
            <a:ext cx="22688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/>
              <a:t>T=3</a:t>
            </a:r>
          </a:p>
        </p:txBody>
      </p:sp>
      <p:sp>
        <p:nvSpPr>
          <p:cNvPr id="6" name="Text Box 5"/>
          <p:cNvSpPr txBox="1"/>
          <p:nvPr/>
        </p:nvSpPr>
        <p:spPr>
          <a:xfrm>
            <a:off x="8157845" y="4935220"/>
            <a:ext cx="226885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/>
              <a:t>8-Connectivity</a:t>
            </a:r>
          </a:p>
          <a:p>
            <a:pPr algn="ctr"/>
            <a:r>
              <a:rPr lang="en-US" sz="2400"/>
              <a:t>(By default)</a:t>
            </a:r>
          </a:p>
        </p:txBody>
      </p:sp>
      <p:sp>
        <p:nvSpPr>
          <p:cNvPr id="9" name="Text Box 8"/>
          <p:cNvSpPr txBox="1"/>
          <p:nvPr/>
        </p:nvSpPr>
        <p:spPr>
          <a:xfrm>
            <a:off x="3481705" y="6200140"/>
            <a:ext cx="52279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rgbClr val="00B050"/>
                </a:solidFill>
                <a:sym typeface="+mn-ea"/>
              </a:rPr>
              <a:t>4 is in the Range [4-7]</a:t>
            </a:r>
            <a:endParaRPr lang="en-US" sz="2400"/>
          </a:p>
        </p:txBody>
      </p:sp>
      <p:graphicFrame>
        <p:nvGraphicFramePr>
          <p:cNvPr id="7" name="Table 6"/>
          <p:cNvGraphicFramePr/>
          <p:nvPr>
            <p:custDataLst>
              <p:tags r:id="rId1"/>
            </p:custDataLst>
          </p:nvPr>
        </p:nvGraphicFramePr>
        <p:xfrm>
          <a:off x="1838325" y="2940685"/>
          <a:ext cx="4269740" cy="3048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337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371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37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3371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3371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3371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3371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3371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1" name="Text Box 10"/>
          <p:cNvSpPr txBox="1"/>
          <p:nvPr/>
        </p:nvSpPr>
        <p:spPr>
          <a:xfrm>
            <a:off x="6443980" y="3808095"/>
            <a:ext cx="155829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/>
              <a:t>7-3=4</a:t>
            </a:r>
          </a:p>
        </p:txBody>
      </p:sp>
      <p:sp>
        <p:nvSpPr>
          <p:cNvPr id="12" name="Text Box 11"/>
          <p:cNvSpPr txBox="1"/>
          <p:nvPr/>
        </p:nvSpPr>
        <p:spPr>
          <a:xfrm>
            <a:off x="6443980" y="4561205"/>
            <a:ext cx="155829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/>
              <a:t>Range</a:t>
            </a:r>
          </a:p>
          <a:p>
            <a:pPr algn="ctr"/>
            <a:r>
              <a:rPr lang="en-US" sz="2400"/>
              <a:t>[4,7]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ym typeface="+mn-ea"/>
              </a:rPr>
              <a:t>Case 2: Seed value given</a:t>
            </a:r>
            <a:endParaRPr lang="en-US"/>
          </a:p>
        </p:txBody>
      </p:sp>
      <p:sp>
        <p:nvSpPr>
          <p:cNvPr id="5" name="Text Box 4"/>
          <p:cNvSpPr txBox="1"/>
          <p:nvPr/>
        </p:nvSpPr>
        <p:spPr>
          <a:xfrm>
            <a:off x="996950" y="1616075"/>
            <a:ext cx="1040574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400"/>
              <a:t>Apply region growing on the following image with seed point as 6 and threshold value as 3.</a:t>
            </a:r>
          </a:p>
        </p:txBody>
      </p:sp>
      <p:sp>
        <p:nvSpPr>
          <p:cNvPr id="3" name="Text Box 2"/>
          <p:cNvSpPr txBox="1"/>
          <p:nvPr/>
        </p:nvSpPr>
        <p:spPr>
          <a:xfrm>
            <a:off x="8157845" y="3429000"/>
            <a:ext cx="22688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/>
              <a:t>Seed Value=6</a:t>
            </a:r>
          </a:p>
        </p:txBody>
      </p:sp>
      <p:sp>
        <p:nvSpPr>
          <p:cNvPr id="8" name="Text Box 7"/>
          <p:cNvSpPr txBox="1"/>
          <p:nvPr/>
        </p:nvSpPr>
        <p:spPr>
          <a:xfrm>
            <a:off x="8157845" y="4182110"/>
            <a:ext cx="22688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/>
              <a:t>T=3</a:t>
            </a:r>
          </a:p>
        </p:txBody>
      </p:sp>
      <p:sp>
        <p:nvSpPr>
          <p:cNvPr id="6" name="Text Box 5"/>
          <p:cNvSpPr txBox="1"/>
          <p:nvPr/>
        </p:nvSpPr>
        <p:spPr>
          <a:xfrm>
            <a:off x="8157845" y="4935220"/>
            <a:ext cx="226885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/>
              <a:t>8-Connectivity</a:t>
            </a:r>
          </a:p>
          <a:p>
            <a:pPr algn="ctr"/>
            <a:r>
              <a:rPr lang="en-US" sz="2400"/>
              <a:t>(By default)</a:t>
            </a:r>
          </a:p>
        </p:txBody>
      </p:sp>
      <p:sp>
        <p:nvSpPr>
          <p:cNvPr id="9" name="Text Box 8"/>
          <p:cNvSpPr txBox="1"/>
          <p:nvPr/>
        </p:nvSpPr>
        <p:spPr>
          <a:xfrm>
            <a:off x="3481705" y="6200140"/>
            <a:ext cx="52279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rgbClr val="00B050"/>
                </a:solidFill>
                <a:sym typeface="+mn-ea"/>
              </a:rPr>
              <a:t>5 is in the Range [4-7]</a:t>
            </a:r>
            <a:endParaRPr lang="en-US" sz="2400"/>
          </a:p>
        </p:txBody>
      </p:sp>
      <p:graphicFrame>
        <p:nvGraphicFramePr>
          <p:cNvPr id="7" name="Table 6"/>
          <p:cNvGraphicFramePr/>
          <p:nvPr>
            <p:custDataLst>
              <p:tags r:id="rId1"/>
            </p:custDataLst>
          </p:nvPr>
        </p:nvGraphicFramePr>
        <p:xfrm>
          <a:off x="1838325" y="2940685"/>
          <a:ext cx="4269740" cy="3048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337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371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37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3371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3371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3371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3371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3371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1" name="Text Box 10"/>
          <p:cNvSpPr txBox="1"/>
          <p:nvPr/>
        </p:nvSpPr>
        <p:spPr>
          <a:xfrm>
            <a:off x="6443980" y="3808095"/>
            <a:ext cx="155829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/>
              <a:t>7-3=4</a:t>
            </a:r>
          </a:p>
        </p:txBody>
      </p:sp>
      <p:sp>
        <p:nvSpPr>
          <p:cNvPr id="12" name="Text Box 11"/>
          <p:cNvSpPr txBox="1"/>
          <p:nvPr/>
        </p:nvSpPr>
        <p:spPr>
          <a:xfrm>
            <a:off x="6443980" y="4561205"/>
            <a:ext cx="155829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/>
              <a:t>Range</a:t>
            </a:r>
          </a:p>
          <a:p>
            <a:pPr algn="ctr"/>
            <a:r>
              <a:rPr lang="en-US" sz="2400"/>
              <a:t>[4,7]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8" grpId="0"/>
      <p:bldP spid="6" grpId="0"/>
      <p:bldP spid="9" grpId="0"/>
      <p:bldP spid="9" grpId="1"/>
      <p:bldP spid="11" grpId="0"/>
      <p:bldP spid="12" grpId="0"/>
    </p:bld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ym typeface="+mn-ea"/>
              </a:rPr>
              <a:t>Case 2: Seed value given</a:t>
            </a:r>
            <a:endParaRPr lang="en-US"/>
          </a:p>
        </p:txBody>
      </p:sp>
      <p:sp>
        <p:nvSpPr>
          <p:cNvPr id="5" name="Text Box 4"/>
          <p:cNvSpPr txBox="1"/>
          <p:nvPr/>
        </p:nvSpPr>
        <p:spPr>
          <a:xfrm>
            <a:off x="996950" y="1616075"/>
            <a:ext cx="1040574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400"/>
              <a:t>Apply region growing on the following image with seed point as 6 and threshold value as 3.</a:t>
            </a:r>
          </a:p>
        </p:txBody>
      </p:sp>
      <p:sp>
        <p:nvSpPr>
          <p:cNvPr id="3" name="Text Box 2"/>
          <p:cNvSpPr txBox="1"/>
          <p:nvPr/>
        </p:nvSpPr>
        <p:spPr>
          <a:xfrm>
            <a:off x="8157845" y="3429000"/>
            <a:ext cx="22688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/>
              <a:t>Seed Value=6</a:t>
            </a:r>
          </a:p>
        </p:txBody>
      </p:sp>
      <p:sp>
        <p:nvSpPr>
          <p:cNvPr id="8" name="Text Box 7"/>
          <p:cNvSpPr txBox="1"/>
          <p:nvPr/>
        </p:nvSpPr>
        <p:spPr>
          <a:xfrm>
            <a:off x="8157845" y="4182110"/>
            <a:ext cx="22688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/>
              <a:t>T=3</a:t>
            </a:r>
          </a:p>
        </p:txBody>
      </p:sp>
      <p:sp>
        <p:nvSpPr>
          <p:cNvPr id="6" name="Text Box 5"/>
          <p:cNvSpPr txBox="1"/>
          <p:nvPr/>
        </p:nvSpPr>
        <p:spPr>
          <a:xfrm>
            <a:off x="8157845" y="4935220"/>
            <a:ext cx="226885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/>
              <a:t>8-Connectivity</a:t>
            </a:r>
          </a:p>
          <a:p>
            <a:pPr algn="ctr"/>
            <a:r>
              <a:rPr lang="en-US" sz="2400"/>
              <a:t>(By default)</a:t>
            </a:r>
          </a:p>
        </p:txBody>
      </p:sp>
      <p:sp>
        <p:nvSpPr>
          <p:cNvPr id="9" name="Text Box 8"/>
          <p:cNvSpPr txBox="1"/>
          <p:nvPr/>
        </p:nvSpPr>
        <p:spPr>
          <a:xfrm>
            <a:off x="3481705" y="6200140"/>
            <a:ext cx="52279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rgbClr val="00B050"/>
                </a:solidFill>
                <a:sym typeface="+mn-ea"/>
              </a:rPr>
              <a:t>5 is in the Range [4-7]</a:t>
            </a:r>
            <a:endParaRPr lang="en-US" sz="2400"/>
          </a:p>
        </p:txBody>
      </p:sp>
      <p:graphicFrame>
        <p:nvGraphicFramePr>
          <p:cNvPr id="7" name="Table 6"/>
          <p:cNvGraphicFramePr/>
          <p:nvPr>
            <p:custDataLst>
              <p:tags r:id="rId1"/>
            </p:custDataLst>
          </p:nvPr>
        </p:nvGraphicFramePr>
        <p:xfrm>
          <a:off x="1838325" y="2940685"/>
          <a:ext cx="4269740" cy="3048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337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371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37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3371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3371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3371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3371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3371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1" name="Text Box 10"/>
          <p:cNvSpPr txBox="1"/>
          <p:nvPr/>
        </p:nvSpPr>
        <p:spPr>
          <a:xfrm>
            <a:off x="6443980" y="3808095"/>
            <a:ext cx="155829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/>
              <a:t>7-3=4</a:t>
            </a:r>
          </a:p>
        </p:txBody>
      </p:sp>
      <p:sp>
        <p:nvSpPr>
          <p:cNvPr id="12" name="Text Box 11"/>
          <p:cNvSpPr txBox="1"/>
          <p:nvPr/>
        </p:nvSpPr>
        <p:spPr>
          <a:xfrm>
            <a:off x="6443980" y="4561205"/>
            <a:ext cx="155829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/>
              <a:t>Range</a:t>
            </a:r>
          </a:p>
          <a:p>
            <a:pPr algn="ctr"/>
            <a:r>
              <a:rPr lang="en-US" sz="2400"/>
              <a:t>[4,7]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ym typeface="+mn-ea"/>
              </a:rPr>
              <a:t>Case 2: Seed value given</a:t>
            </a:r>
            <a:endParaRPr lang="en-US"/>
          </a:p>
        </p:txBody>
      </p:sp>
      <p:sp>
        <p:nvSpPr>
          <p:cNvPr id="5" name="Text Box 4"/>
          <p:cNvSpPr txBox="1"/>
          <p:nvPr/>
        </p:nvSpPr>
        <p:spPr>
          <a:xfrm>
            <a:off x="996950" y="1616075"/>
            <a:ext cx="1040574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400"/>
              <a:t>Apply region growing on the following image with seed point as 6 and threshold value as 3.</a:t>
            </a:r>
          </a:p>
        </p:txBody>
      </p:sp>
      <p:sp>
        <p:nvSpPr>
          <p:cNvPr id="3" name="Text Box 2"/>
          <p:cNvSpPr txBox="1"/>
          <p:nvPr/>
        </p:nvSpPr>
        <p:spPr>
          <a:xfrm>
            <a:off x="8157845" y="3429000"/>
            <a:ext cx="22688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/>
              <a:t>Seed Value=6</a:t>
            </a:r>
          </a:p>
        </p:txBody>
      </p:sp>
      <p:sp>
        <p:nvSpPr>
          <p:cNvPr id="8" name="Text Box 7"/>
          <p:cNvSpPr txBox="1"/>
          <p:nvPr/>
        </p:nvSpPr>
        <p:spPr>
          <a:xfrm>
            <a:off x="8157845" y="4182110"/>
            <a:ext cx="22688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/>
              <a:t>T=3</a:t>
            </a:r>
          </a:p>
        </p:txBody>
      </p:sp>
      <p:sp>
        <p:nvSpPr>
          <p:cNvPr id="6" name="Text Box 5"/>
          <p:cNvSpPr txBox="1"/>
          <p:nvPr/>
        </p:nvSpPr>
        <p:spPr>
          <a:xfrm>
            <a:off x="8157845" y="4935220"/>
            <a:ext cx="226885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/>
              <a:t>8-Connectivity</a:t>
            </a:r>
          </a:p>
          <a:p>
            <a:pPr algn="ctr"/>
            <a:r>
              <a:rPr lang="en-US" sz="2400"/>
              <a:t>(By default)</a:t>
            </a:r>
          </a:p>
        </p:txBody>
      </p:sp>
      <p:sp>
        <p:nvSpPr>
          <p:cNvPr id="9" name="Text Box 8"/>
          <p:cNvSpPr txBox="1"/>
          <p:nvPr/>
        </p:nvSpPr>
        <p:spPr>
          <a:xfrm>
            <a:off x="3481705" y="6200140"/>
            <a:ext cx="52279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rgbClr val="00B050"/>
                </a:solidFill>
                <a:sym typeface="+mn-ea"/>
              </a:rPr>
              <a:t>4 is in the Range [4-7]</a:t>
            </a:r>
            <a:endParaRPr lang="en-US" sz="2400"/>
          </a:p>
        </p:txBody>
      </p:sp>
      <p:graphicFrame>
        <p:nvGraphicFramePr>
          <p:cNvPr id="7" name="Table 6"/>
          <p:cNvGraphicFramePr/>
          <p:nvPr>
            <p:custDataLst>
              <p:tags r:id="rId1"/>
            </p:custDataLst>
          </p:nvPr>
        </p:nvGraphicFramePr>
        <p:xfrm>
          <a:off x="1838325" y="2940685"/>
          <a:ext cx="4269740" cy="3048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337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371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37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3371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3371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3371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3371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3371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1" name="Text Box 10"/>
          <p:cNvSpPr txBox="1"/>
          <p:nvPr/>
        </p:nvSpPr>
        <p:spPr>
          <a:xfrm>
            <a:off x="6443980" y="3808095"/>
            <a:ext cx="155829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/>
              <a:t>7-3=4</a:t>
            </a:r>
          </a:p>
        </p:txBody>
      </p:sp>
      <p:sp>
        <p:nvSpPr>
          <p:cNvPr id="12" name="Text Box 11"/>
          <p:cNvSpPr txBox="1"/>
          <p:nvPr/>
        </p:nvSpPr>
        <p:spPr>
          <a:xfrm>
            <a:off x="6443980" y="4561205"/>
            <a:ext cx="155829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/>
              <a:t>Range</a:t>
            </a:r>
          </a:p>
          <a:p>
            <a:pPr algn="ctr"/>
            <a:r>
              <a:rPr lang="en-US" sz="2400"/>
              <a:t>[4,7]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8" grpId="0"/>
      <p:bldP spid="6" grpId="0"/>
      <p:bldP spid="9" grpId="0"/>
      <p:bldP spid="9" grpId="1"/>
      <p:bldP spid="11" grpId="0"/>
      <p:bldP spid="12" grpId="0"/>
    </p:bld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ym typeface="+mn-ea"/>
              </a:rPr>
              <a:t>Case 2: Seed value given</a:t>
            </a:r>
            <a:endParaRPr lang="en-US"/>
          </a:p>
        </p:txBody>
      </p:sp>
      <p:sp>
        <p:nvSpPr>
          <p:cNvPr id="5" name="Text Box 4"/>
          <p:cNvSpPr txBox="1"/>
          <p:nvPr/>
        </p:nvSpPr>
        <p:spPr>
          <a:xfrm>
            <a:off x="996950" y="1616075"/>
            <a:ext cx="1040574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400"/>
              <a:t>Apply region growing on the following image with seed point as 6 and threshold value as 3.</a:t>
            </a:r>
          </a:p>
        </p:txBody>
      </p:sp>
      <p:sp>
        <p:nvSpPr>
          <p:cNvPr id="3" name="Text Box 2"/>
          <p:cNvSpPr txBox="1"/>
          <p:nvPr/>
        </p:nvSpPr>
        <p:spPr>
          <a:xfrm>
            <a:off x="8157845" y="3429000"/>
            <a:ext cx="22688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/>
              <a:t>Seed Value=6</a:t>
            </a:r>
          </a:p>
        </p:txBody>
      </p:sp>
      <p:sp>
        <p:nvSpPr>
          <p:cNvPr id="8" name="Text Box 7"/>
          <p:cNvSpPr txBox="1"/>
          <p:nvPr/>
        </p:nvSpPr>
        <p:spPr>
          <a:xfrm>
            <a:off x="8157845" y="4182110"/>
            <a:ext cx="22688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/>
              <a:t>T=3</a:t>
            </a:r>
          </a:p>
        </p:txBody>
      </p:sp>
      <p:sp>
        <p:nvSpPr>
          <p:cNvPr id="6" name="Text Box 5"/>
          <p:cNvSpPr txBox="1"/>
          <p:nvPr/>
        </p:nvSpPr>
        <p:spPr>
          <a:xfrm>
            <a:off x="8157845" y="4935220"/>
            <a:ext cx="226885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/>
              <a:t>8-Connectivity</a:t>
            </a:r>
          </a:p>
          <a:p>
            <a:pPr algn="ctr"/>
            <a:r>
              <a:rPr lang="en-US" sz="2400"/>
              <a:t>(By default)</a:t>
            </a:r>
          </a:p>
        </p:txBody>
      </p:sp>
      <p:sp>
        <p:nvSpPr>
          <p:cNvPr id="9" name="Text Box 8"/>
          <p:cNvSpPr txBox="1"/>
          <p:nvPr/>
        </p:nvSpPr>
        <p:spPr>
          <a:xfrm>
            <a:off x="3481705" y="6200140"/>
            <a:ext cx="52279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rgbClr val="00B050"/>
                </a:solidFill>
                <a:sym typeface="+mn-ea"/>
              </a:rPr>
              <a:t>4 is in the Range [4-7]</a:t>
            </a:r>
            <a:endParaRPr lang="en-US" sz="2400"/>
          </a:p>
        </p:txBody>
      </p:sp>
      <p:graphicFrame>
        <p:nvGraphicFramePr>
          <p:cNvPr id="7" name="Table 6"/>
          <p:cNvGraphicFramePr/>
          <p:nvPr>
            <p:custDataLst>
              <p:tags r:id="rId1"/>
            </p:custDataLst>
          </p:nvPr>
        </p:nvGraphicFramePr>
        <p:xfrm>
          <a:off x="1838325" y="2940685"/>
          <a:ext cx="4269740" cy="3048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337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371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37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3371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3371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3371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3371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3371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1" name="Text Box 10"/>
          <p:cNvSpPr txBox="1"/>
          <p:nvPr/>
        </p:nvSpPr>
        <p:spPr>
          <a:xfrm>
            <a:off x="6443980" y="3808095"/>
            <a:ext cx="155829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/>
              <a:t>7-3=4</a:t>
            </a:r>
          </a:p>
        </p:txBody>
      </p:sp>
      <p:sp>
        <p:nvSpPr>
          <p:cNvPr id="12" name="Text Box 11"/>
          <p:cNvSpPr txBox="1"/>
          <p:nvPr/>
        </p:nvSpPr>
        <p:spPr>
          <a:xfrm>
            <a:off x="6443980" y="4561205"/>
            <a:ext cx="155829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/>
              <a:t>Range</a:t>
            </a:r>
          </a:p>
          <a:p>
            <a:pPr algn="ctr"/>
            <a:r>
              <a:rPr lang="en-US" sz="2400"/>
              <a:t>[4,7]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ym typeface="+mn-ea"/>
              </a:rPr>
              <a:t>Case 2: Seed value given</a:t>
            </a:r>
            <a:endParaRPr lang="en-US"/>
          </a:p>
        </p:txBody>
      </p:sp>
      <p:sp>
        <p:nvSpPr>
          <p:cNvPr id="5" name="Text Box 4"/>
          <p:cNvSpPr txBox="1"/>
          <p:nvPr/>
        </p:nvSpPr>
        <p:spPr>
          <a:xfrm>
            <a:off x="996950" y="1616075"/>
            <a:ext cx="1040574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400"/>
              <a:t>Apply region growing on the following image with seed point as 6 and threshold value as 3.</a:t>
            </a:r>
          </a:p>
        </p:txBody>
      </p:sp>
      <p:sp>
        <p:nvSpPr>
          <p:cNvPr id="3" name="Text Box 2"/>
          <p:cNvSpPr txBox="1"/>
          <p:nvPr/>
        </p:nvSpPr>
        <p:spPr>
          <a:xfrm>
            <a:off x="8157845" y="3429000"/>
            <a:ext cx="22688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/>
              <a:t>Seed Value=6</a:t>
            </a:r>
          </a:p>
        </p:txBody>
      </p:sp>
      <p:sp>
        <p:nvSpPr>
          <p:cNvPr id="8" name="Text Box 7"/>
          <p:cNvSpPr txBox="1"/>
          <p:nvPr/>
        </p:nvSpPr>
        <p:spPr>
          <a:xfrm>
            <a:off x="8157845" y="4182110"/>
            <a:ext cx="22688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/>
              <a:t>T=3</a:t>
            </a:r>
          </a:p>
        </p:txBody>
      </p:sp>
      <p:sp>
        <p:nvSpPr>
          <p:cNvPr id="6" name="Text Box 5"/>
          <p:cNvSpPr txBox="1"/>
          <p:nvPr/>
        </p:nvSpPr>
        <p:spPr>
          <a:xfrm>
            <a:off x="8157845" y="4935220"/>
            <a:ext cx="226885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/>
              <a:t>8-Connectivity</a:t>
            </a:r>
          </a:p>
          <a:p>
            <a:pPr algn="ctr"/>
            <a:r>
              <a:rPr lang="en-US" sz="2400"/>
              <a:t>(By default)</a:t>
            </a:r>
          </a:p>
        </p:txBody>
      </p:sp>
      <p:sp>
        <p:nvSpPr>
          <p:cNvPr id="9" name="Text Box 8"/>
          <p:cNvSpPr txBox="1"/>
          <p:nvPr/>
        </p:nvSpPr>
        <p:spPr>
          <a:xfrm>
            <a:off x="3481705" y="6200140"/>
            <a:ext cx="52279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rgbClr val="00B050"/>
                </a:solidFill>
                <a:sym typeface="+mn-ea"/>
              </a:rPr>
              <a:t>4 is in the Range [4-7]</a:t>
            </a:r>
            <a:endParaRPr lang="en-US" sz="2400"/>
          </a:p>
        </p:txBody>
      </p:sp>
      <p:graphicFrame>
        <p:nvGraphicFramePr>
          <p:cNvPr id="7" name="Table 6"/>
          <p:cNvGraphicFramePr/>
          <p:nvPr>
            <p:custDataLst>
              <p:tags r:id="rId1"/>
            </p:custDataLst>
          </p:nvPr>
        </p:nvGraphicFramePr>
        <p:xfrm>
          <a:off x="1838325" y="2940685"/>
          <a:ext cx="4269740" cy="3048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337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371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37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3371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3371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3371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3371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3371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1" name="Text Box 10"/>
          <p:cNvSpPr txBox="1"/>
          <p:nvPr/>
        </p:nvSpPr>
        <p:spPr>
          <a:xfrm>
            <a:off x="6443980" y="3808095"/>
            <a:ext cx="155829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/>
              <a:t>7-3=4</a:t>
            </a:r>
          </a:p>
        </p:txBody>
      </p:sp>
      <p:sp>
        <p:nvSpPr>
          <p:cNvPr id="12" name="Text Box 11"/>
          <p:cNvSpPr txBox="1"/>
          <p:nvPr/>
        </p:nvSpPr>
        <p:spPr>
          <a:xfrm>
            <a:off x="6443980" y="4561205"/>
            <a:ext cx="155829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/>
              <a:t>Range</a:t>
            </a:r>
          </a:p>
          <a:p>
            <a:pPr algn="ctr"/>
            <a:r>
              <a:rPr lang="en-US" sz="2400"/>
              <a:t>[4,7]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8" grpId="0"/>
      <p:bldP spid="6" grpId="0"/>
      <p:bldP spid="9" grpId="0"/>
      <p:bldP spid="9" grpId="1"/>
      <p:bldP spid="11" grpId="0"/>
      <p:bldP spid="12" grpId="0"/>
    </p:bld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ym typeface="+mn-ea"/>
              </a:rPr>
              <a:t>Case 2: Seed value given</a:t>
            </a:r>
            <a:endParaRPr lang="en-US"/>
          </a:p>
        </p:txBody>
      </p:sp>
      <p:sp>
        <p:nvSpPr>
          <p:cNvPr id="5" name="Text Box 4"/>
          <p:cNvSpPr txBox="1"/>
          <p:nvPr/>
        </p:nvSpPr>
        <p:spPr>
          <a:xfrm>
            <a:off x="996950" y="1616075"/>
            <a:ext cx="1040574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400"/>
              <a:t>Apply region growing on the following image with seed point as 6 and threshold value as 3.</a:t>
            </a:r>
          </a:p>
        </p:txBody>
      </p:sp>
      <p:sp>
        <p:nvSpPr>
          <p:cNvPr id="3" name="Text Box 2"/>
          <p:cNvSpPr txBox="1"/>
          <p:nvPr/>
        </p:nvSpPr>
        <p:spPr>
          <a:xfrm>
            <a:off x="8157845" y="3429000"/>
            <a:ext cx="22688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/>
              <a:t>Seed Value=6</a:t>
            </a:r>
          </a:p>
        </p:txBody>
      </p:sp>
      <p:sp>
        <p:nvSpPr>
          <p:cNvPr id="8" name="Text Box 7"/>
          <p:cNvSpPr txBox="1"/>
          <p:nvPr/>
        </p:nvSpPr>
        <p:spPr>
          <a:xfrm>
            <a:off x="8157845" y="4182110"/>
            <a:ext cx="22688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/>
              <a:t>T=3</a:t>
            </a:r>
          </a:p>
        </p:txBody>
      </p:sp>
      <p:sp>
        <p:nvSpPr>
          <p:cNvPr id="6" name="Text Box 5"/>
          <p:cNvSpPr txBox="1"/>
          <p:nvPr/>
        </p:nvSpPr>
        <p:spPr>
          <a:xfrm>
            <a:off x="8157845" y="4935220"/>
            <a:ext cx="226885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/>
              <a:t>8-Connectivity</a:t>
            </a:r>
          </a:p>
          <a:p>
            <a:pPr algn="ctr"/>
            <a:r>
              <a:rPr lang="en-US" sz="2400"/>
              <a:t>(By default)</a:t>
            </a:r>
          </a:p>
        </p:txBody>
      </p:sp>
      <p:sp>
        <p:nvSpPr>
          <p:cNvPr id="9" name="Text Box 8"/>
          <p:cNvSpPr txBox="1"/>
          <p:nvPr/>
        </p:nvSpPr>
        <p:spPr>
          <a:xfrm>
            <a:off x="3481705" y="6200140"/>
            <a:ext cx="52279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rgbClr val="00B050"/>
                </a:solidFill>
                <a:sym typeface="+mn-ea"/>
              </a:rPr>
              <a:t>4 is in the Range [4-7]</a:t>
            </a:r>
            <a:endParaRPr lang="en-US" sz="2400"/>
          </a:p>
        </p:txBody>
      </p:sp>
      <p:graphicFrame>
        <p:nvGraphicFramePr>
          <p:cNvPr id="7" name="Table 6"/>
          <p:cNvGraphicFramePr/>
          <p:nvPr>
            <p:custDataLst>
              <p:tags r:id="rId1"/>
            </p:custDataLst>
          </p:nvPr>
        </p:nvGraphicFramePr>
        <p:xfrm>
          <a:off x="1838325" y="2940685"/>
          <a:ext cx="4269740" cy="3048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337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371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37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3371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3371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3371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3371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3371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1" name="Text Box 10"/>
          <p:cNvSpPr txBox="1"/>
          <p:nvPr/>
        </p:nvSpPr>
        <p:spPr>
          <a:xfrm>
            <a:off x="6443980" y="3808095"/>
            <a:ext cx="155829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/>
              <a:t>7-3=4</a:t>
            </a:r>
          </a:p>
        </p:txBody>
      </p:sp>
      <p:sp>
        <p:nvSpPr>
          <p:cNvPr id="12" name="Text Box 11"/>
          <p:cNvSpPr txBox="1"/>
          <p:nvPr/>
        </p:nvSpPr>
        <p:spPr>
          <a:xfrm>
            <a:off x="6443980" y="4561205"/>
            <a:ext cx="155829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/>
              <a:t>Range</a:t>
            </a:r>
          </a:p>
          <a:p>
            <a:pPr algn="ctr"/>
            <a:r>
              <a:rPr lang="en-US" sz="2400"/>
              <a:t>[4,7]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ym typeface="+mn-ea"/>
              </a:rPr>
              <a:t>Case 2: Seed value given</a:t>
            </a:r>
            <a:endParaRPr lang="en-US"/>
          </a:p>
        </p:txBody>
      </p:sp>
      <p:sp>
        <p:nvSpPr>
          <p:cNvPr id="5" name="Text Box 4"/>
          <p:cNvSpPr txBox="1"/>
          <p:nvPr/>
        </p:nvSpPr>
        <p:spPr>
          <a:xfrm>
            <a:off x="996950" y="1616075"/>
            <a:ext cx="1040574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400"/>
              <a:t>Apply region growing on the following image with seed point as 6 and threshold value as 3.</a:t>
            </a:r>
          </a:p>
        </p:txBody>
      </p:sp>
      <p:sp>
        <p:nvSpPr>
          <p:cNvPr id="3" name="Text Box 2"/>
          <p:cNvSpPr txBox="1"/>
          <p:nvPr/>
        </p:nvSpPr>
        <p:spPr>
          <a:xfrm>
            <a:off x="8157845" y="3429000"/>
            <a:ext cx="22688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/>
              <a:t>Seed Value=6</a:t>
            </a:r>
          </a:p>
        </p:txBody>
      </p:sp>
      <p:sp>
        <p:nvSpPr>
          <p:cNvPr id="8" name="Text Box 7"/>
          <p:cNvSpPr txBox="1"/>
          <p:nvPr/>
        </p:nvSpPr>
        <p:spPr>
          <a:xfrm>
            <a:off x="8157845" y="4182110"/>
            <a:ext cx="22688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/>
              <a:t>T=3</a:t>
            </a:r>
          </a:p>
        </p:txBody>
      </p:sp>
      <p:sp>
        <p:nvSpPr>
          <p:cNvPr id="6" name="Text Box 5"/>
          <p:cNvSpPr txBox="1"/>
          <p:nvPr/>
        </p:nvSpPr>
        <p:spPr>
          <a:xfrm>
            <a:off x="8157845" y="4935220"/>
            <a:ext cx="226885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/>
              <a:t>8-Connectivity</a:t>
            </a:r>
          </a:p>
          <a:p>
            <a:pPr algn="ctr"/>
            <a:r>
              <a:rPr lang="en-US" sz="2400"/>
              <a:t>(By default)</a:t>
            </a:r>
          </a:p>
        </p:txBody>
      </p:sp>
      <p:sp>
        <p:nvSpPr>
          <p:cNvPr id="9" name="Text Box 8"/>
          <p:cNvSpPr txBox="1"/>
          <p:nvPr/>
        </p:nvSpPr>
        <p:spPr>
          <a:xfrm>
            <a:off x="3481705" y="6200140"/>
            <a:ext cx="52279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rgbClr val="00B050"/>
                </a:solidFill>
                <a:sym typeface="+mn-ea"/>
              </a:rPr>
              <a:t>7 is in the Range [4-7]</a:t>
            </a:r>
            <a:endParaRPr lang="en-US" sz="2400"/>
          </a:p>
        </p:txBody>
      </p:sp>
      <p:graphicFrame>
        <p:nvGraphicFramePr>
          <p:cNvPr id="7" name="Table 6"/>
          <p:cNvGraphicFramePr/>
          <p:nvPr>
            <p:custDataLst>
              <p:tags r:id="rId1"/>
            </p:custDataLst>
          </p:nvPr>
        </p:nvGraphicFramePr>
        <p:xfrm>
          <a:off x="1838325" y="2940685"/>
          <a:ext cx="4269740" cy="3048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337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371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37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3371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3371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3371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3371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3371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1" name="Text Box 10"/>
          <p:cNvSpPr txBox="1"/>
          <p:nvPr/>
        </p:nvSpPr>
        <p:spPr>
          <a:xfrm>
            <a:off x="6443980" y="3808095"/>
            <a:ext cx="155829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/>
              <a:t>7-3=4</a:t>
            </a:r>
          </a:p>
        </p:txBody>
      </p:sp>
      <p:sp>
        <p:nvSpPr>
          <p:cNvPr id="12" name="Text Box 11"/>
          <p:cNvSpPr txBox="1"/>
          <p:nvPr/>
        </p:nvSpPr>
        <p:spPr>
          <a:xfrm>
            <a:off x="6443980" y="4561205"/>
            <a:ext cx="155829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/>
              <a:t>Range</a:t>
            </a:r>
          </a:p>
          <a:p>
            <a:pPr algn="ctr"/>
            <a:r>
              <a:rPr lang="en-US" sz="2400"/>
              <a:t>[4,7]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8" grpId="0"/>
      <p:bldP spid="6" grpId="0"/>
      <p:bldP spid="9" grpId="0"/>
      <p:bldP spid="9" grpId="1"/>
      <p:bldP spid="11" grpId="0"/>
      <p:bldP spid="12" grpId="0"/>
    </p:bld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ym typeface="+mn-ea"/>
              </a:rPr>
              <a:t>Case 2: Seed value given</a:t>
            </a:r>
            <a:endParaRPr lang="en-US"/>
          </a:p>
        </p:txBody>
      </p:sp>
      <p:sp>
        <p:nvSpPr>
          <p:cNvPr id="5" name="Text Box 4"/>
          <p:cNvSpPr txBox="1"/>
          <p:nvPr/>
        </p:nvSpPr>
        <p:spPr>
          <a:xfrm>
            <a:off x="996950" y="1616075"/>
            <a:ext cx="1040574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400"/>
              <a:t>Apply region growing on the following image with seed point as 6 and threshold value as 3.</a:t>
            </a:r>
          </a:p>
        </p:txBody>
      </p:sp>
      <p:sp>
        <p:nvSpPr>
          <p:cNvPr id="3" name="Text Box 2"/>
          <p:cNvSpPr txBox="1"/>
          <p:nvPr/>
        </p:nvSpPr>
        <p:spPr>
          <a:xfrm>
            <a:off x="8157845" y="3429000"/>
            <a:ext cx="22688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/>
              <a:t>Seed Value=6</a:t>
            </a:r>
          </a:p>
        </p:txBody>
      </p:sp>
      <p:sp>
        <p:nvSpPr>
          <p:cNvPr id="8" name="Text Box 7"/>
          <p:cNvSpPr txBox="1"/>
          <p:nvPr/>
        </p:nvSpPr>
        <p:spPr>
          <a:xfrm>
            <a:off x="8157845" y="4182110"/>
            <a:ext cx="22688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/>
              <a:t>T=3</a:t>
            </a:r>
          </a:p>
        </p:txBody>
      </p:sp>
      <p:sp>
        <p:nvSpPr>
          <p:cNvPr id="6" name="Text Box 5"/>
          <p:cNvSpPr txBox="1"/>
          <p:nvPr/>
        </p:nvSpPr>
        <p:spPr>
          <a:xfrm>
            <a:off x="8157845" y="4935220"/>
            <a:ext cx="226885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/>
              <a:t>8-Connectivity</a:t>
            </a:r>
          </a:p>
          <a:p>
            <a:pPr algn="ctr"/>
            <a:r>
              <a:rPr lang="en-US" sz="2400"/>
              <a:t>(By default)</a:t>
            </a:r>
          </a:p>
        </p:txBody>
      </p:sp>
      <p:sp>
        <p:nvSpPr>
          <p:cNvPr id="9" name="Text Box 8"/>
          <p:cNvSpPr txBox="1"/>
          <p:nvPr/>
        </p:nvSpPr>
        <p:spPr>
          <a:xfrm>
            <a:off x="3481705" y="6200140"/>
            <a:ext cx="52279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rgbClr val="00B050"/>
                </a:solidFill>
                <a:sym typeface="+mn-ea"/>
              </a:rPr>
              <a:t>7 is in the Range [4-7]</a:t>
            </a:r>
            <a:endParaRPr lang="en-US" sz="2400"/>
          </a:p>
        </p:txBody>
      </p:sp>
      <p:graphicFrame>
        <p:nvGraphicFramePr>
          <p:cNvPr id="7" name="Table 6"/>
          <p:cNvGraphicFramePr/>
          <p:nvPr>
            <p:custDataLst>
              <p:tags r:id="rId1"/>
            </p:custDataLst>
          </p:nvPr>
        </p:nvGraphicFramePr>
        <p:xfrm>
          <a:off x="1838325" y="2940685"/>
          <a:ext cx="4269740" cy="3048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337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371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37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3371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3371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3371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3371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3371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1" name="Text Box 10"/>
          <p:cNvSpPr txBox="1"/>
          <p:nvPr/>
        </p:nvSpPr>
        <p:spPr>
          <a:xfrm>
            <a:off x="6443980" y="3808095"/>
            <a:ext cx="155829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/>
              <a:t>7-3=4</a:t>
            </a:r>
          </a:p>
        </p:txBody>
      </p:sp>
      <p:sp>
        <p:nvSpPr>
          <p:cNvPr id="12" name="Text Box 11"/>
          <p:cNvSpPr txBox="1"/>
          <p:nvPr/>
        </p:nvSpPr>
        <p:spPr>
          <a:xfrm>
            <a:off x="6443980" y="4561205"/>
            <a:ext cx="155829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/>
              <a:t>Range</a:t>
            </a:r>
          </a:p>
          <a:p>
            <a:pPr algn="ctr"/>
            <a:r>
              <a:rPr lang="en-US" sz="2400"/>
              <a:t>[4,7]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ym typeface="+mn-ea"/>
              </a:rPr>
              <a:t>Case 2: Seed value given</a:t>
            </a:r>
            <a:endParaRPr lang="en-US"/>
          </a:p>
        </p:txBody>
      </p:sp>
      <p:sp>
        <p:nvSpPr>
          <p:cNvPr id="5" name="Text Box 4"/>
          <p:cNvSpPr txBox="1"/>
          <p:nvPr/>
        </p:nvSpPr>
        <p:spPr>
          <a:xfrm>
            <a:off x="996950" y="1616075"/>
            <a:ext cx="1040574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400"/>
              <a:t>Apply region growing on the following image with seed point as 6 and threshold value as 3.</a:t>
            </a:r>
          </a:p>
        </p:txBody>
      </p:sp>
      <p:sp>
        <p:nvSpPr>
          <p:cNvPr id="3" name="Text Box 2"/>
          <p:cNvSpPr txBox="1"/>
          <p:nvPr/>
        </p:nvSpPr>
        <p:spPr>
          <a:xfrm>
            <a:off x="8157845" y="3429000"/>
            <a:ext cx="22688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/>
              <a:t>Seed Value=6</a:t>
            </a:r>
          </a:p>
        </p:txBody>
      </p:sp>
      <p:sp>
        <p:nvSpPr>
          <p:cNvPr id="8" name="Text Box 7"/>
          <p:cNvSpPr txBox="1"/>
          <p:nvPr/>
        </p:nvSpPr>
        <p:spPr>
          <a:xfrm>
            <a:off x="8157845" y="4182110"/>
            <a:ext cx="22688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/>
              <a:t>T=3</a:t>
            </a:r>
          </a:p>
        </p:txBody>
      </p:sp>
      <p:sp>
        <p:nvSpPr>
          <p:cNvPr id="6" name="Text Box 5"/>
          <p:cNvSpPr txBox="1"/>
          <p:nvPr/>
        </p:nvSpPr>
        <p:spPr>
          <a:xfrm>
            <a:off x="8157845" y="4935220"/>
            <a:ext cx="226885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/>
              <a:t>8-Connectivity</a:t>
            </a:r>
          </a:p>
          <a:p>
            <a:pPr algn="ctr"/>
            <a:r>
              <a:rPr lang="en-US" sz="2400"/>
              <a:t>(By default)</a:t>
            </a:r>
          </a:p>
        </p:txBody>
      </p:sp>
      <p:sp>
        <p:nvSpPr>
          <p:cNvPr id="9" name="Text Box 8"/>
          <p:cNvSpPr txBox="1"/>
          <p:nvPr/>
        </p:nvSpPr>
        <p:spPr>
          <a:xfrm>
            <a:off x="3481705" y="6200140"/>
            <a:ext cx="52279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rgbClr val="00B050"/>
                </a:solidFill>
                <a:sym typeface="+mn-ea"/>
              </a:rPr>
              <a:t>5 is in the Range [4-7]</a:t>
            </a:r>
            <a:endParaRPr lang="en-US" sz="2400"/>
          </a:p>
        </p:txBody>
      </p:sp>
      <p:graphicFrame>
        <p:nvGraphicFramePr>
          <p:cNvPr id="7" name="Table 6"/>
          <p:cNvGraphicFramePr/>
          <p:nvPr>
            <p:custDataLst>
              <p:tags r:id="rId1"/>
            </p:custDataLst>
          </p:nvPr>
        </p:nvGraphicFramePr>
        <p:xfrm>
          <a:off x="1838325" y="2940685"/>
          <a:ext cx="4269740" cy="3048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337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371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37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3371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3371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3371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3371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3371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1" name="Text Box 10"/>
          <p:cNvSpPr txBox="1"/>
          <p:nvPr/>
        </p:nvSpPr>
        <p:spPr>
          <a:xfrm>
            <a:off x="6443980" y="3808095"/>
            <a:ext cx="155829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/>
              <a:t>7-3=4</a:t>
            </a:r>
          </a:p>
        </p:txBody>
      </p:sp>
      <p:sp>
        <p:nvSpPr>
          <p:cNvPr id="12" name="Text Box 11"/>
          <p:cNvSpPr txBox="1"/>
          <p:nvPr/>
        </p:nvSpPr>
        <p:spPr>
          <a:xfrm>
            <a:off x="6443980" y="4561205"/>
            <a:ext cx="155829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/>
              <a:t>Range</a:t>
            </a:r>
          </a:p>
          <a:p>
            <a:pPr algn="ctr"/>
            <a:r>
              <a:rPr lang="en-US" sz="2400"/>
              <a:t>[4,7]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8" grpId="0"/>
      <p:bldP spid="6" grpId="0"/>
      <p:bldP spid="9" grpId="0"/>
      <p:bldP spid="9" grpId="1"/>
      <p:bldP spid="11" grpId="0"/>
      <p:bldP spid="12" grpId="0"/>
    </p:bld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ym typeface="+mn-ea"/>
              </a:rPr>
              <a:t>Case 2: Seed value given</a:t>
            </a:r>
            <a:endParaRPr lang="en-US"/>
          </a:p>
        </p:txBody>
      </p:sp>
      <p:sp>
        <p:nvSpPr>
          <p:cNvPr id="5" name="Text Box 4"/>
          <p:cNvSpPr txBox="1"/>
          <p:nvPr/>
        </p:nvSpPr>
        <p:spPr>
          <a:xfrm>
            <a:off x="996950" y="1616075"/>
            <a:ext cx="1040574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400"/>
              <a:t>Apply region growing on the following image with seed point as 6 and threshold value as 3.</a:t>
            </a:r>
          </a:p>
        </p:txBody>
      </p:sp>
      <p:sp>
        <p:nvSpPr>
          <p:cNvPr id="3" name="Text Box 2"/>
          <p:cNvSpPr txBox="1"/>
          <p:nvPr/>
        </p:nvSpPr>
        <p:spPr>
          <a:xfrm>
            <a:off x="8157845" y="3429000"/>
            <a:ext cx="22688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/>
              <a:t>Seed Value=6</a:t>
            </a:r>
          </a:p>
        </p:txBody>
      </p:sp>
      <p:sp>
        <p:nvSpPr>
          <p:cNvPr id="8" name="Text Box 7"/>
          <p:cNvSpPr txBox="1"/>
          <p:nvPr/>
        </p:nvSpPr>
        <p:spPr>
          <a:xfrm>
            <a:off x="8157845" y="4182110"/>
            <a:ext cx="22688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/>
              <a:t>T=3</a:t>
            </a:r>
          </a:p>
        </p:txBody>
      </p:sp>
      <p:sp>
        <p:nvSpPr>
          <p:cNvPr id="6" name="Text Box 5"/>
          <p:cNvSpPr txBox="1"/>
          <p:nvPr/>
        </p:nvSpPr>
        <p:spPr>
          <a:xfrm>
            <a:off x="8157845" y="4935220"/>
            <a:ext cx="226885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/>
              <a:t>8-Connectivity</a:t>
            </a:r>
          </a:p>
          <a:p>
            <a:pPr algn="ctr"/>
            <a:r>
              <a:rPr lang="en-US" sz="2400"/>
              <a:t>(By default)</a:t>
            </a:r>
          </a:p>
        </p:txBody>
      </p:sp>
      <p:sp>
        <p:nvSpPr>
          <p:cNvPr id="9" name="Text Box 8"/>
          <p:cNvSpPr txBox="1"/>
          <p:nvPr/>
        </p:nvSpPr>
        <p:spPr>
          <a:xfrm>
            <a:off x="3481705" y="6200140"/>
            <a:ext cx="52279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rgbClr val="00B050"/>
                </a:solidFill>
                <a:sym typeface="+mn-ea"/>
              </a:rPr>
              <a:t>5 is in the Range [4-7]</a:t>
            </a:r>
            <a:endParaRPr lang="en-US" sz="2400"/>
          </a:p>
        </p:txBody>
      </p:sp>
      <p:graphicFrame>
        <p:nvGraphicFramePr>
          <p:cNvPr id="7" name="Table 6"/>
          <p:cNvGraphicFramePr/>
          <p:nvPr>
            <p:custDataLst>
              <p:tags r:id="rId1"/>
            </p:custDataLst>
          </p:nvPr>
        </p:nvGraphicFramePr>
        <p:xfrm>
          <a:off x="1838325" y="2940685"/>
          <a:ext cx="4269740" cy="3048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337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371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37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3371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3371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3371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3371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3371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1" name="Text Box 10"/>
          <p:cNvSpPr txBox="1"/>
          <p:nvPr/>
        </p:nvSpPr>
        <p:spPr>
          <a:xfrm>
            <a:off x="6443980" y="3808095"/>
            <a:ext cx="155829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/>
              <a:t>7-3=4</a:t>
            </a:r>
          </a:p>
        </p:txBody>
      </p:sp>
      <p:sp>
        <p:nvSpPr>
          <p:cNvPr id="12" name="Text Box 11"/>
          <p:cNvSpPr txBox="1"/>
          <p:nvPr/>
        </p:nvSpPr>
        <p:spPr>
          <a:xfrm>
            <a:off x="6443980" y="4561205"/>
            <a:ext cx="155829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/>
              <a:t>Range</a:t>
            </a:r>
          </a:p>
          <a:p>
            <a:pPr algn="ctr"/>
            <a:r>
              <a:rPr lang="en-US" sz="2400"/>
              <a:t>[4,7]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ym typeface="+mn-ea"/>
              </a:rPr>
              <a:t>Case 2: Seed value given</a:t>
            </a:r>
            <a:endParaRPr lang="en-US"/>
          </a:p>
        </p:txBody>
      </p:sp>
      <p:sp>
        <p:nvSpPr>
          <p:cNvPr id="5" name="Text Box 4"/>
          <p:cNvSpPr txBox="1"/>
          <p:nvPr/>
        </p:nvSpPr>
        <p:spPr>
          <a:xfrm>
            <a:off x="996950" y="1616075"/>
            <a:ext cx="1040574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400"/>
              <a:t>Apply region growing on the following image with seed point as 6 and threshold value as 3.</a:t>
            </a:r>
          </a:p>
        </p:txBody>
      </p:sp>
      <p:sp>
        <p:nvSpPr>
          <p:cNvPr id="3" name="Text Box 2"/>
          <p:cNvSpPr txBox="1"/>
          <p:nvPr/>
        </p:nvSpPr>
        <p:spPr>
          <a:xfrm>
            <a:off x="8157845" y="3429000"/>
            <a:ext cx="22688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/>
              <a:t>Seed Value=6</a:t>
            </a:r>
          </a:p>
        </p:txBody>
      </p:sp>
      <p:sp>
        <p:nvSpPr>
          <p:cNvPr id="8" name="Text Box 7"/>
          <p:cNvSpPr txBox="1"/>
          <p:nvPr/>
        </p:nvSpPr>
        <p:spPr>
          <a:xfrm>
            <a:off x="8157845" y="4182110"/>
            <a:ext cx="22688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/>
              <a:t>T=3</a:t>
            </a:r>
          </a:p>
        </p:txBody>
      </p:sp>
      <p:sp>
        <p:nvSpPr>
          <p:cNvPr id="6" name="Text Box 5"/>
          <p:cNvSpPr txBox="1"/>
          <p:nvPr/>
        </p:nvSpPr>
        <p:spPr>
          <a:xfrm>
            <a:off x="8157845" y="4935220"/>
            <a:ext cx="226885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/>
              <a:t>8-Connectivity</a:t>
            </a:r>
          </a:p>
          <a:p>
            <a:pPr algn="ctr"/>
            <a:r>
              <a:rPr lang="en-US" sz="2400"/>
              <a:t>(By default)</a:t>
            </a:r>
          </a:p>
        </p:txBody>
      </p:sp>
      <p:sp>
        <p:nvSpPr>
          <p:cNvPr id="9" name="Text Box 8"/>
          <p:cNvSpPr txBox="1"/>
          <p:nvPr/>
        </p:nvSpPr>
        <p:spPr>
          <a:xfrm>
            <a:off x="3481705" y="6200140"/>
            <a:ext cx="52279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rgbClr val="00B050"/>
                </a:solidFill>
                <a:sym typeface="+mn-ea"/>
              </a:rPr>
              <a:t>4 is in the Range [4-7]</a:t>
            </a:r>
            <a:endParaRPr lang="en-US" sz="2400"/>
          </a:p>
        </p:txBody>
      </p:sp>
      <p:graphicFrame>
        <p:nvGraphicFramePr>
          <p:cNvPr id="7" name="Table 6"/>
          <p:cNvGraphicFramePr/>
          <p:nvPr>
            <p:custDataLst>
              <p:tags r:id="rId1"/>
            </p:custDataLst>
          </p:nvPr>
        </p:nvGraphicFramePr>
        <p:xfrm>
          <a:off x="1838325" y="2940685"/>
          <a:ext cx="4269740" cy="3048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337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371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37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3371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3371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3371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3371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3371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1" name="Text Box 10"/>
          <p:cNvSpPr txBox="1"/>
          <p:nvPr/>
        </p:nvSpPr>
        <p:spPr>
          <a:xfrm>
            <a:off x="6443980" y="3808095"/>
            <a:ext cx="155829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/>
              <a:t>7-3=4</a:t>
            </a:r>
          </a:p>
        </p:txBody>
      </p:sp>
      <p:sp>
        <p:nvSpPr>
          <p:cNvPr id="12" name="Text Box 11"/>
          <p:cNvSpPr txBox="1"/>
          <p:nvPr/>
        </p:nvSpPr>
        <p:spPr>
          <a:xfrm>
            <a:off x="6443980" y="4561205"/>
            <a:ext cx="155829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/>
              <a:t>Range</a:t>
            </a:r>
          </a:p>
          <a:p>
            <a:pPr algn="ctr"/>
            <a:r>
              <a:rPr lang="en-US" sz="2400"/>
              <a:t>[4,7]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8" grpId="0"/>
      <p:bldP spid="6" grpId="0"/>
      <p:bldP spid="9" grpId="0"/>
      <p:bldP spid="9" grpId="1"/>
      <p:bldP spid="11" grpId="0"/>
      <p:bldP spid="12" grpId="0"/>
    </p:bld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ym typeface="+mn-ea"/>
              </a:rPr>
              <a:t>Case 2: Seed value given</a:t>
            </a:r>
            <a:endParaRPr lang="en-US"/>
          </a:p>
        </p:txBody>
      </p:sp>
      <p:sp>
        <p:nvSpPr>
          <p:cNvPr id="5" name="Text Box 4"/>
          <p:cNvSpPr txBox="1"/>
          <p:nvPr/>
        </p:nvSpPr>
        <p:spPr>
          <a:xfrm>
            <a:off x="996950" y="1616075"/>
            <a:ext cx="1040574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400"/>
              <a:t>Apply region growing on the following image with seed point as 6 and threshold value as 3.</a:t>
            </a:r>
          </a:p>
        </p:txBody>
      </p:sp>
      <p:sp>
        <p:nvSpPr>
          <p:cNvPr id="3" name="Text Box 2"/>
          <p:cNvSpPr txBox="1"/>
          <p:nvPr/>
        </p:nvSpPr>
        <p:spPr>
          <a:xfrm>
            <a:off x="8157845" y="3429000"/>
            <a:ext cx="22688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/>
              <a:t>Seed Value=6</a:t>
            </a:r>
          </a:p>
        </p:txBody>
      </p:sp>
      <p:sp>
        <p:nvSpPr>
          <p:cNvPr id="8" name="Text Box 7"/>
          <p:cNvSpPr txBox="1"/>
          <p:nvPr/>
        </p:nvSpPr>
        <p:spPr>
          <a:xfrm>
            <a:off x="8157845" y="4182110"/>
            <a:ext cx="22688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/>
              <a:t>T=3</a:t>
            </a:r>
          </a:p>
        </p:txBody>
      </p:sp>
      <p:sp>
        <p:nvSpPr>
          <p:cNvPr id="6" name="Text Box 5"/>
          <p:cNvSpPr txBox="1"/>
          <p:nvPr/>
        </p:nvSpPr>
        <p:spPr>
          <a:xfrm>
            <a:off x="8157845" y="4935220"/>
            <a:ext cx="226885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/>
              <a:t>8-Connectivity</a:t>
            </a:r>
          </a:p>
          <a:p>
            <a:pPr algn="ctr"/>
            <a:r>
              <a:rPr lang="en-US" sz="2400"/>
              <a:t>(By default)</a:t>
            </a:r>
          </a:p>
        </p:txBody>
      </p:sp>
      <p:sp>
        <p:nvSpPr>
          <p:cNvPr id="9" name="Text Box 8"/>
          <p:cNvSpPr txBox="1"/>
          <p:nvPr/>
        </p:nvSpPr>
        <p:spPr>
          <a:xfrm>
            <a:off x="3481705" y="6200140"/>
            <a:ext cx="52279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rgbClr val="00B050"/>
                </a:solidFill>
                <a:sym typeface="+mn-ea"/>
              </a:rPr>
              <a:t>4 is in the Range [4-7]</a:t>
            </a:r>
            <a:endParaRPr lang="en-US" sz="2400"/>
          </a:p>
        </p:txBody>
      </p:sp>
      <p:graphicFrame>
        <p:nvGraphicFramePr>
          <p:cNvPr id="7" name="Table 6"/>
          <p:cNvGraphicFramePr/>
          <p:nvPr>
            <p:custDataLst>
              <p:tags r:id="rId1"/>
            </p:custDataLst>
          </p:nvPr>
        </p:nvGraphicFramePr>
        <p:xfrm>
          <a:off x="1838325" y="2940685"/>
          <a:ext cx="4269740" cy="3048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337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371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37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3371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3371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3371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3371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3371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1" name="Text Box 10"/>
          <p:cNvSpPr txBox="1"/>
          <p:nvPr/>
        </p:nvSpPr>
        <p:spPr>
          <a:xfrm>
            <a:off x="6443980" y="3808095"/>
            <a:ext cx="155829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/>
              <a:t>7-3=4</a:t>
            </a:r>
          </a:p>
        </p:txBody>
      </p:sp>
      <p:sp>
        <p:nvSpPr>
          <p:cNvPr id="12" name="Text Box 11"/>
          <p:cNvSpPr txBox="1"/>
          <p:nvPr/>
        </p:nvSpPr>
        <p:spPr>
          <a:xfrm>
            <a:off x="6443980" y="4561205"/>
            <a:ext cx="155829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/>
              <a:t>Range</a:t>
            </a:r>
          </a:p>
          <a:p>
            <a:pPr algn="ctr"/>
            <a:r>
              <a:rPr lang="en-US" sz="2400"/>
              <a:t>[4,7]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ym typeface="+mn-ea"/>
              </a:rPr>
              <a:t>Case 2: Seed value given</a:t>
            </a:r>
            <a:endParaRPr lang="en-US"/>
          </a:p>
        </p:txBody>
      </p:sp>
      <p:sp>
        <p:nvSpPr>
          <p:cNvPr id="5" name="Text Box 4"/>
          <p:cNvSpPr txBox="1"/>
          <p:nvPr/>
        </p:nvSpPr>
        <p:spPr>
          <a:xfrm>
            <a:off x="996950" y="1616075"/>
            <a:ext cx="1040574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400"/>
              <a:t>Apply region growing on the following image with seed point as 6 and threshold value as 3.</a:t>
            </a:r>
          </a:p>
        </p:txBody>
      </p:sp>
      <p:sp>
        <p:nvSpPr>
          <p:cNvPr id="3" name="Text Box 2"/>
          <p:cNvSpPr txBox="1"/>
          <p:nvPr/>
        </p:nvSpPr>
        <p:spPr>
          <a:xfrm>
            <a:off x="8157845" y="3429000"/>
            <a:ext cx="22688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/>
              <a:t>Seed Value=6</a:t>
            </a:r>
          </a:p>
        </p:txBody>
      </p:sp>
      <p:sp>
        <p:nvSpPr>
          <p:cNvPr id="8" name="Text Box 7"/>
          <p:cNvSpPr txBox="1"/>
          <p:nvPr/>
        </p:nvSpPr>
        <p:spPr>
          <a:xfrm>
            <a:off x="8157845" y="4182110"/>
            <a:ext cx="22688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/>
              <a:t>T=3</a:t>
            </a:r>
          </a:p>
        </p:txBody>
      </p:sp>
      <p:sp>
        <p:nvSpPr>
          <p:cNvPr id="6" name="Text Box 5"/>
          <p:cNvSpPr txBox="1"/>
          <p:nvPr/>
        </p:nvSpPr>
        <p:spPr>
          <a:xfrm>
            <a:off x="8157845" y="4935220"/>
            <a:ext cx="226885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/>
              <a:t>8-Connectivity</a:t>
            </a:r>
          </a:p>
          <a:p>
            <a:pPr algn="ctr"/>
            <a:r>
              <a:rPr lang="en-US" sz="2400"/>
              <a:t>(By default)</a:t>
            </a:r>
          </a:p>
        </p:txBody>
      </p:sp>
      <p:sp>
        <p:nvSpPr>
          <p:cNvPr id="9" name="Text Box 8"/>
          <p:cNvSpPr txBox="1"/>
          <p:nvPr/>
        </p:nvSpPr>
        <p:spPr>
          <a:xfrm>
            <a:off x="3481705" y="6200140"/>
            <a:ext cx="52279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rgbClr val="00B050"/>
                </a:solidFill>
                <a:sym typeface="+mn-ea"/>
              </a:rPr>
              <a:t>4 is in the Range [4-7]</a:t>
            </a:r>
            <a:endParaRPr lang="en-US" sz="2400"/>
          </a:p>
        </p:txBody>
      </p:sp>
      <p:graphicFrame>
        <p:nvGraphicFramePr>
          <p:cNvPr id="7" name="Table 6"/>
          <p:cNvGraphicFramePr/>
          <p:nvPr>
            <p:custDataLst>
              <p:tags r:id="rId1"/>
            </p:custDataLst>
          </p:nvPr>
        </p:nvGraphicFramePr>
        <p:xfrm>
          <a:off x="1838325" y="2940685"/>
          <a:ext cx="4269740" cy="3048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337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371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37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3371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3371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3371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3371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3371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1" name="Text Box 10"/>
          <p:cNvSpPr txBox="1"/>
          <p:nvPr/>
        </p:nvSpPr>
        <p:spPr>
          <a:xfrm>
            <a:off x="6443980" y="3808095"/>
            <a:ext cx="155829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/>
              <a:t>7-3=4</a:t>
            </a:r>
          </a:p>
        </p:txBody>
      </p:sp>
      <p:sp>
        <p:nvSpPr>
          <p:cNvPr id="12" name="Text Box 11"/>
          <p:cNvSpPr txBox="1"/>
          <p:nvPr/>
        </p:nvSpPr>
        <p:spPr>
          <a:xfrm>
            <a:off x="6443980" y="4561205"/>
            <a:ext cx="155829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/>
              <a:t>Range</a:t>
            </a:r>
          </a:p>
          <a:p>
            <a:pPr algn="ctr"/>
            <a:r>
              <a:rPr lang="en-US" sz="2400"/>
              <a:t>[4,7]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8" grpId="0"/>
      <p:bldP spid="6" grpId="0"/>
      <p:bldP spid="9" grpId="0"/>
      <p:bldP spid="9" grpId="1"/>
      <p:bldP spid="11" grpId="0"/>
      <p:bldP spid="12" grpId="0"/>
    </p:bld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ym typeface="+mn-ea"/>
              </a:rPr>
              <a:t>Case 2: Seed value given</a:t>
            </a:r>
            <a:endParaRPr lang="en-US"/>
          </a:p>
        </p:txBody>
      </p:sp>
      <p:sp>
        <p:nvSpPr>
          <p:cNvPr id="5" name="Text Box 4"/>
          <p:cNvSpPr txBox="1"/>
          <p:nvPr/>
        </p:nvSpPr>
        <p:spPr>
          <a:xfrm>
            <a:off x="996950" y="1616075"/>
            <a:ext cx="1040574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400"/>
              <a:t>Apply region growing on the following image with seed point as 6 and threshold value as 3.</a:t>
            </a:r>
          </a:p>
        </p:txBody>
      </p:sp>
      <p:sp>
        <p:nvSpPr>
          <p:cNvPr id="3" name="Text Box 2"/>
          <p:cNvSpPr txBox="1"/>
          <p:nvPr/>
        </p:nvSpPr>
        <p:spPr>
          <a:xfrm>
            <a:off x="8157845" y="3429000"/>
            <a:ext cx="22688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/>
              <a:t>Seed Value=6</a:t>
            </a:r>
          </a:p>
        </p:txBody>
      </p:sp>
      <p:sp>
        <p:nvSpPr>
          <p:cNvPr id="8" name="Text Box 7"/>
          <p:cNvSpPr txBox="1"/>
          <p:nvPr/>
        </p:nvSpPr>
        <p:spPr>
          <a:xfrm>
            <a:off x="8157845" y="4182110"/>
            <a:ext cx="22688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/>
              <a:t>T=3</a:t>
            </a:r>
          </a:p>
        </p:txBody>
      </p:sp>
      <p:sp>
        <p:nvSpPr>
          <p:cNvPr id="6" name="Text Box 5"/>
          <p:cNvSpPr txBox="1"/>
          <p:nvPr/>
        </p:nvSpPr>
        <p:spPr>
          <a:xfrm>
            <a:off x="8157845" y="4935220"/>
            <a:ext cx="226885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/>
              <a:t>8-Connectivity</a:t>
            </a:r>
          </a:p>
          <a:p>
            <a:pPr algn="ctr"/>
            <a:r>
              <a:rPr lang="en-US" sz="2400"/>
              <a:t>(By default)</a:t>
            </a:r>
          </a:p>
        </p:txBody>
      </p:sp>
      <p:sp>
        <p:nvSpPr>
          <p:cNvPr id="9" name="Text Box 8"/>
          <p:cNvSpPr txBox="1"/>
          <p:nvPr/>
        </p:nvSpPr>
        <p:spPr>
          <a:xfrm>
            <a:off x="3481705" y="6200140"/>
            <a:ext cx="52279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rgbClr val="00B050"/>
                </a:solidFill>
                <a:sym typeface="+mn-ea"/>
              </a:rPr>
              <a:t>4 is in the Range [4-7]</a:t>
            </a:r>
            <a:endParaRPr lang="en-US" sz="2400"/>
          </a:p>
        </p:txBody>
      </p:sp>
      <p:graphicFrame>
        <p:nvGraphicFramePr>
          <p:cNvPr id="7" name="Table 6"/>
          <p:cNvGraphicFramePr/>
          <p:nvPr>
            <p:custDataLst>
              <p:tags r:id="rId1"/>
            </p:custDataLst>
          </p:nvPr>
        </p:nvGraphicFramePr>
        <p:xfrm>
          <a:off x="1838325" y="2940685"/>
          <a:ext cx="4269740" cy="3048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337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371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37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3371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3371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3371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3371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3371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1" name="Text Box 10"/>
          <p:cNvSpPr txBox="1"/>
          <p:nvPr/>
        </p:nvSpPr>
        <p:spPr>
          <a:xfrm>
            <a:off x="6443980" y="3808095"/>
            <a:ext cx="155829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/>
              <a:t>7-3=4</a:t>
            </a:r>
          </a:p>
        </p:txBody>
      </p:sp>
      <p:sp>
        <p:nvSpPr>
          <p:cNvPr id="12" name="Text Box 11"/>
          <p:cNvSpPr txBox="1"/>
          <p:nvPr/>
        </p:nvSpPr>
        <p:spPr>
          <a:xfrm>
            <a:off x="6443980" y="4561205"/>
            <a:ext cx="155829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/>
              <a:t>Range</a:t>
            </a:r>
          </a:p>
          <a:p>
            <a:pPr algn="ctr"/>
            <a:r>
              <a:rPr lang="en-US" sz="2400"/>
              <a:t>[4,7]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ym typeface="+mn-ea"/>
              </a:rPr>
              <a:t>Case 2: Seed value given</a:t>
            </a:r>
            <a:endParaRPr lang="en-US"/>
          </a:p>
        </p:txBody>
      </p:sp>
      <p:sp>
        <p:nvSpPr>
          <p:cNvPr id="5" name="Text Box 4"/>
          <p:cNvSpPr txBox="1"/>
          <p:nvPr/>
        </p:nvSpPr>
        <p:spPr>
          <a:xfrm>
            <a:off x="996950" y="1616075"/>
            <a:ext cx="1040574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400"/>
              <a:t>Apply region growing on the following image with seed point as 6 and threshold value as 3.</a:t>
            </a:r>
          </a:p>
        </p:txBody>
      </p:sp>
      <p:sp>
        <p:nvSpPr>
          <p:cNvPr id="3" name="Text Box 2"/>
          <p:cNvSpPr txBox="1"/>
          <p:nvPr/>
        </p:nvSpPr>
        <p:spPr>
          <a:xfrm>
            <a:off x="8157845" y="3429000"/>
            <a:ext cx="22688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/>
              <a:t>Seed Value=6</a:t>
            </a:r>
          </a:p>
        </p:txBody>
      </p:sp>
      <p:sp>
        <p:nvSpPr>
          <p:cNvPr id="8" name="Text Box 7"/>
          <p:cNvSpPr txBox="1"/>
          <p:nvPr/>
        </p:nvSpPr>
        <p:spPr>
          <a:xfrm>
            <a:off x="8157845" y="4182110"/>
            <a:ext cx="22688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/>
              <a:t>T=3</a:t>
            </a:r>
          </a:p>
        </p:txBody>
      </p:sp>
      <p:sp>
        <p:nvSpPr>
          <p:cNvPr id="6" name="Text Box 5"/>
          <p:cNvSpPr txBox="1"/>
          <p:nvPr/>
        </p:nvSpPr>
        <p:spPr>
          <a:xfrm>
            <a:off x="8157845" y="4935220"/>
            <a:ext cx="226885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/>
              <a:t>8-Connectivity</a:t>
            </a:r>
          </a:p>
          <a:p>
            <a:pPr algn="ctr"/>
            <a:r>
              <a:rPr lang="en-US" sz="2400"/>
              <a:t>(By default)</a:t>
            </a:r>
          </a:p>
        </p:txBody>
      </p:sp>
      <p:graphicFrame>
        <p:nvGraphicFramePr>
          <p:cNvPr id="7" name="Table 6"/>
          <p:cNvGraphicFramePr/>
          <p:nvPr>
            <p:custDataLst>
              <p:tags r:id="rId1"/>
            </p:custDataLst>
          </p:nvPr>
        </p:nvGraphicFramePr>
        <p:xfrm>
          <a:off x="1838325" y="2940685"/>
          <a:ext cx="4269740" cy="3048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337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371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37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3371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3371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3371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3371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3371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1" name="Text Box 10"/>
          <p:cNvSpPr txBox="1"/>
          <p:nvPr/>
        </p:nvSpPr>
        <p:spPr>
          <a:xfrm>
            <a:off x="6443980" y="3808095"/>
            <a:ext cx="155829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/>
              <a:t>7-3=4</a:t>
            </a:r>
          </a:p>
        </p:txBody>
      </p:sp>
      <p:sp>
        <p:nvSpPr>
          <p:cNvPr id="12" name="Text Box 11"/>
          <p:cNvSpPr txBox="1"/>
          <p:nvPr/>
        </p:nvSpPr>
        <p:spPr>
          <a:xfrm>
            <a:off x="6443980" y="4561205"/>
            <a:ext cx="155829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/>
              <a:t>Range</a:t>
            </a:r>
          </a:p>
          <a:p>
            <a:pPr algn="ctr"/>
            <a:r>
              <a:rPr lang="en-US" sz="2400"/>
              <a:t>[4,7]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ym typeface="+mn-ea"/>
              </a:rPr>
              <a:t>Case 2: Seed value given</a:t>
            </a:r>
            <a:endParaRPr lang="en-US"/>
          </a:p>
        </p:txBody>
      </p:sp>
      <p:sp>
        <p:nvSpPr>
          <p:cNvPr id="5" name="Text Box 4"/>
          <p:cNvSpPr txBox="1"/>
          <p:nvPr/>
        </p:nvSpPr>
        <p:spPr>
          <a:xfrm>
            <a:off x="996950" y="1616075"/>
            <a:ext cx="1040574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400"/>
              <a:t>Apply region growing on the following image with seed point as 6 and threshold value as 3.</a:t>
            </a:r>
          </a:p>
        </p:txBody>
      </p:sp>
      <p:sp>
        <p:nvSpPr>
          <p:cNvPr id="3" name="Text Box 2"/>
          <p:cNvSpPr txBox="1"/>
          <p:nvPr/>
        </p:nvSpPr>
        <p:spPr>
          <a:xfrm>
            <a:off x="8157845" y="3429000"/>
            <a:ext cx="22688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/>
              <a:t>Seed Value=6</a:t>
            </a:r>
          </a:p>
        </p:txBody>
      </p:sp>
      <p:sp>
        <p:nvSpPr>
          <p:cNvPr id="8" name="Text Box 7"/>
          <p:cNvSpPr txBox="1"/>
          <p:nvPr/>
        </p:nvSpPr>
        <p:spPr>
          <a:xfrm>
            <a:off x="8157845" y="4182110"/>
            <a:ext cx="22688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/>
              <a:t>T=3</a:t>
            </a:r>
          </a:p>
        </p:txBody>
      </p:sp>
      <p:sp>
        <p:nvSpPr>
          <p:cNvPr id="6" name="Text Box 5"/>
          <p:cNvSpPr txBox="1"/>
          <p:nvPr/>
        </p:nvSpPr>
        <p:spPr>
          <a:xfrm>
            <a:off x="8157845" y="4935220"/>
            <a:ext cx="226885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/>
              <a:t>8-Connectivity</a:t>
            </a:r>
          </a:p>
          <a:p>
            <a:pPr algn="ctr"/>
            <a:r>
              <a:rPr lang="en-US" sz="2400"/>
              <a:t>(By default)</a:t>
            </a:r>
          </a:p>
        </p:txBody>
      </p:sp>
      <p:graphicFrame>
        <p:nvGraphicFramePr>
          <p:cNvPr id="7" name="Table 6"/>
          <p:cNvGraphicFramePr/>
          <p:nvPr>
            <p:custDataLst>
              <p:tags r:id="rId1"/>
            </p:custDataLst>
          </p:nvPr>
        </p:nvGraphicFramePr>
        <p:xfrm>
          <a:off x="1838325" y="2940685"/>
          <a:ext cx="4269740" cy="3048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337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371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37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3371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3371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3371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3371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3371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1" name="Text Box 10"/>
          <p:cNvSpPr txBox="1"/>
          <p:nvPr/>
        </p:nvSpPr>
        <p:spPr>
          <a:xfrm>
            <a:off x="6443980" y="3808095"/>
            <a:ext cx="155829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/>
              <a:t>7-3=4</a:t>
            </a:r>
          </a:p>
        </p:txBody>
      </p:sp>
      <p:sp>
        <p:nvSpPr>
          <p:cNvPr id="12" name="Text Box 11"/>
          <p:cNvSpPr txBox="1"/>
          <p:nvPr/>
        </p:nvSpPr>
        <p:spPr>
          <a:xfrm>
            <a:off x="6443980" y="4561205"/>
            <a:ext cx="155829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/>
              <a:t>Range</a:t>
            </a:r>
          </a:p>
          <a:p>
            <a:pPr algn="ctr"/>
            <a:r>
              <a:rPr lang="en-US" sz="2400"/>
              <a:t>[4,7]</a:t>
            </a:r>
          </a:p>
        </p:txBody>
      </p:sp>
      <p:sp>
        <p:nvSpPr>
          <p:cNvPr id="9" name="Text Box 8"/>
          <p:cNvSpPr txBox="1"/>
          <p:nvPr/>
        </p:nvSpPr>
        <p:spPr>
          <a:xfrm>
            <a:off x="3481705" y="6200140"/>
            <a:ext cx="52279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rgbClr val="FF0000"/>
                </a:solidFill>
                <a:sym typeface="+mn-ea"/>
              </a:rPr>
              <a:t>0 is not in the Range [4-7]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8" grpId="0"/>
      <p:bldP spid="6" grpId="0"/>
      <p:bldP spid="11" grpId="0"/>
      <p:bldP spid="12" grpId="0"/>
      <p:bldP spid="9" grpId="0"/>
      <p:bldP spid="9" grpId="1"/>
    </p:bld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ym typeface="+mn-ea"/>
              </a:rPr>
              <a:t>Case 2: Seed value given</a:t>
            </a:r>
            <a:endParaRPr lang="en-US"/>
          </a:p>
        </p:txBody>
      </p:sp>
      <p:sp>
        <p:nvSpPr>
          <p:cNvPr id="5" name="Text Box 4"/>
          <p:cNvSpPr txBox="1"/>
          <p:nvPr/>
        </p:nvSpPr>
        <p:spPr>
          <a:xfrm>
            <a:off x="996950" y="1616075"/>
            <a:ext cx="1040574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400"/>
              <a:t>Apply region growing on the following image with seed point as 6 and threshold value as 3.</a:t>
            </a:r>
          </a:p>
        </p:txBody>
      </p:sp>
      <p:sp>
        <p:nvSpPr>
          <p:cNvPr id="3" name="Text Box 2"/>
          <p:cNvSpPr txBox="1"/>
          <p:nvPr/>
        </p:nvSpPr>
        <p:spPr>
          <a:xfrm>
            <a:off x="8157845" y="3429000"/>
            <a:ext cx="22688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/>
              <a:t>Seed Value=6</a:t>
            </a:r>
          </a:p>
        </p:txBody>
      </p:sp>
      <p:sp>
        <p:nvSpPr>
          <p:cNvPr id="8" name="Text Box 7"/>
          <p:cNvSpPr txBox="1"/>
          <p:nvPr/>
        </p:nvSpPr>
        <p:spPr>
          <a:xfrm>
            <a:off x="8157845" y="4182110"/>
            <a:ext cx="22688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/>
              <a:t>T=3</a:t>
            </a:r>
          </a:p>
        </p:txBody>
      </p:sp>
      <p:sp>
        <p:nvSpPr>
          <p:cNvPr id="6" name="Text Box 5"/>
          <p:cNvSpPr txBox="1"/>
          <p:nvPr/>
        </p:nvSpPr>
        <p:spPr>
          <a:xfrm>
            <a:off x="8157845" y="4935220"/>
            <a:ext cx="226885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/>
              <a:t>8-Connectivity</a:t>
            </a:r>
          </a:p>
          <a:p>
            <a:pPr algn="ctr"/>
            <a:r>
              <a:rPr lang="en-US" sz="2400"/>
              <a:t>(By default)</a:t>
            </a:r>
          </a:p>
        </p:txBody>
      </p:sp>
      <p:graphicFrame>
        <p:nvGraphicFramePr>
          <p:cNvPr id="7" name="Table 6"/>
          <p:cNvGraphicFramePr/>
          <p:nvPr>
            <p:custDataLst>
              <p:tags r:id="rId1"/>
            </p:custDataLst>
          </p:nvPr>
        </p:nvGraphicFramePr>
        <p:xfrm>
          <a:off x="1838325" y="2940685"/>
          <a:ext cx="4269740" cy="3048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337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371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37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3371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3371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3371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3371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3371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1" name="Text Box 10"/>
          <p:cNvSpPr txBox="1"/>
          <p:nvPr/>
        </p:nvSpPr>
        <p:spPr>
          <a:xfrm>
            <a:off x="6443980" y="3808095"/>
            <a:ext cx="155829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/>
              <a:t>7-3=4</a:t>
            </a:r>
          </a:p>
        </p:txBody>
      </p:sp>
      <p:sp>
        <p:nvSpPr>
          <p:cNvPr id="12" name="Text Box 11"/>
          <p:cNvSpPr txBox="1"/>
          <p:nvPr/>
        </p:nvSpPr>
        <p:spPr>
          <a:xfrm>
            <a:off x="6443980" y="4561205"/>
            <a:ext cx="155829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/>
              <a:t>Range</a:t>
            </a:r>
          </a:p>
          <a:p>
            <a:pPr algn="ctr"/>
            <a:r>
              <a:rPr lang="en-US" sz="2400"/>
              <a:t>[4,7]</a:t>
            </a:r>
          </a:p>
        </p:txBody>
      </p:sp>
      <p:sp>
        <p:nvSpPr>
          <p:cNvPr id="9" name="Text Box 8"/>
          <p:cNvSpPr txBox="1"/>
          <p:nvPr/>
        </p:nvSpPr>
        <p:spPr>
          <a:xfrm>
            <a:off x="3481705" y="6200140"/>
            <a:ext cx="52279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rgbClr val="FF0000"/>
                </a:solidFill>
                <a:sym typeface="+mn-ea"/>
              </a:rPr>
              <a:t>0 is not in the Range [4-7]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ym typeface="+mn-ea"/>
              </a:rPr>
              <a:t>Case 2: Seed value given</a:t>
            </a:r>
            <a:endParaRPr lang="en-US"/>
          </a:p>
        </p:txBody>
      </p:sp>
      <p:sp>
        <p:nvSpPr>
          <p:cNvPr id="5" name="Text Box 4"/>
          <p:cNvSpPr txBox="1"/>
          <p:nvPr/>
        </p:nvSpPr>
        <p:spPr>
          <a:xfrm>
            <a:off x="996950" y="1616075"/>
            <a:ext cx="1040574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400"/>
              <a:t>Apply region growing on the following image with seed point as 6 and threshold value as 3.</a:t>
            </a:r>
          </a:p>
        </p:txBody>
      </p:sp>
      <p:sp>
        <p:nvSpPr>
          <p:cNvPr id="3" name="Text Box 2"/>
          <p:cNvSpPr txBox="1"/>
          <p:nvPr/>
        </p:nvSpPr>
        <p:spPr>
          <a:xfrm>
            <a:off x="8157845" y="3429000"/>
            <a:ext cx="22688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/>
              <a:t>Seed Value=6</a:t>
            </a:r>
          </a:p>
        </p:txBody>
      </p:sp>
      <p:sp>
        <p:nvSpPr>
          <p:cNvPr id="8" name="Text Box 7"/>
          <p:cNvSpPr txBox="1"/>
          <p:nvPr/>
        </p:nvSpPr>
        <p:spPr>
          <a:xfrm>
            <a:off x="8157845" y="4182110"/>
            <a:ext cx="22688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/>
              <a:t>T=3</a:t>
            </a:r>
          </a:p>
        </p:txBody>
      </p:sp>
      <p:sp>
        <p:nvSpPr>
          <p:cNvPr id="6" name="Text Box 5"/>
          <p:cNvSpPr txBox="1"/>
          <p:nvPr/>
        </p:nvSpPr>
        <p:spPr>
          <a:xfrm>
            <a:off x="8157845" y="4935220"/>
            <a:ext cx="226885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/>
              <a:t>8-Connectivity</a:t>
            </a:r>
          </a:p>
          <a:p>
            <a:pPr algn="ctr"/>
            <a:r>
              <a:rPr lang="en-US" sz="2400"/>
              <a:t>(By default)</a:t>
            </a:r>
          </a:p>
        </p:txBody>
      </p:sp>
      <p:graphicFrame>
        <p:nvGraphicFramePr>
          <p:cNvPr id="7" name="Table 6"/>
          <p:cNvGraphicFramePr/>
          <p:nvPr>
            <p:custDataLst>
              <p:tags r:id="rId1"/>
            </p:custDataLst>
          </p:nvPr>
        </p:nvGraphicFramePr>
        <p:xfrm>
          <a:off x="1838325" y="2940685"/>
          <a:ext cx="4269740" cy="3048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337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371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37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3371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3371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3371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3371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3371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1" name="Text Box 10"/>
          <p:cNvSpPr txBox="1"/>
          <p:nvPr/>
        </p:nvSpPr>
        <p:spPr>
          <a:xfrm>
            <a:off x="6443980" y="3808095"/>
            <a:ext cx="155829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/>
              <a:t>7-3=4</a:t>
            </a:r>
          </a:p>
        </p:txBody>
      </p:sp>
      <p:sp>
        <p:nvSpPr>
          <p:cNvPr id="12" name="Text Box 11"/>
          <p:cNvSpPr txBox="1"/>
          <p:nvPr/>
        </p:nvSpPr>
        <p:spPr>
          <a:xfrm>
            <a:off x="6443980" y="4561205"/>
            <a:ext cx="155829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/>
              <a:t>Range</a:t>
            </a:r>
          </a:p>
          <a:p>
            <a:pPr algn="ctr"/>
            <a:r>
              <a:rPr lang="en-US" sz="2400"/>
              <a:t>[4,7]</a:t>
            </a:r>
          </a:p>
        </p:txBody>
      </p:sp>
      <p:sp>
        <p:nvSpPr>
          <p:cNvPr id="9" name="Text Box 8"/>
          <p:cNvSpPr txBox="1"/>
          <p:nvPr/>
        </p:nvSpPr>
        <p:spPr>
          <a:xfrm>
            <a:off x="3481705" y="6200140"/>
            <a:ext cx="52279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rgbClr val="FF0000"/>
                </a:solidFill>
                <a:sym typeface="+mn-ea"/>
              </a:rPr>
              <a:t>3 is not in the Range [4-7]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8" grpId="0"/>
      <p:bldP spid="6" grpId="0"/>
      <p:bldP spid="11" grpId="0"/>
      <p:bldP spid="12" grpId="0"/>
      <p:bldP spid="9" grpId="0"/>
      <p:bldP spid="9" grpId="1"/>
    </p:bld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ym typeface="+mn-ea"/>
              </a:rPr>
              <a:t>Case 2: Seed value given</a:t>
            </a:r>
            <a:endParaRPr lang="en-US"/>
          </a:p>
        </p:txBody>
      </p:sp>
      <p:sp>
        <p:nvSpPr>
          <p:cNvPr id="5" name="Text Box 4"/>
          <p:cNvSpPr txBox="1"/>
          <p:nvPr/>
        </p:nvSpPr>
        <p:spPr>
          <a:xfrm>
            <a:off x="996950" y="1616075"/>
            <a:ext cx="1040574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400"/>
              <a:t>Apply region growing on the following image with seed point as 6 and threshold value as 3.</a:t>
            </a:r>
          </a:p>
        </p:txBody>
      </p:sp>
      <p:sp>
        <p:nvSpPr>
          <p:cNvPr id="3" name="Text Box 2"/>
          <p:cNvSpPr txBox="1"/>
          <p:nvPr/>
        </p:nvSpPr>
        <p:spPr>
          <a:xfrm>
            <a:off x="8157845" y="3429000"/>
            <a:ext cx="22688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/>
              <a:t>Seed Value=6</a:t>
            </a:r>
          </a:p>
        </p:txBody>
      </p:sp>
      <p:sp>
        <p:nvSpPr>
          <p:cNvPr id="8" name="Text Box 7"/>
          <p:cNvSpPr txBox="1"/>
          <p:nvPr/>
        </p:nvSpPr>
        <p:spPr>
          <a:xfrm>
            <a:off x="8157845" y="4182110"/>
            <a:ext cx="22688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/>
              <a:t>T=3</a:t>
            </a:r>
          </a:p>
        </p:txBody>
      </p:sp>
      <p:sp>
        <p:nvSpPr>
          <p:cNvPr id="6" name="Text Box 5"/>
          <p:cNvSpPr txBox="1"/>
          <p:nvPr/>
        </p:nvSpPr>
        <p:spPr>
          <a:xfrm>
            <a:off x="8157845" y="4935220"/>
            <a:ext cx="226885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/>
              <a:t>8-Connectivity</a:t>
            </a:r>
          </a:p>
          <a:p>
            <a:pPr algn="ctr"/>
            <a:r>
              <a:rPr lang="en-US" sz="2400"/>
              <a:t>(By default)</a:t>
            </a:r>
          </a:p>
        </p:txBody>
      </p:sp>
      <p:graphicFrame>
        <p:nvGraphicFramePr>
          <p:cNvPr id="7" name="Table 6"/>
          <p:cNvGraphicFramePr/>
          <p:nvPr>
            <p:custDataLst>
              <p:tags r:id="rId1"/>
            </p:custDataLst>
          </p:nvPr>
        </p:nvGraphicFramePr>
        <p:xfrm>
          <a:off x="1838325" y="2940685"/>
          <a:ext cx="4269740" cy="3048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337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371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37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3371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3371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3371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3371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3371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1" name="Text Box 10"/>
          <p:cNvSpPr txBox="1"/>
          <p:nvPr/>
        </p:nvSpPr>
        <p:spPr>
          <a:xfrm>
            <a:off x="6443980" y="3808095"/>
            <a:ext cx="155829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/>
              <a:t>7-3=4</a:t>
            </a:r>
          </a:p>
        </p:txBody>
      </p:sp>
      <p:sp>
        <p:nvSpPr>
          <p:cNvPr id="12" name="Text Box 11"/>
          <p:cNvSpPr txBox="1"/>
          <p:nvPr/>
        </p:nvSpPr>
        <p:spPr>
          <a:xfrm>
            <a:off x="6443980" y="4561205"/>
            <a:ext cx="155829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/>
              <a:t>Range</a:t>
            </a:r>
          </a:p>
          <a:p>
            <a:pPr algn="ctr"/>
            <a:r>
              <a:rPr lang="en-US" sz="2400"/>
              <a:t>[4,7]</a:t>
            </a:r>
          </a:p>
        </p:txBody>
      </p:sp>
      <p:sp>
        <p:nvSpPr>
          <p:cNvPr id="9" name="Text Box 8"/>
          <p:cNvSpPr txBox="1"/>
          <p:nvPr/>
        </p:nvSpPr>
        <p:spPr>
          <a:xfrm>
            <a:off x="3481705" y="6200140"/>
            <a:ext cx="52279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rgbClr val="FF0000"/>
                </a:solidFill>
                <a:sym typeface="+mn-ea"/>
              </a:rPr>
              <a:t>3 is not in the Range [4-7]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ym typeface="+mn-ea"/>
              </a:rPr>
              <a:t>Case 2: Seed value given</a:t>
            </a:r>
            <a:endParaRPr lang="en-US"/>
          </a:p>
        </p:txBody>
      </p:sp>
      <p:sp>
        <p:nvSpPr>
          <p:cNvPr id="5" name="Text Box 4"/>
          <p:cNvSpPr txBox="1"/>
          <p:nvPr/>
        </p:nvSpPr>
        <p:spPr>
          <a:xfrm>
            <a:off x="996950" y="1616075"/>
            <a:ext cx="1040574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400"/>
              <a:t>Apply region growing on the following image with seed point as 6 and threshold value as 3.</a:t>
            </a:r>
          </a:p>
        </p:txBody>
      </p:sp>
      <p:sp>
        <p:nvSpPr>
          <p:cNvPr id="3" name="Text Box 2"/>
          <p:cNvSpPr txBox="1"/>
          <p:nvPr/>
        </p:nvSpPr>
        <p:spPr>
          <a:xfrm>
            <a:off x="8157845" y="3429000"/>
            <a:ext cx="22688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/>
              <a:t>Seed Value=6</a:t>
            </a:r>
          </a:p>
        </p:txBody>
      </p:sp>
      <p:sp>
        <p:nvSpPr>
          <p:cNvPr id="8" name="Text Box 7"/>
          <p:cNvSpPr txBox="1"/>
          <p:nvPr/>
        </p:nvSpPr>
        <p:spPr>
          <a:xfrm>
            <a:off x="8157845" y="4182110"/>
            <a:ext cx="22688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/>
              <a:t>T=3</a:t>
            </a:r>
          </a:p>
        </p:txBody>
      </p:sp>
      <p:sp>
        <p:nvSpPr>
          <p:cNvPr id="6" name="Text Box 5"/>
          <p:cNvSpPr txBox="1"/>
          <p:nvPr/>
        </p:nvSpPr>
        <p:spPr>
          <a:xfrm>
            <a:off x="8157845" y="4935220"/>
            <a:ext cx="226885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/>
              <a:t>8-Connectivity</a:t>
            </a:r>
          </a:p>
          <a:p>
            <a:pPr algn="ctr"/>
            <a:r>
              <a:rPr lang="en-US" sz="2400"/>
              <a:t>(By default)</a:t>
            </a:r>
          </a:p>
        </p:txBody>
      </p:sp>
      <p:graphicFrame>
        <p:nvGraphicFramePr>
          <p:cNvPr id="7" name="Table 6"/>
          <p:cNvGraphicFramePr/>
          <p:nvPr>
            <p:custDataLst>
              <p:tags r:id="rId1"/>
            </p:custDataLst>
          </p:nvPr>
        </p:nvGraphicFramePr>
        <p:xfrm>
          <a:off x="1838325" y="2940685"/>
          <a:ext cx="4269740" cy="3048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337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371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37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3371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3371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3371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3371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3371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1" name="Text Box 10"/>
          <p:cNvSpPr txBox="1"/>
          <p:nvPr/>
        </p:nvSpPr>
        <p:spPr>
          <a:xfrm>
            <a:off x="6443980" y="3808095"/>
            <a:ext cx="155829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/>
              <a:t>7-3=4</a:t>
            </a:r>
          </a:p>
        </p:txBody>
      </p:sp>
      <p:sp>
        <p:nvSpPr>
          <p:cNvPr id="12" name="Text Box 11"/>
          <p:cNvSpPr txBox="1"/>
          <p:nvPr/>
        </p:nvSpPr>
        <p:spPr>
          <a:xfrm>
            <a:off x="6443980" y="4561205"/>
            <a:ext cx="155829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/>
              <a:t>Range</a:t>
            </a:r>
          </a:p>
          <a:p>
            <a:pPr algn="ctr"/>
            <a:r>
              <a:rPr lang="en-US" sz="2400"/>
              <a:t>[4,7]</a:t>
            </a:r>
          </a:p>
        </p:txBody>
      </p:sp>
      <p:sp>
        <p:nvSpPr>
          <p:cNvPr id="9" name="Text Box 8"/>
          <p:cNvSpPr txBox="1"/>
          <p:nvPr/>
        </p:nvSpPr>
        <p:spPr>
          <a:xfrm>
            <a:off x="3481705" y="6200140"/>
            <a:ext cx="52279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rgbClr val="FF0000"/>
                </a:solidFill>
                <a:sym typeface="+mn-ea"/>
              </a:rPr>
              <a:t>2 is not in the Range [4-7]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8" grpId="0"/>
      <p:bldP spid="6" grpId="0"/>
      <p:bldP spid="11" grpId="0"/>
      <p:bldP spid="12" grpId="0"/>
      <p:bldP spid="9" grpId="0"/>
      <p:bldP spid="9" grpId="1"/>
    </p:bldLst>
  </p:timing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ym typeface="+mn-ea"/>
              </a:rPr>
              <a:t>Case 2: Seed value given</a:t>
            </a:r>
            <a:endParaRPr lang="en-US"/>
          </a:p>
        </p:txBody>
      </p:sp>
      <p:sp>
        <p:nvSpPr>
          <p:cNvPr id="5" name="Text Box 4"/>
          <p:cNvSpPr txBox="1"/>
          <p:nvPr/>
        </p:nvSpPr>
        <p:spPr>
          <a:xfrm>
            <a:off x="996950" y="1616075"/>
            <a:ext cx="1040574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400"/>
              <a:t>Apply region growing on the following image with seed point as 6 and threshold value as 3.</a:t>
            </a:r>
          </a:p>
        </p:txBody>
      </p:sp>
      <p:sp>
        <p:nvSpPr>
          <p:cNvPr id="3" name="Text Box 2"/>
          <p:cNvSpPr txBox="1"/>
          <p:nvPr/>
        </p:nvSpPr>
        <p:spPr>
          <a:xfrm>
            <a:off x="8157845" y="3429000"/>
            <a:ext cx="22688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/>
              <a:t>Seed Value=6</a:t>
            </a:r>
          </a:p>
        </p:txBody>
      </p:sp>
      <p:sp>
        <p:nvSpPr>
          <p:cNvPr id="8" name="Text Box 7"/>
          <p:cNvSpPr txBox="1"/>
          <p:nvPr/>
        </p:nvSpPr>
        <p:spPr>
          <a:xfrm>
            <a:off x="8157845" y="4182110"/>
            <a:ext cx="22688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/>
              <a:t>T=3</a:t>
            </a:r>
          </a:p>
        </p:txBody>
      </p:sp>
      <p:sp>
        <p:nvSpPr>
          <p:cNvPr id="6" name="Text Box 5"/>
          <p:cNvSpPr txBox="1"/>
          <p:nvPr/>
        </p:nvSpPr>
        <p:spPr>
          <a:xfrm>
            <a:off x="8157845" y="4935220"/>
            <a:ext cx="226885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/>
              <a:t>8-Connectivity</a:t>
            </a:r>
          </a:p>
          <a:p>
            <a:pPr algn="ctr"/>
            <a:r>
              <a:rPr lang="en-US" sz="2400"/>
              <a:t>(By default)</a:t>
            </a:r>
          </a:p>
        </p:txBody>
      </p:sp>
      <p:graphicFrame>
        <p:nvGraphicFramePr>
          <p:cNvPr id="7" name="Table 6"/>
          <p:cNvGraphicFramePr/>
          <p:nvPr>
            <p:custDataLst>
              <p:tags r:id="rId1"/>
            </p:custDataLst>
          </p:nvPr>
        </p:nvGraphicFramePr>
        <p:xfrm>
          <a:off x="1838325" y="2940685"/>
          <a:ext cx="4269740" cy="3048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337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371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37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3371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3371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3371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3371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3371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1" name="Text Box 10"/>
          <p:cNvSpPr txBox="1"/>
          <p:nvPr/>
        </p:nvSpPr>
        <p:spPr>
          <a:xfrm>
            <a:off x="6443980" y="3808095"/>
            <a:ext cx="155829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/>
              <a:t>7-3=4</a:t>
            </a:r>
          </a:p>
        </p:txBody>
      </p:sp>
      <p:sp>
        <p:nvSpPr>
          <p:cNvPr id="12" name="Text Box 11"/>
          <p:cNvSpPr txBox="1"/>
          <p:nvPr/>
        </p:nvSpPr>
        <p:spPr>
          <a:xfrm>
            <a:off x="6443980" y="4561205"/>
            <a:ext cx="155829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/>
              <a:t>Range</a:t>
            </a:r>
          </a:p>
          <a:p>
            <a:pPr algn="ctr"/>
            <a:r>
              <a:rPr lang="en-US" sz="2400"/>
              <a:t>[4,7]</a:t>
            </a:r>
          </a:p>
        </p:txBody>
      </p:sp>
      <p:sp>
        <p:nvSpPr>
          <p:cNvPr id="9" name="Text Box 8"/>
          <p:cNvSpPr txBox="1"/>
          <p:nvPr/>
        </p:nvSpPr>
        <p:spPr>
          <a:xfrm>
            <a:off x="3481705" y="6200140"/>
            <a:ext cx="52279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rgbClr val="FF0000"/>
                </a:solidFill>
                <a:sym typeface="+mn-ea"/>
              </a:rPr>
              <a:t>2 is not in the Range [4-7]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ym typeface="+mn-ea"/>
              </a:rPr>
              <a:t>Case 2: Seed value given</a:t>
            </a:r>
            <a:endParaRPr lang="en-US"/>
          </a:p>
        </p:txBody>
      </p:sp>
      <p:sp>
        <p:nvSpPr>
          <p:cNvPr id="5" name="Text Box 4"/>
          <p:cNvSpPr txBox="1"/>
          <p:nvPr/>
        </p:nvSpPr>
        <p:spPr>
          <a:xfrm>
            <a:off x="996950" y="1616075"/>
            <a:ext cx="1040574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400"/>
              <a:t>Apply region growing on the following image with seed point as 6 and threshold value as 3.</a:t>
            </a:r>
          </a:p>
        </p:txBody>
      </p:sp>
      <p:sp>
        <p:nvSpPr>
          <p:cNvPr id="3" name="Text Box 2"/>
          <p:cNvSpPr txBox="1"/>
          <p:nvPr/>
        </p:nvSpPr>
        <p:spPr>
          <a:xfrm>
            <a:off x="8157845" y="3429000"/>
            <a:ext cx="22688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/>
              <a:t>Seed Value=6</a:t>
            </a:r>
          </a:p>
        </p:txBody>
      </p:sp>
      <p:sp>
        <p:nvSpPr>
          <p:cNvPr id="8" name="Text Box 7"/>
          <p:cNvSpPr txBox="1"/>
          <p:nvPr/>
        </p:nvSpPr>
        <p:spPr>
          <a:xfrm>
            <a:off x="8157845" y="4182110"/>
            <a:ext cx="22688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/>
              <a:t>T=3</a:t>
            </a:r>
          </a:p>
        </p:txBody>
      </p:sp>
      <p:sp>
        <p:nvSpPr>
          <p:cNvPr id="6" name="Text Box 5"/>
          <p:cNvSpPr txBox="1"/>
          <p:nvPr/>
        </p:nvSpPr>
        <p:spPr>
          <a:xfrm>
            <a:off x="8157845" y="4935220"/>
            <a:ext cx="226885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/>
              <a:t>8-Connectivity</a:t>
            </a:r>
          </a:p>
          <a:p>
            <a:pPr algn="ctr"/>
            <a:r>
              <a:rPr lang="en-US" sz="2400"/>
              <a:t>(By default)</a:t>
            </a:r>
          </a:p>
        </p:txBody>
      </p:sp>
      <p:graphicFrame>
        <p:nvGraphicFramePr>
          <p:cNvPr id="7" name="Table 6"/>
          <p:cNvGraphicFramePr/>
          <p:nvPr>
            <p:custDataLst>
              <p:tags r:id="rId1"/>
            </p:custDataLst>
          </p:nvPr>
        </p:nvGraphicFramePr>
        <p:xfrm>
          <a:off x="1838325" y="2940685"/>
          <a:ext cx="4269740" cy="3048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337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371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37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3371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3371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3371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3371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3371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1" name="Text Box 10"/>
          <p:cNvSpPr txBox="1"/>
          <p:nvPr/>
        </p:nvSpPr>
        <p:spPr>
          <a:xfrm>
            <a:off x="6443980" y="3808095"/>
            <a:ext cx="155829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/>
              <a:t>7-3=4</a:t>
            </a:r>
          </a:p>
        </p:txBody>
      </p:sp>
      <p:sp>
        <p:nvSpPr>
          <p:cNvPr id="12" name="Text Box 11"/>
          <p:cNvSpPr txBox="1"/>
          <p:nvPr/>
        </p:nvSpPr>
        <p:spPr>
          <a:xfrm>
            <a:off x="6443980" y="4561205"/>
            <a:ext cx="155829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/>
              <a:t>Range</a:t>
            </a:r>
          </a:p>
          <a:p>
            <a:pPr algn="ctr"/>
            <a:r>
              <a:rPr lang="en-US" sz="2400"/>
              <a:t>[4,7]</a:t>
            </a:r>
          </a:p>
        </p:txBody>
      </p:sp>
      <p:sp>
        <p:nvSpPr>
          <p:cNvPr id="9" name="Text Box 8"/>
          <p:cNvSpPr txBox="1"/>
          <p:nvPr/>
        </p:nvSpPr>
        <p:spPr>
          <a:xfrm>
            <a:off x="3481705" y="6200140"/>
            <a:ext cx="52279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rgbClr val="FF0000"/>
                </a:solidFill>
                <a:sym typeface="+mn-ea"/>
              </a:rPr>
              <a:t>3 is not in the Range [4-7]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8" grpId="0"/>
      <p:bldP spid="6" grpId="0"/>
      <p:bldP spid="11" grpId="0"/>
      <p:bldP spid="12" grpId="0"/>
      <p:bldP spid="9" grpId="0"/>
      <p:bldP spid="9" grpId="1"/>
    </p:bldLst>
  </p:timing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ym typeface="+mn-ea"/>
              </a:rPr>
              <a:t>Case 2: Seed value given</a:t>
            </a:r>
            <a:endParaRPr lang="en-US"/>
          </a:p>
        </p:txBody>
      </p:sp>
      <p:sp>
        <p:nvSpPr>
          <p:cNvPr id="5" name="Text Box 4"/>
          <p:cNvSpPr txBox="1"/>
          <p:nvPr/>
        </p:nvSpPr>
        <p:spPr>
          <a:xfrm>
            <a:off x="996950" y="1616075"/>
            <a:ext cx="1040574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400"/>
              <a:t>Apply region growing on the following image with seed point as 6 and threshold value as 3.</a:t>
            </a:r>
          </a:p>
        </p:txBody>
      </p:sp>
      <p:sp>
        <p:nvSpPr>
          <p:cNvPr id="3" name="Text Box 2"/>
          <p:cNvSpPr txBox="1"/>
          <p:nvPr/>
        </p:nvSpPr>
        <p:spPr>
          <a:xfrm>
            <a:off x="8157845" y="3429000"/>
            <a:ext cx="22688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/>
              <a:t>Seed Value=6</a:t>
            </a:r>
          </a:p>
        </p:txBody>
      </p:sp>
      <p:sp>
        <p:nvSpPr>
          <p:cNvPr id="8" name="Text Box 7"/>
          <p:cNvSpPr txBox="1"/>
          <p:nvPr/>
        </p:nvSpPr>
        <p:spPr>
          <a:xfrm>
            <a:off x="8157845" y="4182110"/>
            <a:ext cx="22688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/>
              <a:t>T=3</a:t>
            </a:r>
          </a:p>
        </p:txBody>
      </p:sp>
      <p:sp>
        <p:nvSpPr>
          <p:cNvPr id="6" name="Text Box 5"/>
          <p:cNvSpPr txBox="1"/>
          <p:nvPr/>
        </p:nvSpPr>
        <p:spPr>
          <a:xfrm>
            <a:off x="8157845" y="4935220"/>
            <a:ext cx="226885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/>
              <a:t>8-Connectivity</a:t>
            </a:r>
          </a:p>
          <a:p>
            <a:pPr algn="ctr"/>
            <a:r>
              <a:rPr lang="en-US" sz="2400"/>
              <a:t>(By default)</a:t>
            </a:r>
          </a:p>
        </p:txBody>
      </p:sp>
      <p:graphicFrame>
        <p:nvGraphicFramePr>
          <p:cNvPr id="7" name="Table 6"/>
          <p:cNvGraphicFramePr/>
          <p:nvPr>
            <p:custDataLst>
              <p:tags r:id="rId1"/>
            </p:custDataLst>
          </p:nvPr>
        </p:nvGraphicFramePr>
        <p:xfrm>
          <a:off x="1838325" y="2940685"/>
          <a:ext cx="4269740" cy="3048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337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371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37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3371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3371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3371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3371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3371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1" name="Text Box 10"/>
          <p:cNvSpPr txBox="1"/>
          <p:nvPr/>
        </p:nvSpPr>
        <p:spPr>
          <a:xfrm>
            <a:off x="6443980" y="3808095"/>
            <a:ext cx="155829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/>
              <a:t>7-3=4</a:t>
            </a:r>
          </a:p>
        </p:txBody>
      </p:sp>
      <p:sp>
        <p:nvSpPr>
          <p:cNvPr id="12" name="Text Box 11"/>
          <p:cNvSpPr txBox="1"/>
          <p:nvPr/>
        </p:nvSpPr>
        <p:spPr>
          <a:xfrm>
            <a:off x="6443980" y="4561205"/>
            <a:ext cx="155829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/>
              <a:t>Range</a:t>
            </a:r>
          </a:p>
          <a:p>
            <a:pPr algn="ctr"/>
            <a:r>
              <a:rPr lang="en-US" sz="2400"/>
              <a:t>[4,7]</a:t>
            </a:r>
          </a:p>
        </p:txBody>
      </p:sp>
      <p:sp>
        <p:nvSpPr>
          <p:cNvPr id="9" name="Text Box 8"/>
          <p:cNvSpPr txBox="1"/>
          <p:nvPr/>
        </p:nvSpPr>
        <p:spPr>
          <a:xfrm>
            <a:off x="3481705" y="6200140"/>
            <a:ext cx="52279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rgbClr val="FF0000"/>
                </a:solidFill>
                <a:sym typeface="+mn-ea"/>
              </a:rPr>
              <a:t>3 is not in the Range [4-7]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ym typeface="+mn-ea"/>
              </a:rPr>
              <a:t>Case 2: Seed value given</a:t>
            </a:r>
            <a:endParaRPr lang="en-US"/>
          </a:p>
        </p:txBody>
      </p:sp>
      <p:sp>
        <p:nvSpPr>
          <p:cNvPr id="5" name="Text Box 4"/>
          <p:cNvSpPr txBox="1"/>
          <p:nvPr/>
        </p:nvSpPr>
        <p:spPr>
          <a:xfrm>
            <a:off x="996950" y="1616075"/>
            <a:ext cx="1040574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400"/>
              <a:t>Apply region growing on the following image with seed point as 6 and threshold value as 3.</a:t>
            </a:r>
          </a:p>
        </p:txBody>
      </p:sp>
      <p:sp>
        <p:nvSpPr>
          <p:cNvPr id="3" name="Text Box 2"/>
          <p:cNvSpPr txBox="1"/>
          <p:nvPr/>
        </p:nvSpPr>
        <p:spPr>
          <a:xfrm>
            <a:off x="8157845" y="3429000"/>
            <a:ext cx="22688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/>
              <a:t>Seed Value=6</a:t>
            </a:r>
          </a:p>
        </p:txBody>
      </p:sp>
      <p:sp>
        <p:nvSpPr>
          <p:cNvPr id="8" name="Text Box 7"/>
          <p:cNvSpPr txBox="1"/>
          <p:nvPr/>
        </p:nvSpPr>
        <p:spPr>
          <a:xfrm>
            <a:off x="8157845" y="4182110"/>
            <a:ext cx="22688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/>
              <a:t>T=3</a:t>
            </a:r>
          </a:p>
        </p:txBody>
      </p:sp>
      <p:sp>
        <p:nvSpPr>
          <p:cNvPr id="6" name="Text Box 5"/>
          <p:cNvSpPr txBox="1"/>
          <p:nvPr/>
        </p:nvSpPr>
        <p:spPr>
          <a:xfrm>
            <a:off x="8157845" y="4935220"/>
            <a:ext cx="226885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/>
              <a:t>8-Connectivity</a:t>
            </a:r>
          </a:p>
          <a:p>
            <a:pPr algn="ctr"/>
            <a:r>
              <a:rPr lang="en-US" sz="2400"/>
              <a:t>(By default)</a:t>
            </a:r>
          </a:p>
        </p:txBody>
      </p:sp>
      <p:graphicFrame>
        <p:nvGraphicFramePr>
          <p:cNvPr id="7" name="Table 6"/>
          <p:cNvGraphicFramePr/>
          <p:nvPr>
            <p:custDataLst>
              <p:tags r:id="rId1"/>
            </p:custDataLst>
          </p:nvPr>
        </p:nvGraphicFramePr>
        <p:xfrm>
          <a:off x="1838325" y="2940685"/>
          <a:ext cx="4269740" cy="3048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337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371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37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3371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3371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3371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3371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3371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1" name="Text Box 10"/>
          <p:cNvSpPr txBox="1"/>
          <p:nvPr/>
        </p:nvSpPr>
        <p:spPr>
          <a:xfrm>
            <a:off x="6443980" y="3808095"/>
            <a:ext cx="155829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/>
              <a:t>7-3=4</a:t>
            </a:r>
          </a:p>
        </p:txBody>
      </p:sp>
      <p:sp>
        <p:nvSpPr>
          <p:cNvPr id="12" name="Text Box 11"/>
          <p:cNvSpPr txBox="1"/>
          <p:nvPr/>
        </p:nvSpPr>
        <p:spPr>
          <a:xfrm>
            <a:off x="6443980" y="4561205"/>
            <a:ext cx="155829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/>
              <a:t>Range</a:t>
            </a:r>
          </a:p>
          <a:p>
            <a:pPr algn="ctr"/>
            <a:r>
              <a:rPr lang="en-US" sz="2400"/>
              <a:t>[4,7]</a:t>
            </a:r>
          </a:p>
        </p:txBody>
      </p:sp>
      <p:sp>
        <p:nvSpPr>
          <p:cNvPr id="9" name="Text Box 8"/>
          <p:cNvSpPr txBox="1"/>
          <p:nvPr/>
        </p:nvSpPr>
        <p:spPr>
          <a:xfrm>
            <a:off x="3481705" y="6200140"/>
            <a:ext cx="52279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rgbClr val="00B050"/>
                </a:solidFill>
                <a:sym typeface="+mn-ea"/>
              </a:rPr>
              <a:t>4 is in the Range [4-7]</a:t>
            </a:r>
            <a:endParaRPr lang="en-US" sz="2400">
              <a:solidFill>
                <a:srgbClr val="FF0000"/>
              </a:solidFill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8" grpId="0"/>
      <p:bldP spid="6" grpId="0"/>
      <p:bldP spid="11" grpId="0"/>
      <p:bldP spid="12" grpId="0"/>
      <p:bldP spid="9" grpId="0"/>
      <p:bldP spid="9" grpId="1"/>
    </p:bldLst>
  </p:timing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ym typeface="+mn-ea"/>
              </a:rPr>
              <a:t>Case 2: Seed value given</a:t>
            </a:r>
            <a:endParaRPr lang="en-US"/>
          </a:p>
        </p:txBody>
      </p:sp>
      <p:sp>
        <p:nvSpPr>
          <p:cNvPr id="5" name="Text Box 4"/>
          <p:cNvSpPr txBox="1"/>
          <p:nvPr/>
        </p:nvSpPr>
        <p:spPr>
          <a:xfrm>
            <a:off x="996950" y="1616075"/>
            <a:ext cx="1040574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400"/>
              <a:t>Apply region growing on the following image with seed point as 6 and threshold value as 3.</a:t>
            </a:r>
          </a:p>
        </p:txBody>
      </p:sp>
      <p:sp>
        <p:nvSpPr>
          <p:cNvPr id="3" name="Text Box 2"/>
          <p:cNvSpPr txBox="1"/>
          <p:nvPr/>
        </p:nvSpPr>
        <p:spPr>
          <a:xfrm>
            <a:off x="8157845" y="3429000"/>
            <a:ext cx="22688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/>
              <a:t>Seed Value=6</a:t>
            </a:r>
          </a:p>
        </p:txBody>
      </p:sp>
      <p:sp>
        <p:nvSpPr>
          <p:cNvPr id="8" name="Text Box 7"/>
          <p:cNvSpPr txBox="1"/>
          <p:nvPr/>
        </p:nvSpPr>
        <p:spPr>
          <a:xfrm>
            <a:off x="8157845" y="4182110"/>
            <a:ext cx="22688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/>
              <a:t>T=3</a:t>
            </a:r>
          </a:p>
        </p:txBody>
      </p:sp>
      <p:sp>
        <p:nvSpPr>
          <p:cNvPr id="6" name="Text Box 5"/>
          <p:cNvSpPr txBox="1"/>
          <p:nvPr/>
        </p:nvSpPr>
        <p:spPr>
          <a:xfrm>
            <a:off x="8157845" y="4935220"/>
            <a:ext cx="226885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/>
              <a:t>8-Connectivity</a:t>
            </a:r>
          </a:p>
          <a:p>
            <a:pPr algn="ctr"/>
            <a:r>
              <a:rPr lang="en-US" sz="2400"/>
              <a:t>(By default)</a:t>
            </a:r>
          </a:p>
        </p:txBody>
      </p:sp>
      <p:graphicFrame>
        <p:nvGraphicFramePr>
          <p:cNvPr id="7" name="Table 6"/>
          <p:cNvGraphicFramePr/>
          <p:nvPr>
            <p:custDataLst>
              <p:tags r:id="rId1"/>
            </p:custDataLst>
          </p:nvPr>
        </p:nvGraphicFramePr>
        <p:xfrm>
          <a:off x="1838325" y="2940685"/>
          <a:ext cx="4269740" cy="3048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337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371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37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3371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3371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3371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3371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3371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1" name="Text Box 10"/>
          <p:cNvSpPr txBox="1"/>
          <p:nvPr/>
        </p:nvSpPr>
        <p:spPr>
          <a:xfrm>
            <a:off x="6443980" y="3808095"/>
            <a:ext cx="155829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/>
              <a:t>7-3=4</a:t>
            </a:r>
          </a:p>
        </p:txBody>
      </p:sp>
      <p:sp>
        <p:nvSpPr>
          <p:cNvPr id="12" name="Text Box 11"/>
          <p:cNvSpPr txBox="1"/>
          <p:nvPr/>
        </p:nvSpPr>
        <p:spPr>
          <a:xfrm>
            <a:off x="6443980" y="4561205"/>
            <a:ext cx="155829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/>
              <a:t>Range</a:t>
            </a:r>
          </a:p>
          <a:p>
            <a:pPr algn="ctr"/>
            <a:r>
              <a:rPr lang="en-US" sz="2400"/>
              <a:t>[4,7]</a:t>
            </a:r>
          </a:p>
        </p:txBody>
      </p:sp>
      <p:sp>
        <p:nvSpPr>
          <p:cNvPr id="9" name="Text Box 8"/>
          <p:cNvSpPr txBox="1"/>
          <p:nvPr/>
        </p:nvSpPr>
        <p:spPr>
          <a:xfrm>
            <a:off x="3481705" y="6200140"/>
            <a:ext cx="52279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rgbClr val="00B050"/>
                </a:solidFill>
                <a:sym typeface="+mn-ea"/>
              </a:rPr>
              <a:t>4 is in the Range [4-7]</a:t>
            </a:r>
            <a:endParaRPr lang="en-US" sz="2400">
              <a:solidFill>
                <a:srgbClr val="FF0000"/>
              </a:solidFill>
              <a:sym typeface="+mn-ea"/>
            </a:endParaRP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ym typeface="+mn-ea"/>
              </a:rPr>
              <a:t>Case 2: Seed value given</a:t>
            </a:r>
            <a:endParaRPr lang="en-US"/>
          </a:p>
        </p:txBody>
      </p:sp>
      <p:sp>
        <p:nvSpPr>
          <p:cNvPr id="5" name="Text Box 4"/>
          <p:cNvSpPr txBox="1"/>
          <p:nvPr/>
        </p:nvSpPr>
        <p:spPr>
          <a:xfrm>
            <a:off x="996950" y="1616075"/>
            <a:ext cx="1040574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400"/>
              <a:t>Apply region growing on the following image with seed point as 6 and threshold value as 3.</a:t>
            </a:r>
          </a:p>
        </p:txBody>
      </p:sp>
      <p:sp>
        <p:nvSpPr>
          <p:cNvPr id="3" name="Text Box 2"/>
          <p:cNvSpPr txBox="1"/>
          <p:nvPr/>
        </p:nvSpPr>
        <p:spPr>
          <a:xfrm>
            <a:off x="8157845" y="3429000"/>
            <a:ext cx="22688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/>
              <a:t>Seed Value=6</a:t>
            </a:r>
          </a:p>
        </p:txBody>
      </p:sp>
      <p:sp>
        <p:nvSpPr>
          <p:cNvPr id="8" name="Text Box 7"/>
          <p:cNvSpPr txBox="1"/>
          <p:nvPr/>
        </p:nvSpPr>
        <p:spPr>
          <a:xfrm>
            <a:off x="8157845" y="4182110"/>
            <a:ext cx="22688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/>
              <a:t>T=3</a:t>
            </a:r>
          </a:p>
        </p:txBody>
      </p:sp>
      <p:sp>
        <p:nvSpPr>
          <p:cNvPr id="6" name="Text Box 5"/>
          <p:cNvSpPr txBox="1"/>
          <p:nvPr/>
        </p:nvSpPr>
        <p:spPr>
          <a:xfrm>
            <a:off x="8157845" y="4935220"/>
            <a:ext cx="226885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/>
              <a:t>8-Connectivity</a:t>
            </a:r>
          </a:p>
          <a:p>
            <a:pPr algn="ctr"/>
            <a:r>
              <a:rPr lang="en-US" sz="2400"/>
              <a:t>(By default)</a:t>
            </a:r>
          </a:p>
        </p:txBody>
      </p:sp>
      <p:graphicFrame>
        <p:nvGraphicFramePr>
          <p:cNvPr id="7" name="Table 6"/>
          <p:cNvGraphicFramePr/>
          <p:nvPr>
            <p:custDataLst>
              <p:tags r:id="rId1"/>
            </p:custDataLst>
          </p:nvPr>
        </p:nvGraphicFramePr>
        <p:xfrm>
          <a:off x="1838325" y="2940685"/>
          <a:ext cx="4269740" cy="3048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337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371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37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3371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3371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3371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3371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3371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1" name="Text Box 10"/>
          <p:cNvSpPr txBox="1"/>
          <p:nvPr/>
        </p:nvSpPr>
        <p:spPr>
          <a:xfrm>
            <a:off x="6443980" y="3808095"/>
            <a:ext cx="155829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/>
              <a:t>7-3=4</a:t>
            </a:r>
          </a:p>
        </p:txBody>
      </p:sp>
      <p:sp>
        <p:nvSpPr>
          <p:cNvPr id="12" name="Text Box 11"/>
          <p:cNvSpPr txBox="1"/>
          <p:nvPr/>
        </p:nvSpPr>
        <p:spPr>
          <a:xfrm>
            <a:off x="6443980" y="4561205"/>
            <a:ext cx="155829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/>
              <a:t>Range</a:t>
            </a:r>
          </a:p>
          <a:p>
            <a:pPr algn="ctr"/>
            <a:r>
              <a:rPr lang="en-US" sz="2400"/>
              <a:t>[4,7]</a:t>
            </a:r>
          </a:p>
        </p:txBody>
      </p:sp>
      <p:sp>
        <p:nvSpPr>
          <p:cNvPr id="9" name="Text Box 8"/>
          <p:cNvSpPr txBox="1"/>
          <p:nvPr/>
        </p:nvSpPr>
        <p:spPr>
          <a:xfrm>
            <a:off x="3481705" y="6200140"/>
            <a:ext cx="52279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rgbClr val="FF0000"/>
                </a:solidFill>
                <a:sym typeface="+mn-ea"/>
              </a:rPr>
              <a:t>2 is not in the Range [4-7]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8" grpId="0"/>
      <p:bldP spid="6" grpId="0"/>
      <p:bldP spid="11" grpId="0"/>
      <p:bldP spid="12" grpId="0"/>
      <p:bldP spid="9" grpId="0"/>
      <p:bldP spid="9" grpId="1"/>
    </p:bldLst>
  </p:timing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ym typeface="+mn-ea"/>
              </a:rPr>
              <a:t>Case 2: Seed value given</a:t>
            </a:r>
            <a:endParaRPr lang="en-US"/>
          </a:p>
        </p:txBody>
      </p:sp>
      <p:sp>
        <p:nvSpPr>
          <p:cNvPr id="5" name="Text Box 4"/>
          <p:cNvSpPr txBox="1"/>
          <p:nvPr/>
        </p:nvSpPr>
        <p:spPr>
          <a:xfrm>
            <a:off x="996950" y="1616075"/>
            <a:ext cx="1040574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400"/>
              <a:t>Apply region growing on the following image with seed point as 6 and threshold value as 3.</a:t>
            </a:r>
          </a:p>
        </p:txBody>
      </p:sp>
      <p:sp>
        <p:nvSpPr>
          <p:cNvPr id="3" name="Text Box 2"/>
          <p:cNvSpPr txBox="1"/>
          <p:nvPr/>
        </p:nvSpPr>
        <p:spPr>
          <a:xfrm>
            <a:off x="8157845" y="3429000"/>
            <a:ext cx="22688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/>
              <a:t>Seed Value=6</a:t>
            </a:r>
          </a:p>
        </p:txBody>
      </p:sp>
      <p:sp>
        <p:nvSpPr>
          <p:cNvPr id="8" name="Text Box 7"/>
          <p:cNvSpPr txBox="1"/>
          <p:nvPr/>
        </p:nvSpPr>
        <p:spPr>
          <a:xfrm>
            <a:off x="8157845" y="4182110"/>
            <a:ext cx="22688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/>
              <a:t>T=3</a:t>
            </a:r>
          </a:p>
        </p:txBody>
      </p:sp>
      <p:sp>
        <p:nvSpPr>
          <p:cNvPr id="6" name="Text Box 5"/>
          <p:cNvSpPr txBox="1"/>
          <p:nvPr/>
        </p:nvSpPr>
        <p:spPr>
          <a:xfrm>
            <a:off x="8157845" y="4935220"/>
            <a:ext cx="226885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/>
              <a:t>8-Connectivity</a:t>
            </a:r>
          </a:p>
          <a:p>
            <a:pPr algn="ctr"/>
            <a:r>
              <a:rPr lang="en-US" sz="2400"/>
              <a:t>(By default)</a:t>
            </a:r>
          </a:p>
        </p:txBody>
      </p:sp>
      <p:graphicFrame>
        <p:nvGraphicFramePr>
          <p:cNvPr id="7" name="Table 6"/>
          <p:cNvGraphicFramePr/>
          <p:nvPr>
            <p:custDataLst>
              <p:tags r:id="rId1"/>
            </p:custDataLst>
          </p:nvPr>
        </p:nvGraphicFramePr>
        <p:xfrm>
          <a:off x="1838325" y="2940685"/>
          <a:ext cx="4269740" cy="3048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337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371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37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3371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3371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3371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3371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3371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1" name="Text Box 10"/>
          <p:cNvSpPr txBox="1"/>
          <p:nvPr/>
        </p:nvSpPr>
        <p:spPr>
          <a:xfrm>
            <a:off x="6443980" y="3808095"/>
            <a:ext cx="155829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/>
              <a:t>7-3=4</a:t>
            </a:r>
          </a:p>
        </p:txBody>
      </p:sp>
      <p:sp>
        <p:nvSpPr>
          <p:cNvPr id="12" name="Text Box 11"/>
          <p:cNvSpPr txBox="1"/>
          <p:nvPr/>
        </p:nvSpPr>
        <p:spPr>
          <a:xfrm>
            <a:off x="6443980" y="4561205"/>
            <a:ext cx="155829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/>
              <a:t>Range</a:t>
            </a:r>
          </a:p>
          <a:p>
            <a:pPr algn="ctr"/>
            <a:r>
              <a:rPr lang="en-US" sz="2400"/>
              <a:t>[4,7]</a:t>
            </a:r>
          </a:p>
        </p:txBody>
      </p:sp>
      <p:sp>
        <p:nvSpPr>
          <p:cNvPr id="9" name="Text Box 8"/>
          <p:cNvSpPr txBox="1"/>
          <p:nvPr/>
        </p:nvSpPr>
        <p:spPr>
          <a:xfrm>
            <a:off x="3481705" y="6200140"/>
            <a:ext cx="52279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rgbClr val="FF0000"/>
                </a:solidFill>
                <a:sym typeface="+mn-ea"/>
              </a:rPr>
              <a:t>2 is not in the Range [4-7]</a:t>
            </a: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ym typeface="+mn-ea"/>
              </a:rPr>
              <a:t>Case 2: Seed value given</a:t>
            </a:r>
            <a:endParaRPr lang="en-US"/>
          </a:p>
        </p:txBody>
      </p:sp>
      <p:sp>
        <p:nvSpPr>
          <p:cNvPr id="5" name="Text Box 4"/>
          <p:cNvSpPr txBox="1"/>
          <p:nvPr/>
        </p:nvSpPr>
        <p:spPr>
          <a:xfrm>
            <a:off x="996950" y="1616075"/>
            <a:ext cx="1040574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400"/>
              <a:t>Apply region growing on the following image with seed point as 6 and threshold value as 3.</a:t>
            </a:r>
          </a:p>
        </p:txBody>
      </p:sp>
      <p:sp>
        <p:nvSpPr>
          <p:cNvPr id="3" name="Text Box 2"/>
          <p:cNvSpPr txBox="1"/>
          <p:nvPr/>
        </p:nvSpPr>
        <p:spPr>
          <a:xfrm>
            <a:off x="8157845" y="3429000"/>
            <a:ext cx="22688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/>
              <a:t>Seed Value=6</a:t>
            </a:r>
          </a:p>
        </p:txBody>
      </p:sp>
      <p:sp>
        <p:nvSpPr>
          <p:cNvPr id="8" name="Text Box 7"/>
          <p:cNvSpPr txBox="1"/>
          <p:nvPr/>
        </p:nvSpPr>
        <p:spPr>
          <a:xfrm>
            <a:off x="8157845" y="4182110"/>
            <a:ext cx="22688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/>
              <a:t>T=3</a:t>
            </a:r>
          </a:p>
        </p:txBody>
      </p:sp>
      <p:sp>
        <p:nvSpPr>
          <p:cNvPr id="6" name="Text Box 5"/>
          <p:cNvSpPr txBox="1"/>
          <p:nvPr/>
        </p:nvSpPr>
        <p:spPr>
          <a:xfrm>
            <a:off x="8157845" y="4935220"/>
            <a:ext cx="226885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/>
              <a:t>8-Connectivity</a:t>
            </a:r>
          </a:p>
          <a:p>
            <a:pPr algn="ctr"/>
            <a:r>
              <a:rPr lang="en-US" sz="2400"/>
              <a:t>(By default)</a:t>
            </a:r>
          </a:p>
        </p:txBody>
      </p:sp>
      <p:graphicFrame>
        <p:nvGraphicFramePr>
          <p:cNvPr id="7" name="Table 6"/>
          <p:cNvGraphicFramePr/>
          <p:nvPr>
            <p:custDataLst>
              <p:tags r:id="rId1"/>
            </p:custDataLst>
          </p:nvPr>
        </p:nvGraphicFramePr>
        <p:xfrm>
          <a:off x="1838325" y="2940685"/>
          <a:ext cx="4269740" cy="3048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337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371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37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3371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3371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3371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3371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3371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1" name="Text Box 10"/>
          <p:cNvSpPr txBox="1"/>
          <p:nvPr/>
        </p:nvSpPr>
        <p:spPr>
          <a:xfrm>
            <a:off x="6443980" y="3808095"/>
            <a:ext cx="155829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/>
              <a:t>7-3=4</a:t>
            </a:r>
          </a:p>
        </p:txBody>
      </p:sp>
      <p:sp>
        <p:nvSpPr>
          <p:cNvPr id="12" name="Text Box 11"/>
          <p:cNvSpPr txBox="1"/>
          <p:nvPr/>
        </p:nvSpPr>
        <p:spPr>
          <a:xfrm>
            <a:off x="6443980" y="4561205"/>
            <a:ext cx="155829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/>
              <a:t>Range</a:t>
            </a:r>
          </a:p>
          <a:p>
            <a:pPr algn="ctr"/>
            <a:r>
              <a:rPr lang="en-US" sz="2400"/>
              <a:t>[4,7]</a:t>
            </a:r>
          </a:p>
        </p:txBody>
      </p:sp>
      <p:sp>
        <p:nvSpPr>
          <p:cNvPr id="9" name="Text Box 8"/>
          <p:cNvSpPr txBox="1"/>
          <p:nvPr/>
        </p:nvSpPr>
        <p:spPr>
          <a:xfrm>
            <a:off x="3481705" y="6200140"/>
            <a:ext cx="52279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rgbClr val="FF0000"/>
                </a:solidFill>
                <a:sym typeface="+mn-ea"/>
              </a:rPr>
              <a:t>3 is not in the Range [4-7]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8" grpId="0"/>
      <p:bldP spid="6" grpId="0"/>
      <p:bldP spid="11" grpId="0"/>
      <p:bldP spid="12" grpId="0"/>
      <p:bldP spid="9" grpId="0"/>
      <p:bldP spid="9" grpId="1"/>
    </p:bldLst>
  </p:timing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ym typeface="+mn-ea"/>
              </a:rPr>
              <a:t>Case 2: Seed value given</a:t>
            </a:r>
            <a:endParaRPr lang="en-US"/>
          </a:p>
        </p:txBody>
      </p:sp>
      <p:sp>
        <p:nvSpPr>
          <p:cNvPr id="5" name="Text Box 4"/>
          <p:cNvSpPr txBox="1"/>
          <p:nvPr/>
        </p:nvSpPr>
        <p:spPr>
          <a:xfrm>
            <a:off x="996950" y="1616075"/>
            <a:ext cx="1040574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400"/>
              <a:t>Apply region growing on the following image with seed point as 6 and threshold value as 3.</a:t>
            </a:r>
          </a:p>
        </p:txBody>
      </p:sp>
      <p:sp>
        <p:nvSpPr>
          <p:cNvPr id="3" name="Text Box 2"/>
          <p:cNvSpPr txBox="1"/>
          <p:nvPr/>
        </p:nvSpPr>
        <p:spPr>
          <a:xfrm>
            <a:off x="8157845" y="3429000"/>
            <a:ext cx="22688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/>
              <a:t>Seed Value=6</a:t>
            </a:r>
          </a:p>
        </p:txBody>
      </p:sp>
      <p:sp>
        <p:nvSpPr>
          <p:cNvPr id="8" name="Text Box 7"/>
          <p:cNvSpPr txBox="1"/>
          <p:nvPr/>
        </p:nvSpPr>
        <p:spPr>
          <a:xfrm>
            <a:off x="8157845" y="4182110"/>
            <a:ext cx="22688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/>
              <a:t>T=3</a:t>
            </a:r>
          </a:p>
        </p:txBody>
      </p:sp>
      <p:sp>
        <p:nvSpPr>
          <p:cNvPr id="6" name="Text Box 5"/>
          <p:cNvSpPr txBox="1"/>
          <p:nvPr/>
        </p:nvSpPr>
        <p:spPr>
          <a:xfrm>
            <a:off x="8157845" y="4935220"/>
            <a:ext cx="226885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/>
              <a:t>8-Connectivity</a:t>
            </a:r>
          </a:p>
          <a:p>
            <a:pPr algn="ctr"/>
            <a:r>
              <a:rPr lang="en-US" sz="2400"/>
              <a:t>(By default)</a:t>
            </a:r>
          </a:p>
        </p:txBody>
      </p:sp>
      <p:graphicFrame>
        <p:nvGraphicFramePr>
          <p:cNvPr id="7" name="Table 6"/>
          <p:cNvGraphicFramePr/>
          <p:nvPr>
            <p:custDataLst>
              <p:tags r:id="rId1"/>
            </p:custDataLst>
          </p:nvPr>
        </p:nvGraphicFramePr>
        <p:xfrm>
          <a:off x="1838325" y="2940685"/>
          <a:ext cx="4269740" cy="3048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337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371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37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3371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3371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3371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3371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3371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1" name="Text Box 10"/>
          <p:cNvSpPr txBox="1"/>
          <p:nvPr/>
        </p:nvSpPr>
        <p:spPr>
          <a:xfrm>
            <a:off x="6443980" y="3808095"/>
            <a:ext cx="155829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/>
              <a:t>7-3=4</a:t>
            </a:r>
          </a:p>
        </p:txBody>
      </p:sp>
      <p:sp>
        <p:nvSpPr>
          <p:cNvPr id="12" name="Text Box 11"/>
          <p:cNvSpPr txBox="1"/>
          <p:nvPr/>
        </p:nvSpPr>
        <p:spPr>
          <a:xfrm>
            <a:off x="6443980" y="4561205"/>
            <a:ext cx="155829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/>
              <a:t>Range</a:t>
            </a:r>
          </a:p>
          <a:p>
            <a:pPr algn="ctr"/>
            <a:r>
              <a:rPr lang="en-US" sz="2400"/>
              <a:t>[4,7]</a:t>
            </a:r>
          </a:p>
        </p:txBody>
      </p:sp>
      <p:sp>
        <p:nvSpPr>
          <p:cNvPr id="9" name="Text Box 8"/>
          <p:cNvSpPr txBox="1"/>
          <p:nvPr/>
        </p:nvSpPr>
        <p:spPr>
          <a:xfrm>
            <a:off x="3481705" y="6200140"/>
            <a:ext cx="52279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rgbClr val="FF0000"/>
                </a:solidFill>
                <a:sym typeface="+mn-ea"/>
              </a:rPr>
              <a:t>3 is not in the Range [4-7]</a:t>
            </a: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ym typeface="+mn-ea"/>
              </a:rPr>
              <a:t>Case 2: Seed value given</a:t>
            </a:r>
            <a:endParaRPr lang="en-US"/>
          </a:p>
        </p:txBody>
      </p:sp>
      <p:sp>
        <p:nvSpPr>
          <p:cNvPr id="5" name="Text Box 4"/>
          <p:cNvSpPr txBox="1"/>
          <p:nvPr/>
        </p:nvSpPr>
        <p:spPr>
          <a:xfrm>
            <a:off x="996950" y="1616075"/>
            <a:ext cx="1040574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400"/>
              <a:t>Apply region growing on the following image with seed point as 6 and threshold value as 3.</a:t>
            </a:r>
          </a:p>
        </p:txBody>
      </p:sp>
      <p:sp>
        <p:nvSpPr>
          <p:cNvPr id="3" name="Text Box 2"/>
          <p:cNvSpPr txBox="1"/>
          <p:nvPr/>
        </p:nvSpPr>
        <p:spPr>
          <a:xfrm>
            <a:off x="8157845" y="3429000"/>
            <a:ext cx="22688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/>
              <a:t>Seed Value=6</a:t>
            </a:r>
          </a:p>
        </p:txBody>
      </p:sp>
      <p:sp>
        <p:nvSpPr>
          <p:cNvPr id="8" name="Text Box 7"/>
          <p:cNvSpPr txBox="1"/>
          <p:nvPr/>
        </p:nvSpPr>
        <p:spPr>
          <a:xfrm>
            <a:off x="8157845" y="4182110"/>
            <a:ext cx="22688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/>
              <a:t>T=3</a:t>
            </a:r>
          </a:p>
        </p:txBody>
      </p:sp>
      <p:sp>
        <p:nvSpPr>
          <p:cNvPr id="6" name="Text Box 5"/>
          <p:cNvSpPr txBox="1"/>
          <p:nvPr/>
        </p:nvSpPr>
        <p:spPr>
          <a:xfrm>
            <a:off x="8157845" y="4935220"/>
            <a:ext cx="226885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/>
              <a:t>8-Connectivity</a:t>
            </a:r>
          </a:p>
          <a:p>
            <a:pPr algn="ctr"/>
            <a:r>
              <a:rPr lang="en-US" sz="2400"/>
              <a:t>(By default)</a:t>
            </a:r>
          </a:p>
        </p:txBody>
      </p:sp>
      <p:graphicFrame>
        <p:nvGraphicFramePr>
          <p:cNvPr id="7" name="Table 6"/>
          <p:cNvGraphicFramePr/>
          <p:nvPr>
            <p:custDataLst>
              <p:tags r:id="rId1"/>
            </p:custDataLst>
          </p:nvPr>
        </p:nvGraphicFramePr>
        <p:xfrm>
          <a:off x="1838325" y="2940685"/>
          <a:ext cx="4269740" cy="3048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337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371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37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3371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3371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3371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3371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3371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1" name="Text Box 10"/>
          <p:cNvSpPr txBox="1"/>
          <p:nvPr/>
        </p:nvSpPr>
        <p:spPr>
          <a:xfrm>
            <a:off x="6443980" y="3808095"/>
            <a:ext cx="155829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/>
              <a:t>7-3=4</a:t>
            </a:r>
          </a:p>
        </p:txBody>
      </p:sp>
      <p:sp>
        <p:nvSpPr>
          <p:cNvPr id="12" name="Text Box 11"/>
          <p:cNvSpPr txBox="1"/>
          <p:nvPr/>
        </p:nvSpPr>
        <p:spPr>
          <a:xfrm>
            <a:off x="6443980" y="4561205"/>
            <a:ext cx="155829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/>
              <a:t>Range</a:t>
            </a:r>
          </a:p>
          <a:p>
            <a:pPr algn="ctr"/>
            <a:r>
              <a:rPr lang="en-US" sz="2400"/>
              <a:t>[4,7]</a:t>
            </a:r>
          </a:p>
        </p:txBody>
      </p:sp>
      <p:sp>
        <p:nvSpPr>
          <p:cNvPr id="9" name="Text Box 8"/>
          <p:cNvSpPr txBox="1"/>
          <p:nvPr/>
        </p:nvSpPr>
        <p:spPr>
          <a:xfrm>
            <a:off x="3481705" y="6200140"/>
            <a:ext cx="52279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rgbClr val="FF0000"/>
                </a:solidFill>
                <a:sym typeface="+mn-ea"/>
              </a:rPr>
              <a:t>2 is not in the Range [4-7]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8" grpId="0"/>
      <p:bldP spid="6" grpId="0"/>
      <p:bldP spid="11" grpId="0"/>
      <p:bldP spid="12" grpId="0"/>
      <p:bldP spid="9" grpId="0"/>
      <p:bldP spid="9" grpId="1"/>
    </p:bldLst>
  </p:timing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ym typeface="+mn-ea"/>
              </a:rPr>
              <a:t>Case 2: Seed value given</a:t>
            </a:r>
            <a:endParaRPr lang="en-US"/>
          </a:p>
        </p:txBody>
      </p:sp>
      <p:sp>
        <p:nvSpPr>
          <p:cNvPr id="5" name="Text Box 4"/>
          <p:cNvSpPr txBox="1"/>
          <p:nvPr/>
        </p:nvSpPr>
        <p:spPr>
          <a:xfrm>
            <a:off x="996950" y="1616075"/>
            <a:ext cx="1040574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400"/>
              <a:t>Apply region growing on the following image with seed point as 6 and threshold value as 3.</a:t>
            </a:r>
          </a:p>
        </p:txBody>
      </p:sp>
      <p:sp>
        <p:nvSpPr>
          <p:cNvPr id="3" name="Text Box 2"/>
          <p:cNvSpPr txBox="1"/>
          <p:nvPr/>
        </p:nvSpPr>
        <p:spPr>
          <a:xfrm>
            <a:off x="8157845" y="3429000"/>
            <a:ext cx="22688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/>
              <a:t>Seed Value=6</a:t>
            </a:r>
          </a:p>
        </p:txBody>
      </p:sp>
      <p:sp>
        <p:nvSpPr>
          <p:cNvPr id="8" name="Text Box 7"/>
          <p:cNvSpPr txBox="1"/>
          <p:nvPr/>
        </p:nvSpPr>
        <p:spPr>
          <a:xfrm>
            <a:off x="8157845" y="4182110"/>
            <a:ext cx="22688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/>
              <a:t>T=3</a:t>
            </a:r>
          </a:p>
        </p:txBody>
      </p:sp>
      <p:sp>
        <p:nvSpPr>
          <p:cNvPr id="6" name="Text Box 5"/>
          <p:cNvSpPr txBox="1"/>
          <p:nvPr/>
        </p:nvSpPr>
        <p:spPr>
          <a:xfrm>
            <a:off x="8157845" y="4935220"/>
            <a:ext cx="226885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/>
              <a:t>8-Connectivity</a:t>
            </a:r>
          </a:p>
          <a:p>
            <a:pPr algn="ctr"/>
            <a:r>
              <a:rPr lang="en-US" sz="2400"/>
              <a:t>(By default)</a:t>
            </a:r>
          </a:p>
        </p:txBody>
      </p:sp>
      <p:graphicFrame>
        <p:nvGraphicFramePr>
          <p:cNvPr id="7" name="Table 6"/>
          <p:cNvGraphicFramePr/>
          <p:nvPr>
            <p:custDataLst>
              <p:tags r:id="rId1"/>
            </p:custDataLst>
          </p:nvPr>
        </p:nvGraphicFramePr>
        <p:xfrm>
          <a:off x="1838325" y="2940685"/>
          <a:ext cx="4269740" cy="3048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337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371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37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3371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3371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3371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3371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3371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1" name="Text Box 10"/>
          <p:cNvSpPr txBox="1"/>
          <p:nvPr/>
        </p:nvSpPr>
        <p:spPr>
          <a:xfrm>
            <a:off x="6443980" y="3808095"/>
            <a:ext cx="155829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/>
              <a:t>7-3=4</a:t>
            </a:r>
          </a:p>
        </p:txBody>
      </p:sp>
      <p:sp>
        <p:nvSpPr>
          <p:cNvPr id="12" name="Text Box 11"/>
          <p:cNvSpPr txBox="1"/>
          <p:nvPr/>
        </p:nvSpPr>
        <p:spPr>
          <a:xfrm>
            <a:off x="6443980" y="4561205"/>
            <a:ext cx="155829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/>
              <a:t>Range</a:t>
            </a:r>
          </a:p>
          <a:p>
            <a:pPr algn="ctr"/>
            <a:r>
              <a:rPr lang="en-US" sz="2400"/>
              <a:t>[4,7]</a:t>
            </a:r>
          </a:p>
        </p:txBody>
      </p:sp>
      <p:sp>
        <p:nvSpPr>
          <p:cNvPr id="9" name="Text Box 8"/>
          <p:cNvSpPr txBox="1"/>
          <p:nvPr/>
        </p:nvSpPr>
        <p:spPr>
          <a:xfrm>
            <a:off x="3481705" y="6200140"/>
            <a:ext cx="52279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rgbClr val="FF0000"/>
                </a:solidFill>
                <a:sym typeface="+mn-ea"/>
              </a:rPr>
              <a:t>2 is not in the Range [4-7]</a:t>
            </a: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ym typeface="+mn-ea"/>
              </a:rPr>
              <a:t>Case 2: Seed value given</a:t>
            </a:r>
            <a:endParaRPr lang="en-US"/>
          </a:p>
        </p:txBody>
      </p:sp>
      <p:sp>
        <p:nvSpPr>
          <p:cNvPr id="5" name="Text Box 4"/>
          <p:cNvSpPr txBox="1"/>
          <p:nvPr/>
        </p:nvSpPr>
        <p:spPr>
          <a:xfrm>
            <a:off x="996950" y="1616075"/>
            <a:ext cx="1040574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400"/>
              <a:t>Apply region growing on the following image with seed point as 6 and threshold value as 3.</a:t>
            </a:r>
          </a:p>
        </p:txBody>
      </p:sp>
      <p:sp>
        <p:nvSpPr>
          <p:cNvPr id="3" name="Text Box 2"/>
          <p:cNvSpPr txBox="1"/>
          <p:nvPr/>
        </p:nvSpPr>
        <p:spPr>
          <a:xfrm>
            <a:off x="8157845" y="3429000"/>
            <a:ext cx="22688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/>
              <a:t>Seed Value=6</a:t>
            </a:r>
          </a:p>
        </p:txBody>
      </p:sp>
      <p:sp>
        <p:nvSpPr>
          <p:cNvPr id="8" name="Text Box 7"/>
          <p:cNvSpPr txBox="1"/>
          <p:nvPr/>
        </p:nvSpPr>
        <p:spPr>
          <a:xfrm>
            <a:off x="8157845" y="4182110"/>
            <a:ext cx="22688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/>
              <a:t>T=3</a:t>
            </a:r>
          </a:p>
        </p:txBody>
      </p:sp>
      <p:sp>
        <p:nvSpPr>
          <p:cNvPr id="6" name="Text Box 5"/>
          <p:cNvSpPr txBox="1"/>
          <p:nvPr/>
        </p:nvSpPr>
        <p:spPr>
          <a:xfrm>
            <a:off x="8157845" y="4935220"/>
            <a:ext cx="226885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/>
              <a:t>8-Connectivity</a:t>
            </a:r>
          </a:p>
          <a:p>
            <a:pPr algn="ctr"/>
            <a:r>
              <a:rPr lang="en-US" sz="2400"/>
              <a:t>(By default)</a:t>
            </a:r>
          </a:p>
        </p:txBody>
      </p:sp>
      <p:graphicFrame>
        <p:nvGraphicFramePr>
          <p:cNvPr id="7" name="Table 6"/>
          <p:cNvGraphicFramePr/>
          <p:nvPr>
            <p:custDataLst>
              <p:tags r:id="rId1"/>
            </p:custDataLst>
          </p:nvPr>
        </p:nvGraphicFramePr>
        <p:xfrm>
          <a:off x="1838325" y="2940685"/>
          <a:ext cx="4269740" cy="3048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337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371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37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3371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3371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3371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3371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3371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1" name="Text Box 10"/>
          <p:cNvSpPr txBox="1"/>
          <p:nvPr/>
        </p:nvSpPr>
        <p:spPr>
          <a:xfrm>
            <a:off x="6443980" y="3808095"/>
            <a:ext cx="155829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/>
              <a:t>7-3=4</a:t>
            </a:r>
          </a:p>
        </p:txBody>
      </p:sp>
      <p:sp>
        <p:nvSpPr>
          <p:cNvPr id="12" name="Text Box 11"/>
          <p:cNvSpPr txBox="1"/>
          <p:nvPr/>
        </p:nvSpPr>
        <p:spPr>
          <a:xfrm>
            <a:off x="6443980" y="4561205"/>
            <a:ext cx="155829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/>
              <a:t>Range</a:t>
            </a:r>
          </a:p>
          <a:p>
            <a:pPr algn="ctr"/>
            <a:r>
              <a:rPr lang="en-US" sz="2400"/>
              <a:t>[4,7]</a:t>
            </a:r>
          </a:p>
        </p:txBody>
      </p:sp>
      <p:sp>
        <p:nvSpPr>
          <p:cNvPr id="9" name="Text Box 8"/>
          <p:cNvSpPr txBox="1"/>
          <p:nvPr/>
        </p:nvSpPr>
        <p:spPr>
          <a:xfrm>
            <a:off x="3481705" y="6200140"/>
            <a:ext cx="52279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rgbClr val="FF0000"/>
                </a:solidFill>
                <a:sym typeface="+mn-ea"/>
              </a:rPr>
              <a:t>3 is not in the Range [4-7]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8" grpId="0"/>
      <p:bldP spid="6" grpId="0"/>
      <p:bldP spid="11" grpId="0"/>
      <p:bldP spid="12" grpId="0"/>
      <p:bldP spid="9" grpId="0"/>
      <p:bldP spid="9" grpId="1"/>
    </p:bldLst>
  </p:timing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ym typeface="+mn-ea"/>
              </a:rPr>
              <a:t>Case 2: Seed value given</a:t>
            </a:r>
            <a:endParaRPr lang="en-US"/>
          </a:p>
        </p:txBody>
      </p:sp>
      <p:sp>
        <p:nvSpPr>
          <p:cNvPr id="5" name="Text Box 4"/>
          <p:cNvSpPr txBox="1"/>
          <p:nvPr/>
        </p:nvSpPr>
        <p:spPr>
          <a:xfrm>
            <a:off x="996950" y="1616075"/>
            <a:ext cx="1040574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400"/>
              <a:t>Apply region growing on the following image with seed point as 6 and threshold value as 3.</a:t>
            </a:r>
          </a:p>
        </p:txBody>
      </p:sp>
      <p:sp>
        <p:nvSpPr>
          <p:cNvPr id="3" name="Text Box 2"/>
          <p:cNvSpPr txBox="1"/>
          <p:nvPr/>
        </p:nvSpPr>
        <p:spPr>
          <a:xfrm>
            <a:off x="8157845" y="3429000"/>
            <a:ext cx="22688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/>
              <a:t>Seed Value=6</a:t>
            </a:r>
          </a:p>
        </p:txBody>
      </p:sp>
      <p:sp>
        <p:nvSpPr>
          <p:cNvPr id="8" name="Text Box 7"/>
          <p:cNvSpPr txBox="1"/>
          <p:nvPr/>
        </p:nvSpPr>
        <p:spPr>
          <a:xfrm>
            <a:off x="8157845" y="4182110"/>
            <a:ext cx="22688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/>
              <a:t>T=3</a:t>
            </a:r>
          </a:p>
        </p:txBody>
      </p:sp>
      <p:sp>
        <p:nvSpPr>
          <p:cNvPr id="6" name="Text Box 5"/>
          <p:cNvSpPr txBox="1"/>
          <p:nvPr/>
        </p:nvSpPr>
        <p:spPr>
          <a:xfrm>
            <a:off x="8157845" y="4935220"/>
            <a:ext cx="226885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/>
              <a:t>8-Connectivity</a:t>
            </a:r>
          </a:p>
          <a:p>
            <a:pPr algn="ctr"/>
            <a:r>
              <a:rPr lang="en-US" sz="2400"/>
              <a:t>(By default)</a:t>
            </a:r>
          </a:p>
        </p:txBody>
      </p:sp>
      <p:graphicFrame>
        <p:nvGraphicFramePr>
          <p:cNvPr id="7" name="Table 6"/>
          <p:cNvGraphicFramePr/>
          <p:nvPr>
            <p:custDataLst>
              <p:tags r:id="rId1"/>
            </p:custDataLst>
          </p:nvPr>
        </p:nvGraphicFramePr>
        <p:xfrm>
          <a:off x="1838325" y="2940685"/>
          <a:ext cx="4269740" cy="3048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337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371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37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3371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3371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3371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3371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3371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1" name="Text Box 10"/>
          <p:cNvSpPr txBox="1"/>
          <p:nvPr/>
        </p:nvSpPr>
        <p:spPr>
          <a:xfrm>
            <a:off x="6443980" y="3808095"/>
            <a:ext cx="155829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/>
              <a:t>7-3=4</a:t>
            </a:r>
          </a:p>
        </p:txBody>
      </p:sp>
      <p:sp>
        <p:nvSpPr>
          <p:cNvPr id="12" name="Text Box 11"/>
          <p:cNvSpPr txBox="1"/>
          <p:nvPr/>
        </p:nvSpPr>
        <p:spPr>
          <a:xfrm>
            <a:off x="6443980" y="4561205"/>
            <a:ext cx="155829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/>
              <a:t>Range</a:t>
            </a:r>
          </a:p>
          <a:p>
            <a:pPr algn="ctr"/>
            <a:r>
              <a:rPr lang="en-US" sz="2400"/>
              <a:t>[4,7]</a:t>
            </a:r>
          </a:p>
        </p:txBody>
      </p:sp>
      <p:sp>
        <p:nvSpPr>
          <p:cNvPr id="9" name="Text Box 8"/>
          <p:cNvSpPr txBox="1"/>
          <p:nvPr/>
        </p:nvSpPr>
        <p:spPr>
          <a:xfrm>
            <a:off x="3481705" y="6200140"/>
            <a:ext cx="52279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rgbClr val="FF0000"/>
                </a:solidFill>
                <a:sym typeface="+mn-ea"/>
              </a:rPr>
              <a:t>3 is not in the Range [4-7]</a:t>
            </a: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ym typeface="+mn-ea"/>
              </a:rPr>
              <a:t>Case 2: Seed value given</a:t>
            </a:r>
            <a:endParaRPr lang="en-US"/>
          </a:p>
        </p:txBody>
      </p:sp>
      <p:sp>
        <p:nvSpPr>
          <p:cNvPr id="5" name="Text Box 4"/>
          <p:cNvSpPr txBox="1"/>
          <p:nvPr/>
        </p:nvSpPr>
        <p:spPr>
          <a:xfrm>
            <a:off x="996950" y="1616075"/>
            <a:ext cx="1040574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400"/>
              <a:t>Apply region growing on the following image with seed point as 6 and threshold value as 3.</a:t>
            </a:r>
          </a:p>
        </p:txBody>
      </p:sp>
      <p:sp>
        <p:nvSpPr>
          <p:cNvPr id="3" name="Text Box 2"/>
          <p:cNvSpPr txBox="1"/>
          <p:nvPr/>
        </p:nvSpPr>
        <p:spPr>
          <a:xfrm>
            <a:off x="8157845" y="3429000"/>
            <a:ext cx="22688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/>
              <a:t>Seed Value=6</a:t>
            </a:r>
          </a:p>
        </p:txBody>
      </p:sp>
      <p:sp>
        <p:nvSpPr>
          <p:cNvPr id="8" name="Text Box 7"/>
          <p:cNvSpPr txBox="1"/>
          <p:nvPr/>
        </p:nvSpPr>
        <p:spPr>
          <a:xfrm>
            <a:off x="8157845" y="4182110"/>
            <a:ext cx="22688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/>
              <a:t>T=3</a:t>
            </a:r>
          </a:p>
        </p:txBody>
      </p:sp>
      <p:sp>
        <p:nvSpPr>
          <p:cNvPr id="6" name="Text Box 5"/>
          <p:cNvSpPr txBox="1"/>
          <p:nvPr/>
        </p:nvSpPr>
        <p:spPr>
          <a:xfrm>
            <a:off x="8157845" y="4935220"/>
            <a:ext cx="226885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/>
              <a:t>8-Connectivity</a:t>
            </a:r>
          </a:p>
          <a:p>
            <a:pPr algn="ctr"/>
            <a:r>
              <a:rPr lang="en-US" sz="2400"/>
              <a:t>(By default)</a:t>
            </a:r>
          </a:p>
        </p:txBody>
      </p:sp>
      <p:graphicFrame>
        <p:nvGraphicFramePr>
          <p:cNvPr id="7" name="Table 6"/>
          <p:cNvGraphicFramePr/>
          <p:nvPr>
            <p:custDataLst>
              <p:tags r:id="rId1"/>
            </p:custDataLst>
          </p:nvPr>
        </p:nvGraphicFramePr>
        <p:xfrm>
          <a:off x="1838325" y="2940685"/>
          <a:ext cx="4269740" cy="3048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337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371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37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3371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3371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3371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3371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3371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1" name="Text Box 10"/>
          <p:cNvSpPr txBox="1"/>
          <p:nvPr/>
        </p:nvSpPr>
        <p:spPr>
          <a:xfrm>
            <a:off x="6443980" y="3808095"/>
            <a:ext cx="155829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/>
              <a:t>7-3=4</a:t>
            </a:r>
          </a:p>
        </p:txBody>
      </p:sp>
      <p:sp>
        <p:nvSpPr>
          <p:cNvPr id="12" name="Text Box 11"/>
          <p:cNvSpPr txBox="1"/>
          <p:nvPr/>
        </p:nvSpPr>
        <p:spPr>
          <a:xfrm>
            <a:off x="6443980" y="4561205"/>
            <a:ext cx="155829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/>
              <a:t>Range</a:t>
            </a:r>
          </a:p>
          <a:p>
            <a:pPr algn="ctr"/>
            <a:r>
              <a:rPr lang="en-US" sz="2400"/>
              <a:t>[4,7]</a:t>
            </a:r>
          </a:p>
        </p:txBody>
      </p:sp>
      <p:sp>
        <p:nvSpPr>
          <p:cNvPr id="9" name="Text Box 8"/>
          <p:cNvSpPr txBox="1"/>
          <p:nvPr/>
        </p:nvSpPr>
        <p:spPr>
          <a:xfrm>
            <a:off x="3481705" y="6200140"/>
            <a:ext cx="52279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rgbClr val="FF0000"/>
                </a:solidFill>
                <a:sym typeface="+mn-ea"/>
              </a:rPr>
              <a:t>2 is not in the Range [4-7]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8" grpId="0"/>
      <p:bldP spid="6" grpId="0"/>
      <p:bldP spid="11" grpId="0"/>
      <p:bldP spid="12" grpId="0"/>
      <p:bldP spid="9" grpId="0"/>
      <p:bldP spid="9" grpId="1"/>
    </p:bldLst>
  </p:timing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ym typeface="+mn-ea"/>
              </a:rPr>
              <a:t>Case 2: Seed value given</a:t>
            </a:r>
            <a:endParaRPr lang="en-US"/>
          </a:p>
        </p:txBody>
      </p:sp>
      <p:sp>
        <p:nvSpPr>
          <p:cNvPr id="5" name="Text Box 4"/>
          <p:cNvSpPr txBox="1"/>
          <p:nvPr/>
        </p:nvSpPr>
        <p:spPr>
          <a:xfrm>
            <a:off x="996950" y="1616075"/>
            <a:ext cx="1040574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400"/>
              <a:t>Apply region growing on the following image with seed point as 6 and threshold value as 3.</a:t>
            </a:r>
          </a:p>
        </p:txBody>
      </p:sp>
      <p:sp>
        <p:nvSpPr>
          <p:cNvPr id="3" name="Text Box 2"/>
          <p:cNvSpPr txBox="1"/>
          <p:nvPr/>
        </p:nvSpPr>
        <p:spPr>
          <a:xfrm>
            <a:off x="8157845" y="3429000"/>
            <a:ext cx="22688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/>
              <a:t>Seed Value=6</a:t>
            </a:r>
          </a:p>
        </p:txBody>
      </p:sp>
      <p:sp>
        <p:nvSpPr>
          <p:cNvPr id="8" name="Text Box 7"/>
          <p:cNvSpPr txBox="1"/>
          <p:nvPr/>
        </p:nvSpPr>
        <p:spPr>
          <a:xfrm>
            <a:off x="8157845" y="4182110"/>
            <a:ext cx="22688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/>
              <a:t>T=3</a:t>
            </a:r>
          </a:p>
        </p:txBody>
      </p:sp>
      <p:sp>
        <p:nvSpPr>
          <p:cNvPr id="6" name="Text Box 5"/>
          <p:cNvSpPr txBox="1"/>
          <p:nvPr/>
        </p:nvSpPr>
        <p:spPr>
          <a:xfrm>
            <a:off x="8157845" y="4935220"/>
            <a:ext cx="226885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/>
              <a:t>8-Connectivity</a:t>
            </a:r>
          </a:p>
          <a:p>
            <a:pPr algn="ctr"/>
            <a:r>
              <a:rPr lang="en-US" sz="2400"/>
              <a:t>(By default)</a:t>
            </a:r>
          </a:p>
        </p:txBody>
      </p:sp>
      <p:graphicFrame>
        <p:nvGraphicFramePr>
          <p:cNvPr id="7" name="Table 6"/>
          <p:cNvGraphicFramePr/>
          <p:nvPr>
            <p:custDataLst>
              <p:tags r:id="rId1"/>
            </p:custDataLst>
          </p:nvPr>
        </p:nvGraphicFramePr>
        <p:xfrm>
          <a:off x="1838325" y="2940685"/>
          <a:ext cx="4269740" cy="3048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337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371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37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3371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3371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3371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3371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3371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1" name="Text Box 10"/>
          <p:cNvSpPr txBox="1"/>
          <p:nvPr/>
        </p:nvSpPr>
        <p:spPr>
          <a:xfrm>
            <a:off x="6443980" y="3808095"/>
            <a:ext cx="155829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/>
              <a:t>7-3=4</a:t>
            </a:r>
          </a:p>
        </p:txBody>
      </p:sp>
      <p:sp>
        <p:nvSpPr>
          <p:cNvPr id="12" name="Text Box 11"/>
          <p:cNvSpPr txBox="1"/>
          <p:nvPr/>
        </p:nvSpPr>
        <p:spPr>
          <a:xfrm>
            <a:off x="6443980" y="4561205"/>
            <a:ext cx="155829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/>
              <a:t>Range</a:t>
            </a:r>
          </a:p>
          <a:p>
            <a:pPr algn="ctr"/>
            <a:r>
              <a:rPr lang="en-US" sz="2400"/>
              <a:t>[4,7]</a:t>
            </a:r>
          </a:p>
        </p:txBody>
      </p:sp>
      <p:sp>
        <p:nvSpPr>
          <p:cNvPr id="9" name="Text Box 8"/>
          <p:cNvSpPr txBox="1"/>
          <p:nvPr/>
        </p:nvSpPr>
        <p:spPr>
          <a:xfrm>
            <a:off x="3481705" y="6200140"/>
            <a:ext cx="52279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rgbClr val="FF0000"/>
                </a:solidFill>
                <a:sym typeface="+mn-ea"/>
              </a:rPr>
              <a:t>2 is not in the Range [4-7]</a:t>
            </a: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ym typeface="+mn-ea"/>
              </a:rPr>
              <a:t>Case 2: Seed value given</a:t>
            </a:r>
            <a:endParaRPr lang="en-US"/>
          </a:p>
        </p:txBody>
      </p:sp>
      <p:sp>
        <p:nvSpPr>
          <p:cNvPr id="5" name="Text Box 4"/>
          <p:cNvSpPr txBox="1"/>
          <p:nvPr/>
        </p:nvSpPr>
        <p:spPr>
          <a:xfrm>
            <a:off x="996950" y="1616075"/>
            <a:ext cx="1040574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400"/>
              <a:t>Apply region growing on the following image with seed point as 6 and threshold value as 3.</a:t>
            </a:r>
          </a:p>
        </p:txBody>
      </p:sp>
      <p:sp>
        <p:nvSpPr>
          <p:cNvPr id="3" name="Text Box 2"/>
          <p:cNvSpPr txBox="1"/>
          <p:nvPr/>
        </p:nvSpPr>
        <p:spPr>
          <a:xfrm>
            <a:off x="8157845" y="3429000"/>
            <a:ext cx="22688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/>
              <a:t>Seed Value=6</a:t>
            </a:r>
          </a:p>
        </p:txBody>
      </p:sp>
      <p:sp>
        <p:nvSpPr>
          <p:cNvPr id="8" name="Text Box 7"/>
          <p:cNvSpPr txBox="1"/>
          <p:nvPr/>
        </p:nvSpPr>
        <p:spPr>
          <a:xfrm>
            <a:off x="8157845" y="4182110"/>
            <a:ext cx="22688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/>
              <a:t>T=3</a:t>
            </a:r>
          </a:p>
        </p:txBody>
      </p:sp>
      <p:sp>
        <p:nvSpPr>
          <p:cNvPr id="6" name="Text Box 5"/>
          <p:cNvSpPr txBox="1"/>
          <p:nvPr/>
        </p:nvSpPr>
        <p:spPr>
          <a:xfrm>
            <a:off x="8157845" y="4935220"/>
            <a:ext cx="226885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/>
              <a:t>8-Connectivity</a:t>
            </a:r>
          </a:p>
          <a:p>
            <a:pPr algn="ctr"/>
            <a:r>
              <a:rPr lang="en-US" sz="2400"/>
              <a:t>(By default)</a:t>
            </a:r>
          </a:p>
        </p:txBody>
      </p:sp>
      <p:graphicFrame>
        <p:nvGraphicFramePr>
          <p:cNvPr id="7" name="Table 6"/>
          <p:cNvGraphicFramePr/>
          <p:nvPr>
            <p:custDataLst>
              <p:tags r:id="rId1"/>
            </p:custDataLst>
          </p:nvPr>
        </p:nvGraphicFramePr>
        <p:xfrm>
          <a:off x="1838325" y="2940685"/>
          <a:ext cx="4269740" cy="3048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337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371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37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3371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3371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3371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3371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3371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1" name="Text Box 10"/>
          <p:cNvSpPr txBox="1"/>
          <p:nvPr/>
        </p:nvSpPr>
        <p:spPr>
          <a:xfrm>
            <a:off x="6443980" y="3808095"/>
            <a:ext cx="155829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/>
              <a:t>7-3=4</a:t>
            </a:r>
          </a:p>
        </p:txBody>
      </p:sp>
      <p:sp>
        <p:nvSpPr>
          <p:cNvPr id="12" name="Text Box 11"/>
          <p:cNvSpPr txBox="1"/>
          <p:nvPr/>
        </p:nvSpPr>
        <p:spPr>
          <a:xfrm>
            <a:off x="6443980" y="4561205"/>
            <a:ext cx="155829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/>
              <a:t>Range</a:t>
            </a:r>
          </a:p>
          <a:p>
            <a:pPr algn="ctr"/>
            <a:r>
              <a:rPr lang="en-US" sz="2400"/>
              <a:t>[4,7]</a:t>
            </a:r>
          </a:p>
        </p:txBody>
      </p:sp>
      <p:sp>
        <p:nvSpPr>
          <p:cNvPr id="9" name="Text Box 8"/>
          <p:cNvSpPr txBox="1"/>
          <p:nvPr/>
        </p:nvSpPr>
        <p:spPr>
          <a:xfrm>
            <a:off x="3481705" y="6200140"/>
            <a:ext cx="52279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rgbClr val="FF0000"/>
                </a:solidFill>
                <a:sym typeface="+mn-ea"/>
              </a:rPr>
              <a:t>2 is not in the Range [4-7]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8" grpId="0"/>
      <p:bldP spid="6" grpId="0"/>
      <p:bldP spid="11" grpId="0"/>
      <p:bldP spid="12" grpId="0"/>
      <p:bldP spid="9" grpId="0"/>
      <p:bldP spid="9" grpId="1"/>
    </p:bldLst>
  </p:timing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ym typeface="+mn-ea"/>
              </a:rPr>
              <a:t>Case 2: Seed value given</a:t>
            </a:r>
            <a:endParaRPr lang="en-US"/>
          </a:p>
        </p:txBody>
      </p:sp>
      <p:sp>
        <p:nvSpPr>
          <p:cNvPr id="5" name="Text Box 4"/>
          <p:cNvSpPr txBox="1"/>
          <p:nvPr/>
        </p:nvSpPr>
        <p:spPr>
          <a:xfrm>
            <a:off x="996950" y="1616075"/>
            <a:ext cx="1040574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400"/>
              <a:t>Apply region growing on the following image with seed point as 6 and threshold value as 3.</a:t>
            </a:r>
          </a:p>
        </p:txBody>
      </p:sp>
      <p:sp>
        <p:nvSpPr>
          <p:cNvPr id="3" name="Text Box 2"/>
          <p:cNvSpPr txBox="1"/>
          <p:nvPr/>
        </p:nvSpPr>
        <p:spPr>
          <a:xfrm>
            <a:off x="8157845" y="3429000"/>
            <a:ext cx="22688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/>
              <a:t>Seed Value=6</a:t>
            </a:r>
          </a:p>
        </p:txBody>
      </p:sp>
      <p:sp>
        <p:nvSpPr>
          <p:cNvPr id="8" name="Text Box 7"/>
          <p:cNvSpPr txBox="1"/>
          <p:nvPr/>
        </p:nvSpPr>
        <p:spPr>
          <a:xfrm>
            <a:off x="8157845" y="4182110"/>
            <a:ext cx="22688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/>
              <a:t>T=3</a:t>
            </a:r>
          </a:p>
        </p:txBody>
      </p:sp>
      <p:sp>
        <p:nvSpPr>
          <p:cNvPr id="6" name="Text Box 5"/>
          <p:cNvSpPr txBox="1"/>
          <p:nvPr/>
        </p:nvSpPr>
        <p:spPr>
          <a:xfrm>
            <a:off x="8157845" y="4935220"/>
            <a:ext cx="226885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/>
              <a:t>8-Connectivity</a:t>
            </a:r>
          </a:p>
          <a:p>
            <a:pPr algn="ctr"/>
            <a:r>
              <a:rPr lang="en-US" sz="2400"/>
              <a:t>(By default)</a:t>
            </a:r>
          </a:p>
        </p:txBody>
      </p:sp>
      <p:graphicFrame>
        <p:nvGraphicFramePr>
          <p:cNvPr id="7" name="Table 6"/>
          <p:cNvGraphicFramePr/>
          <p:nvPr>
            <p:custDataLst>
              <p:tags r:id="rId1"/>
            </p:custDataLst>
          </p:nvPr>
        </p:nvGraphicFramePr>
        <p:xfrm>
          <a:off x="1838325" y="2940685"/>
          <a:ext cx="4269740" cy="3048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337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371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37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3371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3371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3371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3371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3371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1" name="Text Box 10"/>
          <p:cNvSpPr txBox="1"/>
          <p:nvPr/>
        </p:nvSpPr>
        <p:spPr>
          <a:xfrm>
            <a:off x="6443980" y="3808095"/>
            <a:ext cx="155829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/>
              <a:t>7-3=4</a:t>
            </a:r>
          </a:p>
        </p:txBody>
      </p:sp>
      <p:sp>
        <p:nvSpPr>
          <p:cNvPr id="12" name="Text Box 11"/>
          <p:cNvSpPr txBox="1"/>
          <p:nvPr/>
        </p:nvSpPr>
        <p:spPr>
          <a:xfrm>
            <a:off x="6443980" y="4561205"/>
            <a:ext cx="155829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/>
              <a:t>Range</a:t>
            </a:r>
          </a:p>
          <a:p>
            <a:pPr algn="ctr"/>
            <a:r>
              <a:rPr lang="en-US" sz="2400"/>
              <a:t>[4,7]</a:t>
            </a:r>
          </a:p>
        </p:txBody>
      </p:sp>
      <p:sp>
        <p:nvSpPr>
          <p:cNvPr id="9" name="Text Box 8"/>
          <p:cNvSpPr txBox="1"/>
          <p:nvPr/>
        </p:nvSpPr>
        <p:spPr>
          <a:xfrm>
            <a:off x="3481705" y="6200140"/>
            <a:ext cx="52279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rgbClr val="FF0000"/>
                </a:solidFill>
                <a:sym typeface="+mn-ea"/>
              </a:rPr>
              <a:t>2 is not in the Range [4-7]</a:t>
            </a: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ym typeface="+mn-ea"/>
              </a:rPr>
              <a:t>Case 2: Seed value given</a:t>
            </a:r>
            <a:endParaRPr lang="en-US"/>
          </a:p>
        </p:txBody>
      </p:sp>
      <p:sp>
        <p:nvSpPr>
          <p:cNvPr id="5" name="Text Box 4"/>
          <p:cNvSpPr txBox="1"/>
          <p:nvPr/>
        </p:nvSpPr>
        <p:spPr>
          <a:xfrm>
            <a:off x="996950" y="1616075"/>
            <a:ext cx="1040574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400"/>
              <a:t>Apply region growing on the following image with seed point as 6 and threshold value as 3.</a:t>
            </a:r>
          </a:p>
        </p:txBody>
      </p:sp>
      <p:sp>
        <p:nvSpPr>
          <p:cNvPr id="3" name="Text Box 2"/>
          <p:cNvSpPr txBox="1"/>
          <p:nvPr/>
        </p:nvSpPr>
        <p:spPr>
          <a:xfrm>
            <a:off x="8157845" y="3429000"/>
            <a:ext cx="22688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/>
              <a:t>Seed Value=6</a:t>
            </a:r>
          </a:p>
        </p:txBody>
      </p:sp>
      <p:sp>
        <p:nvSpPr>
          <p:cNvPr id="8" name="Text Box 7"/>
          <p:cNvSpPr txBox="1"/>
          <p:nvPr/>
        </p:nvSpPr>
        <p:spPr>
          <a:xfrm>
            <a:off x="8157845" y="4182110"/>
            <a:ext cx="22688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/>
              <a:t>T=3</a:t>
            </a:r>
          </a:p>
        </p:txBody>
      </p:sp>
      <p:sp>
        <p:nvSpPr>
          <p:cNvPr id="6" name="Text Box 5"/>
          <p:cNvSpPr txBox="1"/>
          <p:nvPr/>
        </p:nvSpPr>
        <p:spPr>
          <a:xfrm>
            <a:off x="8157845" y="4935220"/>
            <a:ext cx="226885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/>
              <a:t>8-Connectivity</a:t>
            </a:r>
          </a:p>
          <a:p>
            <a:pPr algn="ctr"/>
            <a:r>
              <a:rPr lang="en-US" sz="2400"/>
              <a:t>(By default)</a:t>
            </a:r>
          </a:p>
        </p:txBody>
      </p:sp>
      <p:graphicFrame>
        <p:nvGraphicFramePr>
          <p:cNvPr id="7" name="Table 6"/>
          <p:cNvGraphicFramePr/>
          <p:nvPr>
            <p:custDataLst>
              <p:tags r:id="rId1"/>
            </p:custDataLst>
          </p:nvPr>
        </p:nvGraphicFramePr>
        <p:xfrm>
          <a:off x="1838325" y="2940685"/>
          <a:ext cx="4269740" cy="3048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337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371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37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3371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3371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3371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3371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3371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1" name="Text Box 10"/>
          <p:cNvSpPr txBox="1"/>
          <p:nvPr/>
        </p:nvSpPr>
        <p:spPr>
          <a:xfrm>
            <a:off x="6443980" y="3808095"/>
            <a:ext cx="155829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/>
              <a:t>7-3=4</a:t>
            </a:r>
          </a:p>
        </p:txBody>
      </p:sp>
      <p:sp>
        <p:nvSpPr>
          <p:cNvPr id="12" name="Text Box 11"/>
          <p:cNvSpPr txBox="1"/>
          <p:nvPr/>
        </p:nvSpPr>
        <p:spPr>
          <a:xfrm>
            <a:off x="6443980" y="4561205"/>
            <a:ext cx="155829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/>
              <a:t>Range</a:t>
            </a:r>
          </a:p>
          <a:p>
            <a:pPr algn="ctr"/>
            <a:r>
              <a:rPr lang="en-US" sz="2400"/>
              <a:t>[4,7]</a:t>
            </a:r>
          </a:p>
        </p:txBody>
      </p:sp>
      <p:sp>
        <p:nvSpPr>
          <p:cNvPr id="9" name="Text Box 8"/>
          <p:cNvSpPr txBox="1"/>
          <p:nvPr/>
        </p:nvSpPr>
        <p:spPr>
          <a:xfrm>
            <a:off x="3481705" y="6200140"/>
            <a:ext cx="52279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rgbClr val="FF0000"/>
                </a:solidFill>
                <a:sym typeface="+mn-ea"/>
              </a:rPr>
              <a:t>3 is not in the Range [4-7]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8" grpId="0"/>
      <p:bldP spid="6" grpId="0"/>
      <p:bldP spid="11" grpId="0"/>
      <p:bldP spid="12" grpId="0"/>
      <p:bldP spid="9" grpId="0"/>
      <p:bldP spid="9" grpId="1"/>
    </p:bldLst>
  </p:timing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ym typeface="+mn-ea"/>
              </a:rPr>
              <a:t>Case 2: Seed value given</a:t>
            </a:r>
            <a:endParaRPr lang="en-US"/>
          </a:p>
        </p:txBody>
      </p:sp>
      <p:sp>
        <p:nvSpPr>
          <p:cNvPr id="5" name="Text Box 4"/>
          <p:cNvSpPr txBox="1"/>
          <p:nvPr/>
        </p:nvSpPr>
        <p:spPr>
          <a:xfrm>
            <a:off x="996950" y="1616075"/>
            <a:ext cx="1040574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400"/>
              <a:t>Apply region growing on the following image with seed point as 6 and threshold value as 3.</a:t>
            </a:r>
          </a:p>
        </p:txBody>
      </p:sp>
      <p:sp>
        <p:nvSpPr>
          <p:cNvPr id="3" name="Text Box 2"/>
          <p:cNvSpPr txBox="1"/>
          <p:nvPr/>
        </p:nvSpPr>
        <p:spPr>
          <a:xfrm>
            <a:off x="8157845" y="3429000"/>
            <a:ext cx="22688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/>
              <a:t>Seed Value=6</a:t>
            </a:r>
          </a:p>
        </p:txBody>
      </p:sp>
      <p:sp>
        <p:nvSpPr>
          <p:cNvPr id="8" name="Text Box 7"/>
          <p:cNvSpPr txBox="1"/>
          <p:nvPr/>
        </p:nvSpPr>
        <p:spPr>
          <a:xfrm>
            <a:off x="8157845" y="4182110"/>
            <a:ext cx="22688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/>
              <a:t>T=3</a:t>
            </a:r>
          </a:p>
        </p:txBody>
      </p:sp>
      <p:sp>
        <p:nvSpPr>
          <p:cNvPr id="6" name="Text Box 5"/>
          <p:cNvSpPr txBox="1"/>
          <p:nvPr/>
        </p:nvSpPr>
        <p:spPr>
          <a:xfrm>
            <a:off x="8157845" y="4935220"/>
            <a:ext cx="226885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/>
              <a:t>8-Connectivity</a:t>
            </a:r>
          </a:p>
          <a:p>
            <a:pPr algn="ctr"/>
            <a:r>
              <a:rPr lang="en-US" sz="2400"/>
              <a:t>(By default)</a:t>
            </a:r>
          </a:p>
        </p:txBody>
      </p:sp>
      <p:graphicFrame>
        <p:nvGraphicFramePr>
          <p:cNvPr id="7" name="Table 6"/>
          <p:cNvGraphicFramePr/>
          <p:nvPr>
            <p:custDataLst>
              <p:tags r:id="rId1"/>
            </p:custDataLst>
          </p:nvPr>
        </p:nvGraphicFramePr>
        <p:xfrm>
          <a:off x="1838325" y="2940685"/>
          <a:ext cx="4269740" cy="3048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337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371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37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3371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3371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3371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3371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3371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1" name="Text Box 10"/>
          <p:cNvSpPr txBox="1"/>
          <p:nvPr/>
        </p:nvSpPr>
        <p:spPr>
          <a:xfrm>
            <a:off x="6443980" y="3808095"/>
            <a:ext cx="155829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/>
              <a:t>7-3=4</a:t>
            </a:r>
          </a:p>
        </p:txBody>
      </p:sp>
      <p:sp>
        <p:nvSpPr>
          <p:cNvPr id="12" name="Text Box 11"/>
          <p:cNvSpPr txBox="1"/>
          <p:nvPr/>
        </p:nvSpPr>
        <p:spPr>
          <a:xfrm>
            <a:off x="6443980" y="4561205"/>
            <a:ext cx="155829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/>
              <a:t>Range</a:t>
            </a:r>
          </a:p>
          <a:p>
            <a:pPr algn="ctr"/>
            <a:r>
              <a:rPr lang="en-US" sz="2400"/>
              <a:t>[4,7]</a:t>
            </a:r>
          </a:p>
        </p:txBody>
      </p:sp>
      <p:sp>
        <p:nvSpPr>
          <p:cNvPr id="9" name="Text Box 8"/>
          <p:cNvSpPr txBox="1"/>
          <p:nvPr/>
        </p:nvSpPr>
        <p:spPr>
          <a:xfrm>
            <a:off x="3481705" y="6200140"/>
            <a:ext cx="52279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rgbClr val="FF0000"/>
                </a:solidFill>
                <a:sym typeface="+mn-ea"/>
              </a:rPr>
              <a:t>3 is not in the Range [4-7]</a:t>
            </a: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ym typeface="+mn-ea"/>
              </a:rPr>
              <a:t>Case 2: Seed value given</a:t>
            </a:r>
            <a:endParaRPr lang="en-US"/>
          </a:p>
        </p:txBody>
      </p:sp>
      <p:sp>
        <p:nvSpPr>
          <p:cNvPr id="5" name="Text Box 4"/>
          <p:cNvSpPr txBox="1"/>
          <p:nvPr/>
        </p:nvSpPr>
        <p:spPr>
          <a:xfrm>
            <a:off x="996950" y="1616075"/>
            <a:ext cx="1040574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400"/>
              <a:t>Apply region growing on the following image with seed point as 6 and threshold value as 3.</a:t>
            </a:r>
          </a:p>
        </p:txBody>
      </p:sp>
      <p:sp>
        <p:nvSpPr>
          <p:cNvPr id="3" name="Text Box 2"/>
          <p:cNvSpPr txBox="1"/>
          <p:nvPr/>
        </p:nvSpPr>
        <p:spPr>
          <a:xfrm>
            <a:off x="8157845" y="3429000"/>
            <a:ext cx="22688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/>
              <a:t>Seed Value=6</a:t>
            </a:r>
          </a:p>
        </p:txBody>
      </p:sp>
      <p:sp>
        <p:nvSpPr>
          <p:cNvPr id="8" name="Text Box 7"/>
          <p:cNvSpPr txBox="1"/>
          <p:nvPr/>
        </p:nvSpPr>
        <p:spPr>
          <a:xfrm>
            <a:off x="8157845" y="4182110"/>
            <a:ext cx="22688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/>
              <a:t>T=3</a:t>
            </a:r>
          </a:p>
        </p:txBody>
      </p:sp>
      <p:sp>
        <p:nvSpPr>
          <p:cNvPr id="6" name="Text Box 5"/>
          <p:cNvSpPr txBox="1"/>
          <p:nvPr/>
        </p:nvSpPr>
        <p:spPr>
          <a:xfrm>
            <a:off x="8157845" y="4935220"/>
            <a:ext cx="226885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/>
              <a:t>8-Connectivity</a:t>
            </a:r>
          </a:p>
          <a:p>
            <a:pPr algn="ctr"/>
            <a:r>
              <a:rPr lang="en-US" sz="2400"/>
              <a:t>(By default)</a:t>
            </a:r>
          </a:p>
        </p:txBody>
      </p:sp>
      <p:graphicFrame>
        <p:nvGraphicFramePr>
          <p:cNvPr id="7" name="Table 6"/>
          <p:cNvGraphicFramePr/>
          <p:nvPr>
            <p:custDataLst>
              <p:tags r:id="rId1"/>
            </p:custDataLst>
          </p:nvPr>
        </p:nvGraphicFramePr>
        <p:xfrm>
          <a:off x="1838325" y="2940685"/>
          <a:ext cx="4269740" cy="3048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337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371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37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3371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3371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3371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3371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3371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1" name="Text Box 10"/>
          <p:cNvSpPr txBox="1"/>
          <p:nvPr/>
        </p:nvSpPr>
        <p:spPr>
          <a:xfrm>
            <a:off x="6443980" y="3808095"/>
            <a:ext cx="155829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/>
              <a:t>7-3=4</a:t>
            </a:r>
          </a:p>
        </p:txBody>
      </p:sp>
      <p:sp>
        <p:nvSpPr>
          <p:cNvPr id="12" name="Text Box 11"/>
          <p:cNvSpPr txBox="1"/>
          <p:nvPr/>
        </p:nvSpPr>
        <p:spPr>
          <a:xfrm>
            <a:off x="6443980" y="4561205"/>
            <a:ext cx="155829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/>
              <a:t>Range</a:t>
            </a:r>
          </a:p>
          <a:p>
            <a:pPr algn="ctr"/>
            <a:r>
              <a:rPr lang="en-US" sz="2400"/>
              <a:t>[4,7]</a:t>
            </a:r>
          </a:p>
        </p:txBody>
      </p:sp>
      <p:sp>
        <p:nvSpPr>
          <p:cNvPr id="9" name="Text Box 8"/>
          <p:cNvSpPr txBox="1"/>
          <p:nvPr/>
        </p:nvSpPr>
        <p:spPr>
          <a:xfrm>
            <a:off x="3481705" y="6200140"/>
            <a:ext cx="52279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rgbClr val="FF0000"/>
                </a:solidFill>
                <a:sym typeface="+mn-ea"/>
              </a:rPr>
              <a:t>3 is not in the Range [4-7]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8" grpId="0"/>
      <p:bldP spid="6" grpId="0"/>
      <p:bldP spid="11" grpId="0"/>
      <p:bldP spid="12" grpId="0"/>
      <p:bldP spid="9" grpId="0"/>
      <p:bldP spid="9" grpId="1"/>
    </p:bldLst>
  </p:timing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ym typeface="+mn-ea"/>
              </a:rPr>
              <a:t>Case 2: Seed value given</a:t>
            </a:r>
            <a:endParaRPr lang="en-US"/>
          </a:p>
        </p:txBody>
      </p:sp>
      <p:sp>
        <p:nvSpPr>
          <p:cNvPr id="5" name="Text Box 4"/>
          <p:cNvSpPr txBox="1"/>
          <p:nvPr/>
        </p:nvSpPr>
        <p:spPr>
          <a:xfrm>
            <a:off x="996950" y="1616075"/>
            <a:ext cx="1040574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400"/>
              <a:t>Apply region growing on the following image with seed point as 6 and threshold value as 3.</a:t>
            </a:r>
          </a:p>
        </p:txBody>
      </p:sp>
      <p:sp>
        <p:nvSpPr>
          <p:cNvPr id="3" name="Text Box 2"/>
          <p:cNvSpPr txBox="1"/>
          <p:nvPr/>
        </p:nvSpPr>
        <p:spPr>
          <a:xfrm>
            <a:off x="8157845" y="3429000"/>
            <a:ext cx="22688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/>
              <a:t>Seed Value=6</a:t>
            </a:r>
          </a:p>
        </p:txBody>
      </p:sp>
      <p:sp>
        <p:nvSpPr>
          <p:cNvPr id="8" name="Text Box 7"/>
          <p:cNvSpPr txBox="1"/>
          <p:nvPr/>
        </p:nvSpPr>
        <p:spPr>
          <a:xfrm>
            <a:off x="8157845" y="4182110"/>
            <a:ext cx="22688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/>
              <a:t>T=3</a:t>
            </a:r>
          </a:p>
        </p:txBody>
      </p:sp>
      <p:sp>
        <p:nvSpPr>
          <p:cNvPr id="6" name="Text Box 5"/>
          <p:cNvSpPr txBox="1"/>
          <p:nvPr/>
        </p:nvSpPr>
        <p:spPr>
          <a:xfrm>
            <a:off x="8157845" y="4935220"/>
            <a:ext cx="226885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/>
              <a:t>8-Connectivity</a:t>
            </a:r>
          </a:p>
          <a:p>
            <a:pPr algn="ctr"/>
            <a:r>
              <a:rPr lang="en-US" sz="2400"/>
              <a:t>(By default)</a:t>
            </a:r>
          </a:p>
        </p:txBody>
      </p:sp>
      <p:graphicFrame>
        <p:nvGraphicFramePr>
          <p:cNvPr id="7" name="Table 6"/>
          <p:cNvGraphicFramePr/>
          <p:nvPr>
            <p:custDataLst>
              <p:tags r:id="rId1"/>
            </p:custDataLst>
          </p:nvPr>
        </p:nvGraphicFramePr>
        <p:xfrm>
          <a:off x="1838325" y="2940685"/>
          <a:ext cx="4269740" cy="3048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337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371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37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3371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3371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3371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3371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3371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1" name="Text Box 10"/>
          <p:cNvSpPr txBox="1"/>
          <p:nvPr/>
        </p:nvSpPr>
        <p:spPr>
          <a:xfrm>
            <a:off x="6443980" y="3808095"/>
            <a:ext cx="155829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/>
              <a:t>7-3=4</a:t>
            </a:r>
          </a:p>
        </p:txBody>
      </p:sp>
      <p:sp>
        <p:nvSpPr>
          <p:cNvPr id="12" name="Text Box 11"/>
          <p:cNvSpPr txBox="1"/>
          <p:nvPr/>
        </p:nvSpPr>
        <p:spPr>
          <a:xfrm>
            <a:off x="6443980" y="4561205"/>
            <a:ext cx="155829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/>
              <a:t>Range</a:t>
            </a:r>
          </a:p>
          <a:p>
            <a:pPr algn="ctr"/>
            <a:r>
              <a:rPr lang="en-US" sz="2400"/>
              <a:t>[4,7]</a:t>
            </a:r>
          </a:p>
        </p:txBody>
      </p:sp>
      <p:sp>
        <p:nvSpPr>
          <p:cNvPr id="9" name="Text Box 8"/>
          <p:cNvSpPr txBox="1"/>
          <p:nvPr/>
        </p:nvSpPr>
        <p:spPr>
          <a:xfrm>
            <a:off x="3481705" y="6200140"/>
            <a:ext cx="52279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rgbClr val="FF0000"/>
                </a:solidFill>
                <a:sym typeface="+mn-ea"/>
              </a:rPr>
              <a:t>3 is not in the Range [4-7]</a:t>
            </a: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ym typeface="+mn-ea"/>
              </a:rPr>
              <a:t>Case 2: Seed value given</a:t>
            </a:r>
            <a:endParaRPr lang="en-US"/>
          </a:p>
        </p:txBody>
      </p:sp>
      <p:sp>
        <p:nvSpPr>
          <p:cNvPr id="5" name="Text Box 4"/>
          <p:cNvSpPr txBox="1"/>
          <p:nvPr/>
        </p:nvSpPr>
        <p:spPr>
          <a:xfrm>
            <a:off x="996950" y="1616075"/>
            <a:ext cx="1040574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400"/>
              <a:t>Apply region growing on the following image with seed point as 6 and threshold value as 3.</a:t>
            </a:r>
          </a:p>
        </p:txBody>
      </p:sp>
      <p:sp>
        <p:nvSpPr>
          <p:cNvPr id="3" name="Text Box 2"/>
          <p:cNvSpPr txBox="1"/>
          <p:nvPr/>
        </p:nvSpPr>
        <p:spPr>
          <a:xfrm>
            <a:off x="8157845" y="3429000"/>
            <a:ext cx="22688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/>
              <a:t>Seed Value=6</a:t>
            </a:r>
          </a:p>
        </p:txBody>
      </p:sp>
      <p:sp>
        <p:nvSpPr>
          <p:cNvPr id="8" name="Text Box 7"/>
          <p:cNvSpPr txBox="1"/>
          <p:nvPr/>
        </p:nvSpPr>
        <p:spPr>
          <a:xfrm>
            <a:off x="8157845" y="4182110"/>
            <a:ext cx="22688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/>
              <a:t>T=3</a:t>
            </a:r>
          </a:p>
        </p:txBody>
      </p:sp>
      <p:sp>
        <p:nvSpPr>
          <p:cNvPr id="6" name="Text Box 5"/>
          <p:cNvSpPr txBox="1"/>
          <p:nvPr/>
        </p:nvSpPr>
        <p:spPr>
          <a:xfrm>
            <a:off x="8157845" y="4935220"/>
            <a:ext cx="226885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/>
              <a:t>8-Connectivity</a:t>
            </a:r>
          </a:p>
          <a:p>
            <a:pPr algn="ctr"/>
            <a:r>
              <a:rPr lang="en-US" sz="2400"/>
              <a:t>(By default)</a:t>
            </a:r>
          </a:p>
        </p:txBody>
      </p:sp>
      <p:graphicFrame>
        <p:nvGraphicFramePr>
          <p:cNvPr id="7" name="Table 6"/>
          <p:cNvGraphicFramePr/>
          <p:nvPr>
            <p:custDataLst>
              <p:tags r:id="rId1"/>
            </p:custDataLst>
          </p:nvPr>
        </p:nvGraphicFramePr>
        <p:xfrm>
          <a:off x="1838325" y="2940685"/>
          <a:ext cx="4269740" cy="3048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337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371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37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3371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3371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3371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3371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3371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1" name="Text Box 10"/>
          <p:cNvSpPr txBox="1"/>
          <p:nvPr/>
        </p:nvSpPr>
        <p:spPr>
          <a:xfrm>
            <a:off x="6443980" y="3808095"/>
            <a:ext cx="155829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/>
              <a:t>7-3=4</a:t>
            </a:r>
          </a:p>
        </p:txBody>
      </p:sp>
      <p:sp>
        <p:nvSpPr>
          <p:cNvPr id="12" name="Text Box 11"/>
          <p:cNvSpPr txBox="1"/>
          <p:nvPr/>
        </p:nvSpPr>
        <p:spPr>
          <a:xfrm>
            <a:off x="6443980" y="4561205"/>
            <a:ext cx="155829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/>
              <a:t>Range</a:t>
            </a:r>
          </a:p>
          <a:p>
            <a:pPr algn="ctr"/>
            <a:r>
              <a:rPr lang="en-US" sz="2400"/>
              <a:t>[4,7]</a:t>
            </a:r>
          </a:p>
        </p:txBody>
      </p:sp>
      <p:sp>
        <p:nvSpPr>
          <p:cNvPr id="9" name="Text Box 8"/>
          <p:cNvSpPr txBox="1"/>
          <p:nvPr/>
        </p:nvSpPr>
        <p:spPr>
          <a:xfrm>
            <a:off x="3481705" y="6200140"/>
            <a:ext cx="52279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rgbClr val="00B050"/>
                </a:solidFill>
                <a:sym typeface="+mn-ea"/>
              </a:rPr>
              <a:t>5 is in the Range [4-7]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8" grpId="0"/>
      <p:bldP spid="6" grpId="0"/>
      <p:bldP spid="11" grpId="0"/>
      <p:bldP spid="12" grpId="0"/>
      <p:bldP spid="9" grpId="0"/>
      <p:bldP spid="9" grpId="1"/>
    </p:bldLst>
  </p:timing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ym typeface="+mn-ea"/>
              </a:rPr>
              <a:t>Case 2: Seed value given</a:t>
            </a:r>
            <a:endParaRPr lang="en-US"/>
          </a:p>
        </p:txBody>
      </p:sp>
      <p:sp>
        <p:nvSpPr>
          <p:cNvPr id="5" name="Text Box 4"/>
          <p:cNvSpPr txBox="1"/>
          <p:nvPr/>
        </p:nvSpPr>
        <p:spPr>
          <a:xfrm>
            <a:off x="996950" y="1616075"/>
            <a:ext cx="1040574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400"/>
              <a:t>Apply region growing on the following image with seed point as 6 and threshold value as 3.</a:t>
            </a:r>
          </a:p>
        </p:txBody>
      </p:sp>
      <p:sp>
        <p:nvSpPr>
          <p:cNvPr id="3" name="Text Box 2"/>
          <p:cNvSpPr txBox="1"/>
          <p:nvPr/>
        </p:nvSpPr>
        <p:spPr>
          <a:xfrm>
            <a:off x="8157845" y="3429000"/>
            <a:ext cx="22688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/>
              <a:t>Seed Value=6</a:t>
            </a:r>
          </a:p>
        </p:txBody>
      </p:sp>
      <p:sp>
        <p:nvSpPr>
          <p:cNvPr id="8" name="Text Box 7"/>
          <p:cNvSpPr txBox="1"/>
          <p:nvPr/>
        </p:nvSpPr>
        <p:spPr>
          <a:xfrm>
            <a:off x="8157845" y="4182110"/>
            <a:ext cx="22688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/>
              <a:t>T=3</a:t>
            </a:r>
          </a:p>
        </p:txBody>
      </p:sp>
      <p:sp>
        <p:nvSpPr>
          <p:cNvPr id="6" name="Text Box 5"/>
          <p:cNvSpPr txBox="1"/>
          <p:nvPr/>
        </p:nvSpPr>
        <p:spPr>
          <a:xfrm>
            <a:off x="8157845" y="4935220"/>
            <a:ext cx="226885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/>
              <a:t>8-Connectivity</a:t>
            </a:r>
          </a:p>
          <a:p>
            <a:pPr algn="ctr"/>
            <a:r>
              <a:rPr lang="en-US" sz="2400"/>
              <a:t>(By default)</a:t>
            </a:r>
          </a:p>
        </p:txBody>
      </p:sp>
      <p:graphicFrame>
        <p:nvGraphicFramePr>
          <p:cNvPr id="7" name="Table 6"/>
          <p:cNvGraphicFramePr/>
          <p:nvPr>
            <p:custDataLst>
              <p:tags r:id="rId1"/>
            </p:custDataLst>
          </p:nvPr>
        </p:nvGraphicFramePr>
        <p:xfrm>
          <a:off x="1838325" y="2940685"/>
          <a:ext cx="4269740" cy="3048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337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371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37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3371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3371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3371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3371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3371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1" name="Text Box 10"/>
          <p:cNvSpPr txBox="1"/>
          <p:nvPr/>
        </p:nvSpPr>
        <p:spPr>
          <a:xfrm>
            <a:off x="6443980" y="3808095"/>
            <a:ext cx="155829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/>
              <a:t>7-3=4</a:t>
            </a:r>
          </a:p>
        </p:txBody>
      </p:sp>
      <p:sp>
        <p:nvSpPr>
          <p:cNvPr id="12" name="Text Box 11"/>
          <p:cNvSpPr txBox="1"/>
          <p:nvPr/>
        </p:nvSpPr>
        <p:spPr>
          <a:xfrm>
            <a:off x="6443980" y="4561205"/>
            <a:ext cx="155829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/>
              <a:t>Range</a:t>
            </a:r>
          </a:p>
          <a:p>
            <a:pPr algn="ctr"/>
            <a:r>
              <a:rPr lang="en-US" sz="2400"/>
              <a:t>[4,7]</a:t>
            </a:r>
          </a:p>
        </p:txBody>
      </p:sp>
      <p:sp>
        <p:nvSpPr>
          <p:cNvPr id="9" name="Text Box 8"/>
          <p:cNvSpPr txBox="1"/>
          <p:nvPr/>
        </p:nvSpPr>
        <p:spPr>
          <a:xfrm>
            <a:off x="3481705" y="6200140"/>
            <a:ext cx="52279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rgbClr val="00B050"/>
                </a:solidFill>
                <a:sym typeface="+mn-ea"/>
              </a:rPr>
              <a:t>5 is in the Range [4-7]</a:t>
            </a:r>
            <a:endParaRPr lang="en-US" sz="2400">
              <a:solidFill>
                <a:srgbClr val="FF0000"/>
              </a:solidFill>
              <a:sym typeface="+mn-ea"/>
            </a:endParaRP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ym typeface="+mn-ea"/>
              </a:rPr>
              <a:t>Case 2: Seed value given</a:t>
            </a:r>
            <a:endParaRPr lang="en-US"/>
          </a:p>
        </p:txBody>
      </p:sp>
      <p:sp>
        <p:nvSpPr>
          <p:cNvPr id="5" name="Text Box 4"/>
          <p:cNvSpPr txBox="1"/>
          <p:nvPr/>
        </p:nvSpPr>
        <p:spPr>
          <a:xfrm>
            <a:off x="996950" y="1616075"/>
            <a:ext cx="1040574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400"/>
              <a:t>Apply region growing on the following image with seed point as 6 and threshold value as 3.</a:t>
            </a:r>
          </a:p>
        </p:txBody>
      </p:sp>
      <p:sp>
        <p:nvSpPr>
          <p:cNvPr id="3" name="Text Box 2"/>
          <p:cNvSpPr txBox="1"/>
          <p:nvPr/>
        </p:nvSpPr>
        <p:spPr>
          <a:xfrm>
            <a:off x="8157845" y="3429000"/>
            <a:ext cx="22688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/>
              <a:t>Seed Value=6</a:t>
            </a:r>
          </a:p>
        </p:txBody>
      </p:sp>
      <p:sp>
        <p:nvSpPr>
          <p:cNvPr id="8" name="Text Box 7"/>
          <p:cNvSpPr txBox="1"/>
          <p:nvPr/>
        </p:nvSpPr>
        <p:spPr>
          <a:xfrm>
            <a:off x="8157845" y="4182110"/>
            <a:ext cx="22688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/>
              <a:t>T=3</a:t>
            </a:r>
          </a:p>
        </p:txBody>
      </p:sp>
      <p:sp>
        <p:nvSpPr>
          <p:cNvPr id="6" name="Text Box 5"/>
          <p:cNvSpPr txBox="1"/>
          <p:nvPr/>
        </p:nvSpPr>
        <p:spPr>
          <a:xfrm>
            <a:off x="8157845" y="4935220"/>
            <a:ext cx="226885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/>
              <a:t>8-Connectivity</a:t>
            </a:r>
          </a:p>
          <a:p>
            <a:pPr algn="ctr"/>
            <a:r>
              <a:rPr lang="en-US" sz="2400"/>
              <a:t>(By default)</a:t>
            </a:r>
          </a:p>
        </p:txBody>
      </p:sp>
      <p:graphicFrame>
        <p:nvGraphicFramePr>
          <p:cNvPr id="7" name="Table 6"/>
          <p:cNvGraphicFramePr/>
          <p:nvPr>
            <p:custDataLst>
              <p:tags r:id="rId1"/>
            </p:custDataLst>
          </p:nvPr>
        </p:nvGraphicFramePr>
        <p:xfrm>
          <a:off x="1838325" y="2940685"/>
          <a:ext cx="4269740" cy="3048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337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371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37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3371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3371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3371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3371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3371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1" name="Text Box 10"/>
          <p:cNvSpPr txBox="1"/>
          <p:nvPr/>
        </p:nvSpPr>
        <p:spPr>
          <a:xfrm>
            <a:off x="6443980" y="3808095"/>
            <a:ext cx="155829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/>
              <a:t>7-3=4</a:t>
            </a:r>
          </a:p>
        </p:txBody>
      </p:sp>
      <p:sp>
        <p:nvSpPr>
          <p:cNvPr id="12" name="Text Box 11"/>
          <p:cNvSpPr txBox="1"/>
          <p:nvPr/>
        </p:nvSpPr>
        <p:spPr>
          <a:xfrm>
            <a:off x="6443980" y="4561205"/>
            <a:ext cx="155829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/>
              <a:t>Range</a:t>
            </a:r>
          </a:p>
          <a:p>
            <a:pPr algn="ctr"/>
            <a:r>
              <a:rPr lang="en-US" sz="2400"/>
              <a:t>[4,7]</a:t>
            </a:r>
          </a:p>
        </p:txBody>
      </p:sp>
      <p:sp>
        <p:nvSpPr>
          <p:cNvPr id="9" name="Text Box 8"/>
          <p:cNvSpPr txBox="1"/>
          <p:nvPr/>
        </p:nvSpPr>
        <p:spPr>
          <a:xfrm>
            <a:off x="3481705" y="6200140"/>
            <a:ext cx="52279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rgbClr val="00B050"/>
                </a:solidFill>
                <a:sym typeface="+mn-ea"/>
              </a:rPr>
              <a:t>4 is in the Range [4-7]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8" grpId="0"/>
      <p:bldP spid="6" grpId="0"/>
      <p:bldP spid="11" grpId="0"/>
      <p:bldP spid="12" grpId="0"/>
      <p:bldP spid="9" grpId="0"/>
      <p:bldP spid="9" grpId="1"/>
    </p:bldLst>
  </p:timing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ym typeface="+mn-ea"/>
              </a:rPr>
              <a:t>Case 2: Seed value given</a:t>
            </a:r>
            <a:endParaRPr lang="en-US"/>
          </a:p>
        </p:txBody>
      </p:sp>
      <p:sp>
        <p:nvSpPr>
          <p:cNvPr id="5" name="Text Box 4"/>
          <p:cNvSpPr txBox="1"/>
          <p:nvPr/>
        </p:nvSpPr>
        <p:spPr>
          <a:xfrm>
            <a:off x="996950" y="1616075"/>
            <a:ext cx="1040574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400"/>
              <a:t>Apply region growing on the following image with seed point as 6 and threshold value as 3.</a:t>
            </a:r>
          </a:p>
        </p:txBody>
      </p:sp>
      <p:sp>
        <p:nvSpPr>
          <p:cNvPr id="3" name="Text Box 2"/>
          <p:cNvSpPr txBox="1"/>
          <p:nvPr/>
        </p:nvSpPr>
        <p:spPr>
          <a:xfrm>
            <a:off x="8157845" y="3429000"/>
            <a:ext cx="22688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/>
              <a:t>Seed Value=6</a:t>
            </a:r>
          </a:p>
        </p:txBody>
      </p:sp>
      <p:sp>
        <p:nvSpPr>
          <p:cNvPr id="8" name="Text Box 7"/>
          <p:cNvSpPr txBox="1"/>
          <p:nvPr/>
        </p:nvSpPr>
        <p:spPr>
          <a:xfrm>
            <a:off x="8157845" y="4182110"/>
            <a:ext cx="22688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/>
              <a:t>T=3</a:t>
            </a:r>
          </a:p>
        </p:txBody>
      </p:sp>
      <p:sp>
        <p:nvSpPr>
          <p:cNvPr id="6" name="Text Box 5"/>
          <p:cNvSpPr txBox="1"/>
          <p:nvPr/>
        </p:nvSpPr>
        <p:spPr>
          <a:xfrm>
            <a:off x="8157845" y="4935220"/>
            <a:ext cx="226885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/>
              <a:t>8-Connectivity</a:t>
            </a:r>
          </a:p>
          <a:p>
            <a:pPr algn="ctr"/>
            <a:r>
              <a:rPr lang="en-US" sz="2400"/>
              <a:t>(By default)</a:t>
            </a:r>
          </a:p>
        </p:txBody>
      </p:sp>
      <p:graphicFrame>
        <p:nvGraphicFramePr>
          <p:cNvPr id="7" name="Table 6"/>
          <p:cNvGraphicFramePr/>
          <p:nvPr>
            <p:custDataLst>
              <p:tags r:id="rId1"/>
            </p:custDataLst>
          </p:nvPr>
        </p:nvGraphicFramePr>
        <p:xfrm>
          <a:off x="1838325" y="2940685"/>
          <a:ext cx="4269740" cy="3048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337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371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37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3371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3371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3371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3371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3371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1" name="Text Box 10"/>
          <p:cNvSpPr txBox="1"/>
          <p:nvPr/>
        </p:nvSpPr>
        <p:spPr>
          <a:xfrm>
            <a:off x="6443980" y="3808095"/>
            <a:ext cx="155829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/>
              <a:t>7-3=4</a:t>
            </a:r>
          </a:p>
        </p:txBody>
      </p:sp>
      <p:sp>
        <p:nvSpPr>
          <p:cNvPr id="12" name="Text Box 11"/>
          <p:cNvSpPr txBox="1"/>
          <p:nvPr/>
        </p:nvSpPr>
        <p:spPr>
          <a:xfrm>
            <a:off x="6443980" y="4561205"/>
            <a:ext cx="155829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/>
              <a:t>Range</a:t>
            </a:r>
          </a:p>
          <a:p>
            <a:pPr algn="ctr"/>
            <a:r>
              <a:rPr lang="en-US" sz="2400"/>
              <a:t>[4,7]</a:t>
            </a:r>
          </a:p>
        </p:txBody>
      </p:sp>
      <p:sp>
        <p:nvSpPr>
          <p:cNvPr id="9" name="Text Box 8"/>
          <p:cNvSpPr txBox="1"/>
          <p:nvPr/>
        </p:nvSpPr>
        <p:spPr>
          <a:xfrm>
            <a:off x="3481705" y="6200140"/>
            <a:ext cx="52279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rgbClr val="00B050"/>
                </a:solidFill>
                <a:sym typeface="+mn-ea"/>
              </a:rPr>
              <a:t>4 is in the Range [4-7]</a:t>
            </a:r>
            <a:endParaRPr lang="en-US" sz="2400">
              <a:solidFill>
                <a:srgbClr val="FF0000"/>
              </a:solidFill>
              <a:sym typeface="+mn-ea"/>
            </a:endParaRPr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ym typeface="+mn-ea"/>
              </a:rPr>
              <a:t>Case 2: Seed value given</a:t>
            </a:r>
            <a:endParaRPr lang="en-US"/>
          </a:p>
        </p:txBody>
      </p:sp>
      <p:sp>
        <p:nvSpPr>
          <p:cNvPr id="5" name="Text Box 4"/>
          <p:cNvSpPr txBox="1"/>
          <p:nvPr/>
        </p:nvSpPr>
        <p:spPr>
          <a:xfrm>
            <a:off x="996950" y="1616075"/>
            <a:ext cx="1040574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400"/>
              <a:t>Apply region growing on the following image with seed point as 6 and threshold value as 3.</a:t>
            </a:r>
          </a:p>
        </p:txBody>
      </p:sp>
      <p:sp>
        <p:nvSpPr>
          <p:cNvPr id="3" name="Text Box 2"/>
          <p:cNvSpPr txBox="1"/>
          <p:nvPr/>
        </p:nvSpPr>
        <p:spPr>
          <a:xfrm>
            <a:off x="8157845" y="3429000"/>
            <a:ext cx="22688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/>
              <a:t>Seed Value=6</a:t>
            </a:r>
          </a:p>
        </p:txBody>
      </p:sp>
      <p:sp>
        <p:nvSpPr>
          <p:cNvPr id="8" name="Text Box 7"/>
          <p:cNvSpPr txBox="1"/>
          <p:nvPr/>
        </p:nvSpPr>
        <p:spPr>
          <a:xfrm>
            <a:off x="8157845" y="4182110"/>
            <a:ext cx="22688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/>
              <a:t>T=3</a:t>
            </a:r>
          </a:p>
        </p:txBody>
      </p:sp>
      <p:sp>
        <p:nvSpPr>
          <p:cNvPr id="6" name="Text Box 5"/>
          <p:cNvSpPr txBox="1"/>
          <p:nvPr/>
        </p:nvSpPr>
        <p:spPr>
          <a:xfrm>
            <a:off x="8157845" y="4935220"/>
            <a:ext cx="226885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/>
              <a:t>8-Connectivity</a:t>
            </a:r>
          </a:p>
          <a:p>
            <a:pPr algn="ctr"/>
            <a:r>
              <a:rPr lang="en-US" sz="2400"/>
              <a:t>(By default)</a:t>
            </a:r>
          </a:p>
        </p:txBody>
      </p:sp>
      <p:graphicFrame>
        <p:nvGraphicFramePr>
          <p:cNvPr id="7" name="Table 6"/>
          <p:cNvGraphicFramePr/>
          <p:nvPr>
            <p:custDataLst>
              <p:tags r:id="rId1"/>
            </p:custDataLst>
          </p:nvPr>
        </p:nvGraphicFramePr>
        <p:xfrm>
          <a:off x="1838325" y="2940685"/>
          <a:ext cx="4269740" cy="3048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337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371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37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3371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3371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3371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3371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3371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1" name="Text Box 10"/>
          <p:cNvSpPr txBox="1"/>
          <p:nvPr/>
        </p:nvSpPr>
        <p:spPr>
          <a:xfrm>
            <a:off x="6443980" y="3808095"/>
            <a:ext cx="155829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/>
              <a:t>7-3=4</a:t>
            </a:r>
          </a:p>
        </p:txBody>
      </p:sp>
      <p:sp>
        <p:nvSpPr>
          <p:cNvPr id="12" name="Text Box 11"/>
          <p:cNvSpPr txBox="1"/>
          <p:nvPr/>
        </p:nvSpPr>
        <p:spPr>
          <a:xfrm>
            <a:off x="6443980" y="4561205"/>
            <a:ext cx="155829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/>
              <a:t>Range</a:t>
            </a:r>
          </a:p>
          <a:p>
            <a:pPr algn="ctr"/>
            <a:r>
              <a:rPr lang="en-US" sz="2400"/>
              <a:t>[4,7]</a:t>
            </a:r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ym typeface="+mn-ea"/>
              </a:rPr>
              <a:t>Case 2: Seed value given</a:t>
            </a:r>
            <a:endParaRPr lang="en-US"/>
          </a:p>
        </p:txBody>
      </p:sp>
      <p:sp>
        <p:nvSpPr>
          <p:cNvPr id="5" name="Text Box 4"/>
          <p:cNvSpPr txBox="1"/>
          <p:nvPr/>
        </p:nvSpPr>
        <p:spPr>
          <a:xfrm>
            <a:off x="996950" y="1616075"/>
            <a:ext cx="1040574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400"/>
              <a:t>Apply region growing on the following image with seed point as 6 and threshold value as 3.</a:t>
            </a:r>
          </a:p>
        </p:txBody>
      </p:sp>
      <p:sp>
        <p:nvSpPr>
          <p:cNvPr id="3" name="Text Box 2"/>
          <p:cNvSpPr txBox="1"/>
          <p:nvPr/>
        </p:nvSpPr>
        <p:spPr>
          <a:xfrm>
            <a:off x="8157845" y="3429000"/>
            <a:ext cx="22688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/>
              <a:t>Seed Value=6</a:t>
            </a:r>
          </a:p>
        </p:txBody>
      </p:sp>
      <p:sp>
        <p:nvSpPr>
          <p:cNvPr id="8" name="Text Box 7"/>
          <p:cNvSpPr txBox="1"/>
          <p:nvPr/>
        </p:nvSpPr>
        <p:spPr>
          <a:xfrm>
            <a:off x="8157845" y="4182110"/>
            <a:ext cx="22688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/>
              <a:t>T=3</a:t>
            </a:r>
          </a:p>
        </p:txBody>
      </p:sp>
      <p:sp>
        <p:nvSpPr>
          <p:cNvPr id="6" name="Text Box 5"/>
          <p:cNvSpPr txBox="1"/>
          <p:nvPr/>
        </p:nvSpPr>
        <p:spPr>
          <a:xfrm>
            <a:off x="8157845" y="4935220"/>
            <a:ext cx="226885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/>
              <a:t>8-Connectivity</a:t>
            </a:r>
          </a:p>
          <a:p>
            <a:pPr algn="ctr"/>
            <a:r>
              <a:rPr lang="en-US" sz="2400"/>
              <a:t>(By default)</a:t>
            </a:r>
          </a:p>
        </p:txBody>
      </p:sp>
      <p:graphicFrame>
        <p:nvGraphicFramePr>
          <p:cNvPr id="7" name="Table 6"/>
          <p:cNvGraphicFramePr/>
          <p:nvPr>
            <p:custDataLst>
              <p:tags r:id="rId1"/>
            </p:custDataLst>
          </p:nvPr>
        </p:nvGraphicFramePr>
        <p:xfrm>
          <a:off x="1838325" y="2940685"/>
          <a:ext cx="4269740" cy="3048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337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371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37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3371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3371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3371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3371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3371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1" name="Text Box 10"/>
          <p:cNvSpPr txBox="1"/>
          <p:nvPr/>
        </p:nvSpPr>
        <p:spPr>
          <a:xfrm>
            <a:off x="6443980" y="3808095"/>
            <a:ext cx="155829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/>
              <a:t>7-3=4</a:t>
            </a:r>
          </a:p>
        </p:txBody>
      </p:sp>
      <p:sp>
        <p:nvSpPr>
          <p:cNvPr id="12" name="Text Box 11"/>
          <p:cNvSpPr txBox="1"/>
          <p:nvPr/>
        </p:nvSpPr>
        <p:spPr>
          <a:xfrm>
            <a:off x="6443980" y="4561205"/>
            <a:ext cx="155829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/>
              <a:t>Range</a:t>
            </a:r>
          </a:p>
          <a:p>
            <a:pPr algn="ctr"/>
            <a:r>
              <a:rPr lang="en-US" sz="2400"/>
              <a:t>[4,7]</a:t>
            </a:r>
          </a:p>
        </p:txBody>
      </p:sp>
      <p:sp>
        <p:nvSpPr>
          <p:cNvPr id="9" name="Text Box 8"/>
          <p:cNvSpPr txBox="1"/>
          <p:nvPr/>
        </p:nvSpPr>
        <p:spPr>
          <a:xfrm>
            <a:off x="3481705" y="6200140"/>
            <a:ext cx="52279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rgbClr val="FF0000"/>
                </a:solidFill>
                <a:sym typeface="+mn-ea"/>
              </a:rPr>
              <a:t>3 is not in the Range [4-7]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8" grpId="0"/>
      <p:bldP spid="6" grpId="0"/>
      <p:bldP spid="11" grpId="0"/>
      <p:bldP spid="12" grpId="0"/>
      <p:bldP spid="9" grpId="0"/>
      <p:bldP spid="9" grpId="1"/>
    </p:bldLst>
  </p:timing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ym typeface="+mn-ea"/>
              </a:rPr>
              <a:t>Case 2: Seed value given</a:t>
            </a:r>
            <a:endParaRPr lang="en-US"/>
          </a:p>
        </p:txBody>
      </p:sp>
      <p:sp>
        <p:nvSpPr>
          <p:cNvPr id="5" name="Text Box 4"/>
          <p:cNvSpPr txBox="1"/>
          <p:nvPr/>
        </p:nvSpPr>
        <p:spPr>
          <a:xfrm>
            <a:off x="996950" y="1616075"/>
            <a:ext cx="1040574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400"/>
              <a:t>Apply region growing on the following image with seed point as 6 and threshold value as 3.</a:t>
            </a:r>
          </a:p>
        </p:txBody>
      </p:sp>
      <p:sp>
        <p:nvSpPr>
          <p:cNvPr id="3" name="Text Box 2"/>
          <p:cNvSpPr txBox="1"/>
          <p:nvPr/>
        </p:nvSpPr>
        <p:spPr>
          <a:xfrm>
            <a:off x="8157845" y="3429000"/>
            <a:ext cx="22688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/>
              <a:t>Seed Value=6</a:t>
            </a:r>
          </a:p>
        </p:txBody>
      </p:sp>
      <p:sp>
        <p:nvSpPr>
          <p:cNvPr id="8" name="Text Box 7"/>
          <p:cNvSpPr txBox="1"/>
          <p:nvPr/>
        </p:nvSpPr>
        <p:spPr>
          <a:xfrm>
            <a:off x="8157845" y="4182110"/>
            <a:ext cx="22688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/>
              <a:t>T=3</a:t>
            </a:r>
          </a:p>
        </p:txBody>
      </p:sp>
      <p:sp>
        <p:nvSpPr>
          <p:cNvPr id="6" name="Text Box 5"/>
          <p:cNvSpPr txBox="1"/>
          <p:nvPr/>
        </p:nvSpPr>
        <p:spPr>
          <a:xfrm>
            <a:off x="8157845" y="4935220"/>
            <a:ext cx="226885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/>
              <a:t>8-Connectivity</a:t>
            </a:r>
          </a:p>
          <a:p>
            <a:pPr algn="ctr"/>
            <a:r>
              <a:rPr lang="en-US" sz="2400"/>
              <a:t>(By default)</a:t>
            </a:r>
          </a:p>
        </p:txBody>
      </p:sp>
      <p:graphicFrame>
        <p:nvGraphicFramePr>
          <p:cNvPr id="7" name="Table 6"/>
          <p:cNvGraphicFramePr/>
          <p:nvPr>
            <p:custDataLst>
              <p:tags r:id="rId1"/>
            </p:custDataLst>
          </p:nvPr>
        </p:nvGraphicFramePr>
        <p:xfrm>
          <a:off x="1838325" y="2940685"/>
          <a:ext cx="4269740" cy="3048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337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371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37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3371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3371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3371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3371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3371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1" name="Text Box 10"/>
          <p:cNvSpPr txBox="1"/>
          <p:nvPr/>
        </p:nvSpPr>
        <p:spPr>
          <a:xfrm>
            <a:off x="6443980" y="3808095"/>
            <a:ext cx="155829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/>
              <a:t>7-3=4</a:t>
            </a:r>
          </a:p>
        </p:txBody>
      </p:sp>
      <p:sp>
        <p:nvSpPr>
          <p:cNvPr id="12" name="Text Box 11"/>
          <p:cNvSpPr txBox="1"/>
          <p:nvPr/>
        </p:nvSpPr>
        <p:spPr>
          <a:xfrm>
            <a:off x="6443980" y="4561205"/>
            <a:ext cx="155829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/>
              <a:t>Range</a:t>
            </a:r>
          </a:p>
          <a:p>
            <a:pPr algn="ctr"/>
            <a:r>
              <a:rPr lang="en-US" sz="2400"/>
              <a:t>[4,7]</a:t>
            </a:r>
          </a:p>
        </p:txBody>
      </p:sp>
      <p:sp>
        <p:nvSpPr>
          <p:cNvPr id="9" name="Text Box 8"/>
          <p:cNvSpPr txBox="1"/>
          <p:nvPr/>
        </p:nvSpPr>
        <p:spPr>
          <a:xfrm>
            <a:off x="3481705" y="6200140"/>
            <a:ext cx="52279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rgbClr val="FF0000"/>
                </a:solidFill>
                <a:sym typeface="+mn-ea"/>
              </a:rPr>
              <a:t>3 is not in the Range [4-7]</a:t>
            </a:r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ym typeface="+mn-ea"/>
              </a:rPr>
              <a:t>Case 2: Seed value given</a:t>
            </a:r>
            <a:endParaRPr lang="en-US"/>
          </a:p>
        </p:txBody>
      </p:sp>
      <p:sp>
        <p:nvSpPr>
          <p:cNvPr id="5" name="Text Box 4"/>
          <p:cNvSpPr txBox="1"/>
          <p:nvPr/>
        </p:nvSpPr>
        <p:spPr>
          <a:xfrm>
            <a:off x="996950" y="1616075"/>
            <a:ext cx="1040574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400"/>
              <a:t>Apply region growing on the following image with seed point as 6 and threshold value as 3.</a:t>
            </a:r>
          </a:p>
        </p:txBody>
      </p:sp>
      <p:graphicFrame>
        <p:nvGraphicFramePr>
          <p:cNvPr id="3" name="Table 2"/>
          <p:cNvGraphicFramePr/>
          <p:nvPr>
            <p:custDataLst>
              <p:tags r:id="rId1"/>
            </p:custDataLst>
          </p:nvPr>
        </p:nvGraphicFramePr>
        <p:xfrm>
          <a:off x="1838325" y="2940685"/>
          <a:ext cx="4269740" cy="3048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337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371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37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3371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3371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3371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3371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3371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anchor="ctr"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anchor="ctr"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anchor="ctr"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anchor="ctr"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anchor="ctr"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anchor="ctr"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anchor="ctr"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anchor="ctr">
                    <a:solidFill>
                      <a:srgbClr val="7030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anchor="ctr"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anchor="ctr"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anchor="ctr"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anchor="ctr"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anchor="ctr"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anchor="ctr"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anchor="ctr"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anchor="ctr">
                    <a:solidFill>
                      <a:srgbClr val="7030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anchor="ctr"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anchor="ctr"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anchor="ctr"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anchor="ctr"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anchor="ctr"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anchor="ctr">
                    <a:solidFill>
                      <a:srgbClr val="7030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anchor="ctr"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anchor="ctr"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anchor="ctr"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>
                          <a:solidFill>
                            <a:schemeClr val="bg1"/>
                          </a:solidFill>
                          <a:sym typeface="+mn-ea"/>
                        </a:rPr>
                        <a:t>1</a:t>
                      </a:r>
                      <a:endParaRPr lang="en-US"/>
                    </a:p>
                  </a:txBody>
                  <a:tcPr anchor="ctr"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anchor="ctr"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anchor="ctr">
                    <a:solidFill>
                      <a:srgbClr val="7030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anchor="ctr"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anchor="ctr">
                    <a:solidFill>
                      <a:srgbClr val="7030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anchor="ctr"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anchor="ctr">
                    <a:solidFill>
                      <a:srgbClr val="7030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anchor="ctr"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anchor="ctr">
                    <a:solidFill>
                      <a:srgbClr val="7030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anchor="ctr"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anchor="ctr">
                    <a:solidFill>
                      <a:srgbClr val="7030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20" name="Text Box 19"/>
          <p:cNvSpPr txBox="1"/>
          <p:nvPr/>
        </p:nvSpPr>
        <p:spPr>
          <a:xfrm>
            <a:off x="8041005" y="3960495"/>
            <a:ext cx="22688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/>
              <a:t>Result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20" grpId="1"/>
    </p:bldLst>
  </p:timing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Multiple Segments</a:t>
            </a:r>
          </a:p>
        </p:txBody>
      </p:sp>
      <p:graphicFrame>
        <p:nvGraphicFramePr>
          <p:cNvPr id="4" name="Table 3"/>
          <p:cNvGraphicFramePr/>
          <p:nvPr>
            <p:custDataLst>
              <p:tags r:id="rId1"/>
            </p:custDataLst>
          </p:nvPr>
        </p:nvGraphicFramePr>
        <p:xfrm>
          <a:off x="1838325" y="3588385"/>
          <a:ext cx="4269740" cy="3048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337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371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37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3371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3371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 Box 4"/>
          <p:cNvSpPr txBox="1"/>
          <p:nvPr/>
        </p:nvSpPr>
        <p:spPr>
          <a:xfrm>
            <a:off x="996950" y="1616075"/>
            <a:ext cx="10405745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400"/>
              <a:t>Consider a 3-bit image given below. Assuming seed value of 6, segment the following image using 8-connectivity and threshold=3. How many segments are identified?</a:t>
            </a:r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Multiple Segments</a:t>
            </a:r>
          </a:p>
        </p:txBody>
      </p:sp>
      <p:graphicFrame>
        <p:nvGraphicFramePr>
          <p:cNvPr id="4" name="Table 3"/>
          <p:cNvGraphicFramePr/>
          <p:nvPr>
            <p:custDataLst>
              <p:tags r:id="rId1"/>
            </p:custDataLst>
          </p:nvPr>
        </p:nvGraphicFramePr>
        <p:xfrm>
          <a:off x="1838325" y="3588385"/>
          <a:ext cx="4269740" cy="3048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337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371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37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3371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3371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 Box 4"/>
          <p:cNvSpPr txBox="1"/>
          <p:nvPr/>
        </p:nvSpPr>
        <p:spPr>
          <a:xfrm>
            <a:off x="996950" y="1616075"/>
            <a:ext cx="10405745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400"/>
              <a:t>Consider a 3-bit image given below. Assuming seed value of 6, segment the following image using 8-connectivity and threshold=3. How many segments are identified?</a:t>
            </a:r>
          </a:p>
        </p:txBody>
      </p:sp>
      <p:sp>
        <p:nvSpPr>
          <p:cNvPr id="3" name="Text Box 2"/>
          <p:cNvSpPr txBox="1"/>
          <p:nvPr/>
        </p:nvSpPr>
        <p:spPr>
          <a:xfrm>
            <a:off x="8157845" y="3429000"/>
            <a:ext cx="22688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/>
              <a:t>Seed Value=6</a:t>
            </a:r>
          </a:p>
        </p:txBody>
      </p:sp>
      <p:sp>
        <p:nvSpPr>
          <p:cNvPr id="8" name="Text Box 7"/>
          <p:cNvSpPr txBox="1"/>
          <p:nvPr/>
        </p:nvSpPr>
        <p:spPr>
          <a:xfrm>
            <a:off x="8157845" y="4182110"/>
            <a:ext cx="22688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/>
              <a:t>T=3</a:t>
            </a:r>
          </a:p>
        </p:txBody>
      </p:sp>
      <p:sp>
        <p:nvSpPr>
          <p:cNvPr id="6" name="Text Box 5"/>
          <p:cNvSpPr txBox="1"/>
          <p:nvPr/>
        </p:nvSpPr>
        <p:spPr>
          <a:xfrm>
            <a:off x="8157845" y="4935220"/>
            <a:ext cx="22688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/>
              <a:t>8-Connectivity</a:t>
            </a:r>
          </a:p>
        </p:txBody>
      </p:sp>
      <p:sp>
        <p:nvSpPr>
          <p:cNvPr id="9" name="Text Box 8"/>
          <p:cNvSpPr txBox="1"/>
          <p:nvPr/>
        </p:nvSpPr>
        <p:spPr>
          <a:xfrm>
            <a:off x="3481705" y="6200140"/>
            <a:ext cx="52279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/>
              <a:t>Condition -&gt; Absolute Value &lt;= 3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8" grpId="0"/>
      <p:bldP spid="8" grpId="1"/>
      <p:bldP spid="6" grpId="0"/>
      <p:bldP spid="6" grpId="1"/>
      <p:bldP spid="9" grpId="0"/>
      <p:bldP spid="9" grpId="1"/>
    </p:bldLst>
  </p:timing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Multiple Segments</a:t>
            </a:r>
          </a:p>
        </p:txBody>
      </p:sp>
      <p:graphicFrame>
        <p:nvGraphicFramePr>
          <p:cNvPr id="4" name="Table 3"/>
          <p:cNvGraphicFramePr/>
          <p:nvPr>
            <p:custDataLst>
              <p:tags r:id="rId1"/>
            </p:custDataLst>
          </p:nvPr>
        </p:nvGraphicFramePr>
        <p:xfrm>
          <a:off x="1838325" y="3588385"/>
          <a:ext cx="4269740" cy="3048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337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371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37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3371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3371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 Box 4"/>
          <p:cNvSpPr txBox="1"/>
          <p:nvPr/>
        </p:nvSpPr>
        <p:spPr>
          <a:xfrm>
            <a:off x="996950" y="1616075"/>
            <a:ext cx="10405745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400"/>
              <a:t>Consider a 3-bit image given below. Assuming seed value of 6, segment the following image using 8-connectivity and threshold=3. How many segments are identified?</a:t>
            </a:r>
          </a:p>
        </p:txBody>
      </p:sp>
      <p:sp>
        <p:nvSpPr>
          <p:cNvPr id="3" name="Text Box 2"/>
          <p:cNvSpPr txBox="1"/>
          <p:nvPr/>
        </p:nvSpPr>
        <p:spPr>
          <a:xfrm>
            <a:off x="8157845" y="3429000"/>
            <a:ext cx="22688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/>
              <a:t>Seed Value=6</a:t>
            </a:r>
          </a:p>
        </p:txBody>
      </p:sp>
      <p:sp>
        <p:nvSpPr>
          <p:cNvPr id="8" name="Text Box 7"/>
          <p:cNvSpPr txBox="1"/>
          <p:nvPr/>
        </p:nvSpPr>
        <p:spPr>
          <a:xfrm>
            <a:off x="8157845" y="4182110"/>
            <a:ext cx="22688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/>
              <a:t>T=3</a:t>
            </a:r>
          </a:p>
        </p:txBody>
      </p:sp>
      <p:sp>
        <p:nvSpPr>
          <p:cNvPr id="6" name="Text Box 5"/>
          <p:cNvSpPr txBox="1"/>
          <p:nvPr/>
        </p:nvSpPr>
        <p:spPr>
          <a:xfrm>
            <a:off x="8157845" y="4935220"/>
            <a:ext cx="22688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/>
              <a:t>8-Connectivity</a:t>
            </a:r>
          </a:p>
        </p:txBody>
      </p:sp>
      <p:sp>
        <p:nvSpPr>
          <p:cNvPr id="9" name="Text Box 8"/>
          <p:cNvSpPr txBox="1"/>
          <p:nvPr/>
        </p:nvSpPr>
        <p:spPr>
          <a:xfrm>
            <a:off x="3481705" y="6200140"/>
            <a:ext cx="52279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/>
              <a:t>Condition -&gt; Absolute Value &lt;= 3</a:t>
            </a:r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Multiple Segments</a:t>
            </a:r>
          </a:p>
        </p:txBody>
      </p:sp>
      <p:graphicFrame>
        <p:nvGraphicFramePr>
          <p:cNvPr id="4" name="Table 3"/>
          <p:cNvGraphicFramePr/>
          <p:nvPr>
            <p:custDataLst>
              <p:tags r:id="rId1"/>
            </p:custDataLst>
          </p:nvPr>
        </p:nvGraphicFramePr>
        <p:xfrm>
          <a:off x="1838325" y="3588385"/>
          <a:ext cx="4269740" cy="3048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337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371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37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3371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3371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 Box 4"/>
          <p:cNvSpPr txBox="1"/>
          <p:nvPr/>
        </p:nvSpPr>
        <p:spPr>
          <a:xfrm>
            <a:off x="996950" y="1616075"/>
            <a:ext cx="10405745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400"/>
              <a:t>Consider a 3-bit image given below. Assuming seed value of 6, segment the following image using 8-connectivity and threshold=3. How many segments are identified?</a:t>
            </a:r>
          </a:p>
        </p:txBody>
      </p:sp>
      <p:sp>
        <p:nvSpPr>
          <p:cNvPr id="3" name="Text Box 2"/>
          <p:cNvSpPr txBox="1"/>
          <p:nvPr/>
        </p:nvSpPr>
        <p:spPr>
          <a:xfrm>
            <a:off x="8157845" y="3429000"/>
            <a:ext cx="22688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/>
              <a:t>Seed Value=6</a:t>
            </a:r>
          </a:p>
        </p:txBody>
      </p:sp>
      <p:sp>
        <p:nvSpPr>
          <p:cNvPr id="8" name="Text Box 7"/>
          <p:cNvSpPr txBox="1"/>
          <p:nvPr/>
        </p:nvSpPr>
        <p:spPr>
          <a:xfrm>
            <a:off x="8157845" y="4182110"/>
            <a:ext cx="22688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/>
              <a:t>T=3</a:t>
            </a:r>
          </a:p>
        </p:txBody>
      </p:sp>
      <p:sp>
        <p:nvSpPr>
          <p:cNvPr id="6" name="Text Box 5"/>
          <p:cNvSpPr txBox="1"/>
          <p:nvPr/>
        </p:nvSpPr>
        <p:spPr>
          <a:xfrm>
            <a:off x="8157845" y="4935220"/>
            <a:ext cx="22688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/>
              <a:t>8-Connectivity</a:t>
            </a:r>
          </a:p>
        </p:txBody>
      </p:sp>
      <p:sp>
        <p:nvSpPr>
          <p:cNvPr id="9" name="Text Box 8"/>
          <p:cNvSpPr txBox="1"/>
          <p:nvPr/>
        </p:nvSpPr>
        <p:spPr>
          <a:xfrm>
            <a:off x="3481705" y="6200140"/>
            <a:ext cx="52279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/>
              <a:t>Condition -&gt; Absolute Value &lt;= 3</a:t>
            </a:r>
          </a:p>
        </p:txBody>
      </p:sp>
      <p:sp>
        <p:nvSpPr>
          <p:cNvPr id="10" name="Text Box 9"/>
          <p:cNvSpPr txBox="1"/>
          <p:nvPr/>
        </p:nvSpPr>
        <p:spPr>
          <a:xfrm>
            <a:off x="5680710" y="3715385"/>
            <a:ext cx="155829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/>
              <a:t>7-3=4</a:t>
            </a:r>
          </a:p>
        </p:txBody>
      </p:sp>
      <p:sp>
        <p:nvSpPr>
          <p:cNvPr id="11" name="Text Box 10"/>
          <p:cNvSpPr txBox="1"/>
          <p:nvPr/>
        </p:nvSpPr>
        <p:spPr>
          <a:xfrm>
            <a:off x="5680710" y="4468495"/>
            <a:ext cx="155829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/>
              <a:t>Range</a:t>
            </a:r>
          </a:p>
          <a:p>
            <a:pPr algn="ctr"/>
            <a:r>
              <a:rPr lang="en-US" sz="2400"/>
              <a:t>[4,7]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8" grpId="0"/>
      <p:bldP spid="6" grpId="0"/>
      <p:bldP spid="9" grpId="0"/>
      <p:bldP spid="10" grpId="0"/>
      <p:bldP spid="10" grpId="1"/>
      <p:bldP spid="11" grpId="0"/>
      <p:bldP spid="11" grpId="1"/>
    </p:bldLst>
  </p:timing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Multiple Segments</a:t>
            </a:r>
          </a:p>
        </p:txBody>
      </p:sp>
      <p:graphicFrame>
        <p:nvGraphicFramePr>
          <p:cNvPr id="4" name="Table 3"/>
          <p:cNvGraphicFramePr/>
          <p:nvPr>
            <p:custDataLst>
              <p:tags r:id="rId1"/>
            </p:custDataLst>
          </p:nvPr>
        </p:nvGraphicFramePr>
        <p:xfrm>
          <a:off x="1838325" y="3588385"/>
          <a:ext cx="4269740" cy="3048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337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371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37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3371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3371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 Box 4"/>
          <p:cNvSpPr txBox="1"/>
          <p:nvPr/>
        </p:nvSpPr>
        <p:spPr>
          <a:xfrm>
            <a:off x="996950" y="1616075"/>
            <a:ext cx="10405745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400"/>
              <a:t>Consider a 3-bit image given below. Assuming seed value of 6, segment the following image using 8-connectivity and threshold=3. How many segments are identified?</a:t>
            </a:r>
          </a:p>
        </p:txBody>
      </p:sp>
      <p:sp>
        <p:nvSpPr>
          <p:cNvPr id="3" name="Text Box 2"/>
          <p:cNvSpPr txBox="1"/>
          <p:nvPr/>
        </p:nvSpPr>
        <p:spPr>
          <a:xfrm>
            <a:off x="8157845" y="3429000"/>
            <a:ext cx="22688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/>
              <a:t>Seed Value=6</a:t>
            </a:r>
          </a:p>
        </p:txBody>
      </p:sp>
      <p:sp>
        <p:nvSpPr>
          <p:cNvPr id="8" name="Text Box 7"/>
          <p:cNvSpPr txBox="1"/>
          <p:nvPr/>
        </p:nvSpPr>
        <p:spPr>
          <a:xfrm>
            <a:off x="8157845" y="4182110"/>
            <a:ext cx="22688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/>
              <a:t>T=3</a:t>
            </a:r>
          </a:p>
        </p:txBody>
      </p:sp>
      <p:sp>
        <p:nvSpPr>
          <p:cNvPr id="6" name="Text Box 5"/>
          <p:cNvSpPr txBox="1"/>
          <p:nvPr/>
        </p:nvSpPr>
        <p:spPr>
          <a:xfrm>
            <a:off x="8157845" y="4935220"/>
            <a:ext cx="22688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/>
              <a:t>8-Connectivity</a:t>
            </a:r>
          </a:p>
        </p:txBody>
      </p:sp>
      <p:sp>
        <p:nvSpPr>
          <p:cNvPr id="9" name="Text Box 8"/>
          <p:cNvSpPr txBox="1"/>
          <p:nvPr/>
        </p:nvSpPr>
        <p:spPr>
          <a:xfrm>
            <a:off x="3481705" y="6200140"/>
            <a:ext cx="52279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rgbClr val="FF0000"/>
                </a:solidFill>
              </a:rPr>
              <a:t>Eliminate those with out of Range [4, 7]</a:t>
            </a:r>
          </a:p>
        </p:txBody>
      </p:sp>
      <p:sp>
        <p:nvSpPr>
          <p:cNvPr id="10" name="Text Box 9"/>
          <p:cNvSpPr txBox="1"/>
          <p:nvPr/>
        </p:nvSpPr>
        <p:spPr>
          <a:xfrm>
            <a:off x="5680710" y="3715385"/>
            <a:ext cx="155829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/>
              <a:t>7-3=4</a:t>
            </a:r>
          </a:p>
        </p:txBody>
      </p:sp>
      <p:sp>
        <p:nvSpPr>
          <p:cNvPr id="11" name="Text Box 10"/>
          <p:cNvSpPr txBox="1"/>
          <p:nvPr/>
        </p:nvSpPr>
        <p:spPr>
          <a:xfrm>
            <a:off x="5680710" y="4468495"/>
            <a:ext cx="155829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/>
              <a:t>Range</a:t>
            </a:r>
          </a:p>
          <a:p>
            <a:pPr algn="ctr"/>
            <a:r>
              <a:rPr lang="en-US" sz="2400"/>
              <a:t>[4,7]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8" grpId="0"/>
      <p:bldP spid="6" grpId="0"/>
      <p:bldP spid="9" grpId="0"/>
      <p:bldP spid="9" grpId="1"/>
      <p:bldP spid="10" grpId="0"/>
      <p:bldP spid="11" grpId="0"/>
    </p:bldLst>
  </p:timing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Multiple Segments</a:t>
            </a:r>
          </a:p>
        </p:txBody>
      </p:sp>
      <p:graphicFrame>
        <p:nvGraphicFramePr>
          <p:cNvPr id="4" name="Table 3"/>
          <p:cNvGraphicFramePr/>
          <p:nvPr>
            <p:custDataLst>
              <p:tags r:id="rId1"/>
            </p:custDataLst>
          </p:nvPr>
        </p:nvGraphicFramePr>
        <p:xfrm>
          <a:off x="1838325" y="3588385"/>
          <a:ext cx="4269740" cy="3048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337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371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37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3371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3371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 Box 4"/>
          <p:cNvSpPr txBox="1"/>
          <p:nvPr/>
        </p:nvSpPr>
        <p:spPr>
          <a:xfrm>
            <a:off x="996950" y="1616075"/>
            <a:ext cx="10405745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400"/>
              <a:t>Consider a 3-bit image given below. Assuming seed value of 6, segment the following image using 8-connectivity and threshold=3. How many segments are identified?</a:t>
            </a:r>
          </a:p>
        </p:txBody>
      </p:sp>
      <p:sp>
        <p:nvSpPr>
          <p:cNvPr id="3" name="Text Box 2"/>
          <p:cNvSpPr txBox="1"/>
          <p:nvPr/>
        </p:nvSpPr>
        <p:spPr>
          <a:xfrm>
            <a:off x="8157845" y="3429000"/>
            <a:ext cx="22688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/>
              <a:t>Seed Value=6</a:t>
            </a:r>
          </a:p>
        </p:txBody>
      </p:sp>
      <p:sp>
        <p:nvSpPr>
          <p:cNvPr id="8" name="Text Box 7"/>
          <p:cNvSpPr txBox="1"/>
          <p:nvPr/>
        </p:nvSpPr>
        <p:spPr>
          <a:xfrm>
            <a:off x="8157845" y="4182110"/>
            <a:ext cx="22688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/>
              <a:t>T=3</a:t>
            </a:r>
          </a:p>
        </p:txBody>
      </p:sp>
      <p:sp>
        <p:nvSpPr>
          <p:cNvPr id="6" name="Text Box 5"/>
          <p:cNvSpPr txBox="1"/>
          <p:nvPr/>
        </p:nvSpPr>
        <p:spPr>
          <a:xfrm>
            <a:off x="8157845" y="4935220"/>
            <a:ext cx="22688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/>
              <a:t>8-Connectivity</a:t>
            </a:r>
          </a:p>
        </p:txBody>
      </p:sp>
      <p:sp>
        <p:nvSpPr>
          <p:cNvPr id="9" name="Text Box 8"/>
          <p:cNvSpPr txBox="1"/>
          <p:nvPr/>
        </p:nvSpPr>
        <p:spPr>
          <a:xfrm>
            <a:off x="3481705" y="6200140"/>
            <a:ext cx="52279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rgbClr val="FF0000"/>
                </a:solidFill>
              </a:rPr>
              <a:t>Eliminate those with out of Range [4, 7]</a:t>
            </a:r>
          </a:p>
        </p:txBody>
      </p:sp>
      <p:sp>
        <p:nvSpPr>
          <p:cNvPr id="10" name="Text Box 9"/>
          <p:cNvSpPr txBox="1"/>
          <p:nvPr/>
        </p:nvSpPr>
        <p:spPr>
          <a:xfrm>
            <a:off x="5680710" y="3715385"/>
            <a:ext cx="155829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/>
              <a:t>7-3=4</a:t>
            </a:r>
          </a:p>
        </p:txBody>
      </p:sp>
      <p:sp>
        <p:nvSpPr>
          <p:cNvPr id="11" name="Text Box 10"/>
          <p:cNvSpPr txBox="1"/>
          <p:nvPr/>
        </p:nvSpPr>
        <p:spPr>
          <a:xfrm>
            <a:off x="5680710" y="4468495"/>
            <a:ext cx="155829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/>
              <a:t>Range</a:t>
            </a:r>
          </a:p>
          <a:p>
            <a:pPr algn="ctr"/>
            <a:r>
              <a:rPr lang="en-US" sz="2400"/>
              <a:t>[4,7]</a:t>
            </a:r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Multiple Segments</a:t>
            </a:r>
          </a:p>
        </p:txBody>
      </p:sp>
      <p:graphicFrame>
        <p:nvGraphicFramePr>
          <p:cNvPr id="4" name="Table 3"/>
          <p:cNvGraphicFramePr/>
          <p:nvPr>
            <p:custDataLst>
              <p:tags r:id="rId1"/>
            </p:custDataLst>
          </p:nvPr>
        </p:nvGraphicFramePr>
        <p:xfrm>
          <a:off x="1838325" y="3588385"/>
          <a:ext cx="4269740" cy="3048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337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371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37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3371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3371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 Box 4"/>
          <p:cNvSpPr txBox="1"/>
          <p:nvPr/>
        </p:nvSpPr>
        <p:spPr>
          <a:xfrm>
            <a:off x="996950" y="1616075"/>
            <a:ext cx="10405745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400"/>
              <a:t>Consider a 3-bit image given below. Assuming seed value of 6, segment the following image using 8-connectivity and threshold=3. How many segments are identified?</a:t>
            </a:r>
          </a:p>
        </p:txBody>
      </p:sp>
      <p:sp>
        <p:nvSpPr>
          <p:cNvPr id="3" name="Text Box 2"/>
          <p:cNvSpPr txBox="1"/>
          <p:nvPr/>
        </p:nvSpPr>
        <p:spPr>
          <a:xfrm>
            <a:off x="8157845" y="3429000"/>
            <a:ext cx="22688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/>
              <a:t>Seed Value=6</a:t>
            </a:r>
          </a:p>
        </p:txBody>
      </p:sp>
      <p:sp>
        <p:nvSpPr>
          <p:cNvPr id="8" name="Text Box 7"/>
          <p:cNvSpPr txBox="1"/>
          <p:nvPr/>
        </p:nvSpPr>
        <p:spPr>
          <a:xfrm>
            <a:off x="8157845" y="4182110"/>
            <a:ext cx="22688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/>
              <a:t>T=3</a:t>
            </a:r>
          </a:p>
        </p:txBody>
      </p:sp>
      <p:sp>
        <p:nvSpPr>
          <p:cNvPr id="6" name="Text Box 5"/>
          <p:cNvSpPr txBox="1"/>
          <p:nvPr/>
        </p:nvSpPr>
        <p:spPr>
          <a:xfrm>
            <a:off x="8157845" y="4935220"/>
            <a:ext cx="22688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/>
              <a:t>8-Connectivity</a:t>
            </a:r>
          </a:p>
        </p:txBody>
      </p:sp>
      <p:sp>
        <p:nvSpPr>
          <p:cNvPr id="10" name="Text Box 9"/>
          <p:cNvSpPr txBox="1"/>
          <p:nvPr/>
        </p:nvSpPr>
        <p:spPr>
          <a:xfrm>
            <a:off x="5680710" y="3715385"/>
            <a:ext cx="155829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/>
              <a:t>7-3=4</a:t>
            </a:r>
          </a:p>
        </p:txBody>
      </p:sp>
      <p:sp>
        <p:nvSpPr>
          <p:cNvPr id="11" name="Text Box 10"/>
          <p:cNvSpPr txBox="1"/>
          <p:nvPr/>
        </p:nvSpPr>
        <p:spPr>
          <a:xfrm>
            <a:off x="5680710" y="4468495"/>
            <a:ext cx="155829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/>
              <a:t>Range</a:t>
            </a:r>
          </a:p>
          <a:p>
            <a:pPr algn="ctr"/>
            <a:r>
              <a:rPr lang="en-US" sz="2400"/>
              <a:t>[4,7]</a:t>
            </a:r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Multiple Segments</a:t>
            </a:r>
          </a:p>
        </p:txBody>
      </p:sp>
      <p:graphicFrame>
        <p:nvGraphicFramePr>
          <p:cNvPr id="4" name="Table 3"/>
          <p:cNvGraphicFramePr/>
          <p:nvPr>
            <p:custDataLst>
              <p:tags r:id="rId1"/>
            </p:custDataLst>
          </p:nvPr>
        </p:nvGraphicFramePr>
        <p:xfrm>
          <a:off x="1838325" y="3588385"/>
          <a:ext cx="4269740" cy="3048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337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371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37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3371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3371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 Box 4"/>
          <p:cNvSpPr txBox="1"/>
          <p:nvPr/>
        </p:nvSpPr>
        <p:spPr>
          <a:xfrm>
            <a:off x="996950" y="1616075"/>
            <a:ext cx="10405745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400"/>
              <a:t>Consider a 3-bit image given below. Assuming seed value of 6, segment the following image using 8-connectivity and threshold=3. How many segments are identified?</a:t>
            </a:r>
          </a:p>
        </p:txBody>
      </p:sp>
      <p:sp>
        <p:nvSpPr>
          <p:cNvPr id="3" name="Text Box 2"/>
          <p:cNvSpPr txBox="1"/>
          <p:nvPr/>
        </p:nvSpPr>
        <p:spPr>
          <a:xfrm>
            <a:off x="8157845" y="3429000"/>
            <a:ext cx="22688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/>
              <a:t>Seed Value=6</a:t>
            </a:r>
          </a:p>
        </p:txBody>
      </p:sp>
      <p:sp>
        <p:nvSpPr>
          <p:cNvPr id="8" name="Text Box 7"/>
          <p:cNvSpPr txBox="1"/>
          <p:nvPr/>
        </p:nvSpPr>
        <p:spPr>
          <a:xfrm>
            <a:off x="8157845" y="4182110"/>
            <a:ext cx="22688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/>
              <a:t>T=3</a:t>
            </a:r>
          </a:p>
        </p:txBody>
      </p:sp>
      <p:sp>
        <p:nvSpPr>
          <p:cNvPr id="6" name="Text Box 5"/>
          <p:cNvSpPr txBox="1"/>
          <p:nvPr/>
        </p:nvSpPr>
        <p:spPr>
          <a:xfrm>
            <a:off x="8157845" y="4935220"/>
            <a:ext cx="22688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/>
              <a:t>8-Connectivity</a:t>
            </a:r>
          </a:p>
        </p:txBody>
      </p:sp>
      <p:sp>
        <p:nvSpPr>
          <p:cNvPr id="10" name="Text Box 9"/>
          <p:cNvSpPr txBox="1"/>
          <p:nvPr/>
        </p:nvSpPr>
        <p:spPr>
          <a:xfrm>
            <a:off x="5680710" y="3715385"/>
            <a:ext cx="155829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/>
              <a:t>7-3=4</a:t>
            </a:r>
          </a:p>
        </p:txBody>
      </p:sp>
      <p:sp>
        <p:nvSpPr>
          <p:cNvPr id="11" name="Text Box 10"/>
          <p:cNvSpPr txBox="1"/>
          <p:nvPr/>
        </p:nvSpPr>
        <p:spPr>
          <a:xfrm>
            <a:off x="5680710" y="4468495"/>
            <a:ext cx="155829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/>
              <a:t>Range</a:t>
            </a:r>
          </a:p>
          <a:p>
            <a:pPr algn="ctr"/>
            <a:r>
              <a:rPr lang="en-US" sz="2400"/>
              <a:t>[4,7]</a:t>
            </a:r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Multiple Segments</a:t>
            </a:r>
          </a:p>
        </p:txBody>
      </p:sp>
      <p:graphicFrame>
        <p:nvGraphicFramePr>
          <p:cNvPr id="4" name="Table 3"/>
          <p:cNvGraphicFramePr/>
          <p:nvPr>
            <p:custDataLst>
              <p:tags r:id="rId1"/>
            </p:custDataLst>
          </p:nvPr>
        </p:nvGraphicFramePr>
        <p:xfrm>
          <a:off x="1838325" y="3588385"/>
          <a:ext cx="4269740" cy="3048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337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371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37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3371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3371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 Box 4"/>
          <p:cNvSpPr txBox="1"/>
          <p:nvPr/>
        </p:nvSpPr>
        <p:spPr>
          <a:xfrm>
            <a:off x="996950" y="1616075"/>
            <a:ext cx="10405745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400"/>
              <a:t>Consider a 3-bit image given below. Assuming seed value of 6, segment the following image using 8-connectivity and threshold=3. How many segments are identified?</a:t>
            </a:r>
          </a:p>
        </p:txBody>
      </p:sp>
      <p:sp>
        <p:nvSpPr>
          <p:cNvPr id="3" name="Text Box 2"/>
          <p:cNvSpPr txBox="1"/>
          <p:nvPr/>
        </p:nvSpPr>
        <p:spPr>
          <a:xfrm>
            <a:off x="8157845" y="3429000"/>
            <a:ext cx="22688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/>
              <a:t>Seed Value=6</a:t>
            </a:r>
          </a:p>
        </p:txBody>
      </p:sp>
      <p:sp>
        <p:nvSpPr>
          <p:cNvPr id="8" name="Text Box 7"/>
          <p:cNvSpPr txBox="1"/>
          <p:nvPr/>
        </p:nvSpPr>
        <p:spPr>
          <a:xfrm>
            <a:off x="8157845" y="4182110"/>
            <a:ext cx="22688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/>
              <a:t>T=3</a:t>
            </a:r>
          </a:p>
        </p:txBody>
      </p:sp>
      <p:sp>
        <p:nvSpPr>
          <p:cNvPr id="6" name="Text Box 5"/>
          <p:cNvSpPr txBox="1"/>
          <p:nvPr/>
        </p:nvSpPr>
        <p:spPr>
          <a:xfrm>
            <a:off x="8157845" y="4935220"/>
            <a:ext cx="22688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/>
              <a:t>8-Connectivity</a:t>
            </a:r>
          </a:p>
        </p:txBody>
      </p:sp>
      <p:sp>
        <p:nvSpPr>
          <p:cNvPr id="10" name="Text Box 9"/>
          <p:cNvSpPr txBox="1"/>
          <p:nvPr/>
        </p:nvSpPr>
        <p:spPr>
          <a:xfrm>
            <a:off x="5680710" y="3715385"/>
            <a:ext cx="155829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/>
              <a:t>7-3=4</a:t>
            </a:r>
          </a:p>
        </p:txBody>
      </p:sp>
      <p:sp>
        <p:nvSpPr>
          <p:cNvPr id="11" name="Text Box 10"/>
          <p:cNvSpPr txBox="1"/>
          <p:nvPr/>
        </p:nvSpPr>
        <p:spPr>
          <a:xfrm>
            <a:off x="5680710" y="4468495"/>
            <a:ext cx="155829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/>
              <a:t>Range</a:t>
            </a:r>
          </a:p>
          <a:p>
            <a:pPr algn="ctr"/>
            <a:r>
              <a:rPr lang="en-US" sz="2400"/>
              <a:t>[4,7]</a:t>
            </a:r>
          </a:p>
        </p:txBody>
      </p:sp>
      <p:sp>
        <p:nvSpPr>
          <p:cNvPr id="9" name="Text Box 8"/>
          <p:cNvSpPr txBox="1"/>
          <p:nvPr/>
        </p:nvSpPr>
        <p:spPr>
          <a:xfrm>
            <a:off x="3481705" y="6200140"/>
            <a:ext cx="52279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rgbClr val="00B050"/>
                </a:solidFill>
                <a:sym typeface="+mn-ea"/>
              </a:rPr>
              <a:t>5 is in the Range [4-7]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8" grpId="0"/>
      <p:bldP spid="6" grpId="0"/>
      <p:bldP spid="10" grpId="0"/>
      <p:bldP spid="11" grpId="0"/>
      <p:bldP spid="9" grpId="0"/>
      <p:bldP spid="9" grpId="1"/>
    </p:bldLst>
  </p:timing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Multiple Segments</a:t>
            </a:r>
          </a:p>
        </p:txBody>
      </p:sp>
      <p:graphicFrame>
        <p:nvGraphicFramePr>
          <p:cNvPr id="4" name="Table 3"/>
          <p:cNvGraphicFramePr/>
          <p:nvPr>
            <p:custDataLst>
              <p:tags r:id="rId1"/>
            </p:custDataLst>
          </p:nvPr>
        </p:nvGraphicFramePr>
        <p:xfrm>
          <a:off x="1838325" y="3588385"/>
          <a:ext cx="4269740" cy="3048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337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371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37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3371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3371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 Box 4"/>
          <p:cNvSpPr txBox="1"/>
          <p:nvPr/>
        </p:nvSpPr>
        <p:spPr>
          <a:xfrm>
            <a:off x="996950" y="1616075"/>
            <a:ext cx="10405745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400"/>
              <a:t>Consider a 3-bit image given below. Assuming seed value of 6, segment the following image using 8-connectivity and threshold=3. How many segments are identified?</a:t>
            </a:r>
          </a:p>
        </p:txBody>
      </p:sp>
      <p:sp>
        <p:nvSpPr>
          <p:cNvPr id="3" name="Text Box 2"/>
          <p:cNvSpPr txBox="1"/>
          <p:nvPr/>
        </p:nvSpPr>
        <p:spPr>
          <a:xfrm>
            <a:off x="8157845" y="3429000"/>
            <a:ext cx="22688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/>
              <a:t>Seed Value=6</a:t>
            </a:r>
          </a:p>
        </p:txBody>
      </p:sp>
      <p:sp>
        <p:nvSpPr>
          <p:cNvPr id="8" name="Text Box 7"/>
          <p:cNvSpPr txBox="1"/>
          <p:nvPr/>
        </p:nvSpPr>
        <p:spPr>
          <a:xfrm>
            <a:off x="8157845" y="4182110"/>
            <a:ext cx="22688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/>
              <a:t>T=3</a:t>
            </a:r>
          </a:p>
        </p:txBody>
      </p:sp>
      <p:sp>
        <p:nvSpPr>
          <p:cNvPr id="6" name="Text Box 5"/>
          <p:cNvSpPr txBox="1"/>
          <p:nvPr/>
        </p:nvSpPr>
        <p:spPr>
          <a:xfrm>
            <a:off x="8157845" y="4935220"/>
            <a:ext cx="22688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/>
              <a:t>8-Connectivity</a:t>
            </a:r>
          </a:p>
        </p:txBody>
      </p:sp>
      <p:sp>
        <p:nvSpPr>
          <p:cNvPr id="10" name="Text Box 9"/>
          <p:cNvSpPr txBox="1"/>
          <p:nvPr/>
        </p:nvSpPr>
        <p:spPr>
          <a:xfrm>
            <a:off x="5680710" y="3715385"/>
            <a:ext cx="155829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/>
              <a:t>7-3=4</a:t>
            </a:r>
          </a:p>
        </p:txBody>
      </p:sp>
      <p:sp>
        <p:nvSpPr>
          <p:cNvPr id="11" name="Text Box 10"/>
          <p:cNvSpPr txBox="1"/>
          <p:nvPr/>
        </p:nvSpPr>
        <p:spPr>
          <a:xfrm>
            <a:off x="5680710" y="4468495"/>
            <a:ext cx="155829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/>
              <a:t>Range</a:t>
            </a:r>
          </a:p>
          <a:p>
            <a:pPr algn="ctr"/>
            <a:r>
              <a:rPr lang="en-US" sz="2400"/>
              <a:t>[4,7]</a:t>
            </a:r>
          </a:p>
        </p:txBody>
      </p:sp>
      <p:sp>
        <p:nvSpPr>
          <p:cNvPr id="9" name="Text Box 8"/>
          <p:cNvSpPr txBox="1"/>
          <p:nvPr/>
        </p:nvSpPr>
        <p:spPr>
          <a:xfrm>
            <a:off x="3481705" y="6200140"/>
            <a:ext cx="52279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rgbClr val="00B050"/>
                </a:solidFill>
                <a:sym typeface="+mn-ea"/>
              </a:rPr>
              <a:t>5 is in the Range [4-7]</a:t>
            </a:r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Multiple Segments</a:t>
            </a:r>
          </a:p>
        </p:txBody>
      </p:sp>
      <p:graphicFrame>
        <p:nvGraphicFramePr>
          <p:cNvPr id="4" name="Table 3"/>
          <p:cNvGraphicFramePr/>
          <p:nvPr>
            <p:custDataLst>
              <p:tags r:id="rId1"/>
            </p:custDataLst>
          </p:nvPr>
        </p:nvGraphicFramePr>
        <p:xfrm>
          <a:off x="1838325" y="3588385"/>
          <a:ext cx="4269740" cy="3048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340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37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3371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3371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anchor="ctr"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anchor="ctr"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anchor="ctr"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anchor="ctr"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anchor="ctr"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anchor="ctr"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anchor="ctr"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anchor="ctr"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anchor="ctr">
                    <a:solidFill>
                      <a:srgbClr val="7030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anchor="ctr"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anchor="ctr"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anchor="ctr"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anchor="ctr"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 Box 4"/>
          <p:cNvSpPr txBox="1"/>
          <p:nvPr/>
        </p:nvSpPr>
        <p:spPr>
          <a:xfrm>
            <a:off x="996950" y="1616075"/>
            <a:ext cx="10405745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400"/>
              <a:t>Consider a 3-bit image given below. Assuming seed value of 6, segment the following image using 8-connectivity and threshold=3. How many segments are identified?</a:t>
            </a:r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Multiple Segments</a:t>
            </a:r>
          </a:p>
        </p:txBody>
      </p:sp>
      <p:graphicFrame>
        <p:nvGraphicFramePr>
          <p:cNvPr id="4" name="Table 3"/>
          <p:cNvGraphicFramePr/>
          <p:nvPr>
            <p:custDataLst>
              <p:tags r:id="rId1"/>
            </p:custDataLst>
          </p:nvPr>
        </p:nvGraphicFramePr>
        <p:xfrm>
          <a:off x="1838325" y="3588385"/>
          <a:ext cx="4269740" cy="3048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340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37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3371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3371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anchor="ctr"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anchor="ctr"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anchor="ctr"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anchor="ctr"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anchor="ctr"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anchor="ctr"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anchor="ctr"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anchor="ctr"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anchor="ctr">
                    <a:solidFill>
                      <a:srgbClr val="7030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anchor="ctr"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anchor="ctr"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anchor="ctr"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>
                          <a:solidFill>
                            <a:schemeClr val="bg1"/>
                          </a:solidFill>
                          <a:sym typeface="+mn-ea"/>
                        </a:rPr>
                        <a:t>1</a:t>
                      </a:r>
                      <a:endParaRPr lang="en-US"/>
                    </a:p>
                  </a:txBody>
                  <a:tcPr anchor="ctr"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 Box 4"/>
          <p:cNvSpPr txBox="1"/>
          <p:nvPr/>
        </p:nvSpPr>
        <p:spPr>
          <a:xfrm>
            <a:off x="996950" y="1616075"/>
            <a:ext cx="10405745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400"/>
              <a:t>Consider a 3-bit image given below. Assuming seed value of 6, segment the following image using 8-connectivity and threshold=3. How many segments are identified?</a:t>
            </a:r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Multiple Segments</a:t>
            </a:r>
          </a:p>
        </p:txBody>
      </p:sp>
      <p:graphicFrame>
        <p:nvGraphicFramePr>
          <p:cNvPr id="4" name="Table 3"/>
          <p:cNvGraphicFramePr/>
          <p:nvPr>
            <p:custDataLst>
              <p:tags r:id="rId1"/>
            </p:custDataLst>
          </p:nvPr>
        </p:nvGraphicFramePr>
        <p:xfrm>
          <a:off x="1838325" y="3588385"/>
          <a:ext cx="4269740" cy="3048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340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37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3371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3371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a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a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</a:rPr>
                        <a:t>c</a:t>
                      </a:r>
                    </a:p>
                  </a:txBody>
                  <a:tcPr anchor="ctr"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b</a:t>
                      </a: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b</a:t>
                      </a: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a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</a:rPr>
                        <a:t>c</a:t>
                      </a:r>
                    </a:p>
                  </a:txBody>
                  <a:tcPr anchor="ctr"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</a:rPr>
                        <a:t>c</a:t>
                      </a:r>
                    </a:p>
                  </a:txBody>
                  <a:tcPr anchor="ctr"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</a:rPr>
                        <a:t>c</a:t>
                      </a:r>
                    </a:p>
                  </a:txBody>
                  <a:tcPr anchor="ctr"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b</a:t>
                      </a: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</a:rPr>
                        <a:t>c</a:t>
                      </a:r>
                    </a:p>
                  </a:txBody>
                  <a:tcPr anchor="ctr"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</a:rPr>
                        <a:t>c</a:t>
                      </a:r>
                    </a:p>
                  </a:txBody>
                  <a:tcPr anchor="ctr"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</a:rPr>
                        <a:t>c</a:t>
                      </a:r>
                    </a:p>
                  </a:txBody>
                  <a:tcPr anchor="ctr"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</a:rPr>
                        <a:t>c</a:t>
                      </a:r>
                    </a:p>
                  </a:txBody>
                  <a:tcPr anchor="ctr"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</a:rPr>
                        <a:t>c</a:t>
                      </a:r>
                    </a:p>
                  </a:txBody>
                  <a:tcPr anchor="ctr">
                    <a:solidFill>
                      <a:srgbClr val="7030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d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</a:rPr>
                        <a:t>c</a:t>
                      </a:r>
                    </a:p>
                  </a:txBody>
                  <a:tcPr anchor="ctr"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</a:rPr>
                        <a:t>c</a:t>
                      </a:r>
                    </a:p>
                  </a:txBody>
                  <a:tcPr anchor="ctr"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</a:rPr>
                        <a:t>c</a:t>
                      </a:r>
                    </a:p>
                  </a:txBody>
                  <a:tcPr anchor="ctr"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e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d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d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>
                          <a:solidFill>
                            <a:schemeClr val="bg1"/>
                          </a:solidFill>
                          <a:sym typeface="+mn-ea"/>
                        </a:rPr>
                        <a:t>c</a:t>
                      </a:r>
                      <a:endParaRPr lang="en-US"/>
                    </a:p>
                  </a:txBody>
                  <a:tcPr anchor="ctr"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e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e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 Box 4"/>
          <p:cNvSpPr txBox="1"/>
          <p:nvPr/>
        </p:nvSpPr>
        <p:spPr>
          <a:xfrm>
            <a:off x="996950" y="1616075"/>
            <a:ext cx="10405745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400"/>
              <a:t>Consider a 3-bit image given below. Assuming seed value of 6, segment the following image using 8-connectivity and threshold=3. How many segments are identified?</a:t>
            </a:r>
          </a:p>
        </p:txBody>
      </p:sp>
      <p:sp>
        <p:nvSpPr>
          <p:cNvPr id="20" name="Text Box 19"/>
          <p:cNvSpPr txBox="1"/>
          <p:nvPr/>
        </p:nvSpPr>
        <p:spPr>
          <a:xfrm>
            <a:off x="6095365" y="3960495"/>
            <a:ext cx="471233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/>
              <a:t>Total Number of Segemntations = 5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20" grpId="1"/>
    </p:bldLst>
  </p:timing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766060"/>
            <a:ext cx="10515600" cy="1325563"/>
          </a:xfrm>
        </p:spPr>
        <p:txBody>
          <a:bodyPr/>
          <a:lstStyle/>
          <a:p>
            <a:pPr algn="ctr"/>
            <a:r>
              <a:rPr lang="en-US"/>
              <a:t>Region Splitting</a:t>
            </a:r>
          </a:p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ym typeface="+mn-ea"/>
              </a:rPr>
              <a:t>Region Splitting</a:t>
            </a:r>
            <a:endParaRPr lang="en-US"/>
          </a:p>
        </p:txBody>
      </p:sp>
      <p:graphicFrame>
        <p:nvGraphicFramePr>
          <p:cNvPr id="4" name="Table 3"/>
          <p:cNvGraphicFramePr/>
          <p:nvPr>
            <p:custDataLst>
              <p:tags r:id="rId1"/>
            </p:custDataLst>
          </p:nvPr>
        </p:nvGraphicFramePr>
        <p:xfrm>
          <a:off x="1838325" y="3025775"/>
          <a:ext cx="3098800" cy="3048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87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73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73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73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873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873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873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873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Text Box 4"/>
          <p:cNvSpPr txBox="1"/>
          <p:nvPr/>
        </p:nvSpPr>
        <p:spPr>
          <a:xfrm>
            <a:off x="996950" y="1616075"/>
            <a:ext cx="1040574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400"/>
              <a:t>Apply the region splitting on the following image. Assume the threshold value be &lt;= 4.</a:t>
            </a:r>
          </a:p>
        </p:txBody>
      </p:sp>
      <p:sp>
        <p:nvSpPr>
          <p:cNvPr id="8" name="Text Box 7"/>
          <p:cNvSpPr txBox="1"/>
          <p:nvPr/>
        </p:nvSpPr>
        <p:spPr>
          <a:xfrm>
            <a:off x="7329170" y="4182110"/>
            <a:ext cx="22688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/>
              <a:t>T=4</a:t>
            </a:r>
          </a:p>
        </p:txBody>
      </p:sp>
      <p:sp>
        <p:nvSpPr>
          <p:cNvPr id="6" name="Text Box 5"/>
          <p:cNvSpPr txBox="1"/>
          <p:nvPr/>
        </p:nvSpPr>
        <p:spPr>
          <a:xfrm>
            <a:off x="5747385" y="4935220"/>
            <a:ext cx="543242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ym typeface="+mn-ea"/>
              </a:rPr>
              <a:t>Condition -&gt; |Max Value - Min Value| &lt;= 4</a:t>
            </a:r>
            <a:endParaRPr lang="en-US" sz="24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8" grpId="1"/>
      <p:bldP spid="6" grpId="0"/>
      <p:bldP spid="6" grpId="1"/>
    </p:bldLst>
  </p:timing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ym typeface="+mn-ea"/>
              </a:rPr>
              <a:t>Region Splitting</a:t>
            </a:r>
            <a:endParaRPr lang="en-US"/>
          </a:p>
        </p:txBody>
      </p:sp>
      <p:graphicFrame>
        <p:nvGraphicFramePr>
          <p:cNvPr id="4" name="Table 3"/>
          <p:cNvGraphicFramePr/>
          <p:nvPr>
            <p:custDataLst>
              <p:tags r:id="rId1"/>
            </p:custDataLst>
          </p:nvPr>
        </p:nvGraphicFramePr>
        <p:xfrm>
          <a:off x="1838325" y="3025775"/>
          <a:ext cx="3098800" cy="3048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87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73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73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73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873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873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873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873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Text Box 4"/>
          <p:cNvSpPr txBox="1"/>
          <p:nvPr/>
        </p:nvSpPr>
        <p:spPr>
          <a:xfrm>
            <a:off x="996950" y="1616075"/>
            <a:ext cx="1040574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400"/>
              <a:t>Apply the region splitting on the following image. Assume the threshold value be &lt;= 4.</a:t>
            </a:r>
          </a:p>
        </p:txBody>
      </p:sp>
      <p:sp>
        <p:nvSpPr>
          <p:cNvPr id="8" name="Text Box 7"/>
          <p:cNvSpPr txBox="1"/>
          <p:nvPr/>
        </p:nvSpPr>
        <p:spPr>
          <a:xfrm>
            <a:off x="7329170" y="3025775"/>
            <a:ext cx="22688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/>
              <a:t>Max Value = 7</a:t>
            </a:r>
          </a:p>
        </p:txBody>
      </p:sp>
      <p:sp>
        <p:nvSpPr>
          <p:cNvPr id="3" name="Text Box 2"/>
          <p:cNvSpPr txBox="1"/>
          <p:nvPr/>
        </p:nvSpPr>
        <p:spPr>
          <a:xfrm>
            <a:off x="7329170" y="3613150"/>
            <a:ext cx="22688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/>
              <a:t>Min Value = 0</a:t>
            </a:r>
          </a:p>
        </p:txBody>
      </p:sp>
      <p:sp>
        <p:nvSpPr>
          <p:cNvPr id="7" name="Text Box 6"/>
          <p:cNvSpPr txBox="1"/>
          <p:nvPr/>
        </p:nvSpPr>
        <p:spPr>
          <a:xfrm>
            <a:off x="6801485" y="4319905"/>
            <a:ext cx="139827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ym typeface="+mn-ea"/>
              </a:rPr>
              <a:t>|7-0|=7</a:t>
            </a:r>
            <a:endParaRPr lang="en-US" sz="2400"/>
          </a:p>
        </p:txBody>
      </p:sp>
      <p:sp>
        <p:nvSpPr>
          <p:cNvPr id="9" name="Text Box 8"/>
          <p:cNvSpPr txBox="1"/>
          <p:nvPr/>
        </p:nvSpPr>
        <p:spPr>
          <a:xfrm>
            <a:off x="8199755" y="4319905"/>
            <a:ext cx="139827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400"/>
              <a:t>&lt;=4</a:t>
            </a:r>
          </a:p>
        </p:txBody>
      </p:sp>
      <p:sp>
        <p:nvSpPr>
          <p:cNvPr id="10" name="Text Box 9"/>
          <p:cNvSpPr txBox="1"/>
          <p:nvPr/>
        </p:nvSpPr>
        <p:spPr>
          <a:xfrm>
            <a:off x="9598025" y="4319905"/>
            <a:ext cx="508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400">
                <a:solidFill>
                  <a:srgbClr val="FF0000"/>
                </a:solidFill>
                <a:sym typeface="+mn-ea"/>
              </a:rPr>
              <a:t>X</a:t>
            </a:r>
          </a:p>
        </p:txBody>
      </p:sp>
      <p:cxnSp>
        <p:nvCxnSpPr>
          <p:cNvPr id="12" name="Straight Connector 11"/>
          <p:cNvCxnSpPr/>
          <p:nvPr/>
        </p:nvCxnSpPr>
        <p:spPr>
          <a:xfrm>
            <a:off x="3383915" y="2902585"/>
            <a:ext cx="10795" cy="3374390"/>
          </a:xfrm>
          <a:prstGeom prst="line">
            <a:avLst/>
          </a:prstGeom>
          <a:ln w="31750" cap="rnd">
            <a:solidFill>
              <a:srgbClr val="FF0000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1728470" y="4558030"/>
            <a:ext cx="3331845" cy="0"/>
          </a:xfrm>
          <a:prstGeom prst="line">
            <a:avLst/>
          </a:prstGeom>
          <a:ln w="31750" cap="rnd">
            <a:solidFill>
              <a:srgbClr val="FF0000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8" grpId="1"/>
      <p:bldP spid="3" grpId="0"/>
      <p:bldP spid="3" grpId="1"/>
      <p:bldP spid="7" grpId="0"/>
      <p:bldP spid="7" grpId="1"/>
      <p:bldP spid="9" grpId="0"/>
      <p:bldP spid="9" grpId="1"/>
      <p:bldP spid="10" grpId="0"/>
      <p:bldP spid="10" grpId="1"/>
    </p:bldLst>
  </p:timing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ym typeface="+mn-ea"/>
              </a:rPr>
              <a:t>Region Splitting</a:t>
            </a:r>
            <a:endParaRPr lang="en-US"/>
          </a:p>
        </p:txBody>
      </p:sp>
      <p:graphicFrame>
        <p:nvGraphicFramePr>
          <p:cNvPr id="4" name="Table 3"/>
          <p:cNvGraphicFramePr/>
          <p:nvPr>
            <p:custDataLst>
              <p:tags r:id="rId1"/>
            </p:custDataLst>
          </p:nvPr>
        </p:nvGraphicFramePr>
        <p:xfrm>
          <a:off x="1838325" y="3025775"/>
          <a:ext cx="3098800" cy="3048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87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73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73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73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873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873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873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873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Text Box 4"/>
          <p:cNvSpPr txBox="1"/>
          <p:nvPr/>
        </p:nvSpPr>
        <p:spPr>
          <a:xfrm>
            <a:off x="996950" y="1616075"/>
            <a:ext cx="1040574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400"/>
              <a:t>Apply the region splitting on the following image. Assume the threshold value be &lt;= 4.</a:t>
            </a:r>
          </a:p>
        </p:txBody>
      </p:sp>
      <p:sp>
        <p:nvSpPr>
          <p:cNvPr id="8" name="Text Box 7"/>
          <p:cNvSpPr txBox="1"/>
          <p:nvPr/>
        </p:nvSpPr>
        <p:spPr>
          <a:xfrm>
            <a:off x="7329170" y="3025775"/>
            <a:ext cx="22688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/>
              <a:t>Max Value = 7</a:t>
            </a:r>
          </a:p>
        </p:txBody>
      </p:sp>
      <p:sp>
        <p:nvSpPr>
          <p:cNvPr id="3" name="Text Box 2"/>
          <p:cNvSpPr txBox="1"/>
          <p:nvPr/>
        </p:nvSpPr>
        <p:spPr>
          <a:xfrm>
            <a:off x="7329170" y="3613150"/>
            <a:ext cx="22688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/>
              <a:t>Min Value = 0</a:t>
            </a:r>
          </a:p>
        </p:txBody>
      </p:sp>
      <p:sp>
        <p:nvSpPr>
          <p:cNvPr id="7" name="Text Box 6"/>
          <p:cNvSpPr txBox="1"/>
          <p:nvPr/>
        </p:nvSpPr>
        <p:spPr>
          <a:xfrm>
            <a:off x="6801485" y="4319905"/>
            <a:ext cx="139827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ym typeface="+mn-ea"/>
              </a:rPr>
              <a:t>|7-0|=7</a:t>
            </a:r>
            <a:endParaRPr lang="en-US" sz="2400"/>
          </a:p>
        </p:txBody>
      </p:sp>
      <p:sp>
        <p:nvSpPr>
          <p:cNvPr id="9" name="Text Box 8"/>
          <p:cNvSpPr txBox="1"/>
          <p:nvPr/>
        </p:nvSpPr>
        <p:spPr>
          <a:xfrm>
            <a:off x="8199755" y="4319905"/>
            <a:ext cx="139827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400"/>
              <a:t>&lt;=4</a:t>
            </a:r>
          </a:p>
        </p:txBody>
      </p:sp>
      <p:sp>
        <p:nvSpPr>
          <p:cNvPr id="10" name="Text Box 9"/>
          <p:cNvSpPr txBox="1"/>
          <p:nvPr/>
        </p:nvSpPr>
        <p:spPr>
          <a:xfrm>
            <a:off x="9598025" y="4319905"/>
            <a:ext cx="508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400">
                <a:solidFill>
                  <a:srgbClr val="FF0000"/>
                </a:solidFill>
                <a:sym typeface="+mn-ea"/>
              </a:rPr>
              <a:t>X</a:t>
            </a:r>
          </a:p>
        </p:txBody>
      </p:sp>
      <p:cxnSp>
        <p:nvCxnSpPr>
          <p:cNvPr id="12" name="Straight Connector 11"/>
          <p:cNvCxnSpPr/>
          <p:nvPr/>
        </p:nvCxnSpPr>
        <p:spPr>
          <a:xfrm>
            <a:off x="3383915" y="2902585"/>
            <a:ext cx="10795" cy="3374390"/>
          </a:xfrm>
          <a:prstGeom prst="line">
            <a:avLst/>
          </a:prstGeom>
          <a:ln w="31750" cap="rnd">
            <a:solidFill>
              <a:srgbClr val="FF0000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1728470" y="4558030"/>
            <a:ext cx="3331845" cy="0"/>
          </a:xfrm>
          <a:prstGeom prst="line">
            <a:avLst/>
          </a:prstGeom>
          <a:ln w="31750" cap="rnd">
            <a:solidFill>
              <a:srgbClr val="FF0000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6" name="Text Box 5"/>
          <p:cNvSpPr txBox="1"/>
          <p:nvPr/>
        </p:nvSpPr>
        <p:spPr>
          <a:xfrm>
            <a:off x="1152525" y="3562350"/>
            <a:ext cx="57594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rgbClr val="FF0000"/>
                </a:solidFill>
              </a:rPr>
              <a:t>a</a:t>
            </a:r>
          </a:p>
        </p:txBody>
      </p:sp>
      <p:sp>
        <p:nvSpPr>
          <p:cNvPr id="14" name="Text Box 13"/>
          <p:cNvSpPr txBox="1"/>
          <p:nvPr/>
        </p:nvSpPr>
        <p:spPr>
          <a:xfrm>
            <a:off x="5184140" y="3613150"/>
            <a:ext cx="57594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chemeClr val="accent1"/>
                </a:solidFill>
              </a:rPr>
              <a:t>b</a:t>
            </a:r>
          </a:p>
        </p:txBody>
      </p:sp>
      <p:sp>
        <p:nvSpPr>
          <p:cNvPr id="15" name="Text Box 14"/>
          <p:cNvSpPr txBox="1"/>
          <p:nvPr/>
        </p:nvSpPr>
        <p:spPr>
          <a:xfrm>
            <a:off x="1152525" y="5000625"/>
            <a:ext cx="57594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rgbClr val="92D050"/>
                </a:solidFill>
              </a:rPr>
              <a:t>c</a:t>
            </a:r>
          </a:p>
        </p:txBody>
      </p:sp>
      <p:sp>
        <p:nvSpPr>
          <p:cNvPr id="16" name="Text Box 15"/>
          <p:cNvSpPr txBox="1"/>
          <p:nvPr/>
        </p:nvSpPr>
        <p:spPr>
          <a:xfrm>
            <a:off x="5184140" y="5051425"/>
            <a:ext cx="57594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rgbClr val="FFC000"/>
                </a:solidFill>
              </a:rPr>
              <a:t>d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2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3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2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3" grpId="0"/>
      <p:bldP spid="7" grpId="0"/>
      <p:bldP spid="9" grpId="0"/>
      <p:bldP spid="10" grpId="0"/>
      <p:bldP spid="6" grpId="0"/>
      <p:bldP spid="6" grpId="1"/>
      <p:bldP spid="14" grpId="0"/>
      <p:bldP spid="14" grpId="1"/>
      <p:bldP spid="15" grpId="0"/>
      <p:bldP spid="15" grpId="1"/>
      <p:bldP spid="16" grpId="0"/>
      <p:bldP spid="16" grpId="1"/>
    </p:bldLst>
  </p:timing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ym typeface="+mn-ea"/>
              </a:rPr>
              <a:t>Region Splitting</a:t>
            </a:r>
            <a:endParaRPr lang="en-US"/>
          </a:p>
        </p:txBody>
      </p:sp>
      <p:graphicFrame>
        <p:nvGraphicFramePr>
          <p:cNvPr id="4" name="Table 3"/>
          <p:cNvGraphicFramePr/>
          <p:nvPr>
            <p:custDataLst>
              <p:tags r:id="rId1"/>
            </p:custDataLst>
          </p:nvPr>
        </p:nvGraphicFramePr>
        <p:xfrm>
          <a:off x="1838325" y="3025775"/>
          <a:ext cx="3098800" cy="3048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87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73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73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73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873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873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873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873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Text Box 4"/>
          <p:cNvSpPr txBox="1"/>
          <p:nvPr/>
        </p:nvSpPr>
        <p:spPr>
          <a:xfrm>
            <a:off x="996950" y="1616075"/>
            <a:ext cx="1040574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400"/>
              <a:t>Apply the region splitting on the following image. Assume the threshold value be &lt;= 4.</a:t>
            </a:r>
          </a:p>
        </p:txBody>
      </p:sp>
      <p:sp>
        <p:nvSpPr>
          <p:cNvPr id="6" name="Text Box 5"/>
          <p:cNvSpPr txBox="1"/>
          <p:nvPr/>
        </p:nvSpPr>
        <p:spPr>
          <a:xfrm>
            <a:off x="1152525" y="3562350"/>
            <a:ext cx="57594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rgbClr val="FF0000"/>
                </a:solidFill>
              </a:rPr>
              <a:t>a</a:t>
            </a:r>
          </a:p>
        </p:txBody>
      </p:sp>
      <p:sp>
        <p:nvSpPr>
          <p:cNvPr id="14" name="Text Box 13"/>
          <p:cNvSpPr txBox="1"/>
          <p:nvPr/>
        </p:nvSpPr>
        <p:spPr>
          <a:xfrm>
            <a:off x="5184140" y="3613150"/>
            <a:ext cx="57594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chemeClr val="accent1"/>
                </a:solidFill>
              </a:rPr>
              <a:t>b</a:t>
            </a:r>
          </a:p>
        </p:txBody>
      </p:sp>
      <p:sp>
        <p:nvSpPr>
          <p:cNvPr id="15" name="Text Box 14"/>
          <p:cNvSpPr txBox="1"/>
          <p:nvPr/>
        </p:nvSpPr>
        <p:spPr>
          <a:xfrm>
            <a:off x="1152525" y="5000625"/>
            <a:ext cx="57594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rgbClr val="92D050"/>
                </a:solidFill>
              </a:rPr>
              <a:t>c</a:t>
            </a:r>
          </a:p>
        </p:txBody>
      </p:sp>
      <p:sp>
        <p:nvSpPr>
          <p:cNvPr id="16" name="Text Box 15"/>
          <p:cNvSpPr txBox="1"/>
          <p:nvPr/>
        </p:nvSpPr>
        <p:spPr>
          <a:xfrm>
            <a:off x="5184140" y="5051425"/>
            <a:ext cx="57594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rgbClr val="FFC000"/>
                </a:solidFill>
              </a:rPr>
              <a:t>d</a:t>
            </a:r>
          </a:p>
        </p:txBody>
      </p:sp>
      <p:sp>
        <p:nvSpPr>
          <p:cNvPr id="17" name="Text Box 16"/>
          <p:cNvSpPr txBox="1"/>
          <p:nvPr/>
        </p:nvSpPr>
        <p:spPr>
          <a:xfrm>
            <a:off x="7329170" y="3732530"/>
            <a:ext cx="22688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rgbClr val="FF0000"/>
                </a:solidFill>
              </a:rPr>
              <a:t>Max Value = 7</a:t>
            </a:r>
          </a:p>
        </p:txBody>
      </p:sp>
      <p:sp>
        <p:nvSpPr>
          <p:cNvPr id="18" name="Text Box 17"/>
          <p:cNvSpPr txBox="1"/>
          <p:nvPr/>
        </p:nvSpPr>
        <p:spPr>
          <a:xfrm>
            <a:off x="7329170" y="4319905"/>
            <a:ext cx="22688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rgbClr val="FF0000"/>
                </a:solidFill>
              </a:rPr>
              <a:t>Min Value = 4</a:t>
            </a:r>
          </a:p>
        </p:txBody>
      </p:sp>
      <p:sp>
        <p:nvSpPr>
          <p:cNvPr id="19" name="Text Box 18"/>
          <p:cNvSpPr txBox="1"/>
          <p:nvPr/>
        </p:nvSpPr>
        <p:spPr>
          <a:xfrm>
            <a:off x="6801485" y="5026660"/>
            <a:ext cx="139827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rgbClr val="FF0000"/>
                </a:solidFill>
                <a:sym typeface="+mn-ea"/>
              </a:rPr>
              <a:t>|7-4|=3</a:t>
            </a:r>
          </a:p>
        </p:txBody>
      </p:sp>
      <p:sp>
        <p:nvSpPr>
          <p:cNvPr id="20" name="Text Box 19"/>
          <p:cNvSpPr txBox="1"/>
          <p:nvPr/>
        </p:nvSpPr>
        <p:spPr>
          <a:xfrm>
            <a:off x="8199755" y="5026660"/>
            <a:ext cx="139827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400">
                <a:solidFill>
                  <a:srgbClr val="FF0000"/>
                </a:solidFill>
              </a:rPr>
              <a:t>&lt;=4</a:t>
            </a:r>
          </a:p>
        </p:txBody>
      </p:sp>
      <p:sp>
        <p:nvSpPr>
          <p:cNvPr id="21" name="Text Box 20"/>
          <p:cNvSpPr txBox="1"/>
          <p:nvPr/>
        </p:nvSpPr>
        <p:spPr>
          <a:xfrm>
            <a:off x="9598025" y="5026660"/>
            <a:ext cx="508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400">
                <a:solidFill>
                  <a:srgbClr val="92D050"/>
                </a:solidFill>
                <a:sym typeface="+mn-ea"/>
              </a:rPr>
              <a:t>✔</a:t>
            </a:r>
          </a:p>
        </p:txBody>
      </p:sp>
      <p:sp>
        <p:nvSpPr>
          <p:cNvPr id="22" name="Text Box 21"/>
          <p:cNvSpPr txBox="1"/>
          <p:nvPr/>
        </p:nvSpPr>
        <p:spPr>
          <a:xfrm>
            <a:off x="7329170" y="3212465"/>
            <a:ext cx="22688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rgbClr val="FF0000"/>
                </a:solidFill>
              </a:rPr>
              <a:t>For Region a,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4" grpId="0"/>
      <p:bldP spid="15" grpId="0"/>
      <p:bldP spid="16" grpId="0"/>
      <p:bldP spid="17" grpId="0"/>
      <p:bldP spid="17" grpId="1"/>
      <p:bldP spid="18" grpId="0"/>
      <p:bldP spid="18" grpId="1"/>
      <p:bldP spid="19" grpId="0"/>
      <p:bldP spid="19" grpId="1"/>
      <p:bldP spid="20" grpId="0"/>
      <p:bldP spid="20" grpId="1"/>
      <p:bldP spid="21" grpId="0"/>
      <p:bldP spid="21" grpId="1"/>
      <p:bldP spid="22" grpId="0"/>
      <p:bldP spid="22" grpId="1"/>
    </p:bldLst>
  </p:timing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ym typeface="+mn-ea"/>
              </a:rPr>
              <a:t>Region Splitting</a:t>
            </a:r>
            <a:endParaRPr lang="en-US"/>
          </a:p>
        </p:txBody>
      </p:sp>
      <p:graphicFrame>
        <p:nvGraphicFramePr>
          <p:cNvPr id="4" name="Table 3"/>
          <p:cNvGraphicFramePr/>
          <p:nvPr>
            <p:custDataLst>
              <p:tags r:id="rId1"/>
            </p:custDataLst>
          </p:nvPr>
        </p:nvGraphicFramePr>
        <p:xfrm>
          <a:off x="1838325" y="3025775"/>
          <a:ext cx="3098800" cy="3048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87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73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73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73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873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873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873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873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Text Box 4"/>
          <p:cNvSpPr txBox="1"/>
          <p:nvPr/>
        </p:nvSpPr>
        <p:spPr>
          <a:xfrm>
            <a:off x="996950" y="1616075"/>
            <a:ext cx="1040574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400"/>
              <a:t>Apply the region splitting on the following image. Assume the threshold value be &lt;= 4.</a:t>
            </a:r>
          </a:p>
        </p:txBody>
      </p:sp>
      <p:sp>
        <p:nvSpPr>
          <p:cNvPr id="6" name="Text Box 5"/>
          <p:cNvSpPr txBox="1"/>
          <p:nvPr/>
        </p:nvSpPr>
        <p:spPr>
          <a:xfrm>
            <a:off x="1152525" y="3562350"/>
            <a:ext cx="57594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rgbClr val="FF0000"/>
                </a:solidFill>
              </a:rPr>
              <a:t>a</a:t>
            </a:r>
          </a:p>
        </p:txBody>
      </p:sp>
      <p:sp>
        <p:nvSpPr>
          <p:cNvPr id="14" name="Text Box 13"/>
          <p:cNvSpPr txBox="1"/>
          <p:nvPr/>
        </p:nvSpPr>
        <p:spPr>
          <a:xfrm>
            <a:off x="5184140" y="3613150"/>
            <a:ext cx="57594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chemeClr val="accent1"/>
                </a:solidFill>
              </a:rPr>
              <a:t>b</a:t>
            </a:r>
          </a:p>
        </p:txBody>
      </p:sp>
      <p:sp>
        <p:nvSpPr>
          <p:cNvPr id="15" name="Text Box 14"/>
          <p:cNvSpPr txBox="1"/>
          <p:nvPr/>
        </p:nvSpPr>
        <p:spPr>
          <a:xfrm>
            <a:off x="1152525" y="5000625"/>
            <a:ext cx="57594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rgbClr val="92D050"/>
                </a:solidFill>
              </a:rPr>
              <a:t>c</a:t>
            </a:r>
          </a:p>
        </p:txBody>
      </p:sp>
      <p:sp>
        <p:nvSpPr>
          <p:cNvPr id="16" name="Text Box 15"/>
          <p:cNvSpPr txBox="1"/>
          <p:nvPr/>
        </p:nvSpPr>
        <p:spPr>
          <a:xfrm>
            <a:off x="5184140" y="5051425"/>
            <a:ext cx="57594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rgbClr val="FFC000"/>
                </a:solidFill>
              </a:rPr>
              <a:t>d</a:t>
            </a:r>
          </a:p>
        </p:txBody>
      </p:sp>
      <p:sp>
        <p:nvSpPr>
          <p:cNvPr id="17" name="Text Box 16"/>
          <p:cNvSpPr txBox="1"/>
          <p:nvPr/>
        </p:nvSpPr>
        <p:spPr>
          <a:xfrm>
            <a:off x="7329170" y="3732530"/>
            <a:ext cx="22688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chemeClr val="accent1"/>
                </a:solidFill>
              </a:rPr>
              <a:t>Max Value = 7</a:t>
            </a:r>
          </a:p>
        </p:txBody>
      </p:sp>
      <p:sp>
        <p:nvSpPr>
          <p:cNvPr id="18" name="Text Box 17"/>
          <p:cNvSpPr txBox="1"/>
          <p:nvPr/>
        </p:nvSpPr>
        <p:spPr>
          <a:xfrm>
            <a:off x="7329170" y="4319905"/>
            <a:ext cx="22688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chemeClr val="accent1"/>
                </a:solidFill>
              </a:rPr>
              <a:t>Min Value = 2</a:t>
            </a:r>
          </a:p>
        </p:txBody>
      </p:sp>
      <p:sp>
        <p:nvSpPr>
          <p:cNvPr id="19" name="Text Box 18"/>
          <p:cNvSpPr txBox="1"/>
          <p:nvPr/>
        </p:nvSpPr>
        <p:spPr>
          <a:xfrm>
            <a:off x="6801485" y="5026660"/>
            <a:ext cx="139827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chemeClr val="accent1"/>
                </a:solidFill>
                <a:sym typeface="+mn-ea"/>
              </a:rPr>
              <a:t>|7-2|=5</a:t>
            </a:r>
          </a:p>
        </p:txBody>
      </p:sp>
      <p:sp>
        <p:nvSpPr>
          <p:cNvPr id="20" name="Text Box 19"/>
          <p:cNvSpPr txBox="1"/>
          <p:nvPr/>
        </p:nvSpPr>
        <p:spPr>
          <a:xfrm>
            <a:off x="8199755" y="5026660"/>
            <a:ext cx="139827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400">
                <a:solidFill>
                  <a:schemeClr val="accent1"/>
                </a:solidFill>
              </a:rPr>
              <a:t>&lt;=4</a:t>
            </a:r>
          </a:p>
        </p:txBody>
      </p:sp>
      <p:sp>
        <p:nvSpPr>
          <p:cNvPr id="21" name="Text Box 20"/>
          <p:cNvSpPr txBox="1"/>
          <p:nvPr/>
        </p:nvSpPr>
        <p:spPr>
          <a:xfrm>
            <a:off x="9598025" y="5026660"/>
            <a:ext cx="508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400">
                <a:solidFill>
                  <a:srgbClr val="FF0000"/>
                </a:solidFill>
                <a:sym typeface="+mn-ea"/>
              </a:rPr>
              <a:t>X</a:t>
            </a:r>
          </a:p>
        </p:txBody>
      </p:sp>
      <p:sp>
        <p:nvSpPr>
          <p:cNvPr id="22" name="Text Box 21"/>
          <p:cNvSpPr txBox="1"/>
          <p:nvPr/>
        </p:nvSpPr>
        <p:spPr>
          <a:xfrm>
            <a:off x="7329170" y="3212465"/>
            <a:ext cx="22688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chemeClr val="accent1"/>
                </a:solidFill>
              </a:rPr>
              <a:t>For Region b,</a:t>
            </a:r>
          </a:p>
        </p:txBody>
      </p:sp>
      <p:cxnSp>
        <p:nvCxnSpPr>
          <p:cNvPr id="12" name="Straight Connector 11"/>
          <p:cNvCxnSpPr/>
          <p:nvPr/>
        </p:nvCxnSpPr>
        <p:spPr>
          <a:xfrm>
            <a:off x="4168775" y="2887345"/>
            <a:ext cx="10795" cy="1772285"/>
          </a:xfrm>
          <a:prstGeom prst="line">
            <a:avLst/>
          </a:prstGeom>
          <a:ln w="31750" cap="rnd">
            <a:solidFill>
              <a:srgbClr val="FF0000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3256915" y="3778885"/>
            <a:ext cx="1814195" cy="10160"/>
          </a:xfrm>
          <a:prstGeom prst="line">
            <a:avLst/>
          </a:prstGeom>
          <a:ln w="31750" cap="rnd">
            <a:solidFill>
              <a:srgbClr val="FF0000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4" grpId="0"/>
      <p:bldP spid="15" grpId="0"/>
      <p:bldP spid="16" grpId="0"/>
      <p:bldP spid="17" grpId="0"/>
      <p:bldP spid="17" grpId="1"/>
      <p:bldP spid="18" grpId="0"/>
      <p:bldP spid="18" grpId="1"/>
      <p:bldP spid="19" grpId="0"/>
      <p:bldP spid="19" grpId="1"/>
      <p:bldP spid="20" grpId="0"/>
      <p:bldP spid="20" grpId="1"/>
      <p:bldP spid="21" grpId="0"/>
      <p:bldP spid="21" grpId="1"/>
      <p:bldP spid="22" grpId="0"/>
      <p:bldP spid="22" grpId="1"/>
    </p:bldLst>
  </p:timing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ym typeface="+mn-ea"/>
              </a:rPr>
              <a:t>Region Splitting</a:t>
            </a:r>
            <a:endParaRPr lang="en-US"/>
          </a:p>
        </p:txBody>
      </p:sp>
      <p:graphicFrame>
        <p:nvGraphicFramePr>
          <p:cNvPr id="4" name="Table 3"/>
          <p:cNvGraphicFramePr/>
          <p:nvPr>
            <p:custDataLst>
              <p:tags r:id="rId1"/>
            </p:custDataLst>
          </p:nvPr>
        </p:nvGraphicFramePr>
        <p:xfrm>
          <a:off x="1838325" y="3025775"/>
          <a:ext cx="3098800" cy="3048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87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73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73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73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873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873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873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873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Text Box 4"/>
          <p:cNvSpPr txBox="1"/>
          <p:nvPr/>
        </p:nvSpPr>
        <p:spPr>
          <a:xfrm>
            <a:off x="996950" y="1616075"/>
            <a:ext cx="1040574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400"/>
              <a:t>Apply the region splitting on the following image. Assume the threshold value be &lt;= 4.</a:t>
            </a:r>
          </a:p>
        </p:txBody>
      </p:sp>
      <p:sp>
        <p:nvSpPr>
          <p:cNvPr id="6" name="Text Box 5"/>
          <p:cNvSpPr txBox="1"/>
          <p:nvPr/>
        </p:nvSpPr>
        <p:spPr>
          <a:xfrm>
            <a:off x="1152525" y="3562350"/>
            <a:ext cx="57594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rgbClr val="FF0000"/>
                </a:solidFill>
              </a:rPr>
              <a:t>a</a:t>
            </a:r>
          </a:p>
        </p:txBody>
      </p:sp>
      <p:sp>
        <p:nvSpPr>
          <p:cNvPr id="14" name="Text Box 13"/>
          <p:cNvSpPr txBox="1"/>
          <p:nvPr/>
        </p:nvSpPr>
        <p:spPr>
          <a:xfrm>
            <a:off x="5184140" y="3212465"/>
            <a:ext cx="57594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chemeClr val="accent1"/>
                </a:solidFill>
              </a:rPr>
              <a:t>b</a:t>
            </a:r>
          </a:p>
        </p:txBody>
      </p:sp>
      <p:sp>
        <p:nvSpPr>
          <p:cNvPr id="15" name="Text Box 14"/>
          <p:cNvSpPr txBox="1"/>
          <p:nvPr/>
        </p:nvSpPr>
        <p:spPr>
          <a:xfrm>
            <a:off x="1152525" y="5000625"/>
            <a:ext cx="57594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rgbClr val="92D050"/>
                </a:solidFill>
              </a:rPr>
              <a:t>c</a:t>
            </a:r>
          </a:p>
        </p:txBody>
      </p:sp>
      <p:sp>
        <p:nvSpPr>
          <p:cNvPr id="16" name="Text Box 15"/>
          <p:cNvSpPr txBox="1"/>
          <p:nvPr/>
        </p:nvSpPr>
        <p:spPr>
          <a:xfrm>
            <a:off x="5184140" y="5051425"/>
            <a:ext cx="57594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rgbClr val="FFC000"/>
                </a:solidFill>
              </a:rPr>
              <a:t>d</a:t>
            </a:r>
          </a:p>
        </p:txBody>
      </p:sp>
      <p:sp>
        <p:nvSpPr>
          <p:cNvPr id="17" name="Text Box 16"/>
          <p:cNvSpPr txBox="1"/>
          <p:nvPr/>
        </p:nvSpPr>
        <p:spPr>
          <a:xfrm>
            <a:off x="7329170" y="3732530"/>
            <a:ext cx="22688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chemeClr val="accent1"/>
                </a:solidFill>
              </a:rPr>
              <a:t>Max Value = 7</a:t>
            </a:r>
          </a:p>
        </p:txBody>
      </p:sp>
      <p:sp>
        <p:nvSpPr>
          <p:cNvPr id="18" name="Text Box 17"/>
          <p:cNvSpPr txBox="1"/>
          <p:nvPr/>
        </p:nvSpPr>
        <p:spPr>
          <a:xfrm>
            <a:off x="7329170" y="4319905"/>
            <a:ext cx="22688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chemeClr val="accent1"/>
                </a:solidFill>
              </a:rPr>
              <a:t>Min Value = 2</a:t>
            </a:r>
          </a:p>
        </p:txBody>
      </p:sp>
      <p:sp>
        <p:nvSpPr>
          <p:cNvPr id="19" name="Text Box 18"/>
          <p:cNvSpPr txBox="1"/>
          <p:nvPr/>
        </p:nvSpPr>
        <p:spPr>
          <a:xfrm>
            <a:off x="6801485" y="5026660"/>
            <a:ext cx="139827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chemeClr val="accent1"/>
                </a:solidFill>
                <a:sym typeface="+mn-ea"/>
              </a:rPr>
              <a:t>|7-2|=5</a:t>
            </a:r>
          </a:p>
        </p:txBody>
      </p:sp>
      <p:sp>
        <p:nvSpPr>
          <p:cNvPr id="20" name="Text Box 19"/>
          <p:cNvSpPr txBox="1"/>
          <p:nvPr/>
        </p:nvSpPr>
        <p:spPr>
          <a:xfrm>
            <a:off x="8199755" y="5026660"/>
            <a:ext cx="139827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400">
                <a:solidFill>
                  <a:schemeClr val="accent1"/>
                </a:solidFill>
              </a:rPr>
              <a:t>&lt;=4</a:t>
            </a:r>
          </a:p>
        </p:txBody>
      </p:sp>
      <p:sp>
        <p:nvSpPr>
          <p:cNvPr id="21" name="Text Box 20"/>
          <p:cNvSpPr txBox="1"/>
          <p:nvPr/>
        </p:nvSpPr>
        <p:spPr>
          <a:xfrm>
            <a:off x="9598025" y="5026660"/>
            <a:ext cx="508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400">
                <a:solidFill>
                  <a:srgbClr val="FF0000"/>
                </a:solidFill>
                <a:sym typeface="+mn-ea"/>
              </a:rPr>
              <a:t>X</a:t>
            </a:r>
          </a:p>
        </p:txBody>
      </p:sp>
      <p:sp>
        <p:nvSpPr>
          <p:cNvPr id="22" name="Text Box 21"/>
          <p:cNvSpPr txBox="1"/>
          <p:nvPr/>
        </p:nvSpPr>
        <p:spPr>
          <a:xfrm>
            <a:off x="7329170" y="3212465"/>
            <a:ext cx="22688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chemeClr val="accent1"/>
                </a:solidFill>
              </a:rPr>
              <a:t>For Region b,</a:t>
            </a:r>
          </a:p>
        </p:txBody>
      </p:sp>
      <p:cxnSp>
        <p:nvCxnSpPr>
          <p:cNvPr id="12" name="Straight Connector 11"/>
          <p:cNvCxnSpPr/>
          <p:nvPr/>
        </p:nvCxnSpPr>
        <p:spPr>
          <a:xfrm>
            <a:off x="4168775" y="2887345"/>
            <a:ext cx="10795" cy="1772285"/>
          </a:xfrm>
          <a:prstGeom prst="line">
            <a:avLst/>
          </a:prstGeom>
          <a:ln w="31750" cap="rnd">
            <a:solidFill>
              <a:srgbClr val="FF0000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3256915" y="3778885"/>
            <a:ext cx="1814195" cy="10160"/>
          </a:xfrm>
          <a:prstGeom prst="line">
            <a:avLst/>
          </a:prstGeom>
          <a:ln w="31750" cap="rnd">
            <a:solidFill>
              <a:srgbClr val="FF0000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" name="Text Box 2"/>
          <p:cNvSpPr txBox="1"/>
          <p:nvPr/>
        </p:nvSpPr>
        <p:spPr>
          <a:xfrm>
            <a:off x="3486150" y="2426970"/>
            <a:ext cx="57594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chemeClr val="accent1"/>
                </a:solidFill>
              </a:rPr>
              <a:t>b1</a:t>
            </a:r>
          </a:p>
        </p:txBody>
      </p:sp>
      <p:sp>
        <p:nvSpPr>
          <p:cNvPr id="7" name="Text Box 6"/>
          <p:cNvSpPr txBox="1"/>
          <p:nvPr/>
        </p:nvSpPr>
        <p:spPr>
          <a:xfrm>
            <a:off x="4968875" y="2435860"/>
            <a:ext cx="57594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chemeClr val="accent1"/>
                </a:solidFill>
              </a:rPr>
              <a:t>b2</a:t>
            </a:r>
          </a:p>
        </p:txBody>
      </p:sp>
      <p:sp>
        <p:nvSpPr>
          <p:cNvPr id="8" name="Text Box 7"/>
          <p:cNvSpPr txBox="1"/>
          <p:nvPr/>
        </p:nvSpPr>
        <p:spPr>
          <a:xfrm>
            <a:off x="5071110" y="3952240"/>
            <a:ext cx="57594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chemeClr val="accent1"/>
                </a:solidFill>
              </a:rPr>
              <a:t>b4</a:t>
            </a:r>
          </a:p>
        </p:txBody>
      </p:sp>
      <p:sp>
        <p:nvSpPr>
          <p:cNvPr id="9" name="Text Box 8"/>
          <p:cNvSpPr txBox="1"/>
          <p:nvPr/>
        </p:nvSpPr>
        <p:spPr>
          <a:xfrm>
            <a:off x="2588260" y="2426970"/>
            <a:ext cx="57594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chemeClr val="accent1"/>
                </a:solidFill>
              </a:rPr>
              <a:t>b3</a:t>
            </a:r>
          </a:p>
        </p:txBody>
      </p:sp>
      <p:cxnSp>
        <p:nvCxnSpPr>
          <p:cNvPr id="10" name="Straight Arrow Connector 9"/>
          <p:cNvCxnSpPr>
            <a:endCxn id="9" idx="2"/>
          </p:cNvCxnSpPr>
          <p:nvPr/>
        </p:nvCxnSpPr>
        <p:spPr>
          <a:xfrm flipH="1" flipV="1">
            <a:off x="2876550" y="2887345"/>
            <a:ext cx="518160" cy="1267460"/>
          </a:xfrm>
          <a:prstGeom prst="straightConnector1">
            <a:avLst/>
          </a:prstGeom>
          <a:ln w="31750" cap="rnd">
            <a:solidFill>
              <a:schemeClr val="accent1"/>
            </a:solidFill>
            <a:round/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2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3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2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4" grpId="0"/>
      <p:bldP spid="14" grpId="1"/>
      <p:bldP spid="15" grpId="0"/>
      <p:bldP spid="16" grpId="0"/>
      <p:bldP spid="17" grpId="0"/>
      <p:bldP spid="18" grpId="0"/>
      <p:bldP spid="19" grpId="0"/>
      <p:bldP spid="20" grpId="0"/>
      <p:bldP spid="21" grpId="0"/>
      <p:bldP spid="22" grpId="0"/>
      <p:bldP spid="3" grpId="0"/>
      <p:bldP spid="3" grpId="1"/>
      <p:bldP spid="7" grpId="0"/>
      <p:bldP spid="7" grpId="1"/>
      <p:bldP spid="8" grpId="0"/>
      <p:bldP spid="8" grpId="1"/>
      <p:bldP spid="9" grpId="0"/>
      <p:bldP spid="9" grpId="1"/>
    </p:bldLst>
  </p:timing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ym typeface="+mn-ea"/>
              </a:rPr>
              <a:t>Region Splitting</a:t>
            </a:r>
            <a:endParaRPr lang="en-US"/>
          </a:p>
        </p:txBody>
      </p:sp>
      <p:graphicFrame>
        <p:nvGraphicFramePr>
          <p:cNvPr id="4" name="Table 3"/>
          <p:cNvGraphicFramePr/>
          <p:nvPr>
            <p:custDataLst>
              <p:tags r:id="rId1"/>
            </p:custDataLst>
          </p:nvPr>
        </p:nvGraphicFramePr>
        <p:xfrm>
          <a:off x="1838325" y="3025775"/>
          <a:ext cx="3098800" cy="3048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87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73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73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73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873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873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873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873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Text Box 4"/>
          <p:cNvSpPr txBox="1"/>
          <p:nvPr/>
        </p:nvSpPr>
        <p:spPr>
          <a:xfrm>
            <a:off x="996950" y="1616075"/>
            <a:ext cx="1040574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400"/>
              <a:t>Apply the region splitting on the following image. Assume the threshold value be &lt;= 4.</a:t>
            </a:r>
          </a:p>
        </p:txBody>
      </p:sp>
      <p:sp>
        <p:nvSpPr>
          <p:cNvPr id="6" name="Text Box 5"/>
          <p:cNvSpPr txBox="1"/>
          <p:nvPr/>
        </p:nvSpPr>
        <p:spPr>
          <a:xfrm>
            <a:off x="1152525" y="3562350"/>
            <a:ext cx="57594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rgbClr val="FF0000"/>
                </a:solidFill>
              </a:rPr>
              <a:t>a</a:t>
            </a:r>
          </a:p>
        </p:txBody>
      </p:sp>
      <p:sp>
        <p:nvSpPr>
          <p:cNvPr id="15" name="Text Box 14"/>
          <p:cNvSpPr txBox="1"/>
          <p:nvPr/>
        </p:nvSpPr>
        <p:spPr>
          <a:xfrm>
            <a:off x="1152525" y="5000625"/>
            <a:ext cx="57594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rgbClr val="92D050"/>
                </a:solidFill>
              </a:rPr>
              <a:t>c</a:t>
            </a:r>
          </a:p>
        </p:txBody>
      </p:sp>
      <p:sp>
        <p:nvSpPr>
          <p:cNvPr id="16" name="Text Box 15"/>
          <p:cNvSpPr txBox="1"/>
          <p:nvPr/>
        </p:nvSpPr>
        <p:spPr>
          <a:xfrm>
            <a:off x="5184140" y="5051425"/>
            <a:ext cx="57594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rgbClr val="FFC000"/>
                </a:solidFill>
              </a:rPr>
              <a:t>d</a:t>
            </a:r>
          </a:p>
        </p:txBody>
      </p:sp>
      <p:sp>
        <p:nvSpPr>
          <p:cNvPr id="17" name="Text Box 16"/>
          <p:cNvSpPr txBox="1"/>
          <p:nvPr/>
        </p:nvSpPr>
        <p:spPr>
          <a:xfrm>
            <a:off x="7329170" y="3732530"/>
            <a:ext cx="22688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rgbClr val="92D050"/>
                </a:solidFill>
              </a:rPr>
              <a:t>Max Value = 3</a:t>
            </a:r>
          </a:p>
        </p:txBody>
      </p:sp>
      <p:sp>
        <p:nvSpPr>
          <p:cNvPr id="18" name="Text Box 17"/>
          <p:cNvSpPr txBox="1"/>
          <p:nvPr/>
        </p:nvSpPr>
        <p:spPr>
          <a:xfrm>
            <a:off x="7329170" y="4319905"/>
            <a:ext cx="22688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rgbClr val="92D050"/>
                </a:solidFill>
              </a:rPr>
              <a:t>Min Value = 0</a:t>
            </a:r>
          </a:p>
        </p:txBody>
      </p:sp>
      <p:sp>
        <p:nvSpPr>
          <p:cNvPr id="19" name="Text Box 18"/>
          <p:cNvSpPr txBox="1"/>
          <p:nvPr/>
        </p:nvSpPr>
        <p:spPr>
          <a:xfrm>
            <a:off x="6801485" y="5026660"/>
            <a:ext cx="139827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rgbClr val="92D050"/>
                </a:solidFill>
                <a:sym typeface="+mn-ea"/>
              </a:rPr>
              <a:t>|3-0|=3</a:t>
            </a:r>
          </a:p>
        </p:txBody>
      </p:sp>
      <p:sp>
        <p:nvSpPr>
          <p:cNvPr id="20" name="Text Box 19"/>
          <p:cNvSpPr txBox="1"/>
          <p:nvPr/>
        </p:nvSpPr>
        <p:spPr>
          <a:xfrm>
            <a:off x="8199755" y="5026660"/>
            <a:ext cx="139827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400">
                <a:solidFill>
                  <a:srgbClr val="92D050"/>
                </a:solidFill>
              </a:rPr>
              <a:t>&lt;=4</a:t>
            </a:r>
          </a:p>
        </p:txBody>
      </p:sp>
      <p:sp>
        <p:nvSpPr>
          <p:cNvPr id="21" name="Text Box 20"/>
          <p:cNvSpPr txBox="1"/>
          <p:nvPr/>
        </p:nvSpPr>
        <p:spPr>
          <a:xfrm>
            <a:off x="9598025" y="5026660"/>
            <a:ext cx="508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400">
                <a:solidFill>
                  <a:srgbClr val="92D050"/>
                </a:solidFill>
                <a:sym typeface="+mn-ea"/>
              </a:rPr>
              <a:t>✔</a:t>
            </a:r>
          </a:p>
        </p:txBody>
      </p:sp>
      <p:sp>
        <p:nvSpPr>
          <p:cNvPr id="22" name="Text Box 21"/>
          <p:cNvSpPr txBox="1"/>
          <p:nvPr/>
        </p:nvSpPr>
        <p:spPr>
          <a:xfrm>
            <a:off x="7329170" y="3212465"/>
            <a:ext cx="22688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rgbClr val="92D050"/>
                </a:solidFill>
              </a:rPr>
              <a:t>For Region c,</a:t>
            </a:r>
          </a:p>
        </p:txBody>
      </p:sp>
      <p:sp>
        <p:nvSpPr>
          <p:cNvPr id="3" name="Text Box 2"/>
          <p:cNvSpPr txBox="1"/>
          <p:nvPr/>
        </p:nvSpPr>
        <p:spPr>
          <a:xfrm>
            <a:off x="3486150" y="2426970"/>
            <a:ext cx="57594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chemeClr val="accent1"/>
                </a:solidFill>
              </a:rPr>
              <a:t>b1</a:t>
            </a:r>
          </a:p>
        </p:txBody>
      </p:sp>
      <p:sp>
        <p:nvSpPr>
          <p:cNvPr id="7" name="Text Box 6"/>
          <p:cNvSpPr txBox="1"/>
          <p:nvPr/>
        </p:nvSpPr>
        <p:spPr>
          <a:xfrm>
            <a:off x="4968875" y="2435860"/>
            <a:ext cx="57594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chemeClr val="accent1"/>
                </a:solidFill>
              </a:rPr>
              <a:t>b2</a:t>
            </a:r>
          </a:p>
        </p:txBody>
      </p:sp>
      <p:sp>
        <p:nvSpPr>
          <p:cNvPr id="8" name="Text Box 7"/>
          <p:cNvSpPr txBox="1"/>
          <p:nvPr/>
        </p:nvSpPr>
        <p:spPr>
          <a:xfrm>
            <a:off x="5071110" y="3952240"/>
            <a:ext cx="57594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chemeClr val="accent1"/>
                </a:solidFill>
              </a:rPr>
              <a:t>b4</a:t>
            </a:r>
          </a:p>
        </p:txBody>
      </p:sp>
      <p:sp>
        <p:nvSpPr>
          <p:cNvPr id="9" name="Text Box 8"/>
          <p:cNvSpPr txBox="1"/>
          <p:nvPr/>
        </p:nvSpPr>
        <p:spPr>
          <a:xfrm>
            <a:off x="2588260" y="2426970"/>
            <a:ext cx="57594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chemeClr val="accent1"/>
                </a:solidFill>
              </a:rPr>
              <a:t>b3</a:t>
            </a:r>
          </a:p>
        </p:txBody>
      </p:sp>
      <p:cxnSp>
        <p:nvCxnSpPr>
          <p:cNvPr id="10" name="Straight Arrow Connector 9"/>
          <p:cNvCxnSpPr>
            <a:endCxn id="9" idx="2"/>
          </p:cNvCxnSpPr>
          <p:nvPr/>
        </p:nvCxnSpPr>
        <p:spPr>
          <a:xfrm flipH="1" flipV="1">
            <a:off x="2876550" y="2887345"/>
            <a:ext cx="518160" cy="1267460"/>
          </a:xfrm>
          <a:prstGeom prst="straightConnector1">
            <a:avLst/>
          </a:prstGeom>
          <a:ln w="31750" cap="rnd">
            <a:solidFill>
              <a:schemeClr val="accent1"/>
            </a:solidFill>
            <a:round/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5" grpId="0"/>
      <p:bldP spid="16" grpId="0"/>
      <p:bldP spid="17" grpId="0"/>
      <p:bldP spid="17" grpId="1"/>
      <p:bldP spid="18" grpId="0"/>
      <p:bldP spid="18" grpId="1"/>
      <p:bldP spid="19" grpId="0"/>
      <p:bldP spid="19" grpId="1"/>
      <p:bldP spid="20" grpId="0"/>
      <p:bldP spid="20" grpId="1"/>
      <p:bldP spid="21" grpId="0"/>
      <p:bldP spid="21" grpId="1"/>
      <p:bldP spid="22" grpId="0"/>
      <p:bldP spid="22" grpId="1"/>
      <p:bldP spid="3" grpId="0"/>
      <p:bldP spid="7" grpId="0"/>
      <p:bldP spid="8" grpId="0"/>
      <p:bldP spid="9" grpId="0"/>
    </p:bldLst>
  </p:timing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ym typeface="+mn-ea"/>
              </a:rPr>
              <a:t>Region Splitting</a:t>
            </a:r>
            <a:endParaRPr lang="en-US"/>
          </a:p>
        </p:txBody>
      </p:sp>
      <p:graphicFrame>
        <p:nvGraphicFramePr>
          <p:cNvPr id="4" name="Table 3"/>
          <p:cNvGraphicFramePr/>
          <p:nvPr>
            <p:custDataLst>
              <p:tags r:id="rId1"/>
            </p:custDataLst>
          </p:nvPr>
        </p:nvGraphicFramePr>
        <p:xfrm>
          <a:off x="1838325" y="3025775"/>
          <a:ext cx="3098800" cy="3048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87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73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73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73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873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873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873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873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Text Box 4"/>
          <p:cNvSpPr txBox="1"/>
          <p:nvPr/>
        </p:nvSpPr>
        <p:spPr>
          <a:xfrm>
            <a:off x="996950" y="1616075"/>
            <a:ext cx="1040574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400"/>
              <a:t>Apply the region splitting on the following image. Assume the threshold value be &lt;= 4.</a:t>
            </a:r>
          </a:p>
        </p:txBody>
      </p:sp>
      <p:sp>
        <p:nvSpPr>
          <p:cNvPr id="6" name="Text Box 5"/>
          <p:cNvSpPr txBox="1"/>
          <p:nvPr/>
        </p:nvSpPr>
        <p:spPr>
          <a:xfrm>
            <a:off x="1152525" y="3562350"/>
            <a:ext cx="57594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rgbClr val="FF0000"/>
                </a:solidFill>
              </a:rPr>
              <a:t>a</a:t>
            </a:r>
          </a:p>
        </p:txBody>
      </p:sp>
      <p:sp>
        <p:nvSpPr>
          <p:cNvPr id="15" name="Text Box 14"/>
          <p:cNvSpPr txBox="1"/>
          <p:nvPr/>
        </p:nvSpPr>
        <p:spPr>
          <a:xfrm>
            <a:off x="1152525" y="5000625"/>
            <a:ext cx="57594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rgbClr val="92D050"/>
                </a:solidFill>
              </a:rPr>
              <a:t>c</a:t>
            </a:r>
          </a:p>
        </p:txBody>
      </p:sp>
      <p:sp>
        <p:nvSpPr>
          <p:cNvPr id="16" name="Text Box 15"/>
          <p:cNvSpPr txBox="1"/>
          <p:nvPr/>
        </p:nvSpPr>
        <p:spPr>
          <a:xfrm>
            <a:off x="5184140" y="5051425"/>
            <a:ext cx="57594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rgbClr val="FFC000"/>
                </a:solidFill>
              </a:rPr>
              <a:t>d</a:t>
            </a:r>
          </a:p>
        </p:txBody>
      </p:sp>
      <p:sp>
        <p:nvSpPr>
          <p:cNvPr id="17" name="Text Box 16"/>
          <p:cNvSpPr txBox="1"/>
          <p:nvPr/>
        </p:nvSpPr>
        <p:spPr>
          <a:xfrm>
            <a:off x="7329170" y="3732530"/>
            <a:ext cx="22688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rgbClr val="FFC000"/>
                </a:solidFill>
              </a:rPr>
              <a:t>Max Value = 7</a:t>
            </a:r>
          </a:p>
        </p:txBody>
      </p:sp>
      <p:sp>
        <p:nvSpPr>
          <p:cNvPr id="18" name="Text Box 17"/>
          <p:cNvSpPr txBox="1"/>
          <p:nvPr/>
        </p:nvSpPr>
        <p:spPr>
          <a:xfrm>
            <a:off x="7329170" y="4319905"/>
            <a:ext cx="22688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rgbClr val="FFC000"/>
                </a:solidFill>
              </a:rPr>
              <a:t>Min Value = 0</a:t>
            </a:r>
          </a:p>
        </p:txBody>
      </p:sp>
      <p:sp>
        <p:nvSpPr>
          <p:cNvPr id="19" name="Text Box 18"/>
          <p:cNvSpPr txBox="1"/>
          <p:nvPr/>
        </p:nvSpPr>
        <p:spPr>
          <a:xfrm>
            <a:off x="6801485" y="5026660"/>
            <a:ext cx="139827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rgbClr val="FFC000"/>
                </a:solidFill>
                <a:sym typeface="+mn-ea"/>
              </a:rPr>
              <a:t>|7-0|=7</a:t>
            </a:r>
          </a:p>
        </p:txBody>
      </p:sp>
      <p:sp>
        <p:nvSpPr>
          <p:cNvPr id="20" name="Text Box 19"/>
          <p:cNvSpPr txBox="1"/>
          <p:nvPr/>
        </p:nvSpPr>
        <p:spPr>
          <a:xfrm>
            <a:off x="8199755" y="5026660"/>
            <a:ext cx="139827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400">
                <a:solidFill>
                  <a:srgbClr val="FFC000"/>
                </a:solidFill>
              </a:rPr>
              <a:t>&lt;=4</a:t>
            </a:r>
          </a:p>
        </p:txBody>
      </p:sp>
      <p:sp>
        <p:nvSpPr>
          <p:cNvPr id="21" name="Text Box 20"/>
          <p:cNvSpPr txBox="1"/>
          <p:nvPr/>
        </p:nvSpPr>
        <p:spPr>
          <a:xfrm>
            <a:off x="9598025" y="5026660"/>
            <a:ext cx="508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400">
                <a:solidFill>
                  <a:srgbClr val="FF0000"/>
                </a:solidFill>
                <a:sym typeface="+mn-ea"/>
              </a:rPr>
              <a:t>X</a:t>
            </a:r>
          </a:p>
        </p:txBody>
      </p:sp>
      <p:sp>
        <p:nvSpPr>
          <p:cNvPr id="22" name="Text Box 21"/>
          <p:cNvSpPr txBox="1"/>
          <p:nvPr/>
        </p:nvSpPr>
        <p:spPr>
          <a:xfrm>
            <a:off x="7329170" y="3212465"/>
            <a:ext cx="22688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rgbClr val="FFC000"/>
                </a:solidFill>
              </a:rPr>
              <a:t>For Region d,</a:t>
            </a:r>
          </a:p>
        </p:txBody>
      </p:sp>
      <p:cxnSp>
        <p:nvCxnSpPr>
          <p:cNvPr id="12" name="Straight Connector 11"/>
          <p:cNvCxnSpPr/>
          <p:nvPr/>
        </p:nvCxnSpPr>
        <p:spPr>
          <a:xfrm>
            <a:off x="4168775" y="4421505"/>
            <a:ext cx="10795" cy="1772285"/>
          </a:xfrm>
          <a:prstGeom prst="line">
            <a:avLst/>
          </a:prstGeom>
          <a:ln w="31750" cap="rnd">
            <a:solidFill>
              <a:srgbClr val="FF0000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3256915" y="5313045"/>
            <a:ext cx="1814195" cy="10160"/>
          </a:xfrm>
          <a:prstGeom prst="line">
            <a:avLst/>
          </a:prstGeom>
          <a:ln w="31750" cap="rnd">
            <a:solidFill>
              <a:srgbClr val="FF0000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" name="Text Box 2"/>
          <p:cNvSpPr txBox="1"/>
          <p:nvPr/>
        </p:nvSpPr>
        <p:spPr>
          <a:xfrm>
            <a:off x="3486150" y="2426970"/>
            <a:ext cx="57594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chemeClr val="accent1"/>
                </a:solidFill>
              </a:rPr>
              <a:t>b1</a:t>
            </a:r>
          </a:p>
        </p:txBody>
      </p:sp>
      <p:sp>
        <p:nvSpPr>
          <p:cNvPr id="7" name="Text Box 6"/>
          <p:cNvSpPr txBox="1"/>
          <p:nvPr/>
        </p:nvSpPr>
        <p:spPr>
          <a:xfrm>
            <a:off x="4968875" y="2435860"/>
            <a:ext cx="57594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chemeClr val="accent1"/>
                </a:solidFill>
              </a:rPr>
              <a:t>b2</a:t>
            </a:r>
          </a:p>
        </p:txBody>
      </p:sp>
      <p:sp>
        <p:nvSpPr>
          <p:cNvPr id="8" name="Text Box 7"/>
          <p:cNvSpPr txBox="1"/>
          <p:nvPr/>
        </p:nvSpPr>
        <p:spPr>
          <a:xfrm>
            <a:off x="5071110" y="3952240"/>
            <a:ext cx="57594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chemeClr val="accent1"/>
                </a:solidFill>
              </a:rPr>
              <a:t>b4</a:t>
            </a:r>
          </a:p>
        </p:txBody>
      </p:sp>
      <p:sp>
        <p:nvSpPr>
          <p:cNvPr id="9" name="Text Box 8"/>
          <p:cNvSpPr txBox="1"/>
          <p:nvPr/>
        </p:nvSpPr>
        <p:spPr>
          <a:xfrm>
            <a:off x="2588260" y="2426970"/>
            <a:ext cx="57594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chemeClr val="accent1"/>
                </a:solidFill>
              </a:rPr>
              <a:t>b3</a:t>
            </a:r>
          </a:p>
        </p:txBody>
      </p:sp>
      <p:cxnSp>
        <p:nvCxnSpPr>
          <p:cNvPr id="10" name="Straight Arrow Connector 9"/>
          <p:cNvCxnSpPr>
            <a:endCxn id="9" idx="2"/>
          </p:cNvCxnSpPr>
          <p:nvPr/>
        </p:nvCxnSpPr>
        <p:spPr>
          <a:xfrm flipH="1" flipV="1">
            <a:off x="2876550" y="2887345"/>
            <a:ext cx="518160" cy="1267460"/>
          </a:xfrm>
          <a:prstGeom prst="straightConnector1">
            <a:avLst/>
          </a:prstGeom>
          <a:ln w="31750" cap="rnd">
            <a:solidFill>
              <a:schemeClr val="accent1"/>
            </a:solidFill>
            <a:round/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5" grpId="0"/>
      <p:bldP spid="16" grpId="0"/>
      <p:bldP spid="17" grpId="0"/>
      <p:bldP spid="17" grpId="1"/>
      <p:bldP spid="18" grpId="0"/>
      <p:bldP spid="18" grpId="1"/>
      <p:bldP spid="19" grpId="0"/>
      <p:bldP spid="19" grpId="1"/>
      <p:bldP spid="20" grpId="0"/>
      <p:bldP spid="20" grpId="1"/>
      <p:bldP spid="21" grpId="0"/>
      <p:bldP spid="21" grpId="1"/>
      <p:bldP spid="22" grpId="0"/>
      <p:bldP spid="22" grpId="1"/>
    </p:bldLst>
  </p:timing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ym typeface="+mn-ea"/>
              </a:rPr>
              <a:t>Region Splitting</a:t>
            </a:r>
            <a:endParaRPr lang="en-US"/>
          </a:p>
        </p:txBody>
      </p:sp>
      <p:graphicFrame>
        <p:nvGraphicFramePr>
          <p:cNvPr id="4" name="Table 3"/>
          <p:cNvGraphicFramePr/>
          <p:nvPr>
            <p:custDataLst>
              <p:tags r:id="rId1"/>
            </p:custDataLst>
          </p:nvPr>
        </p:nvGraphicFramePr>
        <p:xfrm>
          <a:off x="1838325" y="3025775"/>
          <a:ext cx="3098800" cy="3048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87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73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73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73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873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873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873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873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chemeClr val="accent4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chemeClr val="accent4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Text Box 4"/>
          <p:cNvSpPr txBox="1"/>
          <p:nvPr/>
        </p:nvSpPr>
        <p:spPr>
          <a:xfrm>
            <a:off x="996950" y="1616075"/>
            <a:ext cx="1040574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400"/>
              <a:t>Apply the region splitting on the following image. Assume the threshold value be &lt;= 4.</a:t>
            </a:r>
          </a:p>
        </p:txBody>
      </p:sp>
      <p:sp>
        <p:nvSpPr>
          <p:cNvPr id="6" name="Text Box 5"/>
          <p:cNvSpPr txBox="1"/>
          <p:nvPr/>
        </p:nvSpPr>
        <p:spPr>
          <a:xfrm>
            <a:off x="1152525" y="3562350"/>
            <a:ext cx="57594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rgbClr val="FF0000"/>
                </a:solidFill>
              </a:rPr>
              <a:t>a</a:t>
            </a:r>
          </a:p>
        </p:txBody>
      </p:sp>
      <p:sp>
        <p:nvSpPr>
          <p:cNvPr id="14" name="Text Box 13"/>
          <p:cNvSpPr txBox="1"/>
          <p:nvPr/>
        </p:nvSpPr>
        <p:spPr>
          <a:xfrm>
            <a:off x="5182235" y="5051425"/>
            <a:ext cx="57594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rgbClr val="FFC000"/>
                </a:solidFill>
              </a:rPr>
              <a:t>d</a:t>
            </a:r>
          </a:p>
        </p:txBody>
      </p:sp>
      <p:sp>
        <p:nvSpPr>
          <p:cNvPr id="15" name="Text Box 14"/>
          <p:cNvSpPr txBox="1"/>
          <p:nvPr/>
        </p:nvSpPr>
        <p:spPr>
          <a:xfrm>
            <a:off x="1152525" y="5000625"/>
            <a:ext cx="57594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rgbClr val="92D050"/>
                </a:solidFill>
              </a:rPr>
              <a:t>c</a:t>
            </a:r>
          </a:p>
        </p:txBody>
      </p:sp>
      <p:cxnSp>
        <p:nvCxnSpPr>
          <p:cNvPr id="12" name="Straight Connector 11"/>
          <p:cNvCxnSpPr/>
          <p:nvPr/>
        </p:nvCxnSpPr>
        <p:spPr>
          <a:xfrm>
            <a:off x="4168775" y="4411345"/>
            <a:ext cx="10795" cy="1772285"/>
          </a:xfrm>
          <a:prstGeom prst="line">
            <a:avLst/>
          </a:prstGeom>
          <a:ln w="31750" cap="rnd">
            <a:solidFill>
              <a:srgbClr val="FF0000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3256915" y="5302885"/>
            <a:ext cx="1814195" cy="10160"/>
          </a:xfrm>
          <a:prstGeom prst="line">
            <a:avLst/>
          </a:prstGeom>
          <a:ln w="31750" cap="rnd">
            <a:solidFill>
              <a:srgbClr val="FF0000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" name="Text Box 2"/>
          <p:cNvSpPr txBox="1"/>
          <p:nvPr/>
        </p:nvSpPr>
        <p:spPr>
          <a:xfrm>
            <a:off x="2680970" y="6280785"/>
            <a:ext cx="57594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rgbClr val="FFC000"/>
                </a:solidFill>
              </a:rPr>
              <a:t>d1</a:t>
            </a:r>
          </a:p>
        </p:txBody>
      </p:sp>
      <p:sp>
        <p:nvSpPr>
          <p:cNvPr id="7" name="Text Box 6"/>
          <p:cNvSpPr txBox="1"/>
          <p:nvPr/>
        </p:nvSpPr>
        <p:spPr>
          <a:xfrm>
            <a:off x="5202555" y="4665980"/>
            <a:ext cx="57594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rgbClr val="FFC000"/>
                </a:solidFill>
              </a:rPr>
              <a:t>d2</a:t>
            </a:r>
          </a:p>
        </p:txBody>
      </p:sp>
      <p:sp>
        <p:nvSpPr>
          <p:cNvPr id="8" name="Text Box 7"/>
          <p:cNvSpPr txBox="1"/>
          <p:nvPr/>
        </p:nvSpPr>
        <p:spPr>
          <a:xfrm>
            <a:off x="3475990" y="6203950"/>
            <a:ext cx="57594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rgbClr val="FFC000"/>
                </a:solidFill>
              </a:rPr>
              <a:t>d3</a:t>
            </a:r>
          </a:p>
        </p:txBody>
      </p:sp>
      <p:sp>
        <p:nvSpPr>
          <p:cNvPr id="9" name="Text Box 8"/>
          <p:cNvSpPr txBox="1"/>
          <p:nvPr/>
        </p:nvSpPr>
        <p:spPr>
          <a:xfrm>
            <a:off x="5071110" y="6073775"/>
            <a:ext cx="57594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rgbClr val="FFC000"/>
                </a:solidFill>
              </a:rPr>
              <a:t>d4</a:t>
            </a:r>
          </a:p>
        </p:txBody>
      </p:sp>
      <p:cxnSp>
        <p:nvCxnSpPr>
          <p:cNvPr id="10" name="Straight Arrow Connector 9"/>
          <p:cNvCxnSpPr>
            <a:endCxn id="3" idx="0"/>
          </p:cNvCxnSpPr>
          <p:nvPr/>
        </p:nvCxnSpPr>
        <p:spPr>
          <a:xfrm flipH="1">
            <a:off x="2969260" y="4929505"/>
            <a:ext cx="425450" cy="1351280"/>
          </a:xfrm>
          <a:prstGeom prst="straightConnector1">
            <a:avLst/>
          </a:prstGeom>
          <a:ln w="31750" cap="rnd">
            <a:solidFill>
              <a:srgbClr val="FFC000"/>
            </a:solidFill>
            <a:round/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8" name="Text Box 27"/>
          <p:cNvSpPr txBox="1"/>
          <p:nvPr/>
        </p:nvSpPr>
        <p:spPr>
          <a:xfrm>
            <a:off x="7329170" y="3732530"/>
            <a:ext cx="22688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rgbClr val="FFC000"/>
                </a:solidFill>
              </a:rPr>
              <a:t>Max Value = 7</a:t>
            </a:r>
          </a:p>
        </p:txBody>
      </p:sp>
      <p:sp>
        <p:nvSpPr>
          <p:cNvPr id="29" name="Text Box 28"/>
          <p:cNvSpPr txBox="1"/>
          <p:nvPr/>
        </p:nvSpPr>
        <p:spPr>
          <a:xfrm>
            <a:off x="7329170" y="4319905"/>
            <a:ext cx="22688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rgbClr val="FFC000"/>
                </a:solidFill>
              </a:rPr>
              <a:t>Min Value = 0</a:t>
            </a:r>
          </a:p>
        </p:txBody>
      </p:sp>
      <p:sp>
        <p:nvSpPr>
          <p:cNvPr id="30" name="Text Box 29"/>
          <p:cNvSpPr txBox="1"/>
          <p:nvPr/>
        </p:nvSpPr>
        <p:spPr>
          <a:xfrm>
            <a:off x="6801485" y="5026660"/>
            <a:ext cx="139827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rgbClr val="FFC000"/>
                </a:solidFill>
                <a:sym typeface="+mn-ea"/>
              </a:rPr>
              <a:t>|7-0|=7</a:t>
            </a:r>
          </a:p>
        </p:txBody>
      </p:sp>
      <p:sp>
        <p:nvSpPr>
          <p:cNvPr id="31" name="Text Box 30"/>
          <p:cNvSpPr txBox="1"/>
          <p:nvPr/>
        </p:nvSpPr>
        <p:spPr>
          <a:xfrm>
            <a:off x="8199755" y="5026660"/>
            <a:ext cx="139827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400">
                <a:solidFill>
                  <a:srgbClr val="FFC000"/>
                </a:solidFill>
              </a:rPr>
              <a:t>&lt;=4</a:t>
            </a:r>
          </a:p>
        </p:txBody>
      </p:sp>
      <p:sp>
        <p:nvSpPr>
          <p:cNvPr id="32" name="Text Box 31"/>
          <p:cNvSpPr txBox="1"/>
          <p:nvPr/>
        </p:nvSpPr>
        <p:spPr>
          <a:xfrm>
            <a:off x="9598025" y="5026660"/>
            <a:ext cx="508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400">
                <a:solidFill>
                  <a:srgbClr val="FF0000"/>
                </a:solidFill>
                <a:sym typeface="+mn-ea"/>
              </a:rPr>
              <a:t>X</a:t>
            </a:r>
          </a:p>
        </p:txBody>
      </p:sp>
      <p:sp>
        <p:nvSpPr>
          <p:cNvPr id="33" name="Text Box 32"/>
          <p:cNvSpPr txBox="1"/>
          <p:nvPr/>
        </p:nvSpPr>
        <p:spPr>
          <a:xfrm>
            <a:off x="7329170" y="3212465"/>
            <a:ext cx="22688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rgbClr val="FFC000"/>
                </a:solidFill>
              </a:rPr>
              <a:t>For Region d,</a:t>
            </a:r>
          </a:p>
        </p:txBody>
      </p:sp>
      <p:sp>
        <p:nvSpPr>
          <p:cNvPr id="34" name="Text Box 33"/>
          <p:cNvSpPr txBox="1"/>
          <p:nvPr/>
        </p:nvSpPr>
        <p:spPr>
          <a:xfrm>
            <a:off x="3486150" y="2426970"/>
            <a:ext cx="57594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chemeClr val="accent1"/>
                </a:solidFill>
              </a:rPr>
              <a:t>b1</a:t>
            </a:r>
          </a:p>
        </p:txBody>
      </p:sp>
      <p:sp>
        <p:nvSpPr>
          <p:cNvPr id="35" name="Text Box 34"/>
          <p:cNvSpPr txBox="1"/>
          <p:nvPr/>
        </p:nvSpPr>
        <p:spPr>
          <a:xfrm>
            <a:off x="4968875" y="2435860"/>
            <a:ext cx="57594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chemeClr val="accent1"/>
                </a:solidFill>
              </a:rPr>
              <a:t>b2</a:t>
            </a:r>
          </a:p>
        </p:txBody>
      </p:sp>
      <p:sp>
        <p:nvSpPr>
          <p:cNvPr id="36" name="Text Box 35"/>
          <p:cNvSpPr txBox="1"/>
          <p:nvPr/>
        </p:nvSpPr>
        <p:spPr>
          <a:xfrm>
            <a:off x="5071110" y="3952240"/>
            <a:ext cx="57594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chemeClr val="accent1"/>
                </a:solidFill>
              </a:rPr>
              <a:t>b4</a:t>
            </a:r>
          </a:p>
        </p:txBody>
      </p:sp>
      <p:sp>
        <p:nvSpPr>
          <p:cNvPr id="37" name="Text Box 36"/>
          <p:cNvSpPr txBox="1"/>
          <p:nvPr/>
        </p:nvSpPr>
        <p:spPr>
          <a:xfrm>
            <a:off x="2588260" y="2426970"/>
            <a:ext cx="57594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chemeClr val="accent1"/>
                </a:solidFill>
              </a:rPr>
              <a:t>b3</a:t>
            </a:r>
          </a:p>
        </p:txBody>
      </p:sp>
      <p:cxnSp>
        <p:nvCxnSpPr>
          <p:cNvPr id="38" name="Straight Arrow Connector 37"/>
          <p:cNvCxnSpPr>
            <a:endCxn id="37" idx="2"/>
          </p:cNvCxnSpPr>
          <p:nvPr/>
        </p:nvCxnSpPr>
        <p:spPr>
          <a:xfrm flipH="1" flipV="1">
            <a:off x="2876550" y="2887345"/>
            <a:ext cx="518160" cy="1267460"/>
          </a:xfrm>
          <a:prstGeom prst="straightConnector1">
            <a:avLst/>
          </a:prstGeom>
          <a:ln w="31750" cap="rnd">
            <a:solidFill>
              <a:schemeClr val="accent1"/>
            </a:solidFill>
            <a:round/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2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3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2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4" grpId="0"/>
      <p:bldP spid="14" grpId="1"/>
      <p:bldP spid="15" grpId="0"/>
      <p:bldP spid="3" grpId="0"/>
      <p:bldP spid="3" grpId="1"/>
      <p:bldP spid="7" grpId="0"/>
      <p:bldP spid="7" grpId="1"/>
      <p:bldP spid="8" grpId="0"/>
      <p:bldP spid="8" grpId="1"/>
      <p:bldP spid="9" grpId="0"/>
      <p:bldP spid="9" grpId="1"/>
      <p:bldP spid="28" grpId="0"/>
      <p:bldP spid="29" grpId="0"/>
      <p:bldP spid="30" grpId="0"/>
      <p:bldP spid="31" grpId="0"/>
      <p:bldP spid="32" grpId="0"/>
      <p:bldP spid="33" grpId="0"/>
    </p:bldLst>
  </p:timing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ym typeface="+mn-ea"/>
              </a:rPr>
              <a:t>Region Splitting</a:t>
            </a:r>
            <a:endParaRPr lang="en-US"/>
          </a:p>
        </p:txBody>
      </p:sp>
      <p:graphicFrame>
        <p:nvGraphicFramePr>
          <p:cNvPr id="4" name="Table 3"/>
          <p:cNvGraphicFramePr/>
          <p:nvPr>
            <p:custDataLst>
              <p:tags r:id="rId1"/>
            </p:custDataLst>
          </p:nvPr>
        </p:nvGraphicFramePr>
        <p:xfrm>
          <a:off x="1838325" y="3025775"/>
          <a:ext cx="3098800" cy="3048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87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73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73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73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873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873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873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873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chemeClr val="accent4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chemeClr val="accent4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Text Box 4"/>
          <p:cNvSpPr txBox="1"/>
          <p:nvPr/>
        </p:nvSpPr>
        <p:spPr>
          <a:xfrm>
            <a:off x="996950" y="1616075"/>
            <a:ext cx="1040574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400"/>
              <a:t>Apply the region splitting on the following image. Assume the threshold value be &lt;= 4.</a:t>
            </a:r>
          </a:p>
        </p:txBody>
      </p:sp>
      <p:sp>
        <p:nvSpPr>
          <p:cNvPr id="6" name="Text Box 5"/>
          <p:cNvSpPr txBox="1"/>
          <p:nvPr/>
        </p:nvSpPr>
        <p:spPr>
          <a:xfrm>
            <a:off x="1152525" y="3562350"/>
            <a:ext cx="57594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rgbClr val="FF0000"/>
                </a:solidFill>
              </a:rPr>
              <a:t>a</a:t>
            </a:r>
          </a:p>
        </p:txBody>
      </p:sp>
      <p:sp>
        <p:nvSpPr>
          <p:cNvPr id="15" name="Text Box 14"/>
          <p:cNvSpPr txBox="1"/>
          <p:nvPr/>
        </p:nvSpPr>
        <p:spPr>
          <a:xfrm>
            <a:off x="1152525" y="5000625"/>
            <a:ext cx="57594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rgbClr val="92D050"/>
                </a:solidFill>
              </a:rPr>
              <a:t>c</a:t>
            </a:r>
          </a:p>
        </p:txBody>
      </p:sp>
      <p:sp>
        <p:nvSpPr>
          <p:cNvPr id="3" name="Text Box 2"/>
          <p:cNvSpPr txBox="1"/>
          <p:nvPr/>
        </p:nvSpPr>
        <p:spPr>
          <a:xfrm>
            <a:off x="2680970" y="6280785"/>
            <a:ext cx="57594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rgbClr val="FFC000"/>
                </a:solidFill>
              </a:rPr>
              <a:t>d1</a:t>
            </a:r>
          </a:p>
        </p:txBody>
      </p:sp>
      <p:sp>
        <p:nvSpPr>
          <p:cNvPr id="7" name="Text Box 6"/>
          <p:cNvSpPr txBox="1"/>
          <p:nvPr/>
        </p:nvSpPr>
        <p:spPr>
          <a:xfrm>
            <a:off x="5202555" y="4665980"/>
            <a:ext cx="57594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rgbClr val="FFC000"/>
                </a:solidFill>
              </a:rPr>
              <a:t>d2</a:t>
            </a:r>
          </a:p>
        </p:txBody>
      </p:sp>
      <p:sp>
        <p:nvSpPr>
          <p:cNvPr id="8" name="Text Box 7"/>
          <p:cNvSpPr txBox="1"/>
          <p:nvPr/>
        </p:nvSpPr>
        <p:spPr>
          <a:xfrm>
            <a:off x="3475990" y="6203950"/>
            <a:ext cx="57594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rgbClr val="FFC000"/>
                </a:solidFill>
              </a:rPr>
              <a:t>d3</a:t>
            </a:r>
          </a:p>
        </p:txBody>
      </p:sp>
      <p:sp>
        <p:nvSpPr>
          <p:cNvPr id="9" name="Text Box 8"/>
          <p:cNvSpPr txBox="1"/>
          <p:nvPr/>
        </p:nvSpPr>
        <p:spPr>
          <a:xfrm>
            <a:off x="5071110" y="6073775"/>
            <a:ext cx="57594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rgbClr val="FFC000"/>
                </a:solidFill>
              </a:rPr>
              <a:t>d4</a:t>
            </a:r>
          </a:p>
        </p:txBody>
      </p:sp>
      <p:cxnSp>
        <p:nvCxnSpPr>
          <p:cNvPr id="10" name="Straight Arrow Connector 9"/>
          <p:cNvCxnSpPr>
            <a:endCxn id="3" idx="0"/>
          </p:cNvCxnSpPr>
          <p:nvPr/>
        </p:nvCxnSpPr>
        <p:spPr>
          <a:xfrm flipH="1">
            <a:off x="2969260" y="4929505"/>
            <a:ext cx="425450" cy="1351280"/>
          </a:xfrm>
          <a:prstGeom prst="straightConnector1">
            <a:avLst/>
          </a:prstGeom>
          <a:ln w="31750" cap="rnd">
            <a:solidFill>
              <a:srgbClr val="FFC000"/>
            </a:solidFill>
            <a:round/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8" name="Text Box 27"/>
          <p:cNvSpPr txBox="1"/>
          <p:nvPr/>
        </p:nvSpPr>
        <p:spPr>
          <a:xfrm>
            <a:off x="7329170" y="3732530"/>
            <a:ext cx="22688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chemeClr val="accent1"/>
                </a:solidFill>
              </a:rPr>
              <a:t>Max Value = 7</a:t>
            </a:r>
          </a:p>
        </p:txBody>
      </p:sp>
      <p:sp>
        <p:nvSpPr>
          <p:cNvPr id="29" name="Text Box 28"/>
          <p:cNvSpPr txBox="1"/>
          <p:nvPr/>
        </p:nvSpPr>
        <p:spPr>
          <a:xfrm>
            <a:off x="7329170" y="4319905"/>
            <a:ext cx="22688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chemeClr val="accent1"/>
                </a:solidFill>
              </a:rPr>
              <a:t>Min Value = 5</a:t>
            </a:r>
          </a:p>
        </p:txBody>
      </p:sp>
      <p:sp>
        <p:nvSpPr>
          <p:cNvPr id="30" name="Text Box 29"/>
          <p:cNvSpPr txBox="1"/>
          <p:nvPr/>
        </p:nvSpPr>
        <p:spPr>
          <a:xfrm>
            <a:off x="6801485" y="5026660"/>
            <a:ext cx="139827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chemeClr val="accent1"/>
                </a:solidFill>
                <a:sym typeface="+mn-ea"/>
              </a:rPr>
              <a:t>|7-5|=2</a:t>
            </a:r>
          </a:p>
        </p:txBody>
      </p:sp>
      <p:sp>
        <p:nvSpPr>
          <p:cNvPr id="31" name="Text Box 30"/>
          <p:cNvSpPr txBox="1"/>
          <p:nvPr/>
        </p:nvSpPr>
        <p:spPr>
          <a:xfrm>
            <a:off x="8199755" y="5026660"/>
            <a:ext cx="139827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400">
                <a:solidFill>
                  <a:schemeClr val="accent1"/>
                </a:solidFill>
              </a:rPr>
              <a:t>&lt;=4</a:t>
            </a:r>
          </a:p>
        </p:txBody>
      </p:sp>
      <p:sp>
        <p:nvSpPr>
          <p:cNvPr id="32" name="Text Box 31"/>
          <p:cNvSpPr txBox="1"/>
          <p:nvPr/>
        </p:nvSpPr>
        <p:spPr>
          <a:xfrm>
            <a:off x="9598025" y="5026660"/>
            <a:ext cx="508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400">
                <a:solidFill>
                  <a:srgbClr val="92D050"/>
                </a:solidFill>
                <a:sym typeface="+mn-ea"/>
              </a:rPr>
              <a:t>✔</a:t>
            </a:r>
            <a:endParaRPr lang="en-US" sz="2400">
              <a:solidFill>
                <a:srgbClr val="FF0000"/>
              </a:solidFill>
              <a:sym typeface="+mn-ea"/>
            </a:endParaRPr>
          </a:p>
        </p:txBody>
      </p:sp>
      <p:sp>
        <p:nvSpPr>
          <p:cNvPr id="33" name="Text Box 32"/>
          <p:cNvSpPr txBox="1"/>
          <p:nvPr/>
        </p:nvSpPr>
        <p:spPr>
          <a:xfrm>
            <a:off x="7329170" y="3212465"/>
            <a:ext cx="22688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chemeClr val="accent1"/>
                </a:solidFill>
              </a:rPr>
              <a:t>For Region b1,</a:t>
            </a:r>
          </a:p>
        </p:txBody>
      </p:sp>
      <p:sp>
        <p:nvSpPr>
          <p:cNvPr id="34" name="Text Box 33"/>
          <p:cNvSpPr txBox="1"/>
          <p:nvPr/>
        </p:nvSpPr>
        <p:spPr>
          <a:xfrm>
            <a:off x="3486150" y="2426970"/>
            <a:ext cx="57594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chemeClr val="accent1"/>
                </a:solidFill>
              </a:rPr>
              <a:t>b1</a:t>
            </a:r>
          </a:p>
        </p:txBody>
      </p:sp>
      <p:sp>
        <p:nvSpPr>
          <p:cNvPr id="35" name="Text Box 34"/>
          <p:cNvSpPr txBox="1"/>
          <p:nvPr/>
        </p:nvSpPr>
        <p:spPr>
          <a:xfrm>
            <a:off x="4968875" y="2435860"/>
            <a:ext cx="57594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chemeClr val="accent1"/>
                </a:solidFill>
              </a:rPr>
              <a:t>b2</a:t>
            </a:r>
          </a:p>
        </p:txBody>
      </p:sp>
      <p:sp>
        <p:nvSpPr>
          <p:cNvPr id="36" name="Text Box 35"/>
          <p:cNvSpPr txBox="1"/>
          <p:nvPr/>
        </p:nvSpPr>
        <p:spPr>
          <a:xfrm>
            <a:off x="5071110" y="3952240"/>
            <a:ext cx="57594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chemeClr val="accent1"/>
                </a:solidFill>
              </a:rPr>
              <a:t>b4</a:t>
            </a:r>
          </a:p>
        </p:txBody>
      </p:sp>
      <p:sp>
        <p:nvSpPr>
          <p:cNvPr id="37" name="Text Box 36"/>
          <p:cNvSpPr txBox="1"/>
          <p:nvPr/>
        </p:nvSpPr>
        <p:spPr>
          <a:xfrm>
            <a:off x="2588260" y="2426970"/>
            <a:ext cx="57594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chemeClr val="accent1"/>
                </a:solidFill>
              </a:rPr>
              <a:t>b3</a:t>
            </a:r>
          </a:p>
        </p:txBody>
      </p:sp>
      <p:cxnSp>
        <p:nvCxnSpPr>
          <p:cNvPr id="38" name="Straight Arrow Connector 37"/>
          <p:cNvCxnSpPr>
            <a:endCxn id="37" idx="2"/>
          </p:cNvCxnSpPr>
          <p:nvPr/>
        </p:nvCxnSpPr>
        <p:spPr>
          <a:xfrm flipH="1" flipV="1">
            <a:off x="2876550" y="2887345"/>
            <a:ext cx="518160" cy="1267460"/>
          </a:xfrm>
          <a:prstGeom prst="straightConnector1">
            <a:avLst/>
          </a:prstGeom>
          <a:ln w="31750" cap="rnd">
            <a:solidFill>
              <a:schemeClr val="accent1"/>
            </a:solidFill>
            <a:round/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5" grpId="0"/>
      <p:bldP spid="3" grpId="0"/>
      <p:bldP spid="7" grpId="0"/>
      <p:bldP spid="8" grpId="0"/>
      <p:bldP spid="9" grpId="0"/>
      <p:bldP spid="28" grpId="0"/>
      <p:bldP spid="28" grpId="1"/>
      <p:bldP spid="29" grpId="0"/>
      <p:bldP spid="29" grpId="1"/>
      <p:bldP spid="30" grpId="0"/>
      <p:bldP spid="30" grpId="1"/>
      <p:bldP spid="31" grpId="0"/>
      <p:bldP spid="31" grpId="1"/>
      <p:bldP spid="32" grpId="0"/>
      <p:bldP spid="32" grpId="1"/>
      <p:bldP spid="33" grpId="0"/>
      <p:bldP spid="33" grpId="1"/>
    </p:bldLst>
  </p:timing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ym typeface="+mn-ea"/>
              </a:rPr>
              <a:t>Region Splitting</a:t>
            </a:r>
            <a:endParaRPr lang="en-US"/>
          </a:p>
        </p:txBody>
      </p:sp>
      <p:graphicFrame>
        <p:nvGraphicFramePr>
          <p:cNvPr id="4" name="Table 3"/>
          <p:cNvGraphicFramePr/>
          <p:nvPr>
            <p:custDataLst>
              <p:tags r:id="rId1"/>
            </p:custDataLst>
          </p:nvPr>
        </p:nvGraphicFramePr>
        <p:xfrm>
          <a:off x="1838325" y="3025775"/>
          <a:ext cx="3098800" cy="3048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87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73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73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73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873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873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873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873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chemeClr val="accent4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chemeClr val="accent4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Text Box 4"/>
          <p:cNvSpPr txBox="1"/>
          <p:nvPr/>
        </p:nvSpPr>
        <p:spPr>
          <a:xfrm>
            <a:off x="996950" y="1616075"/>
            <a:ext cx="1040574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400"/>
              <a:t>Apply the region splitting on the following image. Assume the threshold value be &lt;= 4.</a:t>
            </a:r>
          </a:p>
        </p:txBody>
      </p:sp>
      <p:sp>
        <p:nvSpPr>
          <p:cNvPr id="6" name="Text Box 5"/>
          <p:cNvSpPr txBox="1"/>
          <p:nvPr/>
        </p:nvSpPr>
        <p:spPr>
          <a:xfrm>
            <a:off x="1152525" y="3562350"/>
            <a:ext cx="57594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rgbClr val="FF0000"/>
                </a:solidFill>
              </a:rPr>
              <a:t>a</a:t>
            </a:r>
          </a:p>
        </p:txBody>
      </p:sp>
      <p:sp>
        <p:nvSpPr>
          <p:cNvPr id="15" name="Text Box 14"/>
          <p:cNvSpPr txBox="1"/>
          <p:nvPr/>
        </p:nvSpPr>
        <p:spPr>
          <a:xfrm>
            <a:off x="1152525" y="5000625"/>
            <a:ext cx="57594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rgbClr val="92D050"/>
                </a:solidFill>
              </a:rPr>
              <a:t>c</a:t>
            </a:r>
          </a:p>
        </p:txBody>
      </p:sp>
      <p:sp>
        <p:nvSpPr>
          <p:cNvPr id="3" name="Text Box 2"/>
          <p:cNvSpPr txBox="1"/>
          <p:nvPr/>
        </p:nvSpPr>
        <p:spPr>
          <a:xfrm>
            <a:off x="2680970" y="6280785"/>
            <a:ext cx="57594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rgbClr val="FFC000"/>
                </a:solidFill>
              </a:rPr>
              <a:t>d1</a:t>
            </a:r>
          </a:p>
        </p:txBody>
      </p:sp>
      <p:sp>
        <p:nvSpPr>
          <p:cNvPr id="7" name="Text Box 6"/>
          <p:cNvSpPr txBox="1"/>
          <p:nvPr/>
        </p:nvSpPr>
        <p:spPr>
          <a:xfrm>
            <a:off x="5202555" y="4665980"/>
            <a:ext cx="57594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rgbClr val="FFC000"/>
                </a:solidFill>
              </a:rPr>
              <a:t>d2</a:t>
            </a:r>
          </a:p>
        </p:txBody>
      </p:sp>
      <p:sp>
        <p:nvSpPr>
          <p:cNvPr id="8" name="Text Box 7"/>
          <p:cNvSpPr txBox="1"/>
          <p:nvPr/>
        </p:nvSpPr>
        <p:spPr>
          <a:xfrm>
            <a:off x="3475990" y="6203950"/>
            <a:ext cx="57594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rgbClr val="FFC000"/>
                </a:solidFill>
              </a:rPr>
              <a:t>d3</a:t>
            </a:r>
          </a:p>
        </p:txBody>
      </p:sp>
      <p:sp>
        <p:nvSpPr>
          <p:cNvPr id="9" name="Text Box 8"/>
          <p:cNvSpPr txBox="1"/>
          <p:nvPr/>
        </p:nvSpPr>
        <p:spPr>
          <a:xfrm>
            <a:off x="5071110" y="6073775"/>
            <a:ext cx="57594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rgbClr val="FFC000"/>
                </a:solidFill>
              </a:rPr>
              <a:t>d4</a:t>
            </a:r>
          </a:p>
        </p:txBody>
      </p:sp>
      <p:cxnSp>
        <p:nvCxnSpPr>
          <p:cNvPr id="10" name="Straight Arrow Connector 9"/>
          <p:cNvCxnSpPr>
            <a:endCxn id="3" idx="0"/>
          </p:cNvCxnSpPr>
          <p:nvPr/>
        </p:nvCxnSpPr>
        <p:spPr>
          <a:xfrm flipH="1">
            <a:off x="2969260" y="4929505"/>
            <a:ext cx="425450" cy="1351280"/>
          </a:xfrm>
          <a:prstGeom prst="straightConnector1">
            <a:avLst/>
          </a:prstGeom>
          <a:ln w="31750" cap="rnd">
            <a:solidFill>
              <a:srgbClr val="FFC000"/>
            </a:solidFill>
            <a:round/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8" name="Text Box 27"/>
          <p:cNvSpPr txBox="1"/>
          <p:nvPr/>
        </p:nvSpPr>
        <p:spPr>
          <a:xfrm>
            <a:off x="7329170" y="3732530"/>
            <a:ext cx="22688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chemeClr val="accent1"/>
                </a:solidFill>
              </a:rPr>
              <a:t>Max Value = 7</a:t>
            </a:r>
          </a:p>
        </p:txBody>
      </p:sp>
      <p:sp>
        <p:nvSpPr>
          <p:cNvPr id="29" name="Text Box 28"/>
          <p:cNvSpPr txBox="1"/>
          <p:nvPr/>
        </p:nvSpPr>
        <p:spPr>
          <a:xfrm>
            <a:off x="7329170" y="4319905"/>
            <a:ext cx="22688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chemeClr val="accent1"/>
                </a:solidFill>
              </a:rPr>
              <a:t>Min Value = 4</a:t>
            </a:r>
          </a:p>
        </p:txBody>
      </p:sp>
      <p:sp>
        <p:nvSpPr>
          <p:cNvPr id="30" name="Text Box 29"/>
          <p:cNvSpPr txBox="1"/>
          <p:nvPr/>
        </p:nvSpPr>
        <p:spPr>
          <a:xfrm>
            <a:off x="6801485" y="5026660"/>
            <a:ext cx="139827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chemeClr val="accent1"/>
                </a:solidFill>
                <a:sym typeface="+mn-ea"/>
              </a:rPr>
              <a:t>|7-4|=3</a:t>
            </a:r>
          </a:p>
        </p:txBody>
      </p:sp>
      <p:sp>
        <p:nvSpPr>
          <p:cNvPr id="31" name="Text Box 30"/>
          <p:cNvSpPr txBox="1"/>
          <p:nvPr/>
        </p:nvSpPr>
        <p:spPr>
          <a:xfrm>
            <a:off x="8199755" y="5026660"/>
            <a:ext cx="139827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400">
                <a:solidFill>
                  <a:schemeClr val="accent1"/>
                </a:solidFill>
              </a:rPr>
              <a:t>&lt;=4</a:t>
            </a:r>
          </a:p>
        </p:txBody>
      </p:sp>
      <p:sp>
        <p:nvSpPr>
          <p:cNvPr id="32" name="Text Box 31"/>
          <p:cNvSpPr txBox="1"/>
          <p:nvPr/>
        </p:nvSpPr>
        <p:spPr>
          <a:xfrm>
            <a:off x="9598025" y="5026660"/>
            <a:ext cx="508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400">
                <a:solidFill>
                  <a:srgbClr val="92D050"/>
                </a:solidFill>
                <a:sym typeface="+mn-ea"/>
              </a:rPr>
              <a:t>✔</a:t>
            </a:r>
            <a:endParaRPr lang="en-US" sz="2400">
              <a:solidFill>
                <a:srgbClr val="FF0000"/>
              </a:solidFill>
              <a:sym typeface="+mn-ea"/>
            </a:endParaRPr>
          </a:p>
        </p:txBody>
      </p:sp>
      <p:sp>
        <p:nvSpPr>
          <p:cNvPr id="33" name="Text Box 32"/>
          <p:cNvSpPr txBox="1"/>
          <p:nvPr/>
        </p:nvSpPr>
        <p:spPr>
          <a:xfrm>
            <a:off x="7329170" y="3212465"/>
            <a:ext cx="22688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chemeClr val="accent1"/>
                </a:solidFill>
              </a:rPr>
              <a:t>For Region b2,</a:t>
            </a:r>
          </a:p>
        </p:txBody>
      </p:sp>
      <p:sp>
        <p:nvSpPr>
          <p:cNvPr id="34" name="Text Box 33"/>
          <p:cNvSpPr txBox="1"/>
          <p:nvPr/>
        </p:nvSpPr>
        <p:spPr>
          <a:xfrm>
            <a:off x="3486150" y="2426970"/>
            <a:ext cx="57594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chemeClr val="accent1"/>
                </a:solidFill>
              </a:rPr>
              <a:t>b1</a:t>
            </a:r>
          </a:p>
        </p:txBody>
      </p:sp>
      <p:sp>
        <p:nvSpPr>
          <p:cNvPr id="35" name="Text Box 34"/>
          <p:cNvSpPr txBox="1"/>
          <p:nvPr/>
        </p:nvSpPr>
        <p:spPr>
          <a:xfrm>
            <a:off x="4968875" y="2435860"/>
            <a:ext cx="57594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chemeClr val="accent1"/>
                </a:solidFill>
              </a:rPr>
              <a:t>b2</a:t>
            </a:r>
          </a:p>
        </p:txBody>
      </p:sp>
      <p:sp>
        <p:nvSpPr>
          <p:cNvPr id="36" name="Text Box 35"/>
          <p:cNvSpPr txBox="1"/>
          <p:nvPr/>
        </p:nvSpPr>
        <p:spPr>
          <a:xfrm>
            <a:off x="5071110" y="3952240"/>
            <a:ext cx="57594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chemeClr val="accent1"/>
                </a:solidFill>
              </a:rPr>
              <a:t>b4</a:t>
            </a:r>
          </a:p>
        </p:txBody>
      </p:sp>
      <p:sp>
        <p:nvSpPr>
          <p:cNvPr id="37" name="Text Box 36"/>
          <p:cNvSpPr txBox="1"/>
          <p:nvPr/>
        </p:nvSpPr>
        <p:spPr>
          <a:xfrm>
            <a:off x="2588260" y="2426970"/>
            <a:ext cx="57594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chemeClr val="accent1"/>
                </a:solidFill>
              </a:rPr>
              <a:t>b3</a:t>
            </a:r>
          </a:p>
        </p:txBody>
      </p:sp>
      <p:cxnSp>
        <p:nvCxnSpPr>
          <p:cNvPr id="38" name="Straight Arrow Connector 37"/>
          <p:cNvCxnSpPr>
            <a:endCxn id="37" idx="2"/>
          </p:cNvCxnSpPr>
          <p:nvPr/>
        </p:nvCxnSpPr>
        <p:spPr>
          <a:xfrm flipH="1" flipV="1">
            <a:off x="2876550" y="2887345"/>
            <a:ext cx="518160" cy="1267460"/>
          </a:xfrm>
          <a:prstGeom prst="straightConnector1">
            <a:avLst/>
          </a:prstGeom>
          <a:ln w="31750" cap="rnd">
            <a:solidFill>
              <a:schemeClr val="accent1"/>
            </a:solidFill>
            <a:round/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5" grpId="0"/>
      <p:bldP spid="3" grpId="0"/>
      <p:bldP spid="7" grpId="0"/>
      <p:bldP spid="8" grpId="0"/>
      <p:bldP spid="9" grpId="0"/>
      <p:bldP spid="28" grpId="0"/>
      <p:bldP spid="28" grpId="1"/>
      <p:bldP spid="29" grpId="0"/>
      <p:bldP spid="29" grpId="1"/>
      <p:bldP spid="30" grpId="0"/>
      <p:bldP spid="30" grpId="1"/>
      <p:bldP spid="31" grpId="0"/>
      <p:bldP spid="31" grpId="1"/>
      <p:bldP spid="32" grpId="0"/>
      <p:bldP spid="32" grpId="1"/>
      <p:bldP spid="33" grpId="0"/>
      <p:bldP spid="33" grpId="1"/>
    </p:bldLst>
  </p:timing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ym typeface="+mn-ea"/>
              </a:rPr>
              <a:t>Region Splitting</a:t>
            </a:r>
            <a:endParaRPr lang="en-US"/>
          </a:p>
        </p:txBody>
      </p:sp>
      <p:graphicFrame>
        <p:nvGraphicFramePr>
          <p:cNvPr id="4" name="Table 3"/>
          <p:cNvGraphicFramePr/>
          <p:nvPr>
            <p:custDataLst>
              <p:tags r:id="rId1"/>
            </p:custDataLst>
          </p:nvPr>
        </p:nvGraphicFramePr>
        <p:xfrm>
          <a:off x="1838325" y="3025775"/>
          <a:ext cx="3098800" cy="3048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87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73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73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73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873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873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873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873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chemeClr val="accent4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chemeClr val="accent4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Text Box 4"/>
          <p:cNvSpPr txBox="1"/>
          <p:nvPr/>
        </p:nvSpPr>
        <p:spPr>
          <a:xfrm>
            <a:off x="996950" y="1616075"/>
            <a:ext cx="1040574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400"/>
              <a:t>Apply the region splitting on the following image. Assume the threshold value be &lt;= 4.</a:t>
            </a:r>
          </a:p>
        </p:txBody>
      </p:sp>
      <p:sp>
        <p:nvSpPr>
          <p:cNvPr id="6" name="Text Box 5"/>
          <p:cNvSpPr txBox="1"/>
          <p:nvPr/>
        </p:nvSpPr>
        <p:spPr>
          <a:xfrm>
            <a:off x="1152525" y="3562350"/>
            <a:ext cx="57594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rgbClr val="FF0000"/>
                </a:solidFill>
              </a:rPr>
              <a:t>a</a:t>
            </a:r>
          </a:p>
        </p:txBody>
      </p:sp>
      <p:sp>
        <p:nvSpPr>
          <p:cNvPr id="15" name="Text Box 14"/>
          <p:cNvSpPr txBox="1"/>
          <p:nvPr/>
        </p:nvSpPr>
        <p:spPr>
          <a:xfrm>
            <a:off x="1152525" y="5000625"/>
            <a:ext cx="57594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rgbClr val="92D050"/>
                </a:solidFill>
              </a:rPr>
              <a:t>c</a:t>
            </a:r>
          </a:p>
        </p:txBody>
      </p:sp>
      <p:sp>
        <p:nvSpPr>
          <p:cNvPr id="3" name="Text Box 2"/>
          <p:cNvSpPr txBox="1"/>
          <p:nvPr/>
        </p:nvSpPr>
        <p:spPr>
          <a:xfrm>
            <a:off x="2680970" y="6280785"/>
            <a:ext cx="57594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rgbClr val="FFC000"/>
                </a:solidFill>
              </a:rPr>
              <a:t>d1</a:t>
            </a:r>
          </a:p>
        </p:txBody>
      </p:sp>
      <p:sp>
        <p:nvSpPr>
          <p:cNvPr id="7" name="Text Box 6"/>
          <p:cNvSpPr txBox="1"/>
          <p:nvPr/>
        </p:nvSpPr>
        <p:spPr>
          <a:xfrm>
            <a:off x="5202555" y="4665980"/>
            <a:ext cx="57594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rgbClr val="FFC000"/>
                </a:solidFill>
              </a:rPr>
              <a:t>d2</a:t>
            </a:r>
          </a:p>
        </p:txBody>
      </p:sp>
      <p:sp>
        <p:nvSpPr>
          <p:cNvPr id="8" name="Text Box 7"/>
          <p:cNvSpPr txBox="1"/>
          <p:nvPr/>
        </p:nvSpPr>
        <p:spPr>
          <a:xfrm>
            <a:off x="3475990" y="6203950"/>
            <a:ext cx="57594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rgbClr val="FFC000"/>
                </a:solidFill>
              </a:rPr>
              <a:t>d3</a:t>
            </a:r>
          </a:p>
        </p:txBody>
      </p:sp>
      <p:sp>
        <p:nvSpPr>
          <p:cNvPr id="9" name="Text Box 8"/>
          <p:cNvSpPr txBox="1"/>
          <p:nvPr/>
        </p:nvSpPr>
        <p:spPr>
          <a:xfrm>
            <a:off x="5071110" y="6073775"/>
            <a:ext cx="57594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rgbClr val="FFC000"/>
                </a:solidFill>
              </a:rPr>
              <a:t>d4</a:t>
            </a:r>
          </a:p>
        </p:txBody>
      </p:sp>
      <p:cxnSp>
        <p:nvCxnSpPr>
          <p:cNvPr id="10" name="Straight Arrow Connector 9"/>
          <p:cNvCxnSpPr>
            <a:endCxn id="3" idx="0"/>
          </p:cNvCxnSpPr>
          <p:nvPr/>
        </p:nvCxnSpPr>
        <p:spPr>
          <a:xfrm flipH="1">
            <a:off x="2969260" y="4929505"/>
            <a:ext cx="425450" cy="1351280"/>
          </a:xfrm>
          <a:prstGeom prst="straightConnector1">
            <a:avLst/>
          </a:prstGeom>
          <a:ln w="31750" cap="rnd">
            <a:solidFill>
              <a:srgbClr val="FFC000"/>
            </a:solidFill>
            <a:round/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8" name="Text Box 27"/>
          <p:cNvSpPr txBox="1"/>
          <p:nvPr/>
        </p:nvSpPr>
        <p:spPr>
          <a:xfrm>
            <a:off x="7329170" y="3732530"/>
            <a:ext cx="22688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chemeClr val="accent1"/>
                </a:solidFill>
              </a:rPr>
              <a:t>Max Value = 3</a:t>
            </a:r>
          </a:p>
        </p:txBody>
      </p:sp>
      <p:sp>
        <p:nvSpPr>
          <p:cNvPr id="29" name="Text Box 28"/>
          <p:cNvSpPr txBox="1"/>
          <p:nvPr/>
        </p:nvSpPr>
        <p:spPr>
          <a:xfrm>
            <a:off x="7329170" y="4319905"/>
            <a:ext cx="22688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chemeClr val="accent1"/>
                </a:solidFill>
              </a:rPr>
              <a:t>Min Value = 2</a:t>
            </a:r>
          </a:p>
        </p:txBody>
      </p:sp>
      <p:sp>
        <p:nvSpPr>
          <p:cNvPr id="30" name="Text Box 29"/>
          <p:cNvSpPr txBox="1"/>
          <p:nvPr/>
        </p:nvSpPr>
        <p:spPr>
          <a:xfrm>
            <a:off x="6801485" y="5026660"/>
            <a:ext cx="139827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chemeClr val="accent1"/>
                </a:solidFill>
                <a:sym typeface="+mn-ea"/>
              </a:rPr>
              <a:t>|3-2|=1</a:t>
            </a:r>
          </a:p>
        </p:txBody>
      </p:sp>
      <p:sp>
        <p:nvSpPr>
          <p:cNvPr id="31" name="Text Box 30"/>
          <p:cNvSpPr txBox="1"/>
          <p:nvPr/>
        </p:nvSpPr>
        <p:spPr>
          <a:xfrm>
            <a:off x="8199755" y="5026660"/>
            <a:ext cx="139827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400">
                <a:solidFill>
                  <a:schemeClr val="accent1"/>
                </a:solidFill>
              </a:rPr>
              <a:t>&lt;=4</a:t>
            </a:r>
          </a:p>
        </p:txBody>
      </p:sp>
      <p:sp>
        <p:nvSpPr>
          <p:cNvPr id="32" name="Text Box 31"/>
          <p:cNvSpPr txBox="1"/>
          <p:nvPr/>
        </p:nvSpPr>
        <p:spPr>
          <a:xfrm>
            <a:off x="9598025" y="5026660"/>
            <a:ext cx="508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400">
                <a:solidFill>
                  <a:srgbClr val="92D050"/>
                </a:solidFill>
                <a:sym typeface="+mn-ea"/>
              </a:rPr>
              <a:t>✔</a:t>
            </a:r>
            <a:endParaRPr lang="en-US" sz="2400">
              <a:solidFill>
                <a:srgbClr val="FF0000"/>
              </a:solidFill>
              <a:sym typeface="+mn-ea"/>
            </a:endParaRPr>
          </a:p>
        </p:txBody>
      </p:sp>
      <p:sp>
        <p:nvSpPr>
          <p:cNvPr id="33" name="Text Box 32"/>
          <p:cNvSpPr txBox="1"/>
          <p:nvPr/>
        </p:nvSpPr>
        <p:spPr>
          <a:xfrm>
            <a:off x="7329170" y="3212465"/>
            <a:ext cx="22688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chemeClr val="accent1"/>
                </a:solidFill>
              </a:rPr>
              <a:t>For Region b3,</a:t>
            </a:r>
          </a:p>
        </p:txBody>
      </p:sp>
      <p:sp>
        <p:nvSpPr>
          <p:cNvPr id="34" name="Text Box 33"/>
          <p:cNvSpPr txBox="1"/>
          <p:nvPr/>
        </p:nvSpPr>
        <p:spPr>
          <a:xfrm>
            <a:off x="3486150" y="2426970"/>
            <a:ext cx="57594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chemeClr val="accent1"/>
                </a:solidFill>
              </a:rPr>
              <a:t>b1</a:t>
            </a:r>
          </a:p>
        </p:txBody>
      </p:sp>
      <p:sp>
        <p:nvSpPr>
          <p:cNvPr id="35" name="Text Box 34"/>
          <p:cNvSpPr txBox="1"/>
          <p:nvPr/>
        </p:nvSpPr>
        <p:spPr>
          <a:xfrm>
            <a:off x="4968875" y="2435860"/>
            <a:ext cx="57594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chemeClr val="accent1"/>
                </a:solidFill>
              </a:rPr>
              <a:t>b2</a:t>
            </a:r>
          </a:p>
        </p:txBody>
      </p:sp>
      <p:sp>
        <p:nvSpPr>
          <p:cNvPr id="36" name="Text Box 35"/>
          <p:cNvSpPr txBox="1"/>
          <p:nvPr/>
        </p:nvSpPr>
        <p:spPr>
          <a:xfrm>
            <a:off x="5071110" y="3952240"/>
            <a:ext cx="57594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chemeClr val="accent1"/>
                </a:solidFill>
              </a:rPr>
              <a:t>b4</a:t>
            </a:r>
          </a:p>
        </p:txBody>
      </p:sp>
      <p:sp>
        <p:nvSpPr>
          <p:cNvPr id="37" name="Text Box 36"/>
          <p:cNvSpPr txBox="1"/>
          <p:nvPr/>
        </p:nvSpPr>
        <p:spPr>
          <a:xfrm>
            <a:off x="2588260" y="2426970"/>
            <a:ext cx="57594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chemeClr val="accent1"/>
                </a:solidFill>
              </a:rPr>
              <a:t>b3</a:t>
            </a:r>
          </a:p>
        </p:txBody>
      </p:sp>
      <p:cxnSp>
        <p:nvCxnSpPr>
          <p:cNvPr id="38" name="Straight Arrow Connector 37"/>
          <p:cNvCxnSpPr>
            <a:endCxn id="37" idx="2"/>
          </p:cNvCxnSpPr>
          <p:nvPr/>
        </p:nvCxnSpPr>
        <p:spPr>
          <a:xfrm flipH="1" flipV="1">
            <a:off x="2876550" y="2887345"/>
            <a:ext cx="518160" cy="1267460"/>
          </a:xfrm>
          <a:prstGeom prst="straightConnector1">
            <a:avLst/>
          </a:prstGeom>
          <a:ln w="31750" cap="rnd">
            <a:solidFill>
              <a:schemeClr val="accent1"/>
            </a:solidFill>
            <a:round/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5" grpId="0"/>
      <p:bldP spid="3" grpId="0"/>
      <p:bldP spid="7" grpId="0"/>
      <p:bldP spid="8" grpId="0"/>
      <p:bldP spid="9" grpId="0"/>
      <p:bldP spid="28" grpId="0"/>
      <p:bldP spid="28" grpId="1"/>
      <p:bldP spid="29" grpId="0"/>
      <p:bldP spid="29" grpId="1"/>
      <p:bldP spid="30" grpId="0"/>
      <p:bldP spid="30" grpId="1"/>
      <p:bldP spid="31" grpId="0"/>
      <p:bldP spid="31" grpId="1"/>
      <p:bldP spid="32" grpId="0"/>
      <p:bldP spid="32" grpId="1"/>
      <p:bldP spid="33" grpId="0"/>
      <p:bldP spid="33" grpId="1"/>
    </p:bldLst>
  </p:timing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ym typeface="+mn-ea"/>
              </a:rPr>
              <a:t>Region Splitting</a:t>
            </a:r>
            <a:endParaRPr lang="en-US"/>
          </a:p>
        </p:txBody>
      </p:sp>
      <p:graphicFrame>
        <p:nvGraphicFramePr>
          <p:cNvPr id="4" name="Table 3"/>
          <p:cNvGraphicFramePr/>
          <p:nvPr>
            <p:custDataLst>
              <p:tags r:id="rId1"/>
            </p:custDataLst>
          </p:nvPr>
        </p:nvGraphicFramePr>
        <p:xfrm>
          <a:off x="1838325" y="3025775"/>
          <a:ext cx="3098800" cy="3048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87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73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73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73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873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873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873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873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chemeClr val="accent4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chemeClr val="accent4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Text Box 4"/>
          <p:cNvSpPr txBox="1"/>
          <p:nvPr/>
        </p:nvSpPr>
        <p:spPr>
          <a:xfrm>
            <a:off x="996950" y="1616075"/>
            <a:ext cx="1040574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400"/>
              <a:t>Apply the region splitting on the following image. Assume the threshold value be &lt;= 4.</a:t>
            </a:r>
          </a:p>
        </p:txBody>
      </p:sp>
      <p:sp>
        <p:nvSpPr>
          <p:cNvPr id="6" name="Text Box 5"/>
          <p:cNvSpPr txBox="1"/>
          <p:nvPr/>
        </p:nvSpPr>
        <p:spPr>
          <a:xfrm>
            <a:off x="1152525" y="3562350"/>
            <a:ext cx="57594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rgbClr val="FF0000"/>
                </a:solidFill>
              </a:rPr>
              <a:t>a</a:t>
            </a:r>
          </a:p>
        </p:txBody>
      </p:sp>
      <p:sp>
        <p:nvSpPr>
          <p:cNvPr id="15" name="Text Box 14"/>
          <p:cNvSpPr txBox="1"/>
          <p:nvPr/>
        </p:nvSpPr>
        <p:spPr>
          <a:xfrm>
            <a:off x="1152525" y="5000625"/>
            <a:ext cx="57594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rgbClr val="92D050"/>
                </a:solidFill>
              </a:rPr>
              <a:t>c</a:t>
            </a:r>
          </a:p>
        </p:txBody>
      </p:sp>
      <p:sp>
        <p:nvSpPr>
          <p:cNvPr id="3" name="Text Box 2"/>
          <p:cNvSpPr txBox="1"/>
          <p:nvPr/>
        </p:nvSpPr>
        <p:spPr>
          <a:xfrm>
            <a:off x="2680970" y="6280785"/>
            <a:ext cx="57594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rgbClr val="FFC000"/>
                </a:solidFill>
              </a:rPr>
              <a:t>d1</a:t>
            </a:r>
          </a:p>
        </p:txBody>
      </p:sp>
      <p:sp>
        <p:nvSpPr>
          <p:cNvPr id="7" name="Text Box 6"/>
          <p:cNvSpPr txBox="1"/>
          <p:nvPr/>
        </p:nvSpPr>
        <p:spPr>
          <a:xfrm>
            <a:off x="5202555" y="4665980"/>
            <a:ext cx="57594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rgbClr val="FFC000"/>
                </a:solidFill>
              </a:rPr>
              <a:t>d2</a:t>
            </a:r>
          </a:p>
        </p:txBody>
      </p:sp>
      <p:sp>
        <p:nvSpPr>
          <p:cNvPr id="8" name="Text Box 7"/>
          <p:cNvSpPr txBox="1"/>
          <p:nvPr/>
        </p:nvSpPr>
        <p:spPr>
          <a:xfrm>
            <a:off x="3475990" y="6203950"/>
            <a:ext cx="57594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rgbClr val="FFC000"/>
                </a:solidFill>
              </a:rPr>
              <a:t>d3</a:t>
            </a:r>
          </a:p>
        </p:txBody>
      </p:sp>
      <p:sp>
        <p:nvSpPr>
          <p:cNvPr id="9" name="Text Box 8"/>
          <p:cNvSpPr txBox="1"/>
          <p:nvPr/>
        </p:nvSpPr>
        <p:spPr>
          <a:xfrm>
            <a:off x="5071110" y="6073775"/>
            <a:ext cx="57594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rgbClr val="FFC000"/>
                </a:solidFill>
              </a:rPr>
              <a:t>d4</a:t>
            </a:r>
          </a:p>
        </p:txBody>
      </p:sp>
      <p:cxnSp>
        <p:nvCxnSpPr>
          <p:cNvPr id="10" name="Straight Arrow Connector 9"/>
          <p:cNvCxnSpPr>
            <a:endCxn id="3" idx="0"/>
          </p:cNvCxnSpPr>
          <p:nvPr/>
        </p:nvCxnSpPr>
        <p:spPr>
          <a:xfrm flipH="1">
            <a:off x="2969260" y="4929505"/>
            <a:ext cx="425450" cy="1351280"/>
          </a:xfrm>
          <a:prstGeom prst="straightConnector1">
            <a:avLst/>
          </a:prstGeom>
          <a:ln w="31750" cap="rnd">
            <a:solidFill>
              <a:srgbClr val="FFC000"/>
            </a:solidFill>
            <a:round/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8" name="Text Box 27"/>
          <p:cNvSpPr txBox="1"/>
          <p:nvPr/>
        </p:nvSpPr>
        <p:spPr>
          <a:xfrm>
            <a:off x="7329170" y="3732530"/>
            <a:ext cx="22688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chemeClr val="accent1"/>
                </a:solidFill>
              </a:rPr>
              <a:t>Max Value = 6</a:t>
            </a:r>
          </a:p>
        </p:txBody>
      </p:sp>
      <p:sp>
        <p:nvSpPr>
          <p:cNvPr id="29" name="Text Box 28"/>
          <p:cNvSpPr txBox="1"/>
          <p:nvPr/>
        </p:nvSpPr>
        <p:spPr>
          <a:xfrm>
            <a:off x="7329170" y="4319905"/>
            <a:ext cx="22688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chemeClr val="accent1"/>
                </a:solidFill>
              </a:rPr>
              <a:t>Min Value = 4</a:t>
            </a:r>
          </a:p>
        </p:txBody>
      </p:sp>
      <p:sp>
        <p:nvSpPr>
          <p:cNvPr id="30" name="Text Box 29"/>
          <p:cNvSpPr txBox="1"/>
          <p:nvPr/>
        </p:nvSpPr>
        <p:spPr>
          <a:xfrm>
            <a:off x="6801485" y="5026660"/>
            <a:ext cx="139827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chemeClr val="accent1"/>
                </a:solidFill>
                <a:sym typeface="+mn-ea"/>
              </a:rPr>
              <a:t>|6-4|=2</a:t>
            </a:r>
          </a:p>
        </p:txBody>
      </p:sp>
      <p:sp>
        <p:nvSpPr>
          <p:cNvPr id="31" name="Text Box 30"/>
          <p:cNvSpPr txBox="1"/>
          <p:nvPr/>
        </p:nvSpPr>
        <p:spPr>
          <a:xfrm>
            <a:off x="8199755" y="5026660"/>
            <a:ext cx="139827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400">
                <a:solidFill>
                  <a:schemeClr val="accent1"/>
                </a:solidFill>
              </a:rPr>
              <a:t>&lt;=4</a:t>
            </a:r>
          </a:p>
        </p:txBody>
      </p:sp>
      <p:sp>
        <p:nvSpPr>
          <p:cNvPr id="32" name="Text Box 31"/>
          <p:cNvSpPr txBox="1"/>
          <p:nvPr/>
        </p:nvSpPr>
        <p:spPr>
          <a:xfrm>
            <a:off x="9598025" y="5026660"/>
            <a:ext cx="508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400">
                <a:solidFill>
                  <a:srgbClr val="92D050"/>
                </a:solidFill>
                <a:sym typeface="+mn-ea"/>
              </a:rPr>
              <a:t>✔</a:t>
            </a:r>
            <a:endParaRPr lang="en-US" sz="2400">
              <a:solidFill>
                <a:srgbClr val="FF0000"/>
              </a:solidFill>
              <a:sym typeface="+mn-ea"/>
            </a:endParaRPr>
          </a:p>
        </p:txBody>
      </p:sp>
      <p:sp>
        <p:nvSpPr>
          <p:cNvPr id="33" name="Text Box 32"/>
          <p:cNvSpPr txBox="1"/>
          <p:nvPr/>
        </p:nvSpPr>
        <p:spPr>
          <a:xfrm>
            <a:off x="7329170" y="3212465"/>
            <a:ext cx="22688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chemeClr val="accent1"/>
                </a:solidFill>
              </a:rPr>
              <a:t>For Region b4,</a:t>
            </a:r>
          </a:p>
        </p:txBody>
      </p:sp>
      <p:sp>
        <p:nvSpPr>
          <p:cNvPr id="34" name="Text Box 33"/>
          <p:cNvSpPr txBox="1"/>
          <p:nvPr/>
        </p:nvSpPr>
        <p:spPr>
          <a:xfrm>
            <a:off x="3486150" y="2426970"/>
            <a:ext cx="57594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chemeClr val="accent1"/>
                </a:solidFill>
              </a:rPr>
              <a:t>b1</a:t>
            </a:r>
          </a:p>
        </p:txBody>
      </p:sp>
      <p:sp>
        <p:nvSpPr>
          <p:cNvPr id="35" name="Text Box 34"/>
          <p:cNvSpPr txBox="1"/>
          <p:nvPr/>
        </p:nvSpPr>
        <p:spPr>
          <a:xfrm>
            <a:off x="4968875" y="2435860"/>
            <a:ext cx="57594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chemeClr val="accent1"/>
                </a:solidFill>
              </a:rPr>
              <a:t>b2</a:t>
            </a:r>
          </a:p>
        </p:txBody>
      </p:sp>
      <p:sp>
        <p:nvSpPr>
          <p:cNvPr id="36" name="Text Box 35"/>
          <p:cNvSpPr txBox="1"/>
          <p:nvPr/>
        </p:nvSpPr>
        <p:spPr>
          <a:xfrm>
            <a:off x="5071110" y="3952240"/>
            <a:ext cx="57594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chemeClr val="accent1"/>
                </a:solidFill>
              </a:rPr>
              <a:t>b4</a:t>
            </a:r>
          </a:p>
        </p:txBody>
      </p:sp>
      <p:sp>
        <p:nvSpPr>
          <p:cNvPr id="37" name="Text Box 36"/>
          <p:cNvSpPr txBox="1"/>
          <p:nvPr/>
        </p:nvSpPr>
        <p:spPr>
          <a:xfrm>
            <a:off x="2588260" y="2426970"/>
            <a:ext cx="57594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chemeClr val="accent1"/>
                </a:solidFill>
              </a:rPr>
              <a:t>b3</a:t>
            </a:r>
          </a:p>
        </p:txBody>
      </p:sp>
      <p:cxnSp>
        <p:nvCxnSpPr>
          <p:cNvPr id="38" name="Straight Arrow Connector 37"/>
          <p:cNvCxnSpPr>
            <a:endCxn id="37" idx="2"/>
          </p:cNvCxnSpPr>
          <p:nvPr/>
        </p:nvCxnSpPr>
        <p:spPr>
          <a:xfrm flipH="1" flipV="1">
            <a:off x="2876550" y="2887345"/>
            <a:ext cx="518160" cy="1267460"/>
          </a:xfrm>
          <a:prstGeom prst="straightConnector1">
            <a:avLst/>
          </a:prstGeom>
          <a:ln w="31750" cap="rnd">
            <a:solidFill>
              <a:schemeClr val="accent1"/>
            </a:solidFill>
            <a:round/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5" grpId="0"/>
      <p:bldP spid="3" grpId="0"/>
      <p:bldP spid="7" grpId="0"/>
      <p:bldP spid="8" grpId="0"/>
      <p:bldP spid="9" grpId="0"/>
      <p:bldP spid="28" grpId="0"/>
      <p:bldP spid="28" grpId="1"/>
      <p:bldP spid="29" grpId="0"/>
      <p:bldP spid="29" grpId="1"/>
      <p:bldP spid="30" grpId="0"/>
      <p:bldP spid="30" grpId="1"/>
      <p:bldP spid="31" grpId="0"/>
      <p:bldP spid="31" grpId="1"/>
      <p:bldP spid="32" grpId="0"/>
      <p:bldP spid="32" grpId="1"/>
      <p:bldP spid="33" grpId="0"/>
      <p:bldP spid="33" grpId="1"/>
    </p:bldLst>
  </p:timing>
</p:sld>
</file>

<file path=ppt/slides/slide1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ym typeface="+mn-ea"/>
              </a:rPr>
              <a:t>Region Splitting</a:t>
            </a:r>
            <a:endParaRPr lang="en-US"/>
          </a:p>
        </p:txBody>
      </p:sp>
      <p:graphicFrame>
        <p:nvGraphicFramePr>
          <p:cNvPr id="4" name="Table 3"/>
          <p:cNvGraphicFramePr/>
          <p:nvPr>
            <p:custDataLst>
              <p:tags r:id="rId1"/>
            </p:custDataLst>
          </p:nvPr>
        </p:nvGraphicFramePr>
        <p:xfrm>
          <a:off x="1838325" y="3025775"/>
          <a:ext cx="3098800" cy="3048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87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73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73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73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873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873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873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873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chemeClr val="accent4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chemeClr val="accent4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Text Box 4"/>
          <p:cNvSpPr txBox="1"/>
          <p:nvPr/>
        </p:nvSpPr>
        <p:spPr>
          <a:xfrm>
            <a:off x="996950" y="1616075"/>
            <a:ext cx="1040574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400"/>
              <a:t>Apply the region splitting on the following image. Assume the threshold value be &lt;= 4.</a:t>
            </a:r>
          </a:p>
        </p:txBody>
      </p:sp>
      <p:sp>
        <p:nvSpPr>
          <p:cNvPr id="6" name="Text Box 5"/>
          <p:cNvSpPr txBox="1"/>
          <p:nvPr/>
        </p:nvSpPr>
        <p:spPr>
          <a:xfrm>
            <a:off x="1152525" y="3562350"/>
            <a:ext cx="57594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rgbClr val="FF0000"/>
                </a:solidFill>
              </a:rPr>
              <a:t>a</a:t>
            </a:r>
          </a:p>
        </p:txBody>
      </p:sp>
      <p:sp>
        <p:nvSpPr>
          <p:cNvPr id="15" name="Text Box 14"/>
          <p:cNvSpPr txBox="1"/>
          <p:nvPr/>
        </p:nvSpPr>
        <p:spPr>
          <a:xfrm>
            <a:off x="1152525" y="5000625"/>
            <a:ext cx="57594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rgbClr val="92D050"/>
                </a:solidFill>
              </a:rPr>
              <a:t>c</a:t>
            </a:r>
          </a:p>
        </p:txBody>
      </p:sp>
      <p:sp>
        <p:nvSpPr>
          <p:cNvPr id="3" name="Text Box 2"/>
          <p:cNvSpPr txBox="1"/>
          <p:nvPr/>
        </p:nvSpPr>
        <p:spPr>
          <a:xfrm>
            <a:off x="2680970" y="6280785"/>
            <a:ext cx="57594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rgbClr val="FFC000"/>
                </a:solidFill>
              </a:rPr>
              <a:t>d1</a:t>
            </a:r>
          </a:p>
        </p:txBody>
      </p:sp>
      <p:sp>
        <p:nvSpPr>
          <p:cNvPr id="7" name="Text Box 6"/>
          <p:cNvSpPr txBox="1"/>
          <p:nvPr/>
        </p:nvSpPr>
        <p:spPr>
          <a:xfrm>
            <a:off x="5202555" y="4665980"/>
            <a:ext cx="57594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rgbClr val="FFC000"/>
                </a:solidFill>
              </a:rPr>
              <a:t>d2</a:t>
            </a:r>
          </a:p>
        </p:txBody>
      </p:sp>
      <p:sp>
        <p:nvSpPr>
          <p:cNvPr id="8" name="Text Box 7"/>
          <p:cNvSpPr txBox="1"/>
          <p:nvPr/>
        </p:nvSpPr>
        <p:spPr>
          <a:xfrm>
            <a:off x="3475990" y="6203950"/>
            <a:ext cx="57594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rgbClr val="FFC000"/>
                </a:solidFill>
              </a:rPr>
              <a:t>d3</a:t>
            </a:r>
          </a:p>
        </p:txBody>
      </p:sp>
      <p:sp>
        <p:nvSpPr>
          <p:cNvPr id="9" name="Text Box 8"/>
          <p:cNvSpPr txBox="1"/>
          <p:nvPr/>
        </p:nvSpPr>
        <p:spPr>
          <a:xfrm>
            <a:off x="5071110" y="6073775"/>
            <a:ext cx="57594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rgbClr val="FFC000"/>
                </a:solidFill>
              </a:rPr>
              <a:t>d4</a:t>
            </a:r>
          </a:p>
        </p:txBody>
      </p:sp>
      <p:cxnSp>
        <p:nvCxnSpPr>
          <p:cNvPr id="10" name="Straight Arrow Connector 9"/>
          <p:cNvCxnSpPr>
            <a:endCxn id="3" idx="0"/>
          </p:cNvCxnSpPr>
          <p:nvPr/>
        </p:nvCxnSpPr>
        <p:spPr>
          <a:xfrm flipH="1">
            <a:off x="2969260" y="4929505"/>
            <a:ext cx="425450" cy="1351280"/>
          </a:xfrm>
          <a:prstGeom prst="straightConnector1">
            <a:avLst/>
          </a:prstGeom>
          <a:ln w="31750" cap="rnd">
            <a:solidFill>
              <a:srgbClr val="FFC000"/>
            </a:solidFill>
            <a:round/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8" name="Text Box 27"/>
          <p:cNvSpPr txBox="1"/>
          <p:nvPr/>
        </p:nvSpPr>
        <p:spPr>
          <a:xfrm>
            <a:off x="7329170" y="3732530"/>
            <a:ext cx="22688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rgbClr val="FFC000"/>
                </a:solidFill>
              </a:rPr>
              <a:t>Max Value = 3</a:t>
            </a:r>
          </a:p>
        </p:txBody>
      </p:sp>
      <p:sp>
        <p:nvSpPr>
          <p:cNvPr id="29" name="Text Box 28"/>
          <p:cNvSpPr txBox="1"/>
          <p:nvPr/>
        </p:nvSpPr>
        <p:spPr>
          <a:xfrm>
            <a:off x="7329170" y="4319905"/>
            <a:ext cx="22688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rgbClr val="FFC000"/>
                </a:solidFill>
              </a:rPr>
              <a:t>Min Value = 2</a:t>
            </a:r>
          </a:p>
        </p:txBody>
      </p:sp>
      <p:sp>
        <p:nvSpPr>
          <p:cNvPr id="30" name="Text Box 29"/>
          <p:cNvSpPr txBox="1"/>
          <p:nvPr/>
        </p:nvSpPr>
        <p:spPr>
          <a:xfrm>
            <a:off x="6801485" y="5026660"/>
            <a:ext cx="139827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rgbClr val="FFC000"/>
                </a:solidFill>
                <a:sym typeface="+mn-ea"/>
              </a:rPr>
              <a:t>|3-2|=1</a:t>
            </a:r>
          </a:p>
        </p:txBody>
      </p:sp>
      <p:sp>
        <p:nvSpPr>
          <p:cNvPr id="31" name="Text Box 30"/>
          <p:cNvSpPr txBox="1"/>
          <p:nvPr/>
        </p:nvSpPr>
        <p:spPr>
          <a:xfrm>
            <a:off x="8199755" y="5026660"/>
            <a:ext cx="139827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400">
                <a:solidFill>
                  <a:srgbClr val="FFC000"/>
                </a:solidFill>
              </a:rPr>
              <a:t>&lt;=4</a:t>
            </a:r>
          </a:p>
        </p:txBody>
      </p:sp>
      <p:sp>
        <p:nvSpPr>
          <p:cNvPr id="32" name="Text Box 31"/>
          <p:cNvSpPr txBox="1"/>
          <p:nvPr/>
        </p:nvSpPr>
        <p:spPr>
          <a:xfrm>
            <a:off x="9598025" y="5026660"/>
            <a:ext cx="508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400">
                <a:solidFill>
                  <a:srgbClr val="92D050"/>
                </a:solidFill>
                <a:sym typeface="+mn-ea"/>
              </a:rPr>
              <a:t>✔</a:t>
            </a:r>
            <a:endParaRPr lang="en-US" sz="2400">
              <a:solidFill>
                <a:srgbClr val="FF0000"/>
              </a:solidFill>
              <a:sym typeface="+mn-ea"/>
            </a:endParaRPr>
          </a:p>
        </p:txBody>
      </p:sp>
      <p:sp>
        <p:nvSpPr>
          <p:cNvPr id="33" name="Text Box 32"/>
          <p:cNvSpPr txBox="1"/>
          <p:nvPr/>
        </p:nvSpPr>
        <p:spPr>
          <a:xfrm>
            <a:off x="7329170" y="3212465"/>
            <a:ext cx="22688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rgbClr val="FFC000"/>
                </a:solidFill>
              </a:rPr>
              <a:t>For Region d1,</a:t>
            </a:r>
          </a:p>
        </p:txBody>
      </p:sp>
      <p:sp>
        <p:nvSpPr>
          <p:cNvPr id="34" name="Text Box 33"/>
          <p:cNvSpPr txBox="1"/>
          <p:nvPr/>
        </p:nvSpPr>
        <p:spPr>
          <a:xfrm>
            <a:off x="3486150" y="2426970"/>
            <a:ext cx="57594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chemeClr val="accent1"/>
                </a:solidFill>
              </a:rPr>
              <a:t>b1</a:t>
            </a:r>
          </a:p>
        </p:txBody>
      </p:sp>
      <p:sp>
        <p:nvSpPr>
          <p:cNvPr id="35" name="Text Box 34"/>
          <p:cNvSpPr txBox="1"/>
          <p:nvPr/>
        </p:nvSpPr>
        <p:spPr>
          <a:xfrm>
            <a:off x="4968875" y="2435860"/>
            <a:ext cx="57594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chemeClr val="accent1"/>
                </a:solidFill>
              </a:rPr>
              <a:t>b2</a:t>
            </a:r>
          </a:p>
        </p:txBody>
      </p:sp>
      <p:sp>
        <p:nvSpPr>
          <p:cNvPr id="36" name="Text Box 35"/>
          <p:cNvSpPr txBox="1"/>
          <p:nvPr/>
        </p:nvSpPr>
        <p:spPr>
          <a:xfrm>
            <a:off x="5071110" y="3952240"/>
            <a:ext cx="57594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chemeClr val="accent1"/>
                </a:solidFill>
              </a:rPr>
              <a:t>b4</a:t>
            </a:r>
          </a:p>
        </p:txBody>
      </p:sp>
      <p:sp>
        <p:nvSpPr>
          <p:cNvPr id="37" name="Text Box 36"/>
          <p:cNvSpPr txBox="1"/>
          <p:nvPr/>
        </p:nvSpPr>
        <p:spPr>
          <a:xfrm>
            <a:off x="2588260" y="2426970"/>
            <a:ext cx="57594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chemeClr val="accent1"/>
                </a:solidFill>
              </a:rPr>
              <a:t>b3</a:t>
            </a:r>
          </a:p>
        </p:txBody>
      </p:sp>
      <p:cxnSp>
        <p:nvCxnSpPr>
          <p:cNvPr id="38" name="Straight Arrow Connector 37"/>
          <p:cNvCxnSpPr>
            <a:endCxn id="37" idx="2"/>
          </p:cNvCxnSpPr>
          <p:nvPr/>
        </p:nvCxnSpPr>
        <p:spPr>
          <a:xfrm flipH="1" flipV="1">
            <a:off x="2876550" y="2887345"/>
            <a:ext cx="518160" cy="1267460"/>
          </a:xfrm>
          <a:prstGeom prst="straightConnector1">
            <a:avLst/>
          </a:prstGeom>
          <a:ln w="31750" cap="rnd">
            <a:solidFill>
              <a:schemeClr val="accent1"/>
            </a:solidFill>
            <a:round/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5" grpId="0"/>
      <p:bldP spid="3" grpId="0"/>
      <p:bldP spid="7" grpId="0"/>
      <p:bldP spid="8" grpId="0"/>
      <p:bldP spid="9" grpId="0"/>
      <p:bldP spid="28" grpId="0"/>
      <p:bldP spid="28" grpId="1"/>
      <p:bldP spid="29" grpId="0"/>
      <p:bldP spid="29" grpId="1"/>
      <p:bldP spid="30" grpId="0"/>
      <p:bldP spid="30" grpId="1"/>
      <p:bldP spid="31" grpId="0"/>
      <p:bldP spid="31" grpId="1"/>
      <p:bldP spid="32" grpId="0"/>
      <p:bldP spid="32" grpId="1"/>
      <p:bldP spid="33" grpId="0"/>
      <p:bldP spid="33" grpId="1"/>
    </p:bldLst>
  </p:timing>
</p:sld>
</file>

<file path=ppt/slides/slide1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ym typeface="+mn-ea"/>
              </a:rPr>
              <a:t>Region Splitting</a:t>
            </a:r>
            <a:endParaRPr lang="en-US"/>
          </a:p>
        </p:txBody>
      </p:sp>
      <p:graphicFrame>
        <p:nvGraphicFramePr>
          <p:cNvPr id="4" name="Table 3"/>
          <p:cNvGraphicFramePr/>
          <p:nvPr>
            <p:custDataLst>
              <p:tags r:id="rId1"/>
            </p:custDataLst>
          </p:nvPr>
        </p:nvGraphicFramePr>
        <p:xfrm>
          <a:off x="1838325" y="3025775"/>
          <a:ext cx="3098800" cy="3048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87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73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73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73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873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873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873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873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chemeClr val="accent4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chemeClr val="accent4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Text Box 4"/>
          <p:cNvSpPr txBox="1"/>
          <p:nvPr/>
        </p:nvSpPr>
        <p:spPr>
          <a:xfrm>
            <a:off x="996950" y="1616075"/>
            <a:ext cx="1040574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400"/>
              <a:t>Apply the region splitting on the following image. Assume the threshold value be &lt;= 4.</a:t>
            </a:r>
          </a:p>
        </p:txBody>
      </p:sp>
      <p:sp>
        <p:nvSpPr>
          <p:cNvPr id="6" name="Text Box 5"/>
          <p:cNvSpPr txBox="1"/>
          <p:nvPr/>
        </p:nvSpPr>
        <p:spPr>
          <a:xfrm>
            <a:off x="1152525" y="3562350"/>
            <a:ext cx="57594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rgbClr val="FF0000"/>
                </a:solidFill>
              </a:rPr>
              <a:t>a</a:t>
            </a:r>
          </a:p>
        </p:txBody>
      </p:sp>
      <p:sp>
        <p:nvSpPr>
          <p:cNvPr id="15" name="Text Box 14"/>
          <p:cNvSpPr txBox="1"/>
          <p:nvPr/>
        </p:nvSpPr>
        <p:spPr>
          <a:xfrm>
            <a:off x="1152525" y="5000625"/>
            <a:ext cx="57594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rgbClr val="92D050"/>
                </a:solidFill>
              </a:rPr>
              <a:t>c</a:t>
            </a:r>
          </a:p>
        </p:txBody>
      </p:sp>
      <p:sp>
        <p:nvSpPr>
          <p:cNvPr id="3" name="Text Box 2"/>
          <p:cNvSpPr txBox="1"/>
          <p:nvPr/>
        </p:nvSpPr>
        <p:spPr>
          <a:xfrm>
            <a:off x="2680970" y="6280785"/>
            <a:ext cx="57594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rgbClr val="FFC000"/>
                </a:solidFill>
              </a:rPr>
              <a:t>d1</a:t>
            </a:r>
          </a:p>
        </p:txBody>
      </p:sp>
      <p:sp>
        <p:nvSpPr>
          <p:cNvPr id="7" name="Text Box 6"/>
          <p:cNvSpPr txBox="1"/>
          <p:nvPr/>
        </p:nvSpPr>
        <p:spPr>
          <a:xfrm>
            <a:off x="5202555" y="4665980"/>
            <a:ext cx="57594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rgbClr val="FFC000"/>
                </a:solidFill>
              </a:rPr>
              <a:t>d2</a:t>
            </a:r>
          </a:p>
        </p:txBody>
      </p:sp>
      <p:sp>
        <p:nvSpPr>
          <p:cNvPr id="8" name="Text Box 7"/>
          <p:cNvSpPr txBox="1"/>
          <p:nvPr/>
        </p:nvSpPr>
        <p:spPr>
          <a:xfrm>
            <a:off x="3475990" y="6203950"/>
            <a:ext cx="57594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rgbClr val="FFC000"/>
                </a:solidFill>
              </a:rPr>
              <a:t>d3</a:t>
            </a:r>
          </a:p>
        </p:txBody>
      </p:sp>
      <p:sp>
        <p:nvSpPr>
          <p:cNvPr id="9" name="Text Box 8"/>
          <p:cNvSpPr txBox="1"/>
          <p:nvPr/>
        </p:nvSpPr>
        <p:spPr>
          <a:xfrm>
            <a:off x="5071110" y="6073775"/>
            <a:ext cx="57594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rgbClr val="FFC000"/>
                </a:solidFill>
              </a:rPr>
              <a:t>d4</a:t>
            </a:r>
          </a:p>
        </p:txBody>
      </p:sp>
      <p:cxnSp>
        <p:nvCxnSpPr>
          <p:cNvPr id="10" name="Straight Arrow Connector 9"/>
          <p:cNvCxnSpPr>
            <a:endCxn id="3" idx="0"/>
          </p:cNvCxnSpPr>
          <p:nvPr/>
        </p:nvCxnSpPr>
        <p:spPr>
          <a:xfrm flipH="1">
            <a:off x="2969260" y="4929505"/>
            <a:ext cx="425450" cy="1351280"/>
          </a:xfrm>
          <a:prstGeom prst="straightConnector1">
            <a:avLst/>
          </a:prstGeom>
          <a:ln w="31750" cap="rnd">
            <a:solidFill>
              <a:srgbClr val="FFC000"/>
            </a:solidFill>
            <a:round/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8" name="Text Box 27"/>
          <p:cNvSpPr txBox="1"/>
          <p:nvPr/>
        </p:nvSpPr>
        <p:spPr>
          <a:xfrm>
            <a:off x="7329170" y="3732530"/>
            <a:ext cx="22688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rgbClr val="FFC000"/>
                </a:solidFill>
              </a:rPr>
              <a:t>Max Value = 7</a:t>
            </a:r>
          </a:p>
        </p:txBody>
      </p:sp>
      <p:sp>
        <p:nvSpPr>
          <p:cNvPr id="29" name="Text Box 28"/>
          <p:cNvSpPr txBox="1"/>
          <p:nvPr/>
        </p:nvSpPr>
        <p:spPr>
          <a:xfrm>
            <a:off x="7329170" y="4319905"/>
            <a:ext cx="22688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rgbClr val="FFC000"/>
                </a:solidFill>
              </a:rPr>
              <a:t>Min Value = 4</a:t>
            </a:r>
          </a:p>
        </p:txBody>
      </p:sp>
      <p:sp>
        <p:nvSpPr>
          <p:cNvPr id="30" name="Text Box 29"/>
          <p:cNvSpPr txBox="1"/>
          <p:nvPr/>
        </p:nvSpPr>
        <p:spPr>
          <a:xfrm>
            <a:off x="6801485" y="5026660"/>
            <a:ext cx="139827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rgbClr val="FFC000"/>
                </a:solidFill>
                <a:sym typeface="+mn-ea"/>
              </a:rPr>
              <a:t>|7-4|=3</a:t>
            </a:r>
          </a:p>
        </p:txBody>
      </p:sp>
      <p:sp>
        <p:nvSpPr>
          <p:cNvPr id="31" name="Text Box 30"/>
          <p:cNvSpPr txBox="1"/>
          <p:nvPr/>
        </p:nvSpPr>
        <p:spPr>
          <a:xfrm>
            <a:off x="8199755" y="5026660"/>
            <a:ext cx="139827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400">
                <a:solidFill>
                  <a:srgbClr val="FFC000"/>
                </a:solidFill>
              </a:rPr>
              <a:t>&lt;=4</a:t>
            </a:r>
          </a:p>
        </p:txBody>
      </p:sp>
      <p:sp>
        <p:nvSpPr>
          <p:cNvPr id="32" name="Text Box 31"/>
          <p:cNvSpPr txBox="1"/>
          <p:nvPr/>
        </p:nvSpPr>
        <p:spPr>
          <a:xfrm>
            <a:off x="9598025" y="5026660"/>
            <a:ext cx="508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400">
                <a:solidFill>
                  <a:srgbClr val="92D050"/>
                </a:solidFill>
                <a:sym typeface="+mn-ea"/>
              </a:rPr>
              <a:t>✔</a:t>
            </a:r>
            <a:endParaRPr lang="en-US" sz="2400">
              <a:solidFill>
                <a:srgbClr val="FF0000"/>
              </a:solidFill>
              <a:sym typeface="+mn-ea"/>
            </a:endParaRPr>
          </a:p>
        </p:txBody>
      </p:sp>
      <p:sp>
        <p:nvSpPr>
          <p:cNvPr id="33" name="Text Box 32"/>
          <p:cNvSpPr txBox="1"/>
          <p:nvPr/>
        </p:nvSpPr>
        <p:spPr>
          <a:xfrm>
            <a:off x="7329170" y="3212465"/>
            <a:ext cx="22688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rgbClr val="FFC000"/>
                </a:solidFill>
              </a:rPr>
              <a:t>For Region d2,</a:t>
            </a:r>
          </a:p>
        </p:txBody>
      </p:sp>
      <p:sp>
        <p:nvSpPr>
          <p:cNvPr id="34" name="Text Box 33"/>
          <p:cNvSpPr txBox="1"/>
          <p:nvPr/>
        </p:nvSpPr>
        <p:spPr>
          <a:xfrm>
            <a:off x="3486150" y="2426970"/>
            <a:ext cx="57594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chemeClr val="accent1"/>
                </a:solidFill>
              </a:rPr>
              <a:t>b1</a:t>
            </a:r>
          </a:p>
        </p:txBody>
      </p:sp>
      <p:sp>
        <p:nvSpPr>
          <p:cNvPr id="35" name="Text Box 34"/>
          <p:cNvSpPr txBox="1"/>
          <p:nvPr/>
        </p:nvSpPr>
        <p:spPr>
          <a:xfrm>
            <a:off x="4968875" y="2435860"/>
            <a:ext cx="57594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chemeClr val="accent1"/>
                </a:solidFill>
              </a:rPr>
              <a:t>b2</a:t>
            </a:r>
          </a:p>
        </p:txBody>
      </p:sp>
      <p:sp>
        <p:nvSpPr>
          <p:cNvPr id="36" name="Text Box 35"/>
          <p:cNvSpPr txBox="1"/>
          <p:nvPr/>
        </p:nvSpPr>
        <p:spPr>
          <a:xfrm>
            <a:off x="5071110" y="3952240"/>
            <a:ext cx="57594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chemeClr val="accent1"/>
                </a:solidFill>
              </a:rPr>
              <a:t>b4</a:t>
            </a:r>
          </a:p>
        </p:txBody>
      </p:sp>
      <p:sp>
        <p:nvSpPr>
          <p:cNvPr id="37" name="Text Box 36"/>
          <p:cNvSpPr txBox="1"/>
          <p:nvPr/>
        </p:nvSpPr>
        <p:spPr>
          <a:xfrm>
            <a:off x="2588260" y="2426970"/>
            <a:ext cx="57594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chemeClr val="accent1"/>
                </a:solidFill>
              </a:rPr>
              <a:t>b3</a:t>
            </a:r>
          </a:p>
        </p:txBody>
      </p:sp>
      <p:cxnSp>
        <p:nvCxnSpPr>
          <p:cNvPr id="38" name="Straight Arrow Connector 37"/>
          <p:cNvCxnSpPr>
            <a:endCxn id="37" idx="2"/>
          </p:cNvCxnSpPr>
          <p:nvPr/>
        </p:nvCxnSpPr>
        <p:spPr>
          <a:xfrm flipH="1" flipV="1">
            <a:off x="2876550" y="2887345"/>
            <a:ext cx="518160" cy="1267460"/>
          </a:xfrm>
          <a:prstGeom prst="straightConnector1">
            <a:avLst/>
          </a:prstGeom>
          <a:ln w="31750" cap="rnd">
            <a:solidFill>
              <a:schemeClr val="accent1"/>
            </a:solidFill>
            <a:round/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5" grpId="0"/>
      <p:bldP spid="3" grpId="0"/>
      <p:bldP spid="7" grpId="0"/>
      <p:bldP spid="8" grpId="0"/>
      <p:bldP spid="9" grpId="0"/>
      <p:bldP spid="28" grpId="0"/>
      <p:bldP spid="28" grpId="1"/>
      <p:bldP spid="29" grpId="0"/>
      <p:bldP spid="29" grpId="1"/>
      <p:bldP spid="30" grpId="0"/>
      <p:bldP spid="30" grpId="1"/>
      <p:bldP spid="31" grpId="0"/>
      <p:bldP spid="31" grpId="1"/>
      <p:bldP spid="32" grpId="0"/>
      <p:bldP spid="32" grpId="1"/>
      <p:bldP spid="33" grpId="0"/>
      <p:bldP spid="33" grpId="1"/>
    </p:bldLst>
  </p:timing>
</p:sld>
</file>

<file path=ppt/slides/slide1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ym typeface="+mn-ea"/>
              </a:rPr>
              <a:t>Region Splitting</a:t>
            </a:r>
            <a:endParaRPr lang="en-US"/>
          </a:p>
        </p:txBody>
      </p:sp>
      <p:graphicFrame>
        <p:nvGraphicFramePr>
          <p:cNvPr id="4" name="Table 3"/>
          <p:cNvGraphicFramePr/>
          <p:nvPr>
            <p:custDataLst>
              <p:tags r:id="rId1"/>
            </p:custDataLst>
          </p:nvPr>
        </p:nvGraphicFramePr>
        <p:xfrm>
          <a:off x="1838325" y="3025775"/>
          <a:ext cx="3098800" cy="3048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87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73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73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73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873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873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873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873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chemeClr val="accent4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chemeClr val="accent4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Text Box 4"/>
          <p:cNvSpPr txBox="1"/>
          <p:nvPr/>
        </p:nvSpPr>
        <p:spPr>
          <a:xfrm>
            <a:off x="996950" y="1616075"/>
            <a:ext cx="1040574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400"/>
              <a:t>Apply the region splitting on the following image. Assume the threshold value be &lt;= 4.</a:t>
            </a:r>
          </a:p>
        </p:txBody>
      </p:sp>
      <p:sp>
        <p:nvSpPr>
          <p:cNvPr id="6" name="Text Box 5"/>
          <p:cNvSpPr txBox="1"/>
          <p:nvPr/>
        </p:nvSpPr>
        <p:spPr>
          <a:xfrm>
            <a:off x="1152525" y="3562350"/>
            <a:ext cx="57594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rgbClr val="FF0000"/>
                </a:solidFill>
              </a:rPr>
              <a:t>a</a:t>
            </a:r>
          </a:p>
        </p:txBody>
      </p:sp>
      <p:sp>
        <p:nvSpPr>
          <p:cNvPr id="15" name="Text Box 14"/>
          <p:cNvSpPr txBox="1"/>
          <p:nvPr/>
        </p:nvSpPr>
        <p:spPr>
          <a:xfrm>
            <a:off x="1152525" y="5000625"/>
            <a:ext cx="57594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rgbClr val="92D050"/>
                </a:solidFill>
              </a:rPr>
              <a:t>c</a:t>
            </a:r>
          </a:p>
        </p:txBody>
      </p:sp>
      <p:sp>
        <p:nvSpPr>
          <p:cNvPr id="3" name="Text Box 2"/>
          <p:cNvSpPr txBox="1"/>
          <p:nvPr/>
        </p:nvSpPr>
        <p:spPr>
          <a:xfrm>
            <a:off x="2680970" y="6280785"/>
            <a:ext cx="57594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rgbClr val="FFC000"/>
                </a:solidFill>
              </a:rPr>
              <a:t>d1</a:t>
            </a:r>
          </a:p>
        </p:txBody>
      </p:sp>
      <p:sp>
        <p:nvSpPr>
          <p:cNvPr id="7" name="Text Box 6"/>
          <p:cNvSpPr txBox="1"/>
          <p:nvPr/>
        </p:nvSpPr>
        <p:spPr>
          <a:xfrm>
            <a:off x="5202555" y="4665980"/>
            <a:ext cx="57594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rgbClr val="FFC000"/>
                </a:solidFill>
              </a:rPr>
              <a:t>d2</a:t>
            </a:r>
          </a:p>
        </p:txBody>
      </p:sp>
      <p:sp>
        <p:nvSpPr>
          <p:cNvPr id="8" name="Text Box 7"/>
          <p:cNvSpPr txBox="1"/>
          <p:nvPr/>
        </p:nvSpPr>
        <p:spPr>
          <a:xfrm>
            <a:off x="3475990" y="6203950"/>
            <a:ext cx="57594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rgbClr val="FFC000"/>
                </a:solidFill>
              </a:rPr>
              <a:t>d3</a:t>
            </a:r>
          </a:p>
        </p:txBody>
      </p:sp>
      <p:sp>
        <p:nvSpPr>
          <p:cNvPr id="9" name="Text Box 8"/>
          <p:cNvSpPr txBox="1"/>
          <p:nvPr/>
        </p:nvSpPr>
        <p:spPr>
          <a:xfrm>
            <a:off x="5071110" y="6073775"/>
            <a:ext cx="57594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rgbClr val="FFC000"/>
                </a:solidFill>
              </a:rPr>
              <a:t>d4</a:t>
            </a:r>
          </a:p>
        </p:txBody>
      </p:sp>
      <p:cxnSp>
        <p:nvCxnSpPr>
          <p:cNvPr id="10" name="Straight Arrow Connector 9"/>
          <p:cNvCxnSpPr>
            <a:endCxn id="3" idx="0"/>
          </p:cNvCxnSpPr>
          <p:nvPr/>
        </p:nvCxnSpPr>
        <p:spPr>
          <a:xfrm flipH="1">
            <a:off x="2969260" y="4929505"/>
            <a:ext cx="425450" cy="1351280"/>
          </a:xfrm>
          <a:prstGeom prst="straightConnector1">
            <a:avLst/>
          </a:prstGeom>
          <a:ln w="31750" cap="rnd">
            <a:solidFill>
              <a:srgbClr val="FFC000"/>
            </a:solidFill>
            <a:round/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8" name="Text Box 27"/>
          <p:cNvSpPr txBox="1"/>
          <p:nvPr/>
        </p:nvSpPr>
        <p:spPr>
          <a:xfrm>
            <a:off x="7329170" y="3732530"/>
            <a:ext cx="22688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rgbClr val="FFC000"/>
                </a:solidFill>
              </a:rPr>
              <a:t>Max Value = 3</a:t>
            </a:r>
          </a:p>
        </p:txBody>
      </p:sp>
      <p:sp>
        <p:nvSpPr>
          <p:cNvPr id="29" name="Text Box 28"/>
          <p:cNvSpPr txBox="1"/>
          <p:nvPr/>
        </p:nvSpPr>
        <p:spPr>
          <a:xfrm>
            <a:off x="7329170" y="4319905"/>
            <a:ext cx="22688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rgbClr val="FFC000"/>
                </a:solidFill>
              </a:rPr>
              <a:t>Min Value = 0</a:t>
            </a:r>
          </a:p>
        </p:txBody>
      </p:sp>
      <p:sp>
        <p:nvSpPr>
          <p:cNvPr id="30" name="Text Box 29"/>
          <p:cNvSpPr txBox="1"/>
          <p:nvPr/>
        </p:nvSpPr>
        <p:spPr>
          <a:xfrm>
            <a:off x="6801485" y="5026660"/>
            <a:ext cx="139827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rgbClr val="FFC000"/>
                </a:solidFill>
                <a:sym typeface="+mn-ea"/>
              </a:rPr>
              <a:t>|3-0|=3</a:t>
            </a:r>
          </a:p>
        </p:txBody>
      </p:sp>
      <p:sp>
        <p:nvSpPr>
          <p:cNvPr id="31" name="Text Box 30"/>
          <p:cNvSpPr txBox="1"/>
          <p:nvPr/>
        </p:nvSpPr>
        <p:spPr>
          <a:xfrm>
            <a:off x="8199755" y="5026660"/>
            <a:ext cx="139827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400">
                <a:solidFill>
                  <a:srgbClr val="FFC000"/>
                </a:solidFill>
              </a:rPr>
              <a:t>&lt;=4</a:t>
            </a:r>
          </a:p>
        </p:txBody>
      </p:sp>
      <p:sp>
        <p:nvSpPr>
          <p:cNvPr id="32" name="Text Box 31"/>
          <p:cNvSpPr txBox="1"/>
          <p:nvPr/>
        </p:nvSpPr>
        <p:spPr>
          <a:xfrm>
            <a:off x="9598025" y="5026660"/>
            <a:ext cx="508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400">
                <a:solidFill>
                  <a:srgbClr val="92D050"/>
                </a:solidFill>
                <a:sym typeface="+mn-ea"/>
              </a:rPr>
              <a:t>✔</a:t>
            </a:r>
            <a:endParaRPr lang="en-US" sz="2400">
              <a:solidFill>
                <a:srgbClr val="FF0000"/>
              </a:solidFill>
              <a:sym typeface="+mn-ea"/>
            </a:endParaRPr>
          </a:p>
        </p:txBody>
      </p:sp>
      <p:sp>
        <p:nvSpPr>
          <p:cNvPr id="33" name="Text Box 32"/>
          <p:cNvSpPr txBox="1"/>
          <p:nvPr/>
        </p:nvSpPr>
        <p:spPr>
          <a:xfrm>
            <a:off x="7329170" y="3212465"/>
            <a:ext cx="22688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rgbClr val="FFC000"/>
                </a:solidFill>
              </a:rPr>
              <a:t>For Region d3,</a:t>
            </a:r>
          </a:p>
        </p:txBody>
      </p:sp>
      <p:sp>
        <p:nvSpPr>
          <p:cNvPr id="34" name="Text Box 33"/>
          <p:cNvSpPr txBox="1"/>
          <p:nvPr/>
        </p:nvSpPr>
        <p:spPr>
          <a:xfrm>
            <a:off x="3486150" y="2426970"/>
            <a:ext cx="57594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chemeClr val="accent1"/>
                </a:solidFill>
              </a:rPr>
              <a:t>b1</a:t>
            </a:r>
          </a:p>
        </p:txBody>
      </p:sp>
      <p:sp>
        <p:nvSpPr>
          <p:cNvPr id="35" name="Text Box 34"/>
          <p:cNvSpPr txBox="1"/>
          <p:nvPr/>
        </p:nvSpPr>
        <p:spPr>
          <a:xfrm>
            <a:off x="4968875" y="2435860"/>
            <a:ext cx="57594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chemeClr val="accent1"/>
                </a:solidFill>
              </a:rPr>
              <a:t>b2</a:t>
            </a:r>
          </a:p>
        </p:txBody>
      </p:sp>
      <p:sp>
        <p:nvSpPr>
          <p:cNvPr id="36" name="Text Box 35"/>
          <p:cNvSpPr txBox="1"/>
          <p:nvPr/>
        </p:nvSpPr>
        <p:spPr>
          <a:xfrm>
            <a:off x="5071110" y="3952240"/>
            <a:ext cx="57594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chemeClr val="accent1"/>
                </a:solidFill>
              </a:rPr>
              <a:t>b4</a:t>
            </a:r>
          </a:p>
        </p:txBody>
      </p:sp>
      <p:sp>
        <p:nvSpPr>
          <p:cNvPr id="37" name="Text Box 36"/>
          <p:cNvSpPr txBox="1"/>
          <p:nvPr/>
        </p:nvSpPr>
        <p:spPr>
          <a:xfrm>
            <a:off x="2588260" y="2426970"/>
            <a:ext cx="57594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chemeClr val="accent1"/>
                </a:solidFill>
              </a:rPr>
              <a:t>b3</a:t>
            </a:r>
          </a:p>
        </p:txBody>
      </p:sp>
      <p:cxnSp>
        <p:nvCxnSpPr>
          <p:cNvPr id="38" name="Straight Arrow Connector 37"/>
          <p:cNvCxnSpPr>
            <a:endCxn id="37" idx="2"/>
          </p:cNvCxnSpPr>
          <p:nvPr/>
        </p:nvCxnSpPr>
        <p:spPr>
          <a:xfrm flipH="1" flipV="1">
            <a:off x="2876550" y="2887345"/>
            <a:ext cx="518160" cy="1267460"/>
          </a:xfrm>
          <a:prstGeom prst="straightConnector1">
            <a:avLst/>
          </a:prstGeom>
          <a:ln w="31750" cap="rnd">
            <a:solidFill>
              <a:schemeClr val="accent1"/>
            </a:solidFill>
            <a:round/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5" grpId="0"/>
      <p:bldP spid="3" grpId="0"/>
      <p:bldP spid="7" grpId="0"/>
      <p:bldP spid="8" grpId="0"/>
      <p:bldP spid="9" grpId="0"/>
      <p:bldP spid="28" grpId="0"/>
      <p:bldP spid="28" grpId="1"/>
      <p:bldP spid="29" grpId="0"/>
      <p:bldP spid="29" grpId="1"/>
      <p:bldP spid="30" grpId="0"/>
      <p:bldP spid="30" grpId="1"/>
      <p:bldP spid="31" grpId="0"/>
      <p:bldP spid="31" grpId="1"/>
      <p:bldP spid="32" grpId="0"/>
      <p:bldP spid="32" grpId="1"/>
      <p:bldP spid="33" grpId="0"/>
      <p:bldP spid="33" grpId="1"/>
    </p:bldLst>
  </p:timing>
</p:sld>
</file>

<file path=ppt/slides/slide1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ym typeface="+mn-ea"/>
              </a:rPr>
              <a:t>Region Splitting</a:t>
            </a:r>
            <a:endParaRPr lang="en-US"/>
          </a:p>
        </p:txBody>
      </p:sp>
      <p:graphicFrame>
        <p:nvGraphicFramePr>
          <p:cNvPr id="4" name="Table 3"/>
          <p:cNvGraphicFramePr/>
          <p:nvPr>
            <p:custDataLst>
              <p:tags r:id="rId1"/>
            </p:custDataLst>
          </p:nvPr>
        </p:nvGraphicFramePr>
        <p:xfrm>
          <a:off x="1838325" y="3025775"/>
          <a:ext cx="3098800" cy="3048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87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73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73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73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873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873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873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873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chemeClr val="accent4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chemeClr val="accent4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Text Box 4"/>
          <p:cNvSpPr txBox="1"/>
          <p:nvPr/>
        </p:nvSpPr>
        <p:spPr>
          <a:xfrm>
            <a:off x="996950" y="1616075"/>
            <a:ext cx="1040574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400"/>
              <a:t>Apply the region splitting on the following image. Assume the threshold value be &lt;= 4.</a:t>
            </a:r>
          </a:p>
        </p:txBody>
      </p:sp>
      <p:sp>
        <p:nvSpPr>
          <p:cNvPr id="6" name="Text Box 5"/>
          <p:cNvSpPr txBox="1"/>
          <p:nvPr/>
        </p:nvSpPr>
        <p:spPr>
          <a:xfrm>
            <a:off x="1152525" y="3562350"/>
            <a:ext cx="57594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rgbClr val="FF0000"/>
                </a:solidFill>
              </a:rPr>
              <a:t>a</a:t>
            </a:r>
          </a:p>
        </p:txBody>
      </p:sp>
      <p:sp>
        <p:nvSpPr>
          <p:cNvPr id="15" name="Text Box 14"/>
          <p:cNvSpPr txBox="1"/>
          <p:nvPr/>
        </p:nvSpPr>
        <p:spPr>
          <a:xfrm>
            <a:off x="1152525" y="5000625"/>
            <a:ext cx="57594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rgbClr val="92D050"/>
                </a:solidFill>
              </a:rPr>
              <a:t>c</a:t>
            </a:r>
          </a:p>
        </p:txBody>
      </p:sp>
      <p:sp>
        <p:nvSpPr>
          <p:cNvPr id="3" name="Text Box 2"/>
          <p:cNvSpPr txBox="1"/>
          <p:nvPr/>
        </p:nvSpPr>
        <p:spPr>
          <a:xfrm>
            <a:off x="2680970" y="6280785"/>
            <a:ext cx="57594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rgbClr val="FFC000"/>
                </a:solidFill>
              </a:rPr>
              <a:t>d1</a:t>
            </a:r>
          </a:p>
        </p:txBody>
      </p:sp>
      <p:sp>
        <p:nvSpPr>
          <p:cNvPr id="7" name="Text Box 6"/>
          <p:cNvSpPr txBox="1"/>
          <p:nvPr/>
        </p:nvSpPr>
        <p:spPr>
          <a:xfrm>
            <a:off x="5202555" y="4665980"/>
            <a:ext cx="57594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rgbClr val="FFC000"/>
                </a:solidFill>
              </a:rPr>
              <a:t>d2</a:t>
            </a:r>
          </a:p>
        </p:txBody>
      </p:sp>
      <p:sp>
        <p:nvSpPr>
          <p:cNvPr id="8" name="Text Box 7"/>
          <p:cNvSpPr txBox="1"/>
          <p:nvPr/>
        </p:nvSpPr>
        <p:spPr>
          <a:xfrm>
            <a:off x="3475990" y="6203950"/>
            <a:ext cx="57594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rgbClr val="FFC000"/>
                </a:solidFill>
              </a:rPr>
              <a:t>d3</a:t>
            </a:r>
          </a:p>
        </p:txBody>
      </p:sp>
      <p:sp>
        <p:nvSpPr>
          <p:cNvPr id="9" name="Text Box 8"/>
          <p:cNvSpPr txBox="1"/>
          <p:nvPr/>
        </p:nvSpPr>
        <p:spPr>
          <a:xfrm>
            <a:off x="5071110" y="6073775"/>
            <a:ext cx="57594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rgbClr val="FFC000"/>
                </a:solidFill>
              </a:rPr>
              <a:t>d4</a:t>
            </a:r>
          </a:p>
        </p:txBody>
      </p:sp>
      <p:cxnSp>
        <p:nvCxnSpPr>
          <p:cNvPr id="10" name="Straight Arrow Connector 9"/>
          <p:cNvCxnSpPr>
            <a:endCxn id="3" idx="0"/>
          </p:cNvCxnSpPr>
          <p:nvPr/>
        </p:nvCxnSpPr>
        <p:spPr>
          <a:xfrm flipH="1">
            <a:off x="2969260" y="4929505"/>
            <a:ext cx="425450" cy="1351280"/>
          </a:xfrm>
          <a:prstGeom prst="straightConnector1">
            <a:avLst/>
          </a:prstGeom>
          <a:ln w="31750" cap="rnd">
            <a:solidFill>
              <a:srgbClr val="FFC000"/>
            </a:solidFill>
            <a:round/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8" name="Text Box 27"/>
          <p:cNvSpPr txBox="1"/>
          <p:nvPr/>
        </p:nvSpPr>
        <p:spPr>
          <a:xfrm>
            <a:off x="7329170" y="3732530"/>
            <a:ext cx="22688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rgbClr val="FFC000"/>
                </a:solidFill>
              </a:rPr>
              <a:t>Max Value = 5</a:t>
            </a:r>
          </a:p>
        </p:txBody>
      </p:sp>
      <p:sp>
        <p:nvSpPr>
          <p:cNvPr id="29" name="Text Box 28"/>
          <p:cNvSpPr txBox="1"/>
          <p:nvPr/>
        </p:nvSpPr>
        <p:spPr>
          <a:xfrm>
            <a:off x="7329170" y="4319905"/>
            <a:ext cx="22688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rgbClr val="FFC000"/>
                </a:solidFill>
              </a:rPr>
              <a:t>Min Value = 4</a:t>
            </a:r>
          </a:p>
        </p:txBody>
      </p:sp>
      <p:sp>
        <p:nvSpPr>
          <p:cNvPr id="30" name="Text Box 29"/>
          <p:cNvSpPr txBox="1"/>
          <p:nvPr/>
        </p:nvSpPr>
        <p:spPr>
          <a:xfrm>
            <a:off x="6801485" y="5026660"/>
            <a:ext cx="139827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rgbClr val="FFC000"/>
                </a:solidFill>
                <a:sym typeface="+mn-ea"/>
              </a:rPr>
              <a:t>|5-4|=1</a:t>
            </a:r>
          </a:p>
        </p:txBody>
      </p:sp>
      <p:sp>
        <p:nvSpPr>
          <p:cNvPr id="31" name="Text Box 30"/>
          <p:cNvSpPr txBox="1"/>
          <p:nvPr/>
        </p:nvSpPr>
        <p:spPr>
          <a:xfrm>
            <a:off x="8199755" y="5026660"/>
            <a:ext cx="139827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400">
                <a:solidFill>
                  <a:srgbClr val="FFC000"/>
                </a:solidFill>
              </a:rPr>
              <a:t>&lt;=4</a:t>
            </a:r>
          </a:p>
        </p:txBody>
      </p:sp>
      <p:sp>
        <p:nvSpPr>
          <p:cNvPr id="32" name="Text Box 31"/>
          <p:cNvSpPr txBox="1"/>
          <p:nvPr/>
        </p:nvSpPr>
        <p:spPr>
          <a:xfrm>
            <a:off x="9598025" y="5026660"/>
            <a:ext cx="508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400">
                <a:solidFill>
                  <a:srgbClr val="92D050"/>
                </a:solidFill>
                <a:sym typeface="+mn-ea"/>
              </a:rPr>
              <a:t>✔</a:t>
            </a:r>
            <a:endParaRPr lang="en-US" sz="2400">
              <a:solidFill>
                <a:srgbClr val="FF0000"/>
              </a:solidFill>
              <a:sym typeface="+mn-ea"/>
            </a:endParaRPr>
          </a:p>
        </p:txBody>
      </p:sp>
      <p:sp>
        <p:nvSpPr>
          <p:cNvPr id="33" name="Text Box 32"/>
          <p:cNvSpPr txBox="1"/>
          <p:nvPr/>
        </p:nvSpPr>
        <p:spPr>
          <a:xfrm>
            <a:off x="7329170" y="3212465"/>
            <a:ext cx="22688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rgbClr val="FFC000"/>
                </a:solidFill>
              </a:rPr>
              <a:t>For Region d4,</a:t>
            </a:r>
          </a:p>
        </p:txBody>
      </p:sp>
      <p:sp>
        <p:nvSpPr>
          <p:cNvPr id="34" name="Text Box 33"/>
          <p:cNvSpPr txBox="1"/>
          <p:nvPr/>
        </p:nvSpPr>
        <p:spPr>
          <a:xfrm>
            <a:off x="3486150" y="2426970"/>
            <a:ext cx="57594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chemeClr val="accent1"/>
                </a:solidFill>
              </a:rPr>
              <a:t>b1</a:t>
            </a:r>
          </a:p>
        </p:txBody>
      </p:sp>
      <p:sp>
        <p:nvSpPr>
          <p:cNvPr id="35" name="Text Box 34"/>
          <p:cNvSpPr txBox="1"/>
          <p:nvPr/>
        </p:nvSpPr>
        <p:spPr>
          <a:xfrm>
            <a:off x="4968875" y="2435860"/>
            <a:ext cx="57594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chemeClr val="accent1"/>
                </a:solidFill>
              </a:rPr>
              <a:t>b2</a:t>
            </a:r>
          </a:p>
        </p:txBody>
      </p:sp>
      <p:sp>
        <p:nvSpPr>
          <p:cNvPr id="36" name="Text Box 35"/>
          <p:cNvSpPr txBox="1"/>
          <p:nvPr/>
        </p:nvSpPr>
        <p:spPr>
          <a:xfrm>
            <a:off x="5071110" y="3952240"/>
            <a:ext cx="57594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chemeClr val="accent1"/>
                </a:solidFill>
              </a:rPr>
              <a:t>b4</a:t>
            </a:r>
          </a:p>
        </p:txBody>
      </p:sp>
      <p:sp>
        <p:nvSpPr>
          <p:cNvPr id="37" name="Text Box 36"/>
          <p:cNvSpPr txBox="1"/>
          <p:nvPr/>
        </p:nvSpPr>
        <p:spPr>
          <a:xfrm>
            <a:off x="2588260" y="2426970"/>
            <a:ext cx="57594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chemeClr val="accent1"/>
                </a:solidFill>
              </a:rPr>
              <a:t>b3</a:t>
            </a:r>
          </a:p>
        </p:txBody>
      </p:sp>
      <p:cxnSp>
        <p:nvCxnSpPr>
          <p:cNvPr id="38" name="Straight Arrow Connector 37"/>
          <p:cNvCxnSpPr>
            <a:endCxn id="37" idx="2"/>
          </p:cNvCxnSpPr>
          <p:nvPr/>
        </p:nvCxnSpPr>
        <p:spPr>
          <a:xfrm flipH="1" flipV="1">
            <a:off x="2876550" y="2887345"/>
            <a:ext cx="518160" cy="1267460"/>
          </a:xfrm>
          <a:prstGeom prst="straightConnector1">
            <a:avLst/>
          </a:prstGeom>
          <a:ln w="31750" cap="rnd">
            <a:solidFill>
              <a:schemeClr val="accent1"/>
            </a:solidFill>
            <a:round/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5" grpId="0"/>
      <p:bldP spid="3" grpId="0"/>
      <p:bldP spid="7" grpId="0"/>
      <p:bldP spid="8" grpId="0"/>
      <p:bldP spid="9" grpId="0"/>
      <p:bldP spid="28" grpId="0"/>
      <p:bldP spid="28" grpId="1"/>
      <p:bldP spid="29" grpId="0"/>
      <p:bldP spid="29" grpId="1"/>
      <p:bldP spid="30" grpId="0"/>
      <p:bldP spid="30" grpId="1"/>
      <p:bldP spid="31" grpId="0"/>
      <p:bldP spid="31" grpId="1"/>
      <p:bldP spid="32" grpId="0"/>
      <p:bldP spid="32" grpId="1"/>
      <p:bldP spid="33" grpId="0"/>
      <p:bldP spid="33" grpId="1"/>
    </p:bldLst>
  </p:timing>
</p:sld>
</file>

<file path=ppt/slides/slide1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ym typeface="+mn-ea"/>
              </a:rPr>
              <a:t>Region Splitting</a:t>
            </a:r>
            <a:endParaRPr lang="en-US"/>
          </a:p>
        </p:txBody>
      </p:sp>
      <p:graphicFrame>
        <p:nvGraphicFramePr>
          <p:cNvPr id="4" name="Table 3"/>
          <p:cNvGraphicFramePr/>
          <p:nvPr>
            <p:custDataLst>
              <p:tags r:id="rId1"/>
            </p:custDataLst>
          </p:nvPr>
        </p:nvGraphicFramePr>
        <p:xfrm>
          <a:off x="1838325" y="3025775"/>
          <a:ext cx="3098800" cy="3048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87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73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73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73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873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873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873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873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chemeClr val="accent4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chemeClr val="accent4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Text Box 4"/>
          <p:cNvSpPr txBox="1"/>
          <p:nvPr/>
        </p:nvSpPr>
        <p:spPr>
          <a:xfrm>
            <a:off x="996950" y="1616075"/>
            <a:ext cx="1040574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400"/>
              <a:t>Apply the region splitting on the following image. Assume the threshold value be &lt;= 4.</a:t>
            </a:r>
          </a:p>
        </p:txBody>
      </p:sp>
      <p:sp>
        <p:nvSpPr>
          <p:cNvPr id="6" name="Text Box 5"/>
          <p:cNvSpPr txBox="1"/>
          <p:nvPr/>
        </p:nvSpPr>
        <p:spPr>
          <a:xfrm>
            <a:off x="1152525" y="3562350"/>
            <a:ext cx="57594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rgbClr val="FF0000"/>
                </a:solidFill>
              </a:rPr>
              <a:t>a</a:t>
            </a:r>
          </a:p>
        </p:txBody>
      </p:sp>
      <p:sp>
        <p:nvSpPr>
          <p:cNvPr id="15" name="Text Box 14"/>
          <p:cNvSpPr txBox="1"/>
          <p:nvPr/>
        </p:nvSpPr>
        <p:spPr>
          <a:xfrm>
            <a:off x="1152525" y="5000625"/>
            <a:ext cx="57594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rgbClr val="92D050"/>
                </a:solidFill>
              </a:rPr>
              <a:t>c</a:t>
            </a:r>
          </a:p>
        </p:txBody>
      </p:sp>
      <p:sp>
        <p:nvSpPr>
          <p:cNvPr id="3" name="Text Box 2"/>
          <p:cNvSpPr txBox="1"/>
          <p:nvPr/>
        </p:nvSpPr>
        <p:spPr>
          <a:xfrm>
            <a:off x="2680970" y="6280785"/>
            <a:ext cx="57594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rgbClr val="FFC000"/>
                </a:solidFill>
              </a:rPr>
              <a:t>d1</a:t>
            </a:r>
          </a:p>
        </p:txBody>
      </p:sp>
      <p:sp>
        <p:nvSpPr>
          <p:cNvPr id="7" name="Text Box 6"/>
          <p:cNvSpPr txBox="1"/>
          <p:nvPr/>
        </p:nvSpPr>
        <p:spPr>
          <a:xfrm>
            <a:off x="5202555" y="4665980"/>
            <a:ext cx="57594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rgbClr val="FFC000"/>
                </a:solidFill>
              </a:rPr>
              <a:t>d2</a:t>
            </a:r>
          </a:p>
        </p:txBody>
      </p:sp>
      <p:sp>
        <p:nvSpPr>
          <p:cNvPr id="8" name="Text Box 7"/>
          <p:cNvSpPr txBox="1"/>
          <p:nvPr/>
        </p:nvSpPr>
        <p:spPr>
          <a:xfrm>
            <a:off x="3475990" y="6203950"/>
            <a:ext cx="57594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rgbClr val="FFC000"/>
                </a:solidFill>
              </a:rPr>
              <a:t>d3</a:t>
            </a:r>
          </a:p>
        </p:txBody>
      </p:sp>
      <p:sp>
        <p:nvSpPr>
          <p:cNvPr id="9" name="Text Box 8"/>
          <p:cNvSpPr txBox="1"/>
          <p:nvPr/>
        </p:nvSpPr>
        <p:spPr>
          <a:xfrm>
            <a:off x="5071110" y="6073775"/>
            <a:ext cx="57594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rgbClr val="FFC000"/>
                </a:solidFill>
              </a:rPr>
              <a:t>d4</a:t>
            </a:r>
          </a:p>
        </p:txBody>
      </p:sp>
      <p:cxnSp>
        <p:nvCxnSpPr>
          <p:cNvPr id="10" name="Straight Arrow Connector 9"/>
          <p:cNvCxnSpPr>
            <a:endCxn id="3" idx="0"/>
          </p:cNvCxnSpPr>
          <p:nvPr/>
        </p:nvCxnSpPr>
        <p:spPr>
          <a:xfrm flipH="1">
            <a:off x="2969260" y="4929505"/>
            <a:ext cx="425450" cy="1351280"/>
          </a:xfrm>
          <a:prstGeom prst="straightConnector1">
            <a:avLst/>
          </a:prstGeom>
          <a:ln w="31750" cap="rnd">
            <a:solidFill>
              <a:srgbClr val="FFC000"/>
            </a:solidFill>
            <a:round/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4" name="Text Box 33"/>
          <p:cNvSpPr txBox="1"/>
          <p:nvPr/>
        </p:nvSpPr>
        <p:spPr>
          <a:xfrm>
            <a:off x="3486150" y="2426970"/>
            <a:ext cx="57594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chemeClr val="accent1"/>
                </a:solidFill>
              </a:rPr>
              <a:t>b1</a:t>
            </a:r>
          </a:p>
        </p:txBody>
      </p:sp>
      <p:sp>
        <p:nvSpPr>
          <p:cNvPr id="35" name="Text Box 34"/>
          <p:cNvSpPr txBox="1"/>
          <p:nvPr/>
        </p:nvSpPr>
        <p:spPr>
          <a:xfrm>
            <a:off x="4968875" y="2435860"/>
            <a:ext cx="57594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chemeClr val="accent1"/>
                </a:solidFill>
              </a:rPr>
              <a:t>b2</a:t>
            </a:r>
          </a:p>
        </p:txBody>
      </p:sp>
      <p:sp>
        <p:nvSpPr>
          <p:cNvPr id="36" name="Text Box 35"/>
          <p:cNvSpPr txBox="1"/>
          <p:nvPr/>
        </p:nvSpPr>
        <p:spPr>
          <a:xfrm>
            <a:off x="5071110" y="3952240"/>
            <a:ext cx="57594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chemeClr val="accent1"/>
                </a:solidFill>
              </a:rPr>
              <a:t>b4</a:t>
            </a:r>
          </a:p>
        </p:txBody>
      </p:sp>
      <p:sp>
        <p:nvSpPr>
          <p:cNvPr id="37" name="Text Box 36"/>
          <p:cNvSpPr txBox="1"/>
          <p:nvPr/>
        </p:nvSpPr>
        <p:spPr>
          <a:xfrm>
            <a:off x="2588260" y="2426970"/>
            <a:ext cx="57594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chemeClr val="accent1"/>
                </a:solidFill>
              </a:rPr>
              <a:t>b3</a:t>
            </a:r>
          </a:p>
        </p:txBody>
      </p:sp>
      <p:cxnSp>
        <p:nvCxnSpPr>
          <p:cNvPr id="38" name="Straight Arrow Connector 37"/>
          <p:cNvCxnSpPr>
            <a:endCxn id="37" idx="2"/>
          </p:cNvCxnSpPr>
          <p:nvPr/>
        </p:nvCxnSpPr>
        <p:spPr>
          <a:xfrm flipH="1" flipV="1">
            <a:off x="2876550" y="2887345"/>
            <a:ext cx="518160" cy="1267460"/>
          </a:xfrm>
          <a:prstGeom prst="straightConnector1">
            <a:avLst/>
          </a:prstGeom>
          <a:ln w="31750" cap="rnd">
            <a:solidFill>
              <a:schemeClr val="accent1"/>
            </a:solidFill>
            <a:round/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1" name="Text Box 10"/>
          <p:cNvSpPr txBox="1"/>
          <p:nvPr/>
        </p:nvSpPr>
        <p:spPr>
          <a:xfrm>
            <a:off x="7323455" y="4319270"/>
            <a:ext cx="22688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chemeClr val="tx1"/>
                </a:solidFill>
              </a:rPr>
              <a:t>Result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5" grpId="0"/>
      <p:bldP spid="3" grpId="0"/>
      <p:bldP spid="7" grpId="0"/>
      <p:bldP spid="8" grpId="0"/>
      <p:bldP spid="9" grpId="0"/>
      <p:bldP spid="11" grpId="0"/>
      <p:bldP spid="11" grpId="1"/>
    </p:bldLst>
  </p:timing>
</p:sld>
</file>

<file path=ppt/slides/slide1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766060"/>
            <a:ext cx="10515600" cy="1325563"/>
          </a:xfrm>
        </p:spPr>
        <p:txBody>
          <a:bodyPr/>
          <a:lstStyle/>
          <a:p>
            <a:pPr algn="ctr"/>
            <a:r>
              <a:rPr lang="en-US"/>
              <a:t>Region Splitting and Merging</a:t>
            </a:r>
          </a:p>
        </p:txBody>
      </p:sp>
    </p:spTree>
  </p:cSld>
  <p:clrMapOvr>
    <a:masterClrMapping/>
  </p:clrMapOvr>
</p:sld>
</file>

<file path=ppt/slides/slide1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ym typeface="+mn-ea"/>
              </a:rPr>
              <a:t>Region Splitting and Merging</a:t>
            </a:r>
            <a:endParaRPr lang="en-US"/>
          </a:p>
        </p:txBody>
      </p:sp>
      <p:graphicFrame>
        <p:nvGraphicFramePr>
          <p:cNvPr id="4" name="Table 3"/>
          <p:cNvGraphicFramePr/>
          <p:nvPr>
            <p:custDataLst>
              <p:tags r:id="rId1"/>
            </p:custDataLst>
          </p:nvPr>
        </p:nvGraphicFramePr>
        <p:xfrm>
          <a:off x="1838325" y="3025775"/>
          <a:ext cx="3098800" cy="3048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87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73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73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73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873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873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873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873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Text Box 4"/>
          <p:cNvSpPr txBox="1"/>
          <p:nvPr/>
        </p:nvSpPr>
        <p:spPr>
          <a:xfrm>
            <a:off x="996950" y="1616075"/>
            <a:ext cx="1040574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400"/>
              <a:t>Apply the region splitting and merging on the following image with threshold value equal to 3.</a:t>
            </a:r>
          </a:p>
        </p:txBody>
      </p:sp>
      <p:sp>
        <p:nvSpPr>
          <p:cNvPr id="8" name="Text Box 7"/>
          <p:cNvSpPr txBox="1"/>
          <p:nvPr/>
        </p:nvSpPr>
        <p:spPr>
          <a:xfrm>
            <a:off x="7329170" y="4182110"/>
            <a:ext cx="22688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/>
              <a:t>T=3</a:t>
            </a:r>
          </a:p>
        </p:txBody>
      </p:sp>
      <p:sp>
        <p:nvSpPr>
          <p:cNvPr id="6" name="Text Box 5"/>
          <p:cNvSpPr txBox="1"/>
          <p:nvPr/>
        </p:nvSpPr>
        <p:spPr>
          <a:xfrm>
            <a:off x="5747385" y="4935220"/>
            <a:ext cx="543242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ym typeface="+mn-ea"/>
              </a:rPr>
              <a:t>Condition -&gt; |Max Value - Min Value| &lt;= 3</a:t>
            </a:r>
            <a:endParaRPr lang="en-US" sz="2400"/>
          </a:p>
        </p:txBody>
      </p:sp>
      <p:sp>
        <p:nvSpPr>
          <p:cNvPr id="3" name="Text Box 2"/>
          <p:cNvSpPr txBox="1"/>
          <p:nvPr/>
        </p:nvSpPr>
        <p:spPr>
          <a:xfrm>
            <a:off x="7329170" y="3198495"/>
            <a:ext cx="22688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/>
              <a:t>For Splitting,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8" grpId="1"/>
      <p:bldP spid="6" grpId="0"/>
      <p:bldP spid="6" grpId="1"/>
      <p:bldP spid="3" grpId="0"/>
      <p:bldP spid="3" grpId="1"/>
    </p:bldLst>
  </p:timing>
</p:sld>
</file>

<file path=ppt/slides/slide1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ym typeface="+mn-ea"/>
              </a:rPr>
              <a:t>Region Splitting</a:t>
            </a:r>
            <a:endParaRPr lang="en-US"/>
          </a:p>
        </p:txBody>
      </p:sp>
      <p:graphicFrame>
        <p:nvGraphicFramePr>
          <p:cNvPr id="4" name="Table 3"/>
          <p:cNvGraphicFramePr/>
          <p:nvPr>
            <p:custDataLst>
              <p:tags r:id="rId1"/>
            </p:custDataLst>
          </p:nvPr>
        </p:nvGraphicFramePr>
        <p:xfrm>
          <a:off x="1838325" y="3025775"/>
          <a:ext cx="3098800" cy="3048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87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73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73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73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873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873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873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873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Text Box 4"/>
          <p:cNvSpPr txBox="1"/>
          <p:nvPr/>
        </p:nvSpPr>
        <p:spPr>
          <a:xfrm>
            <a:off x="996950" y="1616075"/>
            <a:ext cx="1040574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400">
                <a:sym typeface="+mn-ea"/>
              </a:rPr>
              <a:t>Apply the region splitting and merging on the following image with threshold value equal to 3.</a:t>
            </a:r>
            <a:endParaRPr lang="en-US" sz="2400"/>
          </a:p>
        </p:txBody>
      </p:sp>
      <p:sp>
        <p:nvSpPr>
          <p:cNvPr id="8" name="Text Box 7"/>
          <p:cNvSpPr txBox="1"/>
          <p:nvPr/>
        </p:nvSpPr>
        <p:spPr>
          <a:xfrm>
            <a:off x="7329170" y="3025775"/>
            <a:ext cx="22688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/>
              <a:t>Max Value = 7</a:t>
            </a:r>
          </a:p>
        </p:txBody>
      </p:sp>
      <p:sp>
        <p:nvSpPr>
          <p:cNvPr id="3" name="Text Box 2"/>
          <p:cNvSpPr txBox="1"/>
          <p:nvPr/>
        </p:nvSpPr>
        <p:spPr>
          <a:xfrm>
            <a:off x="7329170" y="3613150"/>
            <a:ext cx="22688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/>
              <a:t>Min Value = 0</a:t>
            </a:r>
          </a:p>
        </p:txBody>
      </p:sp>
      <p:sp>
        <p:nvSpPr>
          <p:cNvPr id="7" name="Text Box 6"/>
          <p:cNvSpPr txBox="1"/>
          <p:nvPr/>
        </p:nvSpPr>
        <p:spPr>
          <a:xfrm>
            <a:off x="6801485" y="4319905"/>
            <a:ext cx="139827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ym typeface="+mn-ea"/>
              </a:rPr>
              <a:t>|7-0|=7</a:t>
            </a:r>
            <a:endParaRPr lang="en-US" sz="2400"/>
          </a:p>
        </p:txBody>
      </p:sp>
      <p:sp>
        <p:nvSpPr>
          <p:cNvPr id="9" name="Text Box 8"/>
          <p:cNvSpPr txBox="1"/>
          <p:nvPr/>
        </p:nvSpPr>
        <p:spPr>
          <a:xfrm>
            <a:off x="8199755" y="4319905"/>
            <a:ext cx="139827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400"/>
              <a:t>&lt;=3</a:t>
            </a:r>
          </a:p>
        </p:txBody>
      </p:sp>
      <p:sp>
        <p:nvSpPr>
          <p:cNvPr id="10" name="Text Box 9"/>
          <p:cNvSpPr txBox="1"/>
          <p:nvPr/>
        </p:nvSpPr>
        <p:spPr>
          <a:xfrm>
            <a:off x="9598025" y="4319905"/>
            <a:ext cx="508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400">
                <a:solidFill>
                  <a:srgbClr val="FF0000"/>
                </a:solidFill>
                <a:sym typeface="+mn-ea"/>
              </a:rPr>
              <a:t>X</a:t>
            </a:r>
          </a:p>
        </p:txBody>
      </p:sp>
      <p:cxnSp>
        <p:nvCxnSpPr>
          <p:cNvPr id="12" name="Straight Connector 11"/>
          <p:cNvCxnSpPr/>
          <p:nvPr/>
        </p:nvCxnSpPr>
        <p:spPr>
          <a:xfrm>
            <a:off x="3383915" y="2902585"/>
            <a:ext cx="10795" cy="3374390"/>
          </a:xfrm>
          <a:prstGeom prst="line">
            <a:avLst/>
          </a:prstGeom>
          <a:ln w="31750" cap="rnd">
            <a:solidFill>
              <a:srgbClr val="FF0000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1728470" y="4558030"/>
            <a:ext cx="3331845" cy="0"/>
          </a:xfrm>
          <a:prstGeom prst="line">
            <a:avLst/>
          </a:prstGeom>
          <a:ln w="31750" cap="rnd">
            <a:solidFill>
              <a:srgbClr val="FF0000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8" grpId="1"/>
      <p:bldP spid="3" grpId="0"/>
      <p:bldP spid="3" grpId="1"/>
      <p:bldP spid="7" grpId="0"/>
      <p:bldP spid="7" grpId="1"/>
      <p:bldP spid="9" grpId="0"/>
      <p:bldP spid="9" grpId="1"/>
      <p:bldP spid="10" grpId="0"/>
      <p:bldP spid="10" grpId="1"/>
    </p:bldLst>
  </p:timing>
</p:sld>
</file>

<file path=ppt/slides/slide1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ym typeface="+mn-ea"/>
              </a:rPr>
              <a:t>Region Splitting</a:t>
            </a:r>
            <a:endParaRPr lang="en-US"/>
          </a:p>
        </p:txBody>
      </p:sp>
      <p:graphicFrame>
        <p:nvGraphicFramePr>
          <p:cNvPr id="4" name="Table 3"/>
          <p:cNvGraphicFramePr/>
          <p:nvPr>
            <p:custDataLst>
              <p:tags r:id="rId1"/>
            </p:custDataLst>
          </p:nvPr>
        </p:nvGraphicFramePr>
        <p:xfrm>
          <a:off x="1838325" y="3025775"/>
          <a:ext cx="3098800" cy="3048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87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73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73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73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873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873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873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873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Text Box 4"/>
          <p:cNvSpPr txBox="1"/>
          <p:nvPr/>
        </p:nvSpPr>
        <p:spPr>
          <a:xfrm>
            <a:off x="996950" y="1616075"/>
            <a:ext cx="1040574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400">
                <a:sym typeface="+mn-ea"/>
              </a:rPr>
              <a:t>Apply the region splitting and merging on the following image with threshold value equal to 3.</a:t>
            </a:r>
            <a:endParaRPr lang="en-US" sz="2400"/>
          </a:p>
        </p:txBody>
      </p:sp>
      <p:sp>
        <p:nvSpPr>
          <p:cNvPr id="8" name="Text Box 7"/>
          <p:cNvSpPr txBox="1"/>
          <p:nvPr/>
        </p:nvSpPr>
        <p:spPr>
          <a:xfrm>
            <a:off x="7329170" y="3025775"/>
            <a:ext cx="22688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/>
              <a:t>Max Value = 7</a:t>
            </a:r>
          </a:p>
        </p:txBody>
      </p:sp>
      <p:sp>
        <p:nvSpPr>
          <p:cNvPr id="3" name="Text Box 2"/>
          <p:cNvSpPr txBox="1"/>
          <p:nvPr/>
        </p:nvSpPr>
        <p:spPr>
          <a:xfrm>
            <a:off x="7329170" y="3613150"/>
            <a:ext cx="22688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/>
              <a:t>Min Value = 0</a:t>
            </a:r>
          </a:p>
        </p:txBody>
      </p:sp>
      <p:sp>
        <p:nvSpPr>
          <p:cNvPr id="7" name="Text Box 6"/>
          <p:cNvSpPr txBox="1"/>
          <p:nvPr/>
        </p:nvSpPr>
        <p:spPr>
          <a:xfrm>
            <a:off x="6801485" y="4319905"/>
            <a:ext cx="139827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ym typeface="+mn-ea"/>
              </a:rPr>
              <a:t>|7-0|=7</a:t>
            </a:r>
            <a:endParaRPr lang="en-US" sz="2400"/>
          </a:p>
        </p:txBody>
      </p:sp>
      <p:sp>
        <p:nvSpPr>
          <p:cNvPr id="9" name="Text Box 8"/>
          <p:cNvSpPr txBox="1"/>
          <p:nvPr/>
        </p:nvSpPr>
        <p:spPr>
          <a:xfrm>
            <a:off x="8199755" y="4319905"/>
            <a:ext cx="139827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400"/>
              <a:t>&lt;=3</a:t>
            </a:r>
          </a:p>
        </p:txBody>
      </p:sp>
      <p:sp>
        <p:nvSpPr>
          <p:cNvPr id="10" name="Text Box 9"/>
          <p:cNvSpPr txBox="1"/>
          <p:nvPr/>
        </p:nvSpPr>
        <p:spPr>
          <a:xfrm>
            <a:off x="9598025" y="4319905"/>
            <a:ext cx="508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400">
                <a:solidFill>
                  <a:srgbClr val="FF0000"/>
                </a:solidFill>
                <a:sym typeface="+mn-ea"/>
              </a:rPr>
              <a:t>X</a:t>
            </a:r>
          </a:p>
        </p:txBody>
      </p:sp>
      <p:cxnSp>
        <p:nvCxnSpPr>
          <p:cNvPr id="12" name="Straight Connector 11"/>
          <p:cNvCxnSpPr/>
          <p:nvPr/>
        </p:nvCxnSpPr>
        <p:spPr>
          <a:xfrm>
            <a:off x="3383915" y="2902585"/>
            <a:ext cx="10795" cy="3374390"/>
          </a:xfrm>
          <a:prstGeom prst="line">
            <a:avLst/>
          </a:prstGeom>
          <a:ln w="31750" cap="rnd">
            <a:solidFill>
              <a:srgbClr val="FF0000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1728470" y="4558030"/>
            <a:ext cx="3331845" cy="0"/>
          </a:xfrm>
          <a:prstGeom prst="line">
            <a:avLst/>
          </a:prstGeom>
          <a:ln w="31750" cap="rnd">
            <a:solidFill>
              <a:srgbClr val="FF0000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6" name="Text Box 5"/>
          <p:cNvSpPr txBox="1"/>
          <p:nvPr/>
        </p:nvSpPr>
        <p:spPr>
          <a:xfrm>
            <a:off x="1152525" y="3562350"/>
            <a:ext cx="57594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rgbClr val="FF0000"/>
                </a:solidFill>
              </a:rPr>
              <a:t>a</a:t>
            </a:r>
          </a:p>
        </p:txBody>
      </p:sp>
      <p:sp>
        <p:nvSpPr>
          <p:cNvPr id="14" name="Text Box 13"/>
          <p:cNvSpPr txBox="1"/>
          <p:nvPr/>
        </p:nvSpPr>
        <p:spPr>
          <a:xfrm>
            <a:off x="5184140" y="3613150"/>
            <a:ext cx="57594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chemeClr val="accent1"/>
                </a:solidFill>
              </a:rPr>
              <a:t>b</a:t>
            </a:r>
          </a:p>
        </p:txBody>
      </p:sp>
      <p:sp>
        <p:nvSpPr>
          <p:cNvPr id="15" name="Text Box 14"/>
          <p:cNvSpPr txBox="1"/>
          <p:nvPr/>
        </p:nvSpPr>
        <p:spPr>
          <a:xfrm>
            <a:off x="1152525" y="5000625"/>
            <a:ext cx="57594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rgbClr val="92D050"/>
                </a:solidFill>
              </a:rPr>
              <a:t>c</a:t>
            </a:r>
          </a:p>
        </p:txBody>
      </p:sp>
      <p:sp>
        <p:nvSpPr>
          <p:cNvPr id="16" name="Text Box 15"/>
          <p:cNvSpPr txBox="1"/>
          <p:nvPr/>
        </p:nvSpPr>
        <p:spPr>
          <a:xfrm>
            <a:off x="5184140" y="5051425"/>
            <a:ext cx="57594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rgbClr val="FFC000"/>
                </a:solidFill>
              </a:rPr>
              <a:t>d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2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3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2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3" grpId="0"/>
      <p:bldP spid="7" grpId="0"/>
      <p:bldP spid="9" grpId="0"/>
      <p:bldP spid="10" grpId="0"/>
      <p:bldP spid="6" grpId="0"/>
      <p:bldP spid="6" grpId="1"/>
      <p:bldP spid="14" grpId="0"/>
      <p:bldP spid="14" grpId="1"/>
      <p:bldP spid="15" grpId="0"/>
      <p:bldP spid="15" grpId="1"/>
      <p:bldP spid="16" grpId="0"/>
      <p:bldP spid="16" grpId="1"/>
    </p:bldLst>
  </p:timing>
</p:sld>
</file>

<file path=ppt/slides/slide1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ym typeface="+mn-ea"/>
              </a:rPr>
              <a:t>Region Splitting</a:t>
            </a:r>
            <a:endParaRPr lang="en-US"/>
          </a:p>
        </p:txBody>
      </p:sp>
      <p:graphicFrame>
        <p:nvGraphicFramePr>
          <p:cNvPr id="4" name="Table 3"/>
          <p:cNvGraphicFramePr/>
          <p:nvPr>
            <p:custDataLst>
              <p:tags r:id="rId1"/>
            </p:custDataLst>
          </p:nvPr>
        </p:nvGraphicFramePr>
        <p:xfrm>
          <a:off x="1838325" y="3025775"/>
          <a:ext cx="3098800" cy="3048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87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73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73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73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873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873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873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873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Text Box 4"/>
          <p:cNvSpPr txBox="1"/>
          <p:nvPr/>
        </p:nvSpPr>
        <p:spPr>
          <a:xfrm>
            <a:off x="996950" y="1616075"/>
            <a:ext cx="1040574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400">
                <a:sym typeface="+mn-ea"/>
              </a:rPr>
              <a:t>Apply the region splitting and merging on the following image with threshold value equal to 3.</a:t>
            </a:r>
            <a:endParaRPr lang="en-US" sz="2400"/>
          </a:p>
        </p:txBody>
      </p:sp>
      <p:sp>
        <p:nvSpPr>
          <p:cNvPr id="6" name="Text Box 5"/>
          <p:cNvSpPr txBox="1"/>
          <p:nvPr/>
        </p:nvSpPr>
        <p:spPr>
          <a:xfrm>
            <a:off x="1152525" y="3562350"/>
            <a:ext cx="57594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rgbClr val="FF0000"/>
                </a:solidFill>
              </a:rPr>
              <a:t>a</a:t>
            </a:r>
          </a:p>
        </p:txBody>
      </p:sp>
      <p:sp>
        <p:nvSpPr>
          <p:cNvPr id="14" name="Text Box 13"/>
          <p:cNvSpPr txBox="1"/>
          <p:nvPr/>
        </p:nvSpPr>
        <p:spPr>
          <a:xfrm>
            <a:off x="5184140" y="3613150"/>
            <a:ext cx="57594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chemeClr val="accent1"/>
                </a:solidFill>
              </a:rPr>
              <a:t>b</a:t>
            </a:r>
          </a:p>
        </p:txBody>
      </p:sp>
      <p:sp>
        <p:nvSpPr>
          <p:cNvPr id="15" name="Text Box 14"/>
          <p:cNvSpPr txBox="1"/>
          <p:nvPr/>
        </p:nvSpPr>
        <p:spPr>
          <a:xfrm>
            <a:off x="1152525" y="5000625"/>
            <a:ext cx="57594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rgbClr val="92D050"/>
                </a:solidFill>
              </a:rPr>
              <a:t>c</a:t>
            </a:r>
          </a:p>
        </p:txBody>
      </p:sp>
      <p:sp>
        <p:nvSpPr>
          <p:cNvPr id="16" name="Text Box 15"/>
          <p:cNvSpPr txBox="1"/>
          <p:nvPr/>
        </p:nvSpPr>
        <p:spPr>
          <a:xfrm>
            <a:off x="5184140" y="5051425"/>
            <a:ext cx="57594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rgbClr val="FFC000"/>
                </a:solidFill>
              </a:rPr>
              <a:t>d</a:t>
            </a:r>
          </a:p>
        </p:txBody>
      </p:sp>
      <p:sp>
        <p:nvSpPr>
          <p:cNvPr id="17" name="Text Box 16"/>
          <p:cNvSpPr txBox="1"/>
          <p:nvPr/>
        </p:nvSpPr>
        <p:spPr>
          <a:xfrm>
            <a:off x="7329170" y="3732530"/>
            <a:ext cx="22688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rgbClr val="FF0000"/>
                </a:solidFill>
              </a:rPr>
              <a:t>Max Value = 7</a:t>
            </a:r>
          </a:p>
        </p:txBody>
      </p:sp>
      <p:sp>
        <p:nvSpPr>
          <p:cNvPr id="18" name="Text Box 17"/>
          <p:cNvSpPr txBox="1"/>
          <p:nvPr/>
        </p:nvSpPr>
        <p:spPr>
          <a:xfrm>
            <a:off x="7329170" y="4319905"/>
            <a:ext cx="22688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rgbClr val="FF0000"/>
                </a:solidFill>
              </a:rPr>
              <a:t>Min Value = 4</a:t>
            </a:r>
          </a:p>
        </p:txBody>
      </p:sp>
      <p:sp>
        <p:nvSpPr>
          <p:cNvPr id="19" name="Text Box 18"/>
          <p:cNvSpPr txBox="1"/>
          <p:nvPr/>
        </p:nvSpPr>
        <p:spPr>
          <a:xfrm>
            <a:off x="6801485" y="5026660"/>
            <a:ext cx="139827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rgbClr val="FF0000"/>
                </a:solidFill>
                <a:sym typeface="+mn-ea"/>
              </a:rPr>
              <a:t>|7-4|=3</a:t>
            </a:r>
          </a:p>
        </p:txBody>
      </p:sp>
      <p:sp>
        <p:nvSpPr>
          <p:cNvPr id="20" name="Text Box 19"/>
          <p:cNvSpPr txBox="1"/>
          <p:nvPr/>
        </p:nvSpPr>
        <p:spPr>
          <a:xfrm>
            <a:off x="8199755" y="5026660"/>
            <a:ext cx="139827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400">
                <a:solidFill>
                  <a:srgbClr val="FF0000"/>
                </a:solidFill>
              </a:rPr>
              <a:t>&lt;=3</a:t>
            </a:r>
          </a:p>
        </p:txBody>
      </p:sp>
      <p:sp>
        <p:nvSpPr>
          <p:cNvPr id="21" name="Text Box 20"/>
          <p:cNvSpPr txBox="1"/>
          <p:nvPr/>
        </p:nvSpPr>
        <p:spPr>
          <a:xfrm>
            <a:off x="9598025" y="5026660"/>
            <a:ext cx="508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400">
                <a:solidFill>
                  <a:srgbClr val="92D050"/>
                </a:solidFill>
                <a:sym typeface="+mn-ea"/>
              </a:rPr>
              <a:t>✔</a:t>
            </a:r>
          </a:p>
        </p:txBody>
      </p:sp>
      <p:sp>
        <p:nvSpPr>
          <p:cNvPr id="22" name="Text Box 21"/>
          <p:cNvSpPr txBox="1"/>
          <p:nvPr/>
        </p:nvSpPr>
        <p:spPr>
          <a:xfrm>
            <a:off x="7329170" y="3212465"/>
            <a:ext cx="22688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rgbClr val="FF0000"/>
                </a:solidFill>
              </a:rPr>
              <a:t>For Region a,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4" grpId="0"/>
      <p:bldP spid="15" grpId="0"/>
      <p:bldP spid="16" grpId="0"/>
      <p:bldP spid="17" grpId="0"/>
      <p:bldP spid="17" grpId="1"/>
      <p:bldP spid="18" grpId="0"/>
      <p:bldP spid="18" grpId="1"/>
      <p:bldP spid="19" grpId="0"/>
      <p:bldP spid="19" grpId="1"/>
      <p:bldP spid="20" grpId="0"/>
      <p:bldP spid="20" grpId="1"/>
      <p:bldP spid="21" grpId="0"/>
      <p:bldP spid="21" grpId="1"/>
      <p:bldP spid="22" grpId="0"/>
      <p:bldP spid="22" grpId="1"/>
    </p:bldLst>
  </p:timing>
</p:sld>
</file>

<file path=ppt/slides/slide1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ym typeface="+mn-ea"/>
              </a:rPr>
              <a:t>Region Splitting</a:t>
            </a:r>
            <a:endParaRPr lang="en-US"/>
          </a:p>
        </p:txBody>
      </p:sp>
      <p:graphicFrame>
        <p:nvGraphicFramePr>
          <p:cNvPr id="4" name="Table 3"/>
          <p:cNvGraphicFramePr/>
          <p:nvPr>
            <p:custDataLst>
              <p:tags r:id="rId1"/>
            </p:custDataLst>
          </p:nvPr>
        </p:nvGraphicFramePr>
        <p:xfrm>
          <a:off x="1838325" y="3025775"/>
          <a:ext cx="3098800" cy="3048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87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73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73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73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873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873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873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873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Text Box 4"/>
          <p:cNvSpPr txBox="1"/>
          <p:nvPr/>
        </p:nvSpPr>
        <p:spPr>
          <a:xfrm>
            <a:off x="996950" y="1616075"/>
            <a:ext cx="1040574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400">
                <a:sym typeface="+mn-ea"/>
              </a:rPr>
              <a:t>Apply the region splitting and merging on the following image with threshold value equal to 3.</a:t>
            </a:r>
            <a:endParaRPr lang="en-US" sz="2400"/>
          </a:p>
        </p:txBody>
      </p:sp>
      <p:sp>
        <p:nvSpPr>
          <p:cNvPr id="6" name="Text Box 5"/>
          <p:cNvSpPr txBox="1"/>
          <p:nvPr/>
        </p:nvSpPr>
        <p:spPr>
          <a:xfrm>
            <a:off x="1152525" y="3562350"/>
            <a:ext cx="57594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rgbClr val="FF0000"/>
                </a:solidFill>
              </a:rPr>
              <a:t>a</a:t>
            </a:r>
          </a:p>
        </p:txBody>
      </p:sp>
      <p:sp>
        <p:nvSpPr>
          <p:cNvPr id="14" name="Text Box 13"/>
          <p:cNvSpPr txBox="1"/>
          <p:nvPr/>
        </p:nvSpPr>
        <p:spPr>
          <a:xfrm>
            <a:off x="5184140" y="3613150"/>
            <a:ext cx="57594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chemeClr val="accent1"/>
                </a:solidFill>
              </a:rPr>
              <a:t>b</a:t>
            </a:r>
          </a:p>
        </p:txBody>
      </p:sp>
      <p:sp>
        <p:nvSpPr>
          <p:cNvPr id="15" name="Text Box 14"/>
          <p:cNvSpPr txBox="1"/>
          <p:nvPr/>
        </p:nvSpPr>
        <p:spPr>
          <a:xfrm>
            <a:off x="1152525" y="5000625"/>
            <a:ext cx="57594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rgbClr val="92D050"/>
                </a:solidFill>
              </a:rPr>
              <a:t>c</a:t>
            </a:r>
          </a:p>
        </p:txBody>
      </p:sp>
      <p:sp>
        <p:nvSpPr>
          <p:cNvPr id="16" name="Text Box 15"/>
          <p:cNvSpPr txBox="1"/>
          <p:nvPr/>
        </p:nvSpPr>
        <p:spPr>
          <a:xfrm>
            <a:off x="5184140" y="5051425"/>
            <a:ext cx="57594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rgbClr val="FFC000"/>
                </a:solidFill>
              </a:rPr>
              <a:t>d</a:t>
            </a:r>
          </a:p>
        </p:txBody>
      </p:sp>
      <p:sp>
        <p:nvSpPr>
          <p:cNvPr id="17" name="Text Box 16"/>
          <p:cNvSpPr txBox="1"/>
          <p:nvPr/>
        </p:nvSpPr>
        <p:spPr>
          <a:xfrm>
            <a:off x="7329170" y="3732530"/>
            <a:ext cx="22688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chemeClr val="accent1"/>
                </a:solidFill>
              </a:rPr>
              <a:t>Max Value = 7</a:t>
            </a:r>
          </a:p>
        </p:txBody>
      </p:sp>
      <p:sp>
        <p:nvSpPr>
          <p:cNvPr id="18" name="Text Box 17"/>
          <p:cNvSpPr txBox="1"/>
          <p:nvPr/>
        </p:nvSpPr>
        <p:spPr>
          <a:xfrm>
            <a:off x="7329170" y="4319905"/>
            <a:ext cx="22688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chemeClr val="accent1"/>
                </a:solidFill>
              </a:rPr>
              <a:t>Min Value = 2</a:t>
            </a:r>
          </a:p>
        </p:txBody>
      </p:sp>
      <p:sp>
        <p:nvSpPr>
          <p:cNvPr id="19" name="Text Box 18"/>
          <p:cNvSpPr txBox="1"/>
          <p:nvPr/>
        </p:nvSpPr>
        <p:spPr>
          <a:xfrm>
            <a:off x="6801485" y="5026660"/>
            <a:ext cx="139827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chemeClr val="accent1"/>
                </a:solidFill>
                <a:sym typeface="+mn-ea"/>
              </a:rPr>
              <a:t>|7-2|=5</a:t>
            </a:r>
          </a:p>
        </p:txBody>
      </p:sp>
      <p:sp>
        <p:nvSpPr>
          <p:cNvPr id="20" name="Text Box 19"/>
          <p:cNvSpPr txBox="1"/>
          <p:nvPr/>
        </p:nvSpPr>
        <p:spPr>
          <a:xfrm>
            <a:off x="8199755" y="5026660"/>
            <a:ext cx="139827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400">
                <a:solidFill>
                  <a:schemeClr val="accent1"/>
                </a:solidFill>
              </a:rPr>
              <a:t>&lt;=3</a:t>
            </a:r>
          </a:p>
        </p:txBody>
      </p:sp>
      <p:sp>
        <p:nvSpPr>
          <p:cNvPr id="21" name="Text Box 20"/>
          <p:cNvSpPr txBox="1"/>
          <p:nvPr/>
        </p:nvSpPr>
        <p:spPr>
          <a:xfrm>
            <a:off x="9598025" y="5026660"/>
            <a:ext cx="508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400">
                <a:solidFill>
                  <a:srgbClr val="FF0000"/>
                </a:solidFill>
                <a:sym typeface="+mn-ea"/>
              </a:rPr>
              <a:t>X</a:t>
            </a:r>
          </a:p>
        </p:txBody>
      </p:sp>
      <p:sp>
        <p:nvSpPr>
          <p:cNvPr id="22" name="Text Box 21"/>
          <p:cNvSpPr txBox="1"/>
          <p:nvPr/>
        </p:nvSpPr>
        <p:spPr>
          <a:xfrm>
            <a:off x="7329170" y="3212465"/>
            <a:ext cx="22688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chemeClr val="accent1"/>
                </a:solidFill>
              </a:rPr>
              <a:t>For Region b,</a:t>
            </a:r>
          </a:p>
        </p:txBody>
      </p:sp>
      <p:cxnSp>
        <p:nvCxnSpPr>
          <p:cNvPr id="12" name="Straight Connector 11"/>
          <p:cNvCxnSpPr/>
          <p:nvPr/>
        </p:nvCxnSpPr>
        <p:spPr>
          <a:xfrm>
            <a:off x="4168775" y="2887345"/>
            <a:ext cx="10795" cy="1772285"/>
          </a:xfrm>
          <a:prstGeom prst="line">
            <a:avLst/>
          </a:prstGeom>
          <a:ln w="31750" cap="rnd">
            <a:solidFill>
              <a:srgbClr val="FF0000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3256915" y="3778885"/>
            <a:ext cx="1814195" cy="10160"/>
          </a:xfrm>
          <a:prstGeom prst="line">
            <a:avLst/>
          </a:prstGeom>
          <a:ln w="31750" cap="rnd">
            <a:solidFill>
              <a:srgbClr val="FF0000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4" grpId="0"/>
      <p:bldP spid="15" grpId="0"/>
      <p:bldP spid="16" grpId="0"/>
      <p:bldP spid="17" grpId="0"/>
      <p:bldP spid="17" grpId="1"/>
      <p:bldP spid="18" grpId="0"/>
      <p:bldP spid="18" grpId="1"/>
      <p:bldP spid="19" grpId="0"/>
      <p:bldP spid="19" grpId="1"/>
      <p:bldP spid="20" grpId="0"/>
      <p:bldP spid="20" grpId="1"/>
      <p:bldP spid="21" grpId="0"/>
      <p:bldP spid="21" grpId="1"/>
      <p:bldP spid="22" grpId="0"/>
      <p:bldP spid="22" grpId="1"/>
    </p:bldLst>
  </p:timing>
</p:sld>
</file>

<file path=ppt/slides/slide1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ym typeface="+mn-ea"/>
              </a:rPr>
              <a:t>Region Splitting</a:t>
            </a:r>
            <a:endParaRPr lang="en-US"/>
          </a:p>
        </p:txBody>
      </p:sp>
      <p:graphicFrame>
        <p:nvGraphicFramePr>
          <p:cNvPr id="4" name="Table 3"/>
          <p:cNvGraphicFramePr/>
          <p:nvPr>
            <p:custDataLst>
              <p:tags r:id="rId1"/>
            </p:custDataLst>
          </p:nvPr>
        </p:nvGraphicFramePr>
        <p:xfrm>
          <a:off x="1838325" y="3025775"/>
          <a:ext cx="3098800" cy="3048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87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73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73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73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873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873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873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873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Text Box 4"/>
          <p:cNvSpPr txBox="1"/>
          <p:nvPr/>
        </p:nvSpPr>
        <p:spPr>
          <a:xfrm>
            <a:off x="996950" y="1616075"/>
            <a:ext cx="1040574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400">
                <a:sym typeface="+mn-ea"/>
              </a:rPr>
              <a:t>Apply the region splitting and merging on the following image with threshold value equal to 3.</a:t>
            </a:r>
            <a:endParaRPr lang="en-US" sz="2400"/>
          </a:p>
        </p:txBody>
      </p:sp>
      <p:sp>
        <p:nvSpPr>
          <p:cNvPr id="6" name="Text Box 5"/>
          <p:cNvSpPr txBox="1"/>
          <p:nvPr/>
        </p:nvSpPr>
        <p:spPr>
          <a:xfrm>
            <a:off x="1152525" y="3562350"/>
            <a:ext cx="57594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rgbClr val="FF0000"/>
                </a:solidFill>
              </a:rPr>
              <a:t>a</a:t>
            </a:r>
          </a:p>
        </p:txBody>
      </p:sp>
      <p:sp>
        <p:nvSpPr>
          <p:cNvPr id="14" name="Text Box 13"/>
          <p:cNvSpPr txBox="1"/>
          <p:nvPr/>
        </p:nvSpPr>
        <p:spPr>
          <a:xfrm>
            <a:off x="5184140" y="3212465"/>
            <a:ext cx="57594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chemeClr val="accent1"/>
                </a:solidFill>
              </a:rPr>
              <a:t>b</a:t>
            </a:r>
          </a:p>
        </p:txBody>
      </p:sp>
      <p:sp>
        <p:nvSpPr>
          <p:cNvPr id="15" name="Text Box 14"/>
          <p:cNvSpPr txBox="1"/>
          <p:nvPr/>
        </p:nvSpPr>
        <p:spPr>
          <a:xfrm>
            <a:off x="1152525" y="5000625"/>
            <a:ext cx="57594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rgbClr val="92D050"/>
                </a:solidFill>
              </a:rPr>
              <a:t>c</a:t>
            </a:r>
          </a:p>
        </p:txBody>
      </p:sp>
      <p:sp>
        <p:nvSpPr>
          <p:cNvPr id="16" name="Text Box 15"/>
          <p:cNvSpPr txBox="1"/>
          <p:nvPr/>
        </p:nvSpPr>
        <p:spPr>
          <a:xfrm>
            <a:off x="5184140" y="5051425"/>
            <a:ext cx="57594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rgbClr val="FFC000"/>
                </a:solidFill>
              </a:rPr>
              <a:t>d</a:t>
            </a:r>
          </a:p>
        </p:txBody>
      </p:sp>
      <p:sp>
        <p:nvSpPr>
          <p:cNvPr id="17" name="Text Box 16"/>
          <p:cNvSpPr txBox="1"/>
          <p:nvPr/>
        </p:nvSpPr>
        <p:spPr>
          <a:xfrm>
            <a:off x="7329170" y="3732530"/>
            <a:ext cx="22688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chemeClr val="accent1"/>
                </a:solidFill>
              </a:rPr>
              <a:t>Max Value = 7</a:t>
            </a:r>
          </a:p>
        </p:txBody>
      </p:sp>
      <p:sp>
        <p:nvSpPr>
          <p:cNvPr id="18" name="Text Box 17"/>
          <p:cNvSpPr txBox="1"/>
          <p:nvPr/>
        </p:nvSpPr>
        <p:spPr>
          <a:xfrm>
            <a:off x="7329170" y="4319905"/>
            <a:ext cx="22688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chemeClr val="accent1"/>
                </a:solidFill>
              </a:rPr>
              <a:t>Min Value = 2</a:t>
            </a:r>
          </a:p>
        </p:txBody>
      </p:sp>
      <p:sp>
        <p:nvSpPr>
          <p:cNvPr id="19" name="Text Box 18"/>
          <p:cNvSpPr txBox="1"/>
          <p:nvPr/>
        </p:nvSpPr>
        <p:spPr>
          <a:xfrm>
            <a:off x="6801485" y="5026660"/>
            <a:ext cx="139827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chemeClr val="accent1"/>
                </a:solidFill>
                <a:sym typeface="+mn-ea"/>
              </a:rPr>
              <a:t>|7-2|=5</a:t>
            </a:r>
          </a:p>
        </p:txBody>
      </p:sp>
      <p:sp>
        <p:nvSpPr>
          <p:cNvPr id="20" name="Text Box 19"/>
          <p:cNvSpPr txBox="1"/>
          <p:nvPr/>
        </p:nvSpPr>
        <p:spPr>
          <a:xfrm>
            <a:off x="8199755" y="5026660"/>
            <a:ext cx="139827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400">
                <a:solidFill>
                  <a:schemeClr val="accent1"/>
                </a:solidFill>
              </a:rPr>
              <a:t>&lt;=3</a:t>
            </a:r>
          </a:p>
        </p:txBody>
      </p:sp>
      <p:sp>
        <p:nvSpPr>
          <p:cNvPr id="21" name="Text Box 20"/>
          <p:cNvSpPr txBox="1"/>
          <p:nvPr/>
        </p:nvSpPr>
        <p:spPr>
          <a:xfrm>
            <a:off x="9598025" y="5026660"/>
            <a:ext cx="508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400">
                <a:solidFill>
                  <a:srgbClr val="FF0000"/>
                </a:solidFill>
                <a:sym typeface="+mn-ea"/>
              </a:rPr>
              <a:t>X</a:t>
            </a:r>
          </a:p>
        </p:txBody>
      </p:sp>
      <p:sp>
        <p:nvSpPr>
          <p:cNvPr id="22" name="Text Box 21"/>
          <p:cNvSpPr txBox="1"/>
          <p:nvPr/>
        </p:nvSpPr>
        <p:spPr>
          <a:xfrm>
            <a:off x="7329170" y="3212465"/>
            <a:ext cx="22688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chemeClr val="accent1"/>
                </a:solidFill>
              </a:rPr>
              <a:t>For Region b,</a:t>
            </a:r>
          </a:p>
        </p:txBody>
      </p:sp>
      <p:cxnSp>
        <p:nvCxnSpPr>
          <p:cNvPr id="12" name="Straight Connector 11"/>
          <p:cNvCxnSpPr/>
          <p:nvPr/>
        </p:nvCxnSpPr>
        <p:spPr>
          <a:xfrm>
            <a:off x="4168775" y="2887345"/>
            <a:ext cx="10795" cy="1772285"/>
          </a:xfrm>
          <a:prstGeom prst="line">
            <a:avLst/>
          </a:prstGeom>
          <a:ln w="31750" cap="rnd">
            <a:solidFill>
              <a:srgbClr val="FF0000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3256915" y="3778885"/>
            <a:ext cx="1814195" cy="10160"/>
          </a:xfrm>
          <a:prstGeom prst="line">
            <a:avLst/>
          </a:prstGeom>
          <a:ln w="31750" cap="rnd">
            <a:solidFill>
              <a:srgbClr val="FF0000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" name="Text Box 2"/>
          <p:cNvSpPr txBox="1"/>
          <p:nvPr/>
        </p:nvSpPr>
        <p:spPr>
          <a:xfrm>
            <a:off x="3486150" y="2426970"/>
            <a:ext cx="57594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chemeClr val="accent1"/>
                </a:solidFill>
              </a:rPr>
              <a:t>b1</a:t>
            </a:r>
          </a:p>
        </p:txBody>
      </p:sp>
      <p:sp>
        <p:nvSpPr>
          <p:cNvPr id="7" name="Text Box 6"/>
          <p:cNvSpPr txBox="1"/>
          <p:nvPr/>
        </p:nvSpPr>
        <p:spPr>
          <a:xfrm>
            <a:off x="4968875" y="2435860"/>
            <a:ext cx="57594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chemeClr val="accent1"/>
                </a:solidFill>
              </a:rPr>
              <a:t>b2</a:t>
            </a:r>
          </a:p>
        </p:txBody>
      </p:sp>
      <p:sp>
        <p:nvSpPr>
          <p:cNvPr id="8" name="Text Box 7"/>
          <p:cNvSpPr txBox="1"/>
          <p:nvPr/>
        </p:nvSpPr>
        <p:spPr>
          <a:xfrm>
            <a:off x="5071110" y="3952240"/>
            <a:ext cx="57594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chemeClr val="accent1"/>
                </a:solidFill>
              </a:rPr>
              <a:t>b4</a:t>
            </a:r>
          </a:p>
        </p:txBody>
      </p:sp>
      <p:sp>
        <p:nvSpPr>
          <p:cNvPr id="9" name="Text Box 8"/>
          <p:cNvSpPr txBox="1"/>
          <p:nvPr/>
        </p:nvSpPr>
        <p:spPr>
          <a:xfrm>
            <a:off x="2588260" y="2426970"/>
            <a:ext cx="57594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chemeClr val="accent1"/>
                </a:solidFill>
              </a:rPr>
              <a:t>b3</a:t>
            </a:r>
          </a:p>
        </p:txBody>
      </p:sp>
      <p:cxnSp>
        <p:nvCxnSpPr>
          <p:cNvPr id="10" name="Straight Arrow Connector 9"/>
          <p:cNvCxnSpPr>
            <a:endCxn id="9" idx="2"/>
          </p:cNvCxnSpPr>
          <p:nvPr/>
        </p:nvCxnSpPr>
        <p:spPr>
          <a:xfrm flipH="1" flipV="1">
            <a:off x="2876550" y="2887345"/>
            <a:ext cx="518160" cy="1267460"/>
          </a:xfrm>
          <a:prstGeom prst="straightConnector1">
            <a:avLst/>
          </a:prstGeom>
          <a:ln w="31750" cap="rnd">
            <a:solidFill>
              <a:schemeClr val="accent1"/>
            </a:solidFill>
            <a:round/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2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3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2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4" grpId="0"/>
      <p:bldP spid="14" grpId="1"/>
      <p:bldP spid="15" grpId="0"/>
      <p:bldP spid="16" grpId="0"/>
      <p:bldP spid="17" grpId="0"/>
      <p:bldP spid="18" grpId="0"/>
      <p:bldP spid="19" grpId="0"/>
      <p:bldP spid="20" grpId="0"/>
      <p:bldP spid="21" grpId="0"/>
      <p:bldP spid="22" grpId="0"/>
      <p:bldP spid="3" grpId="0"/>
      <p:bldP spid="3" grpId="1"/>
      <p:bldP spid="7" grpId="0"/>
      <p:bldP spid="7" grpId="1"/>
      <p:bldP spid="8" grpId="0"/>
      <p:bldP spid="8" grpId="1"/>
      <p:bldP spid="9" grpId="0"/>
      <p:bldP spid="9" grpId="1"/>
    </p:bldLst>
  </p:timing>
</p:sld>
</file>

<file path=ppt/slides/slide1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ym typeface="+mn-ea"/>
              </a:rPr>
              <a:t>Region Splitting</a:t>
            </a:r>
            <a:endParaRPr lang="en-US"/>
          </a:p>
        </p:txBody>
      </p:sp>
      <p:graphicFrame>
        <p:nvGraphicFramePr>
          <p:cNvPr id="4" name="Table 3"/>
          <p:cNvGraphicFramePr/>
          <p:nvPr>
            <p:custDataLst>
              <p:tags r:id="rId1"/>
            </p:custDataLst>
          </p:nvPr>
        </p:nvGraphicFramePr>
        <p:xfrm>
          <a:off x="1838325" y="3025775"/>
          <a:ext cx="3098800" cy="3048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87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73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73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73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873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873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873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873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Text Box 4"/>
          <p:cNvSpPr txBox="1"/>
          <p:nvPr/>
        </p:nvSpPr>
        <p:spPr>
          <a:xfrm>
            <a:off x="996950" y="1616075"/>
            <a:ext cx="1040574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400">
                <a:sym typeface="+mn-ea"/>
              </a:rPr>
              <a:t>Apply the region splitting and merging on the following image with threshold value equal to 3.</a:t>
            </a:r>
            <a:endParaRPr lang="en-US" sz="2400"/>
          </a:p>
        </p:txBody>
      </p:sp>
      <p:sp>
        <p:nvSpPr>
          <p:cNvPr id="6" name="Text Box 5"/>
          <p:cNvSpPr txBox="1"/>
          <p:nvPr/>
        </p:nvSpPr>
        <p:spPr>
          <a:xfrm>
            <a:off x="1152525" y="3562350"/>
            <a:ext cx="57594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rgbClr val="FF0000"/>
                </a:solidFill>
              </a:rPr>
              <a:t>a</a:t>
            </a:r>
          </a:p>
        </p:txBody>
      </p:sp>
      <p:sp>
        <p:nvSpPr>
          <p:cNvPr id="15" name="Text Box 14"/>
          <p:cNvSpPr txBox="1"/>
          <p:nvPr/>
        </p:nvSpPr>
        <p:spPr>
          <a:xfrm>
            <a:off x="1152525" y="5000625"/>
            <a:ext cx="57594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rgbClr val="92D050"/>
                </a:solidFill>
              </a:rPr>
              <a:t>c</a:t>
            </a:r>
          </a:p>
        </p:txBody>
      </p:sp>
      <p:sp>
        <p:nvSpPr>
          <p:cNvPr id="16" name="Text Box 15"/>
          <p:cNvSpPr txBox="1"/>
          <p:nvPr/>
        </p:nvSpPr>
        <p:spPr>
          <a:xfrm>
            <a:off x="5184140" y="5051425"/>
            <a:ext cx="57594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rgbClr val="FFC000"/>
                </a:solidFill>
              </a:rPr>
              <a:t>d</a:t>
            </a:r>
          </a:p>
        </p:txBody>
      </p:sp>
      <p:sp>
        <p:nvSpPr>
          <p:cNvPr id="17" name="Text Box 16"/>
          <p:cNvSpPr txBox="1"/>
          <p:nvPr/>
        </p:nvSpPr>
        <p:spPr>
          <a:xfrm>
            <a:off x="7329170" y="3732530"/>
            <a:ext cx="22688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rgbClr val="92D050"/>
                </a:solidFill>
              </a:rPr>
              <a:t>Max Value = 3</a:t>
            </a:r>
          </a:p>
        </p:txBody>
      </p:sp>
      <p:sp>
        <p:nvSpPr>
          <p:cNvPr id="18" name="Text Box 17"/>
          <p:cNvSpPr txBox="1"/>
          <p:nvPr/>
        </p:nvSpPr>
        <p:spPr>
          <a:xfrm>
            <a:off x="7329170" y="4319905"/>
            <a:ext cx="22688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rgbClr val="92D050"/>
                </a:solidFill>
              </a:rPr>
              <a:t>Min Value = 0</a:t>
            </a:r>
          </a:p>
        </p:txBody>
      </p:sp>
      <p:sp>
        <p:nvSpPr>
          <p:cNvPr id="19" name="Text Box 18"/>
          <p:cNvSpPr txBox="1"/>
          <p:nvPr/>
        </p:nvSpPr>
        <p:spPr>
          <a:xfrm>
            <a:off x="6801485" y="5026660"/>
            <a:ext cx="139827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rgbClr val="92D050"/>
                </a:solidFill>
                <a:sym typeface="+mn-ea"/>
              </a:rPr>
              <a:t>|3-0|=3</a:t>
            </a:r>
          </a:p>
        </p:txBody>
      </p:sp>
      <p:sp>
        <p:nvSpPr>
          <p:cNvPr id="20" name="Text Box 19"/>
          <p:cNvSpPr txBox="1"/>
          <p:nvPr/>
        </p:nvSpPr>
        <p:spPr>
          <a:xfrm>
            <a:off x="8199755" y="5026660"/>
            <a:ext cx="139827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400">
                <a:solidFill>
                  <a:srgbClr val="92D050"/>
                </a:solidFill>
              </a:rPr>
              <a:t>&lt;=3</a:t>
            </a:r>
          </a:p>
        </p:txBody>
      </p:sp>
      <p:sp>
        <p:nvSpPr>
          <p:cNvPr id="21" name="Text Box 20"/>
          <p:cNvSpPr txBox="1"/>
          <p:nvPr/>
        </p:nvSpPr>
        <p:spPr>
          <a:xfrm>
            <a:off x="9598025" y="5026660"/>
            <a:ext cx="508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400">
                <a:solidFill>
                  <a:srgbClr val="92D050"/>
                </a:solidFill>
                <a:sym typeface="+mn-ea"/>
              </a:rPr>
              <a:t>✔</a:t>
            </a:r>
          </a:p>
        </p:txBody>
      </p:sp>
      <p:sp>
        <p:nvSpPr>
          <p:cNvPr id="22" name="Text Box 21"/>
          <p:cNvSpPr txBox="1"/>
          <p:nvPr/>
        </p:nvSpPr>
        <p:spPr>
          <a:xfrm>
            <a:off x="7329170" y="3212465"/>
            <a:ext cx="22688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rgbClr val="92D050"/>
                </a:solidFill>
              </a:rPr>
              <a:t>For Region c,</a:t>
            </a:r>
          </a:p>
        </p:txBody>
      </p:sp>
      <p:sp>
        <p:nvSpPr>
          <p:cNvPr id="3" name="Text Box 2"/>
          <p:cNvSpPr txBox="1"/>
          <p:nvPr/>
        </p:nvSpPr>
        <p:spPr>
          <a:xfrm>
            <a:off x="3486150" y="2426970"/>
            <a:ext cx="57594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chemeClr val="accent1"/>
                </a:solidFill>
              </a:rPr>
              <a:t>b1</a:t>
            </a:r>
          </a:p>
        </p:txBody>
      </p:sp>
      <p:sp>
        <p:nvSpPr>
          <p:cNvPr id="7" name="Text Box 6"/>
          <p:cNvSpPr txBox="1"/>
          <p:nvPr/>
        </p:nvSpPr>
        <p:spPr>
          <a:xfrm>
            <a:off x="4968875" y="2435860"/>
            <a:ext cx="57594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chemeClr val="accent1"/>
                </a:solidFill>
              </a:rPr>
              <a:t>b2</a:t>
            </a:r>
          </a:p>
        </p:txBody>
      </p:sp>
      <p:sp>
        <p:nvSpPr>
          <p:cNvPr id="8" name="Text Box 7"/>
          <p:cNvSpPr txBox="1"/>
          <p:nvPr/>
        </p:nvSpPr>
        <p:spPr>
          <a:xfrm>
            <a:off x="5071110" y="3952240"/>
            <a:ext cx="57594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chemeClr val="accent1"/>
                </a:solidFill>
              </a:rPr>
              <a:t>b4</a:t>
            </a:r>
          </a:p>
        </p:txBody>
      </p:sp>
      <p:sp>
        <p:nvSpPr>
          <p:cNvPr id="9" name="Text Box 8"/>
          <p:cNvSpPr txBox="1"/>
          <p:nvPr/>
        </p:nvSpPr>
        <p:spPr>
          <a:xfrm>
            <a:off x="2588260" y="2426970"/>
            <a:ext cx="57594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chemeClr val="accent1"/>
                </a:solidFill>
              </a:rPr>
              <a:t>b3</a:t>
            </a:r>
          </a:p>
        </p:txBody>
      </p:sp>
      <p:cxnSp>
        <p:nvCxnSpPr>
          <p:cNvPr id="10" name="Straight Arrow Connector 9"/>
          <p:cNvCxnSpPr>
            <a:endCxn id="9" idx="2"/>
          </p:cNvCxnSpPr>
          <p:nvPr/>
        </p:nvCxnSpPr>
        <p:spPr>
          <a:xfrm flipH="1" flipV="1">
            <a:off x="2876550" y="2887345"/>
            <a:ext cx="518160" cy="1267460"/>
          </a:xfrm>
          <a:prstGeom prst="straightConnector1">
            <a:avLst/>
          </a:prstGeom>
          <a:ln w="31750" cap="rnd">
            <a:solidFill>
              <a:schemeClr val="accent1"/>
            </a:solidFill>
            <a:round/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5" grpId="0"/>
      <p:bldP spid="16" grpId="0"/>
      <p:bldP spid="17" grpId="0"/>
      <p:bldP spid="17" grpId="1"/>
      <p:bldP spid="18" grpId="0"/>
      <p:bldP spid="18" grpId="1"/>
      <p:bldP spid="19" grpId="0"/>
      <p:bldP spid="19" grpId="1"/>
      <p:bldP spid="20" grpId="0"/>
      <p:bldP spid="20" grpId="1"/>
      <p:bldP spid="21" grpId="0"/>
      <p:bldP spid="21" grpId="1"/>
      <p:bldP spid="22" grpId="0"/>
      <p:bldP spid="22" grpId="1"/>
      <p:bldP spid="3" grpId="0"/>
      <p:bldP spid="7" grpId="0"/>
      <p:bldP spid="8" grpId="0"/>
      <p:bldP spid="9" grpId="0"/>
    </p:bldLst>
  </p:timing>
</p:sld>
</file>

<file path=ppt/slides/slide1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ym typeface="+mn-ea"/>
              </a:rPr>
              <a:t>Region Splitting</a:t>
            </a:r>
            <a:endParaRPr lang="en-US"/>
          </a:p>
        </p:txBody>
      </p:sp>
      <p:graphicFrame>
        <p:nvGraphicFramePr>
          <p:cNvPr id="4" name="Table 3"/>
          <p:cNvGraphicFramePr/>
          <p:nvPr>
            <p:custDataLst>
              <p:tags r:id="rId1"/>
            </p:custDataLst>
          </p:nvPr>
        </p:nvGraphicFramePr>
        <p:xfrm>
          <a:off x="1838325" y="3025775"/>
          <a:ext cx="3098800" cy="3048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87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73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73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73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873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873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873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873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Text Box 4"/>
          <p:cNvSpPr txBox="1"/>
          <p:nvPr/>
        </p:nvSpPr>
        <p:spPr>
          <a:xfrm>
            <a:off x="996950" y="1616075"/>
            <a:ext cx="1040574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400">
                <a:sym typeface="+mn-ea"/>
              </a:rPr>
              <a:t>Apply the region splitting and merging on the following image with threshold value equal to 3.</a:t>
            </a:r>
            <a:endParaRPr lang="en-US" sz="2400"/>
          </a:p>
        </p:txBody>
      </p:sp>
      <p:sp>
        <p:nvSpPr>
          <p:cNvPr id="6" name="Text Box 5"/>
          <p:cNvSpPr txBox="1"/>
          <p:nvPr/>
        </p:nvSpPr>
        <p:spPr>
          <a:xfrm>
            <a:off x="1152525" y="3562350"/>
            <a:ext cx="57594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rgbClr val="FF0000"/>
                </a:solidFill>
              </a:rPr>
              <a:t>a</a:t>
            </a:r>
          </a:p>
        </p:txBody>
      </p:sp>
      <p:sp>
        <p:nvSpPr>
          <p:cNvPr id="15" name="Text Box 14"/>
          <p:cNvSpPr txBox="1"/>
          <p:nvPr/>
        </p:nvSpPr>
        <p:spPr>
          <a:xfrm>
            <a:off x="1152525" y="5000625"/>
            <a:ext cx="57594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rgbClr val="92D050"/>
                </a:solidFill>
              </a:rPr>
              <a:t>c</a:t>
            </a:r>
          </a:p>
        </p:txBody>
      </p:sp>
      <p:sp>
        <p:nvSpPr>
          <p:cNvPr id="16" name="Text Box 15"/>
          <p:cNvSpPr txBox="1"/>
          <p:nvPr/>
        </p:nvSpPr>
        <p:spPr>
          <a:xfrm>
            <a:off x="5184140" y="5051425"/>
            <a:ext cx="57594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rgbClr val="FFC000"/>
                </a:solidFill>
              </a:rPr>
              <a:t>d</a:t>
            </a:r>
          </a:p>
        </p:txBody>
      </p:sp>
      <p:sp>
        <p:nvSpPr>
          <p:cNvPr id="17" name="Text Box 16"/>
          <p:cNvSpPr txBox="1"/>
          <p:nvPr/>
        </p:nvSpPr>
        <p:spPr>
          <a:xfrm>
            <a:off x="7329170" y="3732530"/>
            <a:ext cx="22688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rgbClr val="FFC000"/>
                </a:solidFill>
              </a:rPr>
              <a:t>Max Value = 7</a:t>
            </a:r>
          </a:p>
        </p:txBody>
      </p:sp>
      <p:sp>
        <p:nvSpPr>
          <p:cNvPr id="18" name="Text Box 17"/>
          <p:cNvSpPr txBox="1"/>
          <p:nvPr/>
        </p:nvSpPr>
        <p:spPr>
          <a:xfrm>
            <a:off x="7329170" y="4319905"/>
            <a:ext cx="22688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rgbClr val="FFC000"/>
                </a:solidFill>
              </a:rPr>
              <a:t>Min Value = 0</a:t>
            </a:r>
          </a:p>
        </p:txBody>
      </p:sp>
      <p:sp>
        <p:nvSpPr>
          <p:cNvPr id="19" name="Text Box 18"/>
          <p:cNvSpPr txBox="1"/>
          <p:nvPr/>
        </p:nvSpPr>
        <p:spPr>
          <a:xfrm>
            <a:off x="6801485" y="5026660"/>
            <a:ext cx="139827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rgbClr val="FFC000"/>
                </a:solidFill>
                <a:sym typeface="+mn-ea"/>
              </a:rPr>
              <a:t>|7-0|=7</a:t>
            </a:r>
          </a:p>
        </p:txBody>
      </p:sp>
      <p:sp>
        <p:nvSpPr>
          <p:cNvPr id="20" name="Text Box 19"/>
          <p:cNvSpPr txBox="1"/>
          <p:nvPr/>
        </p:nvSpPr>
        <p:spPr>
          <a:xfrm>
            <a:off x="8199755" y="5026660"/>
            <a:ext cx="139827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400">
                <a:solidFill>
                  <a:srgbClr val="FFC000"/>
                </a:solidFill>
              </a:rPr>
              <a:t>&lt;=3</a:t>
            </a:r>
          </a:p>
        </p:txBody>
      </p:sp>
      <p:sp>
        <p:nvSpPr>
          <p:cNvPr id="21" name="Text Box 20"/>
          <p:cNvSpPr txBox="1"/>
          <p:nvPr/>
        </p:nvSpPr>
        <p:spPr>
          <a:xfrm>
            <a:off x="9598025" y="5026660"/>
            <a:ext cx="508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400">
                <a:solidFill>
                  <a:srgbClr val="FF0000"/>
                </a:solidFill>
                <a:sym typeface="+mn-ea"/>
              </a:rPr>
              <a:t>X</a:t>
            </a:r>
          </a:p>
        </p:txBody>
      </p:sp>
      <p:sp>
        <p:nvSpPr>
          <p:cNvPr id="22" name="Text Box 21"/>
          <p:cNvSpPr txBox="1"/>
          <p:nvPr/>
        </p:nvSpPr>
        <p:spPr>
          <a:xfrm>
            <a:off x="7329170" y="3212465"/>
            <a:ext cx="22688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rgbClr val="FFC000"/>
                </a:solidFill>
              </a:rPr>
              <a:t>For Region d,</a:t>
            </a:r>
          </a:p>
        </p:txBody>
      </p:sp>
      <p:cxnSp>
        <p:nvCxnSpPr>
          <p:cNvPr id="12" name="Straight Connector 11"/>
          <p:cNvCxnSpPr/>
          <p:nvPr/>
        </p:nvCxnSpPr>
        <p:spPr>
          <a:xfrm>
            <a:off x="4168775" y="4421505"/>
            <a:ext cx="10795" cy="1772285"/>
          </a:xfrm>
          <a:prstGeom prst="line">
            <a:avLst/>
          </a:prstGeom>
          <a:ln w="31750" cap="rnd">
            <a:solidFill>
              <a:srgbClr val="FF0000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3256915" y="5313045"/>
            <a:ext cx="1814195" cy="10160"/>
          </a:xfrm>
          <a:prstGeom prst="line">
            <a:avLst/>
          </a:prstGeom>
          <a:ln w="31750" cap="rnd">
            <a:solidFill>
              <a:srgbClr val="FF0000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" name="Text Box 2"/>
          <p:cNvSpPr txBox="1"/>
          <p:nvPr/>
        </p:nvSpPr>
        <p:spPr>
          <a:xfrm>
            <a:off x="3486150" y="2426970"/>
            <a:ext cx="57594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chemeClr val="accent1"/>
                </a:solidFill>
              </a:rPr>
              <a:t>b1</a:t>
            </a:r>
          </a:p>
        </p:txBody>
      </p:sp>
      <p:sp>
        <p:nvSpPr>
          <p:cNvPr id="7" name="Text Box 6"/>
          <p:cNvSpPr txBox="1"/>
          <p:nvPr/>
        </p:nvSpPr>
        <p:spPr>
          <a:xfrm>
            <a:off x="4968875" y="2435860"/>
            <a:ext cx="57594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chemeClr val="accent1"/>
                </a:solidFill>
              </a:rPr>
              <a:t>b2</a:t>
            </a:r>
          </a:p>
        </p:txBody>
      </p:sp>
      <p:sp>
        <p:nvSpPr>
          <p:cNvPr id="8" name="Text Box 7"/>
          <p:cNvSpPr txBox="1"/>
          <p:nvPr/>
        </p:nvSpPr>
        <p:spPr>
          <a:xfrm>
            <a:off x="5071110" y="3952240"/>
            <a:ext cx="57594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chemeClr val="accent1"/>
                </a:solidFill>
              </a:rPr>
              <a:t>b4</a:t>
            </a:r>
          </a:p>
        </p:txBody>
      </p:sp>
      <p:sp>
        <p:nvSpPr>
          <p:cNvPr id="9" name="Text Box 8"/>
          <p:cNvSpPr txBox="1"/>
          <p:nvPr/>
        </p:nvSpPr>
        <p:spPr>
          <a:xfrm>
            <a:off x="2588260" y="2426970"/>
            <a:ext cx="57594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chemeClr val="accent1"/>
                </a:solidFill>
              </a:rPr>
              <a:t>b3</a:t>
            </a:r>
          </a:p>
        </p:txBody>
      </p:sp>
      <p:cxnSp>
        <p:nvCxnSpPr>
          <p:cNvPr id="10" name="Straight Arrow Connector 9"/>
          <p:cNvCxnSpPr>
            <a:endCxn id="9" idx="2"/>
          </p:cNvCxnSpPr>
          <p:nvPr/>
        </p:nvCxnSpPr>
        <p:spPr>
          <a:xfrm flipH="1" flipV="1">
            <a:off x="2876550" y="2887345"/>
            <a:ext cx="518160" cy="1267460"/>
          </a:xfrm>
          <a:prstGeom prst="straightConnector1">
            <a:avLst/>
          </a:prstGeom>
          <a:ln w="31750" cap="rnd">
            <a:solidFill>
              <a:schemeClr val="accent1"/>
            </a:solidFill>
            <a:round/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5" grpId="0"/>
      <p:bldP spid="16" grpId="0"/>
      <p:bldP spid="17" grpId="0"/>
      <p:bldP spid="17" grpId="1"/>
      <p:bldP spid="18" grpId="0"/>
      <p:bldP spid="18" grpId="1"/>
      <p:bldP spid="19" grpId="0"/>
      <p:bldP spid="19" grpId="1"/>
      <p:bldP spid="20" grpId="0"/>
      <p:bldP spid="20" grpId="1"/>
      <p:bldP spid="21" grpId="0"/>
      <p:bldP spid="21" grpId="1"/>
      <p:bldP spid="22" grpId="0"/>
      <p:bldP spid="22" grpId="1"/>
    </p:bldLst>
  </p:timing>
</p:sld>
</file>

<file path=ppt/slides/slide1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ym typeface="+mn-ea"/>
              </a:rPr>
              <a:t>Region Splitting</a:t>
            </a:r>
            <a:endParaRPr lang="en-US"/>
          </a:p>
        </p:txBody>
      </p:sp>
      <p:graphicFrame>
        <p:nvGraphicFramePr>
          <p:cNvPr id="4" name="Table 3"/>
          <p:cNvGraphicFramePr/>
          <p:nvPr>
            <p:custDataLst>
              <p:tags r:id="rId1"/>
            </p:custDataLst>
          </p:nvPr>
        </p:nvGraphicFramePr>
        <p:xfrm>
          <a:off x="1838325" y="3025775"/>
          <a:ext cx="3098800" cy="3048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87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73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73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73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873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873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873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873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chemeClr val="accent4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chemeClr val="accent4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Text Box 4"/>
          <p:cNvSpPr txBox="1"/>
          <p:nvPr/>
        </p:nvSpPr>
        <p:spPr>
          <a:xfrm>
            <a:off x="996950" y="1616075"/>
            <a:ext cx="1040574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400">
                <a:sym typeface="+mn-ea"/>
              </a:rPr>
              <a:t>Apply the region splitting and merging on the following image with threshold value equal to 3.</a:t>
            </a:r>
            <a:endParaRPr lang="en-US" sz="2400"/>
          </a:p>
        </p:txBody>
      </p:sp>
      <p:sp>
        <p:nvSpPr>
          <p:cNvPr id="6" name="Text Box 5"/>
          <p:cNvSpPr txBox="1"/>
          <p:nvPr/>
        </p:nvSpPr>
        <p:spPr>
          <a:xfrm>
            <a:off x="1152525" y="3562350"/>
            <a:ext cx="57594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rgbClr val="FF0000"/>
                </a:solidFill>
              </a:rPr>
              <a:t>a</a:t>
            </a:r>
          </a:p>
        </p:txBody>
      </p:sp>
      <p:sp>
        <p:nvSpPr>
          <p:cNvPr id="14" name="Text Box 13"/>
          <p:cNvSpPr txBox="1"/>
          <p:nvPr/>
        </p:nvSpPr>
        <p:spPr>
          <a:xfrm>
            <a:off x="5182235" y="5051425"/>
            <a:ext cx="57594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rgbClr val="FFC000"/>
                </a:solidFill>
              </a:rPr>
              <a:t>d</a:t>
            </a:r>
          </a:p>
        </p:txBody>
      </p:sp>
      <p:sp>
        <p:nvSpPr>
          <p:cNvPr id="15" name="Text Box 14"/>
          <p:cNvSpPr txBox="1"/>
          <p:nvPr/>
        </p:nvSpPr>
        <p:spPr>
          <a:xfrm>
            <a:off x="1152525" y="5000625"/>
            <a:ext cx="57594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rgbClr val="92D050"/>
                </a:solidFill>
              </a:rPr>
              <a:t>c</a:t>
            </a:r>
          </a:p>
        </p:txBody>
      </p:sp>
      <p:cxnSp>
        <p:nvCxnSpPr>
          <p:cNvPr id="12" name="Straight Connector 11"/>
          <p:cNvCxnSpPr/>
          <p:nvPr/>
        </p:nvCxnSpPr>
        <p:spPr>
          <a:xfrm>
            <a:off x="4168775" y="4411345"/>
            <a:ext cx="10795" cy="1772285"/>
          </a:xfrm>
          <a:prstGeom prst="line">
            <a:avLst/>
          </a:prstGeom>
          <a:ln w="31750" cap="rnd">
            <a:solidFill>
              <a:srgbClr val="FF0000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3256915" y="5302885"/>
            <a:ext cx="1814195" cy="10160"/>
          </a:xfrm>
          <a:prstGeom prst="line">
            <a:avLst/>
          </a:prstGeom>
          <a:ln w="31750" cap="rnd">
            <a:solidFill>
              <a:srgbClr val="FF0000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" name="Text Box 2"/>
          <p:cNvSpPr txBox="1"/>
          <p:nvPr/>
        </p:nvSpPr>
        <p:spPr>
          <a:xfrm>
            <a:off x="2680970" y="6280785"/>
            <a:ext cx="57594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rgbClr val="FFC000"/>
                </a:solidFill>
              </a:rPr>
              <a:t>d1</a:t>
            </a:r>
          </a:p>
        </p:txBody>
      </p:sp>
      <p:sp>
        <p:nvSpPr>
          <p:cNvPr id="7" name="Text Box 6"/>
          <p:cNvSpPr txBox="1"/>
          <p:nvPr/>
        </p:nvSpPr>
        <p:spPr>
          <a:xfrm>
            <a:off x="5202555" y="4665980"/>
            <a:ext cx="57594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rgbClr val="FFC000"/>
                </a:solidFill>
              </a:rPr>
              <a:t>d2</a:t>
            </a:r>
          </a:p>
        </p:txBody>
      </p:sp>
      <p:sp>
        <p:nvSpPr>
          <p:cNvPr id="8" name="Text Box 7"/>
          <p:cNvSpPr txBox="1"/>
          <p:nvPr/>
        </p:nvSpPr>
        <p:spPr>
          <a:xfrm>
            <a:off x="3475990" y="6203950"/>
            <a:ext cx="57594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rgbClr val="FFC000"/>
                </a:solidFill>
              </a:rPr>
              <a:t>d3</a:t>
            </a:r>
          </a:p>
        </p:txBody>
      </p:sp>
      <p:sp>
        <p:nvSpPr>
          <p:cNvPr id="9" name="Text Box 8"/>
          <p:cNvSpPr txBox="1"/>
          <p:nvPr/>
        </p:nvSpPr>
        <p:spPr>
          <a:xfrm>
            <a:off x="5071110" y="6073775"/>
            <a:ext cx="57594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rgbClr val="FFC000"/>
                </a:solidFill>
              </a:rPr>
              <a:t>d4</a:t>
            </a:r>
          </a:p>
        </p:txBody>
      </p:sp>
      <p:cxnSp>
        <p:nvCxnSpPr>
          <p:cNvPr id="10" name="Straight Arrow Connector 9"/>
          <p:cNvCxnSpPr>
            <a:endCxn id="3" idx="0"/>
          </p:cNvCxnSpPr>
          <p:nvPr/>
        </p:nvCxnSpPr>
        <p:spPr>
          <a:xfrm flipH="1">
            <a:off x="2969260" y="4929505"/>
            <a:ext cx="425450" cy="1351280"/>
          </a:xfrm>
          <a:prstGeom prst="straightConnector1">
            <a:avLst/>
          </a:prstGeom>
          <a:ln w="31750" cap="rnd">
            <a:solidFill>
              <a:srgbClr val="FFC000"/>
            </a:solidFill>
            <a:round/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8" name="Text Box 27"/>
          <p:cNvSpPr txBox="1"/>
          <p:nvPr/>
        </p:nvSpPr>
        <p:spPr>
          <a:xfrm>
            <a:off x="7329170" y="3732530"/>
            <a:ext cx="22688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rgbClr val="FFC000"/>
                </a:solidFill>
              </a:rPr>
              <a:t>Max Value = 7</a:t>
            </a:r>
          </a:p>
        </p:txBody>
      </p:sp>
      <p:sp>
        <p:nvSpPr>
          <p:cNvPr id="29" name="Text Box 28"/>
          <p:cNvSpPr txBox="1"/>
          <p:nvPr/>
        </p:nvSpPr>
        <p:spPr>
          <a:xfrm>
            <a:off x="7329170" y="4319905"/>
            <a:ext cx="22688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rgbClr val="FFC000"/>
                </a:solidFill>
              </a:rPr>
              <a:t>Min Value = 0</a:t>
            </a:r>
          </a:p>
        </p:txBody>
      </p:sp>
      <p:sp>
        <p:nvSpPr>
          <p:cNvPr id="30" name="Text Box 29"/>
          <p:cNvSpPr txBox="1"/>
          <p:nvPr/>
        </p:nvSpPr>
        <p:spPr>
          <a:xfrm>
            <a:off x="6801485" y="5026660"/>
            <a:ext cx="139827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rgbClr val="FFC000"/>
                </a:solidFill>
                <a:sym typeface="+mn-ea"/>
              </a:rPr>
              <a:t>|7-0|=7</a:t>
            </a:r>
          </a:p>
        </p:txBody>
      </p:sp>
      <p:sp>
        <p:nvSpPr>
          <p:cNvPr id="31" name="Text Box 30"/>
          <p:cNvSpPr txBox="1"/>
          <p:nvPr/>
        </p:nvSpPr>
        <p:spPr>
          <a:xfrm>
            <a:off x="8199755" y="5026660"/>
            <a:ext cx="139827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400">
                <a:solidFill>
                  <a:srgbClr val="FFC000"/>
                </a:solidFill>
              </a:rPr>
              <a:t>&lt;=3</a:t>
            </a:r>
          </a:p>
        </p:txBody>
      </p:sp>
      <p:sp>
        <p:nvSpPr>
          <p:cNvPr id="32" name="Text Box 31"/>
          <p:cNvSpPr txBox="1"/>
          <p:nvPr/>
        </p:nvSpPr>
        <p:spPr>
          <a:xfrm>
            <a:off x="9598025" y="5026660"/>
            <a:ext cx="508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400">
                <a:solidFill>
                  <a:srgbClr val="FF0000"/>
                </a:solidFill>
                <a:sym typeface="+mn-ea"/>
              </a:rPr>
              <a:t>X</a:t>
            </a:r>
          </a:p>
        </p:txBody>
      </p:sp>
      <p:sp>
        <p:nvSpPr>
          <p:cNvPr id="33" name="Text Box 32"/>
          <p:cNvSpPr txBox="1"/>
          <p:nvPr/>
        </p:nvSpPr>
        <p:spPr>
          <a:xfrm>
            <a:off x="7329170" y="3212465"/>
            <a:ext cx="22688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rgbClr val="FFC000"/>
                </a:solidFill>
              </a:rPr>
              <a:t>For Region d,</a:t>
            </a:r>
          </a:p>
        </p:txBody>
      </p:sp>
      <p:sp>
        <p:nvSpPr>
          <p:cNvPr id="34" name="Text Box 33"/>
          <p:cNvSpPr txBox="1"/>
          <p:nvPr/>
        </p:nvSpPr>
        <p:spPr>
          <a:xfrm>
            <a:off x="3486150" y="2426970"/>
            <a:ext cx="57594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chemeClr val="accent1"/>
                </a:solidFill>
              </a:rPr>
              <a:t>b1</a:t>
            </a:r>
          </a:p>
        </p:txBody>
      </p:sp>
      <p:sp>
        <p:nvSpPr>
          <p:cNvPr id="35" name="Text Box 34"/>
          <p:cNvSpPr txBox="1"/>
          <p:nvPr/>
        </p:nvSpPr>
        <p:spPr>
          <a:xfrm>
            <a:off x="4968875" y="2435860"/>
            <a:ext cx="57594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chemeClr val="accent1"/>
                </a:solidFill>
              </a:rPr>
              <a:t>b2</a:t>
            </a:r>
          </a:p>
        </p:txBody>
      </p:sp>
      <p:sp>
        <p:nvSpPr>
          <p:cNvPr id="36" name="Text Box 35"/>
          <p:cNvSpPr txBox="1"/>
          <p:nvPr/>
        </p:nvSpPr>
        <p:spPr>
          <a:xfrm>
            <a:off x="5071110" y="3952240"/>
            <a:ext cx="57594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chemeClr val="accent1"/>
                </a:solidFill>
              </a:rPr>
              <a:t>b4</a:t>
            </a:r>
          </a:p>
        </p:txBody>
      </p:sp>
      <p:sp>
        <p:nvSpPr>
          <p:cNvPr id="37" name="Text Box 36"/>
          <p:cNvSpPr txBox="1"/>
          <p:nvPr/>
        </p:nvSpPr>
        <p:spPr>
          <a:xfrm>
            <a:off x="2588260" y="2426970"/>
            <a:ext cx="57594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chemeClr val="accent1"/>
                </a:solidFill>
              </a:rPr>
              <a:t>b3</a:t>
            </a:r>
          </a:p>
        </p:txBody>
      </p:sp>
      <p:cxnSp>
        <p:nvCxnSpPr>
          <p:cNvPr id="38" name="Straight Arrow Connector 37"/>
          <p:cNvCxnSpPr>
            <a:endCxn id="37" idx="2"/>
          </p:cNvCxnSpPr>
          <p:nvPr/>
        </p:nvCxnSpPr>
        <p:spPr>
          <a:xfrm flipH="1" flipV="1">
            <a:off x="2876550" y="2887345"/>
            <a:ext cx="518160" cy="1267460"/>
          </a:xfrm>
          <a:prstGeom prst="straightConnector1">
            <a:avLst/>
          </a:prstGeom>
          <a:ln w="31750" cap="rnd">
            <a:solidFill>
              <a:schemeClr val="accent1"/>
            </a:solidFill>
            <a:round/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2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3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2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4" grpId="0"/>
      <p:bldP spid="14" grpId="1"/>
      <p:bldP spid="15" grpId="0"/>
      <p:bldP spid="3" grpId="0"/>
      <p:bldP spid="3" grpId="1"/>
      <p:bldP spid="7" grpId="0"/>
      <p:bldP spid="7" grpId="1"/>
      <p:bldP spid="8" grpId="0"/>
      <p:bldP spid="8" grpId="1"/>
      <p:bldP spid="9" grpId="0"/>
      <p:bldP spid="9" grpId="1"/>
      <p:bldP spid="28" grpId="0"/>
      <p:bldP spid="29" grpId="0"/>
      <p:bldP spid="30" grpId="0"/>
      <p:bldP spid="31" grpId="0"/>
      <p:bldP spid="32" grpId="0"/>
      <p:bldP spid="33" grpId="0"/>
    </p:bldLst>
  </p:timing>
</p:sld>
</file>

<file path=ppt/slides/slide1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ym typeface="+mn-ea"/>
              </a:rPr>
              <a:t>Region Splitting</a:t>
            </a:r>
            <a:endParaRPr lang="en-US"/>
          </a:p>
        </p:txBody>
      </p:sp>
      <p:graphicFrame>
        <p:nvGraphicFramePr>
          <p:cNvPr id="4" name="Table 3"/>
          <p:cNvGraphicFramePr/>
          <p:nvPr>
            <p:custDataLst>
              <p:tags r:id="rId1"/>
            </p:custDataLst>
          </p:nvPr>
        </p:nvGraphicFramePr>
        <p:xfrm>
          <a:off x="1838325" y="3025775"/>
          <a:ext cx="3098800" cy="3048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87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73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73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73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873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873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873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873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chemeClr val="accent4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chemeClr val="accent4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Text Box 4"/>
          <p:cNvSpPr txBox="1"/>
          <p:nvPr/>
        </p:nvSpPr>
        <p:spPr>
          <a:xfrm>
            <a:off x="996950" y="1616075"/>
            <a:ext cx="1040574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400">
                <a:sym typeface="+mn-ea"/>
              </a:rPr>
              <a:t>Apply the region splitting and merging on the following image with threshold value equal to 3.</a:t>
            </a:r>
            <a:endParaRPr lang="en-US" sz="2400"/>
          </a:p>
        </p:txBody>
      </p:sp>
      <p:sp>
        <p:nvSpPr>
          <p:cNvPr id="6" name="Text Box 5"/>
          <p:cNvSpPr txBox="1"/>
          <p:nvPr/>
        </p:nvSpPr>
        <p:spPr>
          <a:xfrm>
            <a:off x="1152525" y="3562350"/>
            <a:ext cx="57594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rgbClr val="FF0000"/>
                </a:solidFill>
              </a:rPr>
              <a:t>a</a:t>
            </a:r>
          </a:p>
        </p:txBody>
      </p:sp>
      <p:sp>
        <p:nvSpPr>
          <p:cNvPr id="15" name="Text Box 14"/>
          <p:cNvSpPr txBox="1"/>
          <p:nvPr/>
        </p:nvSpPr>
        <p:spPr>
          <a:xfrm>
            <a:off x="1152525" y="5000625"/>
            <a:ext cx="57594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rgbClr val="92D050"/>
                </a:solidFill>
              </a:rPr>
              <a:t>c</a:t>
            </a:r>
          </a:p>
        </p:txBody>
      </p:sp>
      <p:sp>
        <p:nvSpPr>
          <p:cNvPr id="3" name="Text Box 2"/>
          <p:cNvSpPr txBox="1"/>
          <p:nvPr/>
        </p:nvSpPr>
        <p:spPr>
          <a:xfrm>
            <a:off x="2680970" y="6280785"/>
            <a:ext cx="57594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rgbClr val="FFC000"/>
                </a:solidFill>
              </a:rPr>
              <a:t>d1</a:t>
            </a:r>
          </a:p>
        </p:txBody>
      </p:sp>
      <p:sp>
        <p:nvSpPr>
          <p:cNvPr id="7" name="Text Box 6"/>
          <p:cNvSpPr txBox="1"/>
          <p:nvPr/>
        </p:nvSpPr>
        <p:spPr>
          <a:xfrm>
            <a:off x="5202555" y="4665980"/>
            <a:ext cx="57594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rgbClr val="FFC000"/>
                </a:solidFill>
              </a:rPr>
              <a:t>d2</a:t>
            </a:r>
          </a:p>
        </p:txBody>
      </p:sp>
      <p:sp>
        <p:nvSpPr>
          <p:cNvPr id="8" name="Text Box 7"/>
          <p:cNvSpPr txBox="1"/>
          <p:nvPr/>
        </p:nvSpPr>
        <p:spPr>
          <a:xfrm>
            <a:off x="3475990" y="6203950"/>
            <a:ext cx="57594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rgbClr val="FFC000"/>
                </a:solidFill>
              </a:rPr>
              <a:t>d3</a:t>
            </a:r>
          </a:p>
        </p:txBody>
      </p:sp>
      <p:sp>
        <p:nvSpPr>
          <p:cNvPr id="9" name="Text Box 8"/>
          <p:cNvSpPr txBox="1"/>
          <p:nvPr/>
        </p:nvSpPr>
        <p:spPr>
          <a:xfrm>
            <a:off x="5071110" y="6073775"/>
            <a:ext cx="57594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rgbClr val="FFC000"/>
                </a:solidFill>
              </a:rPr>
              <a:t>d4</a:t>
            </a:r>
          </a:p>
        </p:txBody>
      </p:sp>
      <p:cxnSp>
        <p:nvCxnSpPr>
          <p:cNvPr id="10" name="Straight Arrow Connector 9"/>
          <p:cNvCxnSpPr>
            <a:endCxn id="3" idx="0"/>
          </p:cNvCxnSpPr>
          <p:nvPr/>
        </p:nvCxnSpPr>
        <p:spPr>
          <a:xfrm flipH="1">
            <a:off x="2969260" y="4929505"/>
            <a:ext cx="425450" cy="1351280"/>
          </a:xfrm>
          <a:prstGeom prst="straightConnector1">
            <a:avLst/>
          </a:prstGeom>
          <a:ln w="31750" cap="rnd">
            <a:solidFill>
              <a:srgbClr val="FFC000"/>
            </a:solidFill>
            <a:round/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8" name="Text Box 27"/>
          <p:cNvSpPr txBox="1"/>
          <p:nvPr/>
        </p:nvSpPr>
        <p:spPr>
          <a:xfrm>
            <a:off x="7329170" y="3732530"/>
            <a:ext cx="22688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chemeClr val="accent1"/>
                </a:solidFill>
              </a:rPr>
              <a:t>Max Value = 7</a:t>
            </a:r>
          </a:p>
        </p:txBody>
      </p:sp>
      <p:sp>
        <p:nvSpPr>
          <p:cNvPr id="29" name="Text Box 28"/>
          <p:cNvSpPr txBox="1"/>
          <p:nvPr/>
        </p:nvSpPr>
        <p:spPr>
          <a:xfrm>
            <a:off x="7329170" y="4319905"/>
            <a:ext cx="22688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chemeClr val="accent1"/>
                </a:solidFill>
              </a:rPr>
              <a:t>Min Value = 5</a:t>
            </a:r>
          </a:p>
        </p:txBody>
      </p:sp>
      <p:sp>
        <p:nvSpPr>
          <p:cNvPr id="30" name="Text Box 29"/>
          <p:cNvSpPr txBox="1"/>
          <p:nvPr/>
        </p:nvSpPr>
        <p:spPr>
          <a:xfrm>
            <a:off x="6801485" y="5026660"/>
            <a:ext cx="139827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chemeClr val="accent1"/>
                </a:solidFill>
                <a:sym typeface="+mn-ea"/>
              </a:rPr>
              <a:t>|7-5|=2</a:t>
            </a:r>
          </a:p>
        </p:txBody>
      </p:sp>
      <p:sp>
        <p:nvSpPr>
          <p:cNvPr id="31" name="Text Box 30"/>
          <p:cNvSpPr txBox="1"/>
          <p:nvPr/>
        </p:nvSpPr>
        <p:spPr>
          <a:xfrm>
            <a:off x="8199755" y="5026660"/>
            <a:ext cx="139827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400">
                <a:solidFill>
                  <a:schemeClr val="accent1"/>
                </a:solidFill>
              </a:rPr>
              <a:t>&lt;=3</a:t>
            </a:r>
          </a:p>
        </p:txBody>
      </p:sp>
      <p:sp>
        <p:nvSpPr>
          <p:cNvPr id="32" name="Text Box 31"/>
          <p:cNvSpPr txBox="1"/>
          <p:nvPr/>
        </p:nvSpPr>
        <p:spPr>
          <a:xfrm>
            <a:off x="9598025" y="5026660"/>
            <a:ext cx="508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400">
                <a:solidFill>
                  <a:srgbClr val="92D050"/>
                </a:solidFill>
                <a:sym typeface="+mn-ea"/>
              </a:rPr>
              <a:t>✔</a:t>
            </a:r>
            <a:endParaRPr lang="en-US" sz="2400">
              <a:solidFill>
                <a:srgbClr val="FF0000"/>
              </a:solidFill>
              <a:sym typeface="+mn-ea"/>
            </a:endParaRPr>
          </a:p>
        </p:txBody>
      </p:sp>
      <p:sp>
        <p:nvSpPr>
          <p:cNvPr id="33" name="Text Box 32"/>
          <p:cNvSpPr txBox="1"/>
          <p:nvPr/>
        </p:nvSpPr>
        <p:spPr>
          <a:xfrm>
            <a:off x="7329170" y="3212465"/>
            <a:ext cx="22688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chemeClr val="accent1"/>
                </a:solidFill>
              </a:rPr>
              <a:t>For Region b1,</a:t>
            </a:r>
          </a:p>
        </p:txBody>
      </p:sp>
      <p:sp>
        <p:nvSpPr>
          <p:cNvPr id="34" name="Text Box 33"/>
          <p:cNvSpPr txBox="1"/>
          <p:nvPr/>
        </p:nvSpPr>
        <p:spPr>
          <a:xfrm>
            <a:off x="3486150" y="2426970"/>
            <a:ext cx="57594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chemeClr val="accent1"/>
                </a:solidFill>
              </a:rPr>
              <a:t>b1</a:t>
            </a:r>
          </a:p>
        </p:txBody>
      </p:sp>
      <p:sp>
        <p:nvSpPr>
          <p:cNvPr id="35" name="Text Box 34"/>
          <p:cNvSpPr txBox="1"/>
          <p:nvPr/>
        </p:nvSpPr>
        <p:spPr>
          <a:xfrm>
            <a:off x="4968875" y="2435860"/>
            <a:ext cx="57594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chemeClr val="accent1"/>
                </a:solidFill>
              </a:rPr>
              <a:t>b2</a:t>
            </a:r>
          </a:p>
        </p:txBody>
      </p:sp>
      <p:sp>
        <p:nvSpPr>
          <p:cNvPr id="36" name="Text Box 35"/>
          <p:cNvSpPr txBox="1"/>
          <p:nvPr/>
        </p:nvSpPr>
        <p:spPr>
          <a:xfrm>
            <a:off x="5071110" y="3952240"/>
            <a:ext cx="57594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chemeClr val="accent1"/>
                </a:solidFill>
              </a:rPr>
              <a:t>b4</a:t>
            </a:r>
          </a:p>
        </p:txBody>
      </p:sp>
      <p:sp>
        <p:nvSpPr>
          <p:cNvPr id="37" name="Text Box 36"/>
          <p:cNvSpPr txBox="1"/>
          <p:nvPr/>
        </p:nvSpPr>
        <p:spPr>
          <a:xfrm>
            <a:off x="2588260" y="2426970"/>
            <a:ext cx="57594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chemeClr val="accent1"/>
                </a:solidFill>
              </a:rPr>
              <a:t>b3</a:t>
            </a:r>
          </a:p>
        </p:txBody>
      </p:sp>
      <p:cxnSp>
        <p:nvCxnSpPr>
          <p:cNvPr id="38" name="Straight Arrow Connector 37"/>
          <p:cNvCxnSpPr>
            <a:endCxn id="37" idx="2"/>
          </p:cNvCxnSpPr>
          <p:nvPr/>
        </p:nvCxnSpPr>
        <p:spPr>
          <a:xfrm flipH="1" flipV="1">
            <a:off x="2876550" y="2887345"/>
            <a:ext cx="518160" cy="1267460"/>
          </a:xfrm>
          <a:prstGeom prst="straightConnector1">
            <a:avLst/>
          </a:prstGeom>
          <a:ln w="31750" cap="rnd">
            <a:solidFill>
              <a:schemeClr val="accent1"/>
            </a:solidFill>
            <a:round/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5" grpId="0"/>
      <p:bldP spid="3" grpId="0"/>
      <p:bldP spid="7" grpId="0"/>
      <p:bldP spid="8" grpId="0"/>
      <p:bldP spid="9" grpId="0"/>
      <p:bldP spid="28" grpId="0"/>
      <p:bldP spid="28" grpId="1"/>
      <p:bldP spid="29" grpId="0"/>
      <p:bldP spid="29" grpId="1"/>
      <p:bldP spid="30" grpId="0"/>
      <p:bldP spid="30" grpId="1"/>
      <p:bldP spid="31" grpId="0"/>
      <p:bldP spid="31" grpId="1"/>
      <p:bldP spid="32" grpId="0"/>
      <p:bldP spid="32" grpId="1"/>
      <p:bldP spid="33" grpId="0"/>
      <p:bldP spid="33" grpId="1"/>
    </p:bldLst>
  </p:timing>
</p:sld>
</file>

<file path=ppt/slides/slide1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ym typeface="+mn-ea"/>
              </a:rPr>
              <a:t>Region Splitting</a:t>
            </a:r>
            <a:endParaRPr lang="en-US"/>
          </a:p>
        </p:txBody>
      </p:sp>
      <p:graphicFrame>
        <p:nvGraphicFramePr>
          <p:cNvPr id="4" name="Table 3"/>
          <p:cNvGraphicFramePr/>
          <p:nvPr>
            <p:custDataLst>
              <p:tags r:id="rId1"/>
            </p:custDataLst>
          </p:nvPr>
        </p:nvGraphicFramePr>
        <p:xfrm>
          <a:off x="1838325" y="3025775"/>
          <a:ext cx="3098800" cy="3048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87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73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73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73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873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873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873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873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chemeClr val="accent4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chemeClr val="accent4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Text Box 4"/>
          <p:cNvSpPr txBox="1"/>
          <p:nvPr/>
        </p:nvSpPr>
        <p:spPr>
          <a:xfrm>
            <a:off x="996950" y="1616075"/>
            <a:ext cx="1040574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400">
                <a:sym typeface="+mn-ea"/>
              </a:rPr>
              <a:t>Apply the region splitting and merging on the following image with threshold value equal to 3.</a:t>
            </a:r>
            <a:endParaRPr lang="en-US" sz="2400"/>
          </a:p>
        </p:txBody>
      </p:sp>
      <p:sp>
        <p:nvSpPr>
          <p:cNvPr id="6" name="Text Box 5"/>
          <p:cNvSpPr txBox="1"/>
          <p:nvPr/>
        </p:nvSpPr>
        <p:spPr>
          <a:xfrm>
            <a:off x="1152525" y="3562350"/>
            <a:ext cx="57594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rgbClr val="FF0000"/>
                </a:solidFill>
              </a:rPr>
              <a:t>a</a:t>
            </a:r>
          </a:p>
        </p:txBody>
      </p:sp>
      <p:sp>
        <p:nvSpPr>
          <p:cNvPr id="15" name="Text Box 14"/>
          <p:cNvSpPr txBox="1"/>
          <p:nvPr/>
        </p:nvSpPr>
        <p:spPr>
          <a:xfrm>
            <a:off x="1152525" y="5000625"/>
            <a:ext cx="57594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rgbClr val="92D050"/>
                </a:solidFill>
              </a:rPr>
              <a:t>c</a:t>
            </a:r>
          </a:p>
        </p:txBody>
      </p:sp>
      <p:sp>
        <p:nvSpPr>
          <p:cNvPr id="3" name="Text Box 2"/>
          <p:cNvSpPr txBox="1"/>
          <p:nvPr/>
        </p:nvSpPr>
        <p:spPr>
          <a:xfrm>
            <a:off x="2680970" y="6280785"/>
            <a:ext cx="57594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rgbClr val="FFC000"/>
                </a:solidFill>
              </a:rPr>
              <a:t>d1</a:t>
            </a:r>
          </a:p>
        </p:txBody>
      </p:sp>
      <p:sp>
        <p:nvSpPr>
          <p:cNvPr id="7" name="Text Box 6"/>
          <p:cNvSpPr txBox="1"/>
          <p:nvPr/>
        </p:nvSpPr>
        <p:spPr>
          <a:xfrm>
            <a:off x="5202555" y="4665980"/>
            <a:ext cx="57594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rgbClr val="FFC000"/>
                </a:solidFill>
              </a:rPr>
              <a:t>d2</a:t>
            </a:r>
          </a:p>
        </p:txBody>
      </p:sp>
      <p:sp>
        <p:nvSpPr>
          <p:cNvPr id="8" name="Text Box 7"/>
          <p:cNvSpPr txBox="1"/>
          <p:nvPr/>
        </p:nvSpPr>
        <p:spPr>
          <a:xfrm>
            <a:off x="3475990" y="6203950"/>
            <a:ext cx="57594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rgbClr val="FFC000"/>
                </a:solidFill>
              </a:rPr>
              <a:t>d3</a:t>
            </a:r>
          </a:p>
        </p:txBody>
      </p:sp>
      <p:sp>
        <p:nvSpPr>
          <p:cNvPr id="9" name="Text Box 8"/>
          <p:cNvSpPr txBox="1"/>
          <p:nvPr/>
        </p:nvSpPr>
        <p:spPr>
          <a:xfrm>
            <a:off x="5071110" y="6073775"/>
            <a:ext cx="57594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rgbClr val="FFC000"/>
                </a:solidFill>
              </a:rPr>
              <a:t>d4</a:t>
            </a:r>
          </a:p>
        </p:txBody>
      </p:sp>
      <p:cxnSp>
        <p:nvCxnSpPr>
          <p:cNvPr id="10" name="Straight Arrow Connector 9"/>
          <p:cNvCxnSpPr>
            <a:endCxn id="3" idx="0"/>
          </p:cNvCxnSpPr>
          <p:nvPr/>
        </p:nvCxnSpPr>
        <p:spPr>
          <a:xfrm flipH="1">
            <a:off x="2969260" y="4929505"/>
            <a:ext cx="425450" cy="1351280"/>
          </a:xfrm>
          <a:prstGeom prst="straightConnector1">
            <a:avLst/>
          </a:prstGeom>
          <a:ln w="31750" cap="rnd">
            <a:solidFill>
              <a:srgbClr val="FFC000"/>
            </a:solidFill>
            <a:round/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8" name="Text Box 27"/>
          <p:cNvSpPr txBox="1"/>
          <p:nvPr/>
        </p:nvSpPr>
        <p:spPr>
          <a:xfrm>
            <a:off x="7329170" y="3732530"/>
            <a:ext cx="22688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chemeClr val="accent1"/>
                </a:solidFill>
              </a:rPr>
              <a:t>Max Value = 7</a:t>
            </a:r>
          </a:p>
        </p:txBody>
      </p:sp>
      <p:sp>
        <p:nvSpPr>
          <p:cNvPr id="29" name="Text Box 28"/>
          <p:cNvSpPr txBox="1"/>
          <p:nvPr/>
        </p:nvSpPr>
        <p:spPr>
          <a:xfrm>
            <a:off x="7329170" y="4319905"/>
            <a:ext cx="22688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chemeClr val="accent1"/>
                </a:solidFill>
              </a:rPr>
              <a:t>Min Value = 4</a:t>
            </a:r>
          </a:p>
        </p:txBody>
      </p:sp>
      <p:sp>
        <p:nvSpPr>
          <p:cNvPr id="30" name="Text Box 29"/>
          <p:cNvSpPr txBox="1"/>
          <p:nvPr/>
        </p:nvSpPr>
        <p:spPr>
          <a:xfrm>
            <a:off x="6801485" y="5026660"/>
            <a:ext cx="139827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chemeClr val="accent1"/>
                </a:solidFill>
                <a:sym typeface="+mn-ea"/>
              </a:rPr>
              <a:t>|7-4|=3</a:t>
            </a:r>
          </a:p>
        </p:txBody>
      </p:sp>
      <p:sp>
        <p:nvSpPr>
          <p:cNvPr id="31" name="Text Box 30"/>
          <p:cNvSpPr txBox="1"/>
          <p:nvPr/>
        </p:nvSpPr>
        <p:spPr>
          <a:xfrm>
            <a:off x="8199755" y="5026660"/>
            <a:ext cx="139827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400">
                <a:solidFill>
                  <a:schemeClr val="accent1"/>
                </a:solidFill>
              </a:rPr>
              <a:t>&lt;=3</a:t>
            </a:r>
          </a:p>
        </p:txBody>
      </p:sp>
      <p:sp>
        <p:nvSpPr>
          <p:cNvPr id="32" name="Text Box 31"/>
          <p:cNvSpPr txBox="1"/>
          <p:nvPr/>
        </p:nvSpPr>
        <p:spPr>
          <a:xfrm>
            <a:off x="9598025" y="5026660"/>
            <a:ext cx="508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400">
                <a:solidFill>
                  <a:srgbClr val="92D050"/>
                </a:solidFill>
                <a:sym typeface="+mn-ea"/>
              </a:rPr>
              <a:t>✔</a:t>
            </a:r>
            <a:endParaRPr lang="en-US" sz="2400">
              <a:solidFill>
                <a:srgbClr val="FF0000"/>
              </a:solidFill>
              <a:sym typeface="+mn-ea"/>
            </a:endParaRPr>
          </a:p>
        </p:txBody>
      </p:sp>
      <p:sp>
        <p:nvSpPr>
          <p:cNvPr id="33" name="Text Box 32"/>
          <p:cNvSpPr txBox="1"/>
          <p:nvPr/>
        </p:nvSpPr>
        <p:spPr>
          <a:xfrm>
            <a:off x="7329170" y="3212465"/>
            <a:ext cx="22688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chemeClr val="accent1"/>
                </a:solidFill>
              </a:rPr>
              <a:t>For Region b2,</a:t>
            </a:r>
          </a:p>
        </p:txBody>
      </p:sp>
      <p:sp>
        <p:nvSpPr>
          <p:cNvPr id="34" name="Text Box 33"/>
          <p:cNvSpPr txBox="1"/>
          <p:nvPr/>
        </p:nvSpPr>
        <p:spPr>
          <a:xfrm>
            <a:off x="3486150" y="2426970"/>
            <a:ext cx="57594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chemeClr val="accent1"/>
                </a:solidFill>
              </a:rPr>
              <a:t>b1</a:t>
            </a:r>
          </a:p>
        </p:txBody>
      </p:sp>
      <p:sp>
        <p:nvSpPr>
          <p:cNvPr id="35" name="Text Box 34"/>
          <p:cNvSpPr txBox="1"/>
          <p:nvPr/>
        </p:nvSpPr>
        <p:spPr>
          <a:xfrm>
            <a:off x="4968875" y="2435860"/>
            <a:ext cx="57594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chemeClr val="accent1"/>
                </a:solidFill>
              </a:rPr>
              <a:t>b2</a:t>
            </a:r>
          </a:p>
        </p:txBody>
      </p:sp>
      <p:sp>
        <p:nvSpPr>
          <p:cNvPr id="36" name="Text Box 35"/>
          <p:cNvSpPr txBox="1"/>
          <p:nvPr/>
        </p:nvSpPr>
        <p:spPr>
          <a:xfrm>
            <a:off x="5071110" y="3952240"/>
            <a:ext cx="57594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chemeClr val="accent1"/>
                </a:solidFill>
              </a:rPr>
              <a:t>b4</a:t>
            </a:r>
          </a:p>
        </p:txBody>
      </p:sp>
      <p:sp>
        <p:nvSpPr>
          <p:cNvPr id="37" name="Text Box 36"/>
          <p:cNvSpPr txBox="1"/>
          <p:nvPr/>
        </p:nvSpPr>
        <p:spPr>
          <a:xfrm>
            <a:off x="2588260" y="2426970"/>
            <a:ext cx="57594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chemeClr val="accent1"/>
                </a:solidFill>
              </a:rPr>
              <a:t>b3</a:t>
            </a:r>
          </a:p>
        </p:txBody>
      </p:sp>
      <p:cxnSp>
        <p:nvCxnSpPr>
          <p:cNvPr id="38" name="Straight Arrow Connector 37"/>
          <p:cNvCxnSpPr>
            <a:endCxn id="37" idx="2"/>
          </p:cNvCxnSpPr>
          <p:nvPr/>
        </p:nvCxnSpPr>
        <p:spPr>
          <a:xfrm flipH="1" flipV="1">
            <a:off x="2876550" y="2887345"/>
            <a:ext cx="518160" cy="1267460"/>
          </a:xfrm>
          <a:prstGeom prst="straightConnector1">
            <a:avLst/>
          </a:prstGeom>
          <a:ln w="31750" cap="rnd">
            <a:solidFill>
              <a:schemeClr val="accent1"/>
            </a:solidFill>
            <a:round/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5" grpId="0"/>
      <p:bldP spid="3" grpId="0"/>
      <p:bldP spid="7" grpId="0"/>
      <p:bldP spid="8" grpId="0"/>
      <p:bldP spid="9" grpId="0"/>
      <p:bldP spid="28" grpId="0"/>
      <p:bldP spid="28" grpId="1"/>
      <p:bldP spid="29" grpId="0"/>
      <p:bldP spid="29" grpId="1"/>
      <p:bldP spid="30" grpId="0"/>
      <p:bldP spid="30" grpId="1"/>
      <p:bldP spid="31" grpId="0"/>
      <p:bldP spid="31" grpId="1"/>
      <p:bldP spid="32" grpId="0"/>
      <p:bldP spid="32" grpId="1"/>
      <p:bldP spid="33" grpId="0"/>
      <p:bldP spid="33" grpId="1"/>
    </p:bldLst>
  </p:timing>
</p:sld>
</file>

<file path=ppt/slides/slide1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ym typeface="+mn-ea"/>
              </a:rPr>
              <a:t>Region Splitting</a:t>
            </a:r>
            <a:endParaRPr lang="en-US"/>
          </a:p>
        </p:txBody>
      </p:sp>
      <p:graphicFrame>
        <p:nvGraphicFramePr>
          <p:cNvPr id="4" name="Table 3"/>
          <p:cNvGraphicFramePr/>
          <p:nvPr>
            <p:custDataLst>
              <p:tags r:id="rId1"/>
            </p:custDataLst>
          </p:nvPr>
        </p:nvGraphicFramePr>
        <p:xfrm>
          <a:off x="1838325" y="3025775"/>
          <a:ext cx="3098800" cy="3048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87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73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73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73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873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873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873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873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chemeClr val="accent4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chemeClr val="accent4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Text Box 4"/>
          <p:cNvSpPr txBox="1"/>
          <p:nvPr/>
        </p:nvSpPr>
        <p:spPr>
          <a:xfrm>
            <a:off x="996950" y="1616075"/>
            <a:ext cx="1040574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400">
                <a:sym typeface="+mn-ea"/>
              </a:rPr>
              <a:t>Apply the region splitting and merging on the following image with threshold value equal to 3.</a:t>
            </a:r>
            <a:endParaRPr lang="en-US" sz="2400"/>
          </a:p>
        </p:txBody>
      </p:sp>
      <p:sp>
        <p:nvSpPr>
          <p:cNvPr id="6" name="Text Box 5"/>
          <p:cNvSpPr txBox="1"/>
          <p:nvPr/>
        </p:nvSpPr>
        <p:spPr>
          <a:xfrm>
            <a:off x="1152525" y="3562350"/>
            <a:ext cx="57594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rgbClr val="FF0000"/>
                </a:solidFill>
              </a:rPr>
              <a:t>a</a:t>
            </a:r>
          </a:p>
        </p:txBody>
      </p:sp>
      <p:sp>
        <p:nvSpPr>
          <p:cNvPr id="15" name="Text Box 14"/>
          <p:cNvSpPr txBox="1"/>
          <p:nvPr/>
        </p:nvSpPr>
        <p:spPr>
          <a:xfrm>
            <a:off x="1152525" y="5000625"/>
            <a:ext cx="57594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rgbClr val="92D050"/>
                </a:solidFill>
              </a:rPr>
              <a:t>c</a:t>
            </a:r>
          </a:p>
        </p:txBody>
      </p:sp>
      <p:sp>
        <p:nvSpPr>
          <p:cNvPr id="3" name="Text Box 2"/>
          <p:cNvSpPr txBox="1"/>
          <p:nvPr/>
        </p:nvSpPr>
        <p:spPr>
          <a:xfrm>
            <a:off x="2680970" y="6280785"/>
            <a:ext cx="57594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rgbClr val="FFC000"/>
                </a:solidFill>
              </a:rPr>
              <a:t>d1</a:t>
            </a:r>
          </a:p>
        </p:txBody>
      </p:sp>
      <p:sp>
        <p:nvSpPr>
          <p:cNvPr id="7" name="Text Box 6"/>
          <p:cNvSpPr txBox="1"/>
          <p:nvPr/>
        </p:nvSpPr>
        <p:spPr>
          <a:xfrm>
            <a:off x="5202555" y="4665980"/>
            <a:ext cx="57594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rgbClr val="FFC000"/>
                </a:solidFill>
              </a:rPr>
              <a:t>d2</a:t>
            </a:r>
          </a:p>
        </p:txBody>
      </p:sp>
      <p:sp>
        <p:nvSpPr>
          <p:cNvPr id="8" name="Text Box 7"/>
          <p:cNvSpPr txBox="1"/>
          <p:nvPr/>
        </p:nvSpPr>
        <p:spPr>
          <a:xfrm>
            <a:off x="3475990" y="6203950"/>
            <a:ext cx="57594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rgbClr val="FFC000"/>
                </a:solidFill>
              </a:rPr>
              <a:t>d3</a:t>
            </a:r>
          </a:p>
        </p:txBody>
      </p:sp>
      <p:sp>
        <p:nvSpPr>
          <p:cNvPr id="9" name="Text Box 8"/>
          <p:cNvSpPr txBox="1"/>
          <p:nvPr/>
        </p:nvSpPr>
        <p:spPr>
          <a:xfrm>
            <a:off x="5071110" y="6073775"/>
            <a:ext cx="57594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rgbClr val="FFC000"/>
                </a:solidFill>
              </a:rPr>
              <a:t>d4</a:t>
            </a:r>
          </a:p>
        </p:txBody>
      </p:sp>
      <p:cxnSp>
        <p:nvCxnSpPr>
          <p:cNvPr id="10" name="Straight Arrow Connector 9"/>
          <p:cNvCxnSpPr>
            <a:endCxn id="3" idx="0"/>
          </p:cNvCxnSpPr>
          <p:nvPr/>
        </p:nvCxnSpPr>
        <p:spPr>
          <a:xfrm flipH="1">
            <a:off x="2969260" y="4929505"/>
            <a:ext cx="425450" cy="1351280"/>
          </a:xfrm>
          <a:prstGeom prst="straightConnector1">
            <a:avLst/>
          </a:prstGeom>
          <a:ln w="31750" cap="rnd">
            <a:solidFill>
              <a:srgbClr val="FFC000"/>
            </a:solidFill>
            <a:round/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8" name="Text Box 27"/>
          <p:cNvSpPr txBox="1"/>
          <p:nvPr/>
        </p:nvSpPr>
        <p:spPr>
          <a:xfrm>
            <a:off x="7329170" y="3732530"/>
            <a:ext cx="22688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chemeClr val="accent1"/>
                </a:solidFill>
              </a:rPr>
              <a:t>Max Value = 3</a:t>
            </a:r>
          </a:p>
        </p:txBody>
      </p:sp>
      <p:sp>
        <p:nvSpPr>
          <p:cNvPr id="29" name="Text Box 28"/>
          <p:cNvSpPr txBox="1"/>
          <p:nvPr/>
        </p:nvSpPr>
        <p:spPr>
          <a:xfrm>
            <a:off x="7329170" y="4319905"/>
            <a:ext cx="22688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chemeClr val="accent1"/>
                </a:solidFill>
              </a:rPr>
              <a:t>Min Value = 2</a:t>
            </a:r>
          </a:p>
        </p:txBody>
      </p:sp>
      <p:sp>
        <p:nvSpPr>
          <p:cNvPr id="30" name="Text Box 29"/>
          <p:cNvSpPr txBox="1"/>
          <p:nvPr/>
        </p:nvSpPr>
        <p:spPr>
          <a:xfrm>
            <a:off x="6801485" y="5026660"/>
            <a:ext cx="139827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chemeClr val="accent1"/>
                </a:solidFill>
                <a:sym typeface="+mn-ea"/>
              </a:rPr>
              <a:t>|3-2|=1</a:t>
            </a:r>
          </a:p>
        </p:txBody>
      </p:sp>
      <p:sp>
        <p:nvSpPr>
          <p:cNvPr id="31" name="Text Box 30"/>
          <p:cNvSpPr txBox="1"/>
          <p:nvPr/>
        </p:nvSpPr>
        <p:spPr>
          <a:xfrm>
            <a:off x="8199755" y="5026660"/>
            <a:ext cx="139827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400">
                <a:solidFill>
                  <a:schemeClr val="accent1"/>
                </a:solidFill>
              </a:rPr>
              <a:t>&lt;=3</a:t>
            </a:r>
          </a:p>
        </p:txBody>
      </p:sp>
      <p:sp>
        <p:nvSpPr>
          <p:cNvPr id="32" name="Text Box 31"/>
          <p:cNvSpPr txBox="1"/>
          <p:nvPr/>
        </p:nvSpPr>
        <p:spPr>
          <a:xfrm>
            <a:off x="9598025" y="5026660"/>
            <a:ext cx="508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400">
                <a:solidFill>
                  <a:srgbClr val="92D050"/>
                </a:solidFill>
                <a:sym typeface="+mn-ea"/>
              </a:rPr>
              <a:t>✔</a:t>
            </a:r>
            <a:endParaRPr lang="en-US" sz="2400">
              <a:solidFill>
                <a:srgbClr val="FF0000"/>
              </a:solidFill>
              <a:sym typeface="+mn-ea"/>
            </a:endParaRPr>
          </a:p>
        </p:txBody>
      </p:sp>
      <p:sp>
        <p:nvSpPr>
          <p:cNvPr id="33" name="Text Box 32"/>
          <p:cNvSpPr txBox="1"/>
          <p:nvPr/>
        </p:nvSpPr>
        <p:spPr>
          <a:xfrm>
            <a:off x="7329170" y="3212465"/>
            <a:ext cx="22688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chemeClr val="accent1"/>
                </a:solidFill>
              </a:rPr>
              <a:t>For Region b3,</a:t>
            </a:r>
          </a:p>
        </p:txBody>
      </p:sp>
      <p:sp>
        <p:nvSpPr>
          <p:cNvPr id="34" name="Text Box 33"/>
          <p:cNvSpPr txBox="1"/>
          <p:nvPr/>
        </p:nvSpPr>
        <p:spPr>
          <a:xfrm>
            <a:off x="3486150" y="2426970"/>
            <a:ext cx="57594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chemeClr val="accent1"/>
                </a:solidFill>
              </a:rPr>
              <a:t>b1</a:t>
            </a:r>
          </a:p>
        </p:txBody>
      </p:sp>
      <p:sp>
        <p:nvSpPr>
          <p:cNvPr id="35" name="Text Box 34"/>
          <p:cNvSpPr txBox="1"/>
          <p:nvPr/>
        </p:nvSpPr>
        <p:spPr>
          <a:xfrm>
            <a:off x="4968875" y="2435860"/>
            <a:ext cx="57594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chemeClr val="accent1"/>
                </a:solidFill>
              </a:rPr>
              <a:t>b2</a:t>
            </a:r>
          </a:p>
        </p:txBody>
      </p:sp>
      <p:sp>
        <p:nvSpPr>
          <p:cNvPr id="36" name="Text Box 35"/>
          <p:cNvSpPr txBox="1"/>
          <p:nvPr/>
        </p:nvSpPr>
        <p:spPr>
          <a:xfrm>
            <a:off x="5071110" y="3952240"/>
            <a:ext cx="57594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chemeClr val="accent1"/>
                </a:solidFill>
              </a:rPr>
              <a:t>b4</a:t>
            </a:r>
          </a:p>
        </p:txBody>
      </p:sp>
      <p:sp>
        <p:nvSpPr>
          <p:cNvPr id="37" name="Text Box 36"/>
          <p:cNvSpPr txBox="1"/>
          <p:nvPr/>
        </p:nvSpPr>
        <p:spPr>
          <a:xfrm>
            <a:off x="2588260" y="2426970"/>
            <a:ext cx="57594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chemeClr val="accent1"/>
                </a:solidFill>
              </a:rPr>
              <a:t>b3</a:t>
            </a:r>
          </a:p>
        </p:txBody>
      </p:sp>
      <p:cxnSp>
        <p:nvCxnSpPr>
          <p:cNvPr id="38" name="Straight Arrow Connector 37"/>
          <p:cNvCxnSpPr>
            <a:endCxn id="37" idx="2"/>
          </p:cNvCxnSpPr>
          <p:nvPr/>
        </p:nvCxnSpPr>
        <p:spPr>
          <a:xfrm flipH="1" flipV="1">
            <a:off x="2876550" y="2887345"/>
            <a:ext cx="518160" cy="1267460"/>
          </a:xfrm>
          <a:prstGeom prst="straightConnector1">
            <a:avLst/>
          </a:prstGeom>
          <a:ln w="31750" cap="rnd">
            <a:solidFill>
              <a:schemeClr val="accent1"/>
            </a:solidFill>
            <a:round/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5" grpId="0"/>
      <p:bldP spid="3" grpId="0"/>
      <p:bldP spid="7" grpId="0"/>
      <p:bldP spid="8" grpId="0"/>
      <p:bldP spid="9" grpId="0"/>
      <p:bldP spid="28" grpId="0"/>
      <p:bldP spid="28" grpId="1"/>
      <p:bldP spid="29" grpId="0"/>
      <p:bldP spid="29" grpId="1"/>
      <p:bldP spid="30" grpId="0"/>
      <p:bldP spid="30" grpId="1"/>
      <p:bldP spid="31" grpId="0"/>
      <p:bldP spid="31" grpId="1"/>
      <p:bldP spid="32" grpId="0"/>
      <p:bldP spid="32" grpId="1"/>
      <p:bldP spid="33" grpId="0"/>
      <p:bldP spid="33" grpId="1"/>
    </p:bldLst>
  </p:timing>
</p:sld>
</file>

<file path=ppt/slides/slide1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ym typeface="+mn-ea"/>
              </a:rPr>
              <a:t>Region Splitting</a:t>
            </a:r>
            <a:endParaRPr lang="en-US"/>
          </a:p>
        </p:txBody>
      </p:sp>
      <p:graphicFrame>
        <p:nvGraphicFramePr>
          <p:cNvPr id="4" name="Table 3"/>
          <p:cNvGraphicFramePr/>
          <p:nvPr>
            <p:custDataLst>
              <p:tags r:id="rId1"/>
            </p:custDataLst>
          </p:nvPr>
        </p:nvGraphicFramePr>
        <p:xfrm>
          <a:off x="1838325" y="3025775"/>
          <a:ext cx="3098800" cy="3048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87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73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73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73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873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873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873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873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chemeClr val="accent4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chemeClr val="accent4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Text Box 4"/>
          <p:cNvSpPr txBox="1"/>
          <p:nvPr/>
        </p:nvSpPr>
        <p:spPr>
          <a:xfrm>
            <a:off x="996950" y="1616075"/>
            <a:ext cx="1040574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400">
                <a:sym typeface="+mn-ea"/>
              </a:rPr>
              <a:t>Apply the region splitting and merging on the following image with threshold value equal to 3.</a:t>
            </a:r>
            <a:endParaRPr lang="en-US" sz="2400"/>
          </a:p>
        </p:txBody>
      </p:sp>
      <p:sp>
        <p:nvSpPr>
          <p:cNvPr id="6" name="Text Box 5"/>
          <p:cNvSpPr txBox="1"/>
          <p:nvPr/>
        </p:nvSpPr>
        <p:spPr>
          <a:xfrm>
            <a:off x="1152525" y="3562350"/>
            <a:ext cx="57594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rgbClr val="FF0000"/>
                </a:solidFill>
              </a:rPr>
              <a:t>a</a:t>
            </a:r>
          </a:p>
        </p:txBody>
      </p:sp>
      <p:sp>
        <p:nvSpPr>
          <p:cNvPr id="15" name="Text Box 14"/>
          <p:cNvSpPr txBox="1"/>
          <p:nvPr/>
        </p:nvSpPr>
        <p:spPr>
          <a:xfrm>
            <a:off x="1152525" y="5000625"/>
            <a:ext cx="57594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rgbClr val="92D050"/>
                </a:solidFill>
              </a:rPr>
              <a:t>c</a:t>
            </a:r>
          </a:p>
        </p:txBody>
      </p:sp>
      <p:sp>
        <p:nvSpPr>
          <p:cNvPr id="3" name="Text Box 2"/>
          <p:cNvSpPr txBox="1"/>
          <p:nvPr/>
        </p:nvSpPr>
        <p:spPr>
          <a:xfrm>
            <a:off x="2680970" y="6280785"/>
            <a:ext cx="57594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rgbClr val="FFC000"/>
                </a:solidFill>
              </a:rPr>
              <a:t>d1</a:t>
            </a:r>
          </a:p>
        </p:txBody>
      </p:sp>
      <p:sp>
        <p:nvSpPr>
          <p:cNvPr id="7" name="Text Box 6"/>
          <p:cNvSpPr txBox="1"/>
          <p:nvPr/>
        </p:nvSpPr>
        <p:spPr>
          <a:xfrm>
            <a:off x="5202555" y="4665980"/>
            <a:ext cx="57594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rgbClr val="FFC000"/>
                </a:solidFill>
              </a:rPr>
              <a:t>d2</a:t>
            </a:r>
          </a:p>
        </p:txBody>
      </p:sp>
      <p:sp>
        <p:nvSpPr>
          <p:cNvPr id="8" name="Text Box 7"/>
          <p:cNvSpPr txBox="1"/>
          <p:nvPr/>
        </p:nvSpPr>
        <p:spPr>
          <a:xfrm>
            <a:off x="3475990" y="6203950"/>
            <a:ext cx="57594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rgbClr val="FFC000"/>
                </a:solidFill>
              </a:rPr>
              <a:t>d3</a:t>
            </a:r>
          </a:p>
        </p:txBody>
      </p:sp>
      <p:sp>
        <p:nvSpPr>
          <p:cNvPr id="9" name="Text Box 8"/>
          <p:cNvSpPr txBox="1"/>
          <p:nvPr/>
        </p:nvSpPr>
        <p:spPr>
          <a:xfrm>
            <a:off x="5071110" y="6073775"/>
            <a:ext cx="57594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rgbClr val="FFC000"/>
                </a:solidFill>
              </a:rPr>
              <a:t>d4</a:t>
            </a:r>
          </a:p>
        </p:txBody>
      </p:sp>
      <p:cxnSp>
        <p:nvCxnSpPr>
          <p:cNvPr id="10" name="Straight Arrow Connector 9"/>
          <p:cNvCxnSpPr>
            <a:endCxn id="3" idx="0"/>
          </p:cNvCxnSpPr>
          <p:nvPr/>
        </p:nvCxnSpPr>
        <p:spPr>
          <a:xfrm flipH="1">
            <a:off x="2969260" y="4929505"/>
            <a:ext cx="425450" cy="1351280"/>
          </a:xfrm>
          <a:prstGeom prst="straightConnector1">
            <a:avLst/>
          </a:prstGeom>
          <a:ln w="31750" cap="rnd">
            <a:solidFill>
              <a:srgbClr val="FFC000"/>
            </a:solidFill>
            <a:round/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8" name="Text Box 27"/>
          <p:cNvSpPr txBox="1"/>
          <p:nvPr/>
        </p:nvSpPr>
        <p:spPr>
          <a:xfrm>
            <a:off x="7329170" y="3732530"/>
            <a:ext cx="22688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chemeClr val="accent1"/>
                </a:solidFill>
              </a:rPr>
              <a:t>Max Value = 6</a:t>
            </a:r>
          </a:p>
        </p:txBody>
      </p:sp>
      <p:sp>
        <p:nvSpPr>
          <p:cNvPr id="29" name="Text Box 28"/>
          <p:cNvSpPr txBox="1"/>
          <p:nvPr/>
        </p:nvSpPr>
        <p:spPr>
          <a:xfrm>
            <a:off x="7329170" y="4319905"/>
            <a:ext cx="22688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chemeClr val="accent1"/>
                </a:solidFill>
              </a:rPr>
              <a:t>Min Value = 4</a:t>
            </a:r>
          </a:p>
        </p:txBody>
      </p:sp>
      <p:sp>
        <p:nvSpPr>
          <p:cNvPr id="30" name="Text Box 29"/>
          <p:cNvSpPr txBox="1"/>
          <p:nvPr/>
        </p:nvSpPr>
        <p:spPr>
          <a:xfrm>
            <a:off x="6801485" y="5026660"/>
            <a:ext cx="139827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chemeClr val="accent1"/>
                </a:solidFill>
                <a:sym typeface="+mn-ea"/>
              </a:rPr>
              <a:t>|6-4|=2</a:t>
            </a:r>
          </a:p>
        </p:txBody>
      </p:sp>
      <p:sp>
        <p:nvSpPr>
          <p:cNvPr id="31" name="Text Box 30"/>
          <p:cNvSpPr txBox="1"/>
          <p:nvPr/>
        </p:nvSpPr>
        <p:spPr>
          <a:xfrm>
            <a:off x="8199755" y="5026660"/>
            <a:ext cx="139827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400">
                <a:solidFill>
                  <a:schemeClr val="accent1"/>
                </a:solidFill>
              </a:rPr>
              <a:t>&lt;=3</a:t>
            </a:r>
          </a:p>
        </p:txBody>
      </p:sp>
      <p:sp>
        <p:nvSpPr>
          <p:cNvPr id="32" name="Text Box 31"/>
          <p:cNvSpPr txBox="1"/>
          <p:nvPr/>
        </p:nvSpPr>
        <p:spPr>
          <a:xfrm>
            <a:off x="9598025" y="5026660"/>
            <a:ext cx="508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400">
                <a:solidFill>
                  <a:srgbClr val="92D050"/>
                </a:solidFill>
                <a:sym typeface="+mn-ea"/>
              </a:rPr>
              <a:t>✔</a:t>
            </a:r>
            <a:endParaRPr lang="en-US" sz="2400">
              <a:solidFill>
                <a:srgbClr val="FF0000"/>
              </a:solidFill>
              <a:sym typeface="+mn-ea"/>
            </a:endParaRPr>
          </a:p>
        </p:txBody>
      </p:sp>
      <p:sp>
        <p:nvSpPr>
          <p:cNvPr id="33" name="Text Box 32"/>
          <p:cNvSpPr txBox="1"/>
          <p:nvPr/>
        </p:nvSpPr>
        <p:spPr>
          <a:xfrm>
            <a:off x="7329170" y="3212465"/>
            <a:ext cx="22688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chemeClr val="accent1"/>
                </a:solidFill>
              </a:rPr>
              <a:t>For Region b4,</a:t>
            </a:r>
          </a:p>
        </p:txBody>
      </p:sp>
      <p:sp>
        <p:nvSpPr>
          <p:cNvPr id="34" name="Text Box 33"/>
          <p:cNvSpPr txBox="1"/>
          <p:nvPr/>
        </p:nvSpPr>
        <p:spPr>
          <a:xfrm>
            <a:off x="3486150" y="2426970"/>
            <a:ext cx="57594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chemeClr val="accent1"/>
                </a:solidFill>
              </a:rPr>
              <a:t>b1</a:t>
            </a:r>
          </a:p>
        </p:txBody>
      </p:sp>
      <p:sp>
        <p:nvSpPr>
          <p:cNvPr id="35" name="Text Box 34"/>
          <p:cNvSpPr txBox="1"/>
          <p:nvPr/>
        </p:nvSpPr>
        <p:spPr>
          <a:xfrm>
            <a:off x="4968875" y="2435860"/>
            <a:ext cx="57594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chemeClr val="accent1"/>
                </a:solidFill>
              </a:rPr>
              <a:t>b2</a:t>
            </a:r>
          </a:p>
        </p:txBody>
      </p:sp>
      <p:sp>
        <p:nvSpPr>
          <p:cNvPr id="36" name="Text Box 35"/>
          <p:cNvSpPr txBox="1"/>
          <p:nvPr/>
        </p:nvSpPr>
        <p:spPr>
          <a:xfrm>
            <a:off x="5071110" y="3952240"/>
            <a:ext cx="57594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chemeClr val="accent1"/>
                </a:solidFill>
              </a:rPr>
              <a:t>b4</a:t>
            </a:r>
          </a:p>
        </p:txBody>
      </p:sp>
      <p:sp>
        <p:nvSpPr>
          <p:cNvPr id="37" name="Text Box 36"/>
          <p:cNvSpPr txBox="1"/>
          <p:nvPr/>
        </p:nvSpPr>
        <p:spPr>
          <a:xfrm>
            <a:off x="2588260" y="2426970"/>
            <a:ext cx="57594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chemeClr val="accent1"/>
                </a:solidFill>
              </a:rPr>
              <a:t>b3</a:t>
            </a:r>
          </a:p>
        </p:txBody>
      </p:sp>
      <p:cxnSp>
        <p:nvCxnSpPr>
          <p:cNvPr id="38" name="Straight Arrow Connector 37"/>
          <p:cNvCxnSpPr>
            <a:endCxn id="37" idx="2"/>
          </p:cNvCxnSpPr>
          <p:nvPr/>
        </p:nvCxnSpPr>
        <p:spPr>
          <a:xfrm flipH="1" flipV="1">
            <a:off x="2876550" y="2887345"/>
            <a:ext cx="518160" cy="1267460"/>
          </a:xfrm>
          <a:prstGeom prst="straightConnector1">
            <a:avLst/>
          </a:prstGeom>
          <a:ln w="31750" cap="rnd">
            <a:solidFill>
              <a:schemeClr val="accent1"/>
            </a:solidFill>
            <a:round/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5" grpId="0"/>
      <p:bldP spid="3" grpId="0"/>
      <p:bldP spid="7" grpId="0"/>
      <p:bldP spid="8" grpId="0"/>
      <p:bldP spid="9" grpId="0"/>
      <p:bldP spid="28" grpId="0"/>
      <p:bldP spid="28" grpId="1"/>
      <p:bldP spid="29" grpId="0"/>
      <p:bldP spid="29" grpId="1"/>
      <p:bldP spid="30" grpId="0"/>
      <p:bldP spid="30" grpId="1"/>
      <p:bldP spid="31" grpId="0"/>
      <p:bldP spid="31" grpId="1"/>
      <p:bldP spid="32" grpId="0"/>
      <p:bldP spid="32" grpId="1"/>
      <p:bldP spid="33" grpId="0"/>
      <p:bldP spid="33" grpId="1"/>
    </p:bldLst>
  </p:timing>
</p:sld>
</file>

<file path=ppt/slides/slide1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ym typeface="+mn-ea"/>
              </a:rPr>
              <a:t>Region Splitting</a:t>
            </a:r>
            <a:endParaRPr lang="en-US"/>
          </a:p>
        </p:txBody>
      </p:sp>
      <p:graphicFrame>
        <p:nvGraphicFramePr>
          <p:cNvPr id="4" name="Table 3"/>
          <p:cNvGraphicFramePr/>
          <p:nvPr>
            <p:custDataLst>
              <p:tags r:id="rId1"/>
            </p:custDataLst>
          </p:nvPr>
        </p:nvGraphicFramePr>
        <p:xfrm>
          <a:off x="1838325" y="3025775"/>
          <a:ext cx="3098800" cy="3048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87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73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73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73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873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873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873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873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chemeClr val="accent4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chemeClr val="accent4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Text Box 4"/>
          <p:cNvSpPr txBox="1"/>
          <p:nvPr/>
        </p:nvSpPr>
        <p:spPr>
          <a:xfrm>
            <a:off x="996950" y="1616075"/>
            <a:ext cx="1040574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400">
                <a:sym typeface="+mn-ea"/>
              </a:rPr>
              <a:t>Apply the region splitting and merging on the following image with threshold value equal to 3.</a:t>
            </a:r>
            <a:endParaRPr lang="en-US" sz="2400"/>
          </a:p>
        </p:txBody>
      </p:sp>
      <p:sp>
        <p:nvSpPr>
          <p:cNvPr id="6" name="Text Box 5"/>
          <p:cNvSpPr txBox="1"/>
          <p:nvPr/>
        </p:nvSpPr>
        <p:spPr>
          <a:xfrm>
            <a:off x="1152525" y="3562350"/>
            <a:ext cx="57594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rgbClr val="FF0000"/>
                </a:solidFill>
              </a:rPr>
              <a:t>a</a:t>
            </a:r>
          </a:p>
        </p:txBody>
      </p:sp>
      <p:sp>
        <p:nvSpPr>
          <p:cNvPr id="15" name="Text Box 14"/>
          <p:cNvSpPr txBox="1"/>
          <p:nvPr/>
        </p:nvSpPr>
        <p:spPr>
          <a:xfrm>
            <a:off x="1152525" y="5000625"/>
            <a:ext cx="57594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rgbClr val="92D050"/>
                </a:solidFill>
              </a:rPr>
              <a:t>c</a:t>
            </a:r>
          </a:p>
        </p:txBody>
      </p:sp>
      <p:sp>
        <p:nvSpPr>
          <p:cNvPr id="3" name="Text Box 2"/>
          <p:cNvSpPr txBox="1"/>
          <p:nvPr/>
        </p:nvSpPr>
        <p:spPr>
          <a:xfrm>
            <a:off x="2680970" y="6280785"/>
            <a:ext cx="57594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rgbClr val="FFC000"/>
                </a:solidFill>
              </a:rPr>
              <a:t>d1</a:t>
            </a:r>
          </a:p>
        </p:txBody>
      </p:sp>
      <p:sp>
        <p:nvSpPr>
          <p:cNvPr id="7" name="Text Box 6"/>
          <p:cNvSpPr txBox="1"/>
          <p:nvPr/>
        </p:nvSpPr>
        <p:spPr>
          <a:xfrm>
            <a:off x="5202555" y="4665980"/>
            <a:ext cx="57594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rgbClr val="FFC000"/>
                </a:solidFill>
              </a:rPr>
              <a:t>d2</a:t>
            </a:r>
          </a:p>
        </p:txBody>
      </p:sp>
      <p:sp>
        <p:nvSpPr>
          <p:cNvPr id="8" name="Text Box 7"/>
          <p:cNvSpPr txBox="1"/>
          <p:nvPr/>
        </p:nvSpPr>
        <p:spPr>
          <a:xfrm>
            <a:off x="3475990" y="6203950"/>
            <a:ext cx="57594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rgbClr val="FFC000"/>
                </a:solidFill>
              </a:rPr>
              <a:t>d3</a:t>
            </a:r>
          </a:p>
        </p:txBody>
      </p:sp>
      <p:sp>
        <p:nvSpPr>
          <p:cNvPr id="9" name="Text Box 8"/>
          <p:cNvSpPr txBox="1"/>
          <p:nvPr/>
        </p:nvSpPr>
        <p:spPr>
          <a:xfrm>
            <a:off x="5071110" y="6073775"/>
            <a:ext cx="57594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rgbClr val="FFC000"/>
                </a:solidFill>
              </a:rPr>
              <a:t>d4</a:t>
            </a:r>
          </a:p>
        </p:txBody>
      </p:sp>
      <p:cxnSp>
        <p:nvCxnSpPr>
          <p:cNvPr id="10" name="Straight Arrow Connector 9"/>
          <p:cNvCxnSpPr>
            <a:endCxn id="3" idx="0"/>
          </p:cNvCxnSpPr>
          <p:nvPr/>
        </p:nvCxnSpPr>
        <p:spPr>
          <a:xfrm flipH="1">
            <a:off x="2969260" y="4929505"/>
            <a:ext cx="425450" cy="1351280"/>
          </a:xfrm>
          <a:prstGeom prst="straightConnector1">
            <a:avLst/>
          </a:prstGeom>
          <a:ln w="31750" cap="rnd">
            <a:solidFill>
              <a:srgbClr val="FFC000"/>
            </a:solidFill>
            <a:round/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8" name="Text Box 27"/>
          <p:cNvSpPr txBox="1"/>
          <p:nvPr/>
        </p:nvSpPr>
        <p:spPr>
          <a:xfrm>
            <a:off x="7329170" y="3732530"/>
            <a:ext cx="22688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rgbClr val="FFC000"/>
                </a:solidFill>
              </a:rPr>
              <a:t>Max Value = 3</a:t>
            </a:r>
          </a:p>
        </p:txBody>
      </p:sp>
      <p:sp>
        <p:nvSpPr>
          <p:cNvPr id="29" name="Text Box 28"/>
          <p:cNvSpPr txBox="1"/>
          <p:nvPr/>
        </p:nvSpPr>
        <p:spPr>
          <a:xfrm>
            <a:off x="7329170" y="4319905"/>
            <a:ext cx="22688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rgbClr val="FFC000"/>
                </a:solidFill>
              </a:rPr>
              <a:t>Min Value = 2</a:t>
            </a:r>
          </a:p>
        </p:txBody>
      </p:sp>
      <p:sp>
        <p:nvSpPr>
          <p:cNvPr id="30" name="Text Box 29"/>
          <p:cNvSpPr txBox="1"/>
          <p:nvPr/>
        </p:nvSpPr>
        <p:spPr>
          <a:xfrm>
            <a:off x="6801485" y="5026660"/>
            <a:ext cx="139827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rgbClr val="FFC000"/>
                </a:solidFill>
                <a:sym typeface="+mn-ea"/>
              </a:rPr>
              <a:t>|3-2|=1</a:t>
            </a:r>
          </a:p>
        </p:txBody>
      </p:sp>
      <p:sp>
        <p:nvSpPr>
          <p:cNvPr id="31" name="Text Box 30"/>
          <p:cNvSpPr txBox="1"/>
          <p:nvPr/>
        </p:nvSpPr>
        <p:spPr>
          <a:xfrm>
            <a:off x="8199755" y="5026660"/>
            <a:ext cx="139827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400">
                <a:solidFill>
                  <a:srgbClr val="FFC000"/>
                </a:solidFill>
              </a:rPr>
              <a:t>&lt;=3</a:t>
            </a:r>
          </a:p>
        </p:txBody>
      </p:sp>
      <p:sp>
        <p:nvSpPr>
          <p:cNvPr id="32" name="Text Box 31"/>
          <p:cNvSpPr txBox="1"/>
          <p:nvPr/>
        </p:nvSpPr>
        <p:spPr>
          <a:xfrm>
            <a:off x="9598025" y="5026660"/>
            <a:ext cx="508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400">
                <a:solidFill>
                  <a:srgbClr val="92D050"/>
                </a:solidFill>
                <a:sym typeface="+mn-ea"/>
              </a:rPr>
              <a:t>✔</a:t>
            </a:r>
            <a:endParaRPr lang="en-US" sz="2400">
              <a:solidFill>
                <a:srgbClr val="FF0000"/>
              </a:solidFill>
              <a:sym typeface="+mn-ea"/>
            </a:endParaRPr>
          </a:p>
        </p:txBody>
      </p:sp>
      <p:sp>
        <p:nvSpPr>
          <p:cNvPr id="33" name="Text Box 32"/>
          <p:cNvSpPr txBox="1"/>
          <p:nvPr/>
        </p:nvSpPr>
        <p:spPr>
          <a:xfrm>
            <a:off x="7329170" y="3212465"/>
            <a:ext cx="22688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rgbClr val="FFC000"/>
                </a:solidFill>
              </a:rPr>
              <a:t>For Region d1,</a:t>
            </a:r>
          </a:p>
        </p:txBody>
      </p:sp>
      <p:sp>
        <p:nvSpPr>
          <p:cNvPr id="34" name="Text Box 33"/>
          <p:cNvSpPr txBox="1"/>
          <p:nvPr/>
        </p:nvSpPr>
        <p:spPr>
          <a:xfrm>
            <a:off x="3486150" y="2426970"/>
            <a:ext cx="57594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chemeClr val="accent1"/>
                </a:solidFill>
              </a:rPr>
              <a:t>b1</a:t>
            </a:r>
          </a:p>
        </p:txBody>
      </p:sp>
      <p:sp>
        <p:nvSpPr>
          <p:cNvPr id="35" name="Text Box 34"/>
          <p:cNvSpPr txBox="1"/>
          <p:nvPr/>
        </p:nvSpPr>
        <p:spPr>
          <a:xfrm>
            <a:off x="4968875" y="2435860"/>
            <a:ext cx="57594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chemeClr val="accent1"/>
                </a:solidFill>
              </a:rPr>
              <a:t>b2</a:t>
            </a:r>
          </a:p>
        </p:txBody>
      </p:sp>
      <p:sp>
        <p:nvSpPr>
          <p:cNvPr id="36" name="Text Box 35"/>
          <p:cNvSpPr txBox="1"/>
          <p:nvPr/>
        </p:nvSpPr>
        <p:spPr>
          <a:xfrm>
            <a:off x="5071110" y="3952240"/>
            <a:ext cx="57594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chemeClr val="accent1"/>
                </a:solidFill>
              </a:rPr>
              <a:t>b4</a:t>
            </a:r>
          </a:p>
        </p:txBody>
      </p:sp>
      <p:sp>
        <p:nvSpPr>
          <p:cNvPr id="37" name="Text Box 36"/>
          <p:cNvSpPr txBox="1"/>
          <p:nvPr/>
        </p:nvSpPr>
        <p:spPr>
          <a:xfrm>
            <a:off x="2588260" y="2426970"/>
            <a:ext cx="57594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chemeClr val="accent1"/>
                </a:solidFill>
              </a:rPr>
              <a:t>b3</a:t>
            </a:r>
          </a:p>
        </p:txBody>
      </p:sp>
      <p:cxnSp>
        <p:nvCxnSpPr>
          <p:cNvPr id="38" name="Straight Arrow Connector 37"/>
          <p:cNvCxnSpPr>
            <a:endCxn id="37" idx="2"/>
          </p:cNvCxnSpPr>
          <p:nvPr/>
        </p:nvCxnSpPr>
        <p:spPr>
          <a:xfrm flipH="1" flipV="1">
            <a:off x="2876550" y="2887345"/>
            <a:ext cx="518160" cy="1267460"/>
          </a:xfrm>
          <a:prstGeom prst="straightConnector1">
            <a:avLst/>
          </a:prstGeom>
          <a:ln w="31750" cap="rnd">
            <a:solidFill>
              <a:schemeClr val="accent1"/>
            </a:solidFill>
            <a:round/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5" grpId="0"/>
      <p:bldP spid="3" grpId="0"/>
      <p:bldP spid="7" grpId="0"/>
      <p:bldP spid="8" grpId="0"/>
      <p:bldP spid="9" grpId="0"/>
      <p:bldP spid="28" grpId="0"/>
      <p:bldP spid="28" grpId="1"/>
      <p:bldP spid="29" grpId="0"/>
      <p:bldP spid="29" grpId="1"/>
      <p:bldP spid="30" grpId="0"/>
      <p:bldP spid="30" grpId="1"/>
      <p:bldP spid="31" grpId="0"/>
      <p:bldP spid="31" grpId="1"/>
      <p:bldP spid="32" grpId="0"/>
      <p:bldP spid="32" grpId="1"/>
      <p:bldP spid="33" grpId="0"/>
      <p:bldP spid="33" grpId="1"/>
    </p:bldLst>
  </p:timing>
</p:sld>
</file>

<file path=ppt/slides/slide1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ym typeface="+mn-ea"/>
              </a:rPr>
              <a:t>Region Splitting</a:t>
            </a:r>
            <a:endParaRPr lang="en-US"/>
          </a:p>
        </p:txBody>
      </p:sp>
      <p:graphicFrame>
        <p:nvGraphicFramePr>
          <p:cNvPr id="4" name="Table 3"/>
          <p:cNvGraphicFramePr/>
          <p:nvPr>
            <p:custDataLst>
              <p:tags r:id="rId1"/>
            </p:custDataLst>
          </p:nvPr>
        </p:nvGraphicFramePr>
        <p:xfrm>
          <a:off x="1838325" y="3025775"/>
          <a:ext cx="3098800" cy="3048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87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73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73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73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873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873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873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873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chemeClr val="accent4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chemeClr val="accent4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Text Box 4"/>
          <p:cNvSpPr txBox="1"/>
          <p:nvPr/>
        </p:nvSpPr>
        <p:spPr>
          <a:xfrm>
            <a:off x="996950" y="1616075"/>
            <a:ext cx="1040574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400">
                <a:sym typeface="+mn-ea"/>
              </a:rPr>
              <a:t>Apply the region splitting and merging on the following image with threshold value equal to 3.</a:t>
            </a:r>
            <a:endParaRPr lang="en-US" sz="2400"/>
          </a:p>
        </p:txBody>
      </p:sp>
      <p:sp>
        <p:nvSpPr>
          <p:cNvPr id="6" name="Text Box 5"/>
          <p:cNvSpPr txBox="1"/>
          <p:nvPr/>
        </p:nvSpPr>
        <p:spPr>
          <a:xfrm>
            <a:off x="1152525" y="3562350"/>
            <a:ext cx="57594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rgbClr val="FF0000"/>
                </a:solidFill>
              </a:rPr>
              <a:t>a</a:t>
            </a:r>
          </a:p>
        </p:txBody>
      </p:sp>
      <p:sp>
        <p:nvSpPr>
          <p:cNvPr id="15" name="Text Box 14"/>
          <p:cNvSpPr txBox="1"/>
          <p:nvPr/>
        </p:nvSpPr>
        <p:spPr>
          <a:xfrm>
            <a:off x="1152525" y="5000625"/>
            <a:ext cx="57594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rgbClr val="92D050"/>
                </a:solidFill>
              </a:rPr>
              <a:t>c</a:t>
            </a:r>
          </a:p>
        </p:txBody>
      </p:sp>
      <p:sp>
        <p:nvSpPr>
          <p:cNvPr id="3" name="Text Box 2"/>
          <p:cNvSpPr txBox="1"/>
          <p:nvPr/>
        </p:nvSpPr>
        <p:spPr>
          <a:xfrm>
            <a:off x="2680970" y="6280785"/>
            <a:ext cx="57594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rgbClr val="FFC000"/>
                </a:solidFill>
              </a:rPr>
              <a:t>d1</a:t>
            </a:r>
          </a:p>
        </p:txBody>
      </p:sp>
      <p:sp>
        <p:nvSpPr>
          <p:cNvPr id="7" name="Text Box 6"/>
          <p:cNvSpPr txBox="1"/>
          <p:nvPr/>
        </p:nvSpPr>
        <p:spPr>
          <a:xfrm>
            <a:off x="5202555" y="4665980"/>
            <a:ext cx="57594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rgbClr val="FFC000"/>
                </a:solidFill>
              </a:rPr>
              <a:t>d2</a:t>
            </a:r>
          </a:p>
        </p:txBody>
      </p:sp>
      <p:sp>
        <p:nvSpPr>
          <p:cNvPr id="8" name="Text Box 7"/>
          <p:cNvSpPr txBox="1"/>
          <p:nvPr/>
        </p:nvSpPr>
        <p:spPr>
          <a:xfrm>
            <a:off x="3475990" y="6203950"/>
            <a:ext cx="57594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rgbClr val="FFC000"/>
                </a:solidFill>
              </a:rPr>
              <a:t>d3</a:t>
            </a:r>
          </a:p>
        </p:txBody>
      </p:sp>
      <p:sp>
        <p:nvSpPr>
          <p:cNvPr id="9" name="Text Box 8"/>
          <p:cNvSpPr txBox="1"/>
          <p:nvPr/>
        </p:nvSpPr>
        <p:spPr>
          <a:xfrm>
            <a:off x="5071110" y="6073775"/>
            <a:ext cx="57594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rgbClr val="FFC000"/>
                </a:solidFill>
              </a:rPr>
              <a:t>d4</a:t>
            </a:r>
          </a:p>
        </p:txBody>
      </p:sp>
      <p:cxnSp>
        <p:nvCxnSpPr>
          <p:cNvPr id="10" name="Straight Arrow Connector 9"/>
          <p:cNvCxnSpPr>
            <a:endCxn id="3" idx="0"/>
          </p:cNvCxnSpPr>
          <p:nvPr/>
        </p:nvCxnSpPr>
        <p:spPr>
          <a:xfrm flipH="1">
            <a:off x="2969260" y="4929505"/>
            <a:ext cx="425450" cy="1351280"/>
          </a:xfrm>
          <a:prstGeom prst="straightConnector1">
            <a:avLst/>
          </a:prstGeom>
          <a:ln w="31750" cap="rnd">
            <a:solidFill>
              <a:srgbClr val="FFC000"/>
            </a:solidFill>
            <a:round/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8" name="Text Box 27"/>
          <p:cNvSpPr txBox="1"/>
          <p:nvPr/>
        </p:nvSpPr>
        <p:spPr>
          <a:xfrm>
            <a:off x="7329170" y="3732530"/>
            <a:ext cx="22688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rgbClr val="FFC000"/>
                </a:solidFill>
              </a:rPr>
              <a:t>Max Value = 7</a:t>
            </a:r>
          </a:p>
        </p:txBody>
      </p:sp>
      <p:sp>
        <p:nvSpPr>
          <p:cNvPr id="29" name="Text Box 28"/>
          <p:cNvSpPr txBox="1"/>
          <p:nvPr/>
        </p:nvSpPr>
        <p:spPr>
          <a:xfrm>
            <a:off x="7329170" y="4319905"/>
            <a:ext cx="22688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rgbClr val="FFC000"/>
                </a:solidFill>
              </a:rPr>
              <a:t>Min Value = 4</a:t>
            </a:r>
          </a:p>
        </p:txBody>
      </p:sp>
      <p:sp>
        <p:nvSpPr>
          <p:cNvPr id="30" name="Text Box 29"/>
          <p:cNvSpPr txBox="1"/>
          <p:nvPr/>
        </p:nvSpPr>
        <p:spPr>
          <a:xfrm>
            <a:off x="6801485" y="5026660"/>
            <a:ext cx="139827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rgbClr val="FFC000"/>
                </a:solidFill>
                <a:sym typeface="+mn-ea"/>
              </a:rPr>
              <a:t>|7-4|=3</a:t>
            </a:r>
          </a:p>
        </p:txBody>
      </p:sp>
      <p:sp>
        <p:nvSpPr>
          <p:cNvPr id="31" name="Text Box 30"/>
          <p:cNvSpPr txBox="1"/>
          <p:nvPr/>
        </p:nvSpPr>
        <p:spPr>
          <a:xfrm>
            <a:off x="8199755" y="5026660"/>
            <a:ext cx="139827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400">
                <a:solidFill>
                  <a:srgbClr val="FFC000"/>
                </a:solidFill>
              </a:rPr>
              <a:t>&lt;=3</a:t>
            </a:r>
          </a:p>
        </p:txBody>
      </p:sp>
      <p:sp>
        <p:nvSpPr>
          <p:cNvPr id="32" name="Text Box 31"/>
          <p:cNvSpPr txBox="1"/>
          <p:nvPr/>
        </p:nvSpPr>
        <p:spPr>
          <a:xfrm>
            <a:off x="9598025" y="5026660"/>
            <a:ext cx="508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400">
                <a:solidFill>
                  <a:srgbClr val="92D050"/>
                </a:solidFill>
                <a:sym typeface="+mn-ea"/>
              </a:rPr>
              <a:t>✔</a:t>
            </a:r>
            <a:endParaRPr lang="en-US" sz="2400">
              <a:solidFill>
                <a:srgbClr val="FF0000"/>
              </a:solidFill>
              <a:sym typeface="+mn-ea"/>
            </a:endParaRPr>
          </a:p>
        </p:txBody>
      </p:sp>
      <p:sp>
        <p:nvSpPr>
          <p:cNvPr id="33" name="Text Box 32"/>
          <p:cNvSpPr txBox="1"/>
          <p:nvPr/>
        </p:nvSpPr>
        <p:spPr>
          <a:xfrm>
            <a:off x="7329170" y="3212465"/>
            <a:ext cx="22688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rgbClr val="FFC000"/>
                </a:solidFill>
              </a:rPr>
              <a:t>For Region d2,</a:t>
            </a:r>
          </a:p>
        </p:txBody>
      </p:sp>
      <p:sp>
        <p:nvSpPr>
          <p:cNvPr id="34" name="Text Box 33"/>
          <p:cNvSpPr txBox="1"/>
          <p:nvPr/>
        </p:nvSpPr>
        <p:spPr>
          <a:xfrm>
            <a:off x="3486150" y="2426970"/>
            <a:ext cx="57594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chemeClr val="accent1"/>
                </a:solidFill>
              </a:rPr>
              <a:t>b1</a:t>
            </a:r>
          </a:p>
        </p:txBody>
      </p:sp>
      <p:sp>
        <p:nvSpPr>
          <p:cNvPr id="35" name="Text Box 34"/>
          <p:cNvSpPr txBox="1"/>
          <p:nvPr/>
        </p:nvSpPr>
        <p:spPr>
          <a:xfrm>
            <a:off x="4968875" y="2435860"/>
            <a:ext cx="57594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chemeClr val="accent1"/>
                </a:solidFill>
              </a:rPr>
              <a:t>b2</a:t>
            </a:r>
          </a:p>
        </p:txBody>
      </p:sp>
      <p:sp>
        <p:nvSpPr>
          <p:cNvPr id="36" name="Text Box 35"/>
          <p:cNvSpPr txBox="1"/>
          <p:nvPr/>
        </p:nvSpPr>
        <p:spPr>
          <a:xfrm>
            <a:off x="5071110" y="3952240"/>
            <a:ext cx="57594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chemeClr val="accent1"/>
                </a:solidFill>
              </a:rPr>
              <a:t>b4</a:t>
            </a:r>
          </a:p>
        </p:txBody>
      </p:sp>
      <p:sp>
        <p:nvSpPr>
          <p:cNvPr id="37" name="Text Box 36"/>
          <p:cNvSpPr txBox="1"/>
          <p:nvPr/>
        </p:nvSpPr>
        <p:spPr>
          <a:xfrm>
            <a:off x="2588260" y="2426970"/>
            <a:ext cx="57594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chemeClr val="accent1"/>
                </a:solidFill>
              </a:rPr>
              <a:t>b3</a:t>
            </a:r>
          </a:p>
        </p:txBody>
      </p:sp>
      <p:cxnSp>
        <p:nvCxnSpPr>
          <p:cNvPr id="38" name="Straight Arrow Connector 37"/>
          <p:cNvCxnSpPr>
            <a:endCxn id="37" idx="2"/>
          </p:cNvCxnSpPr>
          <p:nvPr/>
        </p:nvCxnSpPr>
        <p:spPr>
          <a:xfrm flipH="1" flipV="1">
            <a:off x="2876550" y="2887345"/>
            <a:ext cx="518160" cy="1267460"/>
          </a:xfrm>
          <a:prstGeom prst="straightConnector1">
            <a:avLst/>
          </a:prstGeom>
          <a:ln w="31750" cap="rnd">
            <a:solidFill>
              <a:schemeClr val="accent1"/>
            </a:solidFill>
            <a:round/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5" grpId="0"/>
      <p:bldP spid="3" grpId="0"/>
      <p:bldP spid="7" grpId="0"/>
      <p:bldP spid="8" grpId="0"/>
      <p:bldP spid="9" grpId="0"/>
      <p:bldP spid="28" grpId="0"/>
      <p:bldP spid="28" grpId="1"/>
      <p:bldP spid="29" grpId="0"/>
      <p:bldP spid="29" grpId="1"/>
      <p:bldP spid="30" grpId="0"/>
      <p:bldP spid="30" grpId="1"/>
      <p:bldP spid="31" grpId="0"/>
      <p:bldP spid="31" grpId="1"/>
      <p:bldP spid="32" grpId="0"/>
      <p:bldP spid="32" grpId="1"/>
      <p:bldP spid="33" grpId="0"/>
      <p:bldP spid="33" grpId="1"/>
    </p:bldLst>
  </p:timing>
</p:sld>
</file>

<file path=ppt/slides/slide1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ym typeface="+mn-ea"/>
              </a:rPr>
              <a:t>Region Splitting</a:t>
            </a:r>
            <a:endParaRPr lang="en-US"/>
          </a:p>
        </p:txBody>
      </p:sp>
      <p:graphicFrame>
        <p:nvGraphicFramePr>
          <p:cNvPr id="4" name="Table 3"/>
          <p:cNvGraphicFramePr/>
          <p:nvPr>
            <p:custDataLst>
              <p:tags r:id="rId1"/>
            </p:custDataLst>
          </p:nvPr>
        </p:nvGraphicFramePr>
        <p:xfrm>
          <a:off x="1838325" y="3025775"/>
          <a:ext cx="3098800" cy="3048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87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73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73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73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873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873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873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873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chemeClr val="accent4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chemeClr val="accent4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Text Box 4"/>
          <p:cNvSpPr txBox="1"/>
          <p:nvPr/>
        </p:nvSpPr>
        <p:spPr>
          <a:xfrm>
            <a:off x="996950" y="1616075"/>
            <a:ext cx="1040574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400">
                <a:sym typeface="+mn-ea"/>
              </a:rPr>
              <a:t>Apply the region splitting and merging on the following image with threshold value equal to 3.</a:t>
            </a:r>
            <a:endParaRPr lang="en-US" sz="2400"/>
          </a:p>
        </p:txBody>
      </p:sp>
      <p:sp>
        <p:nvSpPr>
          <p:cNvPr id="6" name="Text Box 5"/>
          <p:cNvSpPr txBox="1"/>
          <p:nvPr/>
        </p:nvSpPr>
        <p:spPr>
          <a:xfrm>
            <a:off x="1152525" y="3562350"/>
            <a:ext cx="57594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rgbClr val="FF0000"/>
                </a:solidFill>
              </a:rPr>
              <a:t>a</a:t>
            </a:r>
          </a:p>
        </p:txBody>
      </p:sp>
      <p:sp>
        <p:nvSpPr>
          <p:cNvPr id="15" name="Text Box 14"/>
          <p:cNvSpPr txBox="1"/>
          <p:nvPr/>
        </p:nvSpPr>
        <p:spPr>
          <a:xfrm>
            <a:off x="1152525" y="5000625"/>
            <a:ext cx="57594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rgbClr val="92D050"/>
                </a:solidFill>
              </a:rPr>
              <a:t>c</a:t>
            </a:r>
          </a:p>
        </p:txBody>
      </p:sp>
      <p:sp>
        <p:nvSpPr>
          <p:cNvPr id="3" name="Text Box 2"/>
          <p:cNvSpPr txBox="1"/>
          <p:nvPr/>
        </p:nvSpPr>
        <p:spPr>
          <a:xfrm>
            <a:off x="2680970" y="6280785"/>
            <a:ext cx="57594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rgbClr val="FFC000"/>
                </a:solidFill>
              </a:rPr>
              <a:t>d1</a:t>
            </a:r>
          </a:p>
        </p:txBody>
      </p:sp>
      <p:sp>
        <p:nvSpPr>
          <p:cNvPr id="7" name="Text Box 6"/>
          <p:cNvSpPr txBox="1"/>
          <p:nvPr/>
        </p:nvSpPr>
        <p:spPr>
          <a:xfrm>
            <a:off x="5202555" y="4665980"/>
            <a:ext cx="57594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rgbClr val="FFC000"/>
                </a:solidFill>
              </a:rPr>
              <a:t>d2</a:t>
            </a:r>
          </a:p>
        </p:txBody>
      </p:sp>
      <p:sp>
        <p:nvSpPr>
          <p:cNvPr id="8" name="Text Box 7"/>
          <p:cNvSpPr txBox="1"/>
          <p:nvPr/>
        </p:nvSpPr>
        <p:spPr>
          <a:xfrm>
            <a:off x="3475990" y="6203950"/>
            <a:ext cx="57594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rgbClr val="FFC000"/>
                </a:solidFill>
              </a:rPr>
              <a:t>d3</a:t>
            </a:r>
          </a:p>
        </p:txBody>
      </p:sp>
      <p:sp>
        <p:nvSpPr>
          <p:cNvPr id="9" name="Text Box 8"/>
          <p:cNvSpPr txBox="1"/>
          <p:nvPr/>
        </p:nvSpPr>
        <p:spPr>
          <a:xfrm>
            <a:off x="5071110" y="6073775"/>
            <a:ext cx="57594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rgbClr val="FFC000"/>
                </a:solidFill>
              </a:rPr>
              <a:t>d4</a:t>
            </a:r>
          </a:p>
        </p:txBody>
      </p:sp>
      <p:cxnSp>
        <p:nvCxnSpPr>
          <p:cNvPr id="10" name="Straight Arrow Connector 9"/>
          <p:cNvCxnSpPr>
            <a:endCxn id="3" idx="0"/>
          </p:cNvCxnSpPr>
          <p:nvPr/>
        </p:nvCxnSpPr>
        <p:spPr>
          <a:xfrm flipH="1">
            <a:off x="2969260" y="4929505"/>
            <a:ext cx="425450" cy="1351280"/>
          </a:xfrm>
          <a:prstGeom prst="straightConnector1">
            <a:avLst/>
          </a:prstGeom>
          <a:ln w="31750" cap="rnd">
            <a:solidFill>
              <a:srgbClr val="FFC000"/>
            </a:solidFill>
            <a:round/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8" name="Text Box 27"/>
          <p:cNvSpPr txBox="1"/>
          <p:nvPr/>
        </p:nvSpPr>
        <p:spPr>
          <a:xfrm>
            <a:off x="7329170" y="3732530"/>
            <a:ext cx="22688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rgbClr val="FFC000"/>
                </a:solidFill>
              </a:rPr>
              <a:t>Max Value = 3</a:t>
            </a:r>
          </a:p>
        </p:txBody>
      </p:sp>
      <p:sp>
        <p:nvSpPr>
          <p:cNvPr id="29" name="Text Box 28"/>
          <p:cNvSpPr txBox="1"/>
          <p:nvPr/>
        </p:nvSpPr>
        <p:spPr>
          <a:xfrm>
            <a:off x="7329170" y="4319905"/>
            <a:ext cx="22688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rgbClr val="FFC000"/>
                </a:solidFill>
              </a:rPr>
              <a:t>Min Value = 0</a:t>
            </a:r>
          </a:p>
        </p:txBody>
      </p:sp>
      <p:sp>
        <p:nvSpPr>
          <p:cNvPr id="30" name="Text Box 29"/>
          <p:cNvSpPr txBox="1"/>
          <p:nvPr/>
        </p:nvSpPr>
        <p:spPr>
          <a:xfrm>
            <a:off x="6801485" y="5026660"/>
            <a:ext cx="139827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rgbClr val="FFC000"/>
                </a:solidFill>
                <a:sym typeface="+mn-ea"/>
              </a:rPr>
              <a:t>|3-0|=3</a:t>
            </a:r>
          </a:p>
        </p:txBody>
      </p:sp>
      <p:sp>
        <p:nvSpPr>
          <p:cNvPr id="31" name="Text Box 30"/>
          <p:cNvSpPr txBox="1"/>
          <p:nvPr/>
        </p:nvSpPr>
        <p:spPr>
          <a:xfrm>
            <a:off x="8199755" y="5026660"/>
            <a:ext cx="139827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400">
                <a:solidFill>
                  <a:srgbClr val="FFC000"/>
                </a:solidFill>
              </a:rPr>
              <a:t>&lt;=3</a:t>
            </a:r>
          </a:p>
        </p:txBody>
      </p:sp>
      <p:sp>
        <p:nvSpPr>
          <p:cNvPr id="32" name="Text Box 31"/>
          <p:cNvSpPr txBox="1"/>
          <p:nvPr/>
        </p:nvSpPr>
        <p:spPr>
          <a:xfrm>
            <a:off x="9598025" y="5026660"/>
            <a:ext cx="508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400">
                <a:solidFill>
                  <a:srgbClr val="92D050"/>
                </a:solidFill>
                <a:sym typeface="+mn-ea"/>
              </a:rPr>
              <a:t>✔</a:t>
            </a:r>
            <a:endParaRPr lang="en-US" sz="2400">
              <a:solidFill>
                <a:srgbClr val="FF0000"/>
              </a:solidFill>
              <a:sym typeface="+mn-ea"/>
            </a:endParaRPr>
          </a:p>
        </p:txBody>
      </p:sp>
      <p:sp>
        <p:nvSpPr>
          <p:cNvPr id="33" name="Text Box 32"/>
          <p:cNvSpPr txBox="1"/>
          <p:nvPr/>
        </p:nvSpPr>
        <p:spPr>
          <a:xfrm>
            <a:off x="7329170" y="3212465"/>
            <a:ext cx="22688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rgbClr val="FFC000"/>
                </a:solidFill>
              </a:rPr>
              <a:t>For Region d3,</a:t>
            </a:r>
          </a:p>
        </p:txBody>
      </p:sp>
      <p:sp>
        <p:nvSpPr>
          <p:cNvPr id="34" name="Text Box 33"/>
          <p:cNvSpPr txBox="1"/>
          <p:nvPr/>
        </p:nvSpPr>
        <p:spPr>
          <a:xfrm>
            <a:off x="3486150" y="2426970"/>
            <a:ext cx="57594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chemeClr val="accent1"/>
                </a:solidFill>
              </a:rPr>
              <a:t>b1</a:t>
            </a:r>
          </a:p>
        </p:txBody>
      </p:sp>
      <p:sp>
        <p:nvSpPr>
          <p:cNvPr id="35" name="Text Box 34"/>
          <p:cNvSpPr txBox="1"/>
          <p:nvPr/>
        </p:nvSpPr>
        <p:spPr>
          <a:xfrm>
            <a:off x="4968875" y="2435860"/>
            <a:ext cx="57594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chemeClr val="accent1"/>
                </a:solidFill>
              </a:rPr>
              <a:t>b2</a:t>
            </a:r>
          </a:p>
        </p:txBody>
      </p:sp>
      <p:sp>
        <p:nvSpPr>
          <p:cNvPr id="36" name="Text Box 35"/>
          <p:cNvSpPr txBox="1"/>
          <p:nvPr/>
        </p:nvSpPr>
        <p:spPr>
          <a:xfrm>
            <a:off x="5071110" y="3952240"/>
            <a:ext cx="57594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chemeClr val="accent1"/>
                </a:solidFill>
              </a:rPr>
              <a:t>b4</a:t>
            </a:r>
          </a:p>
        </p:txBody>
      </p:sp>
      <p:sp>
        <p:nvSpPr>
          <p:cNvPr id="37" name="Text Box 36"/>
          <p:cNvSpPr txBox="1"/>
          <p:nvPr/>
        </p:nvSpPr>
        <p:spPr>
          <a:xfrm>
            <a:off x="2588260" y="2426970"/>
            <a:ext cx="57594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chemeClr val="accent1"/>
                </a:solidFill>
              </a:rPr>
              <a:t>b3</a:t>
            </a:r>
          </a:p>
        </p:txBody>
      </p:sp>
      <p:cxnSp>
        <p:nvCxnSpPr>
          <p:cNvPr id="38" name="Straight Arrow Connector 37"/>
          <p:cNvCxnSpPr>
            <a:endCxn id="37" idx="2"/>
          </p:cNvCxnSpPr>
          <p:nvPr/>
        </p:nvCxnSpPr>
        <p:spPr>
          <a:xfrm flipH="1" flipV="1">
            <a:off x="2876550" y="2887345"/>
            <a:ext cx="518160" cy="1267460"/>
          </a:xfrm>
          <a:prstGeom prst="straightConnector1">
            <a:avLst/>
          </a:prstGeom>
          <a:ln w="31750" cap="rnd">
            <a:solidFill>
              <a:schemeClr val="accent1"/>
            </a:solidFill>
            <a:round/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5" grpId="0"/>
      <p:bldP spid="3" grpId="0"/>
      <p:bldP spid="7" grpId="0"/>
      <p:bldP spid="8" grpId="0"/>
      <p:bldP spid="9" grpId="0"/>
      <p:bldP spid="28" grpId="0"/>
      <p:bldP spid="28" grpId="1"/>
      <p:bldP spid="29" grpId="0"/>
      <p:bldP spid="29" grpId="1"/>
      <p:bldP spid="30" grpId="0"/>
      <p:bldP spid="30" grpId="1"/>
      <p:bldP spid="31" grpId="0"/>
      <p:bldP spid="31" grpId="1"/>
      <p:bldP spid="32" grpId="0"/>
      <p:bldP spid="32" grpId="1"/>
      <p:bldP spid="33" grpId="0"/>
      <p:bldP spid="33" grpId="1"/>
    </p:bldLst>
  </p:timing>
</p:sld>
</file>

<file path=ppt/slides/slide1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ym typeface="+mn-ea"/>
              </a:rPr>
              <a:t>Region Splitting</a:t>
            </a:r>
            <a:endParaRPr lang="en-US"/>
          </a:p>
        </p:txBody>
      </p:sp>
      <p:graphicFrame>
        <p:nvGraphicFramePr>
          <p:cNvPr id="4" name="Table 3"/>
          <p:cNvGraphicFramePr/>
          <p:nvPr>
            <p:custDataLst>
              <p:tags r:id="rId1"/>
            </p:custDataLst>
          </p:nvPr>
        </p:nvGraphicFramePr>
        <p:xfrm>
          <a:off x="1838325" y="3025775"/>
          <a:ext cx="3098800" cy="3048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87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73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73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73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873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873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873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873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chemeClr val="accent4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chemeClr val="accent4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Text Box 4"/>
          <p:cNvSpPr txBox="1"/>
          <p:nvPr/>
        </p:nvSpPr>
        <p:spPr>
          <a:xfrm>
            <a:off x="996950" y="1616075"/>
            <a:ext cx="1040574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400">
                <a:sym typeface="+mn-ea"/>
              </a:rPr>
              <a:t>Apply the region splitting and merging on the following image with threshold value equal to 3.</a:t>
            </a:r>
            <a:endParaRPr lang="en-US" sz="2400"/>
          </a:p>
        </p:txBody>
      </p:sp>
      <p:sp>
        <p:nvSpPr>
          <p:cNvPr id="6" name="Text Box 5"/>
          <p:cNvSpPr txBox="1"/>
          <p:nvPr/>
        </p:nvSpPr>
        <p:spPr>
          <a:xfrm>
            <a:off x="1152525" y="3562350"/>
            <a:ext cx="57594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rgbClr val="FF0000"/>
                </a:solidFill>
              </a:rPr>
              <a:t>a</a:t>
            </a:r>
          </a:p>
        </p:txBody>
      </p:sp>
      <p:sp>
        <p:nvSpPr>
          <p:cNvPr id="15" name="Text Box 14"/>
          <p:cNvSpPr txBox="1"/>
          <p:nvPr/>
        </p:nvSpPr>
        <p:spPr>
          <a:xfrm>
            <a:off x="1152525" y="5000625"/>
            <a:ext cx="57594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rgbClr val="92D050"/>
                </a:solidFill>
              </a:rPr>
              <a:t>c</a:t>
            </a:r>
          </a:p>
        </p:txBody>
      </p:sp>
      <p:sp>
        <p:nvSpPr>
          <p:cNvPr id="3" name="Text Box 2"/>
          <p:cNvSpPr txBox="1"/>
          <p:nvPr/>
        </p:nvSpPr>
        <p:spPr>
          <a:xfrm>
            <a:off x="2680970" y="6280785"/>
            <a:ext cx="57594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rgbClr val="FFC000"/>
                </a:solidFill>
              </a:rPr>
              <a:t>d1</a:t>
            </a:r>
          </a:p>
        </p:txBody>
      </p:sp>
      <p:sp>
        <p:nvSpPr>
          <p:cNvPr id="7" name="Text Box 6"/>
          <p:cNvSpPr txBox="1"/>
          <p:nvPr/>
        </p:nvSpPr>
        <p:spPr>
          <a:xfrm>
            <a:off x="5202555" y="4665980"/>
            <a:ext cx="57594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rgbClr val="FFC000"/>
                </a:solidFill>
              </a:rPr>
              <a:t>d2</a:t>
            </a:r>
          </a:p>
        </p:txBody>
      </p:sp>
      <p:sp>
        <p:nvSpPr>
          <p:cNvPr id="8" name="Text Box 7"/>
          <p:cNvSpPr txBox="1"/>
          <p:nvPr/>
        </p:nvSpPr>
        <p:spPr>
          <a:xfrm>
            <a:off x="3475990" y="6203950"/>
            <a:ext cx="57594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rgbClr val="FFC000"/>
                </a:solidFill>
              </a:rPr>
              <a:t>d3</a:t>
            </a:r>
          </a:p>
        </p:txBody>
      </p:sp>
      <p:sp>
        <p:nvSpPr>
          <p:cNvPr id="9" name="Text Box 8"/>
          <p:cNvSpPr txBox="1"/>
          <p:nvPr/>
        </p:nvSpPr>
        <p:spPr>
          <a:xfrm>
            <a:off x="5071110" y="6073775"/>
            <a:ext cx="57594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rgbClr val="FFC000"/>
                </a:solidFill>
              </a:rPr>
              <a:t>d4</a:t>
            </a:r>
          </a:p>
        </p:txBody>
      </p:sp>
      <p:cxnSp>
        <p:nvCxnSpPr>
          <p:cNvPr id="10" name="Straight Arrow Connector 9"/>
          <p:cNvCxnSpPr>
            <a:endCxn id="3" idx="0"/>
          </p:cNvCxnSpPr>
          <p:nvPr/>
        </p:nvCxnSpPr>
        <p:spPr>
          <a:xfrm flipH="1">
            <a:off x="2969260" y="4929505"/>
            <a:ext cx="425450" cy="1351280"/>
          </a:xfrm>
          <a:prstGeom prst="straightConnector1">
            <a:avLst/>
          </a:prstGeom>
          <a:ln w="31750" cap="rnd">
            <a:solidFill>
              <a:srgbClr val="FFC000"/>
            </a:solidFill>
            <a:round/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8" name="Text Box 27"/>
          <p:cNvSpPr txBox="1"/>
          <p:nvPr/>
        </p:nvSpPr>
        <p:spPr>
          <a:xfrm>
            <a:off x="7329170" y="3732530"/>
            <a:ext cx="22688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rgbClr val="FFC000"/>
                </a:solidFill>
              </a:rPr>
              <a:t>Max Value = 5</a:t>
            </a:r>
          </a:p>
        </p:txBody>
      </p:sp>
      <p:sp>
        <p:nvSpPr>
          <p:cNvPr id="29" name="Text Box 28"/>
          <p:cNvSpPr txBox="1"/>
          <p:nvPr/>
        </p:nvSpPr>
        <p:spPr>
          <a:xfrm>
            <a:off x="7329170" y="4319905"/>
            <a:ext cx="22688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rgbClr val="FFC000"/>
                </a:solidFill>
              </a:rPr>
              <a:t>Min Value = 4</a:t>
            </a:r>
          </a:p>
        </p:txBody>
      </p:sp>
      <p:sp>
        <p:nvSpPr>
          <p:cNvPr id="30" name="Text Box 29"/>
          <p:cNvSpPr txBox="1"/>
          <p:nvPr/>
        </p:nvSpPr>
        <p:spPr>
          <a:xfrm>
            <a:off x="6801485" y="5026660"/>
            <a:ext cx="139827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rgbClr val="FFC000"/>
                </a:solidFill>
                <a:sym typeface="+mn-ea"/>
              </a:rPr>
              <a:t>|5-4|=1</a:t>
            </a:r>
          </a:p>
        </p:txBody>
      </p:sp>
      <p:sp>
        <p:nvSpPr>
          <p:cNvPr id="31" name="Text Box 30"/>
          <p:cNvSpPr txBox="1"/>
          <p:nvPr/>
        </p:nvSpPr>
        <p:spPr>
          <a:xfrm>
            <a:off x="8199755" y="5026660"/>
            <a:ext cx="139827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400">
                <a:solidFill>
                  <a:srgbClr val="FFC000"/>
                </a:solidFill>
              </a:rPr>
              <a:t>&lt;=3</a:t>
            </a:r>
          </a:p>
        </p:txBody>
      </p:sp>
      <p:sp>
        <p:nvSpPr>
          <p:cNvPr id="32" name="Text Box 31"/>
          <p:cNvSpPr txBox="1"/>
          <p:nvPr/>
        </p:nvSpPr>
        <p:spPr>
          <a:xfrm>
            <a:off x="9598025" y="5026660"/>
            <a:ext cx="508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400">
                <a:solidFill>
                  <a:srgbClr val="92D050"/>
                </a:solidFill>
                <a:sym typeface="+mn-ea"/>
              </a:rPr>
              <a:t>✔</a:t>
            </a:r>
            <a:endParaRPr lang="en-US" sz="2400">
              <a:solidFill>
                <a:srgbClr val="FF0000"/>
              </a:solidFill>
              <a:sym typeface="+mn-ea"/>
            </a:endParaRPr>
          </a:p>
        </p:txBody>
      </p:sp>
      <p:sp>
        <p:nvSpPr>
          <p:cNvPr id="33" name="Text Box 32"/>
          <p:cNvSpPr txBox="1"/>
          <p:nvPr/>
        </p:nvSpPr>
        <p:spPr>
          <a:xfrm>
            <a:off x="7329170" y="3212465"/>
            <a:ext cx="22688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rgbClr val="FFC000"/>
                </a:solidFill>
              </a:rPr>
              <a:t>For Region d4,</a:t>
            </a:r>
          </a:p>
        </p:txBody>
      </p:sp>
      <p:sp>
        <p:nvSpPr>
          <p:cNvPr id="34" name="Text Box 33"/>
          <p:cNvSpPr txBox="1"/>
          <p:nvPr/>
        </p:nvSpPr>
        <p:spPr>
          <a:xfrm>
            <a:off x="3486150" y="2426970"/>
            <a:ext cx="57594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chemeClr val="accent1"/>
                </a:solidFill>
              </a:rPr>
              <a:t>b1</a:t>
            </a:r>
          </a:p>
        </p:txBody>
      </p:sp>
      <p:sp>
        <p:nvSpPr>
          <p:cNvPr id="35" name="Text Box 34"/>
          <p:cNvSpPr txBox="1"/>
          <p:nvPr/>
        </p:nvSpPr>
        <p:spPr>
          <a:xfrm>
            <a:off x="4968875" y="2435860"/>
            <a:ext cx="57594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chemeClr val="accent1"/>
                </a:solidFill>
              </a:rPr>
              <a:t>b2</a:t>
            </a:r>
          </a:p>
        </p:txBody>
      </p:sp>
      <p:sp>
        <p:nvSpPr>
          <p:cNvPr id="36" name="Text Box 35"/>
          <p:cNvSpPr txBox="1"/>
          <p:nvPr/>
        </p:nvSpPr>
        <p:spPr>
          <a:xfrm>
            <a:off x="5071110" y="3952240"/>
            <a:ext cx="57594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chemeClr val="accent1"/>
                </a:solidFill>
              </a:rPr>
              <a:t>b4</a:t>
            </a:r>
          </a:p>
        </p:txBody>
      </p:sp>
      <p:sp>
        <p:nvSpPr>
          <p:cNvPr id="37" name="Text Box 36"/>
          <p:cNvSpPr txBox="1"/>
          <p:nvPr/>
        </p:nvSpPr>
        <p:spPr>
          <a:xfrm>
            <a:off x="2588260" y="2426970"/>
            <a:ext cx="57594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chemeClr val="accent1"/>
                </a:solidFill>
              </a:rPr>
              <a:t>b3</a:t>
            </a:r>
          </a:p>
        </p:txBody>
      </p:sp>
      <p:cxnSp>
        <p:nvCxnSpPr>
          <p:cNvPr id="38" name="Straight Arrow Connector 37"/>
          <p:cNvCxnSpPr>
            <a:endCxn id="37" idx="2"/>
          </p:cNvCxnSpPr>
          <p:nvPr/>
        </p:nvCxnSpPr>
        <p:spPr>
          <a:xfrm flipH="1" flipV="1">
            <a:off x="2876550" y="2887345"/>
            <a:ext cx="518160" cy="1267460"/>
          </a:xfrm>
          <a:prstGeom prst="straightConnector1">
            <a:avLst/>
          </a:prstGeom>
          <a:ln w="31750" cap="rnd">
            <a:solidFill>
              <a:schemeClr val="accent1"/>
            </a:solidFill>
            <a:round/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5" grpId="0"/>
      <p:bldP spid="3" grpId="0"/>
      <p:bldP spid="7" grpId="0"/>
      <p:bldP spid="8" grpId="0"/>
      <p:bldP spid="9" grpId="0"/>
      <p:bldP spid="28" grpId="0"/>
      <p:bldP spid="28" grpId="1"/>
      <p:bldP spid="29" grpId="0"/>
      <p:bldP spid="29" grpId="1"/>
      <p:bldP spid="30" grpId="0"/>
      <p:bldP spid="30" grpId="1"/>
      <p:bldP spid="31" grpId="0"/>
      <p:bldP spid="31" grpId="1"/>
      <p:bldP spid="32" grpId="0"/>
      <p:bldP spid="32" grpId="1"/>
      <p:bldP spid="33" grpId="0"/>
      <p:bldP spid="33" grpId="1"/>
    </p:bldLst>
  </p:timing>
</p:sld>
</file>

<file path=ppt/slides/slide1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ym typeface="+mn-ea"/>
              </a:rPr>
              <a:t>Region Splitting</a:t>
            </a:r>
            <a:endParaRPr lang="en-US"/>
          </a:p>
        </p:txBody>
      </p:sp>
      <p:graphicFrame>
        <p:nvGraphicFramePr>
          <p:cNvPr id="4" name="Table 3"/>
          <p:cNvGraphicFramePr/>
          <p:nvPr>
            <p:custDataLst>
              <p:tags r:id="rId1"/>
            </p:custDataLst>
          </p:nvPr>
        </p:nvGraphicFramePr>
        <p:xfrm>
          <a:off x="1838325" y="3025775"/>
          <a:ext cx="3098800" cy="3048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87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73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73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73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873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873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873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873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chemeClr val="accent4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chemeClr val="accent4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Text Box 4"/>
          <p:cNvSpPr txBox="1"/>
          <p:nvPr/>
        </p:nvSpPr>
        <p:spPr>
          <a:xfrm>
            <a:off x="996950" y="1616075"/>
            <a:ext cx="1040574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400">
                <a:sym typeface="+mn-ea"/>
              </a:rPr>
              <a:t>Apply the region splitting and merging on the following image with threshold value equal to 3.</a:t>
            </a:r>
            <a:endParaRPr lang="en-US" sz="2400"/>
          </a:p>
        </p:txBody>
      </p:sp>
      <p:sp>
        <p:nvSpPr>
          <p:cNvPr id="6" name="Text Box 5"/>
          <p:cNvSpPr txBox="1"/>
          <p:nvPr/>
        </p:nvSpPr>
        <p:spPr>
          <a:xfrm>
            <a:off x="1152525" y="3562350"/>
            <a:ext cx="57594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rgbClr val="FF0000"/>
                </a:solidFill>
              </a:rPr>
              <a:t>a</a:t>
            </a:r>
          </a:p>
        </p:txBody>
      </p:sp>
      <p:sp>
        <p:nvSpPr>
          <p:cNvPr id="15" name="Text Box 14"/>
          <p:cNvSpPr txBox="1"/>
          <p:nvPr/>
        </p:nvSpPr>
        <p:spPr>
          <a:xfrm>
            <a:off x="1152525" y="5000625"/>
            <a:ext cx="57594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rgbClr val="92D050"/>
                </a:solidFill>
              </a:rPr>
              <a:t>c</a:t>
            </a:r>
          </a:p>
        </p:txBody>
      </p:sp>
      <p:sp>
        <p:nvSpPr>
          <p:cNvPr id="3" name="Text Box 2"/>
          <p:cNvSpPr txBox="1"/>
          <p:nvPr/>
        </p:nvSpPr>
        <p:spPr>
          <a:xfrm>
            <a:off x="2680970" y="6280785"/>
            <a:ext cx="57594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rgbClr val="FFC000"/>
                </a:solidFill>
              </a:rPr>
              <a:t>d1</a:t>
            </a:r>
          </a:p>
        </p:txBody>
      </p:sp>
      <p:sp>
        <p:nvSpPr>
          <p:cNvPr id="7" name="Text Box 6"/>
          <p:cNvSpPr txBox="1"/>
          <p:nvPr/>
        </p:nvSpPr>
        <p:spPr>
          <a:xfrm>
            <a:off x="5202555" y="4665980"/>
            <a:ext cx="57594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rgbClr val="FFC000"/>
                </a:solidFill>
              </a:rPr>
              <a:t>d2</a:t>
            </a:r>
          </a:p>
        </p:txBody>
      </p:sp>
      <p:sp>
        <p:nvSpPr>
          <p:cNvPr id="8" name="Text Box 7"/>
          <p:cNvSpPr txBox="1"/>
          <p:nvPr/>
        </p:nvSpPr>
        <p:spPr>
          <a:xfrm>
            <a:off x="3475990" y="6203950"/>
            <a:ext cx="57594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rgbClr val="FFC000"/>
                </a:solidFill>
              </a:rPr>
              <a:t>d3</a:t>
            </a:r>
          </a:p>
        </p:txBody>
      </p:sp>
      <p:sp>
        <p:nvSpPr>
          <p:cNvPr id="9" name="Text Box 8"/>
          <p:cNvSpPr txBox="1"/>
          <p:nvPr/>
        </p:nvSpPr>
        <p:spPr>
          <a:xfrm>
            <a:off x="5071110" y="6073775"/>
            <a:ext cx="57594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rgbClr val="FFC000"/>
                </a:solidFill>
              </a:rPr>
              <a:t>d4</a:t>
            </a:r>
          </a:p>
        </p:txBody>
      </p:sp>
      <p:cxnSp>
        <p:nvCxnSpPr>
          <p:cNvPr id="10" name="Straight Arrow Connector 9"/>
          <p:cNvCxnSpPr>
            <a:endCxn id="3" idx="0"/>
          </p:cNvCxnSpPr>
          <p:nvPr/>
        </p:nvCxnSpPr>
        <p:spPr>
          <a:xfrm flipH="1">
            <a:off x="2969260" y="4929505"/>
            <a:ext cx="425450" cy="1351280"/>
          </a:xfrm>
          <a:prstGeom prst="straightConnector1">
            <a:avLst/>
          </a:prstGeom>
          <a:ln w="31750" cap="rnd">
            <a:solidFill>
              <a:srgbClr val="FFC000"/>
            </a:solidFill>
            <a:round/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4" name="Text Box 33"/>
          <p:cNvSpPr txBox="1"/>
          <p:nvPr/>
        </p:nvSpPr>
        <p:spPr>
          <a:xfrm>
            <a:off x="3486150" y="2426970"/>
            <a:ext cx="57594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chemeClr val="accent1"/>
                </a:solidFill>
              </a:rPr>
              <a:t>b1</a:t>
            </a:r>
          </a:p>
        </p:txBody>
      </p:sp>
      <p:sp>
        <p:nvSpPr>
          <p:cNvPr id="35" name="Text Box 34"/>
          <p:cNvSpPr txBox="1"/>
          <p:nvPr/>
        </p:nvSpPr>
        <p:spPr>
          <a:xfrm>
            <a:off x="4968875" y="2435860"/>
            <a:ext cx="57594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chemeClr val="accent1"/>
                </a:solidFill>
              </a:rPr>
              <a:t>b2</a:t>
            </a:r>
          </a:p>
        </p:txBody>
      </p:sp>
      <p:sp>
        <p:nvSpPr>
          <p:cNvPr id="36" name="Text Box 35"/>
          <p:cNvSpPr txBox="1"/>
          <p:nvPr/>
        </p:nvSpPr>
        <p:spPr>
          <a:xfrm>
            <a:off x="5071110" y="3952240"/>
            <a:ext cx="57594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chemeClr val="accent1"/>
                </a:solidFill>
              </a:rPr>
              <a:t>b4</a:t>
            </a:r>
          </a:p>
        </p:txBody>
      </p:sp>
      <p:sp>
        <p:nvSpPr>
          <p:cNvPr id="37" name="Text Box 36"/>
          <p:cNvSpPr txBox="1"/>
          <p:nvPr/>
        </p:nvSpPr>
        <p:spPr>
          <a:xfrm>
            <a:off x="2588260" y="2426970"/>
            <a:ext cx="57594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chemeClr val="accent1"/>
                </a:solidFill>
              </a:rPr>
              <a:t>b3</a:t>
            </a:r>
          </a:p>
        </p:txBody>
      </p:sp>
      <p:cxnSp>
        <p:nvCxnSpPr>
          <p:cNvPr id="38" name="Straight Arrow Connector 37"/>
          <p:cNvCxnSpPr>
            <a:endCxn id="37" idx="2"/>
          </p:cNvCxnSpPr>
          <p:nvPr/>
        </p:nvCxnSpPr>
        <p:spPr>
          <a:xfrm flipH="1" flipV="1">
            <a:off x="2876550" y="2887345"/>
            <a:ext cx="518160" cy="1267460"/>
          </a:xfrm>
          <a:prstGeom prst="straightConnector1">
            <a:avLst/>
          </a:prstGeom>
          <a:ln w="31750" cap="rnd">
            <a:solidFill>
              <a:schemeClr val="accent1"/>
            </a:solidFill>
            <a:round/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1" name="Text Box 10"/>
          <p:cNvSpPr txBox="1"/>
          <p:nvPr/>
        </p:nvSpPr>
        <p:spPr>
          <a:xfrm>
            <a:off x="6972935" y="4319270"/>
            <a:ext cx="342519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chemeClr val="tx1"/>
                </a:solidFill>
              </a:rPr>
              <a:t>Result of Region Splitting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5" grpId="0"/>
      <p:bldP spid="3" grpId="0"/>
      <p:bldP spid="7" grpId="0"/>
      <p:bldP spid="8" grpId="0"/>
      <p:bldP spid="9" grpId="0"/>
      <p:bldP spid="11" grpId="0"/>
      <p:bldP spid="11" grpId="1"/>
    </p:bldLst>
  </p:timing>
</p:sld>
</file>

<file path=ppt/slides/slide1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ym typeface="+mn-ea"/>
              </a:rPr>
              <a:t>Merging</a:t>
            </a:r>
            <a:endParaRPr lang="en-US"/>
          </a:p>
        </p:txBody>
      </p:sp>
      <p:graphicFrame>
        <p:nvGraphicFramePr>
          <p:cNvPr id="4" name="Table 3"/>
          <p:cNvGraphicFramePr/>
          <p:nvPr>
            <p:custDataLst>
              <p:tags r:id="rId1"/>
            </p:custDataLst>
          </p:nvPr>
        </p:nvGraphicFramePr>
        <p:xfrm>
          <a:off x="1838325" y="3025775"/>
          <a:ext cx="3098800" cy="3048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87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73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73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73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873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873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873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873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chemeClr val="accent4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chemeClr val="accent4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Text Box 4"/>
          <p:cNvSpPr txBox="1"/>
          <p:nvPr/>
        </p:nvSpPr>
        <p:spPr>
          <a:xfrm>
            <a:off x="996950" y="1616075"/>
            <a:ext cx="1040574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400">
                <a:sym typeface="+mn-ea"/>
              </a:rPr>
              <a:t>Apply the region splitting and merging on the following image with threshold value equal to 3.</a:t>
            </a:r>
            <a:endParaRPr lang="en-US" sz="2400"/>
          </a:p>
        </p:txBody>
      </p:sp>
      <p:sp>
        <p:nvSpPr>
          <p:cNvPr id="6" name="Text Box 5"/>
          <p:cNvSpPr txBox="1"/>
          <p:nvPr/>
        </p:nvSpPr>
        <p:spPr>
          <a:xfrm>
            <a:off x="1152525" y="3562350"/>
            <a:ext cx="57594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rgbClr val="FF0000"/>
                </a:solidFill>
              </a:rPr>
              <a:t>a</a:t>
            </a:r>
          </a:p>
        </p:txBody>
      </p:sp>
      <p:sp>
        <p:nvSpPr>
          <p:cNvPr id="15" name="Text Box 14"/>
          <p:cNvSpPr txBox="1"/>
          <p:nvPr/>
        </p:nvSpPr>
        <p:spPr>
          <a:xfrm>
            <a:off x="1152525" y="5000625"/>
            <a:ext cx="57594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rgbClr val="92D050"/>
                </a:solidFill>
              </a:rPr>
              <a:t>c</a:t>
            </a:r>
          </a:p>
        </p:txBody>
      </p:sp>
      <p:sp>
        <p:nvSpPr>
          <p:cNvPr id="3" name="Text Box 2"/>
          <p:cNvSpPr txBox="1"/>
          <p:nvPr/>
        </p:nvSpPr>
        <p:spPr>
          <a:xfrm>
            <a:off x="2680970" y="6280785"/>
            <a:ext cx="57594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rgbClr val="FFC000"/>
                </a:solidFill>
              </a:rPr>
              <a:t>d1</a:t>
            </a:r>
          </a:p>
        </p:txBody>
      </p:sp>
      <p:sp>
        <p:nvSpPr>
          <p:cNvPr id="7" name="Text Box 6"/>
          <p:cNvSpPr txBox="1"/>
          <p:nvPr/>
        </p:nvSpPr>
        <p:spPr>
          <a:xfrm>
            <a:off x="5202555" y="4665980"/>
            <a:ext cx="57594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rgbClr val="FFC000"/>
                </a:solidFill>
              </a:rPr>
              <a:t>d2</a:t>
            </a:r>
          </a:p>
        </p:txBody>
      </p:sp>
      <p:sp>
        <p:nvSpPr>
          <p:cNvPr id="8" name="Text Box 7"/>
          <p:cNvSpPr txBox="1"/>
          <p:nvPr/>
        </p:nvSpPr>
        <p:spPr>
          <a:xfrm>
            <a:off x="3475990" y="6203950"/>
            <a:ext cx="57594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rgbClr val="FFC000"/>
                </a:solidFill>
              </a:rPr>
              <a:t>d3</a:t>
            </a:r>
          </a:p>
        </p:txBody>
      </p:sp>
      <p:sp>
        <p:nvSpPr>
          <p:cNvPr id="9" name="Text Box 8"/>
          <p:cNvSpPr txBox="1"/>
          <p:nvPr/>
        </p:nvSpPr>
        <p:spPr>
          <a:xfrm>
            <a:off x="5071110" y="6073775"/>
            <a:ext cx="57594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rgbClr val="FFC000"/>
                </a:solidFill>
              </a:rPr>
              <a:t>d4</a:t>
            </a:r>
          </a:p>
        </p:txBody>
      </p:sp>
      <p:cxnSp>
        <p:nvCxnSpPr>
          <p:cNvPr id="10" name="Straight Arrow Connector 9"/>
          <p:cNvCxnSpPr>
            <a:endCxn id="3" idx="0"/>
          </p:cNvCxnSpPr>
          <p:nvPr/>
        </p:nvCxnSpPr>
        <p:spPr>
          <a:xfrm flipH="1">
            <a:off x="2969260" y="4929505"/>
            <a:ext cx="425450" cy="1351280"/>
          </a:xfrm>
          <a:prstGeom prst="straightConnector1">
            <a:avLst/>
          </a:prstGeom>
          <a:ln w="31750" cap="rnd">
            <a:solidFill>
              <a:srgbClr val="FFC000"/>
            </a:solidFill>
            <a:round/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4" name="Text Box 33"/>
          <p:cNvSpPr txBox="1"/>
          <p:nvPr/>
        </p:nvSpPr>
        <p:spPr>
          <a:xfrm>
            <a:off x="3486150" y="2426970"/>
            <a:ext cx="57594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chemeClr val="accent1"/>
                </a:solidFill>
              </a:rPr>
              <a:t>b1</a:t>
            </a:r>
          </a:p>
        </p:txBody>
      </p:sp>
      <p:sp>
        <p:nvSpPr>
          <p:cNvPr id="35" name="Text Box 34"/>
          <p:cNvSpPr txBox="1"/>
          <p:nvPr/>
        </p:nvSpPr>
        <p:spPr>
          <a:xfrm>
            <a:off x="4968875" y="2435860"/>
            <a:ext cx="57594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chemeClr val="accent1"/>
                </a:solidFill>
              </a:rPr>
              <a:t>b2</a:t>
            </a:r>
          </a:p>
        </p:txBody>
      </p:sp>
      <p:sp>
        <p:nvSpPr>
          <p:cNvPr id="36" name="Text Box 35"/>
          <p:cNvSpPr txBox="1"/>
          <p:nvPr/>
        </p:nvSpPr>
        <p:spPr>
          <a:xfrm>
            <a:off x="5071110" y="3952240"/>
            <a:ext cx="57594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chemeClr val="accent1"/>
                </a:solidFill>
              </a:rPr>
              <a:t>b4</a:t>
            </a:r>
          </a:p>
        </p:txBody>
      </p:sp>
      <p:sp>
        <p:nvSpPr>
          <p:cNvPr id="37" name="Text Box 36"/>
          <p:cNvSpPr txBox="1"/>
          <p:nvPr/>
        </p:nvSpPr>
        <p:spPr>
          <a:xfrm>
            <a:off x="2588260" y="2426970"/>
            <a:ext cx="57594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chemeClr val="accent1"/>
                </a:solidFill>
              </a:rPr>
              <a:t>b3</a:t>
            </a:r>
          </a:p>
        </p:txBody>
      </p:sp>
      <p:cxnSp>
        <p:nvCxnSpPr>
          <p:cNvPr id="38" name="Straight Arrow Connector 37"/>
          <p:cNvCxnSpPr>
            <a:endCxn id="37" idx="2"/>
          </p:cNvCxnSpPr>
          <p:nvPr/>
        </p:nvCxnSpPr>
        <p:spPr>
          <a:xfrm flipH="1" flipV="1">
            <a:off x="2876550" y="2887345"/>
            <a:ext cx="518160" cy="1267460"/>
          </a:xfrm>
          <a:prstGeom prst="straightConnector1">
            <a:avLst/>
          </a:prstGeom>
          <a:ln w="31750" cap="rnd">
            <a:solidFill>
              <a:schemeClr val="accent1"/>
            </a:solidFill>
            <a:round/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8" name="Text Box 27"/>
          <p:cNvSpPr txBox="1"/>
          <p:nvPr/>
        </p:nvSpPr>
        <p:spPr>
          <a:xfrm>
            <a:off x="7329170" y="3732530"/>
            <a:ext cx="22688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chemeClr val="tx1"/>
                </a:solidFill>
              </a:rPr>
              <a:t>Max Value = 7</a:t>
            </a:r>
          </a:p>
        </p:txBody>
      </p:sp>
      <p:sp>
        <p:nvSpPr>
          <p:cNvPr id="29" name="Text Box 28"/>
          <p:cNvSpPr txBox="1"/>
          <p:nvPr/>
        </p:nvSpPr>
        <p:spPr>
          <a:xfrm>
            <a:off x="7329170" y="4319905"/>
            <a:ext cx="22688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chemeClr val="tx1"/>
                </a:solidFill>
              </a:rPr>
              <a:t>Min Value = 4</a:t>
            </a:r>
          </a:p>
        </p:txBody>
      </p:sp>
      <p:sp>
        <p:nvSpPr>
          <p:cNvPr id="30" name="Text Box 29"/>
          <p:cNvSpPr txBox="1"/>
          <p:nvPr/>
        </p:nvSpPr>
        <p:spPr>
          <a:xfrm>
            <a:off x="6801485" y="5026660"/>
            <a:ext cx="139827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chemeClr val="tx1"/>
                </a:solidFill>
                <a:sym typeface="+mn-ea"/>
              </a:rPr>
              <a:t>|7-4|=3</a:t>
            </a:r>
          </a:p>
        </p:txBody>
      </p:sp>
      <p:sp>
        <p:nvSpPr>
          <p:cNvPr id="31" name="Text Box 30"/>
          <p:cNvSpPr txBox="1"/>
          <p:nvPr/>
        </p:nvSpPr>
        <p:spPr>
          <a:xfrm>
            <a:off x="8199755" y="5026660"/>
            <a:ext cx="139827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400">
                <a:solidFill>
                  <a:schemeClr val="tx1"/>
                </a:solidFill>
              </a:rPr>
              <a:t>&lt;=3</a:t>
            </a:r>
          </a:p>
        </p:txBody>
      </p:sp>
      <p:sp>
        <p:nvSpPr>
          <p:cNvPr id="32" name="Text Box 31"/>
          <p:cNvSpPr txBox="1"/>
          <p:nvPr/>
        </p:nvSpPr>
        <p:spPr>
          <a:xfrm>
            <a:off x="9598025" y="5026660"/>
            <a:ext cx="508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400">
                <a:solidFill>
                  <a:srgbClr val="92D050"/>
                </a:solidFill>
                <a:sym typeface="+mn-ea"/>
              </a:rPr>
              <a:t>✔</a:t>
            </a:r>
            <a:endParaRPr lang="en-US" sz="2400">
              <a:solidFill>
                <a:srgbClr val="FF0000"/>
              </a:solidFill>
              <a:sym typeface="+mn-ea"/>
            </a:endParaRPr>
          </a:p>
        </p:txBody>
      </p:sp>
      <p:sp>
        <p:nvSpPr>
          <p:cNvPr id="33" name="Text Box 32"/>
          <p:cNvSpPr txBox="1"/>
          <p:nvPr/>
        </p:nvSpPr>
        <p:spPr>
          <a:xfrm>
            <a:off x="7173595" y="3212465"/>
            <a:ext cx="258000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chemeClr val="tx1"/>
                </a:solidFill>
              </a:rPr>
              <a:t>For Regions </a:t>
            </a:r>
            <a:r>
              <a:rPr lang="en-US" sz="2400">
                <a:solidFill>
                  <a:srgbClr val="FF0000"/>
                </a:solidFill>
              </a:rPr>
              <a:t>a</a:t>
            </a:r>
            <a:r>
              <a:rPr lang="en-US" sz="2400">
                <a:solidFill>
                  <a:schemeClr val="tx1"/>
                </a:solidFill>
              </a:rPr>
              <a:t> &amp; </a:t>
            </a:r>
            <a:r>
              <a:rPr lang="en-US" sz="2400">
                <a:solidFill>
                  <a:schemeClr val="accent1"/>
                </a:solidFill>
              </a:rPr>
              <a:t>b1</a:t>
            </a:r>
            <a:r>
              <a:rPr lang="en-US" sz="2400">
                <a:solidFill>
                  <a:schemeClr val="tx1"/>
                </a:solidFill>
              </a:rPr>
              <a:t>,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5" grpId="0"/>
      <p:bldP spid="3" grpId="0"/>
      <p:bldP spid="7" grpId="0"/>
      <p:bldP spid="8" grpId="0"/>
      <p:bldP spid="9" grpId="0"/>
      <p:bldP spid="28" grpId="0"/>
      <p:bldP spid="28" grpId="1"/>
      <p:bldP spid="29" grpId="0"/>
      <p:bldP spid="29" grpId="1"/>
      <p:bldP spid="30" grpId="0"/>
      <p:bldP spid="30" grpId="1"/>
      <p:bldP spid="31" grpId="0"/>
      <p:bldP spid="31" grpId="1"/>
      <p:bldP spid="32" grpId="0"/>
      <p:bldP spid="32" grpId="1"/>
      <p:bldP spid="33" grpId="0"/>
      <p:bldP spid="33" grpId="1"/>
    </p:bldLst>
  </p:timing>
</p:sld>
</file>

<file path=ppt/slides/slide1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ym typeface="+mn-ea"/>
              </a:rPr>
              <a:t>Merging</a:t>
            </a:r>
            <a:endParaRPr lang="en-US"/>
          </a:p>
        </p:txBody>
      </p:sp>
      <p:graphicFrame>
        <p:nvGraphicFramePr>
          <p:cNvPr id="4" name="Table 3"/>
          <p:cNvGraphicFramePr/>
          <p:nvPr>
            <p:custDataLst>
              <p:tags r:id="rId1"/>
            </p:custDataLst>
          </p:nvPr>
        </p:nvGraphicFramePr>
        <p:xfrm>
          <a:off x="1838325" y="3025775"/>
          <a:ext cx="3098800" cy="3048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87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73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73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73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873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873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873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873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chemeClr val="accent4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chemeClr val="accent4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Text Box 4"/>
          <p:cNvSpPr txBox="1"/>
          <p:nvPr/>
        </p:nvSpPr>
        <p:spPr>
          <a:xfrm>
            <a:off x="996950" y="1616075"/>
            <a:ext cx="1040574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400">
                <a:sym typeface="+mn-ea"/>
              </a:rPr>
              <a:t>Apply the region splitting and merging on the following image with threshold value equal to 3.</a:t>
            </a:r>
            <a:endParaRPr lang="en-US" sz="2400"/>
          </a:p>
        </p:txBody>
      </p:sp>
      <p:sp>
        <p:nvSpPr>
          <p:cNvPr id="6" name="Text Box 5"/>
          <p:cNvSpPr txBox="1"/>
          <p:nvPr/>
        </p:nvSpPr>
        <p:spPr>
          <a:xfrm>
            <a:off x="1152525" y="3562350"/>
            <a:ext cx="57594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rgbClr val="FF0000"/>
                </a:solidFill>
              </a:rPr>
              <a:t>a</a:t>
            </a:r>
          </a:p>
        </p:txBody>
      </p:sp>
      <p:sp>
        <p:nvSpPr>
          <p:cNvPr id="15" name="Text Box 14"/>
          <p:cNvSpPr txBox="1"/>
          <p:nvPr/>
        </p:nvSpPr>
        <p:spPr>
          <a:xfrm>
            <a:off x="1152525" y="5000625"/>
            <a:ext cx="57594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rgbClr val="92D050"/>
                </a:solidFill>
              </a:rPr>
              <a:t>c</a:t>
            </a:r>
          </a:p>
        </p:txBody>
      </p:sp>
      <p:sp>
        <p:nvSpPr>
          <p:cNvPr id="3" name="Text Box 2"/>
          <p:cNvSpPr txBox="1"/>
          <p:nvPr/>
        </p:nvSpPr>
        <p:spPr>
          <a:xfrm>
            <a:off x="2680970" y="6280785"/>
            <a:ext cx="57594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rgbClr val="FFC000"/>
                </a:solidFill>
              </a:rPr>
              <a:t>d1</a:t>
            </a:r>
          </a:p>
        </p:txBody>
      </p:sp>
      <p:sp>
        <p:nvSpPr>
          <p:cNvPr id="7" name="Text Box 6"/>
          <p:cNvSpPr txBox="1"/>
          <p:nvPr/>
        </p:nvSpPr>
        <p:spPr>
          <a:xfrm>
            <a:off x="5202555" y="4665980"/>
            <a:ext cx="57594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rgbClr val="FFC000"/>
                </a:solidFill>
              </a:rPr>
              <a:t>d2</a:t>
            </a:r>
          </a:p>
        </p:txBody>
      </p:sp>
      <p:sp>
        <p:nvSpPr>
          <p:cNvPr id="8" name="Text Box 7"/>
          <p:cNvSpPr txBox="1"/>
          <p:nvPr/>
        </p:nvSpPr>
        <p:spPr>
          <a:xfrm>
            <a:off x="3475990" y="6203950"/>
            <a:ext cx="57594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rgbClr val="FFC000"/>
                </a:solidFill>
              </a:rPr>
              <a:t>d3</a:t>
            </a:r>
          </a:p>
        </p:txBody>
      </p:sp>
      <p:sp>
        <p:nvSpPr>
          <p:cNvPr id="9" name="Text Box 8"/>
          <p:cNvSpPr txBox="1"/>
          <p:nvPr/>
        </p:nvSpPr>
        <p:spPr>
          <a:xfrm>
            <a:off x="5071110" y="6073775"/>
            <a:ext cx="57594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rgbClr val="FFC000"/>
                </a:solidFill>
              </a:rPr>
              <a:t>d4</a:t>
            </a:r>
          </a:p>
        </p:txBody>
      </p:sp>
      <p:cxnSp>
        <p:nvCxnSpPr>
          <p:cNvPr id="10" name="Straight Arrow Connector 9"/>
          <p:cNvCxnSpPr>
            <a:endCxn id="3" idx="0"/>
          </p:cNvCxnSpPr>
          <p:nvPr/>
        </p:nvCxnSpPr>
        <p:spPr>
          <a:xfrm flipH="1">
            <a:off x="2969260" y="4929505"/>
            <a:ext cx="425450" cy="1351280"/>
          </a:xfrm>
          <a:prstGeom prst="straightConnector1">
            <a:avLst/>
          </a:prstGeom>
          <a:ln w="31750" cap="rnd">
            <a:solidFill>
              <a:srgbClr val="FFC000"/>
            </a:solidFill>
            <a:round/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4" name="Text Box 33"/>
          <p:cNvSpPr txBox="1"/>
          <p:nvPr/>
        </p:nvSpPr>
        <p:spPr>
          <a:xfrm>
            <a:off x="3486150" y="2426970"/>
            <a:ext cx="57594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chemeClr val="accent1"/>
                </a:solidFill>
              </a:rPr>
              <a:t>b1</a:t>
            </a:r>
          </a:p>
        </p:txBody>
      </p:sp>
      <p:sp>
        <p:nvSpPr>
          <p:cNvPr id="35" name="Text Box 34"/>
          <p:cNvSpPr txBox="1"/>
          <p:nvPr/>
        </p:nvSpPr>
        <p:spPr>
          <a:xfrm>
            <a:off x="4968875" y="2435860"/>
            <a:ext cx="57594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chemeClr val="accent1"/>
                </a:solidFill>
              </a:rPr>
              <a:t>b2</a:t>
            </a:r>
          </a:p>
        </p:txBody>
      </p:sp>
      <p:sp>
        <p:nvSpPr>
          <p:cNvPr id="36" name="Text Box 35"/>
          <p:cNvSpPr txBox="1"/>
          <p:nvPr/>
        </p:nvSpPr>
        <p:spPr>
          <a:xfrm>
            <a:off x="5071110" y="3952240"/>
            <a:ext cx="57594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chemeClr val="accent1"/>
                </a:solidFill>
              </a:rPr>
              <a:t>b4</a:t>
            </a:r>
          </a:p>
        </p:txBody>
      </p:sp>
      <p:sp>
        <p:nvSpPr>
          <p:cNvPr id="37" name="Text Box 36"/>
          <p:cNvSpPr txBox="1"/>
          <p:nvPr/>
        </p:nvSpPr>
        <p:spPr>
          <a:xfrm>
            <a:off x="2588260" y="2426970"/>
            <a:ext cx="57594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chemeClr val="accent1"/>
                </a:solidFill>
              </a:rPr>
              <a:t>b3</a:t>
            </a:r>
          </a:p>
        </p:txBody>
      </p:sp>
      <p:cxnSp>
        <p:nvCxnSpPr>
          <p:cNvPr id="38" name="Straight Arrow Connector 37"/>
          <p:cNvCxnSpPr>
            <a:endCxn id="37" idx="2"/>
          </p:cNvCxnSpPr>
          <p:nvPr/>
        </p:nvCxnSpPr>
        <p:spPr>
          <a:xfrm flipH="1" flipV="1">
            <a:off x="2876550" y="2887345"/>
            <a:ext cx="518160" cy="1267460"/>
          </a:xfrm>
          <a:prstGeom prst="straightConnector1">
            <a:avLst/>
          </a:prstGeom>
          <a:ln w="31750" cap="rnd">
            <a:solidFill>
              <a:schemeClr val="accent1"/>
            </a:solidFill>
            <a:round/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8" name="Text Box 27"/>
          <p:cNvSpPr txBox="1"/>
          <p:nvPr/>
        </p:nvSpPr>
        <p:spPr>
          <a:xfrm>
            <a:off x="7329170" y="3732530"/>
            <a:ext cx="22688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chemeClr val="tx1"/>
                </a:solidFill>
              </a:rPr>
              <a:t>Max Value = 7</a:t>
            </a:r>
          </a:p>
        </p:txBody>
      </p:sp>
      <p:sp>
        <p:nvSpPr>
          <p:cNvPr id="29" name="Text Box 28"/>
          <p:cNvSpPr txBox="1"/>
          <p:nvPr/>
        </p:nvSpPr>
        <p:spPr>
          <a:xfrm>
            <a:off x="7329170" y="4319905"/>
            <a:ext cx="22688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chemeClr val="tx1"/>
                </a:solidFill>
              </a:rPr>
              <a:t>Min Value = 4</a:t>
            </a:r>
          </a:p>
        </p:txBody>
      </p:sp>
      <p:sp>
        <p:nvSpPr>
          <p:cNvPr id="30" name="Text Box 29"/>
          <p:cNvSpPr txBox="1"/>
          <p:nvPr/>
        </p:nvSpPr>
        <p:spPr>
          <a:xfrm>
            <a:off x="6801485" y="5026660"/>
            <a:ext cx="139827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chemeClr val="tx1"/>
                </a:solidFill>
                <a:sym typeface="+mn-ea"/>
              </a:rPr>
              <a:t>|7-4|=3</a:t>
            </a:r>
          </a:p>
        </p:txBody>
      </p:sp>
      <p:sp>
        <p:nvSpPr>
          <p:cNvPr id="31" name="Text Box 30"/>
          <p:cNvSpPr txBox="1"/>
          <p:nvPr/>
        </p:nvSpPr>
        <p:spPr>
          <a:xfrm>
            <a:off x="8199755" y="5026660"/>
            <a:ext cx="139827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400">
                <a:solidFill>
                  <a:schemeClr val="tx1"/>
                </a:solidFill>
              </a:rPr>
              <a:t>&lt;=3</a:t>
            </a:r>
          </a:p>
        </p:txBody>
      </p:sp>
      <p:sp>
        <p:nvSpPr>
          <p:cNvPr id="32" name="Text Box 31"/>
          <p:cNvSpPr txBox="1"/>
          <p:nvPr/>
        </p:nvSpPr>
        <p:spPr>
          <a:xfrm>
            <a:off x="9598025" y="5026660"/>
            <a:ext cx="508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400">
                <a:solidFill>
                  <a:srgbClr val="92D050"/>
                </a:solidFill>
                <a:sym typeface="+mn-ea"/>
              </a:rPr>
              <a:t>✔</a:t>
            </a:r>
            <a:endParaRPr lang="en-US" sz="2400">
              <a:solidFill>
                <a:srgbClr val="FF0000"/>
              </a:solidFill>
              <a:sym typeface="+mn-ea"/>
            </a:endParaRPr>
          </a:p>
        </p:txBody>
      </p:sp>
      <p:sp>
        <p:nvSpPr>
          <p:cNvPr id="33" name="Text Box 32"/>
          <p:cNvSpPr txBox="1"/>
          <p:nvPr/>
        </p:nvSpPr>
        <p:spPr>
          <a:xfrm>
            <a:off x="7173595" y="3212465"/>
            <a:ext cx="258000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chemeClr val="tx1"/>
                </a:solidFill>
              </a:rPr>
              <a:t>For Regions </a:t>
            </a:r>
            <a:r>
              <a:rPr lang="en-US" sz="2400">
                <a:solidFill>
                  <a:srgbClr val="FF0000"/>
                </a:solidFill>
              </a:rPr>
              <a:t>a</a:t>
            </a:r>
            <a:r>
              <a:rPr lang="en-US" sz="2400">
                <a:solidFill>
                  <a:schemeClr val="tx1"/>
                </a:solidFill>
              </a:rPr>
              <a:t> &amp; </a:t>
            </a:r>
            <a:r>
              <a:rPr lang="en-US" sz="2400">
                <a:solidFill>
                  <a:schemeClr val="accent1"/>
                </a:solidFill>
              </a:rPr>
              <a:t>b1</a:t>
            </a:r>
            <a:r>
              <a:rPr lang="en-US" sz="2400">
                <a:solidFill>
                  <a:schemeClr val="tx1"/>
                </a:solidFill>
              </a:rPr>
              <a:t>,</a:t>
            </a:r>
          </a:p>
        </p:txBody>
      </p:sp>
      <p:sp>
        <p:nvSpPr>
          <p:cNvPr id="11" name="Text Box 10"/>
          <p:cNvSpPr txBox="1"/>
          <p:nvPr/>
        </p:nvSpPr>
        <p:spPr>
          <a:xfrm>
            <a:off x="1152525" y="2565400"/>
            <a:ext cx="6858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rgbClr val="FF0000"/>
                </a:solidFill>
              </a:rPr>
              <a:t>ab1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3" presetClass="exit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9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6" grpId="1"/>
      <p:bldP spid="15" grpId="0"/>
      <p:bldP spid="3" grpId="0"/>
      <p:bldP spid="7" grpId="0"/>
      <p:bldP spid="8" grpId="0"/>
      <p:bldP spid="9" grpId="0"/>
      <p:bldP spid="34" grpId="0"/>
      <p:bldP spid="34" grpId="1"/>
      <p:bldP spid="28" grpId="0"/>
      <p:bldP spid="29" grpId="0"/>
      <p:bldP spid="30" grpId="0"/>
      <p:bldP spid="31" grpId="0"/>
      <p:bldP spid="32" grpId="0"/>
      <p:bldP spid="33" grpId="0"/>
      <p:bldP spid="11" grpId="0"/>
      <p:bldP spid="11" grpId="1"/>
    </p:bldLst>
  </p:timing>
</p:sld>
</file>

<file path=ppt/slides/slide1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ym typeface="+mn-ea"/>
              </a:rPr>
              <a:t>Merging</a:t>
            </a:r>
            <a:endParaRPr lang="en-US"/>
          </a:p>
        </p:txBody>
      </p:sp>
      <p:graphicFrame>
        <p:nvGraphicFramePr>
          <p:cNvPr id="4" name="Table 3"/>
          <p:cNvGraphicFramePr/>
          <p:nvPr>
            <p:custDataLst>
              <p:tags r:id="rId1"/>
            </p:custDataLst>
          </p:nvPr>
        </p:nvGraphicFramePr>
        <p:xfrm>
          <a:off x="1838325" y="3025775"/>
          <a:ext cx="3098800" cy="3048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87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73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73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73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873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873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873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873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chemeClr val="accent4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chemeClr val="accent4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Text Box 4"/>
          <p:cNvSpPr txBox="1"/>
          <p:nvPr/>
        </p:nvSpPr>
        <p:spPr>
          <a:xfrm>
            <a:off x="996950" y="1616075"/>
            <a:ext cx="1040574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400">
                <a:sym typeface="+mn-ea"/>
              </a:rPr>
              <a:t>Apply the region splitting and merging on the following image with threshold value equal to 3.</a:t>
            </a:r>
            <a:endParaRPr lang="en-US" sz="2400"/>
          </a:p>
        </p:txBody>
      </p:sp>
      <p:sp>
        <p:nvSpPr>
          <p:cNvPr id="15" name="Text Box 14"/>
          <p:cNvSpPr txBox="1"/>
          <p:nvPr/>
        </p:nvSpPr>
        <p:spPr>
          <a:xfrm>
            <a:off x="1152525" y="5000625"/>
            <a:ext cx="57594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rgbClr val="92D050"/>
                </a:solidFill>
              </a:rPr>
              <a:t>c</a:t>
            </a:r>
          </a:p>
        </p:txBody>
      </p:sp>
      <p:sp>
        <p:nvSpPr>
          <p:cNvPr id="3" name="Text Box 2"/>
          <p:cNvSpPr txBox="1"/>
          <p:nvPr/>
        </p:nvSpPr>
        <p:spPr>
          <a:xfrm>
            <a:off x="2680970" y="6280785"/>
            <a:ext cx="57594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rgbClr val="FFC000"/>
                </a:solidFill>
              </a:rPr>
              <a:t>d1</a:t>
            </a:r>
          </a:p>
        </p:txBody>
      </p:sp>
      <p:sp>
        <p:nvSpPr>
          <p:cNvPr id="7" name="Text Box 6"/>
          <p:cNvSpPr txBox="1"/>
          <p:nvPr/>
        </p:nvSpPr>
        <p:spPr>
          <a:xfrm>
            <a:off x="5202555" y="4665980"/>
            <a:ext cx="57594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rgbClr val="FFC000"/>
                </a:solidFill>
              </a:rPr>
              <a:t>d2</a:t>
            </a:r>
          </a:p>
        </p:txBody>
      </p:sp>
      <p:sp>
        <p:nvSpPr>
          <p:cNvPr id="8" name="Text Box 7"/>
          <p:cNvSpPr txBox="1"/>
          <p:nvPr/>
        </p:nvSpPr>
        <p:spPr>
          <a:xfrm>
            <a:off x="3475990" y="6203950"/>
            <a:ext cx="57594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rgbClr val="FFC000"/>
                </a:solidFill>
              </a:rPr>
              <a:t>d3</a:t>
            </a:r>
          </a:p>
        </p:txBody>
      </p:sp>
      <p:sp>
        <p:nvSpPr>
          <p:cNvPr id="9" name="Text Box 8"/>
          <p:cNvSpPr txBox="1"/>
          <p:nvPr/>
        </p:nvSpPr>
        <p:spPr>
          <a:xfrm>
            <a:off x="5071110" y="6073775"/>
            <a:ext cx="57594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rgbClr val="FFC000"/>
                </a:solidFill>
              </a:rPr>
              <a:t>d4</a:t>
            </a:r>
          </a:p>
        </p:txBody>
      </p:sp>
      <p:cxnSp>
        <p:nvCxnSpPr>
          <p:cNvPr id="10" name="Straight Arrow Connector 9"/>
          <p:cNvCxnSpPr>
            <a:endCxn id="3" idx="0"/>
          </p:cNvCxnSpPr>
          <p:nvPr/>
        </p:nvCxnSpPr>
        <p:spPr>
          <a:xfrm flipH="1">
            <a:off x="2969260" y="4929505"/>
            <a:ext cx="425450" cy="1351280"/>
          </a:xfrm>
          <a:prstGeom prst="straightConnector1">
            <a:avLst/>
          </a:prstGeom>
          <a:ln w="31750" cap="rnd">
            <a:solidFill>
              <a:srgbClr val="FFC000"/>
            </a:solidFill>
            <a:round/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5" name="Text Box 34"/>
          <p:cNvSpPr txBox="1"/>
          <p:nvPr/>
        </p:nvSpPr>
        <p:spPr>
          <a:xfrm>
            <a:off x="4968875" y="2435860"/>
            <a:ext cx="57594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chemeClr val="accent1"/>
                </a:solidFill>
              </a:rPr>
              <a:t>b2</a:t>
            </a:r>
          </a:p>
        </p:txBody>
      </p:sp>
      <p:sp>
        <p:nvSpPr>
          <p:cNvPr id="36" name="Text Box 35"/>
          <p:cNvSpPr txBox="1"/>
          <p:nvPr/>
        </p:nvSpPr>
        <p:spPr>
          <a:xfrm>
            <a:off x="5071110" y="3952240"/>
            <a:ext cx="57594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chemeClr val="accent1"/>
                </a:solidFill>
              </a:rPr>
              <a:t>b4</a:t>
            </a:r>
          </a:p>
        </p:txBody>
      </p:sp>
      <p:sp>
        <p:nvSpPr>
          <p:cNvPr id="37" name="Text Box 36"/>
          <p:cNvSpPr txBox="1"/>
          <p:nvPr/>
        </p:nvSpPr>
        <p:spPr>
          <a:xfrm>
            <a:off x="2588260" y="2426970"/>
            <a:ext cx="57594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chemeClr val="accent1"/>
                </a:solidFill>
              </a:rPr>
              <a:t>b3</a:t>
            </a:r>
          </a:p>
        </p:txBody>
      </p:sp>
      <p:cxnSp>
        <p:nvCxnSpPr>
          <p:cNvPr id="38" name="Straight Arrow Connector 37"/>
          <p:cNvCxnSpPr>
            <a:endCxn id="37" idx="2"/>
          </p:cNvCxnSpPr>
          <p:nvPr/>
        </p:nvCxnSpPr>
        <p:spPr>
          <a:xfrm flipH="1" flipV="1">
            <a:off x="2876550" y="2887345"/>
            <a:ext cx="518160" cy="1267460"/>
          </a:xfrm>
          <a:prstGeom prst="straightConnector1">
            <a:avLst/>
          </a:prstGeom>
          <a:ln w="31750" cap="rnd">
            <a:solidFill>
              <a:schemeClr val="accent1"/>
            </a:solidFill>
            <a:round/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8" name="Text Box 27"/>
          <p:cNvSpPr txBox="1"/>
          <p:nvPr/>
        </p:nvSpPr>
        <p:spPr>
          <a:xfrm>
            <a:off x="7329170" y="3732530"/>
            <a:ext cx="22688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chemeClr val="tx1"/>
                </a:solidFill>
              </a:rPr>
              <a:t>Max Value = 7</a:t>
            </a:r>
          </a:p>
        </p:txBody>
      </p:sp>
      <p:sp>
        <p:nvSpPr>
          <p:cNvPr id="29" name="Text Box 28"/>
          <p:cNvSpPr txBox="1"/>
          <p:nvPr/>
        </p:nvSpPr>
        <p:spPr>
          <a:xfrm>
            <a:off x="7329170" y="4319905"/>
            <a:ext cx="22688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chemeClr val="tx1"/>
                </a:solidFill>
              </a:rPr>
              <a:t>Min Value = 4</a:t>
            </a:r>
          </a:p>
        </p:txBody>
      </p:sp>
      <p:sp>
        <p:nvSpPr>
          <p:cNvPr id="30" name="Text Box 29"/>
          <p:cNvSpPr txBox="1"/>
          <p:nvPr/>
        </p:nvSpPr>
        <p:spPr>
          <a:xfrm>
            <a:off x="6801485" y="5026660"/>
            <a:ext cx="139827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chemeClr val="tx1"/>
                </a:solidFill>
                <a:sym typeface="+mn-ea"/>
              </a:rPr>
              <a:t>|7-4|=3</a:t>
            </a:r>
          </a:p>
        </p:txBody>
      </p:sp>
      <p:sp>
        <p:nvSpPr>
          <p:cNvPr id="31" name="Text Box 30"/>
          <p:cNvSpPr txBox="1"/>
          <p:nvPr/>
        </p:nvSpPr>
        <p:spPr>
          <a:xfrm>
            <a:off x="8199755" y="5026660"/>
            <a:ext cx="139827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400">
                <a:solidFill>
                  <a:schemeClr val="tx1"/>
                </a:solidFill>
              </a:rPr>
              <a:t>&lt;=3</a:t>
            </a:r>
          </a:p>
        </p:txBody>
      </p:sp>
      <p:sp>
        <p:nvSpPr>
          <p:cNvPr id="32" name="Text Box 31"/>
          <p:cNvSpPr txBox="1"/>
          <p:nvPr/>
        </p:nvSpPr>
        <p:spPr>
          <a:xfrm>
            <a:off x="9598025" y="5026660"/>
            <a:ext cx="508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400">
                <a:solidFill>
                  <a:srgbClr val="92D050"/>
                </a:solidFill>
                <a:sym typeface="+mn-ea"/>
              </a:rPr>
              <a:t>✔</a:t>
            </a:r>
            <a:endParaRPr lang="en-US" sz="2400">
              <a:solidFill>
                <a:srgbClr val="FF0000"/>
              </a:solidFill>
              <a:sym typeface="+mn-ea"/>
            </a:endParaRPr>
          </a:p>
        </p:txBody>
      </p:sp>
      <p:sp>
        <p:nvSpPr>
          <p:cNvPr id="33" name="Text Box 32"/>
          <p:cNvSpPr txBox="1"/>
          <p:nvPr/>
        </p:nvSpPr>
        <p:spPr>
          <a:xfrm>
            <a:off x="7004050" y="3212465"/>
            <a:ext cx="291973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chemeClr val="tx1"/>
                </a:solidFill>
              </a:rPr>
              <a:t>For Regions </a:t>
            </a:r>
            <a:r>
              <a:rPr lang="en-US" sz="2400">
                <a:solidFill>
                  <a:srgbClr val="FF0000"/>
                </a:solidFill>
              </a:rPr>
              <a:t>ab1</a:t>
            </a:r>
            <a:r>
              <a:rPr lang="en-US" sz="2400">
                <a:solidFill>
                  <a:schemeClr val="tx1"/>
                </a:solidFill>
              </a:rPr>
              <a:t> &amp; </a:t>
            </a:r>
            <a:r>
              <a:rPr lang="en-US" sz="2400">
                <a:solidFill>
                  <a:schemeClr val="accent1"/>
                </a:solidFill>
              </a:rPr>
              <a:t>b2</a:t>
            </a:r>
            <a:r>
              <a:rPr lang="en-US" sz="2400">
                <a:solidFill>
                  <a:schemeClr val="tx1"/>
                </a:solidFill>
              </a:rPr>
              <a:t>,</a:t>
            </a:r>
          </a:p>
        </p:txBody>
      </p:sp>
      <p:sp>
        <p:nvSpPr>
          <p:cNvPr id="11" name="Text Box 10"/>
          <p:cNvSpPr txBox="1"/>
          <p:nvPr/>
        </p:nvSpPr>
        <p:spPr>
          <a:xfrm>
            <a:off x="1152525" y="2565400"/>
            <a:ext cx="6858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rgbClr val="FF0000"/>
                </a:solidFill>
              </a:rPr>
              <a:t>ab1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3" grpId="0"/>
      <p:bldP spid="7" grpId="0"/>
      <p:bldP spid="8" grpId="0"/>
      <p:bldP spid="9" grpId="0"/>
      <p:bldP spid="28" grpId="0"/>
      <p:bldP spid="28" grpId="1"/>
      <p:bldP spid="29" grpId="0"/>
      <p:bldP spid="29" grpId="1"/>
      <p:bldP spid="30" grpId="0"/>
      <p:bldP spid="30" grpId="1"/>
      <p:bldP spid="31" grpId="0"/>
      <p:bldP spid="31" grpId="1"/>
      <p:bldP spid="32" grpId="0"/>
      <p:bldP spid="32" grpId="1"/>
      <p:bldP spid="33" grpId="0"/>
      <p:bldP spid="33" grpId="1"/>
      <p:bldP spid="11" grpId="0"/>
    </p:bldLst>
  </p:timing>
</p:sld>
</file>

<file path=ppt/slides/slide1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ym typeface="+mn-ea"/>
              </a:rPr>
              <a:t>Merging</a:t>
            </a:r>
            <a:endParaRPr lang="en-US"/>
          </a:p>
        </p:txBody>
      </p:sp>
      <p:graphicFrame>
        <p:nvGraphicFramePr>
          <p:cNvPr id="4" name="Table 3"/>
          <p:cNvGraphicFramePr/>
          <p:nvPr>
            <p:custDataLst>
              <p:tags r:id="rId1"/>
            </p:custDataLst>
          </p:nvPr>
        </p:nvGraphicFramePr>
        <p:xfrm>
          <a:off x="1838325" y="3025775"/>
          <a:ext cx="3098800" cy="3048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87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73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73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73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873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873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873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873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chemeClr val="accent4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chemeClr val="accent4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Text Box 4"/>
          <p:cNvSpPr txBox="1"/>
          <p:nvPr/>
        </p:nvSpPr>
        <p:spPr>
          <a:xfrm>
            <a:off x="996950" y="1616075"/>
            <a:ext cx="1040574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400">
                <a:sym typeface="+mn-ea"/>
              </a:rPr>
              <a:t>Apply the region splitting and merging on the following image with threshold value equal to 3.</a:t>
            </a:r>
            <a:endParaRPr lang="en-US" sz="2400"/>
          </a:p>
        </p:txBody>
      </p:sp>
      <p:sp>
        <p:nvSpPr>
          <p:cNvPr id="15" name="Text Box 14"/>
          <p:cNvSpPr txBox="1"/>
          <p:nvPr/>
        </p:nvSpPr>
        <p:spPr>
          <a:xfrm>
            <a:off x="1152525" y="5000625"/>
            <a:ext cx="57594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rgbClr val="92D050"/>
                </a:solidFill>
              </a:rPr>
              <a:t>c</a:t>
            </a:r>
          </a:p>
        </p:txBody>
      </p:sp>
      <p:sp>
        <p:nvSpPr>
          <p:cNvPr id="3" name="Text Box 2"/>
          <p:cNvSpPr txBox="1"/>
          <p:nvPr/>
        </p:nvSpPr>
        <p:spPr>
          <a:xfrm>
            <a:off x="2680970" y="6280785"/>
            <a:ext cx="57594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rgbClr val="FFC000"/>
                </a:solidFill>
              </a:rPr>
              <a:t>d1</a:t>
            </a:r>
          </a:p>
        </p:txBody>
      </p:sp>
      <p:sp>
        <p:nvSpPr>
          <p:cNvPr id="7" name="Text Box 6"/>
          <p:cNvSpPr txBox="1"/>
          <p:nvPr/>
        </p:nvSpPr>
        <p:spPr>
          <a:xfrm>
            <a:off x="5202555" y="4665980"/>
            <a:ext cx="57594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rgbClr val="FFC000"/>
                </a:solidFill>
              </a:rPr>
              <a:t>d2</a:t>
            </a:r>
          </a:p>
        </p:txBody>
      </p:sp>
      <p:sp>
        <p:nvSpPr>
          <p:cNvPr id="8" name="Text Box 7"/>
          <p:cNvSpPr txBox="1"/>
          <p:nvPr/>
        </p:nvSpPr>
        <p:spPr>
          <a:xfrm>
            <a:off x="3475990" y="6203950"/>
            <a:ext cx="57594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rgbClr val="FFC000"/>
                </a:solidFill>
              </a:rPr>
              <a:t>d3</a:t>
            </a:r>
          </a:p>
        </p:txBody>
      </p:sp>
      <p:sp>
        <p:nvSpPr>
          <p:cNvPr id="9" name="Text Box 8"/>
          <p:cNvSpPr txBox="1"/>
          <p:nvPr/>
        </p:nvSpPr>
        <p:spPr>
          <a:xfrm>
            <a:off x="5071110" y="6073775"/>
            <a:ext cx="57594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rgbClr val="FFC000"/>
                </a:solidFill>
              </a:rPr>
              <a:t>d4</a:t>
            </a:r>
          </a:p>
        </p:txBody>
      </p:sp>
      <p:cxnSp>
        <p:nvCxnSpPr>
          <p:cNvPr id="10" name="Straight Arrow Connector 9"/>
          <p:cNvCxnSpPr>
            <a:endCxn id="3" idx="0"/>
          </p:cNvCxnSpPr>
          <p:nvPr/>
        </p:nvCxnSpPr>
        <p:spPr>
          <a:xfrm flipH="1">
            <a:off x="2969260" y="4929505"/>
            <a:ext cx="425450" cy="1351280"/>
          </a:xfrm>
          <a:prstGeom prst="straightConnector1">
            <a:avLst/>
          </a:prstGeom>
          <a:ln w="31750" cap="rnd">
            <a:solidFill>
              <a:srgbClr val="FFC000"/>
            </a:solidFill>
            <a:round/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5" name="Text Box 34"/>
          <p:cNvSpPr txBox="1"/>
          <p:nvPr/>
        </p:nvSpPr>
        <p:spPr>
          <a:xfrm>
            <a:off x="4968875" y="2435860"/>
            <a:ext cx="57594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chemeClr val="accent1"/>
                </a:solidFill>
              </a:rPr>
              <a:t>b2</a:t>
            </a:r>
          </a:p>
        </p:txBody>
      </p:sp>
      <p:sp>
        <p:nvSpPr>
          <p:cNvPr id="36" name="Text Box 35"/>
          <p:cNvSpPr txBox="1"/>
          <p:nvPr/>
        </p:nvSpPr>
        <p:spPr>
          <a:xfrm>
            <a:off x="5071110" y="3952240"/>
            <a:ext cx="57594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chemeClr val="accent1"/>
                </a:solidFill>
              </a:rPr>
              <a:t>b4</a:t>
            </a:r>
          </a:p>
        </p:txBody>
      </p:sp>
      <p:sp>
        <p:nvSpPr>
          <p:cNvPr id="37" name="Text Box 36"/>
          <p:cNvSpPr txBox="1"/>
          <p:nvPr/>
        </p:nvSpPr>
        <p:spPr>
          <a:xfrm>
            <a:off x="2588260" y="2426970"/>
            <a:ext cx="57594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chemeClr val="accent1"/>
                </a:solidFill>
              </a:rPr>
              <a:t>b3</a:t>
            </a:r>
          </a:p>
        </p:txBody>
      </p:sp>
      <p:cxnSp>
        <p:nvCxnSpPr>
          <p:cNvPr id="38" name="Straight Arrow Connector 37"/>
          <p:cNvCxnSpPr>
            <a:endCxn id="37" idx="2"/>
          </p:cNvCxnSpPr>
          <p:nvPr/>
        </p:nvCxnSpPr>
        <p:spPr>
          <a:xfrm flipH="1" flipV="1">
            <a:off x="2876550" y="2887345"/>
            <a:ext cx="518160" cy="1267460"/>
          </a:xfrm>
          <a:prstGeom prst="straightConnector1">
            <a:avLst/>
          </a:prstGeom>
          <a:ln w="31750" cap="rnd">
            <a:solidFill>
              <a:schemeClr val="accent1"/>
            </a:solidFill>
            <a:round/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8" name="Text Box 27"/>
          <p:cNvSpPr txBox="1"/>
          <p:nvPr/>
        </p:nvSpPr>
        <p:spPr>
          <a:xfrm>
            <a:off x="7329170" y="3732530"/>
            <a:ext cx="22688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chemeClr val="tx1"/>
                </a:solidFill>
              </a:rPr>
              <a:t>Max Value = 7</a:t>
            </a:r>
          </a:p>
        </p:txBody>
      </p:sp>
      <p:sp>
        <p:nvSpPr>
          <p:cNvPr id="29" name="Text Box 28"/>
          <p:cNvSpPr txBox="1"/>
          <p:nvPr/>
        </p:nvSpPr>
        <p:spPr>
          <a:xfrm>
            <a:off x="7329170" y="4319905"/>
            <a:ext cx="22688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chemeClr val="tx1"/>
                </a:solidFill>
              </a:rPr>
              <a:t>Min Value = 4</a:t>
            </a:r>
          </a:p>
        </p:txBody>
      </p:sp>
      <p:sp>
        <p:nvSpPr>
          <p:cNvPr id="30" name="Text Box 29"/>
          <p:cNvSpPr txBox="1"/>
          <p:nvPr/>
        </p:nvSpPr>
        <p:spPr>
          <a:xfrm>
            <a:off x="6801485" y="5026660"/>
            <a:ext cx="139827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chemeClr val="tx1"/>
                </a:solidFill>
                <a:sym typeface="+mn-ea"/>
              </a:rPr>
              <a:t>|7-4|=3</a:t>
            </a:r>
          </a:p>
        </p:txBody>
      </p:sp>
      <p:sp>
        <p:nvSpPr>
          <p:cNvPr id="31" name="Text Box 30"/>
          <p:cNvSpPr txBox="1"/>
          <p:nvPr/>
        </p:nvSpPr>
        <p:spPr>
          <a:xfrm>
            <a:off x="8199755" y="5026660"/>
            <a:ext cx="139827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400">
                <a:solidFill>
                  <a:schemeClr val="tx1"/>
                </a:solidFill>
              </a:rPr>
              <a:t>&lt;=3</a:t>
            </a:r>
          </a:p>
        </p:txBody>
      </p:sp>
      <p:sp>
        <p:nvSpPr>
          <p:cNvPr id="32" name="Text Box 31"/>
          <p:cNvSpPr txBox="1"/>
          <p:nvPr/>
        </p:nvSpPr>
        <p:spPr>
          <a:xfrm>
            <a:off x="9598025" y="5026660"/>
            <a:ext cx="508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400">
                <a:solidFill>
                  <a:srgbClr val="92D050"/>
                </a:solidFill>
                <a:sym typeface="+mn-ea"/>
              </a:rPr>
              <a:t>✔</a:t>
            </a:r>
            <a:endParaRPr lang="en-US" sz="2400">
              <a:solidFill>
                <a:srgbClr val="FF0000"/>
              </a:solidFill>
              <a:sym typeface="+mn-ea"/>
            </a:endParaRPr>
          </a:p>
        </p:txBody>
      </p:sp>
      <p:sp>
        <p:nvSpPr>
          <p:cNvPr id="33" name="Text Box 32"/>
          <p:cNvSpPr txBox="1"/>
          <p:nvPr/>
        </p:nvSpPr>
        <p:spPr>
          <a:xfrm>
            <a:off x="7004050" y="3212465"/>
            <a:ext cx="291973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chemeClr val="tx1"/>
                </a:solidFill>
              </a:rPr>
              <a:t>For Regions </a:t>
            </a:r>
            <a:r>
              <a:rPr lang="en-US" sz="2400">
                <a:solidFill>
                  <a:srgbClr val="FF0000"/>
                </a:solidFill>
              </a:rPr>
              <a:t>ab1</a:t>
            </a:r>
            <a:r>
              <a:rPr lang="en-US" sz="2400">
                <a:solidFill>
                  <a:schemeClr val="tx1"/>
                </a:solidFill>
              </a:rPr>
              <a:t> &amp; </a:t>
            </a:r>
            <a:r>
              <a:rPr lang="en-US" sz="2400">
                <a:solidFill>
                  <a:schemeClr val="accent1"/>
                </a:solidFill>
              </a:rPr>
              <a:t>b2</a:t>
            </a:r>
            <a:r>
              <a:rPr lang="en-US" sz="2400">
                <a:solidFill>
                  <a:schemeClr val="tx1"/>
                </a:solidFill>
              </a:rPr>
              <a:t>,</a:t>
            </a:r>
          </a:p>
        </p:txBody>
      </p:sp>
      <p:sp>
        <p:nvSpPr>
          <p:cNvPr id="11" name="Text Box 10"/>
          <p:cNvSpPr txBox="1"/>
          <p:nvPr/>
        </p:nvSpPr>
        <p:spPr>
          <a:xfrm>
            <a:off x="1152525" y="2565400"/>
            <a:ext cx="6858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rgbClr val="FF0000"/>
                </a:solidFill>
              </a:rPr>
              <a:t>ab1</a:t>
            </a:r>
          </a:p>
        </p:txBody>
      </p:sp>
      <p:sp>
        <p:nvSpPr>
          <p:cNvPr id="6" name="Text Box 5"/>
          <p:cNvSpPr txBox="1"/>
          <p:nvPr/>
        </p:nvSpPr>
        <p:spPr>
          <a:xfrm>
            <a:off x="783590" y="3170555"/>
            <a:ext cx="97155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rgbClr val="FF0000"/>
                </a:solidFill>
              </a:rPr>
              <a:t>ab1b2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3" presetClass="exit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9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3" grpId="0"/>
      <p:bldP spid="7" grpId="0"/>
      <p:bldP spid="8" grpId="0"/>
      <p:bldP spid="9" grpId="0"/>
      <p:bldP spid="35" grpId="0"/>
      <p:bldP spid="35" grpId="1"/>
      <p:bldP spid="28" grpId="0"/>
      <p:bldP spid="29" grpId="0"/>
      <p:bldP spid="30" grpId="0"/>
      <p:bldP spid="31" grpId="0"/>
      <p:bldP spid="32" grpId="0"/>
      <p:bldP spid="33" grpId="0"/>
      <p:bldP spid="11" grpId="0"/>
      <p:bldP spid="11" grpId="1"/>
      <p:bldP spid="6" grpId="0"/>
      <p:bldP spid="6" grpId="1"/>
    </p:bldLst>
  </p:timing>
</p:sld>
</file>

<file path=ppt/slides/slide1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ym typeface="+mn-ea"/>
              </a:rPr>
              <a:t>Merging</a:t>
            </a:r>
            <a:endParaRPr lang="en-US"/>
          </a:p>
        </p:txBody>
      </p:sp>
      <p:graphicFrame>
        <p:nvGraphicFramePr>
          <p:cNvPr id="4" name="Table 3"/>
          <p:cNvGraphicFramePr/>
          <p:nvPr>
            <p:custDataLst>
              <p:tags r:id="rId1"/>
            </p:custDataLst>
          </p:nvPr>
        </p:nvGraphicFramePr>
        <p:xfrm>
          <a:off x="1838325" y="3025775"/>
          <a:ext cx="3098800" cy="3048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87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73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73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73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873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873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873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873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chemeClr val="accent4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chemeClr val="accent4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Text Box 4"/>
          <p:cNvSpPr txBox="1"/>
          <p:nvPr/>
        </p:nvSpPr>
        <p:spPr>
          <a:xfrm>
            <a:off x="996950" y="1616075"/>
            <a:ext cx="1040574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400">
                <a:sym typeface="+mn-ea"/>
              </a:rPr>
              <a:t>Apply the region splitting and merging on the following image with threshold value equal to 3.</a:t>
            </a:r>
            <a:endParaRPr lang="en-US" sz="2400"/>
          </a:p>
        </p:txBody>
      </p:sp>
      <p:sp>
        <p:nvSpPr>
          <p:cNvPr id="15" name="Text Box 14"/>
          <p:cNvSpPr txBox="1"/>
          <p:nvPr/>
        </p:nvSpPr>
        <p:spPr>
          <a:xfrm>
            <a:off x="1152525" y="5000625"/>
            <a:ext cx="57594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rgbClr val="92D050"/>
                </a:solidFill>
              </a:rPr>
              <a:t>c</a:t>
            </a:r>
          </a:p>
        </p:txBody>
      </p:sp>
      <p:sp>
        <p:nvSpPr>
          <p:cNvPr id="3" name="Text Box 2"/>
          <p:cNvSpPr txBox="1"/>
          <p:nvPr/>
        </p:nvSpPr>
        <p:spPr>
          <a:xfrm>
            <a:off x="2680970" y="6280785"/>
            <a:ext cx="57594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rgbClr val="FFC000"/>
                </a:solidFill>
              </a:rPr>
              <a:t>d1</a:t>
            </a:r>
          </a:p>
        </p:txBody>
      </p:sp>
      <p:sp>
        <p:nvSpPr>
          <p:cNvPr id="7" name="Text Box 6"/>
          <p:cNvSpPr txBox="1"/>
          <p:nvPr/>
        </p:nvSpPr>
        <p:spPr>
          <a:xfrm>
            <a:off x="5202555" y="4665980"/>
            <a:ext cx="57594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rgbClr val="FFC000"/>
                </a:solidFill>
              </a:rPr>
              <a:t>d2</a:t>
            </a:r>
          </a:p>
        </p:txBody>
      </p:sp>
      <p:sp>
        <p:nvSpPr>
          <p:cNvPr id="8" name="Text Box 7"/>
          <p:cNvSpPr txBox="1"/>
          <p:nvPr/>
        </p:nvSpPr>
        <p:spPr>
          <a:xfrm>
            <a:off x="3475990" y="6203950"/>
            <a:ext cx="57594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rgbClr val="FFC000"/>
                </a:solidFill>
              </a:rPr>
              <a:t>d3</a:t>
            </a:r>
          </a:p>
        </p:txBody>
      </p:sp>
      <p:sp>
        <p:nvSpPr>
          <p:cNvPr id="9" name="Text Box 8"/>
          <p:cNvSpPr txBox="1"/>
          <p:nvPr/>
        </p:nvSpPr>
        <p:spPr>
          <a:xfrm>
            <a:off x="5071110" y="6073775"/>
            <a:ext cx="57594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rgbClr val="FFC000"/>
                </a:solidFill>
              </a:rPr>
              <a:t>d4</a:t>
            </a:r>
          </a:p>
        </p:txBody>
      </p:sp>
      <p:cxnSp>
        <p:nvCxnSpPr>
          <p:cNvPr id="10" name="Straight Arrow Connector 9"/>
          <p:cNvCxnSpPr>
            <a:endCxn id="3" idx="0"/>
          </p:cNvCxnSpPr>
          <p:nvPr/>
        </p:nvCxnSpPr>
        <p:spPr>
          <a:xfrm flipH="1">
            <a:off x="2969260" y="4929505"/>
            <a:ext cx="425450" cy="1351280"/>
          </a:xfrm>
          <a:prstGeom prst="straightConnector1">
            <a:avLst/>
          </a:prstGeom>
          <a:ln w="31750" cap="rnd">
            <a:solidFill>
              <a:srgbClr val="FFC000"/>
            </a:solidFill>
            <a:round/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6" name="Text Box 35"/>
          <p:cNvSpPr txBox="1"/>
          <p:nvPr/>
        </p:nvSpPr>
        <p:spPr>
          <a:xfrm>
            <a:off x="5071110" y="3952240"/>
            <a:ext cx="57594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chemeClr val="accent1"/>
                </a:solidFill>
              </a:rPr>
              <a:t>b4</a:t>
            </a:r>
          </a:p>
        </p:txBody>
      </p:sp>
      <p:sp>
        <p:nvSpPr>
          <p:cNvPr id="37" name="Text Box 36"/>
          <p:cNvSpPr txBox="1"/>
          <p:nvPr/>
        </p:nvSpPr>
        <p:spPr>
          <a:xfrm>
            <a:off x="2588260" y="2426970"/>
            <a:ext cx="57594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chemeClr val="accent1"/>
                </a:solidFill>
              </a:rPr>
              <a:t>b3</a:t>
            </a:r>
          </a:p>
        </p:txBody>
      </p:sp>
      <p:cxnSp>
        <p:nvCxnSpPr>
          <p:cNvPr id="38" name="Straight Arrow Connector 37"/>
          <p:cNvCxnSpPr>
            <a:endCxn id="37" idx="2"/>
          </p:cNvCxnSpPr>
          <p:nvPr/>
        </p:nvCxnSpPr>
        <p:spPr>
          <a:xfrm flipH="1" flipV="1">
            <a:off x="2876550" y="2887345"/>
            <a:ext cx="518160" cy="1267460"/>
          </a:xfrm>
          <a:prstGeom prst="straightConnector1">
            <a:avLst/>
          </a:prstGeom>
          <a:ln w="31750" cap="rnd">
            <a:solidFill>
              <a:schemeClr val="accent1"/>
            </a:solidFill>
            <a:round/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8" name="Text Box 27"/>
          <p:cNvSpPr txBox="1"/>
          <p:nvPr/>
        </p:nvSpPr>
        <p:spPr>
          <a:xfrm>
            <a:off x="7329170" y="3732530"/>
            <a:ext cx="22688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chemeClr val="tx1"/>
                </a:solidFill>
              </a:rPr>
              <a:t>Max Value = 7</a:t>
            </a:r>
          </a:p>
        </p:txBody>
      </p:sp>
      <p:sp>
        <p:nvSpPr>
          <p:cNvPr id="29" name="Text Box 28"/>
          <p:cNvSpPr txBox="1"/>
          <p:nvPr/>
        </p:nvSpPr>
        <p:spPr>
          <a:xfrm>
            <a:off x="7329170" y="4319905"/>
            <a:ext cx="22688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chemeClr val="tx1"/>
                </a:solidFill>
              </a:rPr>
              <a:t>Min Value = 2</a:t>
            </a:r>
          </a:p>
        </p:txBody>
      </p:sp>
      <p:sp>
        <p:nvSpPr>
          <p:cNvPr id="30" name="Text Box 29"/>
          <p:cNvSpPr txBox="1"/>
          <p:nvPr/>
        </p:nvSpPr>
        <p:spPr>
          <a:xfrm>
            <a:off x="6801485" y="5026660"/>
            <a:ext cx="139827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chemeClr val="tx1"/>
                </a:solidFill>
                <a:sym typeface="+mn-ea"/>
              </a:rPr>
              <a:t>|7-2|=5</a:t>
            </a:r>
          </a:p>
        </p:txBody>
      </p:sp>
      <p:sp>
        <p:nvSpPr>
          <p:cNvPr id="31" name="Text Box 30"/>
          <p:cNvSpPr txBox="1"/>
          <p:nvPr/>
        </p:nvSpPr>
        <p:spPr>
          <a:xfrm>
            <a:off x="8199755" y="5026660"/>
            <a:ext cx="139827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400">
                <a:solidFill>
                  <a:schemeClr val="tx1"/>
                </a:solidFill>
              </a:rPr>
              <a:t>&lt;=3</a:t>
            </a:r>
          </a:p>
        </p:txBody>
      </p:sp>
      <p:sp>
        <p:nvSpPr>
          <p:cNvPr id="32" name="Text Box 31"/>
          <p:cNvSpPr txBox="1"/>
          <p:nvPr/>
        </p:nvSpPr>
        <p:spPr>
          <a:xfrm>
            <a:off x="9598025" y="5026660"/>
            <a:ext cx="508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400">
                <a:solidFill>
                  <a:srgbClr val="FF0000"/>
                </a:solidFill>
                <a:sym typeface="+mn-ea"/>
              </a:rPr>
              <a:t>X</a:t>
            </a:r>
          </a:p>
        </p:txBody>
      </p:sp>
      <p:sp>
        <p:nvSpPr>
          <p:cNvPr id="33" name="Text Box 32"/>
          <p:cNvSpPr txBox="1"/>
          <p:nvPr/>
        </p:nvSpPr>
        <p:spPr>
          <a:xfrm>
            <a:off x="6738620" y="3212465"/>
            <a:ext cx="345059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chemeClr val="tx1"/>
                </a:solidFill>
              </a:rPr>
              <a:t>For Regions </a:t>
            </a:r>
            <a:r>
              <a:rPr lang="en-US" sz="2400">
                <a:solidFill>
                  <a:srgbClr val="FF0000"/>
                </a:solidFill>
              </a:rPr>
              <a:t>ab1b2</a:t>
            </a:r>
            <a:r>
              <a:rPr lang="en-US" sz="2400">
                <a:solidFill>
                  <a:schemeClr val="tx1"/>
                </a:solidFill>
              </a:rPr>
              <a:t> &amp; </a:t>
            </a:r>
            <a:r>
              <a:rPr lang="en-US" sz="2400">
                <a:solidFill>
                  <a:schemeClr val="accent1"/>
                </a:solidFill>
              </a:rPr>
              <a:t>b3</a:t>
            </a:r>
            <a:r>
              <a:rPr lang="en-US" sz="2400">
                <a:solidFill>
                  <a:schemeClr val="tx1"/>
                </a:solidFill>
              </a:rPr>
              <a:t>,</a:t>
            </a:r>
          </a:p>
        </p:txBody>
      </p:sp>
      <p:sp>
        <p:nvSpPr>
          <p:cNvPr id="6" name="Text Box 5"/>
          <p:cNvSpPr txBox="1"/>
          <p:nvPr/>
        </p:nvSpPr>
        <p:spPr>
          <a:xfrm>
            <a:off x="783590" y="3170555"/>
            <a:ext cx="97155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rgbClr val="FF0000"/>
                </a:solidFill>
              </a:rPr>
              <a:t>ab1b2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3" grpId="0"/>
      <p:bldP spid="7" grpId="0"/>
      <p:bldP spid="8" grpId="0"/>
      <p:bldP spid="9" grpId="0"/>
      <p:bldP spid="28" grpId="0"/>
      <p:bldP spid="28" grpId="1"/>
      <p:bldP spid="29" grpId="0"/>
      <p:bldP spid="29" grpId="1"/>
      <p:bldP spid="30" grpId="0"/>
      <p:bldP spid="30" grpId="1"/>
      <p:bldP spid="31" grpId="0"/>
      <p:bldP spid="31" grpId="1"/>
      <p:bldP spid="32" grpId="0"/>
      <p:bldP spid="32" grpId="1"/>
      <p:bldP spid="33" grpId="0"/>
      <p:bldP spid="33" grpId="1"/>
      <p:bldP spid="6" grpId="0"/>
    </p:bldLst>
  </p:timing>
</p:sld>
</file>

<file path=ppt/slides/slide1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ym typeface="+mn-ea"/>
              </a:rPr>
              <a:t>Merging</a:t>
            </a:r>
            <a:endParaRPr lang="en-US"/>
          </a:p>
        </p:txBody>
      </p:sp>
      <p:graphicFrame>
        <p:nvGraphicFramePr>
          <p:cNvPr id="4" name="Table 3"/>
          <p:cNvGraphicFramePr/>
          <p:nvPr>
            <p:custDataLst>
              <p:tags r:id="rId1"/>
            </p:custDataLst>
          </p:nvPr>
        </p:nvGraphicFramePr>
        <p:xfrm>
          <a:off x="1838325" y="3025775"/>
          <a:ext cx="3098800" cy="3048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87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73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73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73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873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873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873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873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chemeClr val="accent4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chemeClr val="accent4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Text Box 4"/>
          <p:cNvSpPr txBox="1"/>
          <p:nvPr/>
        </p:nvSpPr>
        <p:spPr>
          <a:xfrm>
            <a:off x="996950" y="1616075"/>
            <a:ext cx="1040574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400">
                <a:sym typeface="+mn-ea"/>
              </a:rPr>
              <a:t>Apply the region splitting and merging on the following image with threshold value equal to 3.</a:t>
            </a:r>
            <a:endParaRPr lang="en-US" sz="2400"/>
          </a:p>
        </p:txBody>
      </p:sp>
      <p:sp>
        <p:nvSpPr>
          <p:cNvPr id="15" name="Text Box 14"/>
          <p:cNvSpPr txBox="1"/>
          <p:nvPr/>
        </p:nvSpPr>
        <p:spPr>
          <a:xfrm>
            <a:off x="1152525" y="5000625"/>
            <a:ext cx="57594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rgbClr val="92D050"/>
                </a:solidFill>
              </a:rPr>
              <a:t>c</a:t>
            </a:r>
          </a:p>
        </p:txBody>
      </p:sp>
      <p:sp>
        <p:nvSpPr>
          <p:cNvPr id="3" name="Text Box 2"/>
          <p:cNvSpPr txBox="1"/>
          <p:nvPr/>
        </p:nvSpPr>
        <p:spPr>
          <a:xfrm>
            <a:off x="2680970" y="6280785"/>
            <a:ext cx="57594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rgbClr val="FFC000"/>
                </a:solidFill>
              </a:rPr>
              <a:t>d1</a:t>
            </a:r>
          </a:p>
        </p:txBody>
      </p:sp>
      <p:sp>
        <p:nvSpPr>
          <p:cNvPr id="7" name="Text Box 6"/>
          <p:cNvSpPr txBox="1"/>
          <p:nvPr/>
        </p:nvSpPr>
        <p:spPr>
          <a:xfrm>
            <a:off x="5202555" y="4665980"/>
            <a:ext cx="57594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rgbClr val="FFC000"/>
                </a:solidFill>
              </a:rPr>
              <a:t>d2</a:t>
            </a:r>
          </a:p>
        </p:txBody>
      </p:sp>
      <p:sp>
        <p:nvSpPr>
          <p:cNvPr id="8" name="Text Box 7"/>
          <p:cNvSpPr txBox="1"/>
          <p:nvPr/>
        </p:nvSpPr>
        <p:spPr>
          <a:xfrm>
            <a:off x="3475990" y="6203950"/>
            <a:ext cx="57594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rgbClr val="FFC000"/>
                </a:solidFill>
              </a:rPr>
              <a:t>d3</a:t>
            </a:r>
          </a:p>
        </p:txBody>
      </p:sp>
      <p:sp>
        <p:nvSpPr>
          <p:cNvPr id="9" name="Text Box 8"/>
          <p:cNvSpPr txBox="1"/>
          <p:nvPr/>
        </p:nvSpPr>
        <p:spPr>
          <a:xfrm>
            <a:off x="5071110" y="6073775"/>
            <a:ext cx="57594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rgbClr val="FFC000"/>
                </a:solidFill>
              </a:rPr>
              <a:t>d4</a:t>
            </a:r>
          </a:p>
        </p:txBody>
      </p:sp>
      <p:cxnSp>
        <p:nvCxnSpPr>
          <p:cNvPr id="10" name="Straight Arrow Connector 9"/>
          <p:cNvCxnSpPr>
            <a:endCxn id="3" idx="0"/>
          </p:cNvCxnSpPr>
          <p:nvPr/>
        </p:nvCxnSpPr>
        <p:spPr>
          <a:xfrm flipH="1">
            <a:off x="2969260" y="4929505"/>
            <a:ext cx="425450" cy="1351280"/>
          </a:xfrm>
          <a:prstGeom prst="straightConnector1">
            <a:avLst/>
          </a:prstGeom>
          <a:ln w="31750" cap="rnd">
            <a:solidFill>
              <a:srgbClr val="FFC000"/>
            </a:solidFill>
            <a:round/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6" name="Text Box 35"/>
          <p:cNvSpPr txBox="1"/>
          <p:nvPr/>
        </p:nvSpPr>
        <p:spPr>
          <a:xfrm>
            <a:off x="5071110" y="3952240"/>
            <a:ext cx="57594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chemeClr val="accent1"/>
                </a:solidFill>
              </a:rPr>
              <a:t>b4</a:t>
            </a:r>
          </a:p>
        </p:txBody>
      </p:sp>
      <p:sp>
        <p:nvSpPr>
          <p:cNvPr id="37" name="Text Box 36"/>
          <p:cNvSpPr txBox="1"/>
          <p:nvPr/>
        </p:nvSpPr>
        <p:spPr>
          <a:xfrm>
            <a:off x="2588260" y="2426970"/>
            <a:ext cx="57594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chemeClr val="accent1"/>
                </a:solidFill>
              </a:rPr>
              <a:t>b3</a:t>
            </a:r>
          </a:p>
        </p:txBody>
      </p:sp>
      <p:cxnSp>
        <p:nvCxnSpPr>
          <p:cNvPr id="38" name="Straight Arrow Connector 37"/>
          <p:cNvCxnSpPr>
            <a:endCxn id="37" idx="2"/>
          </p:cNvCxnSpPr>
          <p:nvPr/>
        </p:nvCxnSpPr>
        <p:spPr>
          <a:xfrm flipH="1" flipV="1">
            <a:off x="2876550" y="2887345"/>
            <a:ext cx="518160" cy="1267460"/>
          </a:xfrm>
          <a:prstGeom prst="straightConnector1">
            <a:avLst/>
          </a:prstGeom>
          <a:ln w="31750" cap="rnd">
            <a:solidFill>
              <a:schemeClr val="accent1"/>
            </a:solidFill>
            <a:round/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8" name="Text Box 27"/>
          <p:cNvSpPr txBox="1"/>
          <p:nvPr/>
        </p:nvSpPr>
        <p:spPr>
          <a:xfrm>
            <a:off x="7329170" y="3732530"/>
            <a:ext cx="22688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chemeClr val="tx1"/>
                </a:solidFill>
              </a:rPr>
              <a:t>Max Value = 7</a:t>
            </a:r>
          </a:p>
        </p:txBody>
      </p:sp>
      <p:sp>
        <p:nvSpPr>
          <p:cNvPr id="29" name="Text Box 28"/>
          <p:cNvSpPr txBox="1"/>
          <p:nvPr/>
        </p:nvSpPr>
        <p:spPr>
          <a:xfrm>
            <a:off x="7329170" y="4319905"/>
            <a:ext cx="22688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chemeClr val="tx1"/>
                </a:solidFill>
              </a:rPr>
              <a:t>Min Value = 4</a:t>
            </a:r>
          </a:p>
        </p:txBody>
      </p:sp>
      <p:sp>
        <p:nvSpPr>
          <p:cNvPr id="30" name="Text Box 29"/>
          <p:cNvSpPr txBox="1"/>
          <p:nvPr/>
        </p:nvSpPr>
        <p:spPr>
          <a:xfrm>
            <a:off x="6801485" y="5026660"/>
            <a:ext cx="139827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chemeClr val="tx1"/>
                </a:solidFill>
                <a:sym typeface="+mn-ea"/>
              </a:rPr>
              <a:t>|7-4|=3</a:t>
            </a:r>
          </a:p>
        </p:txBody>
      </p:sp>
      <p:sp>
        <p:nvSpPr>
          <p:cNvPr id="31" name="Text Box 30"/>
          <p:cNvSpPr txBox="1"/>
          <p:nvPr/>
        </p:nvSpPr>
        <p:spPr>
          <a:xfrm>
            <a:off x="8199755" y="5026660"/>
            <a:ext cx="139827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400">
                <a:solidFill>
                  <a:schemeClr val="tx1"/>
                </a:solidFill>
              </a:rPr>
              <a:t>&lt;=3</a:t>
            </a:r>
          </a:p>
        </p:txBody>
      </p:sp>
      <p:sp>
        <p:nvSpPr>
          <p:cNvPr id="32" name="Text Box 31"/>
          <p:cNvSpPr txBox="1"/>
          <p:nvPr/>
        </p:nvSpPr>
        <p:spPr>
          <a:xfrm>
            <a:off x="9598025" y="5026660"/>
            <a:ext cx="508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400">
                <a:solidFill>
                  <a:srgbClr val="92D050"/>
                </a:solidFill>
                <a:sym typeface="+mn-ea"/>
              </a:rPr>
              <a:t>✔</a:t>
            </a:r>
            <a:endParaRPr lang="en-US" sz="2400">
              <a:solidFill>
                <a:srgbClr val="FF0000"/>
              </a:solidFill>
              <a:sym typeface="+mn-ea"/>
            </a:endParaRPr>
          </a:p>
        </p:txBody>
      </p:sp>
      <p:sp>
        <p:nvSpPr>
          <p:cNvPr id="33" name="Text Box 32"/>
          <p:cNvSpPr txBox="1"/>
          <p:nvPr/>
        </p:nvSpPr>
        <p:spPr>
          <a:xfrm>
            <a:off x="6738620" y="3212465"/>
            <a:ext cx="345059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chemeClr val="tx1"/>
                </a:solidFill>
              </a:rPr>
              <a:t>For Regions </a:t>
            </a:r>
            <a:r>
              <a:rPr lang="en-US" sz="2400">
                <a:solidFill>
                  <a:srgbClr val="FF0000"/>
                </a:solidFill>
              </a:rPr>
              <a:t>ab1b2</a:t>
            </a:r>
            <a:r>
              <a:rPr lang="en-US" sz="2400">
                <a:solidFill>
                  <a:schemeClr val="tx1"/>
                </a:solidFill>
              </a:rPr>
              <a:t> &amp; </a:t>
            </a:r>
            <a:r>
              <a:rPr lang="en-US" sz="2400">
                <a:solidFill>
                  <a:schemeClr val="accent1"/>
                </a:solidFill>
              </a:rPr>
              <a:t>b4</a:t>
            </a:r>
            <a:r>
              <a:rPr lang="en-US" sz="2400">
                <a:solidFill>
                  <a:schemeClr val="tx1"/>
                </a:solidFill>
              </a:rPr>
              <a:t>,</a:t>
            </a:r>
          </a:p>
        </p:txBody>
      </p:sp>
      <p:sp>
        <p:nvSpPr>
          <p:cNvPr id="6" name="Text Box 5"/>
          <p:cNvSpPr txBox="1"/>
          <p:nvPr/>
        </p:nvSpPr>
        <p:spPr>
          <a:xfrm>
            <a:off x="783590" y="3170555"/>
            <a:ext cx="97155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rgbClr val="FF0000"/>
                </a:solidFill>
              </a:rPr>
              <a:t>ab1b2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3" grpId="0"/>
      <p:bldP spid="7" grpId="0"/>
      <p:bldP spid="8" grpId="0"/>
      <p:bldP spid="9" grpId="0"/>
      <p:bldP spid="28" grpId="0"/>
      <p:bldP spid="28" grpId="1"/>
      <p:bldP spid="29" grpId="0"/>
      <p:bldP spid="29" grpId="1"/>
      <p:bldP spid="30" grpId="0"/>
      <p:bldP spid="30" grpId="1"/>
      <p:bldP spid="31" grpId="0"/>
      <p:bldP spid="31" grpId="1"/>
      <p:bldP spid="32" grpId="0"/>
      <p:bldP spid="32" grpId="1"/>
      <p:bldP spid="33" grpId="0"/>
      <p:bldP spid="33" grpId="1"/>
      <p:bldP spid="6" grpId="0"/>
    </p:bldLst>
  </p:timing>
</p:sld>
</file>

<file path=ppt/slides/slide1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ym typeface="+mn-ea"/>
              </a:rPr>
              <a:t>Merging</a:t>
            </a:r>
            <a:endParaRPr lang="en-US"/>
          </a:p>
        </p:txBody>
      </p:sp>
      <p:graphicFrame>
        <p:nvGraphicFramePr>
          <p:cNvPr id="4" name="Table 3"/>
          <p:cNvGraphicFramePr/>
          <p:nvPr>
            <p:custDataLst>
              <p:tags r:id="rId1"/>
            </p:custDataLst>
          </p:nvPr>
        </p:nvGraphicFramePr>
        <p:xfrm>
          <a:off x="1838325" y="3025775"/>
          <a:ext cx="3098800" cy="3048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87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73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73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73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873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873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873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873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chemeClr val="accent4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chemeClr val="accent4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Text Box 4"/>
          <p:cNvSpPr txBox="1"/>
          <p:nvPr/>
        </p:nvSpPr>
        <p:spPr>
          <a:xfrm>
            <a:off x="996950" y="1616075"/>
            <a:ext cx="1040574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400">
                <a:sym typeface="+mn-ea"/>
              </a:rPr>
              <a:t>Apply the region splitting and merging on the following image with threshold value equal to 3.</a:t>
            </a:r>
            <a:endParaRPr lang="en-US" sz="2400"/>
          </a:p>
        </p:txBody>
      </p:sp>
      <p:sp>
        <p:nvSpPr>
          <p:cNvPr id="15" name="Text Box 14"/>
          <p:cNvSpPr txBox="1"/>
          <p:nvPr/>
        </p:nvSpPr>
        <p:spPr>
          <a:xfrm>
            <a:off x="1152525" y="5000625"/>
            <a:ext cx="57594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rgbClr val="92D050"/>
                </a:solidFill>
              </a:rPr>
              <a:t>c</a:t>
            </a:r>
          </a:p>
        </p:txBody>
      </p:sp>
      <p:sp>
        <p:nvSpPr>
          <p:cNvPr id="3" name="Text Box 2"/>
          <p:cNvSpPr txBox="1"/>
          <p:nvPr/>
        </p:nvSpPr>
        <p:spPr>
          <a:xfrm>
            <a:off x="2680970" y="6280785"/>
            <a:ext cx="57594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rgbClr val="FFC000"/>
                </a:solidFill>
              </a:rPr>
              <a:t>d1</a:t>
            </a:r>
          </a:p>
        </p:txBody>
      </p:sp>
      <p:sp>
        <p:nvSpPr>
          <p:cNvPr id="7" name="Text Box 6"/>
          <p:cNvSpPr txBox="1"/>
          <p:nvPr/>
        </p:nvSpPr>
        <p:spPr>
          <a:xfrm>
            <a:off x="5202555" y="4665980"/>
            <a:ext cx="57594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rgbClr val="FFC000"/>
                </a:solidFill>
              </a:rPr>
              <a:t>d2</a:t>
            </a:r>
          </a:p>
        </p:txBody>
      </p:sp>
      <p:sp>
        <p:nvSpPr>
          <p:cNvPr id="8" name="Text Box 7"/>
          <p:cNvSpPr txBox="1"/>
          <p:nvPr/>
        </p:nvSpPr>
        <p:spPr>
          <a:xfrm>
            <a:off x="3475990" y="6203950"/>
            <a:ext cx="57594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rgbClr val="FFC000"/>
                </a:solidFill>
              </a:rPr>
              <a:t>d3</a:t>
            </a:r>
          </a:p>
        </p:txBody>
      </p:sp>
      <p:sp>
        <p:nvSpPr>
          <p:cNvPr id="9" name="Text Box 8"/>
          <p:cNvSpPr txBox="1"/>
          <p:nvPr/>
        </p:nvSpPr>
        <p:spPr>
          <a:xfrm>
            <a:off x="5071110" y="6073775"/>
            <a:ext cx="57594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rgbClr val="FFC000"/>
                </a:solidFill>
              </a:rPr>
              <a:t>d4</a:t>
            </a:r>
          </a:p>
        </p:txBody>
      </p:sp>
      <p:cxnSp>
        <p:nvCxnSpPr>
          <p:cNvPr id="10" name="Straight Arrow Connector 9"/>
          <p:cNvCxnSpPr>
            <a:endCxn id="3" idx="0"/>
          </p:cNvCxnSpPr>
          <p:nvPr/>
        </p:nvCxnSpPr>
        <p:spPr>
          <a:xfrm flipH="1">
            <a:off x="2969260" y="4929505"/>
            <a:ext cx="425450" cy="1351280"/>
          </a:xfrm>
          <a:prstGeom prst="straightConnector1">
            <a:avLst/>
          </a:prstGeom>
          <a:ln w="31750" cap="rnd">
            <a:solidFill>
              <a:srgbClr val="FFC000"/>
            </a:solidFill>
            <a:round/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6" name="Text Box 35"/>
          <p:cNvSpPr txBox="1"/>
          <p:nvPr/>
        </p:nvSpPr>
        <p:spPr>
          <a:xfrm>
            <a:off x="5071110" y="3952240"/>
            <a:ext cx="57594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chemeClr val="accent1"/>
                </a:solidFill>
              </a:rPr>
              <a:t>b4</a:t>
            </a:r>
          </a:p>
        </p:txBody>
      </p:sp>
      <p:sp>
        <p:nvSpPr>
          <p:cNvPr id="37" name="Text Box 36"/>
          <p:cNvSpPr txBox="1"/>
          <p:nvPr/>
        </p:nvSpPr>
        <p:spPr>
          <a:xfrm>
            <a:off x="2588260" y="2426970"/>
            <a:ext cx="57594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chemeClr val="accent1"/>
                </a:solidFill>
              </a:rPr>
              <a:t>b3</a:t>
            </a:r>
          </a:p>
        </p:txBody>
      </p:sp>
      <p:cxnSp>
        <p:nvCxnSpPr>
          <p:cNvPr id="38" name="Straight Arrow Connector 37"/>
          <p:cNvCxnSpPr>
            <a:endCxn id="37" idx="2"/>
          </p:cNvCxnSpPr>
          <p:nvPr/>
        </p:nvCxnSpPr>
        <p:spPr>
          <a:xfrm flipH="1" flipV="1">
            <a:off x="2876550" y="2887345"/>
            <a:ext cx="518160" cy="1267460"/>
          </a:xfrm>
          <a:prstGeom prst="straightConnector1">
            <a:avLst/>
          </a:prstGeom>
          <a:ln w="31750" cap="rnd">
            <a:solidFill>
              <a:schemeClr val="accent1"/>
            </a:solidFill>
            <a:round/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8" name="Text Box 27"/>
          <p:cNvSpPr txBox="1"/>
          <p:nvPr/>
        </p:nvSpPr>
        <p:spPr>
          <a:xfrm>
            <a:off x="7329170" y="3732530"/>
            <a:ext cx="22688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chemeClr val="tx1"/>
                </a:solidFill>
              </a:rPr>
              <a:t>Max Value = 7</a:t>
            </a:r>
          </a:p>
        </p:txBody>
      </p:sp>
      <p:sp>
        <p:nvSpPr>
          <p:cNvPr id="29" name="Text Box 28"/>
          <p:cNvSpPr txBox="1"/>
          <p:nvPr/>
        </p:nvSpPr>
        <p:spPr>
          <a:xfrm>
            <a:off x="7329170" y="4319905"/>
            <a:ext cx="22688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chemeClr val="tx1"/>
                </a:solidFill>
              </a:rPr>
              <a:t>Min Value = 4</a:t>
            </a:r>
          </a:p>
        </p:txBody>
      </p:sp>
      <p:sp>
        <p:nvSpPr>
          <p:cNvPr id="30" name="Text Box 29"/>
          <p:cNvSpPr txBox="1"/>
          <p:nvPr/>
        </p:nvSpPr>
        <p:spPr>
          <a:xfrm>
            <a:off x="6801485" y="5026660"/>
            <a:ext cx="139827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chemeClr val="tx1"/>
                </a:solidFill>
                <a:sym typeface="+mn-ea"/>
              </a:rPr>
              <a:t>|7-4|=3</a:t>
            </a:r>
          </a:p>
        </p:txBody>
      </p:sp>
      <p:sp>
        <p:nvSpPr>
          <p:cNvPr id="31" name="Text Box 30"/>
          <p:cNvSpPr txBox="1"/>
          <p:nvPr/>
        </p:nvSpPr>
        <p:spPr>
          <a:xfrm>
            <a:off x="8199755" y="5026660"/>
            <a:ext cx="139827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400">
                <a:solidFill>
                  <a:schemeClr val="tx1"/>
                </a:solidFill>
              </a:rPr>
              <a:t>&lt;=3</a:t>
            </a:r>
          </a:p>
        </p:txBody>
      </p:sp>
      <p:sp>
        <p:nvSpPr>
          <p:cNvPr id="32" name="Text Box 31"/>
          <p:cNvSpPr txBox="1"/>
          <p:nvPr/>
        </p:nvSpPr>
        <p:spPr>
          <a:xfrm>
            <a:off x="9598025" y="5026660"/>
            <a:ext cx="508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400">
                <a:solidFill>
                  <a:srgbClr val="92D050"/>
                </a:solidFill>
                <a:sym typeface="+mn-ea"/>
              </a:rPr>
              <a:t>✔</a:t>
            </a:r>
            <a:endParaRPr lang="en-US" sz="2400">
              <a:solidFill>
                <a:srgbClr val="FF0000"/>
              </a:solidFill>
              <a:sym typeface="+mn-ea"/>
            </a:endParaRPr>
          </a:p>
        </p:txBody>
      </p:sp>
      <p:sp>
        <p:nvSpPr>
          <p:cNvPr id="33" name="Text Box 32"/>
          <p:cNvSpPr txBox="1"/>
          <p:nvPr/>
        </p:nvSpPr>
        <p:spPr>
          <a:xfrm>
            <a:off x="6738620" y="3212465"/>
            <a:ext cx="345059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chemeClr val="tx1"/>
                </a:solidFill>
              </a:rPr>
              <a:t>For Regions </a:t>
            </a:r>
            <a:r>
              <a:rPr lang="en-US" sz="2400">
                <a:solidFill>
                  <a:srgbClr val="FF0000"/>
                </a:solidFill>
              </a:rPr>
              <a:t>ab1b2</a:t>
            </a:r>
            <a:r>
              <a:rPr lang="en-US" sz="2400">
                <a:solidFill>
                  <a:schemeClr val="tx1"/>
                </a:solidFill>
              </a:rPr>
              <a:t> &amp; </a:t>
            </a:r>
            <a:r>
              <a:rPr lang="en-US" sz="2400">
                <a:solidFill>
                  <a:schemeClr val="accent1"/>
                </a:solidFill>
              </a:rPr>
              <a:t>b4</a:t>
            </a:r>
            <a:r>
              <a:rPr lang="en-US" sz="2400">
                <a:solidFill>
                  <a:schemeClr val="tx1"/>
                </a:solidFill>
              </a:rPr>
              <a:t>,</a:t>
            </a:r>
          </a:p>
        </p:txBody>
      </p:sp>
      <p:sp>
        <p:nvSpPr>
          <p:cNvPr id="6" name="Text Box 5"/>
          <p:cNvSpPr txBox="1"/>
          <p:nvPr/>
        </p:nvSpPr>
        <p:spPr>
          <a:xfrm>
            <a:off x="783590" y="3170555"/>
            <a:ext cx="97155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rgbClr val="FF0000"/>
                </a:solidFill>
              </a:rPr>
              <a:t>ab1b2</a:t>
            </a:r>
          </a:p>
        </p:txBody>
      </p:sp>
      <p:sp>
        <p:nvSpPr>
          <p:cNvPr id="11" name="Text Box 10"/>
          <p:cNvSpPr txBox="1"/>
          <p:nvPr/>
        </p:nvSpPr>
        <p:spPr>
          <a:xfrm>
            <a:off x="443865" y="2565400"/>
            <a:ext cx="131127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rgbClr val="FF0000"/>
                </a:solidFill>
              </a:rPr>
              <a:t>ab1b2b4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6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3" presetClass="exit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3" grpId="0"/>
      <p:bldP spid="7" grpId="0"/>
      <p:bldP spid="8" grpId="0"/>
      <p:bldP spid="9" grpId="0"/>
      <p:bldP spid="36" grpId="0"/>
      <p:bldP spid="36" grpId="1"/>
      <p:bldP spid="28" grpId="0"/>
      <p:bldP spid="29" grpId="0"/>
      <p:bldP spid="30" grpId="0"/>
      <p:bldP spid="31" grpId="0"/>
      <p:bldP spid="32" grpId="0"/>
      <p:bldP spid="33" grpId="0"/>
      <p:bldP spid="6" grpId="0"/>
      <p:bldP spid="6" grpId="1"/>
      <p:bldP spid="11" grpId="0"/>
      <p:bldP spid="11" grpId="1"/>
    </p:bldLst>
  </p:timing>
</p:sld>
</file>

<file path=ppt/slides/slide1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ym typeface="+mn-ea"/>
              </a:rPr>
              <a:t>Merging</a:t>
            </a:r>
            <a:endParaRPr lang="en-US"/>
          </a:p>
        </p:txBody>
      </p:sp>
      <p:graphicFrame>
        <p:nvGraphicFramePr>
          <p:cNvPr id="4" name="Table 3"/>
          <p:cNvGraphicFramePr/>
          <p:nvPr>
            <p:custDataLst>
              <p:tags r:id="rId1"/>
            </p:custDataLst>
          </p:nvPr>
        </p:nvGraphicFramePr>
        <p:xfrm>
          <a:off x="1838325" y="3025775"/>
          <a:ext cx="3098800" cy="3048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87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73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73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73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873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873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873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873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chemeClr val="accent4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chemeClr val="accent4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Text Box 4"/>
          <p:cNvSpPr txBox="1"/>
          <p:nvPr/>
        </p:nvSpPr>
        <p:spPr>
          <a:xfrm>
            <a:off x="996950" y="1616075"/>
            <a:ext cx="1040574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400">
                <a:sym typeface="+mn-ea"/>
              </a:rPr>
              <a:t>Apply the region splitting and merging on the following image with threshold value equal to 3.</a:t>
            </a:r>
            <a:endParaRPr lang="en-US" sz="2400"/>
          </a:p>
        </p:txBody>
      </p:sp>
      <p:sp>
        <p:nvSpPr>
          <p:cNvPr id="15" name="Text Box 14"/>
          <p:cNvSpPr txBox="1"/>
          <p:nvPr/>
        </p:nvSpPr>
        <p:spPr>
          <a:xfrm>
            <a:off x="1152525" y="5000625"/>
            <a:ext cx="57594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rgbClr val="92D050"/>
                </a:solidFill>
              </a:rPr>
              <a:t>c</a:t>
            </a:r>
          </a:p>
        </p:txBody>
      </p:sp>
      <p:sp>
        <p:nvSpPr>
          <p:cNvPr id="3" name="Text Box 2"/>
          <p:cNvSpPr txBox="1"/>
          <p:nvPr/>
        </p:nvSpPr>
        <p:spPr>
          <a:xfrm>
            <a:off x="2680970" y="6280785"/>
            <a:ext cx="57594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rgbClr val="FFC000"/>
                </a:solidFill>
              </a:rPr>
              <a:t>d1</a:t>
            </a:r>
          </a:p>
        </p:txBody>
      </p:sp>
      <p:sp>
        <p:nvSpPr>
          <p:cNvPr id="7" name="Text Box 6"/>
          <p:cNvSpPr txBox="1"/>
          <p:nvPr/>
        </p:nvSpPr>
        <p:spPr>
          <a:xfrm>
            <a:off x="5202555" y="4665980"/>
            <a:ext cx="57594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rgbClr val="FFC000"/>
                </a:solidFill>
              </a:rPr>
              <a:t>d2</a:t>
            </a:r>
          </a:p>
        </p:txBody>
      </p:sp>
      <p:sp>
        <p:nvSpPr>
          <p:cNvPr id="8" name="Text Box 7"/>
          <p:cNvSpPr txBox="1"/>
          <p:nvPr/>
        </p:nvSpPr>
        <p:spPr>
          <a:xfrm>
            <a:off x="3475990" y="6203950"/>
            <a:ext cx="57594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rgbClr val="FFC000"/>
                </a:solidFill>
              </a:rPr>
              <a:t>d3</a:t>
            </a:r>
          </a:p>
        </p:txBody>
      </p:sp>
      <p:sp>
        <p:nvSpPr>
          <p:cNvPr id="9" name="Text Box 8"/>
          <p:cNvSpPr txBox="1"/>
          <p:nvPr/>
        </p:nvSpPr>
        <p:spPr>
          <a:xfrm>
            <a:off x="5071110" y="6073775"/>
            <a:ext cx="57594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rgbClr val="FFC000"/>
                </a:solidFill>
              </a:rPr>
              <a:t>d4</a:t>
            </a:r>
          </a:p>
        </p:txBody>
      </p:sp>
      <p:cxnSp>
        <p:nvCxnSpPr>
          <p:cNvPr id="10" name="Straight Arrow Connector 9"/>
          <p:cNvCxnSpPr>
            <a:endCxn id="3" idx="0"/>
          </p:cNvCxnSpPr>
          <p:nvPr/>
        </p:nvCxnSpPr>
        <p:spPr>
          <a:xfrm flipH="1">
            <a:off x="2969260" y="4929505"/>
            <a:ext cx="425450" cy="1351280"/>
          </a:xfrm>
          <a:prstGeom prst="straightConnector1">
            <a:avLst/>
          </a:prstGeom>
          <a:ln w="31750" cap="rnd">
            <a:solidFill>
              <a:srgbClr val="FFC000"/>
            </a:solidFill>
            <a:round/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7" name="Text Box 36"/>
          <p:cNvSpPr txBox="1"/>
          <p:nvPr/>
        </p:nvSpPr>
        <p:spPr>
          <a:xfrm>
            <a:off x="2588260" y="2426970"/>
            <a:ext cx="57594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chemeClr val="accent1"/>
                </a:solidFill>
              </a:rPr>
              <a:t>b3</a:t>
            </a:r>
          </a:p>
        </p:txBody>
      </p:sp>
      <p:cxnSp>
        <p:nvCxnSpPr>
          <p:cNvPr id="38" name="Straight Arrow Connector 37"/>
          <p:cNvCxnSpPr>
            <a:endCxn id="37" idx="2"/>
          </p:cNvCxnSpPr>
          <p:nvPr/>
        </p:nvCxnSpPr>
        <p:spPr>
          <a:xfrm flipH="1" flipV="1">
            <a:off x="2876550" y="2887345"/>
            <a:ext cx="518160" cy="1267460"/>
          </a:xfrm>
          <a:prstGeom prst="straightConnector1">
            <a:avLst/>
          </a:prstGeom>
          <a:ln w="31750" cap="rnd">
            <a:solidFill>
              <a:schemeClr val="accent1"/>
            </a:solidFill>
            <a:round/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8" name="Text Box 27"/>
          <p:cNvSpPr txBox="1"/>
          <p:nvPr/>
        </p:nvSpPr>
        <p:spPr>
          <a:xfrm>
            <a:off x="7329170" y="3732530"/>
            <a:ext cx="22688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chemeClr val="tx1"/>
                </a:solidFill>
              </a:rPr>
              <a:t>Max Value = 7</a:t>
            </a:r>
          </a:p>
        </p:txBody>
      </p:sp>
      <p:sp>
        <p:nvSpPr>
          <p:cNvPr id="29" name="Text Box 28"/>
          <p:cNvSpPr txBox="1"/>
          <p:nvPr/>
        </p:nvSpPr>
        <p:spPr>
          <a:xfrm>
            <a:off x="7329170" y="4319905"/>
            <a:ext cx="22688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chemeClr val="tx1"/>
                </a:solidFill>
              </a:rPr>
              <a:t>Min Value = 4</a:t>
            </a:r>
          </a:p>
        </p:txBody>
      </p:sp>
      <p:sp>
        <p:nvSpPr>
          <p:cNvPr id="30" name="Text Box 29"/>
          <p:cNvSpPr txBox="1"/>
          <p:nvPr/>
        </p:nvSpPr>
        <p:spPr>
          <a:xfrm>
            <a:off x="6801485" y="5026660"/>
            <a:ext cx="139827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chemeClr val="tx1"/>
                </a:solidFill>
                <a:sym typeface="+mn-ea"/>
              </a:rPr>
              <a:t>|7-4|=3</a:t>
            </a:r>
          </a:p>
        </p:txBody>
      </p:sp>
      <p:sp>
        <p:nvSpPr>
          <p:cNvPr id="31" name="Text Box 30"/>
          <p:cNvSpPr txBox="1"/>
          <p:nvPr/>
        </p:nvSpPr>
        <p:spPr>
          <a:xfrm>
            <a:off x="8199755" y="5026660"/>
            <a:ext cx="139827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400">
                <a:solidFill>
                  <a:schemeClr val="tx1"/>
                </a:solidFill>
              </a:rPr>
              <a:t>&lt;=3</a:t>
            </a:r>
          </a:p>
        </p:txBody>
      </p:sp>
      <p:sp>
        <p:nvSpPr>
          <p:cNvPr id="32" name="Text Box 31"/>
          <p:cNvSpPr txBox="1"/>
          <p:nvPr/>
        </p:nvSpPr>
        <p:spPr>
          <a:xfrm>
            <a:off x="9598025" y="5026660"/>
            <a:ext cx="508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400">
                <a:solidFill>
                  <a:srgbClr val="92D050"/>
                </a:solidFill>
                <a:sym typeface="+mn-ea"/>
              </a:rPr>
              <a:t>✔</a:t>
            </a:r>
            <a:endParaRPr lang="en-US" sz="2400">
              <a:solidFill>
                <a:srgbClr val="FF0000"/>
              </a:solidFill>
              <a:sym typeface="+mn-ea"/>
            </a:endParaRPr>
          </a:p>
        </p:txBody>
      </p:sp>
      <p:sp>
        <p:nvSpPr>
          <p:cNvPr id="33" name="Text Box 32"/>
          <p:cNvSpPr txBox="1"/>
          <p:nvPr/>
        </p:nvSpPr>
        <p:spPr>
          <a:xfrm>
            <a:off x="6738620" y="3212465"/>
            <a:ext cx="345059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chemeClr val="tx1"/>
                </a:solidFill>
              </a:rPr>
              <a:t>For Regions </a:t>
            </a:r>
            <a:r>
              <a:rPr lang="en-US" sz="2400">
                <a:solidFill>
                  <a:srgbClr val="FF0000"/>
                </a:solidFill>
              </a:rPr>
              <a:t>ab1b2b4</a:t>
            </a:r>
            <a:r>
              <a:rPr lang="en-US" sz="2400">
                <a:solidFill>
                  <a:schemeClr val="tx1"/>
                </a:solidFill>
              </a:rPr>
              <a:t> &amp; </a:t>
            </a:r>
            <a:r>
              <a:rPr lang="en-US" sz="2400">
                <a:solidFill>
                  <a:srgbClr val="FFC000"/>
                </a:solidFill>
              </a:rPr>
              <a:t>d2</a:t>
            </a:r>
            <a:r>
              <a:rPr lang="en-US" sz="2400">
                <a:solidFill>
                  <a:schemeClr val="tx1"/>
                </a:solidFill>
              </a:rPr>
              <a:t>,</a:t>
            </a:r>
          </a:p>
        </p:txBody>
      </p:sp>
      <p:sp>
        <p:nvSpPr>
          <p:cNvPr id="11" name="Text Box 10"/>
          <p:cNvSpPr txBox="1"/>
          <p:nvPr/>
        </p:nvSpPr>
        <p:spPr>
          <a:xfrm>
            <a:off x="443865" y="2565400"/>
            <a:ext cx="131127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rgbClr val="FF0000"/>
                </a:solidFill>
              </a:rPr>
              <a:t>ab1b2b4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3" grpId="0"/>
      <p:bldP spid="7" grpId="0"/>
      <p:bldP spid="8" grpId="0"/>
      <p:bldP spid="9" grpId="0"/>
      <p:bldP spid="28" grpId="0"/>
      <p:bldP spid="28" grpId="1"/>
      <p:bldP spid="29" grpId="0"/>
      <p:bldP spid="29" grpId="1"/>
      <p:bldP spid="30" grpId="0"/>
      <p:bldP spid="30" grpId="1"/>
      <p:bldP spid="31" grpId="0"/>
      <p:bldP spid="31" grpId="1"/>
      <p:bldP spid="32" grpId="0"/>
      <p:bldP spid="32" grpId="1"/>
      <p:bldP spid="33" grpId="0"/>
      <p:bldP spid="33" grpId="1"/>
      <p:bldP spid="11" grpId="0"/>
    </p:bldLst>
  </p:timing>
</p:sld>
</file>

<file path=ppt/slides/slide1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ym typeface="+mn-ea"/>
              </a:rPr>
              <a:t>Merging</a:t>
            </a:r>
            <a:endParaRPr lang="en-US"/>
          </a:p>
        </p:txBody>
      </p:sp>
      <p:graphicFrame>
        <p:nvGraphicFramePr>
          <p:cNvPr id="4" name="Table 3"/>
          <p:cNvGraphicFramePr/>
          <p:nvPr>
            <p:custDataLst>
              <p:tags r:id="rId1"/>
            </p:custDataLst>
          </p:nvPr>
        </p:nvGraphicFramePr>
        <p:xfrm>
          <a:off x="1838325" y="3025775"/>
          <a:ext cx="3098800" cy="3048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87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73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73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73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873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873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873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873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chemeClr val="accent4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chemeClr val="accent4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Text Box 4"/>
          <p:cNvSpPr txBox="1"/>
          <p:nvPr/>
        </p:nvSpPr>
        <p:spPr>
          <a:xfrm>
            <a:off x="996950" y="1616075"/>
            <a:ext cx="1040574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400">
                <a:sym typeface="+mn-ea"/>
              </a:rPr>
              <a:t>Apply the region splitting and merging on the following image with threshold value equal to 3.</a:t>
            </a:r>
            <a:endParaRPr lang="en-US" sz="2400"/>
          </a:p>
        </p:txBody>
      </p:sp>
      <p:sp>
        <p:nvSpPr>
          <p:cNvPr id="15" name="Text Box 14"/>
          <p:cNvSpPr txBox="1"/>
          <p:nvPr/>
        </p:nvSpPr>
        <p:spPr>
          <a:xfrm>
            <a:off x="1152525" y="5000625"/>
            <a:ext cx="57594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rgbClr val="92D050"/>
                </a:solidFill>
              </a:rPr>
              <a:t>c</a:t>
            </a:r>
          </a:p>
        </p:txBody>
      </p:sp>
      <p:sp>
        <p:nvSpPr>
          <p:cNvPr id="3" name="Text Box 2"/>
          <p:cNvSpPr txBox="1"/>
          <p:nvPr/>
        </p:nvSpPr>
        <p:spPr>
          <a:xfrm>
            <a:off x="2680970" y="6280785"/>
            <a:ext cx="57594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rgbClr val="FFC000"/>
                </a:solidFill>
              </a:rPr>
              <a:t>d1</a:t>
            </a:r>
          </a:p>
        </p:txBody>
      </p:sp>
      <p:sp>
        <p:nvSpPr>
          <p:cNvPr id="7" name="Text Box 6"/>
          <p:cNvSpPr txBox="1"/>
          <p:nvPr/>
        </p:nvSpPr>
        <p:spPr>
          <a:xfrm>
            <a:off x="5202555" y="4665980"/>
            <a:ext cx="57594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rgbClr val="FFC000"/>
                </a:solidFill>
              </a:rPr>
              <a:t>d2</a:t>
            </a:r>
          </a:p>
        </p:txBody>
      </p:sp>
      <p:sp>
        <p:nvSpPr>
          <p:cNvPr id="8" name="Text Box 7"/>
          <p:cNvSpPr txBox="1"/>
          <p:nvPr/>
        </p:nvSpPr>
        <p:spPr>
          <a:xfrm>
            <a:off x="3475990" y="6203950"/>
            <a:ext cx="57594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rgbClr val="FFC000"/>
                </a:solidFill>
              </a:rPr>
              <a:t>d3</a:t>
            </a:r>
          </a:p>
        </p:txBody>
      </p:sp>
      <p:sp>
        <p:nvSpPr>
          <p:cNvPr id="9" name="Text Box 8"/>
          <p:cNvSpPr txBox="1"/>
          <p:nvPr/>
        </p:nvSpPr>
        <p:spPr>
          <a:xfrm>
            <a:off x="5071110" y="6073775"/>
            <a:ext cx="57594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rgbClr val="FFC000"/>
                </a:solidFill>
              </a:rPr>
              <a:t>d4</a:t>
            </a:r>
          </a:p>
        </p:txBody>
      </p:sp>
      <p:cxnSp>
        <p:nvCxnSpPr>
          <p:cNvPr id="10" name="Straight Arrow Connector 9"/>
          <p:cNvCxnSpPr>
            <a:endCxn id="3" idx="0"/>
          </p:cNvCxnSpPr>
          <p:nvPr/>
        </p:nvCxnSpPr>
        <p:spPr>
          <a:xfrm flipH="1">
            <a:off x="2969260" y="4929505"/>
            <a:ext cx="425450" cy="1351280"/>
          </a:xfrm>
          <a:prstGeom prst="straightConnector1">
            <a:avLst/>
          </a:prstGeom>
          <a:ln w="31750" cap="rnd">
            <a:solidFill>
              <a:srgbClr val="FFC000"/>
            </a:solidFill>
            <a:round/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7" name="Text Box 36"/>
          <p:cNvSpPr txBox="1"/>
          <p:nvPr/>
        </p:nvSpPr>
        <p:spPr>
          <a:xfrm>
            <a:off x="2588260" y="2426970"/>
            <a:ext cx="57594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chemeClr val="accent1"/>
                </a:solidFill>
              </a:rPr>
              <a:t>b3</a:t>
            </a:r>
          </a:p>
        </p:txBody>
      </p:sp>
      <p:cxnSp>
        <p:nvCxnSpPr>
          <p:cNvPr id="38" name="Straight Arrow Connector 37"/>
          <p:cNvCxnSpPr>
            <a:endCxn id="37" idx="2"/>
          </p:cNvCxnSpPr>
          <p:nvPr/>
        </p:nvCxnSpPr>
        <p:spPr>
          <a:xfrm flipH="1" flipV="1">
            <a:off x="2876550" y="2887345"/>
            <a:ext cx="518160" cy="1267460"/>
          </a:xfrm>
          <a:prstGeom prst="straightConnector1">
            <a:avLst/>
          </a:prstGeom>
          <a:ln w="31750" cap="rnd">
            <a:solidFill>
              <a:schemeClr val="accent1"/>
            </a:solidFill>
            <a:round/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8" name="Text Box 27"/>
          <p:cNvSpPr txBox="1"/>
          <p:nvPr/>
        </p:nvSpPr>
        <p:spPr>
          <a:xfrm>
            <a:off x="7329170" y="3732530"/>
            <a:ext cx="22688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chemeClr val="tx1"/>
                </a:solidFill>
              </a:rPr>
              <a:t>Max Value = 7</a:t>
            </a:r>
          </a:p>
        </p:txBody>
      </p:sp>
      <p:sp>
        <p:nvSpPr>
          <p:cNvPr id="29" name="Text Box 28"/>
          <p:cNvSpPr txBox="1"/>
          <p:nvPr/>
        </p:nvSpPr>
        <p:spPr>
          <a:xfrm>
            <a:off x="7329170" y="4319905"/>
            <a:ext cx="22688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chemeClr val="tx1"/>
                </a:solidFill>
              </a:rPr>
              <a:t>Min Value = 4</a:t>
            </a:r>
          </a:p>
        </p:txBody>
      </p:sp>
      <p:sp>
        <p:nvSpPr>
          <p:cNvPr id="30" name="Text Box 29"/>
          <p:cNvSpPr txBox="1"/>
          <p:nvPr/>
        </p:nvSpPr>
        <p:spPr>
          <a:xfrm>
            <a:off x="6801485" y="5026660"/>
            <a:ext cx="139827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chemeClr val="tx1"/>
                </a:solidFill>
                <a:sym typeface="+mn-ea"/>
              </a:rPr>
              <a:t>|7-4|=3</a:t>
            </a:r>
          </a:p>
        </p:txBody>
      </p:sp>
      <p:sp>
        <p:nvSpPr>
          <p:cNvPr id="31" name="Text Box 30"/>
          <p:cNvSpPr txBox="1"/>
          <p:nvPr/>
        </p:nvSpPr>
        <p:spPr>
          <a:xfrm>
            <a:off x="8199755" y="5026660"/>
            <a:ext cx="139827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400">
                <a:solidFill>
                  <a:schemeClr val="tx1"/>
                </a:solidFill>
              </a:rPr>
              <a:t>&lt;=3</a:t>
            </a:r>
          </a:p>
        </p:txBody>
      </p:sp>
      <p:sp>
        <p:nvSpPr>
          <p:cNvPr id="32" name="Text Box 31"/>
          <p:cNvSpPr txBox="1"/>
          <p:nvPr/>
        </p:nvSpPr>
        <p:spPr>
          <a:xfrm>
            <a:off x="9598025" y="5026660"/>
            <a:ext cx="508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400">
                <a:solidFill>
                  <a:srgbClr val="92D050"/>
                </a:solidFill>
                <a:sym typeface="+mn-ea"/>
              </a:rPr>
              <a:t>✔</a:t>
            </a:r>
            <a:endParaRPr lang="en-US" sz="2400">
              <a:solidFill>
                <a:srgbClr val="FF0000"/>
              </a:solidFill>
              <a:sym typeface="+mn-ea"/>
            </a:endParaRPr>
          </a:p>
        </p:txBody>
      </p:sp>
      <p:sp>
        <p:nvSpPr>
          <p:cNvPr id="33" name="Text Box 32"/>
          <p:cNvSpPr txBox="1"/>
          <p:nvPr/>
        </p:nvSpPr>
        <p:spPr>
          <a:xfrm>
            <a:off x="6738620" y="3212465"/>
            <a:ext cx="345059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chemeClr val="tx1"/>
                </a:solidFill>
              </a:rPr>
              <a:t>For Regions </a:t>
            </a:r>
            <a:r>
              <a:rPr lang="en-US" sz="2400">
                <a:solidFill>
                  <a:srgbClr val="FF0000"/>
                </a:solidFill>
              </a:rPr>
              <a:t>ab1b2b4</a:t>
            </a:r>
            <a:r>
              <a:rPr lang="en-US" sz="2400">
                <a:solidFill>
                  <a:schemeClr val="tx1"/>
                </a:solidFill>
              </a:rPr>
              <a:t> &amp; </a:t>
            </a:r>
            <a:r>
              <a:rPr lang="en-US" sz="2400">
                <a:solidFill>
                  <a:srgbClr val="FFC000"/>
                </a:solidFill>
              </a:rPr>
              <a:t>d2</a:t>
            </a:r>
            <a:r>
              <a:rPr lang="en-US" sz="2400">
                <a:solidFill>
                  <a:schemeClr val="tx1"/>
                </a:solidFill>
              </a:rPr>
              <a:t>,</a:t>
            </a:r>
          </a:p>
        </p:txBody>
      </p:sp>
      <p:sp>
        <p:nvSpPr>
          <p:cNvPr id="11" name="Text Box 10"/>
          <p:cNvSpPr txBox="1"/>
          <p:nvPr/>
        </p:nvSpPr>
        <p:spPr>
          <a:xfrm>
            <a:off x="443865" y="2565400"/>
            <a:ext cx="131127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rgbClr val="FF0000"/>
                </a:solidFill>
              </a:rPr>
              <a:t>ab1b2b4</a:t>
            </a:r>
          </a:p>
        </p:txBody>
      </p:sp>
      <p:sp>
        <p:nvSpPr>
          <p:cNvPr id="6" name="Text Box 5"/>
          <p:cNvSpPr txBox="1"/>
          <p:nvPr/>
        </p:nvSpPr>
        <p:spPr>
          <a:xfrm>
            <a:off x="3455670" y="2505710"/>
            <a:ext cx="159512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rgbClr val="FF0000"/>
                </a:solidFill>
              </a:rPr>
              <a:t>ab1b2b4d2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3" presetClass="exit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3" grpId="0"/>
      <p:bldP spid="7" grpId="0"/>
      <p:bldP spid="7" grpId="1"/>
      <p:bldP spid="8" grpId="0"/>
      <p:bldP spid="9" grpId="0"/>
      <p:bldP spid="28" grpId="0"/>
      <p:bldP spid="29" grpId="0"/>
      <p:bldP spid="30" grpId="0"/>
      <p:bldP spid="31" grpId="0"/>
      <p:bldP spid="32" grpId="0"/>
      <p:bldP spid="33" grpId="0"/>
      <p:bldP spid="11" grpId="0"/>
      <p:bldP spid="11" grpId="1"/>
      <p:bldP spid="6" grpId="0"/>
      <p:bldP spid="6" grpId="1"/>
    </p:bldLst>
  </p:timing>
</p:sld>
</file>

<file path=ppt/slides/slide1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ym typeface="+mn-ea"/>
              </a:rPr>
              <a:t>Merging</a:t>
            </a:r>
            <a:endParaRPr lang="en-US"/>
          </a:p>
        </p:txBody>
      </p:sp>
      <p:graphicFrame>
        <p:nvGraphicFramePr>
          <p:cNvPr id="4" name="Table 3"/>
          <p:cNvGraphicFramePr/>
          <p:nvPr>
            <p:custDataLst>
              <p:tags r:id="rId1"/>
            </p:custDataLst>
          </p:nvPr>
        </p:nvGraphicFramePr>
        <p:xfrm>
          <a:off x="1838325" y="3025775"/>
          <a:ext cx="3098800" cy="3048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87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73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73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73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873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873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873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873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chemeClr val="accent4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chemeClr val="accent4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Text Box 4"/>
          <p:cNvSpPr txBox="1"/>
          <p:nvPr/>
        </p:nvSpPr>
        <p:spPr>
          <a:xfrm>
            <a:off x="996950" y="1616075"/>
            <a:ext cx="1040574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400">
                <a:sym typeface="+mn-ea"/>
              </a:rPr>
              <a:t>Apply the region splitting and merging on the following image with threshold value equal to 3.</a:t>
            </a:r>
            <a:endParaRPr lang="en-US" sz="2400"/>
          </a:p>
        </p:txBody>
      </p:sp>
      <p:sp>
        <p:nvSpPr>
          <p:cNvPr id="15" name="Text Box 14"/>
          <p:cNvSpPr txBox="1"/>
          <p:nvPr/>
        </p:nvSpPr>
        <p:spPr>
          <a:xfrm>
            <a:off x="1152525" y="5000625"/>
            <a:ext cx="57594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rgbClr val="92D050"/>
                </a:solidFill>
              </a:rPr>
              <a:t>c</a:t>
            </a:r>
          </a:p>
        </p:txBody>
      </p:sp>
      <p:sp>
        <p:nvSpPr>
          <p:cNvPr id="3" name="Text Box 2"/>
          <p:cNvSpPr txBox="1"/>
          <p:nvPr/>
        </p:nvSpPr>
        <p:spPr>
          <a:xfrm>
            <a:off x="2680970" y="6280785"/>
            <a:ext cx="57594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rgbClr val="FFC000"/>
                </a:solidFill>
              </a:rPr>
              <a:t>d1</a:t>
            </a:r>
          </a:p>
        </p:txBody>
      </p:sp>
      <p:sp>
        <p:nvSpPr>
          <p:cNvPr id="8" name="Text Box 7"/>
          <p:cNvSpPr txBox="1"/>
          <p:nvPr/>
        </p:nvSpPr>
        <p:spPr>
          <a:xfrm>
            <a:off x="3475990" y="6203950"/>
            <a:ext cx="57594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rgbClr val="FFC000"/>
                </a:solidFill>
              </a:rPr>
              <a:t>d3</a:t>
            </a:r>
          </a:p>
        </p:txBody>
      </p:sp>
      <p:sp>
        <p:nvSpPr>
          <p:cNvPr id="9" name="Text Box 8"/>
          <p:cNvSpPr txBox="1"/>
          <p:nvPr/>
        </p:nvSpPr>
        <p:spPr>
          <a:xfrm>
            <a:off x="5071110" y="6073775"/>
            <a:ext cx="57594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rgbClr val="FFC000"/>
                </a:solidFill>
              </a:rPr>
              <a:t>d4</a:t>
            </a:r>
          </a:p>
        </p:txBody>
      </p:sp>
      <p:cxnSp>
        <p:nvCxnSpPr>
          <p:cNvPr id="10" name="Straight Arrow Connector 9"/>
          <p:cNvCxnSpPr>
            <a:endCxn id="3" idx="0"/>
          </p:cNvCxnSpPr>
          <p:nvPr/>
        </p:nvCxnSpPr>
        <p:spPr>
          <a:xfrm flipH="1">
            <a:off x="2969260" y="4929505"/>
            <a:ext cx="425450" cy="1351280"/>
          </a:xfrm>
          <a:prstGeom prst="straightConnector1">
            <a:avLst/>
          </a:prstGeom>
          <a:ln w="31750" cap="rnd">
            <a:solidFill>
              <a:srgbClr val="FFC000"/>
            </a:solidFill>
            <a:round/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7" name="Text Box 36"/>
          <p:cNvSpPr txBox="1"/>
          <p:nvPr/>
        </p:nvSpPr>
        <p:spPr>
          <a:xfrm>
            <a:off x="2588260" y="2426970"/>
            <a:ext cx="57594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chemeClr val="accent1"/>
                </a:solidFill>
              </a:rPr>
              <a:t>b3</a:t>
            </a:r>
          </a:p>
        </p:txBody>
      </p:sp>
      <p:cxnSp>
        <p:nvCxnSpPr>
          <p:cNvPr id="38" name="Straight Arrow Connector 37"/>
          <p:cNvCxnSpPr>
            <a:endCxn id="37" idx="2"/>
          </p:cNvCxnSpPr>
          <p:nvPr/>
        </p:nvCxnSpPr>
        <p:spPr>
          <a:xfrm flipH="1" flipV="1">
            <a:off x="2876550" y="2887345"/>
            <a:ext cx="518160" cy="1267460"/>
          </a:xfrm>
          <a:prstGeom prst="straightConnector1">
            <a:avLst/>
          </a:prstGeom>
          <a:ln w="31750" cap="rnd">
            <a:solidFill>
              <a:schemeClr val="accent1"/>
            </a:solidFill>
            <a:round/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8" name="Text Box 27"/>
          <p:cNvSpPr txBox="1"/>
          <p:nvPr/>
        </p:nvSpPr>
        <p:spPr>
          <a:xfrm>
            <a:off x="7329170" y="3732530"/>
            <a:ext cx="22688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chemeClr val="tx1"/>
                </a:solidFill>
              </a:rPr>
              <a:t>Max Value = 7</a:t>
            </a:r>
          </a:p>
        </p:txBody>
      </p:sp>
      <p:sp>
        <p:nvSpPr>
          <p:cNvPr id="29" name="Text Box 28"/>
          <p:cNvSpPr txBox="1"/>
          <p:nvPr/>
        </p:nvSpPr>
        <p:spPr>
          <a:xfrm>
            <a:off x="7329170" y="4319905"/>
            <a:ext cx="22688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chemeClr val="tx1"/>
                </a:solidFill>
              </a:rPr>
              <a:t>Min Value = 4</a:t>
            </a:r>
          </a:p>
        </p:txBody>
      </p:sp>
      <p:sp>
        <p:nvSpPr>
          <p:cNvPr id="30" name="Text Box 29"/>
          <p:cNvSpPr txBox="1"/>
          <p:nvPr/>
        </p:nvSpPr>
        <p:spPr>
          <a:xfrm>
            <a:off x="6801485" y="5026660"/>
            <a:ext cx="139827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chemeClr val="tx1"/>
                </a:solidFill>
                <a:sym typeface="+mn-ea"/>
              </a:rPr>
              <a:t>|7-4|=3</a:t>
            </a:r>
          </a:p>
        </p:txBody>
      </p:sp>
      <p:sp>
        <p:nvSpPr>
          <p:cNvPr id="31" name="Text Box 30"/>
          <p:cNvSpPr txBox="1"/>
          <p:nvPr/>
        </p:nvSpPr>
        <p:spPr>
          <a:xfrm>
            <a:off x="8199755" y="5026660"/>
            <a:ext cx="139827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400">
                <a:solidFill>
                  <a:schemeClr val="tx1"/>
                </a:solidFill>
              </a:rPr>
              <a:t>&lt;=3</a:t>
            </a:r>
          </a:p>
        </p:txBody>
      </p:sp>
      <p:sp>
        <p:nvSpPr>
          <p:cNvPr id="32" name="Text Box 31"/>
          <p:cNvSpPr txBox="1"/>
          <p:nvPr/>
        </p:nvSpPr>
        <p:spPr>
          <a:xfrm>
            <a:off x="9598025" y="5026660"/>
            <a:ext cx="508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400">
                <a:solidFill>
                  <a:srgbClr val="92D050"/>
                </a:solidFill>
                <a:sym typeface="+mn-ea"/>
              </a:rPr>
              <a:t>✔</a:t>
            </a:r>
            <a:endParaRPr lang="en-US" sz="2400">
              <a:solidFill>
                <a:srgbClr val="FF0000"/>
              </a:solidFill>
              <a:sym typeface="+mn-ea"/>
            </a:endParaRPr>
          </a:p>
        </p:txBody>
      </p:sp>
      <p:sp>
        <p:nvSpPr>
          <p:cNvPr id="33" name="Text Box 32"/>
          <p:cNvSpPr txBox="1"/>
          <p:nvPr/>
        </p:nvSpPr>
        <p:spPr>
          <a:xfrm>
            <a:off x="6536690" y="3212465"/>
            <a:ext cx="385445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chemeClr val="tx1"/>
                </a:solidFill>
              </a:rPr>
              <a:t>For Regions </a:t>
            </a:r>
            <a:r>
              <a:rPr lang="en-US" sz="2400">
                <a:solidFill>
                  <a:srgbClr val="FF0000"/>
                </a:solidFill>
              </a:rPr>
              <a:t>ab1b2b4d2</a:t>
            </a:r>
            <a:r>
              <a:rPr lang="en-US" sz="2400">
                <a:solidFill>
                  <a:schemeClr val="tx1"/>
                </a:solidFill>
              </a:rPr>
              <a:t> &amp; </a:t>
            </a:r>
            <a:r>
              <a:rPr lang="en-US" sz="2400">
                <a:solidFill>
                  <a:srgbClr val="FFC000"/>
                </a:solidFill>
              </a:rPr>
              <a:t>d4</a:t>
            </a:r>
            <a:r>
              <a:rPr lang="en-US" sz="2400">
                <a:solidFill>
                  <a:schemeClr val="tx1"/>
                </a:solidFill>
              </a:rPr>
              <a:t>,</a:t>
            </a:r>
          </a:p>
        </p:txBody>
      </p:sp>
      <p:sp>
        <p:nvSpPr>
          <p:cNvPr id="6" name="Text Box 5"/>
          <p:cNvSpPr txBox="1"/>
          <p:nvPr/>
        </p:nvSpPr>
        <p:spPr>
          <a:xfrm>
            <a:off x="3455670" y="2505710"/>
            <a:ext cx="159512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rgbClr val="FF0000"/>
                </a:solidFill>
              </a:rPr>
              <a:t>ab1b2b4d2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3" grpId="0"/>
      <p:bldP spid="8" grpId="0"/>
      <p:bldP spid="9" grpId="0"/>
      <p:bldP spid="28" grpId="0"/>
      <p:bldP spid="28" grpId="1"/>
      <p:bldP spid="29" grpId="0"/>
      <p:bldP spid="29" grpId="1"/>
      <p:bldP spid="30" grpId="0"/>
      <p:bldP spid="30" grpId="1"/>
      <p:bldP spid="31" grpId="0"/>
      <p:bldP spid="31" grpId="1"/>
      <p:bldP spid="32" grpId="0"/>
      <p:bldP spid="32" grpId="1"/>
      <p:bldP spid="33" grpId="0"/>
      <p:bldP spid="33" grpId="1"/>
      <p:bldP spid="6" grpId="0"/>
    </p:bldLst>
  </p:timing>
</p:sld>
</file>

<file path=ppt/slides/slide1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ym typeface="+mn-ea"/>
              </a:rPr>
              <a:t>Merging</a:t>
            </a:r>
            <a:endParaRPr lang="en-US"/>
          </a:p>
        </p:txBody>
      </p:sp>
      <p:graphicFrame>
        <p:nvGraphicFramePr>
          <p:cNvPr id="4" name="Table 3"/>
          <p:cNvGraphicFramePr/>
          <p:nvPr>
            <p:custDataLst>
              <p:tags r:id="rId1"/>
            </p:custDataLst>
          </p:nvPr>
        </p:nvGraphicFramePr>
        <p:xfrm>
          <a:off x="1838325" y="3025775"/>
          <a:ext cx="3098800" cy="3048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87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73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73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73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873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873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873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873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Text Box 4"/>
          <p:cNvSpPr txBox="1"/>
          <p:nvPr/>
        </p:nvSpPr>
        <p:spPr>
          <a:xfrm>
            <a:off x="996950" y="1616075"/>
            <a:ext cx="1040574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400">
                <a:sym typeface="+mn-ea"/>
              </a:rPr>
              <a:t>Apply the region splitting and merging on the following image with threshold value equal to 3.</a:t>
            </a:r>
            <a:endParaRPr lang="en-US" sz="2400"/>
          </a:p>
        </p:txBody>
      </p:sp>
      <p:sp>
        <p:nvSpPr>
          <p:cNvPr id="15" name="Text Box 14"/>
          <p:cNvSpPr txBox="1"/>
          <p:nvPr/>
        </p:nvSpPr>
        <p:spPr>
          <a:xfrm>
            <a:off x="1152525" y="5000625"/>
            <a:ext cx="57594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rgbClr val="92D050"/>
                </a:solidFill>
              </a:rPr>
              <a:t>c</a:t>
            </a:r>
          </a:p>
        </p:txBody>
      </p:sp>
      <p:sp>
        <p:nvSpPr>
          <p:cNvPr id="3" name="Text Box 2"/>
          <p:cNvSpPr txBox="1"/>
          <p:nvPr/>
        </p:nvSpPr>
        <p:spPr>
          <a:xfrm>
            <a:off x="2680970" y="6280785"/>
            <a:ext cx="57594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rgbClr val="FFC000"/>
                </a:solidFill>
              </a:rPr>
              <a:t>d1</a:t>
            </a:r>
          </a:p>
        </p:txBody>
      </p:sp>
      <p:sp>
        <p:nvSpPr>
          <p:cNvPr id="8" name="Text Box 7"/>
          <p:cNvSpPr txBox="1"/>
          <p:nvPr/>
        </p:nvSpPr>
        <p:spPr>
          <a:xfrm>
            <a:off x="3475990" y="6203950"/>
            <a:ext cx="57594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rgbClr val="FFC000"/>
                </a:solidFill>
              </a:rPr>
              <a:t>d3</a:t>
            </a:r>
          </a:p>
        </p:txBody>
      </p:sp>
      <p:sp>
        <p:nvSpPr>
          <p:cNvPr id="9" name="Text Box 8"/>
          <p:cNvSpPr txBox="1"/>
          <p:nvPr/>
        </p:nvSpPr>
        <p:spPr>
          <a:xfrm>
            <a:off x="5071110" y="6073775"/>
            <a:ext cx="57594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rgbClr val="FFC000"/>
                </a:solidFill>
              </a:rPr>
              <a:t>d4</a:t>
            </a:r>
          </a:p>
        </p:txBody>
      </p:sp>
      <p:cxnSp>
        <p:nvCxnSpPr>
          <p:cNvPr id="10" name="Straight Arrow Connector 9"/>
          <p:cNvCxnSpPr>
            <a:endCxn id="3" idx="0"/>
          </p:cNvCxnSpPr>
          <p:nvPr/>
        </p:nvCxnSpPr>
        <p:spPr>
          <a:xfrm flipH="1">
            <a:off x="2969260" y="4929505"/>
            <a:ext cx="425450" cy="1351280"/>
          </a:xfrm>
          <a:prstGeom prst="straightConnector1">
            <a:avLst/>
          </a:prstGeom>
          <a:ln w="31750" cap="rnd">
            <a:solidFill>
              <a:srgbClr val="FFC000"/>
            </a:solidFill>
            <a:round/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7" name="Text Box 36"/>
          <p:cNvSpPr txBox="1"/>
          <p:nvPr/>
        </p:nvSpPr>
        <p:spPr>
          <a:xfrm>
            <a:off x="2588260" y="2426970"/>
            <a:ext cx="57594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chemeClr val="accent1"/>
                </a:solidFill>
              </a:rPr>
              <a:t>b3</a:t>
            </a:r>
          </a:p>
        </p:txBody>
      </p:sp>
      <p:cxnSp>
        <p:nvCxnSpPr>
          <p:cNvPr id="38" name="Straight Arrow Connector 37"/>
          <p:cNvCxnSpPr>
            <a:endCxn id="37" idx="2"/>
          </p:cNvCxnSpPr>
          <p:nvPr/>
        </p:nvCxnSpPr>
        <p:spPr>
          <a:xfrm flipH="1" flipV="1">
            <a:off x="2876550" y="2887345"/>
            <a:ext cx="518160" cy="1267460"/>
          </a:xfrm>
          <a:prstGeom prst="straightConnector1">
            <a:avLst/>
          </a:prstGeom>
          <a:ln w="31750" cap="rnd">
            <a:solidFill>
              <a:schemeClr val="accent1"/>
            </a:solidFill>
            <a:round/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8" name="Text Box 27"/>
          <p:cNvSpPr txBox="1"/>
          <p:nvPr/>
        </p:nvSpPr>
        <p:spPr>
          <a:xfrm>
            <a:off x="7329170" y="3732530"/>
            <a:ext cx="22688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chemeClr val="tx1"/>
                </a:solidFill>
              </a:rPr>
              <a:t>Max Value = 7</a:t>
            </a:r>
          </a:p>
        </p:txBody>
      </p:sp>
      <p:sp>
        <p:nvSpPr>
          <p:cNvPr id="29" name="Text Box 28"/>
          <p:cNvSpPr txBox="1"/>
          <p:nvPr/>
        </p:nvSpPr>
        <p:spPr>
          <a:xfrm>
            <a:off x="7329170" y="4319905"/>
            <a:ext cx="22688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chemeClr val="tx1"/>
                </a:solidFill>
              </a:rPr>
              <a:t>Min Value = 4</a:t>
            </a:r>
          </a:p>
        </p:txBody>
      </p:sp>
      <p:sp>
        <p:nvSpPr>
          <p:cNvPr id="30" name="Text Box 29"/>
          <p:cNvSpPr txBox="1"/>
          <p:nvPr/>
        </p:nvSpPr>
        <p:spPr>
          <a:xfrm>
            <a:off x="6801485" y="5026660"/>
            <a:ext cx="139827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chemeClr val="tx1"/>
                </a:solidFill>
                <a:sym typeface="+mn-ea"/>
              </a:rPr>
              <a:t>|7-4|=3</a:t>
            </a:r>
          </a:p>
        </p:txBody>
      </p:sp>
      <p:sp>
        <p:nvSpPr>
          <p:cNvPr id="31" name="Text Box 30"/>
          <p:cNvSpPr txBox="1"/>
          <p:nvPr/>
        </p:nvSpPr>
        <p:spPr>
          <a:xfrm>
            <a:off x="8199755" y="5026660"/>
            <a:ext cx="139827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400">
                <a:solidFill>
                  <a:schemeClr val="tx1"/>
                </a:solidFill>
              </a:rPr>
              <a:t>&lt;=3</a:t>
            </a:r>
          </a:p>
        </p:txBody>
      </p:sp>
      <p:sp>
        <p:nvSpPr>
          <p:cNvPr id="32" name="Text Box 31"/>
          <p:cNvSpPr txBox="1"/>
          <p:nvPr/>
        </p:nvSpPr>
        <p:spPr>
          <a:xfrm>
            <a:off x="9598025" y="5026660"/>
            <a:ext cx="508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400">
                <a:solidFill>
                  <a:srgbClr val="92D050"/>
                </a:solidFill>
                <a:sym typeface="+mn-ea"/>
              </a:rPr>
              <a:t>✔</a:t>
            </a:r>
            <a:endParaRPr lang="en-US" sz="2400">
              <a:solidFill>
                <a:srgbClr val="FF0000"/>
              </a:solidFill>
              <a:sym typeface="+mn-ea"/>
            </a:endParaRPr>
          </a:p>
        </p:txBody>
      </p:sp>
      <p:sp>
        <p:nvSpPr>
          <p:cNvPr id="33" name="Text Box 32"/>
          <p:cNvSpPr txBox="1"/>
          <p:nvPr/>
        </p:nvSpPr>
        <p:spPr>
          <a:xfrm>
            <a:off x="6536690" y="3212465"/>
            <a:ext cx="385445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chemeClr val="tx1"/>
                </a:solidFill>
              </a:rPr>
              <a:t>For Regions </a:t>
            </a:r>
            <a:r>
              <a:rPr lang="en-US" sz="2400">
                <a:solidFill>
                  <a:srgbClr val="FF0000"/>
                </a:solidFill>
              </a:rPr>
              <a:t>ab1b2b4d2</a:t>
            </a:r>
            <a:r>
              <a:rPr lang="en-US" sz="2400">
                <a:solidFill>
                  <a:schemeClr val="tx1"/>
                </a:solidFill>
              </a:rPr>
              <a:t> &amp; </a:t>
            </a:r>
            <a:r>
              <a:rPr lang="en-US" sz="2400">
                <a:solidFill>
                  <a:srgbClr val="FFC000"/>
                </a:solidFill>
              </a:rPr>
              <a:t>d4</a:t>
            </a:r>
            <a:r>
              <a:rPr lang="en-US" sz="2400">
                <a:solidFill>
                  <a:schemeClr val="tx1"/>
                </a:solidFill>
              </a:rPr>
              <a:t>,</a:t>
            </a:r>
          </a:p>
        </p:txBody>
      </p:sp>
      <p:sp>
        <p:nvSpPr>
          <p:cNvPr id="6" name="Text Box 5"/>
          <p:cNvSpPr txBox="1"/>
          <p:nvPr/>
        </p:nvSpPr>
        <p:spPr>
          <a:xfrm>
            <a:off x="3455670" y="2505710"/>
            <a:ext cx="159512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rgbClr val="FF0000"/>
                </a:solidFill>
              </a:rPr>
              <a:t>ab1b2b4d2</a:t>
            </a:r>
          </a:p>
        </p:txBody>
      </p:sp>
      <p:sp>
        <p:nvSpPr>
          <p:cNvPr id="7" name="Text Box 6"/>
          <p:cNvSpPr txBox="1"/>
          <p:nvPr/>
        </p:nvSpPr>
        <p:spPr>
          <a:xfrm>
            <a:off x="3702050" y="2565400"/>
            <a:ext cx="194500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rgbClr val="FF0000"/>
                </a:solidFill>
              </a:rPr>
              <a:t>ab1b2b4d2d4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3" presetClass="exit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3" grpId="0"/>
      <p:bldP spid="8" grpId="0"/>
      <p:bldP spid="9" grpId="0"/>
      <p:bldP spid="9" grpId="1"/>
      <p:bldP spid="28" grpId="0"/>
      <p:bldP spid="29" grpId="0"/>
      <p:bldP spid="30" grpId="0"/>
      <p:bldP spid="31" grpId="0"/>
      <p:bldP spid="32" grpId="0"/>
      <p:bldP spid="33" grpId="0"/>
      <p:bldP spid="6" grpId="0"/>
      <p:bldP spid="6" grpId="1"/>
      <p:bldP spid="7" grpId="0"/>
      <p:bldP spid="7" grpId="1"/>
    </p:bldLst>
  </p:timing>
</p:sld>
</file>

<file path=ppt/slides/slide1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ym typeface="+mn-ea"/>
              </a:rPr>
              <a:t>Merging</a:t>
            </a:r>
            <a:endParaRPr lang="en-US"/>
          </a:p>
        </p:txBody>
      </p:sp>
      <p:graphicFrame>
        <p:nvGraphicFramePr>
          <p:cNvPr id="4" name="Table 3"/>
          <p:cNvGraphicFramePr/>
          <p:nvPr>
            <p:custDataLst>
              <p:tags r:id="rId1"/>
            </p:custDataLst>
          </p:nvPr>
        </p:nvGraphicFramePr>
        <p:xfrm>
          <a:off x="1838325" y="3025775"/>
          <a:ext cx="3098800" cy="3048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87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73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73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73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873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873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873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873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Text Box 4"/>
          <p:cNvSpPr txBox="1"/>
          <p:nvPr/>
        </p:nvSpPr>
        <p:spPr>
          <a:xfrm>
            <a:off x="996950" y="1616075"/>
            <a:ext cx="1040574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400">
                <a:sym typeface="+mn-ea"/>
              </a:rPr>
              <a:t>Apply the region splitting and merging on the following image with threshold value equal to 3.</a:t>
            </a:r>
            <a:endParaRPr lang="en-US" sz="2400"/>
          </a:p>
        </p:txBody>
      </p:sp>
      <p:sp>
        <p:nvSpPr>
          <p:cNvPr id="15" name="Text Box 14"/>
          <p:cNvSpPr txBox="1"/>
          <p:nvPr/>
        </p:nvSpPr>
        <p:spPr>
          <a:xfrm>
            <a:off x="1152525" y="5000625"/>
            <a:ext cx="57594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rgbClr val="92D050"/>
                </a:solidFill>
              </a:rPr>
              <a:t>c</a:t>
            </a:r>
          </a:p>
        </p:txBody>
      </p:sp>
      <p:sp>
        <p:nvSpPr>
          <p:cNvPr id="3" name="Text Box 2"/>
          <p:cNvSpPr txBox="1"/>
          <p:nvPr/>
        </p:nvSpPr>
        <p:spPr>
          <a:xfrm>
            <a:off x="2680970" y="6280785"/>
            <a:ext cx="57594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rgbClr val="FFC000"/>
                </a:solidFill>
              </a:rPr>
              <a:t>d1</a:t>
            </a:r>
          </a:p>
        </p:txBody>
      </p:sp>
      <p:sp>
        <p:nvSpPr>
          <p:cNvPr id="8" name="Text Box 7"/>
          <p:cNvSpPr txBox="1"/>
          <p:nvPr/>
        </p:nvSpPr>
        <p:spPr>
          <a:xfrm>
            <a:off x="3475990" y="6203950"/>
            <a:ext cx="57594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rgbClr val="FFC000"/>
                </a:solidFill>
              </a:rPr>
              <a:t>d3</a:t>
            </a:r>
          </a:p>
        </p:txBody>
      </p:sp>
      <p:cxnSp>
        <p:nvCxnSpPr>
          <p:cNvPr id="10" name="Straight Arrow Connector 9"/>
          <p:cNvCxnSpPr>
            <a:endCxn id="3" idx="0"/>
          </p:cNvCxnSpPr>
          <p:nvPr/>
        </p:nvCxnSpPr>
        <p:spPr>
          <a:xfrm flipH="1">
            <a:off x="2969260" y="4929505"/>
            <a:ext cx="425450" cy="1351280"/>
          </a:xfrm>
          <a:prstGeom prst="straightConnector1">
            <a:avLst/>
          </a:prstGeom>
          <a:ln w="31750" cap="rnd">
            <a:solidFill>
              <a:srgbClr val="FFC000"/>
            </a:solidFill>
            <a:round/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7" name="Text Box 36"/>
          <p:cNvSpPr txBox="1"/>
          <p:nvPr/>
        </p:nvSpPr>
        <p:spPr>
          <a:xfrm>
            <a:off x="2588260" y="2426970"/>
            <a:ext cx="57594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chemeClr val="accent1"/>
                </a:solidFill>
              </a:rPr>
              <a:t>b3</a:t>
            </a:r>
          </a:p>
        </p:txBody>
      </p:sp>
      <p:cxnSp>
        <p:nvCxnSpPr>
          <p:cNvPr id="38" name="Straight Arrow Connector 37"/>
          <p:cNvCxnSpPr>
            <a:endCxn id="37" idx="2"/>
          </p:cNvCxnSpPr>
          <p:nvPr/>
        </p:nvCxnSpPr>
        <p:spPr>
          <a:xfrm flipH="1" flipV="1">
            <a:off x="2876550" y="2887345"/>
            <a:ext cx="518160" cy="1267460"/>
          </a:xfrm>
          <a:prstGeom prst="straightConnector1">
            <a:avLst/>
          </a:prstGeom>
          <a:ln w="31750" cap="rnd">
            <a:solidFill>
              <a:schemeClr val="accent1"/>
            </a:solidFill>
            <a:round/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8" name="Text Box 27"/>
          <p:cNvSpPr txBox="1"/>
          <p:nvPr/>
        </p:nvSpPr>
        <p:spPr>
          <a:xfrm>
            <a:off x="7329170" y="3732530"/>
            <a:ext cx="22688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chemeClr val="tx1"/>
                </a:solidFill>
              </a:rPr>
              <a:t>Max Value = 7</a:t>
            </a:r>
          </a:p>
        </p:txBody>
      </p:sp>
      <p:sp>
        <p:nvSpPr>
          <p:cNvPr id="29" name="Text Box 28"/>
          <p:cNvSpPr txBox="1"/>
          <p:nvPr/>
        </p:nvSpPr>
        <p:spPr>
          <a:xfrm>
            <a:off x="7329170" y="4319905"/>
            <a:ext cx="22688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chemeClr val="tx1"/>
                </a:solidFill>
              </a:rPr>
              <a:t>Min Value = 2</a:t>
            </a:r>
          </a:p>
        </p:txBody>
      </p:sp>
      <p:sp>
        <p:nvSpPr>
          <p:cNvPr id="30" name="Text Box 29"/>
          <p:cNvSpPr txBox="1"/>
          <p:nvPr/>
        </p:nvSpPr>
        <p:spPr>
          <a:xfrm>
            <a:off x="6801485" y="5026660"/>
            <a:ext cx="139827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chemeClr val="tx1"/>
                </a:solidFill>
                <a:sym typeface="+mn-ea"/>
              </a:rPr>
              <a:t>|7-2|=5</a:t>
            </a:r>
          </a:p>
        </p:txBody>
      </p:sp>
      <p:sp>
        <p:nvSpPr>
          <p:cNvPr id="31" name="Text Box 30"/>
          <p:cNvSpPr txBox="1"/>
          <p:nvPr/>
        </p:nvSpPr>
        <p:spPr>
          <a:xfrm>
            <a:off x="8199755" y="5026660"/>
            <a:ext cx="139827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400">
                <a:solidFill>
                  <a:schemeClr val="tx1"/>
                </a:solidFill>
              </a:rPr>
              <a:t>&lt;=3</a:t>
            </a:r>
          </a:p>
        </p:txBody>
      </p:sp>
      <p:sp>
        <p:nvSpPr>
          <p:cNvPr id="32" name="Text Box 31"/>
          <p:cNvSpPr txBox="1"/>
          <p:nvPr/>
        </p:nvSpPr>
        <p:spPr>
          <a:xfrm>
            <a:off x="9598025" y="5026660"/>
            <a:ext cx="508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400">
                <a:solidFill>
                  <a:srgbClr val="FF0000"/>
                </a:solidFill>
                <a:sym typeface="+mn-ea"/>
              </a:rPr>
              <a:t>X</a:t>
            </a:r>
          </a:p>
        </p:txBody>
      </p:sp>
      <p:sp>
        <p:nvSpPr>
          <p:cNvPr id="33" name="Text Box 32"/>
          <p:cNvSpPr txBox="1"/>
          <p:nvPr/>
        </p:nvSpPr>
        <p:spPr>
          <a:xfrm>
            <a:off x="6324600" y="3212465"/>
            <a:ext cx="427863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chemeClr val="tx1"/>
                </a:solidFill>
              </a:rPr>
              <a:t>For Regions </a:t>
            </a:r>
            <a:r>
              <a:rPr lang="en-US" sz="2400">
                <a:solidFill>
                  <a:srgbClr val="FF0000"/>
                </a:solidFill>
              </a:rPr>
              <a:t>ab1b2b4d2d4</a:t>
            </a:r>
            <a:r>
              <a:rPr lang="en-US" sz="2400">
                <a:solidFill>
                  <a:schemeClr val="tx1"/>
                </a:solidFill>
              </a:rPr>
              <a:t> &amp; </a:t>
            </a:r>
            <a:r>
              <a:rPr lang="en-US" sz="2400">
                <a:solidFill>
                  <a:srgbClr val="FFC000"/>
                </a:solidFill>
              </a:rPr>
              <a:t>d1</a:t>
            </a:r>
            <a:r>
              <a:rPr lang="en-US" sz="2400">
                <a:solidFill>
                  <a:schemeClr val="tx1"/>
                </a:solidFill>
              </a:rPr>
              <a:t>,</a:t>
            </a:r>
          </a:p>
        </p:txBody>
      </p:sp>
      <p:sp>
        <p:nvSpPr>
          <p:cNvPr id="7" name="Text Box 6"/>
          <p:cNvSpPr txBox="1"/>
          <p:nvPr/>
        </p:nvSpPr>
        <p:spPr>
          <a:xfrm>
            <a:off x="3702050" y="2565400"/>
            <a:ext cx="194500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rgbClr val="FF0000"/>
                </a:solidFill>
              </a:rPr>
              <a:t>ab1b2b4d2d4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3" grpId="0"/>
      <p:bldP spid="8" grpId="0"/>
      <p:bldP spid="28" grpId="0"/>
      <p:bldP spid="28" grpId="1"/>
      <p:bldP spid="29" grpId="0"/>
      <p:bldP spid="29" grpId="1"/>
      <p:bldP spid="30" grpId="0"/>
      <p:bldP spid="30" grpId="1"/>
      <p:bldP spid="31" grpId="0"/>
      <p:bldP spid="31" grpId="1"/>
      <p:bldP spid="32" grpId="0"/>
      <p:bldP spid="32" grpId="1"/>
      <p:bldP spid="33" grpId="0"/>
      <p:bldP spid="33" grpId="1"/>
      <p:bldP spid="7" grpId="0"/>
    </p:bldLst>
  </p:timing>
</p:sld>
</file>

<file path=ppt/slides/slide1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ym typeface="+mn-ea"/>
              </a:rPr>
              <a:t>Merging</a:t>
            </a:r>
            <a:endParaRPr lang="en-US"/>
          </a:p>
        </p:txBody>
      </p:sp>
      <p:graphicFrame>
        <p:nvGraphicFramePr>
          <p:cNvPr id="4" name="Table 3"/>
          <p:cNvGraphicFramePr/>
          <p:nvPr>
            <p:custDataLst>
              <p:tags r:id="rId1"/>
            </p:custDataLst>
          </p:nvPr>
        </p:nvGraphicFramePr>
        <p:xfrm>
          <a:off x="1838325" y="3025775"/>
          <a:ext cx="3098800" cy="3048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87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73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73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73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873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873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873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873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Text Box 4"/>
          <p:cNvSpPr txBox="1"/>
          <p:nvPr/>
        </p:nvSpPr>
        <p:spPr>
          <a:xfrm>
            <a:off x="996950" y="1616075"/>
            <a:ext cx="1040574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400">
                <a:sym typeface="+mn-ea"/>
              </a:rPr>
              <a:t>Apply the region splitting and merging on the following image with threshold value equal to 3.</a:t>
            </a:r>
            <a:endParaRPr lang="en-US" sz="2400"/>
          </a:p>
        </p:txBody>
      </p:sp>
      <p:sp>
        <p:nvSpPr>
          <p:cNvPr id="15" name="Text Box 14"/>
          <p:cNvSpPr txBox="1"/>
          <p:nvPr/>
        </p:nvSpPr>
        <p:spPr>
          <a:xfrm>
            <a:off x="1152525" y="5000625"/>
            <a:ext cx="57594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rgbClr val="92D050"/>
                </a:solidFill>
              </a:rPr>
              <a:t>c</a:t>
            </a:r>
          </a:p>
        </p:txBody>
      </p:sp>
      <p:sp>
        <p:nvSpPr>
          <p:cNvPr id="3" name="Text Box 2"/>
          <p:cNvSpPr txBox="1"/>
          <p:nvPr/>
        </p:nvSpPr>
        <p:spPr>
          <a:xfrm>
            <a:off x="2680970" y="6280785"/>
            <a:ext cx="57594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rgbClr val="FFC000"/>
                </a:solidFill>
              </a:rPr>
              <a:t>d1</a:t>
            </a:r>
          </a:p>
        </p:txBody>
      </p:sp>
      <p:sp>
        <p:nvSpPr>
          <p:cNvPr id="8" name="Text Box 7"/>
          <p:cNvSpPr txBox="1"/>
          <p:nvPr/>
        </p:nvSpPr>
        <p:spPr>
          <a:xfrm>
            <a:off x="3475990" y="6203950"/>
            <a:ext cx="57594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rgbClr val="FFC000"/>
                </a:solidFill>
              </a:rPr>
              <a:t>d3</a:t>
            </a:r>
          </a:p>
        </p:txBody>
      </p:sp>
      <p:cxnSp>
        <p:nvCxnSpPr>
          <p:cNvPr id="10" name="Straight Arrow Connector 9"/>
          <p:cNvCxnSpPr>
            <a:endCxn id="3" idx="0"/>
          </p:cNvCxnSpPr>
          <p:nvPr/>
        </p:nvCxnSpPr>
        <p:spPr>
          <a:xfrm flipH="1">
            <a:off x="2969260" y="4929505"/>
            <a:ext cx="425450" cy="1351280"/>
          </a:xfrm>
          <a:prstGeom prst="straightConnector1">
            <a:avLst/>
          </a:prstGeom>
          <a:ln w="31750" cap="rnd">
            <a:solidFill>
              <a:srgbClr val="FFC000"/>
            </a:solidFill>
            <a:round/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7" name="Text Box 36"/>
          <p:cNvSpPr txBox="1"/>
          <p:nvPr/>
        </p:nvSpPr>
        <p:spPr>
          <a:xfrm>
            <a:off x="2588260" y="2426970"/>
            <a:ext cx="57594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chemeClr val="accent1"/>
                </a:solidFill>
              </a:rPr>
              <a:t>b3</a:t>
            </a:r>
          </a:p>
        </p:txBody>
      </p:sp>
      <p:cxnSp>
        <p:nvCxnSpPr>
          <p:cNvPr id="38" name="Straight Arrow Connector 37"/>
          <p:cNvCxnSpPr>
            <a:endCxn id="37" idx="2"/>
          </p:cNvCxnSpPr>
          <p:nvPr/>
        </p:nvCxnSpPr>
        <p:spPr>
          <a:xfrm flipH="1" flipV="1">
            <a:off x="2876550" y="2887345"/>
            <a:ext cx="518160" cy="1267460"/>
          </a:xfrm>
          <a:prstGeom prst="straightConnector1">
            <a:avLst/>
          </a:prstGeom>
          <a:ln w="31750" cap="rnd">
            <a:solidFill>
              <a:schemeClr val="accent1"/>
            </a:solidFill>
            <a:round/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8" name="Text Box 27"/>
          <p:cNvSpPr txBox="1"/>
          <p:nvPr/>
        </p:nvSpPr>
        <p:spPr>
          <a:xfrm>
            <a:off x="7329170" y="3732530"/>
            <a:ext cx="22688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chemeClr val="tx1"/>
                </a:solidFill>
              </a:rPr>
              <a:t>Max Value = 7</a:t>
            </a:r>
          </a:p>
        </p:txBody>
      </p:sp>
      <p:sp>
        <p:nvSpPr>
          <p:cNvPr id="29" name="Text Box 28"/>
          <p:cNvSpPr txBox="1"/>
          <p:nvPr/>
        </p:nvSpPr>
        <p:spPr>
          <a:xfrm>
            <a:off x="7329170" y="4319905"/>
            <a:ext cx="22688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chemeClr val="tx1"/>
                </a:solidFill>
              </a:rPr>
              <a:t>Min Value = 0</a:t>
            </a:r>
          </a:p>
        </p:txBody>
      </p:sp>
      <p:sp>
        <p:nvSpPr>
          <p:cNvPr id="30" name="Text Box 29"/>
          <p:cNvSpPr txBox="1"/>
          <p:nvPr/>
        </p:nvSpPr>
        <p:spPr>
          <a:xfrm>
            <a:off x="6801485" y="5026660"/>
            <a:ext cx="139827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chemeClr val="tx1"/>
                </a:solidFill>
                <a:sym typeface="+mn-ea"/>
              </a:rPr>
              <a:t>|7-0|=7</a:t>
            </a:r>
          </a:p>
        </p:txBody>
      </p:sp>
      <p:sp>
        <p:nvSpPr>
          <p:cNvPr id="31" name="Text Box 30"/>
          <p:cNvSpPr txBox="1"/>
          <p:nvPr/>
        </p:nvSpPr>
        <p:spPr>
          <a:xfrm>
            <a:off x="8199755" y="5026660"/>
            <a:ext cx="139827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400">
                <a:solidFill>
                  <a:schemeClr val="tx1"/>
                </a:solidFill>
              </a:rPr>
              <a:t>&lt;=3</a:t>
            </a:r>
          </a:p>
        </p:txBody>
      </p:sp>
      <p:sp>
        <p:nvSpPr>
          <p:cNvPr id="32" name="Text Box 31"/>
          <p:cNvSpPr txBox="1"/>
          <p:nvPr/>
        </p:nvSpPr>
        <p:spPr>
          <a:xfrm>
            <a:off x="9598025" y="5026660"/>
            <a:ext cx="508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400">
                <a:solidFill>
                  <a:srgbClr val="FF0000"/>
                </a:solidFill>
                <a:sym typeface="+mn-ea"/>
              </a:rPr>
              <a:t>X</a:t>
            </a:r>
          </a:p>
        </p:txBody>
      </p:sp>
      <p:sp>
        <p:nvSpPr>
          <p:cNvPr id="33" name="Text Box 32"/>
          <p:cNvSpPr txBox="1"/>
          <p:nvPr/>
        </p:nvSpPr>
        <p:spPr>
          <a:xfrm>
            <a:off x="6324600" y="3212465"/>
            <a:ext cx="427863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chemeClr val="tx1"/>
                </a:solidFill>
              </a:rPr>
              <a:t>For Regions </a:t>
            </a:r>
            <a:r>
              <a:rPr lang="en-US" sz="2400">
                <a:solidFill>
                  <a:srgbClr val="FF0000"/>
                </a:solidFill>
              </a:rPr>
              <a:t>ab1b2b4d2d4</a:t>
            </a:r>
            <a:r>
              <a:rPr lang="en-US" sz="2400">
                <a:solidFill>
                  <a:schemeClr val="tx1"/>
                </a:solidFill>
              </a:rPr>
              <a:t> &amp; </a:t>
            </a:r>
            <a:r>
              <a:rPr lang="en-US" sz="2400">
                <a:solidFill>
                  <a:srgbClr val="FFC000"/>
                </a:solidFill>
              </a:rPr>
              <a:t>d3</a:t>
            </a:r>
            <a:r>
              <a:rPr lang="en-US" sz="2400">
                <a:solidFill>
                  <a:schemeClr val="tx1"/>
                </a:solidFill>
              </a:rPr>
              <a:t>,</a:t>
            </a:r>
          </a:p>
        </p:txBody>
      </p:sp>
      <p:sp>
        <p:nvSpPr>
          <p:cNvPr id="7" name="Text Box 6"/>
          <p:cNvSpPr txBox="1"/>
          <p:nvPr/>
        </p:nvSpPr>
        <p:spPr>
          <a:xfrm>
            <a:off x="3702050" y="2565400"/>
            <a:ext cx="194500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rgbClr val="FF0000"/>
                </a:solidFill>
              </a:rPr>
              <a:t>ab1b2b4d2d4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3" grpId="0"/>
      <p:bldP spid="8" grpId="0"/>
      <p:bldP spid="28" grpId="0"/>
      <p:bldP spid="28" grpId="1"/>
      <p:bldP spid="29" grpId="0"/>
      <p:bldP spid="29" grpId="1"/>
      <p:bldP spid="30" grpId="0"/>
      <p:bldP spid="30" grpId="1"/>
      <p:bldP spid="31" grpId="0"/>
      <p:bldP spid="31" grpId="1"/>
      <p:bldP spid="32" grpId="0"/>
      <p:bldP spid="32" grpId="1"/>
      <p:bldP spid="33" grpId="0"/>
      <p:bldP spid="33" grpId="1"/>
      <p:bldP spid="7" grpId="0"/>
    </p:bldLst>
  </p:timing>
</p:sld>
</file>

<file path=ppt/slides/slide1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ym typeface="+mn-ea"/>
              </a:rPr>
              <a:t>Merging</a:t>
            </a:r>
            <a:endParaRPr lang="en-US"/>
          </a:p>
        </p:txBody>
      </p:sp>
      <p:graphicFrame>
        <p:nvGraphicFramePr>
          <p:cNvPr id="4" name="Table 3"/>
          <p:cNvGraphicFramePr/>
          <p:nvPr>
            <p:custDataLst>
              <p:tags r:id="rId1"/>
            </p:custDataLst>
          </p:nvPr>
        </p:nvGraphicFramePr>
        <p:xfrm>
          <a:off x="1838325" y="3025775"/>
          <a:ext cx="3098800" cy="3048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87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73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73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73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873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873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873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873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Text Box 4"/>
          <p:cNvSpPr txBox="1"/>
          <p:nvPr/>
        </p:nvSpPr>
        <p:spPr>
          <a:xfrm>
            <a:off x="996950" y="1616075"/>
            <a:ext cx="1040574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400">
                <a:sym typeface="+mn-ea"/>
              </a:rPr>
              <a:t>Apply the region splitting and merging on the following image with threshold value equal to 3.</a:t>
            </a:r>
            <a:endParaRPr lang="en-US" sz="2400"/>
          </a:p>
        </p:txBody>
      </p:sp>
      <p:sp>
        <p:nvSpPr>
          <p:cNvPr id="15" name="Text Box 14"/>
          <p:cNvSpPr txBox="1"/>
          <p:nvPr/>
        </p:nvSpPr>
        <p:spPr>
          <a:xfrm>
            <a:off x="1152525" y="5000625"/>
            <a:ext cx="57594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rgbClr val="92D050"/>
                </a:solidFill>
              </a:rPr>
              <a:t>c</a:t>
            </a:r>
          </a:p>
        </p:txBody>
      </p:sp>
      <p:sp>
        <p:nvSpPr>
          <p:cNvPr id="3" name="Text Box 2"/>
          <p:cNvSpPr txBox="1"/>
          <p:nvPr/>
        </p:nvSpPr>
        <p:spPr>
          <a:xfrm>
            <a:off x="2680970" y="6280785"/>
            <a:ext cx="57594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rgbClr val="FFC000"/>
                </a:solidFill>
              </a:rPr>
              <a:t>d1</a:t>
            </a:r>
          </a:p>
        </p:txBody>
      </p:sp>
      <p:sp>
        <p:nvSpPr>
          <p:cNvPr id="8" name="Text Box 7"/>
          <p:cNvSpPr txBox="1"/>
          <p:nvPr/>
        </p:nvSpPr>
        <p:spPr>
          <a:xfrm>
            <a:off x="3475990" y="6203950"/>
            <a:ext cx="57594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rgbClr val="FFC000"/>
                </a:solidFill>
              </a:rPr>
              <a:t>d3</a:t>
            </a:r>
          </a:p>
        </p:txBody>
      </p:sp>
      <p:cxnSp>
        <p:nvCxnSpPr>
          <p:cNvPr id="10" name="Straight Arrow Connector 9"/>
          <p:cNvCxnSpPr>
            <a:endCxn id="3" idx="0"/>
          </p:cNvCxnSpPr>
          <p:nvPr/>
        </p:nvCxnSpPr>
        <p:spPr>
          <a:xfrm flipH="1">
            <a:off x="2969260" y="4929505"/>
            <a:ext cx="425450" cy="1351280"/>
          </a:xfrm>
          <a:prstGeom prst="straightConnector1">
            <a:avLst/>
          </a:prstGeom>
          <a:ln w="31750" cap="rnd">
            <a:solidFill>
              <a:srgbClr val="FFC000"/>
            </a:solidFill>
            <a:round/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7" name="Text Box 36"/>
          <p:cNvSpPr txBox="1"/>
          <p:nvPr/>
        </p:nvSpPr>
        <p:spPr>
          <a:xfrm>
            <a:off x="2588260" y="2426970"/>
            <a:ext cx="57594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chemeClr val="accent1"/>
                </a:solidFill>
              </a:rPr>
              <a:t>b3</a:t>
            </a:r>
          </a:p>
        </p:txBody>
      </p:sp>
      <p:cxnSp>
        <p:nvCxnSpPr>
          <p:cNvPr id="38" name="Straight Arrow Connector 37"/>
          <p:cNvCxnSpPr>
            <a:endCxn id="37" idx="2"/>
          </p:cNvCxnSpPr>
          <p:nvPr/>
        </p:nvCxnSpPr>
        <p:spPr>
          <a:xfrm flipH="1" flipV="1">
            <a:off x="2876550" y="2887345"/>
            <a:ext cx="518160" cy="1267460"/>
          </a:xfrm>
          <a:prstGeom prst="straightConnector1">
            <a:avLst/>
          </a:prstGeom>
          <a:ln w="31750" cap="rnd">
            <a:solidFill>
              <a:schemeClr val="accent1"/>
            </a:solidFill>
            <a:round/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8" name="Text Box 27"/>
          <p:cNvSpPr txBox="1"/>
          <p:nvPr/>
        </p:nvSpPr>
        <p:spPr>
          <a:xfrm>
            <a:off x="7329170" y="3732530"/>
            <a:ext cx="22688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chemeClr val="tx1"/>
                </a:solidFill>
              </a:rPr>
              <a:t>Max Value = 7</a:t>
            </a:r>
          </a:p>
        </p:txBody>
      </p:sp>
      <p:sp>
        <p:nvSpPr>
          <p:cNvPr id="29" name="Text Box 28"/>
          <p:cNvSpPr txBox="1"/>
          <p:nvPr/>
        </p:nvSpPr>
        <p:spPr>
          <a:xfrm>
            <a:off x="7329170" y="4319905"/>
            <a:ext cx="22688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chemeClr val="tx1"/>
                </a:solidFill>
              </a:rPr>
              <a:t>Min Value = 0</a:t>
            </a:r>
          </a:p>
        </p:txBody>
      </p:sp>
      <p:sp>
        <p:nvSpPr>
          <p:cNvPr id="30" name="Text Box 29"/>
          <p:cNvSpPr txBox="1"/>
          <p:nvPr/>
        </p:nvSpPr>
        <p:spPr>
          <a:xfrm>
            <a:off x="6801485" y="5026660"/>
            <a:ext cx="139827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chemeClr val="tx1"/>
                </a:solidFill>
                <a:sym typeface="+mn-ea"/>
              </a:rPr>
              <a:t>|7-0|=7</a:t>
            </a:r>
          </a:p>
        </p:txBody>
      </p:sp>
      <p:sp>
        <p:nvSpPr>
          <p:cNvPr id="31" name="Text Box 30"/>
          <p:cNvSpPr txBox="1"/>
          <p:nvPr/>
        </p:nvSpPr>
        <p:spPr>
          <a:xfrm>
            <a:off x="8199755" y="5026660"/>
            <a:ext cx="139827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400">
                <a:solidFill>
                  <a:schemeClr val="tx1"/>
                </a:solidFill>
              </a:rPr>
              <a:t>&lt;=3</a:t>
            </a:r>
          </a:p>
        </p:txBody>
      </p:sp>
      <p:sp>
        <p:nvSpPr>
          <p:cNvPr id="32" name="Text Box 31"/>
          <p:cNvSpPr txBox="1"/>
          <p:nvPr/>
        </p:nvSpPr>
        <p:spPr>
          <a:xfrm>
            <a:off x="9598025" y="5026660"/>
            <a:ext cx="508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400">
                <a:solidFill>
                  <a:srgbClr val="FF0000"/>
                </a:solidFill>
                <a:sym typeface="+mn-ea"/>
              </a:rPr>
              <a:t>X</a:t>
            </a:r>
          </a:p>
        </p:txBody>
      </p:sp>
      <p:sp>
        <p:nvSpPr>
          <p:cNvPr id="33" name="Text Box 32"/>
          <p:cNvSpPr txBox="1"/>
          <p:nvPr/>
        </p:nvSpPr>
        <p:spPr>
          <a:xfrm>
            <a:off x="6324600" y="3212465"/>
            <a:ext cx="427863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chemeClr val="tx1"/>
                </a:solidFill>
              </a:rPr>
              <a:t>For Regions </a:t>
            </a:r>
            <a:r>
              <a:rPr lang="en-US" sz="2400">
                <a:solidFill>
                  <a:srgbClr val="FF0000"/>
                </a:solidFill>
              </a:rPr>
              <a:t>ab1b2b4d2d4</a:t>
            </a:r>
            <a:r>
              <a:rPr lang="en-US" sz="2400">
                <a:solidFill>
                  <a:schemeClr val="tx1"/>
                </a:solidFill>
              </a:rPr>
              <a:t> &amp; </a:t>
            </a:r>
            <a:r>
              <a:rPr lang="en-US" sz="2400">
                <a:solidFill>
                  <a:srgbClr val="92D050"/>
                </a:solidFill>
              </a:rPr>
              <a:t>c</a:t>
            </a:r>
            <a:r>
              <a:rPr lang="en-US" sz="2400">
                <a:solidFill>
                  <a:schemeClr val="tx1"/>
                </a:solidFill>
              </a:rPr>
              <a:t>,</a:t>
            </a:r>
          </a:p>
        </p:txBody>
      </p:sp>
      <p:sp>
        <p:nvSpPr>
          <p:cNvPr id="7" name="Text Box 6"/>
          <p:cNvSpPr txBox="1"/>
          <p:nvPr/>
        </p:nvSpPr>
        <p:spPr>
          <a:xfrm>
            <a:off x="3702050" y="2565400"/>
            <a:ext cx="194500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rgbClr val="FF0000"/>
                </a:solidFill>
              </a:rPr>
              <a:t>ab1b2b4d2d4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3" grpId="0"/>
      <p:bldP spid="8" grpId="0"/>
      <p:bldP spid="28" grpId="0"/>
      <p:bldP spid="28" grpId="1"/>
      <p:bldP spid="29" grpId="0"/>
      <p:bldP spid="29" grpId="1"/>
      <p:bldP spid="30" grpId="0"/>
      <p:bldP spid="30" grpId="1"/>
      <p:bldP spid="31" grpId="0"/>
      <p:bldP spid="31" grpId="1"/>
      <p:bldP spid="32" grpId="0"/>
      <p:bldP spid="32" grpId="1"/>
      <p:bldP spid="33" grpId="0"/>
      <p:bldP spid="33" grpId="1"/>
      <p:bldP spid="7" grpId="0"/>
    </p:bldLst>
  </p:timing>
</p:sld>
</file>

<file path=ppt/slides/slide1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ym typeface="+mn-ea"/>
              </a:rPr>
              <a:t>Merging</a:t>
            </a:r>
            <a:endParaRPr lang="en-US"/>
          </a:p>
        </p:txBody>
      </p:sp>
      <p:graphicFrame>
        <p:nvGraphicFramePr>
          <p:cNvPr id="4" name="Table 3"/>
          <p:cNvGraphicFramePr/>
          <p:nvPr>
            <p:custDataLst>
              <p:tags r:id="rId1"/>
            </p:custDataLst>
          </p:nvPr>
        </p:nvGraphicFramePr>
        <p:xfrm>
          <a:off x="1838325" y="3025775"/>
          <a:ext cx="3098800" cy="3048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87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73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73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73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873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873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873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873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Text Box 4"/>
          <p:cNvSpPr txBox="1"/>
          <p:nvPr/>
        </p:nvSpPr>
        <p:spPr>
          <a:xfrm>
            <a:off x="996950" y="1616075"/>
            <a:ext cx="1040574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400">
                <a:sym typeface="+mn-ea"/>
              </a:rPr>
              <a:t>Apply the region splitting and merging on the following image with threshold value equal to 3.</a:t>
            </a:r>
            <a:endParaRPr lang="en-US" sz="2400"/>
          </a:p>
        </p:txBody>
      </p:sp>
      <p:sp>
        <p:nvSpPr>
          <p:cNvPr id="15" name="Text Box 14"/>
          <p:cNvSpPr txBox="1"/>
          <p:nvPr/>
        </p:nvSpPr>
        <p:spPr>
          <a:xfrm>
            <a:off x="1152525" y="5000625"/>
            <a:ext cx="57594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rgbClr val="92D050"/>
                </a:solidFill>
              </a:rPr>
              <a:t>c</a:t>
            </a:r>
          </a:p>
        </p:txBody>
      </p:sp>
      <p:sp>
        <p:nvSpPr>
          <p:cNvPr id="3" name="Text Box 2"/>
          <p:cNvSpPr txBox="1"/>
          <p:nvPr/>
        </p:nvSpPr>
        <p:spPr>
          <a:xfrm>
            <a:off x="2680970" y="6280785"/>
            <a:ext cx="57594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rgbClr val="FFC000"/>
                </a:solidFill>
              </a:rPr>
              <a:t>d1</a:t>
            </a:r>
          </a:p>
        </p:txBody>
      </p:sp>
      <p:sp>
        <p:nvSpPr>
          <p:cNvPr id="8" name="Text Box 7"/>
          <p:cNvSpPr txBox="1"/>
          <p:nvPr/>
        </p:nvSpPr>
        <p:spPr>
          <a:xfrm>
            <a:off x="3475990" y="6203950"/>
            <a:ext cx="57594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rgbClr val="FFC000"/>
                </a:solidFill>
              </a:rPr>
              <a:t>d3</a:t>
            </a:r>
          </a:p>
        </p:txBody>
      </p:sp>
      <p:cxnSp>
        <p:nvCxnSpPr>
          <p:cNvPr id="10" name="Straight Arrow Connector 9"/>
          <p:cNvCxnSpPr>
            <a:endCxn id="3" idx="0"/>
          </p:cNvCxnSpPr>
          <p:nvPr/>
        </p:nvCxnSpPr>
        <p:spPr>
          <a:xfrm flipH="1">
            <a:off x="2969260" y="4929505"/>
            <a:ext cx="425450" cy="1351280"/>
          </a:xfrm>
          <a:prstGeom prst="straightConnector1">
            <a:avLst/>
          </a:prstGeom>
          <a:ln w="31750" cap="rnd">
            <a:solidFill>
              <a:srgbClr val="FFC000"/>
            </a:solidFill>
            <a:round/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7" name="Text Box 36"/>
          <p:cNvSpPr txBox="1"/>
          <p:nvPr/>
        </p:nvSpPr>
        <p:spPr>
          <a:xfrm>
            <a:off x="2588260" y="2426970"/>
            <a:ext cx="57594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chemeClr val="accent1"/>
                </a:solidFill>
              </a:rPr>
              <a:t>b3</a:t>
            </a:r>
          </a:p>
        </p:txBody>
      </p:sp>
      <p:cxnSp>
        <p:nvCxnSpPr>
          <p:cNvPr id="38" name="Straight Arrow Connector 37"/>
          <p:cNvCxnSpPr>
            <a:endCxn id="37" idx="2"/>
          </p:cNvCxnSpPr>
          <p:nvPr/>
        </p:nvCxnSpPr>
        <p:spPr>
          <a:xfrm flipH="1" flipV="1">
            <a:off x="2876550" y="2887345"/>
            <a:ext cx="518160" cy="1267460"/>
          </a:xfrm>
          <a:prstGeom prst="straightConnector1">
            <a:avLst/>
          </a:prstGeom>
          <a:ln w="31750" cap="rnd">
            <a:solidFill>
              <a:schemeClr val="accent1"/>
            </a:solidFill>
            <a:round/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8" name="Text Box 27"/>
          <p:cNvSpPr txBox="1"/>
          <p:nvPr/>
        </p:nvSpPr>
        <p:spPr>
          <a:xfrm>
            <a:off x="7329170" y="3732530"/>
            <a:ext cx="22688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chemeClr val="tx1"/>
                </a:solidFill>
              </a:rPr>
              <a:t>Max Value = 3</a:t>
            </a:r>
          </a:p>
        </p:txBody>
      </p:sp>
      <p:sp>
        <p:nvSpPr>
          <p:cNvPr id="29" name="Text Box 28"/>
          <p:cNvSpPr txBox="1"/>
          <p:nvPr/>
        </p:nvSpPr>
        <p:spPr>
          <a:xfrm>
            <a:off x="7329170" y="4319905"/>
            <a:ext cx="22688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chemeClr val="tx1"/>
                </a:solidFill>
              </a:rPr>
              <a:t>Min Value = 0</a:t>
            </a:r>
          </a:p>
        </p:txBody>
      </p:sp>
      <p:sp>
        <p:nvSpPr>
          <p:cNvPr id="30" name="Text Box 29"/>
          <p:cNvSpPr txBox="1"/>
          <p:nvPr/>
        </p:nvSpPr>
        <p:spPr>
          <a:xfrm>
            <a:off x="6801485" y="5026660"/>
            <a:ext cx="139827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chemeClr val="tx1"/>
                </a:solidFill>
                <a:sym typeface="+mn-ea"/>
              </a:rPr>
              <a:t>|3-0|=3</a:t>
            </a:r>
          </a:p>
        </p:txBody>
      </p:sp>
      <p:sp>
        <p:nvSpPr>
          <p:cNvPr id="31" name="Text Box 30"/>
          <p:cNvSpPr txBox="1"/>
          <p:nvPr/>
        </p:nvSpPr>
        <p:spPr>
          <a:xfrm>
            <a:off x="8199755" y="5026660"/>
            <a:ext cx="139827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400">
                <a:solidFill>
                  <a:schemeClr val="tx1"/>
                </a:solidFill>
              </a:rPr>
              <a:t>&lt;=3</a:t>
            </a:r>
          </a:p>
        </p:txBody>
      </p:sp>
      <p:sp>
        <p:nvSpPr>
          <p:cNvPr id="32" name="Text Box 31"/>
          <p:cNvSpPr txBox="1"/>
          <p:nvPr/>
        </p:nvSpPr>
        <p:spPr>
          <a:xfrm>
            <a:off x="9598025" y="5026660"/>
            <a:ext cx="508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400">
                <a:solidFill>
                  <a:srgbClr val="92D050"/>
                </a:solidFill>
                <a:sym typeface="+mn-ea"/>
              </a:rPr>
              <a:t>✔</a:t>
            </a:r>
            <a:endParaRPr lang="en-US" sz="2400">
              <a:solidFill>
                <a:srgbClr val="FF0000"/>
              </a:solidFill>
              <a:sym typeface="+mn-ea"/>
            </a:endParaRPr>
          </a:p>
        </p:txBody>
      </p:sp>
      <p:sp>
        <p:nvSpPr>
          <p:cNvPr id="33" name="Text Box 32"/>
          <p:cNvSpPr txBox="1"/>
          <p:nvPr/>
        </p:nvSpPr>
        <p:spPr>
          <a:xfrm>
            <a:off x="6324600" y="3212465"/>
            <a:ext cx="427863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chemeClr val="tx1"/>
                </a:solidFill>
              </a:rPr>
              <a:t>For Regions </a:t>
            </a:r>
            <a:r>
              <a:rPr lang="en-US" sz="2400">
                <a:solidFill>
                  <a:srgbClr val="92D050"/>
                </a:solidFill>
              </a:rPr>
              <a:t>c</a:t>
            </a:r>
            <a:r>
              <a:rPr lang="en-US" sz="2400">
                <a:solidFill>
                  <a:schemeClr val="tx1"/>
                </a:solidFill>
              </a:rPr>
              <a:t> &amp; </a:t>
            </a:r>
            <a:r>
              <a:rPr lang="en-US" sz="2400">
                <a:solidFill>
                  <a:srgbClr val="FFC000"/>
                </a:solidFill>
              </a:rPr>
              <a:t>d1</a:t>
            </a:r>
            <a:r>
              <a:rPr lang="en-US" sz="2400">
                <a:solidFill>
                  <a:schemeClr val="tx1"/>
                </a:solidFill>
              </a:rPr>
              <a:t>,</a:t>
            </a:r>
          </a:p>
        </p:txBody>
      </p:sp>
      <p:sp>
        <p:nvSpPr>
          <p:cNvPr id="7" name="Text Box 6"/>
          <p:cNvSpPr txBox="1"/>
          <p:nvPr/>
        </p:nvSpPr>
        <p:spPr>
          <a:xfrm>
            <a:off x="3702050" y="2565400"/>
            <a:ext cx="194500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rgbClr val="FF0000"/>
                </a:solidFill>
              </a:rPr>
              <a:t>ab1b2b4d2d4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3" grpId="0"/>
      <p:bldP spid="8" grpId="0"/>
      <p:bldP spid="28" grpId="0"/>
      <p:bldP spid="28" grpId="1"/>
      <p:bldP spid="29" grpId="0"/>
      <p:bldP spid="29" grpId="1"/>
      <p:bldP spid="30" grpId="0"/>
      <p:bldP spid="30" grpId="1"/>
      <p:bldP spid="31" grpId="0"/>
      <p:bldP spid="31" grpId="1"/>
      <p:bldP spid="32" grpId="0"/>
      <p:bldP spid="32" grpId="1"/>
      <p:bldP spid="33" grpId="0"/>
      <p:bldP spid="33" grpId="1"/>
      <p:bldP spid="7" grpId="0"/>
    </p:bldLst>
  </p:timing>
</p:sld>
</file>

<file path=ppt/slides/slide1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ym typeface="+mn-ea"/>
              </a:rPr>
              <a:t>Merging</a:t>
            </a:r>
            <a:endParaRPr lang="en-US"/>
          </a:p>
        </p:txBody>
      </p:sp>
      <p:graphicFrame>
        <p:nvGraphicFramePr>
          <p:cNvPr id="4" name="Table 3"/>
          <p:cNvGraphicFramePr/>
          <p:nvPr>
            <p:custDataLst>
              <p:tags r:id="rId1"/>
            </p:custDataLst>
          </p:nvPr>
        </p:nvGraphicFramePr>
        <p:xfrm>
          <a:off x="1838325" y="3025775"/>
          <a:ext cx="3098800" cy="3048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87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73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73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73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873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873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873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873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Text Box 4"/>
          <p:cNvSpPr txBox="1"/>
          <p:nvPr/>
        </p:nvSpPr>
        <p:spPr>
          <a:xfrm>
            <a:off x="996950" y="1616075"/>
            <a:ext cx="1040574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400">
                <a:sym typeface="+mn-ea"/>
              </a:rPr>
              <a:t>Apply the region splitting and merging on the following image with threshold value equal to 3.</a:t>
            </a:r>
            <a:endParaRPr lang="en-US" sz="2400"/>
          </a:p>
        </p:txBody>
      </p:sp>
      <p:sp>
        <p:nvSpPr>
          <p:cNvPr id="15" name="Text Box 14"/>
          <p:cNvSpPr txBox="1"/>
          <p:nvPr/>
        </p:nvSpPr>
        <p:spPr>
          <a:xfrm>
            <a:off x="1152525" y="5000625"/>
            <a:ext cx="57594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rgbClr val="92D050"/>
                </a:solidFill>
              </a:rPr>
              <a:t>c</a:t>
            </a:r>
          </a:p>
        </p:txBody>
      </p:sp>
      <p:sp>
        <p:nvSpPr>
          <p:cNvPr id="3" name="Text Box 2"/>
          <p:cNvSpPr txBox="1"/>
          <p:nvPr/>
        </p:nvSpPr>
        <p:spPr>
          <a:xfrm>
            <a:off x="2680970" y="6280785"/>
            <a:ext cx="57594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rgbClr val="FFC000"/>
                </a:solidFill>
              </a:rPr>
              <a:t>d1</a:t>
            </a:r>
          </a:p>
        </p:txBody>
      </p:sp>
      <p:sp>
        <p:nvSpPr>
          <p:cNvPr id="8" name="Text Box 7"/>
          <p:cNvSpPr txBox="1"/>
          <p:nvPr/>
        </p:nvSpPr>
        <p:spPr>
          <a:xfrm>
            <a:off x="3475990" y="6203950"/>
            <a:ext cx="57594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rgbClr val="FFC000"/>
                </a:solidFill>
              </a:rPr>
              <a:t>d3</a:t>
            </a:r>
          </a:p>
        </p:txBody>
      </p:sp>
      <p:cxnSp>
        <p:nvCxnSpPr>
          <p:cNvPr id="10" name="Straight Arrow Connector 9"/>
          <p:cNvCxnSpPr>
            <a:endCxn id="3" idx="0"/>
          </p:cNvCxnSpPr>
          <p:nvPr/>
        </p:nvCxnSpPr>
        <p:spPr>
          <a:xfrm flipH="1">
            <a:off x="2969260" y="4929505"/>
            <a:ext cx="425450" cy="1351280"/>
          </a:xfrm>
          <a:prstGeom prst="straightConnector1">
            <a:avLst/>
          </a:prstGeom>
          <a:ln w="31750" cap="rnd">
            <a:solidFill>
              <a:srgbClr val="FFC000"/>
            </a:solidFill>
            <a:round/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7" name="Text Box 36"/>
          <p:cNvSpPr txBox="1"/>
          <p:nvPr/>
        </p:nvSpPr>
        <p:spPr>
          <a:xfrm>
            <a:off x="2588260" y="2426970"/>
            <a:ext cx="57594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chemeClr val="accent1"/>
                </a:solidFill>
              </a:rPr>
              <a:t>b3</a:t>
            </a:r>
          </a:p>
        </p:txBody>
      </p:sp>
      <p:cxnSp>
        <p:nvCxnSpPr>
          <p:cNvPr id="38" name="Straight Arrow Connector 37"/>
          <p:cNvCxnSpPr>
            <a:endCxn id="37" idx="2"/>
          </p:cNvCxnSpPr>
          <p:nvPr/>
        </p:nvCxnSpPr>
        <p:spPr>
          <a:xfrm flipH="1" flipV="1">
            <a:off x="2876550" y="2887345"/>
            <a:ext cx="518160" cy="1267460"/>
          </a:xfrm>
          <a:prstGeom prst="straightConnector1">
            <a:avLst/>
          </a:prstGeom>
          <a:ln w="31750" cap="rnd">
            <a:solidFill>
              <a:schemeClr val="accent1"/>
            </a:solidFill>
            <a:round/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8" name="Text Box 27"/>
          <p:cNvSpPr txBox="1"/>
          <p:nvPr/>
        </p:nvSpPr>
        <p:spPr>
          <a:xfrm>
            <a:off x="7329170" y="3732530"/>
            <a:ext cx="22688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chemeClr val="tx1"/>
                </a:solidFill>
              </a:rPr>
              <a:t>Max Value = 3</a:t>
            </a:r>
          </a:p>
        </p:txBody>
      </p:sp>
      <p:sp>
        <p:nvSpPr>
          <p:cNvPr id="29" name="Text Box 28"/>
          <p:cNvSpPr txBox="1"/>
          <p:nvPr/>
        </p:nvSpPr>
        <p:spPr>
          <a:xfrm>
            <a:off x="7329170" y="4319905"/>
            <a:ext cx="22688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chemeClr val="tx1"/>
                </a:solidFill>
              </a:rPr>
              <a:t>Min Value = 0</a:t>
            </a:r>
          </a:p>
        </p:txBody>
      </p:sp>
      <p:sp>
        <p:nvSpPr>
          <p:cNvPr id="30" name="Text Box 29"/>
          <p:cNvSpPr txBox="1"/>
          <p:nvPr/>
        </p:nvSpPr>
        <p:spPr>
          <a:xfrm>
            <a:off x="6801485" y="5026660"/>
            <a:ext cx="139827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chemeClr val="tx1"/>
                </a:solidFill>
                <a:sym typeface="+mn-ea"/>
              </a:rPr>
              <a:t>|3-0|=3</a:t>
            </a:r>
          </a:p>
        </p:txBody>
      </p:sp>
      <p:sp>
        <p:nvSpPr>
          <p:cNvPr id="31" name="Text Box 30"/>
          <p:cNvSpPr txBox="1"/>
          <p:nvPr/>
        </p:nvSpPr>
        <p:spPr>
          <a:xfrm>
            <a:off x="8199755" y="5026660"/>
            <a:ext cx="139827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400">
                <a:solidFill>
                  <a:schemeClr val="tx1"/>
                </a:solidFill>
              </a:rPr>
              <a:t>&lt;=3</a:t>
            </a:r>
          </a:p>
        </p:txBody>
      </p:sp>
      <p:sp>
        <p:nvSpPr>
          <p:cNvPr id="32" name="Text Box 31"/>
          <p:cNvSpPr txBox="1"/>
          <p:nvPr/>
        </p:nvSpPr>
        <p:spPr>
          <a:xfrm>
            <a:off x="9598025" y="5026660"/>
            <a:ext cx="508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400">
                <a:solidFill>
                  <a:srgbClr val="92D050"/>
                </a:solidFill>
                <a:sym typeface="+mn-ea"/>
              </a:rPr>
              <a:t>✔</a:t>
            </a:r>
            <a:endParaRPr lang="en-US" sz="2400">
              <a:solidFill>
                <a:srgbClr val="FF0000"/>
              </a:solidFill>
              <a:sym typeface="+mn-ea"/>
            </a:endParaRPr>
          </a:p>
        </p:txBody>
      </p:sp>
      <p:sp>
        <p:nvSpPr>
          <p:cNvPr id="33" name="Text Box 32"/>
          <p:cNvSpPr txBox="1"/>
          <p:nvPr/>
        </p:nvSpPr>
        <p:spPr>
          <a:xfrm>
            <a:off x="6324600" y="3212465"/>
            <a:ext cx="427863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chemeClr val="tx1"/>
                </a:solidFill>
              </a:rPr>
              <a:t>For Regions </a:t>
            </a:r>
            <a:r>
              <a:rPr lang="en-US" sz="2400">
                <a:solidFill>
                  <a:srgbClr val="92D050"/>
                </a:solidFill>
              </a:rPr>
              <a:t>c</a:t>
            </a:r>
            <a:r>
              <a:rPr lang="en-US" sz="2400">
                <a:solidFill>
                  <a:schemeClr val="tx1"/>
                </a:solidFill>
              </a:rPr>
              <a:t> &amp; </a:t>
            </a:r>
            <a:r>
              <a:rPr lang="en-US" sz="2400">
                <a:solidFill>
                  <a:srgbClr val="FFC000"/>
                </a:solidFill>
              </a:rPr>
              <a:t>d1</a:t>
            </a:r>
            <a:r>
              <a:rPr lang="en-US" sz="2400">
                <a:solidFill>
                  <a:schemeClr val="tx1"/>
                </a:solidFill>
              </a:rPr>
              <a:t>,</a:t>
            </a:r>
          </a:p>
        </p:txBody>
      </p:sp>
      <p:sp>
        <p:nvSpPr>
          <p:cNvPr id="7" name="Text Box 6"/>
          <p:cNvSpPr txBox="1"/>
          <p:nvPr/>
        </p:nvSpPr>
        <p:spPr>
          <a:xfrm>
            <a:off x="3702050" y="2565400"/>
            <a:ext cx="194500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rgbClr val="FF0000"/>
                </a:solidFill>
              </a:rPr>
              <a:t>ab1b2b4d2d4</a:t>
            </a:r>
          </a:p>
        </p:txBody>
      </p:sp>
      <p:sp>
        <p:nvSpPr>
          <p:cNvPr id="6" name="Text Box 5"/>
          <p:cNvSpPr txBox="1"/>
          <p:nvPr/>
        </p:nvSpPr>
        <p:spPr>
          <a:xfrm>
            <a:off x="996950" y="4667250"/>
            <a:ext cx="73152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rgbClr val="92D050"/>
                </a:solidFill>
              </a:rPr>
              <a:t>cd1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3" presetClass="exit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3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5" grpId="1"/>
      <p:bldP spid="3" grpId="0"/>
      <p:bldP spid="3" grpId="1"/>
      <p:bldP spid="8" grpId="0"/>
      <p:bldP spid="28" grpId="0"/>
      <p:bldP spid="29" grpId="0"/>
      <p:bldP spid="30" grpId="0"/>
      <p:bldP spid="31" grpId="0"/>
      <p:bldP spid="32" grpId="0"/>
      <p:bldP spid="33" grpId="0"/>
      <p:bldP spid="7" grpId="0"/>
      <p:bldP spid="6" grpId="0"/>
      <p:bldP spid="6" grpId="1"/>
    </p:bldLst>
  </p:timing>
</p:sld>
</file>

<file path=ppt/slides/slide1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ym typeface="+mn-ea"/>
              </a:rPr>
              <a:t>Merging</a:t>
            </a:r>
            <a:endParaRPr lang="en-US"/>
          </a:p>
        </p:txBody>
      </p:sp>
      <p:graphicFrame>
        <p:nvGraphicFramePr>
          <p:cNvPr id="4" name="Table 3"/>
          <p:cNvGraphicFramePr/>
          <p:nvPr>
            <p:custDataLst>
              <p:tags r:id="rId1"/>
            </p:custDataLst>
          </p:nvPr>
        </p:nvGraphicFramePr>
        <p:xfrm>
          <a:off x="1838325" y="3025775"/>
          <a:ext cx="3098800" cy="3048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87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73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73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73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873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873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873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873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Text Box 4"/>
          <p:cNvSpPr txBox="1"/>
          <p:nvPr/>
        </p:nvSpPr>
        <p:spPr>
          <a:xfrm>
            <a:off x="996950" y="1616075"/>
            <a:ext cx="1040574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400">
                <a:sym typeface="+mn-ea"/>
              </a:rPr>
              <a:t>Apply the region splitting and merging on the following image with threshold value equal to 3.</a:t>
            </a:r>
            <a:endParaRPr lang="en-US" sz="2400"/>
          </a:p>
        </p:txBody>
      </p:sp>
      <p:sp>
        <p:nvSpPr>
          <p:cNvPr id="8" name="Text Box 7"/>
          <p:cNvSpPr txBox="1"/>
          <p:nvPr/>
        </p:nvSpPr>
        <p:spPr>
          <a:xfrm>
            <a:off x="3475990" y="6203950"/>
            <a:ext cx="57594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rgbClr val="FFC000"/>
                </a:solidFill>
              </a:rPr>
              <a:t>d3</a:t>
            </a:r>
          </a:p>
        </p:txBody>
      </p:sp>
      <p:sp>
        <p:nvSpPr>
          <p:cNvPr id="37" name="Text Box 36"/>
          <p:cNvSpPr txBox="1"/>
          <p:nvPr/>
        </p:nvSpPr>
        <p:spPr>
          <a:xfrm>
            <a:off x="2588260" y="2426970"/>
            <a:ext cx="57594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chemeClr val="accent1"/>
                </a:solidFill>
              </a:rPr>
              <a:t>b3</a:t>
            </a:r>
          </a:p>
        </p:txBody>
      </p:sp>
      <p:cxnSp>
        <p:nvCxnSpPr>
          <p:cNvPr id="38" name="Straight Arrow Connector 37"/>
          <p:cNvCxnSpPr>
            <a:endCxn id="37" idx="2"/>
          </p:cNvCxnSpPr>
          <p:nvPr/>
        </p:nvCxnSpPr>
        <p:spPr>
          <a:xfrm flipH="1" flipV="1">
            <a:off x="2876550" y="2887345"/>
            <a:ext cx="518160" cy="1267460"/>
          </a:xfrm>
          <a:prstGeom prst="straightConnector1">
            <a:avLst/>
          </a:prstGeom>
          <a:ln w="31750" cap="rnd">
            <a:solidFill>
              <a:schemeClr val="accent1"/>
            </a:solidFill>
            <a:round/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8" name="Text Box 27"/>
          <p:cNvSpPr txBox="1"/>
          <p:nvPr/>
        </p:nvSpPr>
        <p:spPr>
          <a:xfrm>
            <a:off x="7329170" y="3732530"/>
            <a:ext cx="22688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chemeClr val="tx1"/>
                </a:solidFill>
              </a:rPr>
              <a:t>Max Value = 3</a:t>
            </a:r>
          </a:p>
        </p:txBody>
      </p:sp>
      <p:sp>
        <p:nvSpPr>
          <p:cNvPr id="29" name="Text Box 28"/>
          <p:cNvSpPr txBox="1"/>
          <p:nvPr/>
        </p:nvSpPr>
        <p:spPr>
          <a:xfrm>
            <a:off x="7329170" y="4319905"/>
            <a:ext cx="22688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chemeClr val="tx1"/>
                </a:solidFill>
              </a:rPr>
              <a:t>Min Value = 0</a:t>
            </a:r>
          </a:p>
        </p:txBody>
      </p:sp>
      <p:sp>
        <p:nvSpPr>
          <p:cNvPr id="30" name="Text Box 29"/>
          <p:cNvSpPr txBox="1"/>
          <p:nvPr/>
        </p:nvSpPr>
        <p:spPr>
          <a:xfrm>
            <a:off x="6801485" y="5026660"/>
            <a:ext cx="139827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chemeClr val="tx1"/>
                </a:solidFill>
                <a:sym typeface="+mn-ea"/>
              </a:rPr>
              <a:t>|3-0|=3</a:t>
            </a:r>
          </a:p>
        </p:txBody>
      </p:sp>
      <p:sp>
        <p:nvSpPr>
          <p:cNvPr id="31" name="Text Box 30"/>
          <p:cNvSpPr txBox="1"/>
          <p:nvPr/>
        </p:nvSpPr>
        <p:spPr>
          <a:xfrm>
            <a:off x="8199755" y="5026660"/>
            <a:ext cx="139827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400">
                <a:solidFill>
                  <a:schemeClr val="tx1"/>
                </a:solidFill>
              </a:rPr>
              <a:t>&lt;=3</a:t>
            </a:r>
          </a:p>
        </p:txBody>
      </p:sp>
      <p:sp>
        <p:nvSpPr>
          <p:cNvPr id="32" name="Text Box 31"/>
          <p:cNvSpPr txBox="1"/>
          <p:nvPr/>
        </p:nvSpPr>
        <p:spPr>
          <a:xfrm>
            <a:off x="9598025" y="5026660"/>
            <a:ext cx="508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400">
                <a:solidFill>
                  <a:srgbClr val="92D050"/>
                </a:solidFill>
                <a:sym typeface="+mn-ea"/>
              </a:rPr>
              <a:t>✔</a:t>
            </a:r>
            <a:endParaRPr lang="en-US" sz="2400">
              <a:solidFill>
                <a:srgbClr val="FF0000"/>
              </a:solidFill>
              <a:sym typeface="+mn-ea"/>
            </a:endParaRPr>
          </a:p>
        </p:txBody>
      </p:sp>
      <p:sp>
        <p:nvSpPr>
          <p:cNvPr id="33" name="Text Box 32"/>
          <p:cNvSpPr txBox="1"/>
          <p:nvPr/>
        </p:nvSpPr>
        <p:spPr>
          <a:xfrm>
            <a:off x="6324600" y="3212465"/>
            <a:ext cx="427863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chemeClr val="tx1"/>
                </a:solidFill>
              </a:rPr>
              <a:t>For Regions </a:t>
            </a:r>
            <a:r>
              <a:rPr lang="en-US" sz="2400">
                <a:solidFill>
                  <a:srgbClr val="92D050"/>
                </a:solidFill>
              </a:rPr>
              <a:t>cd1</a:t>
            </a:r>
            <a:r>
              <a:rPr lang="en-US" sz="2400">
                <a:solidFill>
                  <a:schemeClr val="tx1"/>
                </a:solidFill>
              </a:rPr>
              <a:t> &amp; </a:t>
            </a:r>
            <a:r>
              <a:rPr lang="en-US" sz="2400">
                <a:solidFill>
                  <a:schemeClr val="accent1"/>
                </a:solidFill>
              </a:rPr>
              <a:t>b3</a:t>
            </a:r>
            <a:r>
              <a:rPr lang="en-US" sz="2400">
                <a:solidFill>
                  <a:schemeClr val="tx1"/>
                </a:solidFill>
              </a:rPr>
              <a:t>,</a:t>
            </a:r>
          </a:p>
        </p:txBody>
      </p:sp>
      <p:sp>
        <p:nvSpPr>
          <p:cNvPr id="7" name="Text Box 6"/>
          <p:cNvSpPr txBox="1"/>
          <p:nvPr/>
        </p:nvSpPr>
        <p:spPr>
          <a:xfrm>
            <a:off x="3702050" y="2565400"/>
            <a:ext cx="194500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rgbClr val="FF0000"/>
                </a:solidFill>
              </a:rPr>
              <a:t>ab1b2b4d2d4</a:t>
            </a:r>
          </a:p>
        </p:txBody>
      </p:sp>
      <p:sp>
        <p:nvSpPr>
          <p:cNvPr id="6" name="Text Box 5"/>
          <p:cNvSpPr txBox="1"/>
          <p:nvPr/>
        </p:nvSpPr>
        <p:spPr>
          <a:xfrm>
            <a:off x="996950" y="4667250"/>
            <a:ext cx="73152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rgbClr val="92D050"/>
                </a:solidFill>
              </a:rPr>
              <a:t>cd1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28" grpId="0"/>
      <p:bldP spid="28" grpId="1"/>
      <p:bldP spid="29" grpId="0"/>
      <p:bldP spid="29" grpId="1"/>
      <p:bldP spid="30" grpId="0"/>
      <p:bldP spid="30" grpId="1"/>
      <p:bldP spid="31" grpId="0"/>
      <p:bldP spid="31" grpId="1"/>
      <p:bldP spid="32" grpId="0"/>
      <p:bldP spid="32" grpId="1"/>
      <p:bldP spid="33" grpId="0"/>
      <p:bldP spid="33" grpId="1"/>
      <p:bldP spid="7" grpId="0"/>
      <p:bldP spid="6" grpId="0"/>
    </p:bldLst>
  </p:timing>
</p:sld>
</file>

<file path=ppt/slides/slide1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ym typeface="+mn-ea"/>
              </a:rPr>
              <a:t>Merging</a:t>
            </a:r>
            <a:endParaRPr lang="en-US"/>
          </a:p>
        </p:txBody>
      </p:sp>
      <p:graphicFrame>
        <p:nvGraphicFramePr>
          <p:cNvPr id="4" name="Table 3"/>
          <p:cNvGraphicFramePr/>
          <p:nvPr>
            <p:custDataLst>
              <p:tags r:id="rId1"/>
            </p:custDataLst>
          </p:nvPr>
        </p:nvGraphicFramePr>
        <p:xfrm>
          <a:off x="1838325" y="3025775"/>
          <a:ext cx="3098800" cy="3048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87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73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73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73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873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873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873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873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Text Box 4"/>
          <p:cNvSpPr txBox="1"/>
          <p:nvPr/>
        </p:nvSpPr>
        <p:spPr>
          <a:xfrm>
            <a:off x="996950" y="1616075"/>
            <a:ext cx="1040574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400">
                <a:sym typeface="+mn-ea"/>
              </a:rPr>
              <a:t>Apply the region splitting and merging on the following image with threshold value equal to 3.</a:t>
            </a:r>
            <a:endParaRPr lang="en-US" sz="2400"/>
          </a:p>
        </p:txBody>
      </p:sp>
      <p:sp>
        <p:nvSpPr>
          <p:cNvPr id="8" name="Text Box 7"/>
          <p:cNvSpPr txBox="1"/>
          <p:nvPr/>
        </p:nvSpPr>
        <p:spPr>
          <a:xfrm>
            <a:off x="3475990" y="6203950"/>
            <a:ext cx="57594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rgbClr val="FFC000"/>
                </a:solidFill>
              </a:rPr>
              <a:t>d3</a:t>
            </a:r>
          </a:p>
        </p:txBody>
      </p:sp>
      <p:sp>
        <p:nvSpPr>
          <p:cNvPr id="37" name="Text Box 36"/>
          <p:cNvSpPr txBox="1"/>
          <p:nvPr/>
        </p:nvSpPr>
        <p:spPr>
          <a:xfrm>
            <a:off x="2588260" y="2426970"/>
            <a:ext cx="57594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chemeClr val="accent1"/>
                </a:solidFill>
              </a:rPr>
              <a:t>b3</a:t>
            </a:r>
          </a:p>
        </p:txBody>
      </p:sp>
      <p:cxnSp>
        <p:nvCxnSpPr>
          <p:cNvPr id="38" name="Straight Arrow Connector 37"/>
          <p:cNvCxnSpPr>
            <a:endCxn id="37" idx="2"/>
          </p:cNvCxnSpPr>
          <p:nvPr/>
        </p:nvCxnSpPr>
        <p:spPr>
          <a:xfrm flipH="1" flipV="1">
            <a:off x="2876550" y="2887345"/>
            <a:ext cx="518160" cy="1267460"/>
          </a:xfrm>
          <a:prstGeom prst="straightConnector1">
            <a:avLst/>
          </a:prstGeom>
          <a:ln w="31750" cap="rnd">
            <a:solidFill>
              <a:schemeClr val="accent1"/>
            </a:solidFill>
            <a:round/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8" name="Text Box 27"/>
          <p:cNvSpPr txBox="1"/>
          <p:nvPr/>
        </p:nvSpPr>
        <p:spPr>
          <a:xfrm>
            <a:off x="7329170" y="3732530"/>
            <a:ext cx="22688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chemeClr val="tx1"/>
                </a:solidFill>
              </a:rPr>
              <a:t>Max Value = 3</a:t>
            </a:r>
          </a:p>
        </p:txBody>
      </p:sp>
      <p:sp>
        <p:nvSpPr>
          <p:cNvPr id="29" name="Text Box 28"/>
          <p:cNvSpPr txBox="1"/>
          <p:nvPr/>
        </p:nvSpPr>
        <p:spPr>
          <a:xfrm>
            <a:off x="7329170" y="4319905"/>
            <a:ext cx="22688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chemeClr val="tx1"/>
                </a:solidFill>
              </a:rPr>
              <a:t>Min Value = 0</a:t>
            </a:r>
          </a:p>
        </p:txBody>
      </p:sp>
      <p:sp>
        <p:nvSpPr>
          <p:cNvPr id="30" name="Text Box 29"/>
          <p:cNvSpPr txBox="1"/>
          <p:nvPr/>
        </p:nvSpPr>
        <p:spPr>
          <a:xfrm>
            <a:off x="6801485" y="5026660"/>
            <a:ext cx="139827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chemeClr val="tx1"/>
                </a:solidFill>
                <a:sym typeface="+mn-ea"/>
              </a:rPr>
              <a:t>|3-0|=3</a:t>
            </a:r>
          </a:p>
        </p:txBody>
      </p:sp>
      <p:sp>
        <p:nvSpPr>
          <p:cNvPr id="31" name="Text Box 30"/>
          <p:cNvSpPr txBox="1"/>
          <p:nvPr/>
        </p:nvSpPr>
        <p:spPr>
          <a:xfrm>
            <a:off x="8199755" y="5026660"/>
            <a:ext cx="139827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400">
                <a:solidFill>
                  <a:schemeClr val="tx1"/>
                </a:solidFill>
              </a:rPr>
              <a:t>&lt;=3</a:t>
            </a:r>
          </a:p>
        </p:txBody>
      </p:sp>
      <p:sp>
        <p:nvSpPr>
          <p:cNvPr id="32" name="Text Box 31"/>
          <p:cNvSpPr txBox="1"/>
          <p:nvPr/>
        </p:nvSpPr>
        <p:spPr>
          <a:xfrm>
            <a:off x="9598025" y="5026660"/>
            <a:ext cx="508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400">
                <a:solidFill>
                  <a:srgbClr val="92D050"/>
                </a:solidFill>
                <a:sym typeface="+mn-ea"/>
              </a:rPr>
              <a:t>✔</a:t>
            </a:r>
            <a:endParaRPr lang="en-US" sz="2400">
              <a:solidFill>
                <a:srgbClr val="FF0000"/>
              </a:solidFill>
              <a:sym typeface="+mn-ea"/>
            </a:endParaRPr>
          </a:p>
        </p:txBody>
      </p:sp>
      <p:sp>
        <p:nvSpPr>
          <p:cNvPr id="33" name="Text Box 32"/>
          <p:cNvSpPr txBox="1"/>
          <p:nvPr/>
        </p:nvSpPr>
        <p:spPr>
          <a:xfrm>
            <a:off x="6324600" y="3212465"/>
            <a:ext cx="427863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chemeClr val="tx1"/>
                </a:solidFill>
              </a:rPr>
              <a:t>For Regions </a:t>
            </a:r>
            <a:r>
              <a:rPr lang="en-US" sz="2400">
                <a:solidFill>
                  <a:srgbClr val="92D050"/>
                </a:solidFill>
              </a:rPr>
              <a:t>cd1</a:t>
            </a:r>
            <a:r>
              <a:rPr lang="en-US" sz="2400">
                <a:solidFill>
                  <a:schemeClr val="tx1"/>
                </a:solidFill>
              </a:rPr>
              <a:t> &amp; </a:t>
            </a:r>
            <a:r>
              <a:rPr lang="en-US" sz="2400">
                <a:solidFill>
                  <a:schemeClr val="accent1"/>
                </a:solidFill>
              </a:rPr>
              <a:t>b3</a:t>
            </a:r>
            <a:r>
              <a:rPr lang="en-US" sz="2400">
                <a:solidFill>
                  <a:schemeClr val="tx1"/>
                </a:solidFill>
              </a:rPr>
              <a:t>,</a:t>
            </a:r>
          </a:p>
        </p:txBody>
      </p:sp>
      <p:sp>
        <p:nvSpPr>
          <p:cNvPr id="7" name="Text Box 6"/>
          <p:cNvSpPr txBox="1"/>
          <p:nvPr/>
        </p:nvSpPr>
        <p:spPr>
          <a:xfrm>
            <a:off x="3702050" y="2565400"/>
            <a:ext cx="194500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rgbClr val="FF0000"/>
                </a:solidFill>
              </a:rPr>
              <a:t>ab1b2b4d2d4</a:t>
            </a:r>
          </a:p>
        </p:txBody>
      </p:sp>
      <p:sp>
        <p:nvSpPr>
          <p:cNvPr id="6" name="Text Box 5"/>
          <p:cNvSpPr txBox="1"/>
          <p:nvPr/>
        </p:nvSpPr>
        <p:spPr>
          <a:xfrm>
            <a:off x="996950" y="4667250"/>
            <a:ext cx="73152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rgbClr val="92D050"/>
                </a:solidFill>
              </a:rPr>
              <a:t>cd1</a:t>
            </a:r>
          </a:p>
        </p:txBody>
      </p:sp>
      <p:sp>
        <p:nvSpPr>
          <p:cNvPr id="11" name="Text Box 10"/>
          <p:cNvSpPr txBox="1"/>
          <p:nvPr/>
        </p:nvSpPr>
        <p:spPr>
          <a:xfrm>
            <a:off x="763270" y="4942840"/>
            <a:ext cx="9652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rgbClr val="92D050"/>
                </a:solidFill>
              </a:rPr>
              <a:t>cd1b3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6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3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9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3" presetClass="exit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37" grpId="0"/>
      <p:bldP spid="37" grpId="1"/>
      <p:bldP spid="28" grpId="0"/>
      <p:bldP spid="29" grpId="0"/>
      <p:bldP spid="30" grpId="0"/>
      <p:bldP spid="31" grpId="0"/>
      <p:bldP spid="32" grpId="0"/>
      <p:bldP spid="33" grpId="0"/>
      <p:bldP spid="7" grpId="0"/>
      <p:bldP spid="6" grpId="0"/>
      <p:bldP spid="6" grpId="1"/>
      <p:bldP spid="11" grpId="0"/>
      <p:bldP spid="11" grpId="1"/>
    </p:bldLst>
  </p:timing>
</p:sld>
</file>

<file path=ppt/slides/slide1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ym typeface="+mn-ea"/>
              </a:rPr>
              <a:t>Merging</a:t>
            </a:r>
            <a:endParaRPr lang="en-US"/>
          </a:p>
        </p:txBody>
      </p:sp>
      <p:graphicFrame>
        <p:nvGraphicFramePr>
          <p:cNvPr id="4" name="Table 3"/>
          <p:cNvGraphicFramePr/>
          <p:nvPr>
            <p:custDataLst>
              <p:tags r:id="rId1"/>
            </p:custDataLst>
          </p:nvPr>
        </p:nvGraphicFramePr>
        <p:xfrm>
          <a:off x="1838325" y="3025775"/>
          <a:ext cx="3098800" cy="3048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87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73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73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73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873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873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873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873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Text Box 4"/>
          <p:cNvSpPr txBox="1"/>
          <p:nvPr/>
        </p:nvSpPr>
        <p:spPr>
          <a:xfrm>
            <a:off x="996950" y="1616075"/>
            <a:ext cx="1040574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400">
                <a:sym typeface="+mn-ea"/>
              </a:rPr>
              <a:t>Apply the region splitting and merging on the following image with threshold value equal to 3.</a:t>
            </a:r>
            <a:endParaRPr lang="en-US" sz="2400"/>
          </a:p>
        </p:txBody>
      </p:sp>
      <p:sp>
        <p:nvSpPr>
          <p:cNvPr id="8" name="Text Box 7"/>
          <p:cNvSpPr txBox="1"/>
          <p:nvPr/>
        </p:nvSpPr>
        <p:spPr>
          <a:xfrm>
            <a:off x="3475990" y="6203950"/>
            <a:ext cx="57594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rgbClr val="FFC000"/>
                </a:solidFill>
              </a:rPr>
              <a:t>d3</a:t>
            </a:r>
          </a:p>
        </p:txBody>
      </p:sp>
      <p:sp>
        <p:nvSpPr>
          <p:cNvPr id="28" name="Text Box 27"/>
          <p:cNvSpPr txBox="1"/>
          <p:nvPr/>
        </p:nvSpPr>
        <p:spPr>
          <a:xfrm>
            <a:off x="7329170" y="3732530"/>
            <a:ext cx="22688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chemeClr val="tx1"/>
                </a:solidFill>
              </a:rPr>
              <a:t>Max Value = 3</a:t>
            </a:r>
          </a:p>
        </p:txBody>
      </p:sp>
      <p:sp>
        <p:nvSpPr>
          <p:cNvPr id="29" name="Text Box 28"/>
          <p:cNvSpPr txBox="1"/>
          <p:nvPr/>
        </p:nvSpPr>
        <p:spPr>
          <a:xfrm>
            <a:off x="7329170" y="4319905"/>
            <a:ext cx="22688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chemeClr val="tx1"/>
                </a:solidFill>
              </a:rPr>
              <a:t>Min Value = 0</a:t>
            </a:r>
          </a:p>
        </p:txBody>
      </p:sp>
      <p:sp>
        <p:nvSpPr>
          <p:cNvPr id="30" name="Text Box 29"/>
          <p:cNvSpPr txBox="1"/>
          <p:nvPr/>
        </p:nvSpPr>
        <p:spPr>
          <a:xfrm>
            <a:off x="6801485" y="5026660"/>
            <a:ext cx="139827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chemeClr val="tx1"/>
                </a:solidFill>
                <a:sym typeface="+mn-ea"/>
              </a:rPr>
              <a:t>|3-0|=3</a:t>
            </a:r>
          </a:p>
        </p:txBody>
      </p:sp>
      <p:sp>
        <p:nvSpPr>
          <p:cNvPr id="31" name="Text Box 30"/>
          <p:cNvSpPr txBox="1"/>
          <p:nvPr/>
        </p:nvSpPr>
        <p:spPr>
          <a:xfrm>
            <a:off x="8199755" y="5026660"/>
            <a:ext cx="139827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400">
                <a:solidFill>
                  <a:schemeClr val="tx1"/>
                </a:solidFill>
              </a:rPr>
              <a:t>&lt;=3</a:t>
            </a:r>
          </a:p>
        </p:txBody>
      </p:sp>
      <p:sp>
        <p:nvSpPr>
          <p:cNvPr id="32" name="Text Box 31"/>
          <p:cNvSpPr txBox="1"/>
          <p:nvPr/>
        </p:nvSpPr>
        <p:spPr>
          <a:xfrm>
            <a:off x="9598025" y="5026660"/>
            <a:ext cx="508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400">
                <a:solidFill>
                  <a:srgbClr val="92D050"/>
                </a:solidFill>
                <a:sym typeface="+mn-ea"/>
              </a:rPr>
              <a:t>✔</a:t>
            </a:r>
            <a:endParaRPr lang="en-US" sz="2400">
              <a:solidFill>
                <a:srgbClr val="FF0000"/>
              </a:solidFill>
              <a:sym typeface="+mn-ea"/>
            </a:endParaRPr>
          </a:p>
        </p:txBody>
      </p:sp>
      <p:sp>
        <p:nvSpPr>
          <p:cNvPr id="33" name="Text Box 32"/>
          <p:cNvSpPr txBox="1"/>
          <p:nvPr/>
        </p:nvSpPr>
        <p:spPr>
          <a:xfrm>
            <a:off x="6324600" y="3212465"/>
            <a:ext cx="427863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chemeClr val="tx1"/>
                </a:solidFill>
              </a:rPr>
              <a:t>For Regions </a:t>
            </a:r>
            <a:r>
              <a:rPr lang="en-US" sz="2400">
                <a:solidFill>
                  <a:srgbClr val="92D050"/>
                </a:solidFill>
              </a:rPr>
              <a:t>cd1b3</a:t>
            </a:r>
            <a:r>
              <a:rPr lang="en-US" sz="2400">
                <a:solidFill>
                  <a:schemeClr val="tx1"/>
                </a:solidFill>
              </a:rPr>
              <a:t> &amp; </a:t>
            </a:r>
            <a:r>
              <a:rPr lang="en-US" sz="2400">
                <a:solidFill>
                  <a:srgbClr val="FFC000"/>
                </a:solidFill>
              </a:rPr>
              <a:t>d3</a:t>
            </a:r>
            <a:r>
              <a:rPr lang="en-US" sz="2400">
                <a:solidFill>
                  <a:schemeClr val="tx1"/>
                </a:solidFill>
              </a:rPr>
              <a:t>,</a:t>
            </a:r>
          </a:p>
        </p:txBody>
      </p:sp>
      <p:sp>
        <p:nvSpPr>
          <p:cNvPr id="7" name="Text Box 6"/>
          <p:cNvSpPr txBox="1"/>
          <p:nvPr/>
        </p:nvSpPr>
        <p:spPr>
          <a:xfrm>
            <a:off x="3702050" y="2565400"/>
            <a:ext cx="194500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rgbClr val="FF0000"/>
                </a:solidFill>
              </a:rPr>
              <a:t>ab1b2b4d2d4</a:t>
            </a:r>
          </a:p>
        </p:txBody>
      </p:sp>
      <p:sp>
        <p:nvSpPr>
          <p:cNvPr id="11" name="Text Box 10"/>
          <p:cNvSpPr txBox="1"/>
          <p:nvPr/>
        </p:nvSpPr>
        <p:spPr>
          <a:xfrm>
            <a:off x="763270" y="4942840"/>
            <a:ext cx="9652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rgbClr val="92D050"/>
                </a:solidFill>
              </a:rPr>
              <a:t>cd1b3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28" grpId="0"/>
      <p:bldP spid="28" grpId="1"/>
      <p:bldP spid="29" grpId="0"/>
      <p:bldP spid="29" grpId="1"/>
      <p:bldP spid="30" grpId="0"/>
      <p:bldP spid="30" grpId="1"/>
      <p:bldP spid="31" grpId="0"/>
      <p:bldP spid="31" grpId="1"/>
      <p:bldP spid="32" grpId="0"/>
      <p:bldP spid="32" grpId="1"/>
      <p:bldP spid="33" grpId="0"/>
      <p:bldP spid="33" grpId="1"/>
      <p:bldP spid="7" grpId="0"/>
      <p:bldP spid="11" grpId="0"/>
    </p:bldLst>
  </p:timing>
</p:sld>
</file>

<file path=ppt/slides/slide1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ym typeface="+mn-ea"/>
              </a:rPr>
              <a:t>Merging</a:t>
            </a:r>
            <a:endParaRPr lang="en-US"/>
          </a:p>
        </p:txBody>
      </p:sp>
      <p:graphicFrame>
        <p:nvGraphicFramePr>
          <p:cNvPr id="4" name="Table 3"/>
          <p:cNvGraphicFramePr/>
          <p:nvPr>
            <p:custDataLst>
              <p:tags r:id="rId1"/>
            </p:custDataLst>
          </p:nvPr>
        </p:nvGraphicFramePr>
        <p:xfrm>
          <a:off x="1838325" y="3025775"/>
          <a:ext cx="3098800" cy="3048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87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73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73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73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873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873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873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873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Text Box 4"/>
          <p:cNvSpPr txBox="1"/>
          <p:nvPr/>
        </p:nvSpPr>
        <p:spPr>
          <a:xfrm>
            <a:off x="996950" y="1616075"/>
            <a:ext cx="1040574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400">
                <a:sym typeface="+mn-ea"/>
              </a:rPr>
              <a:t>Apply the region splitting and merging on the following image with threshold value equal to 3.</a:t>
            </a:r>
            <a:endParaRPr lang="en-US" sz="2400"/>
          </a:p>
        </p:txBody>
      </p:sp>
      <p:sp>
        <p:nvSpPr>
          <p:cNvPr id="8" name="Text Box 7"/>
          <p:cNvSpPr txBox="1"/>
          <p:nvPr/>
        </p:nvSpPr>
        <p:spPr>
          <a:xfrm>
            <a:off x="3475990" y="6203950"/>
            <a:ext cx="57594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rgbClr val="FFC000"/>
                </a:solidFill>
              </a:rPr>
              <a:t>d3</a:t>
            </a:r>
          </a:p>
        </p:txBody>
      </p:sp>
      <p:sp>
        <p:nvSpPr>
          <p:cNvPr id="28" name="Text Box 27"/>
          <p:cNvSpPr txBox="1"/>
          <p:nvPr/>
        </p:nvSpPr>
        <p:spPr>
          <a:xfrm>
            <a:off x="7329170" y="3732530"/>
            <a:ext cx="22688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chemeClr val="tx1"/>
                </a:solidFill>
              </a:rPr>
              <a:t>Max Value = 3</a:t>
            </a:r>
          </a:p>
        </p:txBody>
      </p:sp>
      <p:sp>
        <p:nvSpPr>
          <p:cNvPr id="29" name="Text Box 28"/>
          <p:cNvSpPr txBox="1"/>
          <p:nvPr/>
        </p:nvSpPr>
        <p:spPr>
          <a:xfrm>
            <a:off x="7329170" y="4319905"/>
            <a:ext cx="22688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chemeClr val="tx1"/>
                </a:solidFill>
              </a:rPr>
              <a:t>Min Value = 0</a:t>
            </a:r>
          </a:p>
        </p:txBody>
      </p:sp>
      <p:sp>
        <p:nvSpPr>
          <p:cNvPr id="30" name="Text Box 29"/>
          <p:cNvSpPr txBox="1"/>
          <p:nvPr/>
        </p:nvSpPr>
        <p:spPr>
          <a:xfrm>
            <a:off x="6801485" y="5026660"/>
            <a:ext cx="139827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chemeClr val="tx1"/>
                </a:solidFill>
                <a:sym typeface="+mn-ea"/>
              </a:rPr>
              <a:t>|3-0|=3</a:t>
            </a:r>
          </a:p>
        </p:txBody>
      </p:sp>
      <p:sp>
        <p:nvSpPr>
          <p:cNvPr id="31" name="Text Box 30"/>
          <p:cNvSpPr txBox="1"/>
          <p:nvPr/>
        </p:nvSpPr>
        <p:spPr>
          <a:xfrm>
            <a:off x="8199755" y="5026660"/>
            <a:ext cx="139827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400">
                <a:solidFill>
                  <a:schemeClr val="tx1"/>
                </a:solidFill>
              </a:rPr>
              <a:t>&lt;=3</a:t>
            </a:r>
          </a:p>
        </p:txBody>
      </p:sp>
      <p:sp>
        <p:nvSpPr>
          <p:cNvPr id="32" name="Text Box 31"/>
          <p:cNvSpPr txBox="1"/>
          <p:nvPr/>
        </p:nvSpPr>
        <p:spPr>
          <a:xfrm>
            <a:off x="9598025" y="5026660"/>
            <a:ext cx="508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400">
                <a:solidFill>
                  <a:srgbClr val="92D050"/>
                </a:solidFill>
                <a:sym typeface="+mn-ea"/>
              </a:rPr>
              <a:t>✔</a:t>
            </a:r>
            <a:endParaRPr lang="en-US" sz="2400">
              <a:solidFill>
                <a:srgbClr val="FF0000"/>
              </a:solidFill>
              <a:sym typeface="+mn-ea"/>
            </a:endParaRPr>
          </a:p>
        </p:txBody>
      </p:sp>
      <p:sp>
        <p:nvSpPr>
          <p:cNvPr id="33" name="Text Box 32"/>
          <p:cNvSpPr txBox="1"/>
          <p:nvPr/>
        </p:nvSpPr>
        <p:spPr>
          <a:xfrm>
            <a:off x="6324600" y="3212465"/>
            <a:ext cx="427863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chemeClr val="tx1"/>
                </a:solidFill>
              </a:rPr>
              <a:t>For Regions </a:t>
            </a:r>
            <a:r>
              <a:rPr lang="en-US" sz="2400">
                <a:solidFill>
                  <a:srgbClr val="92D050"/>
                </a:solidFill>
              </a:rPr>
              <a:t>cd1b3</a:t>
            </a:r>
            <a:r>
              <a:rPr lang="en-US" sz="2400">
                <a:solidFill>
                  <a:schemeClr val="tx1"/>
                </a:solidFill>
              </a:rPr>
              <a:t> &amp; </a:t>
            </a:r>
            <a:r>
              <a:rPr lang="en-US" sz="2400">
                <a:solidFill>
                  <a:srgbClr val="FFC000"/>
                </a:solidFill>
              </a:rPr>
              <a:t>d3</a:t>
            </a:r>
            <a:r>
              <a:rPr lang="en-US" sz="2400">
                <a:solidFill>
                  <a:schemeClr val="tx1"/>
                </a:solidFill>
              </a:rPr>
              <a:t>,</a:t>
            </a:r>
          </a:p>
        </p:txBody>
      </p:sp>
      <p:sp>
        <p:nvSpPr>
          <p:cNvPr id="7" name="Text Box 6"/>
          <p:cNvSpPr txBox="1"/>
          <p:nvPr/>
        </p:nvSpPr>
        <p:spPr>
          <a:xfrm>
            <a:off x="3702050" y="2565400"/>
            <a:ext cx="194500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rgbClr val="FF0000"/>
                </a:solidFill>
              </a:rPr>
              <a:t>ab1b2b4d2d4</a:t>
            </a:r>
          </a:p>
        </p:txBody>
      </p:sp>
      <p:sp>
        <p:nvSpPr>
          <p:cNvPr id="11" name="Text Box 10"/>
          <p:cNvSpPr txBox="1"/>
          <p:nvPr/>
        </p:nvSpPr>
        <p:spPr>
          <a:xfrm>
            <a:off x="763270" y="4942840"/>
            <a:ext cx="9652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rgbClr val="92D050"/>
                </a:solidFill>
              </a:rPr>
              <a:t>cd1b3</a:t>
            </a:r>
          </a:p>
        </p:txBody>
      </p:sp>
      <p:sp>
        <p:nvSpPr>
          <p:cNvPr id="3" name="Text Box 2"/>
          <p:cNvSpPr txBox="1"/>
          <p:nvPr/>
        </p:nvSpPr>
        <p:spPr>
          <a:xfrm>
            <a:off x="426085" y="5335270"/>
            <a:ext cx="130238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rgbClr val="92D050"/>
                </a:solidFill>
              </a:rPr>
              <a:t>cd1b3d3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3" presetClass="exit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8" grpId="1"/>
      <p:bldP spid="28" grpId="0"/>
      <p:bldP spid="29" grpId="0"/>
      <p:bldP spid="30" grpId="0"/>
      <p:bldP spid="31" grpId="0"/>
      <p:bldP spid="32" grpId="0"/>
      <p:bldP spid="33" grpId="0"/>
      <p:bldP spid="7" grpId="0"/>
      <p:bldP spid="11" grpId="0"/>
      <p:bldP spid="11" grpId="1"/>
      <p:bldP spid="3" grpId="0"/>
      <p:bldP spid="3" grpId="1"/>
    </p:bldLst>
  </p:timing>
</p:sld>
</file>

<file path=ppt/slides/slide1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ym typeface="+mn-ea"/>
              </a:rPr>
              <a:t>Merging</a:t>
            </a:r>
            <a:endParaRPr lang="en-US"/>
          </a:p>
        </p:txBody>
      </p:sp>
      <p:graphicFrame>
        <p:nvGraphicFramePr>
          <p:cNvPr id="4" name="Table 3"/>
          <p:cNvGraphicFramePr/>
          <p:nvPr>
            <p:custDataLst>
              <p:tags r:id="rId1"/>
            </p:custDataLst>
          </p:nvPr>
        </p:nvGraphicFramePr>
        <p:xfrm>
          <a:off x="1838325" y="3025775"/>
          <a:ext cx="3098800" cy="3048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87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73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73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73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873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873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873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873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Text Box 4"/>
          <p:cNvSpPr txBox="1"/>
          <p:nvPr/>
        </p:nvSpPr>
        <p:spPr>
          <a:xfrm>
            <a:off x="996950" y="1616075"/>
            <a:ext cx="1040574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400">
                <a:sym typeface="+mn-ea"/>
              </a:rPr>
              <a:t>Apply the region splitting and merging on the following image with threshold value equal to 3.</a:t>
            </a:r>
            <a:endParaRPr lang="en-US" sz="2400"/>
          </a:p>
        </p:txBody>
      </p:sp>
      <p:sp>
        <p:nvSpPr>
          <p:cNvPr id="7" name="Text Box 6"/>
          <p:cNvSpPr txBox="1"/>
          <p:nvPr/>
        </p:nvSpPr>
        <p:spPr>
          <a:xfrm>
            <a:off x="3702050" y="2565400"/>
            <a:ext cx="194500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rgbClr val="FF0000"/>
                </a:solidFill>
              </a:rPr>
              <a:t>ab1b2b4d2d4</a:t>
            </a:r>
          </a:p>
        </p:txBody>
      </p:sp>
      <p:sp>
        <p:nvSpPr>
          <p:cNvPr id="3" name="Text Box 2"/>
          <p:cNvSpPr txBox="1"/>
          <p:nvPr/>
        </p:nvSpPr>
        <p:spPr>
          <a:xfrm>
            <a:off x="426085" y="5335270"/>
            <a:ext cx="130238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rgbClr val="92D050"/>
                </a:solidFill>
              </a:rPr>
              <a:t>cd1b3d3</a:t>
            </a:r>
          </a:p>
        </p:txBody>
      </p:sp>
      <p:sp>
        <p:nvSpPr>
          <p:cNvPr id="6" name="Text Box 5"/>
          <p:cNvSpPr txBox="1"/>
          <p:nvPr/>
        </p:nvSpPr>
        <p:spPr>
          <a:xfrm>
            <a:off x="7323455" y="4319270"/>
            <a:ext cx="22688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chemeClr val="tx1"/>
                </a:solidFill>
              </a:rPr>
              <a:t>Result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3" presetClass="exit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7" grpId="1"/>
      <p:bldP spid="3" grpId="0"/>
      <p:bldP spid="3" grpId="1"/>
      <p:bldP spid="6" grpId="0"/>
      <p:bldP spid="6" grpId="1"/>
    </p:bldLst>
  </p:timing>
</p:sld>
</file>

<file path=ppt/slides/slide1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766060"/>
            <a:ext cx="10515600" cy="1325563"/>
          </a:xfrm>
        </p:spPr>
        <p:txBody>
          <a:bodyPr/>
          <a:lstStyle/>
          <a:p>
            <a:pPr algn="ctr"/>
            <a:r>
              <a:rPr lang="en-US"/>
              <a:t>Thank You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336*120"/>
  <p:tag name="TABLE_ENDDRAG_RECT" val="144*210*336*12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336*30"/>
  <p:tag name="TABLE_ENDDRAG_RECT" val="144*255*336*30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41*120"/>
  <p:tag name="TABLE_ENDDRAG_RECT" val="144*210*41*120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336*120"/>
  <p:tag name="TABLE_ENDDRAG_RECT" val="144*210*336*120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336*30"/>
  <p:tag name="TABLE_ENDDRAG_RECT" val="144*255*336*30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41*120"/>
  <p:tag name="TABLE_ENDDRAG_RECT" val="144*210*41*120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336*120"/>
  <p:tag name="TABLE_ENDDRAG_RECT" val="144*210*336*120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336*30"/>
  <p:tag name="TABLE_ENDDRAG_RECT" val="144*255*336*30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41*120"/>
  <p:tag name="TABLE_ENDDRAG_RECT" val="144*210*41*120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336*120"/>
  <p:tag name="TABLE_ENDDRAG_RECT" val="144*210*336*120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336*30"/>
  <p:tag name="TABLE_ENDDRAG_RECT" val="144*255*336*30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41*120"/>
  <p:tag name="TABLE_ENDDRAG_RECT" val="144*210*41*120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336*120"/>
  <p:tag name="TABLE_ENDDRAG_RECT" val="144*210*336*120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336*30"/>
  <p:tag name="TABLE_ENDDRAG_RECT" val="144*255*336*30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41*120"/>
  <p:tag name="TABLE_ENDDRAG_RECT" val="144*210*41*120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336*120"/>
  <p:tag name="TABLE_ENDDRAG_RECT" val="144*210*336*120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336*30"/>
  <p:tag name="TABLE_ENDDRAG_RECT" val="144*255*336*30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41*120"/>
  <p:tag name="TABLE_ENDDRAG_RECT" val="144*210*41*120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336*120"/>
  <p:tag name="TABLE_ENDDRAG_RECT" val="144*210*336*120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336*30"/>
  <p:tag name="TABLE_ENDDRAG_RECT" val="144*255*336*30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41*120"/>
  <p:tag name="TABLE_ENDDRAG_RECT" val="144*210*41*120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336*120"/>
  <p:tag name="TABLE_ENDDRAG_RECT" val="144*210*336*120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336*30"/>
  <p:tag name="TABLE_ENDDRAG_RECT" val="144*255*336*30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41*120"/>
  <p:tag name="TABLE_ENDDRAG_RECT" val="144*210*41*120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336*120"/>
  <p:tag name="TABLE_ENDDRAG_RECT" val="144*210*336*120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336*30"/>
  <p:tag name="TABLE_ENDDRAG_RECT" val="144*255*336*30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41*120"/>
  <p:tag name="TABLE_ENDDRAG_RECT" val="144*210*41*120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336*120"/>
  <p:tag name="TABLE_ENDDRAG_RECT" val="144*210*336*120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336*30"/>
  <p:tag name="TABLE_ENDDRAG_RECT" val="144*255*336*30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41*120"/>
  <p:tag name="TABLE_ENDDRAG_RECT" val="144*210*41*120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336*120"/>
  <p:tag name="TABLE_ENDDRAG_RECT" val="144*210*336*120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336*30"/>
  <p:tag name="TABLE_ENDDRAG_RECT" val="144*255*336*30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41*120"/>
  <p:tag name="TABLE_ENDDRAG_RECT" val="144*210*41*120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336*120"/>
  <p:tag name="TABLE_ENDDRAG_RECT" val="144*210*336*120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336*30"/>
  <p:tag name="TABLE_ENDDRAG_RECT" val="144*255*336*30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41*120"/>
  <p:tag name="TABLE_ENDDRAG_RECT" val="144*210*41*120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336*120"/>
  <p:tag name="TABLE_ENDDRAG_RECT" val="144*210*336*120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336*30"/>
  <p:tag name="TABLE_ENDDRAG_RECT" val="144*255*336*30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41*120"/>
  <p:tag name="TABLE_ENDDRAG_RECT" val="144*210*41*120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336*120"/>
  <p:tag name="TABLE_ENDDRAG_RECT" val="144*210*336*120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336*30"/>
  <p:tag name="TABLE_ENDDRAG_RECT" val="144*255*336*30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41*120"/>
  <p:tag name="TABLE_ENDDRAG_RECT" val="144*210*41*120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336*120"/>
  <p:tag name="TABLE_ENDDRAG_RECT" val="144*210*336*120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336*30"/>
  <p:tag name="TABLE_ENDDRAG_RECT" val="144*255*336*30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41*120"/>
  <p:tag name="TABLE_ENDDRAG_RECT" val="144*210*41*120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336*120"/>
  <p:tag name="TABLE_ENDDRAG_RECT" val="144*210*336*120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336*30"/>
  <p:tag name="TABLE_ENDDRAG_RECT" val="144*255*336*30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41*120"/>
  <p:tag name="TABLE_ENDDRAG_RECT" val="144*210*41*120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336*120"/>
  <p:tag name="TABLE_ENDDRAG_RECT" val="144*210*336*120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336*30"/>
  <p:tag name="TABLE_ENDDRAG_RECT" val="144*255*336*30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41*120"/>
  <p:tag name="TABLE_ENDDRAG_RECT" val="144*210*41*120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336*120"/>
  <p:tag name="TABLE_ENDDRAG_RECT" val="144*210*336*120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336*30"/>
  <p:tag name="TABLE_ENDDRAG_RECT" val="144*255*336*30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41*120"/>
  <p:tag name="TABLE_ENDDRAG_RECT" val="144*210*41*120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336*120"/>
  <p:tag name="TABLE_ENDDRAG_RECT" val="144*210*336*120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336*30"/>
  <p:tag name="TABLE_ENDDRAG_RECT" val="144*255*336*30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41*120"/>
  <p:tag name="TABLE_ENDDRAG_RECT" val="144*210*41*120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336*120"/>
  <p:tag name="TABLE_ENDDRAG_RECT" val="144*210*336*120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336*30"/>
  <p:tag name="TABLE_ENDDRAG_RECT" val="144*255*336*30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41*120"/>
  <p:tag name="TABLE_ENDDRAG_RECT" val="144*210*41*120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336*120"/>
  <p:tag name="TABLE_ENDDRAG_RECT" val="144*210*336*120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336*30"/>
  <p:tag name="TABLE_ENDDRAG_RECT" val="144*255*336*30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41*120"/>
  <p:tag name="TABLE_ENDDRAG_RECT" val="144*210*41*120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336*120"/>
  <p:tag name="TABLE_ENDDRAG_RECT" val="144*210*336*120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336*30"/>
  <p:tag name="TABLE_ENDDRAG_RECT" val="144*255*336*30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41*120"/>
  <p:tag name="TABLE_ENDDRAG_RECT" val="144*210*41*120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336*120"/>
  <p:tag name="TABLE_ENDDRAG_RECT" val="144*210*336*120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336*30"/>
  <p:tag name="TABLE_ENDDRAG_RECT" val="144*255*336*30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41*120"/>
  <p:tag name="TABLE_ENDDRAG_RECT" val="144*210*41*120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336*120"/>
  <p:tag name="TABLE_ENDDRAG_RECT" val="144*210*336*120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336*30"/>
  <p:tag name="TABLE_ENDDRAG_RECT" val="144*255*336*30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41*120"/>
  <p:tag name="TABLE_ENDDRAG_RECT" val="144*210*41*120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336*120"/>
  <p:tag name="TABLE_ENDDRAG_RECT" val="144*210*336*120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336*30"/>
  <p:tag name="TABLE_ENDDRAG_RECT" val="144*255*336*30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41*120"/>
  <p:tag name="TABLE_ENDDRAG_RECT" val="144*210*41*120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336*120"/>
  <p:tag name="TABLE_ENDDRAG_RECT" val="144*210*336*120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336*30"/>
  <p:tag name="TABLE_ENDDRAG_RECT" val="144*255*336*30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41*120"/>
  <p:tag name="TABLE_ENDDRAG_RECT" val="144*210*41*120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336*120"/>
  <p:tag name="TABLE_ENDDRAG_RECT" val="144*210*336*120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336*30"/>
  <p:tag name="TABLE_ENDDRAG_RECT" val="144*255*336*30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41*120"/>
  <p:tag name="TABLE_ENDDRAG_RECT" val="144*210*41*120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336*120"/>
  <p:tag name="TABLE_ENDDRAG_RECT" val="144*210*336*120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336*30"/>
  <p:tag name="TABLE_ENDDRAG_RECT" val="144*255*336*30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41*120"/>
  <p:tag name="TABLE_ENDDRAG_RECT" val="144*210*41*120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336*120"/>
  <p:tag name="TABLE_ENDDRAG_RECT" val="144*210*336*120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336*30"/>
  <p:tag name="TABLE_ENDDRAG_RECT" val="144*255*336*30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41*120"/>
  <p:tag name="TABLE_ENDDRAG_RECT" val="144*210*41*120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336*120"/>
  <p:tag name="TABLE_ENDDRAG_RECT" val="144*210*336*120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336*30"/>
  <p:tag name="TABLE_ENDDRAG_RECT" val="144*255*336*30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41*120"/>
  <p:tag name="TABLE_ENDDRAG_RECT" val="144*210*41*120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336*120"/>
  <p:tag name="TABLE_ENDDRAG_RECT" val="144*210*336*120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336*30"/>
  <p:tag name="TABLE_ENDDRAG_RECT" val="144*255*336*30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41*120"/>
  <p:tag name="TABLE_ENDDRAG_RECT" val="144*210*41*120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336*120"/>
  <p:tag name="TABLE_ENDDRAG_RECT" val="144*210*336*120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336*30"/>
  <p:tag name="TABLE_ENDDRAG_RECT" val="144*255*336*30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41*120"/>
  <p:tag name="TABLE_ENDDRAG_RECT" val="144*210*41*120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336*120"/>
  <p:tag name="TABLE_ENDDRAG_RECT" val="144*210*336*120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336*30"/>
  <p:tag name="TABLE_ENDDRAG_RECT" val="144*255*336*30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41*120"/>
  <p:tag name="TABLE_ENDDRAG_RECT" val="144*210*41*120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336*120"/>
  <p:tag name="TABLE_ENDDRAG_RECT" val="144*210*336*120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336*30"/>
  <p:tag name="TABLE_ENDDRAG_RECT" val="144*255*336*30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41*120"/>
  <p:tag name="TABLE_ENDDRAG_RECT" val="144*210*41*120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336*120"/>
  <p:tag name="TABLE_ENDDRAG_RECT" val="144*210*336*120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336*30"/>
  <p:tag name="TABLE_ENDDRAG_RECT" val="144*255*336*30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41*120"/>
  <p:tag name="TABLE_ENDDRAG_RECT" val="144*210*41*120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336*120"/>
  <p:tag name="TABLE_ENDDRAG_RECT" val="144*210*336*120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336*30"/>
  <p:tag name="TABLE_ENDDRAG_RECT" val="144*255*336*30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41*120"/>
  <p:tag name="TABLE_ENDDRAG_RECT" val="144*210*41*120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336*120"/>
  <p:tag name="TABLE_ENDDRAG_RECT" val="144*210*336*120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336*30"/>
  <p:tag name="TABLE_ENDDRAG_RECT" val="144*255*336*30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41*120"/>
  <p:tag name="TABLE_ENDDRAG_RECT" val="144*210*41*120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336*120"/>
  <p:tag name="TABLE_ENDDRAG_RECT" val="144*210*336*120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336*30"/>
  <p:tag name="TABLE_ENDDRAG_RECT" val="144*255*336*30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41*120"/>
  <p:tag name="TABLE_ENDDRAG_RECT" val="144*210*41*120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336*120"/>
  <p:tag name="TABLE_ENDDRAG_RECT" val="144*210*336*120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336*120"/>
  <p:tag name="TABLE_ENDDRAG_RECT" val="144*210*336*120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336*120"/>
  <p:tag name="TABLE_ENDDRAG_RECT" val="144*210*336*120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336*120"/>
  <p:tag name="TABLE_ENDDRAG_RECT" val="144*210*336*120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336*120"/>
  <p:tag name="TABLE_ENDDRAG_RECT" val="144*210*336*120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336*120"/>
  <p:tag name="TABLE_ENDDRAG_RECT" val="144*210*336*120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336*120"/>
  <p:tag name="TABLE_ENDDRAG_RECT" val="144*210*336*120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336*120"/>
  <p:tag name="TABLE_ENDDRAG_RECT" val="144*210*336*120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336*120"/>
  <p:tag name="TABLE_ENDDRAG_RECT" val="144*210*336*120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336*120"/>
  <p:tag name="TABLE_ENDDRAG_RECT" val="144*210*336*120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336*120"/>
  <p:tag name="TABLE_ENDDRAG_RECT" val="144*210*336*120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336*120"/>
  <p:tag name="TABLE_ENDDRAG_RECT" val="144*210*336*120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336*120"/>
  <p:tag name="TABLE_ENDDRAG_RECT" val="144*210*336*120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336*120"/>
  <p:tag name="TABLE_ENDDRAG_RECT" val="144*210*336*120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336*120"/>
  <p:tag name="TABLE_ENDDRAG_RECT" val="144*210*336*120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336*120"/>
  <p:tag name="TABLE_ENDDRAG_RECT" val="144*210*336*120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336*120"/>
  <p:tag name="TABLE_ENDDRAG_RECT" val="144*210*336*120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336*120"/>
  <p:tag name="TABLE_ENDDRAG_RECT" val="144*210*336*120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336*120"/>
  <p:tag name="TABLE_ENDDRAG_RECT" val="144*210*336*120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336*120"/>
  <p:tag name="TABLE_ENDDRAG_RECT" val="144*210*336*120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336*120"/>
  <p:tag name="TABLE_ENDDRAG_RECT" val="144*210*336*120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336*120"/>
  <p:tag name="TABLE_ENDDRAG_RECT" val="144*210*336*120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336*120"/>
  <p:tag name="TABLE_ENDDRAG_RECT" val="144*210*336*120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336*120"/>
  <p:tag name="TABLE_ENDDRAG_RECT" val="144*210*336*120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336*120"/>
  <p:tag name="TABLE_ENDDRAG_RECT" val="144*210*336*120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336*120"/>
  <p:tag name="TABLE_ENDDRAG_RECT" val="144*210*336*120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336*120"/>
  <p:tag name="TABLE_ENDDRAG_RECT" val="144*210*336*120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336*120"/>
  <p:tag name="TABLE_ENDDRAG_RECT" val="144*210*336*120"/>
</p:tagLst>
</file>

<file path=ppt/tags/tag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336*120"/>
  <p:tag name="TABLE_ENDDRAG_RECT" val="144*210*336*120"/>
</p:tagLst>
</file>

<file path=ppt/tags/tag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336*120"/>
  <p:tag name="TABLE_ENDDRAG_RECT" val="144*210*336*120"/>
</p:tagLst>
</file>

<file path=ppt/tags/tag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336*120"/>
  <p:tag name="TABLE_ENDDRAG_RECT" val="144*210*336*120"/>
</p:tagLst>
</file>

<file path=ppt/tags/tag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336*120"/>
  <p:tag name="TABLE_ENDDRAG_RECT" val="144*210*336*120"/>
</p:tagLst>
</file>

<file path=ppt/tags/tag1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336*120"/>
  <p:tag name="TABLE_ENDDRAG_RECT" val="144*210*336*120"/>
</p:tagLst>
</file>

<file path=ppt/tags/tag1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336*120"/>
  <p:tag name="TABLE_ENDDRAG_RECT" val="144*210*336*120"/>
</p:tagLst>
</file>

<file path=ppt/tags/tag1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336*120"/>
  <p:tag name="TABLE_ENDDRAG_RECT" val="144*210*336*120"/>
</p:tagLst>
</file>

<file path=ppt/tags/tag1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336*120"/>
  <p:tag name="TABLE_ENDDRAG_RECT" val="144*210*336*120"/>
</p:tagLst>
</file>

<file path=ppt/tags/tag1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336*120"/>
  <p:tag name="TABLE_ENDDRAG_RECT" val="144*210*336*120"/>
</p:tagLst>
</file>

<file path=ppt/tags/tag1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336*120"/>
  <p:tag name="TABLE_ENDDRAG_RECT" val="144*210*336*120"/>
</p:tagLst>
</file>

<file path=ppt/tags/tag1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336*120"/>
  <p:tag name="TABLE_ENDDRAG_RECT" val="144*210*336*120"/>
</p:tagLst>
</file>

<file path=ppt/tags/tag1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336*120"/>
  <p:tag name="TABLE_ENDDRAG_RECT" val="144*210*336*120"/>
</p:tagLst>
</file>

<file path=ppt/tags/tag1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336*120"/>
  <p:tag name="TABLE_ENDDRAG_RECT" val="144*210*336*120"/>
</p:tagLst>
</file>

<file path=ppt/tags/tag1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336*120"/>
  <p:tag name="TABLE_ENDDRAG_RECT" val="144*210*336*120"/>
</p:tagLst>
</file>

<file path=ppt/tags/tag1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336*120"/>
  <p:tag name="TABLE_ENDDRAG_RECT" val="144*210*336*120"/>
</p:tagLst>
</file>

<file path=ppt/tags/tag1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336*120"/>
  <p:tag name="TABLE_ENDDRAG_RECT" val="144*210*336*120"/>
</p:tagLst>
</file>

<file path=ppt/tags/tag1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336*120"/>
  <p:tag name="TABLE_ENDDRAG_RECT" val="144*210*336*120"/>
</p:tagLst>
</file>

<file path=ppt/tags/tag1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336*120"/>
  <p:tag name="TABLE_ENDDRAG_RECT" val="144*210*336*120"/>
</p:tagLst>
</file>

<file path=ppt/tags/tag1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336*120"/>
  <p:tag name="TABLE_ENDDRAG_RECT" val="144*210*336*120"/>
</p:tagLst>
</file>

<file path=ppt/tags/tag1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336*120"/>
  <p:tag name="TABLE_ENDDRAG_RECT" val="144*210*336*120"/>
</p:tagLst>
</file>

<file path=ppt/tags/tag1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336*120"/>
  <p:tag name="TABLE_ENDDRAG_RECT" val="144*210*336*120"/>
</p:tagLst>
</file>

<file path=ppt/tags/tag1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336*120"/>
  <p:tag name="TABLE_ENDDRAG_RECT" val="144*210*336*120"/>
</p:tagLst>
</file>

<file path=ppt/tags/tag1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336*120"/>
  <p:tag name="TABLE_ENDDRAG_RECT" val="144*210*336*120"/>
</p:tagLst>
</file>

<file path=ppt/tags/tag1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336*120"/>
  <p:tag name="TABLE_ENDDRAG_RECT" val="144*210*336*120"/>
</p:tagLst>
</file>

<file path=ppt/tags/tag1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336*120"/>
  <p:tag name="TABLE_ENDDRAG_RECT" val="144*210*336*120"/>
</p:tagLst>
</file>

<file path=ppt/tags/tag1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336*120"/>
  <p:tag name="TABLE_ENDDRAG_RECT" val="144*210*336*120"/>
</p:tagLst>
</file>

<file path=ppt/tags/tag1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336*120"/>
  <p:tag name="TABLE_ENDDRAG_RECT" val="144*210*336*120"/>
</p:tagLst>
</file>

<file path=ppt/tags/tag1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336*120"/>
  <p:tag name="TABLE_ENDDRAG_RECT" val="144*210*336*120"/>
</p:tagLst>
</file>

<file path=ppt/tags/tag1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336*120"/>
  <p:tag name="TABLE_ENDDRAG_RECT" val="144*210*336*120"/>
</p:tagLst>
</file>

<file path=ppt/tags/tag1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336*120"/>
  <p:tag name="TABLE_ENDDRAG_RECT" val="144*210*336*120"/>
</p:tagLst>
</file>

<file path=ppt/tags/tag1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336*120"/>
  <p:tag name="TABLE_ENDDRAG_RECT" val="144*210*336*120"/>
</p:tagLst>
</file>

<file path=ppt/tags/tag1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336*120"/>
  <p:tag name="TABLE_ENDDRAG_RECT" val="144*210*336*120"/>
</p:tagLst>
</file>

<file path=ppt/tags/tag1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336*120"/>
  <p:tag name="TABLE_ENDDRAG_RECT" val="144*210*336*120"/>
</p:tagLst>
</file>

<file path=ppt/tags/tag1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336*120"/>
  <p:tag name="TABLE_ENDDRAG_RECT" val="144*210*336*120"/>
</p:tagLst>
</file>

<file path=ppt/tags/tag1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336*120"/>
  <p:tag name="TABLE_ENDDRAG_RECT" val="144*210*336*120"/>
</p:tagLst>
</file>

<file path=ppt/tags/tag1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336*120"/>
  <p:tag name="TABLE_ENDDRAG_RECT" val="144*210*336*120"/>
</p:tagLst>
</file>

<file path=ppt/tags/tag1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336*120"/>
  <p:tag name="TABLE_ENDDRAG_RECT" val="144*210*336*120"/>
</p:tagLst>
</file>

<file path=ppt/tags/tag1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336*120"/>
  <p:tag name="TABLE_ENDDRAG_RECT" val="144*210*336*120"/>
</p:tagLst>
</file>

<file path=ppt/tags/tag1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336*120"/>
  <p:tag name="TABLE_ENDDRAG_RECT" val="144*210*336*120"/>
</p:tagLst>
</file>

<file path=ppt/tags/tag1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336*120"/>
  <p:tag name="TABLE_ENDDRAG_RECT" val="144*210*336*120"/>
</p:tagLst>
</file>

<file path=ppt/tags/tag1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336*120"/>
  <p:tag name="TABLE_ENDDRAG_RECT" val="144*210*336*120"/>
</p:tagLst>
</file>

<file path=ppt/tags/tag1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336*120"/>
  <p:tag name="TABLE_ENDDRAG_RECT" val="144*210*336*120"/>
</p:tagLst>
</file>

<file path=ppt/tags/tag1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336*120"/>
  <p:tag name="TABLE_ENDDRAG_RECT" val="144*210*336*120"/>
</p:tagLst>
</file>

<file path=ppt/tags/tag1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336*120"/>
  <p:tag name="TABLE_ENDDRAG_RECT" val="144*210*336*120"/>
</p:tagLst>
</file>

<file path=ppt/tags/tag1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336*120"/>
  <p:tag name="TABLE_ENDDRAG_RECT" val="144*210*336*120"/>
</p:tagLst>
</file>

<file path=ppt/tags/tag1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336*120"/>
  <p:tag name="TABLE_ENDDRAG_RECT" val="144*210*336*120"/>
</p:tagLst>
</file>

<file path=ppt/tags/tag1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336*120"/>
  <p:tag name="TABLE_ENDDRAG_RECT" val="144*210*336*120"/>
</p:tagLst>
</file>

<file path=ppt/tags/tag1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336*120"/>
  <p:tag name="TABLE_ENDDRAG_RECT" val="144*210*336*120"/>
</p:tagLst>
</file>

<file path=ppt/tags/tag1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336*120"/>
  <p:tag name="TABLE_ENDDRAG_RECT" val="144*210*336*120"/>
</p:tagLst>
</file>

<file path=ppt/tags/tag1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336*120"/>
  <p:tag name="TABLE_ENDDRAG_RECT" val="144*210*336*120"/>
</p:tagLst>
</file>

<file path=ppt/tags/tag1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336*120"/>
  <p:tag name="TABLE_ENDDRAG_RECT" val="144*210*336*120"/>
</p:tagLst>
</file>

<file path=ppt/tags/tag1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336*120"/>
  <p:tag name="TABLE_ENDDRAG_RECT" val="144*210*336*120"/>
</p:tagLst>
</file>

<file path=ppt/tags/tag1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336*120"/>
  <p:tag name="TABLE_ENDDRAG_RECT" val="144*210*336*120"/>
</p:tagLst>
</file>

<file path=ppt/tags/tag1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336*120"/>
  <p:tag name="TABLE_ENDDRAG_RECT" val="144*210*336*120"/>
</p:tagLst>
</file>

<file path=ppt/tags/tag1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336*120"/>
  <p:tag name="TABLE_ENDDRAG_RECT" val="144*210*336*120"/>
</p:tagLst>
</file>

<file path=ppt/tags/tag1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336*120"/>
  <p:tag name="TABLE_ENDDRAG_RECT" val="144*210*336*120"/>
</p:tagLst>
</file>

<file path=ppt/tags/tag1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336*120"/>
  <p:tag name="TABLE_ENDDRAG_RECT" val="144*210*336*120"/>
</p:tagLst>
</file>

<file path=ppt/tags/tag2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336*120"/>
  <p:tag name="TABLE_ENDDRAG_RECT" val="144*210*336*120"/>
</p:tagLst>
</file>

<file path=ppt/tags/tag2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336*120"/>
  <p:tag name="TABLE_ENDDRAG_RECT" val="144*210*336*120"/>
</p:tagLst>
</file>

<file path=ppt/tags/tag2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336*120"/>
  <p:tag name="TABLE_ENDDRAG_RECT" val="144*210*336*120"/>
</p:tagLst>
</file>

<file path=ppt/tags/tag2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336*120"/>
  <p:tag name="TABLE_ENDDRAG_RECT" val="144*210*336*120"/>
</p:tagLst>
</file>

<file path=ppt/tags/tag2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336*120"/>
  <p:tag name="TABLE_ENDDRAG_RECT" val="144*210*336*120"/>
</p:tagLst>
</file>

<file path=ppt/tags/tag2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336*120"/>
  <p:tag name="TABLE_ENDDRAG_RECT" val="144*210*336*120"/>
</p:tagLst>
</file>

<file path=ppt/tags/tag2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336*120"/>
  <p:tag name="TABLE_ENDDRAG_RECT" val="144*210*336*120"/>
</p:tagLst>
</file>

<file path=ppt/tags/tag2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336*120"/>
  <p:tag name="TABLE_ENDDRAG_RECT" val="144*210*336*120"/>
</p:tagLst>
</file>

<file path=ppt/tags/tag2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336*120"/>
  <p:tag name="TABLE_ENDDRAG_RECT" val="144*210*336*120"/>
</p:tagLst>
</file>

<file path=ppt/tags/tag2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336*120"/>
  <p:tag name="TABLE_ENDDRAG_RECT" val="144*210*336*120"/>
</p:tagLst>
</file>

<file path=ppt/tags/tag2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336*120"/>
  <p:tag name="TABLE_ENDDRAG_RECT" val="144*210*336*120"/>
</p:tagLst>
</file>

<file path=ppt/tags/tag2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243*240"/>
  <p:tag name="TABLE_ENDDRAG_RECT" val="144*282*244*240"/>
</p:tagLst>
</file>

<file path=ppt/tags/tag2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243*240"/>
  <p:tag name="TABLE_ENDDRAG_RECT" val="144*282*244*240"/>
</p:tagLst>
</file>

<file path=ppt/tags/tag2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243*240"/>
  <p:tag name="TABLE_ENDDRAG_RECT" val="144*282*244*240"/>
</p:tagLst>
</file>

<file path=ppt/tags/tag2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243*240"/>
  <p:tag name="TABLE_ENDDRAG_RECT" val="144*282*244*240"/>
</p:tagLst>
</file>

<file path=ppt/tags/tag2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243*240"/>
  <p:tag name="TABLE_ENDDRAG_RECT" val="144*282*244*240"/>
</p:tagLst>
</file>

<file path=ppt/tags/tag2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243*240"/>
  <p:tag name="TABLE_ENDDRAG_RECT" val="144*282*244*240"/>
</p:tagLst>
</file>

<file path=ppt/tags/tag2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243*240"/>
  <p:tag name="TABLE_ENDDRAG_RECT" val="144*282*244*240"/>
</p:tagLst>
</file>

<file path=ppt/tags/tag2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243*240"/>
  <p:tag name="TABLE_ENDDRAG_RECT" val="144*282*244*240"/>
</p:tagLst>
</file>

<file path=ppt/tags/tag2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243*240"/>
  <p:tag name="TABLE_ENDDRAG_RECT" val="144*282*244*240"/>
</p:tagLst>
</file>

<file path=ppt/tags/tag2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243*240"/>
  <p:tag name="TABLE_ENDDRAG_RECT" val="144*282*244*240"/>
</p:tagLst>
</file>

<file path=ppt/tags/tag2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243*240"/>
  <p:tag name="TABLE_ENDDRAG_RECT" val="144*282*244*240"/>
</p:tagLst>
</file>

<file path=ppt/tags/tag2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243*240"/>
  <p:tag name="TABLE_ENDDRAG_RECT" val="144*282*244*240"/>
</p:tagLst>
</file>

<file path=ppt/tags/tag2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243*240"/>
  <p:tag name="TABLE_ENDDRAG_RECT" val="144*282*244*240"/>
</p:tagLst>
</file>

<file path=ppt/tags/tag2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243*240"/>
  <p:tag name="TABLE_ENDDRAG_RECT" val="144*282*244*240"/>
</p:tagLst>
</file>

<file path=ppt/tags/tag2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243*240"/>
  <p:tag name="TABLE_ENDDRAG_RECT" val="144*282*244*240"/>
</p:tagLst>
</file>

<file path=ppt/tags/tag2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243*240"/>
  <p:tag name="TABLE_ENDDRAG_RECT" val="144*282*244*240"/>
</p:tagLst>
</file>

<file path=ppt/tags/tag2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243*240"/>
  <p:tag name="TABLE_ENDDRAG_RECT" val="144*282*244*240"/>
</p:tagLst>
</file>

<file path=ppt/tags/tag2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243*240"/>
  <p:tag name="TABLE_ENDDRAG_RECT" val="144*282*244*240"/>
</p:tagLst>
</file>

<file path=ppt/tags/tag2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243*240"/>
  <p:tag name="TABLE_ENDDRAG_RECT" val="144*282*244*240"/>
</p:tagLst>
</file>

<file path=ppt/tags/tag2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243*240"/>
  <p:tag name="TABLE_ENDDRAG_RECT" val="144*282*244*240"/>
</p:tagLst>
</file>

<file path=ppt/tags/tag2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243*240"/>
  <p:tag name="TABLE_ENDDRAG_RECT" val="144*282*244*240"/>
</p:tagLst>
</file>

<file path=ppt/tags/tag2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243*240"/>
  <p:tag name="TABLE_ENDDRAG_RECT" val="144*282*244*240"/>
</p:tagLst>
</file>

<file path=ppt/tags/tag2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243*240"/>
  <p:tag name="TABLE_ENDDRAG_RECT" val="144*282*244*240"/>
</p:tagLst>
</file>

<file path=ppt/tags/tag2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243*240"/>
  <p:tag name="TABLE_ENDDRAG_RECT" val="144*282*244*240"/>
</p:tagLst>
</file>

<file path=ppt/tags/tag2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243*240"/>
  <p:tag name="TABLE_ENDDRAG_RECT" val="144*282*244*240"/>
</p:tagLst>
</file>

<file path=ppt/tags/tag2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243*240"/>
  <p:tag name="TABLE_ENDDRAG_RECT" val="144*282*244*240"/>
</p:tagLst>
</file>

<file path=ppt/tags/tag2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243*240"/>
  <p:tag name="TABLE_ENDDRAG_RECT" val="144*282*244*240"/>
</p:tagLst>
</file>

<file path=ppt/tags/tag2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243*240"/>
  <p:tag name="TABLE_ENDDRAG_RECT" val="144*282*244*240"/>
</p:tagLst>
</file>

<file path=ppt/tags/tag2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243*240"/>
  <p:tag name="TABLE_ENDDRAG_RECT" val="144*282*244*240"/>
</p:tagLst>
</file>

<file path=ppt/tags/tag2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243*240"/>
  <p:tag name="TABLE_ENDDRAG_RECT" val="144*282*244*240"/>
</p:tagLst>
</file>

<file path=ppt/tags/tag2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243*240"/>
  <p:tag name="TABLE_ENDDRAG_RECT" val="144*282*244*240"/>
</p:tagLst>
</file>

<file path=ppt/tags/tag2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243*240"/>
  <p:tag name="TABLE_ENDDRAG_RECT" val="144*282*244*240"/>
</p:tagLst>
</file>

<file path=ppt/tags/tag2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243*240"/>
  <p:tag name="TABLE_ENDDRAG_RECT" val="144*282*244*240"/>
</p:tagLst>
</file>

<file path=ppt/tags/tag2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243*240"/>
  <p:tag name="TABLE_ENDDRAG_RECT" val="144*282*244*240"/>
</p:tagLst>
</file>

<file path=ppt/tags/tag2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243*240"/>
  <p:tag name="TABLE_ENDDRAG_RECT" val="144*282*244*240"/>
</p:tagLst>
</file>

<file path=ppt/tags/tag2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243*240"/>
  <p:tag name="TABLE_ENDDRAG_RECT" val="144*282*244*240"/>
</p:tagLst>
</file>

<file path=ppt/tags/tag2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243*240"/>
  <p:tag name="TABLE_ENDDRAG_RECT" val="144*282*244*240"/>
</p:tagLst>
</file>

<file path=ppt/tags/tag2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243*240"/>
  <p:tag name="TABLE_ENDDRAG_RECT" val="144*282*244*240"/>
</p:tagLst>
</file>

<file path=ppt/tags/tag2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243*240"/>
  <p:tag name="TABLE_ENDDRAG_RECT" val="144*282*244*240"/>
</p:tagLst>
</file>

<file path=ppt/tags/tag2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243*240"/>
  <p:tag name="TABLE_ENDDRAG_RECT" val="144*282*244*240"/>
</p:tagLst>
</file>

<file path=ppt/tags/tag2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243*240"/>
  <p:tag name="TABLE_ENDDRAG_RECT" val="144*282*244*240"/>
</p:tagLst>
</file>

<file path=ppt/tags/tag2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243*240"/>
  <p:tag name="TABLE_ENDDRAG_RECT" val="144*282*244*240"/>
</p:tagLst>
</file>

<file path=ppt/tags/tag2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243*240"/>
  <p:tag name="TABLE_ENDDRAG_RECT" val="144*282*244*240"/>
</p:tagLst>
</file>

<file path=ppt/tags/tag2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243*240"/>
  <p:tag name="TABLE_ENDDRAG_RECT" val="144*282*244*240"/>
</p:tagLst>
</file>

<file path=ppt/tags/tag2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243*240"/>
  <p:tag name="TABLE_ENDDRAG_RECT" val="144*282*244*240"/>
</p:tagLst>
</file>

<file path=ppt/tags/tag2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243*240"/>
  <p:tag name="TABLE_ENDDRAG_RECT" val="144*282*244*240"/>
</p:tagLst>
</file>

<file path=ppt/tags/tag2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243*240"/>
  <p:tag name="TABLE_ENDDRAG_RECT" val="144*282*244*240"/>
</p:tagLst>
</file>

<file path=ppt/tags/tag2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243*240"/>
  <p:tag name="TABLE_ENDDRAG_RECT" val="144*282*244*240"/>
</p:tagLst>
</file>

<file path=ppt/tags/tag2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243*240"/>
  <p:tag name="TABLE_ENDDRAG_RECT" val="144*282*244*240"/>
</p:tagLst>
</file>

<file path=ppt/tags/tag2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243*240"/>
  <p:tag name="TABLE_ENDDRAG_RECT" val="144*282*244*240"/>
</p:tagLst>
</file>

<file path=ppt/tags/tag2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243*240"/>
  <p:tag name="TABLE_ENDDRAG_RECT" val="144*282*244*240"/>
</p:tagLst>
</file>

<file path=ppt/tags/tag2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243*240"/>
  <p:tag name="TABLE_ENDDRAG_RECT" val="144*282*244*240"/>
</p:tagLst>
</file>

<file path=ppt/tags/tag2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243*240"/>
  <p:tag name="TABLE_ENDDRAG_RECT" val="144*282*244*240"/>
</p:tagLst>
</file>

<file path=ppt/tags/tag2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243*240"/>
  <p:tag name="TABLE_ENDDRAG_RECT" val="144*282*244*240"/>
</p:tagLst>
</file>

<file path=ppt/tags/tag2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243*240"/>
  <p:tag name="TABLE_ENDDRAG_RECT" val="144*282*244*240"/>
</p:tagLst>
</file>

<file path=ppt/tags/tag2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243*240"/>
  <p:tag name="TABLE_ENDDRAG_RECT" val="144*282*244*240"/>
</p:tagLst>
</file>

<file path=ppt/tags/tag2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243*240"/>
  <p:tag name="TABLE_ENDDRAG_RECT" val="144*282*244*240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45629</Words>
  <Application>Microsoft Office PowerPoint</Application>
  <PresentationFormat>Widescreen</PresentationFormat>
  <Paragraphs>23964</Paragraphs>
  <Slides>198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198</vt:i4>
      </vt:variant>
    </vt:vector>
  </HeadingPairs>
  <TitlesOfParts>
    <vt:vector size="199" baseType="lpstr">
      <vt:lpstr>Office Theme</vt:lpstr>
      <vt:lpstr>Region Growing  and Region Splitting</vt:lpstr>
      <vt:lpstr>Why Region-based Segmentation?</vt:lpstr>
      <vt:lpstr>Region-based Segmentation</vt:lpstr>
      <vt:lpstr>Region Growing</vt:lpstr>
      <vt:lpstr>Case 1: Initial Point is given</vt:lpstr>
      <vt:lpstr>Case 1: Initial Point is given</vt:lpstr>
      <vt:lpstr>Case 1: Initial Point is given</vt:lpstr>
      <vt:lpstr>Case 1: Initial Point is given</vt:lpstr>
      <vt:lpstr>Case 1: Initial Point is given</vt:lpstr>
      <vt:lpstr>Case 1: Initial Point is given</vt:lpstr>
      <vt:lpstr>Case 1: Initial Point is given</vt:lpstr>
      <vt:lpstr>Case 1: Initial Point is given</vt:lpstr>
      <vt:lpstr>Case 1: Initial Point is given</vt:lpstr>
      <vt:lpstr>Case 1: Initial Point is given</vt:lpstr>
      <vt:lpstr>Case 1: Initial Point is given</vt:lpstr>
      <vt:lpstr>Case 1: Initial Point is given</vt:lpstr>
      <vt:lpstr>Case 1: Initial Point is given</vt:lpstr>
      <vt:lpstr>Case 1: Initial Point is given</vt:lpstr>
      <vt:lpstr>Case 1: Initial Point is given</vt:lpstr>
      <vt:lpstr>Case 1: Initial Point is given</vt:lpstr>
      <vt:lpstr>Case 1: Initial Point is given</vt:lpstr>
      <vt:lpstr>Case 1: Initial Point is given</vt:lpstr>
      <vt:lpstr>Case 1: Initial Point is given</vt:lpstr>
      <vt:lpstr>Case 1: Initial Point is given</vt:lpstr>
      <vt:lpstr>Case 1: Initial Point is given</vt:lpstr>
      <vt:lpstr>Case 1: Initial Point is given</vt:lpstr>
      <vt:lpstr>Case 1: Initial Point is given</vt:lpstr>
      <vt:lpstr>Case 1: Initial Point is given</vt:lpstr>
      <vt:lpstr>Case 1: Initial Point is given</vt:lpstr>
      <vt:lpstr>Case 1: Initial Point is given</vt:lpstr>
      <vt:lpstr>Case 1: Initial Point is given</vt:lpstr>
      <vt:lpstr>Case 1: Initial Point is given</vt:lpstr>
      <vt:lpstr>Case 1: Initial Point is given</vt:lpstr>
      <vt:lpstr>Case 1: Initial Point is given</vt:lpstr>
      <vt:lpstr>Case 1: Initial Point is given</vt:lpstr>
      <vt:lpstr>Case 1: Initial Point is given</vt:lpstr>
      <vt:lpstr>Case 1: Initial Point is given</vt:lpstr>
      <vt:lpstr>Case 1: Initial Point is given</vt:lpstr>
      <vt:lpstr>Case 1: Initial Point is given</vt:lpstr>
      <vt:lpstr>Case 1: Initial Point is given</vt:lpstr>
      <vt:lpstr>Case 1: Initial Point is given</vt:lpstr>
      <vt:lpstr>Case 1: Initial Point is given</vt:lpstr>
      <vt:lpstr>Case 1: Initial Point is given</vt:lpstr>
      <vt:lpstr>Case 1: Initial Point is given</vt:lpstr>
      <vt:lpstr>Case 2: Seed value given</vt:lpstr>
      <vt:lpstr>Case 2: Seed value given</vt:lpstr>
      <vt:lpstr>Case 2: Seed value given</vt:lpstr>
      <vt:lpstr>Case 2: Seed value given</vt:lpstr>
      <vt:lpstr>Case 2: Seed value given</vt:lpstr>
      <vt:lpstr>Case 2: Seed value given</vt:lpstr>
      <vt:lpstr>Case 2: Seed value given</vt:lpstr>
      <vt:lpstr>Case 2: Seed value given</vt:lpstr>
      <vt:lpstr>Case 2: Seed value given</vt:lpstr>
      <vt:lpstr>Case 2: Seed value given</vt:lpstr>
      <vt:lpstr>Case 2: Seed value given</vt:lpstr>
      <vt:lpstr>Case 2: Seed value given</vt:lpstr>
      <vt:lpstr>Case 2: Seed value given</vt:lpstr>
      <vt:lpstr>Case 2: Seed value given</vt:lpstr>
      <vt:lpstr>Case 2: Seed value given</vt:lpstr>
      <vt:lpstr>Case 2: Seed value given</vt:lpstr>
      <vt:lpstr>Case 2: Seed value given</vt:lpstr>
      <vt:lpstr>Case 2: Seed value given</vt:lpstr>
      <vt:lpstr>Case 2: Seed value given</vt:lpstr>
      <vt:lpstr>Case 2: Seed value given</vt:lpstr>
      <vt:lpstr>Case 2: Seed value given</vt:lpstr>
      <vt:lpstr>Case 2: Seed value given</vt:lpstr>
      <vt:lpstr>Case 2: Seed value given</vt:lpstr>
      <vt:lpstr>Case 2: Seed value given</vt:lpstr>
      <vt:lpstr>Case 2: Seed value given</vt:lpstr>
      <vt:lpstr>Case 2: Seed value given</vt:lpstr>
      <vt:lpstr>Case 2: Seed value given</vt:lpstr>
      <vt:lpstr>Case 2: Seed value given</vt:lpstr>
      <vt:lpstr>Case 2: Seed value given</vt:lpstr>
      <vt:lpstr>Case 2: Seed value given</vt:lpstr>
      <vt:lpstr>Case 2: Seed value given</vt:lpstr>
      <vt:lpstr>Case 2: Seed value given</vt:lpstr>
      <vt:lpstr>Case 2: Seed value given</vt:lpstr>
      <vt:lpstr>Case 2: Seed value given</vt:lpstr>
      <vt:lpstr>Case 2: Seed value given</vt:lpstr>
      <vt:lpstr>Case 2: Seed value given</vt:lpstr>
      <vt:lpstr>Case 2: Seed value given</vt:lpstr>
      <vt:lpstr>Case 2: Seed value given</vt:lpstr>
      <vt:lpstr>Case 2: Seed value given</vt:lpstr>
      <vt:lpstr>Case 2: Seed value given</vt:lpstr>
      <vt:lpstr>Case 2: Seed value given</vt:lpstr>
      <vt:lpstr>Case 2: Seed value given</vt:lpstr>
      <vt:lpstr>Case 2: Seed value given</vt:lpstr>
      <vt:lpstr>Case 2: Seed value given</vt:lpstr>
      <vt:lpstr>Case 2: Seed value given</vt:lpstr>
      <vt:lpstr>Case 2: Seed value given</vt:lpstr>
      <vt:lpstr>Case 2: Seed value given</vt:lpstr>
      <vt:lpstr>Case 2: Seed value given</vt:lpstr>
      <vt:lpstr>Case 2: Seed value given</vt:lpstr>
      <vt:lpstr>Case 2: Seed value given</vt:lpstr>
      <vt:lpstr>Case 2: Seed value given</vt:lpstr>
      <vt:lpstr>Case 2: Seed value given</vt:lpstr>
      <vt:lpstr>Case 2: Seed value given</vt:lpstr>
      <vt:lpstr>Case 2: Seed value given</vt:lpstr>
      <vt:lpstr>Case 2: Seed value given</vt:lpstr>
      <vt:lpstr>Case 2: Seed value given</vt:lpstr>
      <vt:lpstr>Case 2: Seed value given</vt:lpstr>
      <vt:lpstr>Case 2: Seed value given</vt:lpstr>
      <vt:lpstr>Case 2: Seed value given</vt:lpstr>
      <vt:lpstr>Case 2: Seed value given</vt:lpstr>
      <vt:lpstr>Case 2: Seed value given</vt:lpstr>
      <vt:lpstr>Case 2: Seed value given</vt:lpstr>
      <vt:lpstr>Case 2: Seed value given</vt:lpstr>
      <vt:lpstr>Case 2: Seed value given</vt:lpstr>
      <vt:lpstr>Case 2: Seed value given</vt:lpstr>
      <vt:lpstr>Case 2: Seed value given</vt:lpstr>
      <vt:lpstr>Case 2: Seed value given</vt:lpstr>
      <vt:lpstr>Case 2: Seed value given</vt:lpstr>
      <vt:lpstr>Case 2: Seed value given</vt:lpstr>
      <vt:lpstr>Case 2: Seed value given</vt:lpstr>
      <vt:lpstr>Case 2: Seed value given</vt:lpstr>
      <vt:lpstr>Case 2: Seed value given</vt:lpstr>
      <vt:lpstr>Case 2: Seed value given</vt:lpstr>
      <vt:lpstr>Case 2: Seed value given</vt:lpstr>
      <vt:lpstr>Case 2: Seed value given</vt:lpstr>
      <vt:lpstr>Case 2: Seed value given</vt:lpstr>
      <vt:lpstr>Case 2: Seed value given</vt:lpstr>
      <vt:lpstr>Case 2: Seed value given</vt:lpstr>
      <vt:lpstr>Case 2: Seed value given</vt:lpstr>
      <vt:lpstr>Case 2: Seed value given</vt:lpstr>
      <vt:lpstr>Case 2: Seed value given</vt:lpstr>
      <vt:lpstr>Multiple Segments</vt:lpstr>
      <vt:lpstr>Multiple Segments</vt:lpstr>
      <vt:lpstr>Multiple Segments</vt:lpstr>
      <vt:lpstr>Multiple Segments</vt:lpstr>
      <vt:lpstr>Multiple Segments</vt:lpstr>
      <vt:lpstr>Multiple Segments</vt:lpstr>
      <vt:lpstr>Multiple Segments</vt:lpstr>
      <vt:lpstr>Multiple Segments</vt:lpstr>
      <vt:lpstr>Multiple Segments</vt:lpstr>
      <vt:lpstr>Multiple Segments</vt:lpstr>
      <vt:lpstr>Multiple Segments</vt:lpstr>
      <vt:lpstr>Multiple Segments</vt:lpstr>
      <vt:lpstr>Multiple Segments</vt:lpstr>
      <vt:lpstr>Region Splitting</vt:lpstr>
      <vt:lpstr>Region Splitting</vt:lpstr>
      <vt:lpstr>Region Splitting</vt:lpstr>
      <vt:lpstr>Region Splitting</vt:lpstr>
      <vt:lpstr>Region Splitting</vt:lpstr>
      <vt:lpstr>Region Splitting</vt:lpstr>
      <vt:lpstr>Region Splitting</vt:lpstr>
      <vt:lpstr>Region Splitting</vt:lpstr>
      <vt:lpstr>Region Splitting</vt:lpstr>
      <vt:lpstr>Region Splitting</vt:lpstr>
      <vt:lpstr>Region Splitting</vt:lpstr>
      <vt:lpstr>Region Splitting</vt:lpstr>
      <vt:lpstr>Region Splitting</vt:lpstr>
      <vt:lpstr>Region Splitting</vt:lpstr>
      <vt:lpstr>Region Splitting</vt:lpstr>
      <vt:lpstr>Region Splitting</vt:lpstr>
      <vt:lpstr>Region Splitting</vt:lpstr>
      <vt:lpstr>Region Splitting</vt:lpstr>
      <vt:lpstr>Region Splitting</vt:lpstr>
      <vt:lpstr>Region Splitting and Merging</vt:lpstr>
      <vt:lpstr>Region Splitting and Merging</vt:lpstr>
      <vt:lpstr>Region Splitting</vt:lpstr>
      <vt:lpstr>Region Splitting</vt:lpstr>
      <vt:lpstr>Region Splitting</vt:lpstr>
      <vt:lpstr>Region Splitting</vt:lpstr>
      <vt:lpstr>Region Splitting</vt:lpstr>
      <vt:lpstr>Region Splitting</vt:lpstr>
      <vt:lpstr>Region Splitting</vt:lpstr>
      <vt:lpstr>Region Splitting</vt:lpstr>
      <vt:lpstr>Region Splitting</vt:lpstr>
      <vt:lpstr>Region Splitting</vt:lpstr>
      <vt:lpstr>Region Splitting</vt:lpstr>
      <vt:lpstr>Region Splitting</vt:lpstr>
      <vt:lpstr>Region Splitting</vt:lpstr>
      <vt:lpstr>Region Splitting</vt:lpstr>
      <vt:lpstr>Region Splitting</vt:lpstr>
      <vt:lpstr>Region Splitting</vt:lpstr>
      <vt:lpstr>Region Splitting</vt:lpstr>
      <vt:lpstr>Merging</vt:lpstr>
      <vt:lpstr>Merging</vt:lpstr>
      <vt:lpstr>Merging</vt:lpstr>
      <vt:lpstr>Merging</vt:lpstr>
      <vt:lpstr>Merging</vt:lpstr>
      <vt:lpstr>Merging</vt:lpstr>
      <vt:lpstr>Merging</vt:lpstr>
      <vt:lpstr>Merging</vt:lpstr>
      <vt:lpstr>Merging</vt:lpstr>
      <vt:lpstr>Merging</vt:lpstr>
      <vt:lpstr>Merging</vt:lpstr>
      <vt:lpstr>Merging</vt:lpstr>
      <vt:lpstr>Merging</vt:lpstr>
      <vt:lpstr>Merging</vt:lpstr>
      <vt:lpstr>Merging</vt:lpstr>
      <vt:lpstr>Merging</vt:lpstr>
      <vt:lpstr>Merging</vt:lpstr>
      <vt:lpstr>Merging</vt:lpstr>
      <vt:lpstr>Merging</vt:lpstr>
      <vt:lpstr>Merging</vt:lpstr>
      <vt:lpstr>Merging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Region Growing  and Region Splitting</dc:title>
  <dc:creator/>
  <cp:lastModifiedBy>Rubaid</cp:lastModifiedBy>
  <cp:revision>5</cp:revision>
  <dcterms:created xsi:type="dcterms:W3CDTF">2024-09-19T22:41:00Z</dcterms:created>
  <dcterms:modified xsi:type="dcterms:W3CDTF">2025-08-20T13:52:28Z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EB912B0BBBBB4CA382206B58294FB7A1_11</vt:lpwstr>
  </property>
  <property fmtid="{D5CDD505-2E9C-101B-9397-08002B2CF9AE}" pid="3" name="KSOProductBuildVer">
    <vt:lpwstr>1033-12.2.0.18607</vt:lpwstr>
  </property>
</Properties>
</file>